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326" r:id="rId2"/>
    <p:sldId id="269" r:id="rId3"/>
    <p:sldId id="374" r:id="rId4"/>
    <p:sldId id="375" r:id="rId5"/>
    <p:sldId id="381" r:id="rId6"/>
    <p:sldId id="325" r:id="rId7"/>
    <p:sldId id="376" r:id="rId8"/>
    <p:sldId id="377" r:id="rId9"/>
    <p:sldId id="328" r:id="rId10"/>
    <p:sldId id="329" r:id="rId11"/>
    <p:sldId id="330" r:id="rId12"/>
    <p:sldId id="331" r:id="rId13"/>
    <p:sldId id="332" r:id="rId14"/>
    <p:sldId id="333" r:id="rId15"/>
    <p:sldId id="334" r:id="rId16"/>
    <p:sldId id="338" r:id="rId17"/>
    <p:sldId id="339" r:id="rId18"/>
    <p:sldId id="340" r:id="rId19"/>
    <p:sldId id="341" r:id="rId20"/>
    <p:sldId id="344" r:id="rId21"/>
    <p:sldId id="347" r:id="rId22"/>
    <p:sldId id="378" r:id="rId23"/>
    <p:sldId id="379" r:id="rId24"/>
    <p:sldId id="380"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754"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1A8D851-CCD0-4B79-820F-5404D817A6AC}" type="datetimeFigureOut">
              <a:rPr lang="en-US" smtClean="0"/>
              <a:t>3/31/2026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198419A-A072-4F05-9D78-18EF5D60CF87}" type="slidenum">
              <a:rPr lang="en-US" smtClean="0"/>
              <a:t>‹#›</a:t>
            </a:fld>
            <a:endParaRPr lang="en-US"/>
          </a:p>
        </p:txBody>
      </p:sp>
    </p:spTree>
    <p:extLst>
      <p:ext uri="{BB962C8B-B14F-4D97-AF65-F5344CB8AC3E}">
        <p14:creationId xmlns:p14="http://schemas.microsoft.com/office/powerpoint/2010/main" val="567513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1" i="0">
                <a:solidFill>
                  <a:srgbClr val="6F2F9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6F2F9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34263" y="75056"/>
            <a:ext cx="6974840" cy="1718945"/>
          </a:xfrm>
          <a:custGeom>
            <a:avLst/>
            <a:gdLst/>
            <a:ahLst/>
            <a:cxnLst/>
            <a:rect l="l" t="t" r="r" b="b"/>
            <a:pathLst>
              <a:path w="6974840" h="1718945">
                <a:moveTo>
                  <a:pt x="6974535" y="963041"/>
                </a:moveTo>
                <a:lnTo>
                  <a:pt x="6936435" y="943991"/>
                </a:lnTo>
                <a:lnTo>
                  <a:pt x="6860235" y="905891"/>
                </a:lnTo>
                <a:lnTo>
                  <a:pt x="6860235" y="943991"/>
                </a:lnTo>
                <a:lnTo>
                  <a:pt x="421665" y="943991"/>
                </a:lnTo>
                <a:lnTo>
                  <a:pt x="420827" y="114427"/>
                </a:lnTo>
                <a:lnTo>
                  <a:pt x="459003" y="114427"/>
                </a:lnTo>
                <a:lnTo>
                  <a:pt x="449389" y="95250"/>
                </a:lnTo>
                <a:lnTo>
                  <a:pt x="401662" y="0"/>
                </a:lnTo>
                <a:lnTo>
                  <a:pt x="344639" y="114427"/>
                </a:lnTo>
                <a:lnTo>
                  <a:pt x="382727" y="114427"/>
                </a:lnTo>
                <a:lnTo>
                  <a:pt x="383565" y="943991"/>
                </a:lnTo>
                <a:lnTo>
                  <a:pt x="0" y="943991"/>
                </a:lnTo>
                <a:lnTo>
                  <a:pt x="0" y="982091"/>
                </a:lnTo>
                <a:lnTo>
                  <a:pt x="383603" y="982091"/>
                </a:lnTo>
                <a:lnTo>
                  <a:pt x="384352" y="1718437"/>
                </a:lnTo>
                <a:lnTo>
                  <a:pt x="422452" y="1718437"/>
                </a:lnTo>
                <a:lnTo>
                  <a:pt x="421703" y="982091"/>
                </a:lnTo>
                <a:lnTo>
                  <a:pt x="6860235" y="982091"/>
                </a:lnTo>
                <a:lnTo>
                  <a:pt x="6860235" y="1020191"/>
                </a:lnTo>
                <a:lnTo>
                  <a:pt x="6936435" y="982091"/>
                </a:lnTo>
                <a:lnTo>
                  <a:pt x="6974535" y="963041"/>
                </a:lnTo>
                <a:close/>
              </a:path>
            </a:pathLst>
          </a:custGeom>
          <a:solidFill>
            <a:srgbClr val="4471C4"/>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1" i="0">
                <a:solidFill>
                  <a:srgbClr val="6F2F9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6F2F9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4142" y="74167"/>
            <a:ext cx="11615420" cy="497840"/>
          </a:xfrm>
          <a:prstGeom prst="rect">
            <a:avLst/>
          </a:prstGeom>
        </p:spPr>
        <p:txBody>
          <a:bodyPr wrap="square" lIns="0" tIns="0" rIns="0" bIns="0">
            <a:spAutoFit/>
          </a:bodyPr>
          <a:lstStyle>
            <a:lvl1pPr>
              <a:defRPr sz="2400" b="1" i="0">
                <a:solidFill>
                  <a:srgbClr val="6F2F9F"/>
                </a:solidFill>
                <a:latin typeface="Calibri"/>
                <a:cs typeface="Calibri"/>
              </a:defRPr>
            </a:lvl1pPr>
          </a:lstStyle>
          <a:p>
            <a:endParaRPr/>
          </a:p>
        </p:txBody>
      </p:sp>
      <p:sp>
        <p:nvSpPr>
          <p:cNvPr id="3" name="Holder 3"/>
          <p:cNvSpPr>
            <a:spLocks noGrp="1"/>
          </p:cNvSpPr>
          <p:nvPr>
            <p:ph type="body" idx="1"/>
          </p:nvPr>
        </p:nvSpPr>
        <p:spPr>
          <a:xfrm>
            <a:off x="174142" y="1271269"/>
            <a:ext cx="11211356" cy="4478516"/>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3/31/2026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rrahman007.buet.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221" y="1559560"/>
            <a:ext cx="11800205" cy="677108"/>
          </a:xfrm>
        </p:spPr>
        <p:txBody>
          <a:bodyPr/>
          <a:lstStyle/>
          <a:p>
            <a:pPr algn="ctr"/>
            <a:r>
              <a:rPr lang="en-US" sz="4400" dirty="0"/>
              <a:t>A</a:t>
            </a:r>
            <a:r>
              <a:rPr lang="en-US" sz="4400" u="none" dirty="0"/>
              <a:t>ngle Modulation</a:t>
            </a:r>
          </a:p>
        </p:txBody>
      </p:sp>
      <p:sp>
        <p:nvSpPr>
          <p:cNvPr id="3" name="Subtitle 2"/>
          <p:cNvSpPr>
            <a:spLocks noGrp="1"/>
          </p:cNvSpPr>
          <p:nvPr>
            <p:ph type="subTitle" idx="4"/>
          </p:nvPr>
        </p:nvSpPr>
        <p:spPr>
          <a:xfrm>
            <a:off x="1828800" y="3352800"/>
            <a:ext cx="8534400" cy="2492990"/>
          </a:xfrm>
        </p:spPr>
        <p:txBody>
          <a:bodyPr/>
          <a:lstStyle/>
          <a:p>
            <a:pPr algn="ctr"/>
            <a:r>
              <a:rPr lang="en-US" b="1" dirty="0"/>
              <a:t>Prepared by</a:t>
            </a:r>
          </a:p>
          <a:p>
            <a:pPr algn="ctr"/>
            <a:r>
              <a:rPr lang="en-US" dirty="0"/>
              <a:t>Rifat Rahman</a:t>
            </a:r>
          </a:p>
          <a:p>
            <a:pPr algn="ctr"/>
            <a:r>
              <a:rPr lang="en-US" dirty="0"/>
              <a:t>Assistant Professor</a:t>
            </a:r>
          </a:p>
          <a:p>
            <a:pPr algn="ctr"/>
            <a:r>
              <a:rPr lang="en-US" dirty="0"/>
              <a:t>Institute of Appropriate Technology, BUET</a:t>
            </a:r>
          </a:p>
          <a:p>
            <a:pPr algn="ctr"/>
            <a:r>
              <a:rPr lang="en-US" dirty="0">
                <a:hlinkClick r:id="rId2"/>
              </a:rPr>
              <a:t>https://rrahman007.buet.ac.bd</a:t>
            </a:r>
            <a:endParaRPr lang="en-US" dirty="0"/>
          </a:p>
          <a:p>
            <a:pPr algn="ctr"/>
            <a:endParaRPr lang="en-US" dirty="0"/>
          </a:p>
          <a:p>
            <a:pPr algn="ctr"/>
            <a:r>
              <a:rPr lang="en-US" dirty="0"/>
              <a:t>and</a:t>
            </a:r>
          </a:p>
          <a:p>
            <a:pPr algn="ctr"/>
            <a:r>
              <a:rPr lang="en-US" dirty="0"/>
              <a:t>Prof. Hitesh </a:t>
            </a:r>
            <a:r>
              <a:rPr lang="en-US" dirty="0" err="1"/>
              <a:t>Dholakiya</a:t>
            </a:r>
            <a:endParaRPr lang="en-US" dirty="0"/>
          </a:p>
          <a:p>
            <a:pPr algn="ctr"/>
            <a:endParaRPr lang="en-US" dirty="0"/>
          </a:p>
        </p:txBody>
      </p:sp>
    </p:spTree>
    <p:extLst>
      <p:ext uri="{BB962C8B-B14F-4D97-AF65-F5344CB8AC3E}">
        <p14:creationId xmlns:p14="http://schemas.microsoft.com/office/powerpoint/2010/main" val="3584214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517" y="-14782"/>
            <a:ext cx="11634470" cy="940435"/>
          </a:xfrm>
          <a:prstGeom prst="rect">
            <a:avLst/>
          </a:prstGeom>
        </p:spPr>
        <p:txBody>
          <a:bodyPr vert="horz" wrap="square" lIns="0" tIns="12700" rIns="0" bIns="0" rtlCol="0">
            <a:spAutoFit/>
          </a:bodyPr>
          <a:lstStyle/>
          <a:p>
            <a:pPr marL="12700">
              <a:lnSpc>
                <a:spcPct val="100000"/>
              </a:lnSpc>
              <a:spcBef>
                <a:spcPts val="100"/>
              </a:spcBef>
            </a:pPr>
            <a:r>
              <a:rPr lang="en-US" sz="6000" spc="-355" dirty="0">
                <a:solidFill>
                  <a:srgbClr val="006600"/>
                </a:solidFill>
                <a:latin typeface="Trebuchet MS"/>
                <a:cs typeface="Trebuchet MS"/>
              </a:rPr>
              <a:t>Single </a:t>
            </a:r>
            <a:r>
              <a:rPr sz="6000" spc="-355" dirty="0">
                <a:solidFill>
                  <a:srgbClr val="006600"/>
                </a:solidFill>
                <a:latin typeface="Trebuchet MS"/>
                <a:cs typeface="Trebuchet MS"/>
              </a:rPr>
              <a:t>Tone</a:t>
            </a:r>
            <a:r>
              <a:rPr sz="6000" spc="-270" dirty="0">
                <a:solidFill>
                  <a:srgbClr val="006600"/>
                </a:solidFill>
                <a:latin typeface="Trebuchet MS"/>
                <a:cs typeface="Trebuchet MS"/>
              </a:rPr>
              <a:t> </a:t>
            </a:r>
            <a:r>
              <a:rPr sz="6000" spc="-240" dirty="0">
                <a:solidFill>
                  <a:srgbClr val="006600"/>
                </a:solidFill>
                <a:latin typeface="Trebuchet MS"/>
                <a:cs typeface="Trebuchet MS"/>
              </a:rPr>
              <a:t>Frequency</a:t>
            </a:r>
            <a:r>
              <a:rPr sz="6000" spc="-254" dirty="0">
                <a:solidFill>
                  <a:srgbClr val="006600"/>
                </a:solidFill>
                <a:latin typeface="Trebuchet MS"/>
                <a:cs typeface="Trebuchet MS"/>
              </a:rPr>
              <a:t> </a:t>
            </a:r>
            <a:r>
              <a:rPr sz="6000" spc="-10" dirty="0">
                <a:solidFill>
                  <a:srgbClr val="006600"/>
                </a:solidFill>
                <a:latin typeface="Trebuchet MS"/>
                <a:cs typeface="Trebuchet MS"/>
              </a:rPr>
              <a:t>Modulation</a:t>
            </a:r>
            <a:endParaRPr sz="6000" dirty="0">
              <a:latin typeface="Trebuchet MS"/>
              <a:cs typeface="Trebuchet MS"/>
            </a:endParaRPr>
          </a:p>
        </p:txBody>
      </p:sp>
      <p:sp>
        <p:nvSpPr>
          <p:cNvPr id="6" name="Rectangle 5">
            <a:extLst>
              <a:ext uri="{FF2B5EF4-FFF2-40B4-BE49-F238E27FC236}">
                <a16:creationId xmlns:a16="http://schemas.microsoft.com/office/drawing/2014/main" id="{A7F44799-D1FD-4AB9-83F5-B4E5248C247F}"/>
              </a:ext>
            </a:extLst>
          </p:cNvPr>
          <p:cNvSpPr/>
          <p:nvPr/>
        </p:nvSpPr>
        <p:spPr>
          <a:xfrm>
            <a:off x="5867400" y="6496050"/>
            <a:ext cx="247650" cy="1767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object 3">
                <a:extLst>
                  <a:ext uri="{FF2B5EF4-FFF2-40B4-BE49-F238E27FC236}">
                    <a16:creationId xmlns:a16="http://schemas.microsoft.com/office/drawing/2014/main" id="{D225DC5E-3CB1-4AF0-9A4E-04807A92F1C3}"/>
                  </a:ext>
                </a:extLst>
              </p:cNvPr>
              <p:cNvSpPr txBox="1"/>
              <p:nvPr/>
            </p:nvSpPr>
            <p:spPr>
              <a:xfrm>
                <a:off x="228599" y="1073881"/>
                <a:ext cx="11887201" cy="5063309"/>
              </a:xfrm>
              <a:prstGeom prst="rect">
                <a:avLst/>
              </a:prstGeom>
            </p:spPr>
            <p:txBody>
              <a:bodyPr vert="horz" wrap="square" lIns="0" tIns="92710" rIns="0" bIns="0" rtlCol="0">
                <a:spAutoFit/>
              </a:bodyPr>
              <a:lstStyle/>
              <a:p>
                <a:pPr marL="405765" indent="-342900">
                  <a:lnSpc>
                    <a:spcPct val="100000"/>
                  </a:lnSpc>
                  <a:spcBef>
                    <a:spcPts val="470"/>
                  </a:spcBef>
                  <a:buFont typeface="Wingdings" panose="05000000000000000000" pitchFamily="2" charset="2"/>
                  <a:buChar char="q"/>
                  <a:tabLst>
                    <a:tab pos="520065" algn="l"/>
                  </a:tabLst>
                </a:pPr>
                <a:r>
                  <a:rPr lang="en-US" sz="2400" dirty="0">
                    <a:solidFill>
                      <a:srgbClr val="6F2F9F"/>
                    </a:solidFill>
                    <a:latin typeface="Calibri"/>
                    <a:cs typeface="Calibri"/>
                  </a:rPr>
                  <a:t>Single Tone Modulating/Message Signal</a:t>
                </a:r>
                <a:r>
                  <a:rPr lang="en-US" sz="2400" b="1" dirty="0">
                    <a:solidFill>
                      <a:srgbClr val="6F2F9F"/>
                    </a:solidFill>
                    <a:latin typeface="Calibri"/>
                    <a:cs typeface="Calibri"/>
                  </a:rPr>
                  <a:t>, </a:t>
                </a:r>
                <a14:m>
                  <m:oMath xmlns:m="http://schemas.openxmlformats.org/officeDocument/2006/math">
                    <m:r>
                      <a:rPr lang="en-US" sz="2400" b="1" i="1" smtClean="0">
                        <a:solidFill>
                          <a:srgbClr val="6F2F9F"/>
                        </a:solidFill>
                        <a:latin typeface="Cambria Math" panose="02040503050406030204" pitchFamily="18" charset="0"/>
                        <a:cs typeface="Calibri"/>
                      </a:rPr>
                      <m:t>𝒎</m:t>
                    </m:r>
                    <m:d>
                      <m:dPr>
                        <m:ctrlPr>
                          <a:rPr lang="en-US" sz="2400" b="1" i="1" smtClean="0">
                            <a:solidFill>
                              <a:srgbClr val="6F2F9F"/>
                            </a:solidFill>
                            <a:latin typeface="Cambria Math" panose="02040503050406030204" pitchFamily="18" charset="0"/>
                            <a:cs typeface="Calibri"/>
                          </a:rPr>
                        </m:ctrlPr>
                      </m:dPr>
                      <m:e>
                        <m:r>
                          <a:rPr lang="en-US" sz="2400" b="1" i="1" smtClean="0">
                            <a:solidFill>
                              <a:srgbClr val="6F2F9F"/>
                            </a:solidFill>
                            <a:latin typeface="Cambria Math" panose="02040503050406030204" pitchFamily="18" charset="0"/>
                            <a:cs typeface="Calibri"/>
                          </a:rPr>
                          <m:t>𝒕</m:t>
                        </m:r>
                      </m:e>
                    </m:d>
                    <m:r>
                      <a:rPr lang="en-US" sz="2400" b="1" i="1" smtClean="0">
                        <a:solidFill>
                          <a:srgbClr val="6F2F9F"/>
                        </a:solidFill>
                        <a:latin typeface="Cambria Math" panose="02040503050406030204" pitchFamily="18" charset="0"/>
                        <a:cs typeface="Calibri"/>
                      </a:rPr>
                      <m:t>=</m:t>
                    </m:r>
                    <m:sSub>
                      <m:sSubPr>
                        <m:ctrlPr>
                          <a:rPr lang="en-US" sz="2400" b="1" i="1" smtClean="0">
                            <a:solidFill>
                              <a:srgbClr val="6F2F9F"/>
                            </a:solidFill>
                            <a:latin typeface="Cambria Math" panose="02040503050406030204" pitchFamily="18" charset="0"/>
                            <a:cs typeface="Calibri"/>
                          </a:rPr>
                        </m:ctrlPr>
                      </m:sSubPr>
                      <m:e>
                        <m:r>
                          <a:rPr lang="en-US" sz="2400" b="1" i="1" smtClean="0">
                            <a:solidFill>
                              <a:srgbClr val="6F2F9F"/>
                            </a:solidFill>
                            <a:latin typeface="Cambria Math" panose="02040503050406030204" pitchFamily="18" charset="0"/>
                            <a:cs typeface="Calibri"/>
                          </a:rPr>
                          <m:t>𝑽</m:t>
                        </m:r>
                      </m:e>
                      <m:sub>
                        <m:r>
                          <a:rPr lang="en-US" sz="2400" b="1" i="1" smtClean="0">
                            <a:solidFill>
                              <a:srgbClr val="6F2F9F"/>
                            </a:solidFill>
                            <a:latin typeface="Cambria Math" panose="02040503050406030204" pitchFamily="18" charset="0"/>
                            <a:cs typeface="Calibri"/>
                          </a:rPr>
                          <m:t>𝒎</m:t>
                        </m:r>
                      </m:sub>
                    </m:sSub>
                    <m:r>
                      <a:rPr lang="en-US" sz="2400" b="1" i="1" smtClean="0">
                        <a:solidFill>
                          <a:srgbClr val="6F2F9F"/>
                        </a:solidFill>
                        <a:latin typeface="Cambria Math" panose="02040503050406030204" pitchFamily="18" charset="0"/>
                        <a:cs typeface="Calibri"/>
                      </a:rPr>
                      <m:t>𝒄𝒐𝒔</m:t>
                    </m:r>
                    <m:d>
                      <m:dPr>
                        <m:ctrlPr>
                          <a:rPr lang="en-US" sz="2400" b="1" i="1" smtClean="0">
                            <a:solidFill>
                              <a:srgbClr val="6F2F9F"/>
                            </a:solidFill>
                            <a:latin typeface="Cambria Math" panose="02040503050406030204" pitchFamily="18" charset="0"/>
                            <a:cs typeface="Calibri"/>
                          </a:rPr>
                        </m:ctrlPr>
                      </m:dPr>
                      <m:e>
                        <m:r>
                          <a:rPr lang="en-US" sz="2400" b="1" i="1" smtClean="0">
                            <a:solidFill>
                              <a:srgbClr val="6F2F9F"/>
                            </a:solidFill>
                            <a:latin typeface="Cambria Math" panose="02040503050406030204" pitchFamily="18" charset="0"/>
                            <a:cs typeface="Calibri"/>
                          </a:rPr>
                          <m:t>𝟐</m:t>
                        </m:r>
                        <m:r>
                          <a:rPr lang="el-GR" sz="2400" b="1" i="1" smtClean="0">
                            <a:solidFill>
                              <a:srgbClr val="6F2F9F"/>
                            </a:solidFill>
                            <a:latin typeface="Cambria Math" panose="02040503050406030204" pitchFamily="18" charset="0"/>
                            <a:cs typeface="Calibri"/>
                          </a:rPr>
                          <m:t>𝝅</m:t>
                        </m:r>
                        <m:sSub>
                          <m:sSubPr>
                            <m:ctrlPr>
                              <a:rPr lang="en-US" sz="2400" b="1" i="1" smtClean="0">
                                <a:solidFill>
                                  <a:srgbClr val="6F2F9F"/>
                                </a:solidFill>
                                <a:latin typeface="Cambria Math" panose="02040503050406030204" pitchFamily="18" charset="0"/>
                                <a:cs typeface="Calibri"/>
                              </a:rPr>
                            </m:ctrlPr>
                          </m:sSubPr>
                          <m:e>
                            <m:r>
                              <a:rPr lang="en-US" sz="2400" b="1" i="1" smtClean="0">
                                <a:solidFill>
                                  <a:srgbClr val="6F2F9F"/>
                                </a:solidFill>
                                <a:latin typeface="Cambria Math" panose="02040503050406030204" pitchFamily="18" charset="0"/>
                                <a:cs typeface="Calibri"/>
                              </a:rPr>
                              <m:t>𝒇</m:t>
                            </m:r>
                          </m:e>
                          <m:sub>
                            <m:r>
                              <a:rPr lang="en-US" sz="2400" b="1" i="1" smtClean="0">
                                <a:solidFill>
                                  <a:srgbClr val="6F2F9F"/>
                                </a:solidFill>
                                <a:latin typeface="Cambria Math" panose="02040503050406030204" pitchFamily="18" charset="0"/>
                                <a:cs typeface="Calibri"/>
                              </a:rPr>
                              <m:t>𝒎</m:t>
                            </m:r>
                          </m:sub>
                        </m:sSub>
                        <m:r>
                          <a:rPr lang="en-US" sz="2400" b="1" i="1" smtClean="0">
                            <a:solidFill>
                              <a:srgbClr val="6F2F9F"/>
                            </a:solidFill>
                            <a:latin typeface="Cambria Math" panose="02040503050406030204" pitchFamily="18" charset="0"/>
                            <a:cs typeface="Calibri"/>
                          </a:rPr>
                          <m:t>𝒕</m:t>
                        </m:r>
                      </m:e>
                    </m:d>
                  </m:oMath>
                </a14:m>
                <a:endParaRPr lang="en-US" sz="2400" dirty="0">
                  <a:latin typeface="Calibri"/>
                  <a:cs typeface="Calibri"/>
                </a:endParaRPr>
              </a:p>
              <a:p>
                <a:pPr marL="405765" indent="-342900">
                  <a:lnSpc>
                    <a:spcPct val="100000"/>
                  </a:lnSpc>
                  <a:spcBef>
                    <a:spcPts val="470"/>
                  </a:spcBef>
                  <a:buFont typeface="Wingdings" panose="05000000000000000000" pitchFamily="2" charset="2"/>
                  <a:buChar char="q"/>
                  <a:tabLst>
                    <a:tab pos="520065" algn="l"/>
                  </a:tabLst>
                </a:pPr>
                <a:r>
                  <a:rPr lang="en-US" sz="2400" dirty="0">
                    <a:solidFill>
                      <a:srgbClr val="6F2F9F"/>
                    </a:solidFill>
                    <a:latin typeface="Calibri"/>
                    <a:cs typeface="Calibri"/>
                  </a:rPr>
                  <a:t>Carrier Signal</a:t>
                </a:r>
                <a14:m>
                  <m:oMath xmlns:m="http://schemas.openxmlformats.org/officeDocument/2006/math">
                    <m:r>
                      <a:rPr lang="en-US" sz="2400" b="0" i="0" smtClean="0">
                        <a:solidFill>
                          <a:srgbClr val="6F2F9F"/>
                        </a:solidFill>
                        <a:latin typeface="Cambria Math" panose="02040503050406030204" pitchFamily="18" charset="0"/>
                        <a:cs typeface="Calibri"/>
                      </a:rPr>
                      <m:t>,  </m:t>
                    </m:r>
                    <m:r>
                      <a:rPr lang="en-US" sz="2400" b="1" i="1" smtClean="0">
                        <a:solidFill>
                          <a:srgbClr val="6F2F9F"/>
                        </a:solidFill>
                        <a:latin typeface="Cambria Math" panose="02040503050406030204" pitchFamily="18" charset="0"/>
                        <a:cs typeface="Calibri"/>
                      </a:rPr>
                      <m:t>𝒄</m:t>
                    </m:r>
                    <m:d>
                      <m:dPr>
                        <m:ctrlPr>
                          <a:rPr lang="en-US" sz="2400" b="1" i="1" smtClean="0">
                            <a:solidFill>
                              <a:srgbClr val="6F2F9F"/>
                            </a:solidFill>
                            <a:latin typeface="Cambria Math" panose="02040503050406030204" pitchFamily="18" charset="0"/>
                            <a:cs typeface="Calibri"/>
                          </a:rPr>
                        </m:ctrlPr>
                      </m:dPr>
                      <m:e>
                        <m:r>
                          <a:rPr lang="en-US" sz="2400" b="1" i="1" smtClean="0">
                            <a:solidFill>
                              <a:srgbClr val="6F2F9F"/>
                            </a:solidFill>
                            <a:latin typeface="Cambria Math" panose="02040503050406030204" pitchFamily="18" charset="0"/>
                            <a:cs typeface="Calibri"/>
                          </a:rPr>
                          <m:t>𝒕</m:t>
                        </m:r>
                      </m:e>
                    </m:d>
                    <m:r>
                      <a:rPr lang="en-US" sz="2400" b="1" i="1" smtClean="0">
                        <a:solidFill>
                          <a:srgbClr val="6F2F9F"/>
                        </a:solidFill>
                        <a:latin typeface="Cambria Math" panose="02040503050406030204" pitchFamily="18" charset="0"/>
                        <a:cs typeface="Calibri"/>
                      </a:rPr>
                      <m:t>=</m:t>
                    </m:r>
                    <m:sSub>
                      <m:sSubPr>
                        <m:ctrlPr>
                          <a:rPr lang="en-US" sz="2400" b="1" i="1" smtClean="0">
                            <a:solidFill>
                              <a:srgbClr val="6F2F9F"/>
                            </a:solidFill>
                            <a:latin typeface="Cambria Math" panose="02040503050406030204" pitchFamily="18" charset="0"/>
                            <a:cs typeface="Calibri"/>
                          </a:rPr>
                        </m:ctrlPr>
                      </m:sSubPr>
                      <m:e>
                        <m:r>
                          <a:rPr lang="en-US" sz="2400" b="1" i="1" smtClean="0">
                            <a:solidFill>
                              <a:srgbClr val="6F2F9F"/>
                            </a:solidFill>
                            <a:latin typeface="Cambria Math" panose="02040503050406030204" pitchFamily="18" charset="0"/>
                            <a:cs typeface="Calibri"/>
                          </a:rPr>
                          <m:t>𝑽</m:t>
                        </m:r>
                      </m:e>
                      <m:sub>
                        <m:r>
                          <a:rPr lang="en-US" sz="2400" b="1" i="1" smtClean="0">
                            <a:solidFill>
                              <a:srgbClr val="6F2F9F"/>
                            </a:solidFill>
                            <a:latin typeface="Cambria Math" panose="02040503050406030204" pitchFamily="18" charset="0"/>
                            <a:cs typeface="Calibri"/>
                          </a:rPr>
                          <m:t>𝒄</m:t>
                        </m:r>
                      </m:sub>
                    </m:sSub>
                    <m:func>
                      <m:funcPr>
                        <m:ctrlPr>
                          <a:rPr lang="en-US" sz="2400" b="1" i="1" smtClean="0">
                            <a:solidFill>
                              <a:srgbClr val="6F2F9F"/>
                            </a:solidFill>
                            <a:latin typeface="Cambria Math" panose="02040503050406030204" pitchFamily="18" charset="0"/>
                            <a:cs typeface="Calibri"/>
                          </a:rPr>
                        </m:ctrlPr>
                      </m:funcPr>
                      <m:fName>
                        <m:r>
                          <a:rPr lang="en-US" sz="2400" b="1" i="0" smtClean="0">
                            <a:solidFill>
                              <a:srgbClr val="6F2F9F"/>
                            </a:solidFill>
                            <a:latin typeface="Cambria Math" panose="02040503050406030204" pitchFamily="18" charset="0"/>
                            <a:cs typeface="Calibri"/>
                          </a:rPr>
                          <m:t>𝐬𝐢𝐧</m:t>
                        </m:r>
                      </m:fName>
                      <m:e>
                        <m:d>
                          <m:dPr>
                            <m:ctrlPr>
                              <a:rPr lang="en-US" sz="2400" b="1" i="1" smtClean="0">
                                <a:solidFill>
                                  <a:srgbClr val="6F2F9F"/>
                                </a:solidFill>
                                <a:latin typeface="Cambria Math" panose="02040503050406030204" pitchFamily="18" charset="0"/>
                                <a:cs typeface="Calibri"/>
                              </a:rPr>
                            </m:ctrlPr>
                          </m:dPr>
                          <m:e>
                            <m:r>
                              <a:rPr lang="en-US" sz="2400" b="1" i="1" smtClean="0">
                                <a:solidFill>
                                  <a:srgbClr val="6F2F9F"/>
                                </a:solidFill>
                                <a:latin typeface="Cambria Math" panose="02040503050406030204" pitchFamily="18" charset="0"/>
                                <a:cs typeface="Calibri"/>
                              </a:rPr>
                              <m:t>𝟐</m:t>
                            </m:r>
                            <m:r>
                              <a:rPr lang="el-GR" sz="2400" b="1" i="1" smtClean="0">
                                <a:solidFill>
                                  <a:srgbClr val="6F2F9F"/>
                                </a:solidFill>
                                <a:latin typeface="Cambria Math" panose="02040503050406030204" pitchFamily="18" charset="0"/>
                                <a:cs typeface="Calibri"/>
                              </a:rPr>
                              <m:t>𝝅</m:t>
                            </m:r>
                            <m:sSub>
                              <m:sSubPr>
                                <m:ctrlPr>
                                  <a:rPr lang="en-US" sz="2400" b="1" i="1" smtClean="0">
                                    <a:solidFill>
                                      <a:srgbClr val="6F2F9F"/>
                                    </a:solidFill>
                                    <a:latin typeface="Cambria Math" panose="02040503050406030204" pitchFamily="18" charset="0"/>
                                    <a:cs typeface="Calibri"/>
                                  </a:rPr>
                                </m:ctrlPr>
                              </m:sSubPr>
                              <m:e>
                                <m:r>
                                  <a:rPr lang="en-US" sz="2400" b="1" i="1" smtClean="0">
                                    <a:solidFill>
                                      <a:srgbClr val="6F2F9F"/>
                                    </a:solidFill>
                                    <a:latin typeface="Cambria Math" panose="02040503050406030204" pitchFamily="18" charset="0"/>
                                    <a:cs typeface="Calibri"/>
                                  </a:rPr>
                                  <m:t>𝒇</m:t>
                                </m:r>
                              </m:e>
                              <m:sub>
                                <m:r>
                                  <a:rPr lang="en-US" sz="2400" b="1" i="1" smtClean="0">
                                    <a:solidFill>
                                      <a:srgbClr val="6F2F9F"/>
                                    </a:solidFill>
                                    <a:latin typeface="Cambria Math" panose="02040503050406030204" pitchFamily="18" charset="0"/>
                                    <a:cs typeface="Calibri"/>
                                  </a:rPr>
                                  <m:t>𝒄</m:t>
                                </m:r>
                              </m:sub>
                            </m:sSub>
                            <m:r>
                              <a:rPr lang="en-US" sz="2400" b="1" i="1" smtClean="0">
                                <a:solidFill>
                                  <a:srgbClr val="6F2F9F"/>
                                </a:solidFill>
                                <a:latin typeface="Cambria Math" panose="02040503050406030204" pitchFamily="18" charset="0"/>
                                <a:cs typeface="Calibri"/>
                              </a:rPr>
                              <m:t>𝒕</m:t>
                            </m:r>
                          </m:e>
                        </m:d>
                      </m:e>
                    </m:func>
                  </m:oMath>
                </a14:m>
                <a:endParaRPr lang="en-US" sz="2400" b="1" dirty="0">
                  <a:solidFill>
                    <a:srgbClr val="6F2F9F"/>
                  </a:solidFill>
                  <a:latin typeface="Calibri"/>
                  <a:cs typeface="Calibri"/>
                </a:endParaRPr>
              </a:p>
              <a:p>
                <a:pPr marL="405765" indent="-342900">
                  <a:lnSpc>
                    <a:spcPct val="100000"/>
                  </a:lnSpc>
                  <a:spcBef>
                    <a:spcPts val="470"/>
                  </a:spcBef>
                  <a:buFont typeface="Wingdings" panose="05000000000000000000" pitchFamily="2" charset="2"/>
                  <a:buChar char="q"/>
                  <a:tabLst>
                    <a:tab pos="520065" algn="l"/>
                  </a:tabLst>
                </a:pPr>
                <a:r>
                  <a:rPr lang="en-US" sz="2400" dirty="0">
                    <a:solidFill>
                      <a:srgbClr val="6F2F9F"/>
                    </a:solidFill>
                    <a:latin typeface="Calibri"/>
                    <a:cs typeface="Calibri"/>
                  </a:rPr>
                  <a:t>Instantaneous Frequency of FM Signal:</a:t>
                </a:r>
              </a:p>
              <a:p>
                <a:pPr marL="62865">
                  <a:lnSpc>
                    <a:spcPct val="100000"/>
                  </a:lnSpc>
                  <a:spcBef>
                    <a:spcPts val="470"/>
                  </a:spcBef>
                  <a:tabLst>
                    <a:tab pos="520065" algn="l"/>
                  </a:tabLst>
                </a:pPr>
                <a:r>
                  <a:rPr lang="en-US" sz="2400" dirty="0">
                    <a:latin typeface="Calibri"/>
                    <a:cs typeface="Calibri"/>
                  </a:rPr>
                  <a:t>	</a:t>
                </a:r>
                <a14:m>
                  <m:oMath xmlns:m="http://schemas.openxmlformats.org/officeDocument/2006/math">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𝑖</m:t>
                        </m:r>
                      </m:sub>
                    </m:sSub>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r>
                      <a:rPr lang="en-US" sz="2400" b="0" i="1" smtClean="0">
                        <a:solidFill>
                          <a:srgbClr val="7030A0"/>
                        </a:solidFill>
                        <a:latin typeface="Cambria Math" panose="02040503050406030204" pitchFamily="18" charset="0"/>
                        <a:cs typeface="Calibri"/>
                      </a:rPr>
                      <m:t>𝑚</m:t>
                    </m:r>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𝑡</m:t>
                    </m:r>
                    <m:r>
                      <a:rPr lang="en-US" sz="2400" b="0" i="1" smtClean="0">
                        <a:solidFill>
                          <a:srgbClr val="7030A0"/>
                        </a:solidFill>
                        <a:latin typeface="Cambria Math" panose="02040503050406030204" pitchFamily="18" charset="0"/>
                        <a:cs typeface="Calibri"/>
                      </a:rPr>
                      <m:t>)</m:t>
                    </m:r>
                  </m:oMath>
                </a14:m>
                <a:endParaRPr lang="en-US" sz="2400" dirty="0">
                  <a:solidFill>
                    <a:srgbClr val="7030A0"/>
                  </a:solidFill>
                  <a:latin typeface="Calibri"/>
                  <a:cs typeface="Calibri"/>
                </a:endParaRPr>
              </a:p>
              <a:p>
                <a:pPr marL="62865">
                  <a:lnSpc>
                    <a:spcPct val="100000"/>
                  </a:lnSpc>
                  <a:spcBef>
                    <a:spcPts val="470"/>
                  </a:spcBef>
                  <a:tabLst>
                    <a:tab pos="520065" algn="l"/>
                  </a:tabLst>
                </a:pPr>
                <a14:m>
                  <m:oMathPara xmlns:m="http://schemas.openxmlformats.org/officeDocument/2006/math">
                    <m:oMathParaPr>
                      <m:jc m:val="left"/>
                    </m:oMathParaPr>
                    <m:oMath xmlns:m="http://schemas.openxmlformats.org/officeDocument/2006/math">
                      <m:r>
                        <a:rPr lang="en-US" sz="2400" b="0" i="1" smtClean="0">
                          <a:solidFill>
                            <a:srgbClr val="7030A0"/>
                          </a:solidFill>
                          <a:latin typeface="Cambria Math" panose="02040503050406030204" pitchFamily="18" charset="0"/>
                          <a:cs typeface="Calibri"/>
                        </a:rPr>
                        <m:t> ⇒</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𝑖</m:t>
                          </m:r>
                        </m:sub>
                      </m:sSub>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𝑉</m:t>
                          </m:r>
                        </m:e>
                        <m:sub>
                          <m:r>
                            <a:rPr lang="en-US" sz="2400" b="0" i="1" smtClean="0">
                              <a:solidFill>
                                <a:srgbClr val="7030A0"/>
                              </a:solidFill>
                              <a:latin typeface="Cambria Math" panose="02040503050406030204" pitchFamily="18" charset="0"/>
                              <a:cs typeface="Calibri"/>
                            </a:rPr>
                            <m:t>𝑚</m:t>
                          </m:r>
                        </m:sub>
                      </m:sSub>
                      <m:func>
                        <m:funcPr>
                          <m:ctrlPr>
                            <a:rPr lang="en-US" sz="2400" b="0" i="1" smtClean="0">
                              <a:solidFill>
                                <a:srgbClr val="7030A0"/>
                              </a:solidFill>
                              <a:latin typeface="Cambria Math" panose="02040503050406030204" pitchFamily="18" charset="0"/>
                              <a:cs typeface="Calibri"/>
                            </a:rPr>
                          </m:ctrlPr>
                        </m:funcPr>
                        <m:fName>
                          <m:r>
                            <m:rPr>
                              <m:sty m:val="p"/>
                            </m:rPr>
                            <a:rPr lang="en-US" sz="2400" b="0" i="0" smtClean="0">
                              <a:solidFill>
                                <a:srgbClr val="7030A0"/>
                              </a:solidFill>
                              <a:latin typeface="Cambria Math" panose="02040503050406030204" pitchFamily="18" charset="0"/>
                              <a:cs typeface="Calibri"/>
                            </a:rPr>
                            <m:t>cos</m:t>
                          </m:r>
                        </m:fName>
                        <m:e>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𝑡</m:t>
                              </m:r>
                            </m:e>
                          </m:d>
                        </m:e>
                      </m:func>
                    </m:oMath>
                  </m:oMathPara>
                </a14:m>
                <a:endParaRPr lang="en-US" sz="2400" b="0" dirty="0">
                  <a:solidFill>
                    <a:srgbClr val="7030A0"/>
                  </a:solidFill>
                  <a:latin typeface="Calibri"/>
                  <a:cs typeface="Calibri"/>
                </a:endParaRPr>
              </a:p>
              <a:p>
                <a:pPr marL="62865">
                  <a:lnSpc>
                    <a:spcPct val="100000"/>
                  </a:lnSpc>
                  <a:spcBef>
                    <a:spcPts val="470"/>
                  </a:spcBef>
                  <a:tabLst>
                    <a:tab pos="520065" algn="l"/>
                  </a:tabLst>
                </a:pPr>
                <a14:m>
                  <m:oMathPara xmlns:m="http://schemas.openxmlformats.org/officeDocument/2006/math">
                    <m:oMathParaPr>
                      <m:jc m:val="left"/>
                    </m:oMathParaPr>
                    <m:oMath xmlns:m="http://schemas.openxmlformats.org/officeDocument/2006/math">
                      <m:r>
                        <a:rPr lang="en-US" sz="2400" b="0" i="1" smtClean="0">
                          <a:solidFill>
                            <a:srgbClr val="7030A0"/>
                          </a:solidFill>
                          <a:latin typeface="Cambria Math" panose="02040503050406030204" pitchFamily="18" charset="0"/>
                          <a:cs typeface="Calibri"/>
                        </a:rPr>
                        <m:t> ⇒</m:t>
                      </m:r>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𝒇</m:t>
                          </m:r>
                        </m:e>
                        <m:sub>
                          <m:r>
                            <a:rPr lang="en-US" sz="2400" b="1" i="1" smtClean="0">
                              <a:solidFill>
                                <a:srgbClr val="FF0000"/>
                              </a:solidFill>
                              <a:latin typeface="Cambria Math" panose="02040503050406030204" pitchFamily="18" charset="0"/>
                              <a:cs typeface="Calibri"/>
                            </a:rPr>
                            <m:t>𝒊</m:t>
                          </m:r>
                        </m:sub>
                      </m:sSub>
                      <m:d>
                        <m:dPr>
                          <m:ctrlPr>
                            <a:rPr lang="en-US" sz="2400" b="1" i="1" smtClean="0">
                              <a:solidFill>
                                <a:srgbClr val="FF0000"/>
                              </a:solidFill>
                              <a:latin typeface="Cambria Math" panose="02040503050406030204" pitchFamily="18" charset="0"/>
                              <a:cs typeface="Calibri"/>
                            </a:rPr>
                          </m:ctrlPr>
                        </m:dPr>
                        <m:e>
                          <m:r>
                            <a:rPr lang="en-US" sz="2400" b="1" i="1" smtClean="0">
                              <a:solidFill>
                                <a:srgbClr val="FF0000"/>
                              </a:solidFill>
                              <a:latin typeface="Cambria Math" panose="02040503050406030204" pitchFamily="18" charset="0"/>
                              <a:cs typeface="Calibri"/>
                            </a:rPr>
                            <m:t>𝒕</m:t>
                          </m:r>
                        </m:e>
                      </m:d>
                      <m:r>
                        <a:rPr lang="en-US" sz="2400" b="1" i="1" smtClean="0">
                          <a:solidFill>
                            <a:srgbClr val="FF0000"/>
                          </a:solidFill>
                          <a:latin typeface="Cambria Math" panose="02040503050406030204" pitchFamily="18" charset="0"/>
                          <a:cs typeface="Calibri"/>
                        </a:rPr>
                        <m:t>=</m:t>
                      </m:r>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𝒇</m:t>
                          </m:r>
                        </m:e>
                        <m:sub>
                          <m:r>
                            <a:rPr lang="en-US" sz="2400" b="1" i="1" smtClean="0">
                              <a:solidFill>
                                <a:srgbClr val="FF0000"/>
                              </a:solidFill>
                              <a:latin typeface="Cambria Math" panose="02040503050406030204" pitchFamily="18" charset="0"/>
                              <a:cs typeface="Calibri"/>
                            </a:rPr>
                            <m:t>𝒄</m:t>
                          </m:r>
                        </m:sub>
                      </m:sSub>
                      <m:r>
                        <a:rPr lang="en-US" sz="2400" b="1" i="1" smtClean="0">
                          <a:solidFill>
                            <a:srgbClr val="FF0000"/>
                          </a:solidFill>
                          <a:latin typeface="Cambria Math" panose="02040503050406030204" pitchFamily="18" charset="0"/>
                          <a:cs typeface="Calibri"/>
                        </a:rPr>
                        <m:t>+</m:t>
                      </m:r>
                      <m:r>
                        <a:rPr lang="en-US" sz="2400" b="1" i="0" smtClean="0">
                          <a:solidFill>
                            <a:srgbClr val="FF0000"/>
                          </a:solidFill>
                          <a:latin typeface="Cambria Math" panose="02040503050406030204" pitchFamily="18" charset="0"/>
                          <a:cs typeface="Calibri"/>
                        </a:rPr>
                        <m:t>𝚫</m:t>
                      </m:r>
                      <m:r>
                        <a:rPr lang="en-US" sz="2400" b="1" i="1" smtClean="0">
                          <a:solidFill>
                            <a:srgbClr val="FF0000"/>
                          </a:solidFill>
                          <a:latin typeface="Cambria Math" panose="02040503050406030204" pitchFamily="18" charset="0"/>
                          <a:cs typeface="Calibri"/>
                        </a:rPr>
                        <m:t>𝒇𝒄𝒐𝒔</m:t>
                      </m:r>
                      <m:d>
                        <m:dPr>
                          <m:ctrlPr>
                            <a:rPr lang="en-US" sz="2400" b="1" i="1" smtClean="0">
                              <a:solidFill>
                                <a:srgbClr val="FF0000"/>
                              </a:solidFill>
                              <a:latin typeface="Cambria Math" panose="02040503050406030204" pitchFamily="18" charset="0"/>
                              <a:cs typeface="Calibri"/>
                            </a:rPr>
                          </m:ctrlPr>
                        </m:dPr>
                        <m:e>
                          <m:r>
                            <a:rPr lang="en-US" sz="2400" b="1" i="1" smtClean="0">
                              <a:solidFill>
                                <a:srgbClr val="FF0000"/>
                              </a:solidFill>
                              <a:latin typeface="Cambria Math" panose="02040503050406030204" pitchFamily="18" charset="0"/>
                              <a:cs typeface="Calibri"/>
                            </a:rPr>
                            <m:t>𝟐</m:t>
                          </m:r>
                          <m:r>
                            <a:rPr lang="en-US" sz="2400" b="1" i="1" smtClean="0">
                              <a:solidFill>
                                <a:srgbClr val="FF0000"/>
                              </a:solidFill>
                              <a:latin typeface="Cambria Math" panose="02040503050406030204" pitchFamily="18" charset="0"/>
                              <a:cs typeface="Calibri"/>
                            </a:rPr>
                            <m:t>𝝅</m:t>
                          </m:r>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𝒇</m:t>
                              </m:r>
                            </m:e>
                            <m:sub>
                              <m:r>
                                <a:rPr lang="en-US" sz="2400" b="1" i="1" smtClean="0">
                                  <a:solidFill>
                                    <a:srgbClr val="FF0000"/>
                                  </a:solidFill>
                                  <a:latin typeface="Cambria Math" panose="02040503050406030204" pitchFamily="18" charset="0"/>
                                  <a:cs typeface="Calibri"/>
                                </a:rPr>
                                <m:t>𝒎</m:t>
                              </m:r>
                            </m:sub>
                          </m:sSub>
                          <m:r>
                            <a:rPr lang="en-US" sz="2400" b="1" i="1" smtClean="0">
                              <a:solidFill>
                                <a:srgbClr val="FF0000"/>
                              </a:solidFill>
                              <a:latin typeface="Cambria Math" panose="02040503050406030204" pitchFamily="18" charset="0"/>
                              <a:cs typeface="Calibri"/>
                            </a:rPr>
                            <m:t>𝒕</m:t>
                          </m:r>
                        </m:e>
                      </m:d>
                      <m:r>
                        <a:rPr lang="en-US" sz="2400" b="0" i="0" smtClean="0">
                          <a:solidFill>
                            <a:srgbClr val="7030A0"/>
                          </a:solidFill>
                          <a:latin typeface="Cambria Math" panose="02040503050406030204" pitchFamily="18" charset="0"/>
                          <a:cs typeface="Calibri"/>
                        </a:rPr>
                        <m:t>  [</m:t>
                      </m:r>
                      <m:r>
                        <m:rPr>
                          <m:sty m:val="p"/>
                        </m:rPr>
                        <a:rPr lang="en-US" sz="2400" b="0" i="0" smtClean="0">
                          <a:solidFill>
                            <a:srgbClr val="7030A0"/>
                          </a:solidFill>
                          <a:latin typeface="Cambria Math" panose="02040503050406030204" pitchFamily="18" charset="0"/>
                          <a:cs typeface="Calibri"/>
                        </a:rPr>
                        <m:t>Frequency</m:t>
                      </m:r>
                      <m:r>
                        <a:rPr lang="en-US" sz="2400" b="0" i="0" smtClean="0">
                          <a:solidFill>
                            <a:srgbClr val="7030A0"/>
                          </a:solidFill>
                          <a:latin typeface="Cambria Math" panose="02040503050406030204" pitchFamily="18" charset="0"/>
                          <a:cs typeface="Calibri"/>
                        </a:rPr>
                        <m:t> </m:t>
                      </m:r>
                      <m:r>
                        <m:rPr>
                          <m:sty m:val="p"/>
                        </m:rPr>
                        <a:rPr lang="en-US" sz="2400" b="0" i="0" smtClean="0">
                          <a:solidFill>
                            <a:srgbClr val="7030A0"/>
                          </a:solidFill>
                          <a:latin typeface="Cambria Math" panose="02040503050406030204" pitchFamily="18" charset="0"/>
                          <a:cs typeface="Calibri"/>
                        </a:rPr>
                        <m:t>Deviation</m:t>
                      </m:r>
                      <m:r>
                        <a:rPr lang="en-US" sz="2400" b="0" i="0" smtClean="0">
                          <a:solidFill>
                            <a:srgbClr val="7030A0"/>
                          </a:solidFill>
                          <a:latin typeface="Cambria Math" panose="02040503050406030204" pitchFamily="18" charset="0"/>
                          <a:cs typeface="Calibri"/>
                        </a:rPr>
                        <m:t>, </m:t>
                      </m:r>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𝑓𝑜𝑟</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𝑠𝑖𝑛𝑔𝑙𝑒</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𝑡𝑜𝑛𝑒</m:t>
                      </m:r>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𝑉</m:t>
                          </m:r>
                        </m:e>
                        <m:sub>
                          <m:r>
                            <a:rPr lang="en-US" sz="2400" b="0" i="1" smtClean="0">
                              <a:solidFill>
                                <a:srgbClr val="7030A0"/>
                              </a:solidFill>
                              <a:latin typeface="Cambria Math" panose="02040503050406030204" pitchFamily="18" charset="0"/>
                              <a:cs typeface="Calibri"/>
                            </a:rPr>
                            <m:t>𝑚</m:t>
                          </m:r>
                        </m:sub>
                      </m:sSub>
                      <m:r>
                        <a:rPr lang="en-US" sz="2400" b="0" i="0" smtClean="0">
                          <a:solidFill>
                            <a:srgbClr val="7030A0"/>
                          </a:solidFill>
                          <a:latin typeface="Cambria Math" panose="02040503050406030204" pitchFamily="18" charset="0"/>
                          <a:cs typeface="Calibri"/>
                        </a:rPr>
                        <m:t>]</m:t>
                      </m:r>
                    </m:oMath>
                  </m:oMathPara>
                </a14:m>
                <a:endParaRPr lang="en-US" sz="2400" b="1" dirty="0">
                  <a:solidFill>
                    <a:srgbClr val="7030A0"/>
                  </a:solidFill>
                  <a:latin typeface="Calibri"/>
                  <a:cs typeface="Calibri"/>
                </a:endParaRPr>
              </a:p>
              <a:p>
                <a:pPr marL="405765" indent="-342900">
                  <a:spcBef>
                    <a:spcPts val="470"/>
                  </a:spcBef>
                  <a:buFont typeface="Wingdings" panose="05000000000000000000" pitchFamily="2" charset="2"/>
                  <a:buChar char="q"/>
                  <a:tabLst>
                    <a:tab pos="520065" algn="l"/>
                  </a:tabLst>
                </a:pPr>
                <a:r>
                  <a:rPr lang="en-US" sz="2400" dirty="0">
                    <a:solidFill>
                      <a:srgbClr val="FF0000"/>
                    </a:solidFill>
                    <a:latin typeface="Calibri"/>
                    <a:cs typeface="Calibri"/>
                  </a:rPr>
                  <a:t>Maximum Frequency Deviation or Frequency Deviation = </a:t>
                </a:r>
                <a14:m>
                  <m:oMath xmlns:m="http://schemas.openxmlformats.org/officeDocument/2006/math">
                    <m:r>
                      <a:rPr lang="en-US" sz="2400" b="1" i="0" smtClean="0">
                        <a:solidFill>
                          <a:srgbClr val="FF0000"/>
                        </a:solidFill>
                        <a:latin typeface="Cambria Math" panose="02040503050406030204" pitchFamily="18" charset="0"/>
                        <a:cs typeface="Calibri"/>
                      </a:rPr>
                      <m:t>𝐦𝐚𝐱</m:t>
                    </m:r>
                    <m:d>
                      <m:dPr>
                        <m:ctrlPr>
                          <a:rPr lang="en-US" sz="2400" b="1" i="1" smtClean="0">
                            <a:solidFill>
                              <a:srgbClr val="FF0000"/>
                            </a:solidFill>
                            <a:latin typeface="Cambria Math" panose="02040503050406030204" pitchFamily="18" charset="0"/>
                            <a:cs typeface="Calibri"/>
                          </a:rPr>
                        </m:ctrlPr>
                      </m:dPr>
                      <m:e>
                        <m:d>
                          <m:dPr>
                            <m:begChr m:val="|"/>
                            <m:endChr m:val="|"/>
                            <m:ctrlPr>
                              <a:rPr lang="en-US" sz="2400" b="1" i="1" smtClean="0">
                                <a:solidFill>
                                  <a:srgbClr val="FF0000"/>
                                </a:solidFill>
                                <a:latin typeface="Cambria Math" panose="02040503050406030204" pitchFamily="18" charset="0"/>
                                <a:cs typeface="Calibri"/>
                              </a:rPr>
                            </m:ctrlPr>
                          </m:dPr>
                          <m:e>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𝒇</m:t>
                                </m:r>
                              </m:e>
                              <m:sub>
                                <m:r>
                                  <a:rPr lang="en-US" sz="2400" b="1" i="1" smtClean="0">
                                    <a:solidFill>
                                      <a:srgbClr val="FF0000"/>
                                    </a:solidFill>
                                    <a:latin typeface="Cambria Math" panose="02040503050406030204" pitchFamily="18" charset="0"/>
                                    <a:cs typeface="Calibri"/>
                                  </a:rPr>
                                  <m:t>𝒊</m:t>
                                </m:r>
                              </m:sub>
                            </m:sSub>
                            <m:d>
                              <m:dPr>
                                <m:ctrlPr>
                                  <a:rPr lang="en-US" sz="2400" b="1" i="1" smtClean="0">
                                    <a:solidFill>
                                      <a:srgbClr val="FF0000"/>
                                    </a:solidFill>
                                    <a:latin typeface="Cambria Math" panose="02040503050406030204" pitchFamily="18" charset="0"/>
                                    <a:cs typeface="Calibri"/>
                                  </a:rPr>
                                </m:ctrlPr>
                              </m:dPr>
                              <m:e>
                                <m:r>
                                  <a:rPr lang="en-US" sz="2400" b="1" i="1" smtClean="0">
                                    <a:solidFill>
                                      <a:srgbClr val="FF0000"/>
                                    </a:solidFill>
                                    <a:latin typeface="Cambria Math" panose="02040503050406030204" pitchFamily="18" charset="0"/>
                                    <a:cs typeface="Calibri"/>
                                  </a:rPr>
                                  <m:t>𝒕</m:t>
                                </m:r>
                              </m:e>
                            </m:d>
                            <m:r>
                              <a:rPr lang="en-US" sz="2400" b="1" i="1" smtClean="0">
                                <a:solidFill>
                                  <a:srgbClr val="FF0000"/>
                                </a:solidFill>
                                <a:latin typeface="Cambria Math" panose="02040503050406030204" pitchFamily="18" charset="0"/>
                                <a:cs typeface="Calibri"/>
                              </a:rPr>
                              <m:t>−</m:t>
                            </m:r>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𝒇</m:t>
                                </m:r>
                              </m:e>
                              <m:sub>
                                <m:r>
                                  <a:rPr lang="en-US" sz="2400" b="1" i="1" smtClean="0">
                                    <a:solidFill>
                                      <a:srgbClr val="FF0000"/>
                                    </a:solidFill>
                                    <a:latin typeface="Cambria Math" panose="02040503050406030204" pitchFamily="18" charset="0"/>
                                    <a:cs typeface="Calibri"/>
                                  </a:rPr>
                                  <m:t>𝒄</m:t>
                                </m:r>
                              </m:sub>
                            </m:sSub>
                          </m:e>
                        </m:d>
                      </m:e>
                    </m:d>
                    <m:r>
                      <a:rPr lang="en-US" sz="2400" b="1" i="1" smtClean="0">
                        <a:solidFill>
                          <a:srgbClr val="FF0000"/>
                        </a:solidFill>
                        <a:latin typeface="Cambria Math" panose="02040503050406030204" pitchFamily="18" charset="0"/>
                        <a:cs typeface="Calibri"/>
                      </a:rPr>
                      <m:t>=</m:t>
                    </m:r>
                    <m:r>
                      <a:rPr lang="en-US" sz="2400" b="1" i="0" smtClean="0">
                        <a:solidFill>
                          <a:srgbClr val="FF0000"/>
                        </a:solidFill>
                        <a:latin typeface="Cambria Math" panose="02040503050406030204" pitchFamily="18" charset="0"/>
                        <a:cs typeface="Calibri"/>
                      </a:rPr>
                      <m:t>𝚫</m:t>
                    </m:r>
                    <m:r>
                      <a:rPr lang="en-US" sz="2400" b="1" i="1" smtClean="0">
                        <a:solidFill>
                          <a:srgbClr val="FF0000"/>
                        </a:solidFill>
                        <a:latin typeface="Cambria Math" panose="02040503050406030204" pitchFamily="18" charset="0"/>
                        <a:cs typeface="Calibri"/>
                      </a:rPr>
                      <m:t>𝒇</m:t>
                    </m:r>
                  </m:oMath>
                </a14:m>
                <a:endParaRPr lang="en-US" sz="2400" b="1" dirty="0">
                  <a:solidFill>
                    <a:srgbClr val="7030A0"/>
                  </a:solidFill>
                  <a:latin typeface="Calibri"/>
                  <a:cs typeface="Calibri"/>
                </a:endParaRPr>
              </a:p>
              <a:p>
                <a:pPr marL="405765" indent="-342900">
                  <a:lnSpc>
                    <a:spcPct val="100000"/>
                  </a:lnSpc>
                  <a:spcBef>
                    <a:spcPts val="470"/>
                  </a:spcBef>
                  <a:buFont typeface="Wingdings" panose="05000000000000000000" pitchFamily="2" charset="2"/>
                  <a:buChar char="q"/>
                  <a:tabLst>
                    <a:tab pos="520065" algn="l"/>
                  </a:tabLst>
                </a:pPr>
                <a:r>
                  <a:rPr lang="en-US" sz="2400" dirty="0">
                    <a:solidFill>
                      <a:srgbClr val="7030A0"/>
                    </a:solidFill>
                    <a:latin typeface="Calibri"/>
                    <a:cs typeface="Calibri"/>
                  </a:rPr>
                  <a:t>When </a:t>
                </a:r>
                <a14:m>
                  <m:oMath xmlns:m="http://schemas.openxmlformats.org/officeDocument/2006/math">
                    <m:r>
                      <a:rPr lang="en-US" sz="2400" b="0" i="1" smtClean="0">
                        <a:solidFill>
                          <a:srgbClr val="7030A0"/>
                        </a:solidFill>
                        <a:latin typeface="Cambria Math" panose="02040503050406030204" pitchFamily="18" charset="0"/>
                        <a:cs typeface="Calibri"/>
                      </a:rPr>
                      <m:t>𝑐𝑜𝑠</m:t>
                    </m:r>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𝑡</m:t>
                        </m:r>
                      </m:e>
                    </m:d>
                    <m:r>
                      <a:rPr lang="en-US" sz="2400" b="0" i="0" smtClean="0">
                        <a:solidFill>
                          <a:srgbClr val="7030A0"/>
                        </a:solidFill>
                        <a:latin typeface="Cambria Math" panose="02040503050406030204" pitchFamily="18" charset="0"/>
                        <a:cs typeface="Calibri"/>
                      </a:rPr>
                      <m:t>=+1 , </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𝑖</m:t>
                        </m:r>
                      </m:sub>
                    </m:sSub>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m:t>
                    </m:r>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𝑚𝑎𝑥</m:t>
                        </m:r>
                      </m:sub>
                    </m:sSub>
                  </m:oMath>
                </a14:m>
                <a:r>
                  <a:rPr lang="en-US" sz="2400" dirty="0">
                    <a:solidFill>
                      <a:srgbClr val="7030A0"/>
                    </a:solidFill>
                    <a:latin typeface="Calibri"/>
                    <a:cs typeface="Calibri"/>
                  </a:rPr>
                  <a:t> [Maximum Frequency: When message is positive peak → frequency is highest]</a:t>
                </a:r>
              </a:p>
              <a:p>
                <a:pPr marL="405765" indent="-342900">
                  <a:spcBef>
                    <a:spcPts val="470"/>
                  </a:spcBef>
                  <a:buFont typeface="Wingdings" panose="05000000000000000000" pitchFamily="2" charset="2"/>
                  <a:buChar char="q"/>
                  <a:tabLst>
                    <a:tab pos="520065" algn="l"/>
                  </a:tabLst>
                </a:pPr>
                <a:r>
                  <a:rPr lang="en-US" sz="2400" dirty="0">
                    <a:solidFill>
                      <a:srgbClr val="7030A0"/>
                    </a:solidFill>
                    <a:latin typeface="Calibri"/>
                    <a:cs typeface="Calibri"/>
                  </a:rPr>
                  <a:t>When </a:t>
                </a:r>
                <a14:m>
                  <m:oMath xmlns:m="http://schemas.openxmlformats.org/officeDocument/2006/math">
                    <m:r>
                      <a:rPr lang="en-US" sz="2400" b="0" i="1" smtClean="0">
                        <a:solidFill>
                          <a:srgbClr val="7030A0"/>
                        </a:solidFill>
                        <a:latin typeface="Cambria Math" panose="02040503050406030204" pitchFamily="18" charset="0"/>
                        <a:cs typeface="Calibri"/>
                      </a:rPr>
                      <m:t>𝑐𝑜𝑠</m:t>
                    </m:r>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𝑡</m:t>
                        </m:r>
                      </m:e>
                    </m:d>
                    <m:r>
                      <a:rPr lang="en-US" sz="2400" b="0" i="0" smtClean="0">
                        <a:solidFill>
                          <a:srgbClr val="7030A0"/>
                        </a:solidFill>
                        <a:latin typeface="Cambria Math" panose="02040503050406030204" pitchFamily="18" charset="0"/>
                        <a:cs typeface="Calibri"/>
                      </a:rPr>
                      <m:t>=−1 , </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𝑖</m:t>
                        </m:r>
                      </m:sub>
                    </m:sSub>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m:t>
                    </m:r>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𝑚𝑖𝑛</m:t>
                        </m:r>
                      </m:sub>
                    </m:sSub>
                  </m:oMath>
                </a14:m>
                <a:r>
                  <a:rPr lang="en-US" sz="2400" dirty="0">
                    <a:solidFill>
                      <a:srgbClr val="7030A0"/>
                    </a:solidFill>
                    <a:latin typeface="Calibri"/>
                    <a:cs typeface="Calibri"/>
                  </a:rPr>
                  <a:t> [Minimum Frequency: When message is negative peak → frequency is lowest]</a:t>
                </a:r>
              </a:p>
              <a:p>
                <a:pPr marL="405765" indent="-342900">
                  <a:spcBef>
                    <a:spcPts val="470"/>
                  </a:spcBef>
                  <a:buFont typeface="Wingdings" panose="05000000000000000000" pitchFamily="2" charset="2"/>
                  <a:buChar char="q"/>
                  <a:tabLst>
                    <a:tab pos="520065" algn="l"/>
                  </a:tabLst>
                </a:pPr>
                <a:r>
                  <a:rPr lang="en-US" sz="2400" dirty="0">
                    <a:solidFill>
                      <a:srgbClr val="7030A0"/>
                    </a:solidFill>
                    <a:latin typeface="Calibri"/>
                    <a:cs typeface="Calibri"/>
                  </a:rPr>
                  <a:t>When message = 0 → frequency = </a:t>
                </a:r>
                <a14:m>
                  <m:oMath xmlns:m="http://schemas.openxmlformats.org/officeDocument/2006/math">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oMath>
                </a14:m>
                <a:endParaRPr lang="en-US" sz="2400" dirty="0">
                  <a:solidFill>
                    <a:srgbClr val="7030A0"/>
                  </a:solidFill>
                  <a:latin typeface="Calibri"/>
                  <a:cs typeface="Calibri"/>
                </a:endParaRPr>
              </a:p>
            </p:txBody>
          </p:sp>
        </mc:Choice>
        <mc:Fallback xmlns="">
          <p:sp>
            <p:nvSpPr>
              <p:cNvPr id="7" name="object 3">
                <a:extLst>
                  <a:ext uri="{FF2B5EF4-FFF2-40B4-BE49-F238E27FC236}">
                    <a16:creationId xmlns:a16="http://schemas.microsoft.com/office/drawing/2014/main" id="{D225DC5E-3CB1-4AF0-9A4E-04807A92F1C3}"/>
                  </a:ext>
                </a:extLst>
              </p:cNvPr>
              <p:cNvSpPr txBox="1">
                <a:spLocks noRot="1" noChangeAspect="1" noMove="1" noResize="1" noEditPoints="1" noAdjustHandles="1" noChangeArrowheads="1" noChangeShapeType="1" noTextEdit="1"/>
              </p:cNvSpPr>
              <p:nvPr/>
            </p:nvSpPr>
            <p:spPr>
              <a:xfrm>
                <a:off x="228599" y="1073881"/>
                <a:ext cx="11887201" cy="5063309"/>
              </a:xfrm>
              <a:prstGeom prst="rect">
                <a:avLst/>
              </a:prstGeom>
              <a:blipFill>
                <a:blip r:embed="rId2"/>
                <a:stretch>
                  <a:fillRect l="-923" r="-923" b="-2647"/>
                </a:stretch>
              </a:blipFill>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517" y="-14782"/>
            <a:ext cx="11634470" cy="940435"/>
          </a:xfrm>
          <a:prstGeom prst="rect">
            <a:avLst/>
          </a:prstGeom>
        </p:spPr>
        <p:txBody>
          <a:bodyPr vert="horz" wrap="square" lIns="0" tIns="12700" rIns="0" bIns="0" rtlCol="0">
            <a:spAutoFit/>
          </a:bodyPr>
          <a:lstStyle/>
          <a:p>
            <a:pPr marL="12700">
              <a:lnSpc>
                <a:spcPct val="100000"/>
              </a:lnSpc>
              <a:spcBef>
                <a:spcPts val="100"/>
              </a:spcBef>
            </a:pPr>
            <a:r>
              <a:rPr lang="en-US" sz="6000" spc="-355" dirty="0">
                <a:solidFill>
                  <a:srgbClr val="006600"/>
                </a:solidFill>
                <a:latin typeface="Trebuchet MS"/>
                <a:cs typeface="Trebuchet MS"/>
              </a:rPr>
              <a:t>Single </a:t>
            </a:r>
            <a:r>
              <a:rPr sz="6000" spc="-355" dirty="0">
                <a:solidFill>
                  <a:srgbClr val="006600"/>
                </a:solidFill>
                <a:latin typeface="Trebuchet MS"/>
                <a:cs typeface="Trebuchet MS"/>
              </a:rPr>
              <a:t>Tone</a:t>
            </a:r>
            <a:r>
              <a:rPr sz="6000" spc="-270" dirty="0">
                <a:solidFill>
                  <a:srgbClr val="006600"/>
                </a:solidFill>
                <a:latin typeface="Trebuchet MS"/>
                <a:cs typeface="Trebuchet MS"/>
              </a:rPr>
              <a:t> </a:t>
            </a:r>
            <a:r>
              <a:rPr sz="6000" spc="-240" dirty="0">
                <a:solidFill>
                  <a:srgbClr val="006600"/>
                </a:solidFill>
                <a:latin typeface="Trebuchet MS"/>
                <a:cs typeface="Trebuchet MS"/>
              </a:rPr>
              <a:t>Frequency</a:t>
            </a:r>
            <a:r>
              <a:rPr sz="6000" spc="-254" dirty="0">
                <a:solidFill>
                  <a:srgbClr val="006600"/>
                </a:solidFill>
                <a:latin typeface="Trebuchet MS"/>
                <a:cs typeface="Trebuchet MS"/>
              </a:rPr>
              <a:t> </a:t>
            </a:r>
            <a:r>
              <a:rPr sz="6000" spc="-10" dirty="0">
                <a:solidFill>
                  <a:srgbClr val="006600"/>
                </a:solidFill>
                <a:latin typeface="Trebuchet MS"/>
                <a:cs typeface="Trebuchet MS"/>
              </a:rPr>
              <a:t>Modulation</a:t>
            </a:r>
            <a:endParaRPr sz="6000" dirty="0">
              <a:latin typeface="Trebuchet MS"/>
              <a:cs typeface="Trebuchet MS"/>
            </a:endParaRPr>
          </a:p>
        </p:txBody>
      </p:sp>
      <p:sp>
        <p:nvSpPr>
          <p:cNvPr id="6" name="Rectangle 5">
            <a:extLst>
              <a:ext uri="{FF2B5EF4-FFF2-40B4-BE49-F238E27FC236}">
                <a16:creationId xmlns:a16="http://schemas.microsoft.com/office/drawing/2014/main" id="{A7F44799-D1FD-4AB9-83F5-B4E5248C247F}"/>
              </a:ext>
            </a:extLst>
          </p:cNvPr>
          <p:cNvSpPr/>
          <p:nvPr/>
        </p:nvSpPr>
        <p:spPr>
          <a:xfrm>
            <a:off x="5867400" y="6496050"/>
            <a:ext cx="247650" cy="1767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object 3">
                <a:extLst>
                  <a:ext uri="{FF2B5EF4-FFF2-40B4-BE49-F238E27FC236}">
                    <a16:creationId xmlns:a16="http://schemas.microsoft.com/office/drawing/2014/main" id="{D225DC5E-3CB1-4AF0-9A4E-04807A92F1C3}"/>
                  </a:ext>
                </a:extLst>
              </p:cNvPr>
              <p:cNvSpPr txBox="1"/>
              <p:nvPr/>
            </p:nvSpPr>
            <p:spPr>
              <a:xfrm>
                <a:off x="228599" y="925653"/>
                <a:ext cx="11811001" cy="5515934"/>
              </a:xfrm>
              <a:prstGeom prst="rect">
                <a:avLst/>
              </a:prstGeom>
            </p:spPr>
            <p:txBody>
              <a:bodyPr vert="horz" wrap="square" lIns="0" tIns="92710" rIns="0" bIns="0" rtlCol="0">
                <a:spAutoFit/>
              </a:bodyPr>
              <a:lstStyle/>
              <a:p>
                <a:pPr marL="405765" indent="-342900">
                  <a:lnSpc>
                    <a:spcPct val="100000"/>
                  </a:lnSpc>
                  <a:spcBef>
                    <a:spcPts val="470"/>
                  </a:spcBef>
                  <a:buFont typeface="Wingdings" panose="05000000000000000000" pitchFamily="2" charset="2"/>
                  <a:buChar char="q"/>
                  <a:tabLst>
                    <a:tab pos="520065" algn="l"/>
                  </a:tabLst>
                </a:pPr>
                <a:r>
                  <a:rPr lang="en-US" sz="2400" dirty="0">
                    <a:solidFill>
                      <a:srgbClr val="6F2F9F"/>
                    </a:solidFill>
                    <a:latin typeface="Calibri"/>
                    <a:cs typeface="Calibri"/>
                  </a:rPr>
                  <a:t>Instantaneous Phase:</a:t>
                </a:r>
              </a:p>
              <a:p>
                <a:pPr marL="62865">
                  <a:lnSpc>
                    <a:spcPct val="100000"/>
                  </a:lnSpc>
                  <a:spcBef>
                    <a:spcPts val="470"/>
                  </a:spcBef>
                  <a:tabLst>
                    <a:tab pos="520065" algn="l"/>
                  </a:tabLst>
                </a:pPr>
                <a:r>
                  <a:rPr lang="en-US" sz="2400" dirty="0">
                    <a:latin typeface="Calibri"/>
                    <a:cs typeface="Calibri"/>
                  </a:rPr>
                  <a:t>	</a:t>
                </a:r>
                <a14:m>
                  <m:oMath xmlns:m="http://schemas.openxmlformats.org/officeDocument/2006/math">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𝜃</m:t>
                        </m:r>
                      </m:e>
                      <m:sub>
                        <m:r>
                          <a:rPr lang="en-US" sz="2400" b="0" i="1" smtClean="0">
                            <a:solidFill>
                              <a:srgbClr val="7030A0"/>
                            </a:solidFill>
                            <a:latin typeface="Cambria Math" panose="02040503050406030204" pitchFamily="18" charset="0"/>
                            <a:cs typeface="Calibri"/>
                          </a:rPr>
                          <m:t>𝑖</m:t>
                        </m:r>
                      </m:sub>
                    </m:sSub>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m:t>
                    </m:r>
                    <m:nary>
                      <m:naryPr>
                        <m:ctrlPr>
                          <a:rPr lang="en-US" sz="2400" b="0" i="1" smtClean="0">
                            <a:solidFill>
                              <a:srgbClr val="7030A0"/>
                            </a:solidFill>
                            <a:latin typeface="Cambria Math" panose="02040503050406030204" pitchFamily="18" charset="0"/>
                            <a:cs typeface="Calibri"/>
                          </a:rPr>
                        </m:ctrlPr>
                      </m:naryPr>
                      <m:sub>
                        <m:r>
                          <m:rPr>
                            <m:brk m:alnAt="23"/>
                          </m:rPr>
                          <a:rPr lang="en-US" sz="2400" b="0" i="1" smtClean="0">
                            <a:solidFill>
                              <a:srgbClr val="7030A0"/>
                            </a:solidFill>
                            <a:latin typeface="Cambria Math" panose="02040503050406030204" pitchFamily="18" charset="0"/>
                            <a:cs typeface="Calibri"/>
                          </a:rPr>
                          <m:t>0</m:t>
                        </m:r>
                      </m:sub>
                      <m:sup>
                        <m:r>
                          <a:rPr lang="en-US" sz="2400" b="0" i="1" smtClean="0">
                            <a:solidFill>
                              <a:srgbClr val="7030A0"/>
                            </a:solidFill>
                            <a:latin typeface="Cambria Math" panose="02040503050406030204" pitchFamily="18" charset="0"/>
                            <a:cs typeface="Calibri"/>
                          </a:rPr>
                          <m:t>𝑡</m:t>
                        </m:r>
                      </m:sup>
                      <m:e>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𝜔</m:t>
                            </m:r>
                          </m:e>
                          <m:sub>
                            <m:r>
                              <a:rPr lang="en-US" sz="2400" b="0" i="1" smtClean="0">
                                <a:solidFill>
                                  <a:srgbClr val="7030A0"/>
                                </a:solidFill>
                                <a:latin typeface="Cambria Math" panose="02040503050406030204" pitchFamily="18" charset="0"/>
                                <a:cs typeface="Calibri"/>
                              </a:rPr>
                              <m:t>𝑖</m:t>
                            </m:r>
                          </m:sub>
                        </m:sSub>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𝑑𝑡</m:t>
                        </m:r>
                      </m:e>
                    </m:nary>
                    <m:r>
                      <a:rPr lang="en-US" sz="2400" b="0" i="1" smtClean="0">
                        <a:solidFill>
                          <a:srgbClr val="7030A0"/>
                        </a:solidFill>
                        <a:latin typeface="Cambria Math" panose="02040503050406030204" pitchFamily="18" charset="0"/>
                        <a:cs typeface="Calibri"/>
                      </a:rPr>
                      <m:t>=</m:t>
                    </m:r>
                    <m:nary>
                      <m:naryPr>
                        <m:ctrlPr>
                          <a:rPr lang="en-US" sz="2400" b="0" i="1" smtClean="0">
                            <a:solidFill>
                              <a:srgbClr val="7030A0"/>
                            </a:solidFill>
                            <a:latin typeface="Cambria Math" panose="02040503050406030204" pitchFamily="18" charset="0"/>
                            <a:cs typeface="Calibri"/>
                          </a:rPr>
                        </m:ctrlPr>
                      </m:naryPr>
                      <m:sub>
                        <m:r>
                          <m:rPr>
                            <m:brk m:alnAt="23"/>
                          </m:rPr>
                          <a:rPr lang="en-US" sz="2400" b="0" i="1" smtClean="0">
                            <a:solidFill>
                              <a:srgbClr val="7030A0"/>
                            </a:solidFill>
                            <a:latin typeface="Cambria Math" panose="02040503050406030204" pitchFamily="18" charset="0"/>
                            <a:cs typeface="Calibri"/>
                          </a:rPr>
                          <m:t>0</m:t>
                        </m:r>
                      </m:sub>
                      <m:sup>
                        <m:r>
                          <a:rPr lang="en-US" sz="2400" b="0" i="1" smtClean="0">
                            <a:solidFill>
                              <a:srgbClr val="7030A0"/>
                            </a:solidFill>
                            <a:latin typeface="Cambria Math" panose="02040503050406030204" pitchFamily="18" charset="0"/>
                            <a:cs typeface="Calibri"/>
                          </a:rPr>
                          <m:t>𝑡</m:t>
                        </m:r>
                      </m:sup>
                      <m:e>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𝑖</m:t>
                            </m:r>
                          </m:sub>
                        </m:sSub>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𝑡</m:t>
                        </m:r>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𝑑𝑡</m:t>
                        </m:r>
                      </m:e>
                    </m:nary>
                    <m:r>
                      <a:rPr lang="en-US" sz="240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nary>
                      <m:naryPr>
                        <m:ctrlPr>
                          <a:rPr lang="en-US" sz="2400" b="0" i="1" smtClean="0">
                            <a:solidFill>
                              <a:srgbClr val="7030A0"/>
                            </a:solidFill>
                            <a:latin typeface="Cambria Math" panose="02040503050406030204" pitchFamily="18" charset="0"/>
                            <a:cs typeface="Calibri"/>
                          </a:rPr>
                        </m:ctrlPr>
                      </m:naryPr>
                      <m:sub>
                        <m:r>
                          <m:rPr>
                            <m:brk m:alnAt="23"/>
                          </m:rPr>
                          <a:rPr lang="en-US" sz="2400" b="0" i="1" smtClean="0">
                            <a:solidFill>
                              <a:srgbClr val="7030A0"/>
                            </a:solidFill>
                            <a:latin typeface="Cambria Math" panose="02040503050406030204" pitchFamily="18" charset="0"/>
                            <a:cs typeface="Calibri"/>
                          </a:rPr>
                          <m:t>0</m:t>
                        </m:r>
                      </m:sub>
                      <m:sup>
                        <m:r>
                          <a:rPr lang="en-US" sz="2400" b="0" i="1" smtClean="0">
                            <a:solidFill>
                              <a:srgbClr val="7030A0"/>
                            </a:solidFill>
                            <a:latin typeface="Cambria Math" panose="02040503050406030204" pitchFamily="18" charset="0"/>
                            <a:cs typeface="Calibri"/>
                          </a:rPr>
                          <m:t>𝑡</m:t>
                        </m:r>
                      </m:sup>
                      <m:e>
                        <m:d>
                          <m:dPr>
                            <m:ctrlPr>
                              <a:rPr lang="en-US" sz="2400" b="0" i="1" smtClean="0">
                                <a:solidFill>
                                  <a:srgbClr val="7030A0"/>
                                </a:solidFill>
                                <a:latin typeface="Cambria Math" panose="02040503050406030204" pitchFamily="18" charset="0"/>
                                <a:cs typeface="Calibri"/>
                              </a:rPr>
                            </m:ctrlPr>
                          </m:dPr>
                          <m:e>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r>
                              <a:rPr lang="en-US" sz="2400" b="0" i="1" smtClean="0">
                                <a:solidFill>
                                  <a:srgbClr val="7030A0"/>
                                </a:solidFill>
                                <a:latin typeface="Cambria Math" panose="02040503050406030204" pitchFamily="18" charset="0"/>
                                <a:cs typeface="Calibri"/>
                              </a:rPr>
                              <m:t>𝑚</m:t>
                            </m:r>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e>
                        </m:d>
                        <m:r>
                          <a:rPr lang="en-US" sz="2400" b="0" i="1" smtClean="0">
                            <a:solidFill>
                              <a:srgbClr val="7030A0"/>
                            </a:solidFill>
                            <a:latin typeface="Cambria Math" panose="02040503050406030204" pitchFamily="18" charset="0"/>
                            <a:cs typeface="Calibri"/>
                          </a:rPr>
                          <m:t>𝑑𝑡</m:t>
                        </m:r>
                      </m:e>
                    </m:nary>
                  </m:oMath>
                </a14:m>
                <a:r>
                  <a:rPr lang="en-US" sz="2400" dirty="0">
                    <a:solidFill>
                      <a:srgbClr val="7030A0"/>
                    </a:solidFill>
                    <a:latin typeface="Calibri"/>
                    <a:cs typeface="Calibri"/>
                  </a:rPr>
                  <a:t> </a:t>
                </a:r>
              </a:p>
              <a:p>
                <a:pPr marL="62865">
                  <a:lnSpc>
                    <a:spcPct val="100000"/>
                  </a:lnSpc>
                  <a:spcBef>
                    <a:spcPts val="470"/>
                  </a:spcBef>
                  <a:tabLst>
                    <a:tab pos="520065" algn="l"/>
                  </a:tabLst>
                </a:pPr>
                <a:r>
                  <a:rPr lang="en-US" sz="2400" dirty="0">
                    <a:solidFill>
                      <a:srgbClr val="7030A0"/>
                    </a:solidFill>
                    <a:latin typeface="Calibri"/>
                    <a:cs typeface="Calibri"/>
                  </a:rPr>
                  <a:t>		 </a:t>
                </a:r>
                <a14:m>
                  <m:oMath xmlns:m="http://schemas.openxmlformats.org/officeDocument/2006/math">
                    <m:r>
                      <a:rPr lang="en-US" sz="2400" b="0" i="0"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nary>
                      <m:naryPr>
                        <m:ctrlPr>
                          <a:rPr lang="en-US" sz="2400" b="0" i="1" smtClean="0">
                            <a:solidFill>
                              <a:srgbClr val="7030A0"/>
                            </a:solidFill>
                            <a:latin typeface="Cambria Math" panose="02040503050406030204" pitchFamily="18" charset="0"/>
                            <a:cs typeface="Calibri"/>
                          </a:rPr>
                        </m:ctrlPr>
                      </m:naryPr>
                      <m:sub>
                        <m:r>
                          <m:rPr>
                            <m:brk m:alnAt="23"/>
                          </m:rPr>
                          <a:rPr lang="en-US" sz="2400" b="0" i="1" smtClean="0">
                            <a:solidFill>
                              <a:srgbClr val="7030A0"/>
                            </a:solidFill>
                            <a:latin typeface="Cambria Math" panose="02040503050406030204" pitchFamily="18" charset="0"/>
                            <a:cs typeface="Calibri"/>
                          </a:rPr>
                          <m:t>0</m:t>
                        </m:r>
                      </m:sub>
                      <m:sup>
                        <m:r>
                          <a:rPr lang="en-US" sz="2400" b="0" i="1" smtClean="0">
                            <a:solidFill>
                              <a:srgbClr val="7030A0"/>
                            </a:solidFill>
                            <a:latin typeface="Cambria Math" panose="02040503050406030204" pitchFamily="18" charset="0"/>
                            <a:cs typeface="Calibri"/>
                          </a:rPr>
                          <m:t>𝑡</m:t>
                        </m:r>
                      </m:sup>
                      <m:e>
                        <m:r>
                          <a:rPr lang="en-US" sz="2400" b="0" i="1" smtClean="0">
                            <a:solidFill>
                              <a:srgbClr val="7030A0"/>
                            </a:solidFill>
                            <a:latin typeface="Cambria Math" panose="02040503050406030204" pitchFamily="18" charset="0"/>
                            <a:cs typeface="Calibri"/>
                          </a:rPr>
                          <m:t>𝑑𝑡</m:t>
                        </m:r>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nary>
                          <m:naryPr>
                            <m:ctrlPr>
                              <a:rPr lang="en-US" sz="2400" b="0" i="1" smtClean="0">
                                <a:solidFill>
                                  <a:srgbClr val="7030A0"/>
                                </a:solidFill>
                                <a:latin typeface="Cambria Math" panose="02040503050406030204" pitchFamily="18" charset="0"/>
                                <a:cs typeface="Calibri"/>
                              </a:rPr>
                            </m:ctrlPr>
                          </m:naryPr>
                          <m:sub>
                            <m:r>
                              <m:rPr>
                                <m:brk m:alnAt="23"/>
                              </m:rPr>
                              <a:rPr lang="en-US" sz="2400" b="0" i="1" smtClean="0">
                                <a:solidFill>
                                  <a:srgbClr val="7030A0"/>
                                </a:solidFill>
                                <a:latin typeface="Cambria Math" panose="02040503050406030204" pitchFamily="18" charset="0"/>
                                <a:cs typeface="Calibri"/>
                              </a:rPr>
                              <m:t>0</m:t>
                            </m:r>
                          </m:sub>
                          <m:sup>
                            <m:r>
                              <a:rPr lang="en-US" sz="2400" b="0" i="1" smtClean="0">
                                <a:solidFill>
                                  <a:srgbClr val="7030A0"/>
                                </a:solidFill>
                                <a:latin typeface="Cambria Math" panose="02040503050406030204" pitchFamily="18" charset="0"/>
                                <a:cs typeface="Calibri"/>
                              </a:rPr>
                              <m:t>𝑡</m:t>
                            </m:r>
                          </m:sup>
                          <m:e>
                            <m:r>
                              <a:rPr lang="en-US" sz="2400" b="0" i="1" smtClean="0">
                                <a:solidFill>
                                  <a:srgbClr val="7030A0"/>
                                </a:solidFill>
                                <a:latin typeface="Cambria Math" panose="02040503050406030204" pitchFamily="18" charset="0"/>
                                <a:cs typeface="Calibri"/>
                              </a:rPr>
                              <m:t>𝑚</m:t>
                            </m:r>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𝑑𝑡</m:t>
                            </m:r>
                          </m:e>
                        </m:nary>
                      </m:e>
                    </m:nary>
                  </m:oMath>
                </a14:m>
                <a:endParaRPr lang="en-US" sz="2400" b="0" dirty="0">
                  <a:solidFill>
                    <a:srgbClr val="7030A0"/>
                  </a:solidFill>
                  <a:latin typeface="Calibri"/>
                  <a:cs typeface="Calibri"/>
                </a:endParaRPr>
              </a:p>
              <a:p>
                <a:pPr marL="62865">
                  <a:lnSpc>
                    <a:spcPct val="100000"/>
                  </a:lnSpc>
                  <a:spcBef>
                    <a:spcPts val="470"/>
                  </a:spcBef>
                  <a:tabLst>
                    <a:tab pos="520065" algn="l"/>
                  </a:tabLst>
                </a:pPr>
                <a:r>
                  <a:rPr lang="en-US" sz="2400" dirty="0">
                    <a:solidFill>
                      <a:srgbClr val="7030A0"/>
                    </a:solidFill>
                    <a:latin typeface="Calibri"/>
                    <a:cs typeface="Calibri"/>
                  </a:rPr>
                  <a:t>                 </a:t>
                </a:r>
                <a14:m>
                  <m:oMath xmlns:m="http://schemas.openxmlformats.org/officeDocument/2006/math">
                    <m:r>
                      <a:rPr lang="en-US" sz="240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𝑡</m:t>
                    </m:r>
                    <m:r>
                      <a:rPr lang="en-US" sz="2400" b="0" i="1" smtClean="0">
                        <a:solidFill>
                          <a:srgbClr val="7030A0"/>
                        </a:solidFill>
                        <a:latin typeface="Cambria Math" panose="02040503050406030204" pitchFamily="18" charset="0"/>
                        <a:cs typeface="Calibri"/>
                      </a:rPr>
                      <m:t>+ 2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nary>
                      <m:naryPr>
                        <m:ctrlPr>
                          <a:rPr lang="en-US" sz="2400" b="0" i="1" smtClean="0">
                            <a:solidFill>
                              <a:srgbClr val="7030A0"/>
                            </a:solidFill>
                            <a:latin typeface="Cambria Math" panose="02040503050406030204" pitchFamily="18" charset="0"/>
                            <a:cs typeface="Calibri"/>
                          </a:rPr>
                        </m:ctrlPr>
                      </m:naryPr>
                      <m:sub>
                        <m:r>
                          <m:rPr>
                            <m:brk m:alnAt="23"/>
                          </m:rPr>
                          <a:rPr lang="en-US" sz="2400" b="0" i="1" smtClean="0">
                            <a:solidFill>
                              <a:srgbClr val="7030A0"/>
                            </a:solidFill>
                            <a:latin typeface="Cambria Math" panose="02040503050406030204" pitchFamily="18" charset="0"/>
                            <a:cs typeface="Calibri"/>
                          </a:rPr>
                          <m:t>0</m:t>
                        </m:r>
                      </m:sub>
                      <m:sup>
                        <m:r>
                          <a:rPr lang="en-US" sz="2400" b="0" i="1" smtClean="0">
                            <a:solidFill>
                              <a:srgbClr val="7030A0"/>
                            </a:solidFill>
                            <a:latin typeface="Cambria Math" panose="02040503050406030204" pitchFamily="18" charset="0"/>
                            <a:cs typeface="Calibri"/>
                          </a:rPr>
                          <m:t>𝑡</m:t>
                        </m:r>
                      </m:sup>
                      <m:e>
                        <m:sSub>
                          <m:sSubPr>
                            <m:ctrlPr>
                              <a:rPr lang="en-US" sz="2400" i="1" smtClean="0">
                                <a:solidFill>
                                  <a:srgbClr val="6F2F9F"/>
                                </a:solidFill>
                                <a:latin typeface="Cambria Math" panose="02040503050406030204" pitchFamily="18" charset="0"/>
                                <a:cs typeface="Calibri"/>
                              </a:rPr>
                            </m:ctrlPr>
                          </m:sSubPr>
                          <m:e>
                            <m:r>
                              <a:rPr lang="en-US" sz="2400" b="0" i="1" smtClean="0">
                                <a:solidFill>
                                  <a:srgbClr val="6F2F9F"/>
                                </a:solidFill>
                                <a:latin typeface="Cambria Math" panose="02040503050406030204" pitchFamily="18" charset="0"/>
                                <a:cs typeface="Calibri"/>
                              </a:rPr>
                              <m:t>𝑉</m:t>
                            </m:r>
                          </m:e>
                          <m:sub>
                            <m:r>
                              <a:rPr lang="en-US" sz="2400" b="0" i="1" smtClean="0">
                                <a:solidFill>
                                  <a:srgbClr val="6F2F9F"/>
                                </a:solidFill>
                                <a:latin typeface="Cambria Math" panose="02040503050406030204" pitchFamily="18" charset="0"/>
                                <a:cs typeface="Calibri"/>
                              </a:rPr>
                              <m:t>𝑚</m:t>
                            </m:r>
                          </m:sub>
                        </m:sSub>
                        <m:r>
                          <a:rPr lang="en-US" sz="2400" b="0" i="1" smtClean="0">
                            <a:solidFill>
                              <a:srgbClr val="6F2F9F"/>
                            </a:solidFill>
                            <a:latin typeface="Cambria Math" panose="02040503050406030204" pitchFamily="18" charset="0"/>
                            <a:cs typeface="Calibri"/>
                          </a:rPr>
                          <m:t>𝑐𝑜𝑠</m:t>
                        </m:r>
                        <m:d>
                          <m:dPr>
                            <m:ctrlPr>
                              <a:rPr lang="en-US" sz="2400" i="1" smtClean="0">
                                <a:solidFill>
                                  <a:srgbClr val="6F2F9F"/>
                                </a:solidFill>
                                <a:latin typeface="Cambria Math" panose="02040503050406030204" pitchFamily="18" charset="0"/>
                                <a:cs typeface="Calibri"/>
                              </a:rPr>
                            </m:ctrlPr>
                          </m:dPr>
                          <m:e>
                            <m:r>
                              <a:rPr lang="en-US" sz="2400" b="0" i="1" smtClean="0">
                                <a:solidFill>
                                  <a:srgbClr val="6F2F9F"/>
                                </a:solidFill>
                                <a:latin typeface="Cambria Math" panose="02040503050406030204" pitchFamily="18" charset="0"/>
                                <a:cs typeface="Calibri"/>
                              </a:rPr>
                              <m:t>2</m:t>
                            </m:r>
                            <m:r>
                              <a:rPr lang="el-GR" sz="2400" b="0" i="1" smtClean="0">
                                <a:solidFill>
                                  <a:srgbClr val="6F2F9F"/>
                                </a:solidFill>
                                <a:latin typeface="Cambria Math" panose="02040503050406030204" pitchFamily="18" charset="0"/>
                                <a:cs typeface="Calibri"/>
                              </a:rPr>
                              <m:t>𝜋</m:t>
                            </m:r>
                            <m:sSub>
                              <m:sSubPr>
                                <m:ctrlPr>
                                  <a:rPr lang="en-US" sz="2400" i="1" smtClean="0">
                                    <a:solidFill>
                                      <a:srgbClr val="6F2F9F"/>
                                    </a:solidFill>
                                    <a:latin typeface="Cambria Math" panose="02040503050406030204" pitchFamily="18" charset="0"/>
                                    <a:cs typeface="Calibri"/>
                                  </a:rPr>
                                </m:ctrlPr>
                              </m:sSubPr>
                              <m:e>
                                <m:r>
                                  <a:rPr lang="en-US" sz="2400" b="0" i="1" smtClean="0">
                                    <a:solidFill>
                                      <a:srgbClr val="6F2F9F"/>
                                    </a:solidFill>
                                    <a:latin typeface="Cambria Math" panose="02040503050406030204" pitchFamily="18" charset="0"/>
                                    <a:cs typeface="Calibri"/>
                                  </a:rPr>
                                  <m:t>𝑓</m:t>
                                </m:r>
                              </m:e>
                              <m:sub>
                                <m:r>
                                  <a:rPr lang="en-US" sz="2400" b="0" i="1" smtClean="0">
                                    <a:solidFill>
                                      <a:srgbClr val="6F2F9F"/>
                                    </a:solidFill>
                                    <a:latin typeface="Cambria Math" panose="02040503050406030204" pitchFamily="18" charset="0"/>
                                    <a:cs typeface="Calibri"/>
                                  </a:rPr>
                                  <m:t>𝑚</m:t>
                                </m:r>
                              </m:sub>
                            </m:sSub>
                            <m:r>
                              <a:rPr lang="en-US" sz="2400" b="0" i="1" smtClean="0">
                                <a:solidFill>
                                  <a:srgbClr val="6F2F9F"/>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𝑑𝑡</m:t>
                        </m:r>
                      </m:e>
                    </m:nary>
                  </m:oMath>
                </a14:m>
                <a:endParaRPr lang="en-US" sz="2400" dirty="0">
                  <a:solidFill>
                    <a:srgbClr val="7030A0"/>
                  </a:solidFill>
                  <a:latin typeface="Calibri"/>
                  <a:cs typeface="Calibri"/>
                </a:endParaRPr>
              </a:p>
              <a:p>
                <a:pPr marL="62865">
                  <a:lnSpc>
                    <a:spcPct val="100000"/>
                  </a:lnSpc>
                  <a:spcBef>
                    <a:spcPts val="470"/>
                  </a:spcBef>
                  <a:tabLst>
                    <a:tab pos="520065" algn="l"/>
                  </a:tabLst>
                </a:pPr>
                <a14:m>
                  <m:oMathPara xmlns:m="http://schemas.openxmlformats.org/officeDocument/2006/math">
                    <m:oMathParaPr>
                      <m:jc m:val="left"/>
                    </m:oMathParaPr>
                    <m:oMath xmlns:m="http://schemas.openxmlformats.org/officeDocument/2006/math">
                      <m:r>
                        <a:rPr lang="en-US" sz="2400" b="0" i="1" smtClean="0">
                          <a:solidFill>
                            <a:srgbClr val="7030A0"/>
                          </a:solidFill>
                          <a:latin typeface="Cambria Math" panose="02040503050406030204" pitchFamily="18" charset="0"/>
                          <a:cs typeface="Calibri"/>
                        </a:rPr>
                        <m:t>                 =</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𝜔</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𝑡</m:t>
                      </m:r>
                      <m:r>
                        <a:rPr lang="en-US" sz="2400" b="0" i="1" smtClean="0">
                          <a:solidFill>
                            <a:srgbClr val="7030A0"/>
                          </a:solidFill>
                          <a:latin typeface="Cambria Math" panose="02040503050406030204" pitchFamily="18" charset="0"/>
                          <a:cs typeface="Calibri"/>
                        </a:rPr>
                        <m:t>+</m:t>
                      </m:r>
                      <m:f>
                        <m:fPr>
                          <m:ctrlPr>
                            <a:rPr lang="en-US" sz="2400" b="0" i="1" smtClean="0">
                              <a:solidFill>
                                <a:srgbClr val="6F2F9F"/>
                              </a:solidFill>
                              <a:latin typeface="Cambria Math" panose="02040503050406030204" pitchFamily="18" charset="0"/>
                              <a:cs typeface="Calibri"/>
                            </a:rPr>
                          </m:ctrlPr>
                        </m:fPr>
                        <m:num>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sSub>
                            <m:sSubPr>
                              <m:ctrlPr>
                                <a:rPr lang="en-US" sz="2400" i="1" smtClean="0">
                                  <a:solidFill>
                                    <a:srgbClr val="6F2F9F"/>
                                  </a:solidFill>
                                  <a:latin typeface="Cambria Math" panose="02040503050406030204" pitchFamily="18" charset="0"/>
                                  <a:cs typeface="Calibri"/>
                                </a:rPr>
                              </m:ctrlPr>
                            </m:sSubPr>
                            <m:e>
                              <m:r>
                                <a:rPr lang="en-US" sz="2400" b="0" i="1" smtClean="0">
                                  <a:solidFill>
                                    <a:srgbClr val="6F2F9F"/>
                                  </a:solidFill>
                                  <a:latin typeface="Cambria Math" panose="02040503050406030204" pitchFamily="18" charset="0"/>
                                  <a:cs typeface="Calibri"/>
                                </a:rPr>
                                <m:t>𝑉</m:t>
                              </m:r>
                            </m:e>
                            <m:sub>
                              <m:r>
                                <a:rPr lang="en-US" sz="2400" b="0" i="1" smtClean="0">
                                  <a:solidFill>
                                    <a:srgbClr val="6F2F9F"/>
                                  </a:solidFill>
                                  <a:latin typeface="Cambria Math" panose="02040503050406030204" pitchFamily="18" charset="0"/>
                                  <a:cs typeface="Calibri"/>
                                </a:rPr>
                                <m:t>𝑚</m:t>
                              </m:r>
                            </m:sub>
                          </m:sSub>
                          <m:func>
                            <m:funcPr>
                              <m:ctrlPr>
                                <a:rPr lang="en-US" sz="2400" b="0" i="1" smtClean="0">
                                  <a:solidFill>
                                    <a:srgbClr val="6F2F9F"/>
                                  </a:solidFill>
                                  <a:latin typeface="Cambria Math" panose="02040503050406030204" pitchFamily="18" charset="0"/>
                                  <a:cs typeface="Calibri"/>
                                </a:rPr>
                              </m:ctrlPr>
                            </m:funcPr>
                            <m:fName>
                              <m:r>
                                <a:rPr lang="en-US" sz="2400" b="0" i="1" smtClean="0">
                                  <a:solidFill>
                                    <a:srgbClr val="6F2F9F"/>
                                  </a:solidFill>
                                  <a:latin typeface="Cambria Math" panose="02040503050406030204" pitchFamily="18" charset="0"/>
                                  <a:cs typeface="Calibri"/>
                                </a:rPr>
                                <m:t>𝑠𝑖𝑛</m:t>
                              </m:r>
                            </m:fName>
                            <m:e>
                              <m:d>
                                <m:dPr>
                                  <m:ctrlPr>
                                    <a:rPr lang="en-US" sz="2400" b="0" i="1" smtClean="0">
                                      <a:solidFill>
                                        <a:srgbClr val="6F2F9F"/>
                                      </a:solidFill>
                                      <a:latin typeface="Cambria Math" panose="02040503050406030204" pitchFamily="18" charset="0"/>
                                      <a:cs typeface="Calibri"/>
                                    </a:rPr>
                                  </m:ctrlPr>
                                </m:dPr>
                                <m:e>
                                  <m:r>
                                    <a:rPr lang="en-US" sz="2400" b="0" i="1" smtClean="0">
                                      <a:solidFill>
                                        <a:srgbClr val="6F2F9F"/>
                                      </a:solidFill>
                                      <a:latin typeface="Cambria Math" panose="02040503050406030204" pitchFamily="18" charset="0"/>
                                      <a:cs typeface="Calibri"/>
                                    </a:rPr>
                                    <m:t>2</m:t>
                                  </m:r>
                                  <m:r>
                                    <a:rPr lang="en-US" sz="2400" b="0" i="1" smtClean="0">
                                      <a:solidFill>
                                        <a:srgbClr val="6F2F9F"/>
                                      </a:solidFill>
                                      <a:latin typeface="Cambria Math" panose="02040503050406030204" pitchFamily="18" charset="0"/>
                                      <a:cs typeface="Calibri"/>
                                    </a:rPr>
                                    <m:t>𝜋</m:t>
                                  </m:r>
                                  <m:sSub>
                                    <m:sSubPr>
                                      <m:ctrlPr>
                                        <a:rPr lang="en-US" sz="2400" b="0" i="1" smtClean="0">
                                          <a:solidFill>
                                            <a:srgbClr val="6F2F9F"/>
                                          </a:solidFill>
                                          <a:latin typeface="Cambria Math" panose="02040503050406030204" pitchFamily="18" charset="0"/>
                                          <a:cs typeface="Calibri"/>
                                        </a:rPr>
                                      </m:ctrlPr>
                                    </m:sSubPr>
                                    <m:e>
                                      <m:r>
                                        <a:rPr lang="en-US" sz="2400" b="0" i="1" smtClean="0">
                                          <a:solidFill>
                                            <a:srgbClr val="6F2F9F"/>
                                          </a:solidFill>
                                          <a:latin typeface="Cambria Math" panose="02040503050406030204" pitchFamily="18" charset="0"/>
                                          <a:cs typeface="Calibri"/>
                                        </a:rPr>
                                        <m:t>𝑓</m:t>
                                      </m:r>
                                    </m:e>
                                    <m:sub>
                                      <m:r>
                                        <a:rPr lang="en-US" sz="2400" b="0" i="1" smtClean="0">
                                          <a:solidFill>
                                            <a:srgbClr val="6F2F9F"/>
                                          </a:solidFill>
                                          <a:latin typeface="Cambria Math" panose="02040503050406030204" pitchFamily="18" charset="0"/>
                                          <a:cs typeface="Calibri"/>
                                        </a:rPr>
                                        <m:t>𝑚</m:t>
                                      </m:r>
                                    </m:sub>
                                  </m:sSub>
                                  <m:r>
                                    <a:rPr lang="en-US" sz="2400" b="0" i="1" smtClean="0">
                                      <a:solidFill>
                                        <a:srgbClr val="6F2F9F"/>
                                      </a:solidFill>
                                      <a:latin typeface="Cambria Math" panose="02040503050406030204" pitchFamily="18" charset="0"/>
                                      <a:cs typeface="Calibri"/>
                                    </a:rPr>
                                    <m:t>𝑡</m:t>
                                  </m:r>
                                </m:e>
                              </m:d>
                            </m:e>
                          </m:func>
                        </m:num>
                        <m:den>
                          <m:r>
                            <a:rPr lang="en-US" sz="2400" b="0" i="1" smtClean="0">
                              <a:solidFill>
                                <a:srgbClr val="6F2F9F"/>
                              </a:solidFill>
                              <a:latin typeface="Cambria Math" panose="02040503050406030204" pitchFamily="18" charset="0"/>
                              <a:cs typeface="Calibri"/>
                            </a:rPr>
                            <m:t>2</m:t>
                          </m:r>
                          <m:r>
                            <a:rPr lang="en-US" sz="2400" b="0" i="1" smtClean="0">
                              <a:solidFill>
                                <a:srgbClr val="6F2F9F"/>
                              </a:solidFill>
                              <a:latin typeface="Cambria Math" panose="02040503050406030204" pitchFamily="18" charset="0"/>
                              <a:cs typeface="Calibri"/>
                            </a:rPr>
                            <m:t>𝜋</m:t>
                          </m:r>
                          <m:sSub>
                            <m:sSubPr>
                              <m:ctrlPr>
                                <a:rPr lang="en-US" sz="2400" b="0" i="1" smtClean="0">
                                  <a:solidFill>
                                    <a:srgbClr val="6F2F9F"/>
                                  </a:solidFill>
                                  <a:latin typeface="Cambria Math" panose="02040503050406030204" pitchFamily="18" charset="0"/>
                                  <a:cs typeface="Calibri"/>
                                </a:rPr>
                              </m:ctrlPr>
                            </m:sSubPr>
                            <m:e>
                              <m:r>
                                <a:rPr lang="en-US" sz="2400" b="0" i="1" smtClean="0">
                                  <a:solidFill>
                                    <a:srgbClr val="6F2F9F"/>
                                  </a:solidFill>
                                  <a:latin typeface="Cambria Math" panose="02040503050406030204" pitchFamily="18" charset="0"/>
                                  <a:cs typeface="Calibri"/>
                                </a:rPr>
                                <m:t>𝑓</m:t>
                              </m:r>
                            </m:e>
                            <m:sub>
                              <m:r>
                                <a:rPr lang="en-US" sz="2400" b="0" i="1" smtClean="0">
                                  <a:solidFill>
                                    <a:srgbClr val="6F2F9F"/>
                                  </a:solidFill>
                                  <a:latin typeface="Cambria Math" panose="02040503050406030204" pitchFamily="18" charset="0"/>
                                  <a:cs typeface="Calibri"/>
                                </a:rPr>
                                <m:t>𝑚</m:t>
                              </m:r>
                            </m:sub>
                          </m:sSub>
                        </m:den>
                      </m:f>
                    </m:oMath>
                  </m:oMathPara>
                </a14:m>
                <a:endParaRPr lang="en-US" sz="2400" dirty="0">
                  <a:solidFill>
                    <a:srgbClr val="7030A0"/>
                  </a:solidFill>
                  <a:latin typeface="Calibri"/>
                  <a:cs typeface="Calibri"/>
                </a:endParaRPr>
              </a:p>
              <a:p>
                <a:pPr marL="62865">
                  <a:lnSpc>
                    <a:spcPct val="100000"/>
                  </a:lnSpc>
                  <a:spcBef>
                    <a:spcPts val="470"/>
                  </a:spcBef>
                  <a:tabLst>
                    <a:tab pos="520065" algn="l"/>
                  </a:tabLst>
                </a:pPr>
                <a14:m>
                  <m:oMathPara xmlns:m="http://schemas.openxmlformats.org/officeDocument/2006/math">
                    <m:oMathParaPr>
                      <m:jc m:val="left"/>
                    </m:oMathParaPr>
                    <m:oMath xmlns:m="http://schemas.openxmlformats.org/officeDocument/2006/math">
                      <m:r>
                        <a:rPr lang="en-US" sz="2400" b="0" i="1" smtClean="0">
                          <a:solidFill>
                            <a:srgbClr val="7030A0"/>
                          </a:solidFill>
                          <a:latin typeface="Cambria Math" panose="02040503050406030204" pitchFamily="18" charset="0"/>
                          <a:cs typeface="Calibri"/>
                        </a:rPr>
                        <m:t>                 =</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𝜔</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𝑡</m:t>
                      </m:r>
                      <m:r>
                        <a:rPr lang="en-US" sz="2400" b="0" i="1" smtClean="0">
                          <a:solidFill>
                            <a:srgbClr val="7030A0"/>
                          </a:solidFill>
                          <a:latin typeface="Cambria Math" panose="02040503050406030204" pitchFamily="18" charset="0"/>
                          <a:cs typeface="Calibri"/>
                        </a:rPr>
                        <m:t>+</m:t>
                      </m:r>
                      <m:f>
                        <m:fPr>
                          <m:ctrlPr>
                            <a:rPr lang="en-US" sz="2400" b="0" i="1" smtClean="0">
                              <a:solidFill>
                                <a:srgbClr val="7030A0"/>
                              </a:solidFill>
                              <a:latin typeface="Cambria Math" panose="02040503050406030204" pitchFamily="18" charset="0"/>
                              <a:cs typeface="Calibri"/>
                            </a:rPr>
                          </m:ctrlPr>
                        </m:fPr>
                        <m:num>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𝑉</m:t>
                              </m:r>
                            </m:e>
                            <m:sub>
                              <m:r>
                                <a:rPr lang="en-US" sz="2400" b="0" i="1" smtClean="0">
                                  <a:solidFill>
                                    <a:srgbClr val="7030A0"/>
                                  </a:solidFill>
                                  <a:latin typeface="Cambria Math" panose="02040503050406030204" pitchFamily="18" charset="0"/>
                                  <a:cs typeface="Calibri"/>
                                </a:rPr>
                                <m:t>𝑚</m:t>
                              </m:r>
                            </m:sub>
                          </m:sSub>
                        </m:num>
                        <m:den>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den>
                      </m:f>
                      <m:r>
                        <a:rPr lang="en-US" sz="2400" b="0" i="1" smtClean="0">
                          <a:solidFill>
                            <a:srgbClr val="7030A0"/>
                          </a:solidFill>
                          <a:latin typeface="Cambria Math" panose="02040503050406030204" pitchFamily="18" charset="0"/>
                          <a:cs typeface="Calibri"/>
                        </a:rPr>
                        <m:t>𝑠𝑖𝑛</m:t>
                      </m:r>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𝑡</m:t>
                          </m:r>
                        </m:e>
                      </m:d>
                    </m:oMath>
                  </m:oMathPara>
                </a14:m>
                <a:endParaRPr lang="en-US" sz="2400" b="0" dirty="0">
                  <a:solidFill>
                    <a:srgbClr val="7030A0"/>
                  </a:solidFill>
                  <a:latin typeface="Calibri"/>
                  <a:cs typeface="Calibri"/>
                </a:endParaRPr>
              </a:p>
              <a:p>
                <a:pPr marL="62865">
                  <a:lnSpc>
                    <a:spcPct val="100000"/>
                  </a:lnSpc>
                  <a:spcBef>
                    <a:spcPts val="470"/>
                  </a:spcBef>
                  <a:tabLst>
                    <a:tab pos="520065" algn="l"/>
                  </a:tabLst>
                </a:pPr>
                <a14:m>
                  <m:oMath xmlns:m="http://schemas.openxmlformats.org/officeDocument/2006/math">
                    <m:r>
                      <a:rPr lang="en-US" sz="2400" b="0" i="1" smtClean="0">
                        <a:solidFill>
                          <a:srgbClr val="7030A0"/>
                        </a:solidFill>
                        <a:latin typeface="Cambria Math" panose="02040503050406030204" pitchFamily="18" charset="0"/>
                        <a:cs typeface="Calibri"/>
                      </a:rPr>
                      <m:t>                 =</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𝜔</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𝑡</m:t>
                    </m:r>
                    <m:r>
                      <a:rPr lang="en-US" sz="2400" b="0" i="1" smtClean="0">
                        <a:solidFill>
                          <a:srgbClr val="7030A0"/>
                        </a:solidFill>
                        <a:latin typeface="Cambria Math" panose="02040503050406030204" pitchFamily="18" charset="0"/>
                        <a:cs typeface="Calibri"/>
                      </a:rPr>
                      <m:t>+</m:t>
                    </m:r>
                    <m:f>
                      <m:fPr>
                        <m:ctrlPr>
                          <a:rPr lang="en-US" sz="2400" b="0" i="1" smtClean="0">
                            <a:solidFill>
                              <a:srgbClr val="7030A0"/>
                            </a:solidFill>
                            <a:latin typeface="Cambria Math" panose="02040503050406030204" pitchFamily="18" charset="0"/>
                            <a:cs typeface="Calibri"/>
                          </a:rPr>
                        </m:ctrlPr>
                      </m:fPr>
                      <m:num>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num>
                      <m:den>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den>
                    </m:f>
                    <m:r>
                      <a:rPr lang="en-US" sz="2400" b="0" i="1" smtClean="0">
                        <a:solidFill>
                          <a:srgbClr val="7030A0"/>
                        </a:solidFill>
                        <a:latin typeface="Cambria Math" panose="02040503050406030204" pitchFamily="18" charset="0"/>
                        <a:cs typeface="Calibri"/>
                      </a:rPr>
                      <m:t>𝑠𝑖𝑛</m:t>
                    </m:r>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𝑡</m:t>
                    </m:r>
                    <m:r>
                      <a:rPr lang="en-US" sz="2400" b="0" i="1" smtClean="0">
                        <a:solidFill>
                          <a:srgbClr val="7030A0"/>
                        </a:solidFill>
                        <a:latin typeface="Cambria Math" panose="02040503050406030204" pitchFamily="18" charset="0"/>
                        <a:cs typeface="Calibri"/>
                      </a:rPr>
                      <m:t>)</m:t>
                    </m:r>
                  </m:oMath>
                </a14:m>
                <a:r>
                  <a:rPr lang="en-US" sz="2400" dirty="0">
                    <a:solidFill>
                      <a:srgbClr val="7030A0"/>
                    </a:solidFill>
                    <a:latin typeface="Calibri"/>
                    <a:cs typeface="Calibri"/>
                  </a:rPr>
                  <a:t> [</a:t>
                </a:r>
                <a:r>
                  <a:rPr lang="en-US" sz="2400" i="1" dirty="0">
                    <a:solidFill>
                      <a:srgbClr val="7030A0"/>
                    </a:solidFill>
                    <a:latin typeface="Calibri Math"/>
                    <a:cs typeface="Calibri"/>
                  </a:rPr>
                  <a:t>as</a:t>
                </a:r>
                <a:r>
                  <a:rPr lang="en-US" sz="2400" dirty="0">
                    <a:solidFill>
                      <a:srgbClr val="7030A0"/>
                    </a:solidFill>
                    <a:latin typeface="Calibri Math"/>
                    <a:cs typeface="Calibri"/>
                  </a:rPr>
                  <a:t> </a:t>
                </a:r>
                <a14:m>
                  <m:oMath xmlns:m="http://schemas.openxmlformats.org/officeDocument/2006/math">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𝑓𝑜𝑟</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𝑠𝑖𝑛𝑔𝑙𝑒</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𝑡𝑜𝑛𝑒</m:t>
                    </m:r>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𝑉</m:t>
                        </m:r>
                      </m:e>
                      <m:sub>
                        <m:r>
                          <a:rPr lang="en-US" sz="2400" b="0" i="1" smtClean="0">
                            <a:solidFill>
                              <a:srgbClr val="7030A0"/>
                            </a:solidFill>
                            <a:latin typeface="Cambria Math" panose="02040503050406030204" pitchFamily="18" charset="0"/>
                            <a:cs typeface="Calibri"/>
                          </a:rPr>
                          <m:t>𝑚</m:t>
                        </m:r>
                      </m:sub>
                    </m:sSub>
                  </m:oMath>
                </a14:m>
                <a:r>
                  <a:rPr lang="en-US" sz="2400" dirty="0">
                    <a:solidFill>
                      <a:srgbClr val="7030A0"/>
                    </a:solidFill>
                    <a:latin typeface="Calibri"/>
                    <a:cs typeface="Calibri"/>
                  </a:rPr>
                  <a:t>]</a:t>
                </a:r>
              </a:p>
              <a:p>
                <a:pPr marL="62865">
                  <a:lnSpc>
                    <a:spcPct val="100000"/>
                  </a:lnSpc>
                  <a:spcBef>
                    <a:spcPts val="470"/>
                  </a:spcBef>
                  <a:tabLst>
                    <a:tab pos="520065" algn="l"/>
                  </a:tabLst>
                </a:pPr>
                <a14:m>
                  <m:oMath xmlns:m="http://schemas.openxmlformats.org/officeDocument/2006/math">
                    <m:r>
                      <a:rPr lang="en-US" sz="2400" b="0" i="1" smtClean="0">
                        <a:solidFill>
                          <a:srgbClr val="7030A0"/>
                        </a:solidFill>
                        <a:latin typeface="Cambria Math" panose="02040503050406030204" pitchFamily="18" charset="0"/>
                        <a:cs typeface="Calibri"/>
                      </a:rPr>
                      <m:t>                 =</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𝜔</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𝑡</m:t>
                    </m:r>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𝑚</m:t>
                        </m:r>
                      </m:e>
                      <m:sub>
                        <m:r>
                          <a:rPr lang="en-US" sz="2400" b="0" i="1" smtClean="0">
                            <a:solidFill>
                              <a:srgbClr val="7030A0"/>
                            </a:solidFill>
                            <a:latin typeface="Cambria Math" panose="02040503050406030204" pitchFamily="18" charset="0"/>
                            <a:cs typeface="Calibri"/>
                          </a:rPr>
                          <m:t>𝑓</m:t>
                        </m:r>
                      </m:sub>
                    </m:sSub>
                    <m:r>
                      <a:rPr lang="en-US" sz="2400" b="0" i="1" smtClean="0">
                        <a:solidFill>
                          <a:srgbClr val="7030A0"/>
                        </a:solidFill>
                        <a:latin typeface="Cambria Math" panose="02040503050406030204" pitchFamily="18" charset="0"/>
                        <a:cs typeface="Calibri"/>
                      </a:rPr>
                      <m:t>𝑠𝑖𝑛</m:t>
                    </m:r>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𝑡</m:t>
                    </m:r>
                    <m:r>
                      <a:rPr lang="en-US" sz="2400" b="0" i="1" smtClean="0">
                        <a:solidFill>
                          <a:srgbClr val="7030A0"/>
                        </a:solidFill>
                        <a:latin typeface="Cambria Math" panose="02040503050406030204" pitchFamily="18" charset="0"/>
                        <a:cs typeface="Calibri"/>
                      </a:rPr>
                      <m:t>)</m:t>
                    </m:r>
                  </m:oMath>
                </a14:m>
                <a:r>
                  <a:rPr lang="en-US" sz="2400" dirty="0">
                    <a:solidFill>
                      <a:srgbClr val="7030A0"/>
                    </a:solidFill>
                    <a:latin typeface="Calibri"/>
                    <a:cs typeface="Calibri"/>
                  </a:rPr>
                  <a:t> [</a:t>
                </a:r>
                <a:r>
                  <a:rPr lang="en-US" sz="2400" b="1" dirty="0">
                    <a:solidFill>
                      <a:srgbClr val="7030A0"/>
                    </a:solidFill>
                    <a:latin typeface="Calibri"/>
                    <a:cs typeface="Calibri"/>
                  </a:rPr>
                  <a:t>Modulation index, </a:t>
                </a:r>
                <a14:m>
                  <m:oMath xmlns:m="http://schemas.openxmlformats.org/officeDocument/2006/math">
                    <m:sSub>
                      <m:sSubPr>
                        <m:ctrlPr>
                          <a:rPr lang="en-US" sz="2400" b="1" i="1" smtClean="0">
                            <a:solidFill>
                              <a:srgbClr val="7030A0"/>
                            </a:solidFill>
                            <a:latin typeface="Cambria Math" panose="02040503050406030204" pitchFamily="18" charset="0"/>
                            <a:cs typeface="Calibri"/>
                          </a:rPr>
                        </m:ctrlPr>
                      </m:sSubPr>
                      <m:e>
                        <m:r>
                          <a:rPr lang="en-US" sz="2400" b="1" i="1" smtClean="0">
                            <a:solidFill>
                              <a:srgbClr val="7030A0"/>
                            </a:solidFill>
                            <a:latin typeface="Cambria Math" panose="02040503050406030204" pitchFamily="18" charset="0"/>
                            <a:cs typeface="Calibri"/>
                          </a:rPr>
                          <m:t>𝒎</m:t>
                        </m:r>
                      </m:e>
                      <m:sub>
                        <m:r>
                          <a:rPr lang="en-US" sz="2400" b="1" i="1" smtClean="0">
                            <a:solidFill>
                              <a:srgbClr val="7030A0"/>
                            </a:solidFill>
                            <a:latin typeface="Cambria Math" panose="02040503050406030204" pitchFamily="18" charset="0"/>
                            <a:cs typeface="Calibri"/>
                          </a:rPr>
                          <m:t>𝒇</m:t>
                        </m:r>
                      </m:sub>
                    </m:sSub>
                    <m:r>
                      <a:rPr lang="en-US" sz="2400" b="1" i="1" smtClean="0">
                        <a:solidFill>
                          <a:srgbClr val="7030A0"/>
                        </a:solidFill>
                        <a:latin typeface="Cambria Math" panose="02040503050406030204" pitchFamily="18" charset="0"/>
                        <a:cs typeface="Calibri"/>
                      </a:rPr>
                      <m:t>=</m:t>
                    </m:r>
                  </m:oMath>
                </a14:m>
                <a:r>
                  <a:rPr lang="en-US" sz="2400" b="1" dirty="0">
                    <a:solidFill>
                      <a:srgbClr val="7030A0"/>
                    </a:solidFill>
                    <a:cs typeface="Calibri"/>
                  </a:rPr>
                  <a:t> </a:t>
                </a:r>
                <a14:m>
                  <m:oMath xmlns:m="http://schemas.openxmlformats.org/officeDocument/2006/math">
                    <m:f>
                      <m:fPr>
                        <m:ctrlPr>
                          <a:rPr lang="en-US" sz="2400" b="1" i="1" smtClean="0">
                            <a:solidFill>
                              <a:srgbClr val="7030A0"/>
                            </a:solidFill>
                            <a:latin typeface="Cambria Math" panose="02040503050406030204" pitchFamily="18" charset="0"/>
                            <a:cs typeface="Calibri"/>
                          </a:rPr>
                        </m:ctrlPr>
                      </m:fPr>
                      <m:num>
                        <m:r>
                          <a:rPr lang="en-US" sz="2400" b="1" i="0" smtClean="0">
                            <a:solidFill>
                              <a:srgbClr val="7030A0"/>
                            </a:solidFill>
                            <a:latin typeface="Cambria Math" panose="02040503050406030204" pitchFamily="18" charset="0"/>
                            <a:cs typeface="Calibri"/>
                          </a:rPr>
                          <m:t>𝚫</m:t>
                        </m:r>
                        <m:r>
                          <a:rPr lang="en-US" sz="2400" b="1" i="1" smtClean="0">
                            <a:solidFill>
                              <a:srgbClr val="7030A0"/>
                            </a:solidFill>
                            <a:latin typeface="Cambria Math" panose="02040503050406030204" pitchFamily="18" charset="0"/>
                            <a:cs typeface="Calibri"/>
                          </a:rPr>
                          <m:t>𝒇</m:t>
                        </m:r>
                      </m:num>
                      <m:den>
                        <m:sSub>
                          <m:sSubPr>
                            <m:ctrlPr>
                              <a:rPr lang="en-US" sz="2400" b="1" i="1" smtClean="0">
                                <a:solidFill>
                                  <a:srgbClr val="7030A0"/>
                                </a:solidFill>
                                <a:latin typeface="Cambria Math" panose="02040503050406030204" pitchFamily="18" charset="0"/>
                                <a:cs typeface="Calibri"/>
                              </a:rPr>
                            </m:ctrlPr>
                          </m:sSubPr>
                          <m:e>
                            <m:r>
                              <a:rPr lang="en-US" sz="2400" b="1" i="1" smtClean="0">
                                <a:solidFill>
                                  <a:srgbClr val="7030A0"/>
                                </a:solidFill>
                                <a:latin typeface="Cambria Math" panose="02040503050406030204" pitchFamily="18" charset="0"/>
                                <a:cs typeface="Calibri"/>
                              </a:rPr>
                              <m:t>𝒇</m:t>
                            </m:r>
                          </m:e>
                          <m:sub>
                            <m:r>
                              <a:rPr lang="en-US" sz="2400" b="1" i="1" smtClean="0">
                                <a:solidFill>
                                  <a:srgbClr val="7030A0"/>
                                </a:solidFill>
                                <a:latin typeface="Cambria Math" panose="02040503050406030204" pitchFamily="18" charset="0"/>
                                <a:cs typeface="Calibri"/>
                              </a:rPr>
                              <m:t>𝒎</m:t>
                            </m:r>
                          </m:sub>
                        </m:sSub>
                      </m:den>
                    </m:f>
                    <m:r>
                      <a:rPr lang="en-US" sz="2400" b="1" i="1" smtClean="0">
                        <a:solidFill>
                          <a:srgbClr val="7030A0"/>
                        </a:solidFill>
                        <a:latin typeface="Cambria Math" panose="02040503050406030204" pitchFamily="18" charset="0"/>
                        <a:cs typeface="Calibri"/>
                      </a:rPr>
                      <m:t>=</m:t>
                    </m:r>
                  </m:oMath>
                </a14:m>
                <a:r>
                  <a:rPr lang="en-US" sz="2400" b="1" dirty="0">
                    <a:solidFill>
                      <a:srgbClr val="7030A0"/>
                    </a:solidFill>
                    <a:cs typeface="Calibri"/>
                  </a:rPr>
                  <a:t> </a:t>
                </a:r>
                <a14:m>
                  <m:oMath xmlns:m="http://schemas.openxmlformats.org/officeDocument/2006/math">
                    <m:f>
                      <m:fPr>
                        <m:ctrlPr>
                          <a:rPr lang="en-US" sz="2400" b="1" i="1" smtClean="0">
                            <a:solidFill>
                              <a:srgbClr val="7030A0"/>
                            </a:solidFill>
                            <a:latin typeface="Cambria Math" panose="02040503050406030204" pitchFamily="18" charset="0"/>
                            <a:cs typeface="Calibri"/>
                          </a:rPr>
                        </m:ctrlPr>
                      </m:fPr>
                      <m:num>
                        <m:sSub>
                          <m:sSubPr>
                            <m:ctrlPr>
                              <a:rPr lang="en-US" sz="2400" b="1" i="1" smtClean="0">
                                <a:solidFill>
                                  <a:srgbClr val="7030A0"/>
                                </a:solidFill>
                                <a:latin typeface="Cambria Math" panose="02040503050406030204" pitchFamily="18" charset="0"/>
                                <a:cs typeface="Calibri"/>
                              </a:rPr>
                            </m:ctrlPr>
                          </m:sSubPr>
                          <m:e>
                            <m:r>
                              <a:rPr lang="en-US" sz="2400" b="1" i="1" smtClean="0">
                                <a:solidFill>
                                  <a:srgbClr val="7030A0"/>
                                </a:solidFill>
                                <a:latin typeface="Cambria Math" panose="02040503050406030204" pitchFamily="18" charset="0"/>
                                <a:cs typeface="Calibri"/>
                              </a:rPr>
                              <m:t>𝒌</m:t>
                            </m:r>
                          </m:e>
                          <m:sub>
                            <m:r>
                              <a:rPr lang="en-US" sz="2400" b="1" i="1" smtClean="0">
                                <a:solidFill>
                                  <a:srgbClr val="7030A0"/>
                                </a:solidFill>
                                <a:latin typeface="Cambria Math" panose="02040503050406030204" pitchFamily="18" charset="0"/>
                                <a:cs typeface="Calibri"/>
                              </a:rPr>
                              <m:t>𝒇</m:t>
                            </m:r>
                          </m:sub>
                        </m:sSub>
                        <m:sSub>
                          <m:sSubPr>
                            <m:ctrlPr>
                              <a:rPr lang="en-US" sz="2400" b="1" i="1" smtClean="0">
                                <a:solidFill>
                                  <a:srgbClr val="7030A0"/>
                                </a:solidFill>
                                <a:latin typeface="Cambria Math" panose="02040503050406030204" pitchFamily="18" charset="0"/>
                                <a:cs typeface="Calibri"/>
                              </a:rPr>
                            </m:ctrlPr>
                          </m:sSubPr>
                          <m:e>
                            <m:r>
                              <a:rPr lang="en-US" sz="2400" b="1" i="1" smtClean="0">
                                <a:solidFill>
                                  <a:srgbClr val="7030A0"/>
                                </a:solidFill>
                                <a:latin typeface="Cambria Math" panose="02040503050406030204" pitchFamily="18" charset="0"/>
                                <a:cs typeface="Calibri"/>
                              </a:rPr>
                              <m:t>𝑽</m:t>
                            </m:r>
                          </m:e>
                          <m:sub>
                            <m:r>
                              <a:rPr lang="en-US" sz="2400" b="1" i="1" smtClean="0">
                                <a:solidFill>
                                  <a:srgbClr val="7030A0"/>
                                </a:solidFill>
                                <a:latin typeface="Cambria Math" panose="02040503050406030204" pitchFamily="18" charset="0"/>
                                <a:cs typeface="Calibri"/>
                              </a:rPr>
                              <m:t>𝒎</m:t>
                            </m:r>
                          </m:sub>
                        </m:sSub>
                      </m:num>
                      <m:den>
                        <m:sSub>
                          <m:sSubPr>
                            <m:ctrlPr>
                              <a:rPr lang="en-US" sz="2400" b="1" i="1" smtClean="0">
                                <a:solidFill>
                                  <a:srgbClr val="7030A0"/>
                                </a:solidFill>
                                <a:latin typeface="Cambria Math" panose="02040503050406030204" pitchFamily="18" charset="0"/>
                                <a:cs typeface="Calibri"/>
                              </a:rPr>
                            </m:ctrlPr>
                          </m:sSubPr>
                          <m:e>
                            <m:r>
                              <a:rPr lang="en-US" sz="2400" b="1" i="1" smtClean="0">
                                <a:solidFill>
                                  <a:srgbClr val="7030A0"/>
                                </a:solidFill>
                                <a:latin typeface="Cambria Math" panose="02040503050406030204" pitchFamily="18" charset="0"/>
                                <a:cs typeface="Calibri"/>
                              </a:rPr>
                              <m:t>𝒇</m:t>
                            </m:r>
                          </m:e>
                          <m:sub>
                            <m:r>
                              <a:rPr lang="en-US" sz="2400" b="1" i="1" smtClean="0">
                                <a:solidFill>
                                  <a:srgbClr val="7030A0"/>
                                </a:solidFill>
                                <a:latin typeface="Cambria Math" panose="02040503050406030204" pitchFamily="18" charset="0"/>
                                <a:cs typeface="Calibri"/>
                              </a:rPr>
                              <m:t>𝒎</m:t>
                            </m:r>
                          </m:sub>
                        </m:sSub>
                      </m:den>
                    </m:f>
                  </m:oMath>
                </a14:m>
                <a:r>
                  <a:rPr lang="en-US" sz="2400" dirty="0">
                    <a:solidFill>
                      <a:srgbClr val="7030A0"/>
                    </a:solidFill>
                    <a:latin typeface="Calibri"/>
                    <a:cs typeface="Calibri"/>
                  </a:rPr>
                  <a:t>]</a:t>
                </a:r>
              </a:p>
              <a:p>
                <a:pPr marL="62865">
                  <a:lnSpc>
                    <a:spcPct val="100000"/>
                  </a:lnSpc>
                  <a:spcBef>
                    <a:spcPts val="470"/>
                  </a:spcBef>
                  <a:tabLst>
                    <a:tab pos="520065" algn="l"/>
                  </a:tabLst>
                </a:pPr>
                <a:r>
                  <a:rPr lang="en-US" sz="2400" dirty="0">
                    <a:solidFill>
                      <a:srgbClr val="7030A0"/>
                    </a:solidFill>
                    <a:latin typeface="Calibri"/>
                    <a:cs typeface="Calibri"/>
                  </a:rPr>
                  <a:t>FM Signal, </a:t>
                </a:r>
                <a14:m>
                  <m:oMath xmlns:m="http://schemas.openxmlformats.org/officeDocument/2006/math">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𝒀</m:t>
                        </m:r>
                      </m:e>
                      <m:sub>
                        <m:r>
                          <a:rPr lang="en-US" sz="2400" b="1" i="1" smtClean="0">
                            <a:solidFill>
                              <a:srgbClr val="FF0000"/>
                            </a:solidFill>
                            <a:latin typeface="Cambria Math" panose="02040503050406030204" pitchFamily="18" charset="0"/>
                            <a:cs typeface="Calibri"/>
                          </a:rPr>
                          <m:t>𝑭𝑴</m:t>
                        </m:r>
                      </m:sub>
                    </m:sSub>
                    <m:d>
                      <m:dPr>
                        <m:ctrlPr>
                          <a:rPr lang="en-US" sz="2400" b="1" i="1" smtClean="0">
                            <a:solidFill>
                              <a:srgbClr val="FF0000"/>
                            </a:solidFill>
                            <a:latin typeface="Cambria Math" panose="02040503050406030204" pitchFamily="18" charset="0"/>
                            <a:cs typeface="Calibri"/>
                          </a:rPr>
                        </m:ctrlPr>
                      </m:dPr>
                      <m:e>
                        <m:r>
                          <a:rPr lang="en-US" sz="2400" b="1" i="1" smtClean="0">
                            <a:solidFill>
                              <a:srgbClr val="FF0000"/>
                            </a:solidFill>
                            <a:latin typeface="Cambria Math" panose="02040503050406030204" pitchFamily="18" charset="0"/>
                            <a:cs typeface="Calibri"/>
                          </a:rPr>
                          <m:t>𝒕</m:t>
                        </m:r>
                      </m:e>
                    </m:d>
                    <m:r>
                      <a:rPr lang="en-US" sz="2400" b="1" i="1" smtClean="0">
                        <a:solidFill>
                          <a:srgbClr val="FF0000"/>
                        </a:solidFill>
                        <a:latin typeface="Cambria Math" panose="02040503050406030204" pitchFamily="18" charset="0"/>
                        <a:cs typeface="Calibri"/>
                      </a:rPr>
                      <m:t>=</m:t>
                    </m:r>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𝝓</m:t>
                        </m:r>
                      </m:e>
                      <m:sub>
                        <m:r>
                          <a:rPr lang="en-US" sz="2400" b="1" i="1" smtClean="0">
                            <a:solidFill>
                              <a:srgbClr val="FF0000"/>
                            </a:solidFill>
                            <a:latin typeface="Cambria Math" panose="02040503050406030204" pitchFamily="18" charset="0"/>
                            <a:cs typeface="Calibri"/>
                          </a:rPr>
                          <m:t>𝑭𝑴</m:t>
                        </m:r>
                      </m:sub>
                    </m:sSub>
                    <m:r>
                      <a:rPr lang="en-US" sz="2400" b="1" i="1" smtClean="0">
                        <a:solidFill>
                          <a:srgbClr val="FF0000"/>
                        </a:solidFill>
                        <a:latin typeface="Cambria Math" panose="02040503050406030204" pitchFamily="18" charset="0"/>
                        <a:cs typeface="Calibri"/>
                      </a:rPr>
                      <m:t>(</m:t>
                    </m:r>
                    <m:r>
                      <a:rPr lang="en-US" sz="2400" b="1" i="1" smtClean="0">
                        <a:solidFill>
                          <a:srgbClr val="FF0000"/>
                        </a:solidFill>
                        <a:latin typeface="Cambria Math" panose="02040503050406030204" pitchFamily="18" charset="0"/>
                        <a:cs typeface="Calibri"/>
                      </a:rPr>
                      <m:t>𝒕</m:t>
                    </m:r>
                    <m:r>
                      <a:rPr lang="en-US" sz="2400" b="1" i="1" smtClean="0">
                        <a:solidFill>
                          <a:srgbClr val="FF0000"/>
                        </a:solidFill>
                        <a:latin typeface="Cambria Math" panose="02040503050406030204" pitchFamily="18" charset="0"/>
                        <a:cs typeface="Calibri"/>
                      </a:rPr>
                      <m:t>)=</m:t>
                    </m:r>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𝑽</m:t>
                        </m:r>
                      </m:e>
                      <m:sub>
                        <m:r>
                          <a:rPr lang="en-US" sz="2400" b="1" i="1" smtClean="0">
                            <a:solidFill>
                              <a:srgbClr val="FF0000"/>
                            </a:solidFill>
                            <a:latin typeface="Cambria Math" panose="02040503050406030204" pitchFamily="18" charset="0"/>
                            <a:cs typeface="Calibri"/>
                          </a:rPr>
                          <m:t>𝒄</m:t>
                        </m:r>
                      </m:sub>
                    </m:sSub>
                    <m:r>
                      <a:rPr lang="en-US" sz="2400" b="1" i="1" smtClean="0">
                        <a:solidFill>
                          <a:srgbClr val="FF0000"/>
                        </a:solidFill>
                        <a:latin typeface="Cambria Math" panose="02040503050406030204" pitchFamily="18" charset="0"/>
                        <a:cs typeface="Calibri"/>
                      </a:rPr>
                      <m:t>𝒔𝒊𝒏</m:t>
                    </m:r>
                    <m:r>
                      <a:rPr lang="en-US" sz="2400" b="1" i="1" smtClean="0">
                        <a:solidFill>
                          <a:srgbClr val="FF0000"/>
                        </a:solidFill>
                        <a:latin typeface="Cambria Math" panose="02040503050406030204" pitchFamily="18" charset="0"/>
                        <a:cs typeface="Calibri"/>
                      </a:rPr>
                      <m:t>⁡[</m:t>
                    </m:r>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𝝎</m:t>
                        </m:r>
                      </m:e>
                      <m:sub>
                        <m:r>
                          <a:rPr lang="en-US" sz="2400" b="1" i="1" smtClean="0">
                            <a:solidFill>
                              <a:srgbClr val="FF0000"/>
                            </a:solidFill>
                            <a:latin typeface="Cambria Math" panose="02040503050406030204" pitchFamily="18" charset="0"/>
                            <a:cs typeface="Calibri"/>
                          </a:rPr>
                          <m:t>𝒄</m:t>
                        </m:r>
                      </m:sub>
                    </m:sSub>
                    <m:r>
                      <a:rPr lang="en-US" sz="2400" b="1" i="1" smtClean="0">
                        <a:solidFill>
                          <a:srgbClr val="FF0000"/>
                        </a:solidFill>
                        <a:latin typeface="Cambria Math" panose="02040503050406030204" pitchFamily="18" charset="0"/>
                        <a:cs typeface="Calibri"/>
                      </a:rPr>
                      <m:t>𝒕</m:t>
                    </m:r>
                    <m:r>
                      <a:rPr lang="en-US" sz="2400" b="1" i="1" smtClean="0">
                        <a:solidFill>
                          <a:srgbClr val="FF0000"/>
                        </a:solidFill>
                        <a:latin typeface="Cambria Math" panose="02040503050406030204" pitchFamily="18" charset="0"/>
                        <a:cs typeface="Calibri"/>
                      </a:rPr>
                      <m:t>+</m:t>
                    </m:r>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𝒎</m:t>
                        </m:r>
                      </m:e>
                      <m:sub>
                        <m:r>
                          <a:rPr lang="en-US" sz="2400" b="1" i="1" smtClean="0">
                            <a:solidFill>
                              <a:srgbClr val="FF0000"/>
                            </a:solidFill>
                            <a:latin typeface="Cambria Math" panose="02040503050406030204" pitchFamily="18" charset="0"/>
                            <a:cs typeface="Calibri"/>
                          </a:rPr>
                          <m:t>𝒇</m:t>
                        </m:r>
                      </m:sub>
                    </m:sSub>
                    <m:r>
                      <a:rPr lang="en-US" sz="2400" b="1" i="1" smtClean="0">
                        <a:solidFill>
                          <a:srgbClr val="FF0000"/>
                        </a:solidFill>
                        <a:latin typeface="Cambria Math" panose="02040503050406030204" pitchFamily="18" charset="0"/>
                        <a:cs typeface="Calibri"/>
                      </a:rPr>
                      <m:t>𝒔𝒊𝒏</m:t>
                    </m:r>
                    <m:r>
                      <a:rPr lang="en-US" sz="2400" b="1" i="1" smtClean="0">
                        <a:solidFill>
                          <a:srgbClr val="FF0000"/>
                        </a:solidFill>
                        <a:latin typeface="Cambria Math" panose="02040503050406030204" pitchFamily="18" charset="0"/>
                        <a:cs typeface="Calibri"/>
                      </a:rPr>
                      <m:t>(</m:t>
                    </m:r>
                    <m:r>
                      <a:rPr lang="en-US" sz="2400" b="1" i="1" smtClean="0">
                        <a:solidFill>
                          <a:srgbClr val="FF0000"/>
                        </a:solidFill>
                        <a:latin typeface="Cambria Math" panose="02040503050406030204" pitchFamily="18" charset="0"/>
                        <a:cs typeface="Calibri"/>
                      </a:rPr>
                      <m:t>𝟐</m:t>
                    </m:r>
                    <m:r>
                      <a:rPr lang="en-US" sz="2400" b="1" i="1" smtClean="0">
                        <a:solidFill>
                          <a:srgbClr val="FF0000"/>
                        </a:solidFill>
                        <a:latin typeface="Cambria Math" panose="02040503050406030204" pitchFamily="18" charset="0"/>
                        <a:cs typeface="Calibri"/>
                      </a:rPr>
                      <m:t>𝝅</m:t>
                    </m:r>
                    <m:sSub>
                      <m:sSubPr>
                        <m:ctrlPr>
                          <a:rPr lang="en-US" sz="2400" b="1" i="1" smtClean="0">
                            <a:solidFill>
                              <a:srgbClr val="FF0000"/>
                            </a:solidFill>
                            <a:latin typeface="Cambria Math" panose="02040503050406030204" pitchFamily="18" charset="0"/>
                            <a:cs typeface="Calibri"/>
                          </a:rPr>
                        </m:ctrlPr>
                      </m:sSubPr>
                      <m:e>
                        <m:r>
                          <a:rPr lang="en-US" sz="2400" b="1" i="1" smtClean="0">
                            <a:solidFill>
                              <a:srgbClr val="FF0000"/>
                            </a:solidFill>
                            <a:latin typeface="Cambria Math" panose="02040503050406030204" pitchFamily="18" charset="0"/>
                            <a:cs typeface="Calibri"/>
                          </a:rPr>
                          <m:t>𝒇</m:t>
                        </m:r>
                      </m:e>
                      <m:sub>
                        <m:r>
                          <a:rPr lang="en-US" sz="2400" b="1" i="1" smtClean="0">
                            <a:solidFill>
                              <a:srgbClr val="FF0000"/>
                            </a:solidFill>
                            <a:latin typeface="Cambria Math" panose="02040503050406030204" pitchFamily="18" charset="0"/>
                            <a:cs typeface="Calibri"/>
                          </a:rPr>
                          <m:t>𝒎</m:t>
                        </m:r>
                      </m:sub>
                    </m:sSub>
                    <m:r>
                      <a:rPr lang="en-US" sz="2400" b="1" i="1" smtClean="0">
                        <a:solidFill>
                          <a:srgbClr val="FF0000"/>
                        </a:solidFill>
                        <a:latin typeface="Cambria Math" panose="02040503050406030204" pitchFamily="18" charset="0"/>
                        <a:cs typeface="Calibri"/>
                      </a:rPr>
                      <m:t>𝒕</m:t>
                    </m:r>
                    <m:r>
                      <a:rPr lang="en-US" sz="2400" b="1" i="1" smtClean="0">
                        <a:solidFill>
                          <a:srgbClr val="FF0000"/>
                        </a:solidFill>
                        <a:latin typeface="Cambria Math" panose="02040503050406030204" pitchFamily="18" charset="0"/>
                        <a:cs typeface="Calibri"/>
                      </a:rPr>
                      <m:t>)</m:t>
                    </m:r>
                  </m:oMath>
                </a14:m>
                <a:r>
                  <a:rPr lang="en-US" sz="2400" b="1" i="1" dirty="0">
                    <a:solidFill>
                      <a:srgbClr val="FF0000"/>
                    </a:solidFill>
                    <a:latin typeface="Calibri"/>
                    <a:cs typeface="Calibri"/>
                  </a:rPr>
                  <a:t> </a:t>
                </a:r>
                <a:r>
                  <a:rPr lang="en-US" sz="2400" b="1" dirty="0">
                    <a:solidFill>
                      <a:srgbClr val="FF0000"/>
                    </a:solidFill>
                    <a:latin typeface="Calibri"/>
                    <a:cs typeface="Calibri"/>
                  </a:rPr>
                  <a:t>]</a:t>
                </a:r>
                <a:endParaRPr lang="en-US" sz="2400" b="1" i="1" dirty="0">
                  <a:solidFill>
                    <a:srgbClr val="7030A0"/>
                  </a:solidFill>
                  <a:latin typeface="Calibri"/>
                  <a:cs typeface="Calibri"/>
                </a:endParaRPr>
              </a:p>
            </p:txBody>
          </p:sp>
        </mc:Choice>
        <mc:Fallback xmlns="">
          <p:sp>
            <p:nvSpPr>
              <p:cNvPr id="7" name="object 3">
                <a:extLst>
                  <a:ext uri="{FF2B5EF4-FFF2-40B4-BE49-F238E27FC236}">
                    <a16:creationId xmlns:a16="http://schemas.microsoft.com/office/drawing/2014/main" id="{D225DC5E-3CB1-4AF0-9A4E-04807A92F1C3}"/>
                  </a:ext>
                </a:extLst>
              </p:cNvPr>
              <p:cNvSpPr txBox="1">
                <a:spLocks noRot="1" noChangeAspect="1" noMove="1" noResize="1" noEditPoints="1" noAdjustHandles="1" noChangeArrowheads="1" noChangeShapeType="1" noTextEdit="1"/>
              </p:cNvSpPr>
              <p:nvPr/>
            </p:nvSpPr>
            <p:spPr>
              <a:xfrm>
                <a:off x="228599" y="925653"/>
                <a:ext cx="11811001" cy="5515934"/>
              </a:xfrm>
              <a:prstGeom prst="rect">
                <a:avLst/>
              </a:prstGeom>
              <a:blipFill>
                <a:blip r:embed="rId2"/>
                <a:stretch>
                  <a:fillRect l="-1032" b="-2652"/>
                </a:stretch>
              </a:blipFill>
            </p:spPr>
            <p:txBody>
              <a:bodyPr/>
              <a:lstStyle/>
              <a:p>
                <a:r>
                  <a:rPr lang="en-US">
                    <a:noFill/>
                  </a:rPr>
                  <a:t> </a:t>
                </a:r>
              </a:p>
            </p:txBody>
          </p:sp>
        </mc:Fallback>
      </mc:AlternateContent>
    </p:spTree>
    <p:extLst>
      <p:ext uri="{BB962C8B-B14F-4D97-AF65-F5344CB8AC3E}">
        <p14:creationId xmlns:p14="http://schemas.microsoft.com/office/powerpoint/2010/main" val="4279032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517" y="-14782"/>
            <a:ext cx="11634470" cy="940435"/>
          </a:xfrm>
          <a:prstGeom prst="rect">
            <a:avLst/>
          </a:prstGeom>
        </p:spPr>
        <p:txBody>
          <a:bodyPr vert="horz" wrap="square" lIns="0" tIns="12700" rIns="0" bIns="0" rtlCol="0">
            <a:spAutoFit/>
          </a:bodyPr>
          <a:lstStyle/>
          <a:p>
            <a:pPr marL="12700">
              <a:lnSpc>
                <a:spcPct val="100000"/>
              </a:lnSpc>
              <a:spcBef>
                <a:spcPts val="100"/>
              </a:spcBef>
            </a:pPr>
            <a:r>
              <a:rPr lang="en-US" sz="6000" spc="-355" dirty="0">
                <a:solidFill>
                  <a:srgbClr val="006600"/>
                </a:solidFill>
                <a:latin typeface="Trebuchet MS"/>
                <a:cs typeface="Trebuchet MS"/>
              </a:rPr>
              <a:t>Single </a:t>
            </a:r>
            <a:r>
              <a:rPr sz="6000" spc="-355" dirty="0">
                <a:solidFill>
                  <a:srgbClr val="006600"/>
                </a:solidFill>
                <a:latin typeface="Trebuchet MS"/>
                <a:cs typeface="Trebuchet MS"/>
              </a:rPr>
              <a:t>Tone</a:t>
            </a:r>
            <a:r>
              <a:rPr sz="6000" spc="-270" dirty="0">
                <a:solidFill>
                  <a:srgbClr val="006600"/>
                </a:solidFill>
                <a:latin typeface="Trebuchet MS"/>
                <a:cs typeface="Trebuchet MS"/>
              </a:rPr>
              <a:t> </a:t>
            </a:r>
            <a:r>
              <a:rPr sz="6000" spc="-240" dirty="0">
                <a:solidFill>
                  <a:srgbClr val="006600"/>
                </a:solidFill>
                <a:latin typeface="Trebuchet MS"/>
                <a:cs typeface="Trebuchet MS"/>
              </a:rPr>
              <a:t>Frequency</a:t>
            </a:r>
            <a:r>
              <a:rPr sz="6000" spc="-254" dirty="0">
                <a:solidFill>
                  <a:srgbClr val="006600"/>
                </a:solidFill>
                <a:latin typeface="Trebuchet MS"/>
                <a:cs typeface="Trebuchet MS"/>
              </a:rPr>
              <a:t> </a:t>
            </a:r>
            <a:r>
              <a:rPr sz="6000" spc="-10" dirty="0">
                <a:solidFill>
                  <a:srgbClr val="006600"/>
                </a:solidFill>
                <a:latin typeface="Trebuchet MS"/>
                <a:cs typeface="Trebuchet MS"/>
              </a:rPr>
              <a:t>Modulation</a:t>
            </a:r>
            <a:endParaRPr sz="6000" dirty="0">
              <a:latin typeface="Trebuchet MS"/>
              <a:cs typeface="Trebuchet MS"/>
            </a:endParaRPr>
          </a:p>
        </p:txBody>
      </p:sp>
      <p:sp>
        <p:nvSpPr>
          <p:cNvPr id="6" name="Rectangle 5">
            <a:extLst>
              <a:ext uri="{FF2B5EF4-FFF2-40B4-BE49-F238E27FC236}">
                <a16:creationId xmlns:a16="http://schemas.microsoft.com/office/drawing/2014/main" id="{A7F44799-D1FD-4AB9-83F5-B4E5248C247F}"/>
              </a:ext>
            </a:extLst>
          </p:cNvPr>
          <p:cNvSpPr/>
          <p:nvPr/>
        </p:nvSpPr>
        <p:spPr>
          <a:xfrm>
            <a:off x="5867400" y="6496050"/>
            <a:ext cx="247650" cy="1767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object 3">
                <a:extLst>
                  <a:ext uri="{FF2B5EF4-FFF2-40B4-BE49-F238E27FC236}">
                    <a16:creationId xmlns:a16="http://schemas.microsoft.com/office/drawing/2014/main" id="{D225DC5E-3CB1-4AF0-9A4E-04807A92F1C3}"/>
                  </a:ext>
                </a:extLst>
              </p:cNvPr>
              <p:cNvSpPr txBox="1"/>
              <p:nvPr/>
            </p:nvSpPr>
            <p:spPr>
              <a:xfrm>
                <a:off x="228599" y="925653"/>
                <a:ext cx="11682883" cy="5884816"/>
              </a:xfrm>
              <a:prstGeom prst="rect">
                <a:avLst/>
              </a:prstGeom>
            </p:spPr>
            <p:txBody>
              <a:bodyPr vert="horz" wrap="square" lIns="0" tIns="92710" rIns="0" bIns="0" rtlCol="0">
                <a:spAutoFit/>
              </a:bodyPr>
              <a:lstStyle/>
              <a:p>
                <a:pPr marL="405765" indent="-342900" algn="just">
                  <a:lnSpc>
                    <a:spcPct val="100000"/>
                  </a:lnSpc>
                  <a:spcBef>
                    <a:spcPts val="470"/>
                  </a:spcBef>
                  <a:buFont typeface="Wingdings" panose="05000000000000000000" pitchFamily="2" charset="2"/>
                  <a:buChar char="q"/>
                  <a:tabLst>
                    <a:tab pos="520065" algn="l"/>
                  </a:tabLst>
                </a:pPr>
                <a:r>
                  <a:rPr lang="en-US" sz="2400" b="1" dirty="0">
                    <a:solidFill>
                      <a:srgbClr val="6F2F9F"/>
                    </a:solidFill>
                    <a:latin typeface="Calibri"/>
                    <a:cs typeface="Calibri"/>
                  </a:rPr>
                  <a:t>Deviation Ratio</a:t>
                </a:r>
                <a:r>
                  <a:rPr lang="en-US" sz="2400" dirty="0">
                    <a:solidFill>
                      <a:srgbClr val="6F2F9F"/>
                    </a:solidFill>
                    <a:latin typeface="Calibri"/>
                    <a:cs typeface="Calibri"/>
                  </a:rPr>
                  <a:t>: Deviation ratio is the ratio of the </a:t>
                </a:r>
                <a:r>
                  <a:rPr lang="en-US" sz="2400" b="1" dirty="0">
                    <a:solidFill>
                      <a:srgbClr val="6F2F9F"/>
                    </a:solidFill>
                    <a:latin typeface="Calibri"/>
                    <a:cs typeface="Calibri"/>
                  </a:rPr>
                  <a:t>maximum frequency deviation </a:t>
                </a:r>
                <a:r>
                  <a:rPr lang="en-US" sz="2400" dirty="0">
                    <a:solidFill>
                      <a:srgbClr val="6F2F9F"/>
                    </a:solidFill>
                    <a:latin typeface="Calibri"/>
                    <a:cs typeface="Calibri"/>
                  </a:rPr>
                  <a:t>to the </a:t>
                </a:r>
                <a:r>
                  <a:rPr lang="en-US" sz="2400" b="1" dirty="0">
                    <a:solidFill>
                      <a:srgbClr val="6F2F9F"/>
                    </a:solidFill>
                    <a:latin typeface="Calibri"/>
                    <a:cs typeface="Calibri"/>
                  </a:rPr>
                  <a:t>maximum modulating frequency</a:t>
                </a:r>
                <a:r>
                  <a:rPr lang="en-US" sz="2400" dirty="0">
                    <a:solidFill>
                      <a:srgbClr val="6F2F9F"/>
                    </a:solidFill>
                    <a:latin typeface="Calibri"/>
                    <a:cs typeface="Calibri"/>
                  </a:rPr>
                  <a:t>.</a:t>
                </a:r>
              </a:p>
              <a:p>
                <a:pPr marL="62865" algn="just">
                  <a:lnSpc>
                    <a:spcPct val="100000"/>
                  </a:lnSpc>
                  <a:spcBef>
                    <a:spcPts val="470"/>
                  </a:spcBef>
                  <a:tabLst>
                    <a:tab pos="520065" algn="l"/>
                  </a:tabLst>
                </a:pPr>
                <a14:m>
                  <m:oMathPara xmlns:m="http://schemas.openxmlformats.org/officeDocument/2006/math">
                    <m:oMathParaPr>
                      <m:jc m:val="centerGroup"/>
                    </m:oMathParaPr>
                    <m:oMath xmlns:m="http://schemas.openxmlformats.org/officeDocument/2006/math">
                      <m:r>
                        <a:rPr lang="en-US" sz="2400" b="0" i="1" smtClean="0">
                          <a:solidFill>
                            <a:srgbClr val="7030A0"/>
                          </a:solidFill>
                          <a:latin typeface="Cambria Math" panose="02040503050406030204" pitchFamily="18" charset="0"/>
                          <a:cs typeface="Calibri"/>
                        </a:rPr>
                        <m:t>𝐷𝑒𝑣𝑖𝑎𝑡𝑖𝑜𝑛</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𝑅𝑎𝑡𝑖𝑜</m:t>
                      </m:r>
                      <m:r>
                        <a:rPr lang="en-US" sz="2400" b="0" i="1" smtClean="0">
                          <a:solidFill>
                            <a:srgbClr val="7030A0"/>
                          </a:solidFill>
                          <a:latin typeface="Cambria Math" panose="02040503050406030204" pitchFamily="18" charset="0"/>
                          <a:cs typeface="Calibri"/>
                        </a:rPr>
                        <m:t>=</m:t>
                      </m:r>
                      <m:f>
                        <m:fPr>
                          <m:ctrlPr>
                            <a:rPr lang="en-US" sz="2400" b="0" i="1" smtClean="0">
                              <a:solidFill>
                                <a:srgbClr val="7030A0"/>
                              </a:solidFill>
                              <a:latin typeface="Cambria Math" panose="02040503050406030204" pitchFamily="18" charset="0"/>
                              <a:cs typeface="Calibri"/>
                            </a:rPr>
                          </m:ctrlPr>
                        </m:fPr>
                        <m:num>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num>
                        <m:den>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𝑚𝑎𝑥</m:t>
                              </m:r>
                              <m:r>
                                <a:rPr lang="en-US" sz="2400" b="0" i="1" smtClean="0">
                                  <a:solidFill>
                                    <a:srgbClr val="7030A0"/>
                                  </a:solidFill>
                                  <a:latin typeface="Cambria Math" panose="02040503050406030204" pitchFamily="18" charset="0"/>
                                  <a:cs typeface="Calibri"/>
                                </a:rPr>
                                <m:t>)</m:t>
                              </m:r>
                            </m:sub>
                          </m:sSub>
                        </m:den>
                      </m:f>
                    </m:oMath>
                  </m:oMathPara>
                </a14:m>
                <a:endParaRPr lang="en-US" sz="2400" dirty="0">
                  <a:solidFill>
                    <a:srgbClr val="7030A0"/>
                  </a:solidFill>
                  <a:latin typeface="Calibri"/>
                  <a:cs typeface="Calibri"/>
                </a:endParaRPr>
              </a:p>
              <a:p>
                <a:pPr marL="405765" indent="-342900" algn="just">
                  <a:lnSpc>
                    <a:spcPct val="100000"/>
                  </a:lnSpc>
                  <a:spcBef>
                    <a:spcPts val="470"/>
                  </a:spcBef>
                  <a:buFont typeface="Wingdings" panose="05000000000000000000" pitchFamily="2" charset="2"/>
                  <a:buChar char="q"/>
                  <a:tabLst>
                    <a:tab pos="520065" algn="l"/>
                  </a:tabLst>
                </a:pPr>
                <a:r>
                  <a:rPr lang="en-US" sz="2400" dirty="0">
                    <a:solidFill>
                      <a:srgbClr val="7030A0"/>
                    </a:solidFill>
                    <a:latin typeface="Calibri"/>
                    <a:cs typeface="Calibri"/>
                  </a:rPr>
                  <a:t>For single tone FM, </a:t>
                </a:r>
                <a14:m>
                  <m:oMath xmlns:m="http://schemas.openxmlformats.org/officeDocument/2006/math">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𝑚𝑎𝑥</m:t>
                        </m:r>
                        <m:r>
                          <a:rPr lang="en-US" sz="2400" b="0" i="1" smtClean="0">
                            <a:solidFill>
                              <a:srgbClr val="7030A0"/>
                            </a:solidFill>
                            <a:latin typeface="Cambria Math" panose="02040503050406030204" pitchFamily="18" charset="0"/>
                            <a:cs typeface="Calibri"/>
                          </a:rPr>
                          <m:t>)</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𝑆𝑜</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𝐷𝑒𝑣𝑖𝑎𝑡𝑖𝑜𝑛</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𝑅𝑎𝑡𝑖𝑜</m:t>
                    </m:r>
                    <m:r>
                      <a:rPr lang="en-US" sz="2400" b="0" i="1" smtClean="0">
                        <a:solidFill>
                          <a:srgbClr val="7030A0"/>
                        </a:solidFill>
                        <a:latin typeface="Cambria Math" panose="02040503050406030204" pitchFamily="18" charset="0"/>
                        <a:cs typeface="Calibri"/>
                      </a:rPr>
                      <m:t>=</m:t>
                    </m:r>
                    <m:f>
                      <m:fPr>
                        <m:ctrlPr>
                          <a:rPr lang="en-US" sz="2400" b="0" i="1" smtClean="0">
                            <a:solidFill>
                              <a:srgbClr val="7030A0"/>
                            </a:solidFill>
                            <a:latin typeface="Cambria Math" panose="02040503050406030204" pitchFamily="18" charset="0"/>
                            <a:cs typeface="Calibri"/>
                          </a:rPr>
                        </m:ctrlPr>
                      </m:fPr>
                      <m:num>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num>
                      <m:den>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den>
                    </m:f>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𝑚</m:t>
                        </m:r>
                      </m:e>
                      <m:sub>
                        <m:r>
                          <a:rPr lang="en-US" sz="2400" b="0" i="1" smtClean="0">
                            <a:solidFill>
                              <a:srgbClr val="7030A0"/>
                            </a:solidFill>
                            <a:latin typeface="Cambria Math" panose="02040503050406030204" pitchFamily="18" charset="0"/>
                            <a:cs typeface="Calibri"/>
                          </a:rPr>
                          <m:t>𝑓</m:t>
                        </m:r>
                      </m:sub>
                    </m:sSub>
                    <m:r>
                      <a:rPr lang="en-US" sz="2400" b="0" i="1" smtClean="0">
                        <a:solidFill>
                          <a:srgbClr val="7030A0"/>
                        </a:solidFill>
                        <a:latin typeface="Cambria Math" panose="02040503050406030204" pitchFamily="18" charset="0"/>
                        <a:cs typeface="Calibri"/>
                      </a:rPr>
                      <m:t>= </m:t>
                    </m:r>
                  </m:oMath>
                </a14:m>
                <a:r>
                  <a:rPr lang="en-US" sz="2400" b="1" dirty="0">
                    <a:solidFill>
                      <a:srgbClr val="7030A0"/>
                    </a:solidFill>
                    <a:latin typeface="Calibri"/>
                    <a:cs typeface="Calibri"/>
                  </a:rPr>
                  <a:t>Modulation index</a:t>
                </a:r>
              </a:p>
              <a:p>
                <a:pPr marL="405765" indent="-342900" algn="just">
                  <a:lnSpc>
                    <a:spcPct val="100000"/>
                  </a:lnSpc>
                  <a:spcBef>
                    <a:spcPts val="470"/>
                  </a:spcBef>
                  <a:buFont typeface="Wingdings" panose="05000000000000000000" pitchFamily="2" charset="2"/>
                  <a:buChar char="q"/>
                  <a:tabLst>
                    <a:tab pos="520065" algn="l"/>
                  </a:tabLst>
                </a:pPr>
                <a:r>
                  <a:rPr lang="en-US" sz="2400" b="1" dirty="0">
                    <a:solidFill>
                      <a:srgbClr val="7030A0"/>
                    </a:solidFill>
                    <a:latin typeface="Calibri"/>
                    <a:cs typeface="Calibri"/>
                  </a:rPr>
                  <a:t>Maximum Allowed Frequency Deviation (FM), </a:t>
                </a:r>
                <a14:m>
                  <m:oMath xmlns:m="http://schemas.openxmlformats.org/officeDocument/2006/math">
                    <m:r>
                      <m:rPr>
                        <m:sty m:val="p"/>
                      </m:rPr>
                      <a:rPr lang="en-US" sz="2400" b="0" i="0" smtClean="0">
                        <a:solidFill>
                          <a:srgbClr val="7030A0"/>
                        </a:solidFill>
                        <a:latin typeface="Cambria Math" panose="02040503050406030204" pitchFamily="18" charset="0"/>
                        <a:cs typeface="Calibri"/>
                      </a:rPr>
                      <m:t>Δ</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𝑚𝑎𝑥</m:t>
                        </m:r>
                      </m:sub>
                    </m:sSub>
                    <m:r>
                      <a:rPr lang="en-US" sz="2400" b="0" i="1" smtClean="0">
                        <a:solidFill>
                          <a:srgbClr val="7030A0"/>
                        </a:solidFill>
                        <a:latin typeface="Cambria Math" panose="02040503050406030204" pitchFamily="18" charset="0"/>
                        <a:cs typeface="Calibri"/>
                      </a:rPr>
                      <m:t> </m:t>
                    </m:r>
                  </m:oMath>
                </a14:m>
                <a:r>
                  <a:rPr lang="en-US" sz="2400" b="1" dirty="0">
                    <a:solidFill>
                      <a:srgbClr val="7030A0"/>
                    </a:solidFill>
                    <a:latin typeface="Calibri"/>
                    <a:cs typeface="Calibri"/>
                  </a:rPr>
                  <a:t>: </a:t>
                </a:r>
                <a:r>
                  <a:rPr lang="en-US" sz="2400" dirty="0">
                    <a:solidFill>
                      <a:srgbClr val="7030A0"/>
                    </a:solidFill>
                    <a:latin typeface="Calibri"/>
                    <a:cs typeface="Calibri"/>
                  </a:rPr>
                  <a:t>It is the largest frequency deviation allowed by a system or standard, beyond which distortion or interference occurs.</a:t>
                </a:r>
              </a:p>
              <a:p>
                <a:pPr marL="62865" algn="ctr">
                  <a:lnSpc>
                    <a:spcPct val="100000"/>
                  </a:lnSpc>
                  <a:spcBef>
                    <a:spcPts val="470"/>
                  </a:spcBef>
                  <a:tabLst>
                    <a:tab pos="520065" algn="l"/>
                  </a:tabLst>
                </a:pPr>
                <a14:m>
                  <m:oMathPara xmlns:m="http://schemas.openxmlformats.org/officeDocument/2006/math">
                    <m:oMathParaPr>
                      <m:jc m:val="centerGroup"/>
                    </m:oMathParaPr>
                    <m:oMath xmlns:m="http://schemas.openxmlformats.org/officeDocument/2006/math">
                      <m:r>
                        <m:rPr>
                          <m:sty m:val="p"/>
                        </m:rPr>
                        <a:rPr lang="en-US" sz="2400" b="0" i="0" smtClean="0">
                          <a:solidFill>
                            <a:srgbClr val="7030A0"/>
                          </a:solidFill>
                          <a:latin typeface="Cambria Math" panose="02040503050406030204" pitchFamily="18" charset="0"/>
                          <a:cs typeface="Calibri"/>
                        </a:rPr>
                        <m:t>Δ</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𝑚𝑎𝑥</m:t>
                          </m:r>
                        </m:sub>
                      </m:sSub>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𝑚𝑎𝑥𝑖𝑚𝑢𝑚</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𝑝𝑒𝑟𝑚𝑖𝑡𝑡𝑒𝑑</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𝑓𝑟𝑒𝑞𝑢𝑒𝑛𝑐𝑦</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𝑠𝑤𝑖𝑛𝑔</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𝑓𝑟𝑜𝑚</m:t>
                      </m:r>
                      <m:r>
                        <a:rPr lang="en-US" sz="2400" b="0" i="1" smtClean="0">
                          <a:solidFill>
                            <a:srgbClr val="7030A0"/>
                          </a:solidFill>
                          <a:latin typeface="Cambria Math" panose="02040503050406030204" pitchFamily="18" charset="0"/>
                          <a:cs typeface="Calibri"/>
                        </a:rPr>
                        <m:t> </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oMath>
                  </m:oMathPara>
                </a14:m>
                <a:endParaRPr lang="en-US" sz="2400" dirty="0">
                  <a:solidFill>
                    <a:srgbClr val="7030A0"/>
                  </a:solidFill>
                  <a:latin typeface="Calibri"/>
                  <a:cs typeface="Calibri"/>
                </a:endParaRPr>
              </a:p>
              <a:p>
                <a:pPr marL="405765" indent="-342900" algn="l">
                  <a:lnSpc>
                    <a:spcPct val="100000"/>
                  </a:lnSpc>
                  <a:spcBef>
                    <a:spcPts val="470"/>
                  </a:spcBef>
                  <a:buFont typeface="Wingdings" panose="05000000000000000000" pitchFamily="2" charset="2"/>
                  <a:buChar char="q"/>
                  <a:tabLst>
                    <a:tab pos="520065" algn="l"/>
                  </a:tabLst>
                </a:pPr>
                <a:r>
                  <a:rPr lang="en-US" sz="2400" dirty="0">
                    <a:solidFill>
                      <a:srgbClr val="7030A0"/>
                    </a:solidFill>
                    <a:latin typeface="Calibri"/>
                    <a:cs typeface="Calibri"/>
                  </a:rPr>
                  <a:t>For FM Broadcasting (Wideband FM), </a:t>
                </a:r>
                <a14:m>
                  <m:oMath xmlns:m="http://schemas.openxmlformats.org/officeDocument/2006/math">
                    <m:r>
                      <m:rPr>
                        <m:sty m:val="p"/>
                      </m:rPr>
                      <a:rPr lang="en-US" sz="2400" b="0" i="0" smtClean="0">
                        <a:solidFill>
                          <a:srgbClr val="7030A0"/>
                        </a:solidFill>
                        <a:latin typeface="Cambria Math" panose="02040503050406030204" pitchFamily="18" charset="0"/>
                        <a:cs typeface="Calibri"/>
                      </a:rPr>
                      <m:t>Δ</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𝑚𝑎𝑥</m:t>
                        </m:r>
                      </m:sub>
                    </m:sSub>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75</m:t>
                    </m:r>
                    <m:r>
                      <a:rPr lang="en-US" sz="2400" b="0" i="1" smtClean="0">
                        <a:solidFill>
                          <a:srgbClr val="7030A0"/>
                        </a:solidFill>
                        <a:latin typeface="Cambria Math" panose="02040503050406030204" pitchFamily="18" charset="0"/>
                        <a:cs typeface="Calibri"/>
                      </a:rPr>
                      <m:t>𝑘𝐻𝑧</m:t>
                    </m:r>
                  </m:oMath>
                </a14:m>
                <a:endParaRPr lang="en-US" sz="2400" dirty="0">
                  <a:solidFill>
                    <a:srgbClr val="7030A0"/>
                  </a:solidFill>
                  <a:latin typeface="Calibri"/>
                  <a:cs typeface="Calibri"/>
                </a:endParaRPr>
              </a:p>
              <a:p>
                <a:pPr marL="405765" indent="-342900" algn="l">
                  <a:lnSpc>
                    <a:spcPct val="100000"/>
                  </a:lnSpc>
                  <a:spcBef>
                    <a:spcPts val="470"/>
                  </a:spcBef>
                  <a:buFont typeface="Wingdings" panose="05000000000000000000" pitchFamily="2" charset="2"/>
                  <a:buChar char="q"/>
                  <a:tabLst>
                    <a:tab pos="520065" algn="l"/>
                  </a:tabLst>
                </a:pPr>
                <a:r>
                  <a:rPr lang="en-US" sz="2400" dirty="0">
                    <a:solidFill>
                      <a:srgbClr val="7030A0"/>
                    </a:solidFill>
                    <a:latin typeface="Calibri"/>
                    <a:cs typeface="Calibri"/>
                  </a:rPr>
                  <a:t>For Narrowband FM (Communication systems), </a:t>
                </a:r>
                <a14:m>
                  <m:oMath xmlns:m="http://schemas.openxmlformats.org/officeDocument/2006/math">
                    <m:r>
                      <m:rPr>
                        <m:sty m:val="p"/>
                      </m:rPr>
                      <a:rPr lang="en-US" sz="2400" b="0" i="0" smtClean="0">
                        <a:solidFill>
                          <a:srgbClr val="7030A0"/>
                        </a:solidFill>
                        <a:latin typeface="Cambria Math" panose="02040503050406030204" pitchFamily="18" charset="0"/>
                        <a:cs typeface="Calibri"/>
                      </a:rPr>
                      <m:t>Δ</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𝑚𝑎𝑥</m:t>
                        </m:r>
                      </m:sub>
                    </m:sSub>
                    <m:r>
                      <a:rPr lang="en-US" sz="2400" i="1">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5</m:t>
                    </m:r>
                    <m:r>
                      <a:rPr lang="en-US" sz="2400" b="0" i="1" smtClean="0">
                        <a:solidFill>
                          <a:srgbClr val="7030A0"/>
                        </a:solidFill>
                        <a:latin typeface="Cambria Math" panose="02040503050406030204" pitchFamily="18" charset="0"/>
                        <a:cs typeface="Calibri"/>
                      </a:rPr>
                      <m:t>𝑘𝐻𝑧</m:t>
                    </m:r>
                  </m:oMath>
                </a14:m>
                <a:endParaRPr lang="en-US" sz="2400" dirty="0">
                  <a:solidFill>
                    <a:srgbClr val="7030A0"/>
                  </a:solidFill>
                  <a:latin typeface="Calibri"/>
                  <a:cs typeface="Calibri"/>
                </a:endParaRPr>
              </a:p>
              <a:p>
                <a:pPr marL="405765" indent="-342900" algn="l">
                  <a:lnSpc>
                    <a:spcPct val="100000"/>
                  </a:lnSpc>
                  <a:spcBef>
                    <a:spcPts val="470"/>
                  </a:spcBef>
                  <a:buFont typeface="Wingdings" panose="05000000000000000000" pitchFamily="2" charset="2"/>
                  <a:buChar char="q"/>
                  <a:tabLst>
                    <a:tab pos="520065" algn="l"/>
                  </a:tabLst>
                </a:pPr>
                <a:r>
                  <a:rPr lang="en-US" sz="2400" dirty="0">
                    <a:solidFill>
                      <a:srgbClr val="7030A0"/>
                    </a:solidFill>
                    <a:latin typeface="Calibri"/>
                    <a:cs typeface="Calibri"/>
                  </a:rPr>
                  <a:t>% Modulation= </a:t>
                </a:r>
                <a14:m>
                  <m:oMath xmlns:m="http://schemas.openxmlformats.org/officeDocument/2006/math">
                    <m:d>
                      <m:dPr>
                        <m:ctrlPr>
                          <a:rPr lang="en-US" sz="2400" b="0" i="1" smtClean="0">
                            <a:solidFill>
                              <a:srgbClr val="7030A0"/>
                            </a:solidFill>
                            <a:latin typeface="Cambria Math" panose="02040503050406030204" pitchFamily="18" charset="0"/>
                            <a:cs typeface="Calibri"/>
                          </a:rPr>
                        </m:ctrlPr>
                      </m:dPr>
                      <m:e>
                        <m:f>
                          <m:fPr>
                            <m:ctrlPr>
                              <a:rPr lang="en-US" sz="2400" b="0" i="1" smtClean="0">
                                <a:solidFill>
                                  <a:srgbClr val="7030A0"/>
                                </a:solidFill>
                                <a:latin typeface="Cambria Math" panose="02040503050406030204" pitchFamily="18" charset="0"/>
                                <a:cs typeface="Calibri"/>
                              </a:rPr>
                            </m:ctrlPr>
                          </m:fPr>
                          <m:num>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num>
                          <m:den>
                            <m:sSub>
                              <m:sSubPr>
                                <m:ctrlPr>
                                  <a:rPr lang="en-US" sz="2400" b="0" i="1" smtClean="0">
                                    <a:solidFill>
                                      <a:srgbClr val="7030A0"/>
                                    </a:solidFill>
                                    <a:latin typeface="Cambria Math" panose="02040503050406030204" pitchFamily="18" charset="0"/>
                                    <a:cs typeface="Calibri"/>
                                  </a:rPr>
                                </m:ctrlPr>
                              </m:sSubPr>
                              <m:e>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𝑚𝑎𝑥</m:t>
                                </m:r>
                              </m:sub>
                            </m:sSub>
                          </m:den>
                        </m:f>
                      </m:e>
                    </m:d>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100</m:t>
                    </m:r>
                    <m:r>
                      <a:rPr lang="en-US" sz="2400" b="0" i="1" smtClean="0">
                        <a:solidFill>
                          <a:srgbClr val="7030A0"/>
                        </a:solidFill>
                        <a:latin typeface="Cambria Math" panose="02040503050406030204" pitchFamily="18" charset="0"/>
                        <a:cs typeface="Calibri"/>
                      </a:rPr>
                      <m:t>%</m:t>
                    </m:r>
                  </m:oMath>
                </a14:m>
                <a:r>
                  <a:rPr lang="en-US" sz="2400" dirty="0">
                    <a:solidFill>
                      <a:srgbClr val="7030A0"/>
                    </a:solidFill>
                    <a:latin typeface="Calibri"/>
                    <a:cs typeface="Calibri"/>
                  </a:rPr>
                  <a:t> [How much of allowed deviation is being used]</a:t>
                </a:r>
              </a:p>
              <a:p>
                <a:pPr marL="405765" indent="-342900" algn="l">
                  <a:lnSpc>
                    <a:spcPct val="100000"/>
                  </a:lnSpc>
                  <a:spcBef>
                    <a:spcPts val="470"/>
                  </a:spcBef>
                  <a:buFont typeface="Wingdings" panose="05000000000000000000" pitchFamily="2" charset="2"/>
                  <a:buChar char="q"/>
                  <a:tabLst>
                    <a:tab pos="520065" algn="l"/>
                  </a:tabLst>
                </a:pPr>
                <a:r>
                  <a:rPr lang="en-US" sz="2400" dirty="0">
                    <a:solidFill>
                      <a:srgbClr val="7030A0"/>
                    </a:solidFill>
                    <a:latin typeface="Calibri"/>
                    <a:cs typeface="Calibri"/>
                  </a:rPr>
                  <a:t>Carson’s Rule: 98% of the frequency is covered by </a:t>
                </a:r>
                <a14:m>
                  <m:oMath xmlns:m="http://schemas.openxmlformats.org/officeDocument/2006/math">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m:t>
                    </m:r>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𝑚𝑎𝑥</m:t>
                        </m:r>
                        <m:r>
                          <a:rPr lang="en-US" sz="2400" b="0" i="1" smtClean="0">
                            <a:solidFill>
                              <a:srgbClr val="7030A0"/>
                            </a:solidFill>
                            <a:latin typeface="Cambria Math" panose="02040503050406030204" pitchFamily="18" charset="0"/>
                            <a:cs typeface="Calibri"/>
                          </a:rPr>
                          <m:t>)</m:t>
                        </m:r>
                      </m:sub>
                    </m:sSub>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𝐵</m:t>
                    </m:r>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𝑊</m:t>
                    </m:r>
                  </m:oMath>
                </a14:m>
                <a:endParaRPr lang="en-US" sz="2400" dirty="0">
                  <a:solidFill>
                    <a:srgbClr val="7030A0"/>
                  </a:solidFill>
                  <a:latin typeface="Calibri"/>
                  <a:cs typeface="Calibri"/>
                </a:endParaRPr>
              </a:p>
              <a:p>
                <a:pPr marL="405765" indent="-342900" algn="l">
                  <a:lnSpc>
                    <a:spcPct val="100000"/>
                  </a:lnSpc>
                  <a:spcBef>
                    <a:spcPts val="470"/>
                  </a:spcBef>
                  <a:buFont typeface="Wingdings" panose="05000000000000000000" pitchFamily="2" charset="2"/>
                  <a:buChar char="q"/>
                  <a:tabLst>
                    <a:tab pos="520065" algn="l"/>
                  </a:tabLst>
                </a:pPr>
                <a:endParaRPr lang="en-US" sz="2400" dirty="0">
                  <a:solidFill>
                    <a:srgbClr val="7030A0"/>
                  </a:solidFill>
                  <a:latin typeface="Calibri"/>
                  <a:cs typeface="Calibri"/>
                </a:endParaRPr>
              </a:p>
            </p:txBody>
          </p:sp>
        </mc:Choice>
        <mc:Fallback xmlns="">
          <p:sp>
            <p:nvSpPr>
              <p:cNvPr id="7" name="object 3">
                <a:extLst>
                  <a:ext uri="{FF2B5EF4-FFF2-40B4-BE49-F238E27FC236}">
                    <a16:creationId xmlns:a16="http://schemas.microsoft.com/office/drawing/2014/main" id="{D225DC5E-3CB1-4AF0-9A4E-04807A92F1C3}"/>
                  </a:ext>
                </a:extLst>
              </p:cNvPr>
              <p:cNvSpPr txBox="1">
                <a:spLocks noRot="1" noChangeAspect="1" noMove="1" noResize="1" noEditPoints="1" noAdjustHandles="1" noChangeArrowheads="1" noChangeShapeType="1" noTextEdit="1"/>
              </p:cNvSpPr>
              <p:nvPr/>
            </p:nvSpPr>
            <p:spPr>
              <a:xfrm>
                <a:off x="228599" y="925653"/>
                <a:ext cx="11682883" cy="5884816"/>
              </a:xfrm>
              <a:prstGeom prst="rect">
                <a:avLst/>
              </a:prstGeom>
              <a:blipFill>
                <a:blip r:embed="rId2"/>
                <a:stretch>
                  <a:fillRect l="-939" r="-1565"/>
                </a:stretch>
              </a:blipFill>
            </p:spPr>
            <p:txBody>
              <a:bodyPr/>
              <a:lstStyle/>
              <a:p>
                <a:r>
                  <a:rPr lang="en-US">
                    <a:noFill/>
                  </a:rPr>
                  <a:t> </a:t>
                </a:r>
              </a:p>
            </p:txBody>
          </p:sp>
        </mc:Fallback>
      </mc:AlternateContent>
    </p:spTree>
    <p:extLst>
      <p:ext uri="{BB962C8B-B14F-4D97-AF65-F5344CB8AC3E}">
        <p14:creationId xmlns:p14="http://schemas.microsoft.com/office/powerpoint/2010/main" val="2649933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517" y="-14782"/>
            <a:ext cx="11634470" cy="628377"/>
          </a:xfrm>
          <a:prstGeom prst="rect">
            <a:avLst/>
          </a:prstGeom>
        </p:spPr>
        <p:txBody>
          <a:bodyPr vert="horz" wrap="square" lIns="0" tIns="12700" rIns="0" bIns="0" rtlCol="0">
            <a:spAutoFit/>
          </a:bodyPr>
          <a:lstStyle/>
          <a:p>
            <a:pPr marL="12700">
              <a:lnSpc>
                <a:spcPct val="100000"/>
              </a:lnSpc>
              <a:spcBef>
                <a:spcPts val="100"/>
              </a:spcBef>
            </a:pPr>
            <a:r>
              <a:rPr sz="4000" spc="-240" dirty="0">
                <a:solidFill>
                  <a:srgbClr val="006600"/>
                </a:solidFill>
                <a:latin typeface="Trebuchet MS"/>
                <a:cs typeface="Trebuchet MS"/>
              </a:rPr>
              <a:t>Frequency</a:t>
            </a:r>
            <a:r>
              <a:rPr sz="4000" spc="-254" dirty="0">
                <a:solidFill>
                  <a:srgbClr val="006600"/>
                </a:solidFill>
                <a:latin typeface="Trebuchet MS"/>
                <a:cs typeface="Trebuchet MS"/>
              </a:rPr>
              <a:t> </a:t>
            </a:r>
            <a:r>
              <a:rPr lang="en-US" sz="4000" spc="-10" dirty="0">
                <a:solidFill>
                  <a:srgbClr val="006600"/>
                </a:solidFill>
                <a:latin typeface="Trebuchet MS"/>
                <a:cs typeface="Trebuchet MS"/>
              </a:rPr>
              <a:t>Deviation and Phase Deviation</a:t>
            </a:r>
            <a:endParaRPr sz="4000" dirty="0">
              <a:latin typeface="Trebuchet MS"/>
              <a:cs typeface="Trebuchet MS"/>
            </a:endParaRPr>
          </a:p>
        </p:txBody>
      </p:sp>
      <p:sp>
        <p:nvSpPr>
          <p:cNvPr id="6" name="Rectangle 5">
            <a:extLst>
              <a:ext uri="{FF2B5EF4-FFF2-40B4-BE49-F238E27FC236}">
                <a16:creationId xmlns:a16="http://schemas.microsoft.com/office/drawing/2014/main" id="{A7F44799-D1FD-4AB9-83F5-B4E5248C247F}"/>
              </a:ext>
            </a:extLst>
          </p:cNvPr>
          <p:cNvSpPr/>
          <p:nvPr/>
        </p:nvSpPr>
        <p:spPr>
          <a:xfrm>
            <a:off x="5867400" y="6496050"/>
            <a:ext cx="247650" cy="1767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7" name="object 3">
                <a:extLst>
                  <a:ext uri="{FF2B5EF4-FFF2-40B4-BE49-F238E27FC236}">
                    <a16:creationId xmlns:a16="http://schemas.microsoft.com/office/drawing/2014/main" id="{D225DC5E-3CB1-4AF0-9A4E-04807A92F1C3}"/>
                  </a:ext>
                </a:extLst>
              </p:cNvPr>
              <p:cNvSpPr txBox="1"/>
              <p:nvPr/>
            </p:nvSpPr>
            <p:spPr>
              <a:xfrm>
                <a:off x="152400" y="925653"/>
                <a:ext cx="12039600" cy="4852354"/>
              </a:xfrm>
              <a:prstGeom prst="rect">
                <a:avLst/>
              </a:prstGeom>
            </p:spPr>
            <p:txBody>
              <a:bodyPr vert="horz" wrap="square" lIns="0" tIns="92710" rIns="0" bIns="0" rtlCol="0">
                <a:spAutoFit/>
              </a:bodyPr>
              <a:lstStyle/>
              <a:p>
                <a:pPr marL="405765" indent="-342900" algn="just">
                  <a:lnSpc>
                    <a:spcPct val="100000"/>
                  </a:lnSpc>
                  <a:spcBef>
                    <a:spcPts val="470"/>
                  </a:spcBef>
                  <a:buFont typeface="Wingdings" panose="05000000000000000000" pitchFamily="2" charset="2"/>
                  <a:buChar char="q"/>
                  <a:tabLst>
                    <a:tab pos="520065" algn="l"/>
                  </a:tabLst>
                </a:pPr>
                <a:r>
                  <a:rPr lang="en-US" sz="2400" b="1" dirty="0">
                    <a:solidFill>
                      <a:srgbClr val="6F2F9F"/>
                    </a:solidFill>
                    <a:latin typeface="Calibri"/>
                    <a:cs typeface="Calibri"/>
                  </a:rPr>
                  <a:t>Frequency Deviation</a:t>
                </a:r>
                <a:r>
                  <a:rPr lang="en-US" sz="2400" dirty="0">
                    <a:solidFill>
                      <a:srgbClr val="6F2F9F"/>
                    </a:solidFill>
                    <a:latin typeface="Calibri"/>
                    <a:cs typeface="Calibri"/>
                  </a:rPr>
                  <a:t>: </a:t>
                </a:r>
                <a14:m>
                  <m:oMath xmlns:m="http://schemas.openxmlformats.org/officeDocument/2006/math">
                    <m:r>
                      <m:rPr>
                        <m:sty m:val="p"/>
                      </m:rPr>
                      <a:rPr lang="en-US" sz="2400" b="0" i="0" smtClean="0">
                        <a:solidFill>
                          <a:srgbClr val="6F2F9F"/>
                        </a:solidFill>
                        <a:latin typeface="Cambria Math" panose="02040503050406030204" pitchFamily="18" charset="0"/>
                        <a:cs typeface="Calibri"/>
                      </a:rPr>
                      <m:t>Δ</m:t>
                    </m:r>
                    <m:r>
                      <a:rPr lang="en-US" sz="2400" b="0" i="1" smtClean="0">
                        <a:solidFill>
                          <a:srgbClr val="6F2F9F"/>
                        </a:solidFill>
                        <a:latin typeface="Cambria Math" panose="02040503050406030204" pitchFamily="18" charset="0"/>
                        <a:cs typeface="Calibri"/>
                      </a:rPr>
                      <m:t>𝑓</m:t>
                    </m:r>
                    <m:r>
                      <a:rPr lang="en-US" sz="2400" b="0" i="1" smtClean="0">
                        <a:solidFill>
                          <a:srgbClr val="6F2F9F"/>
                        </a:solidFill>
                        <a:latin typeface="Cambria Math" panose="02040503050406030204" pitchFamily="18" charset="0"/>
                        <a:cs typeface="Calibri"/>
                      </a:rPr>
                      <m:t>=</m:t>
                    </m:r>
                    <m:func>
                      <m:funcPr>
                        <m:ctrlPr>
                          <a:rPr lang="en-US" sz="2400" b="0" i="1" smtClean="0">
                            <a:solidFill>
                              <a:srgbClr val="6F2F9F"/>
                            </a:solidFill>
                            <a:latin typeface="Cambria Math" panose="02040503050406030204" pitchFamily="18" charset="0"/>
                            <a:cs typeface="Calibri"/>
                          </a:rPr>
                        </m:ctrlPr>
                      </m:funcPr>
                      <m:fName>
                        <m:r>
                          <m:rPr>
                            <m:sty m:val="p"/>
                          </m:rPr>
                          <a:rPr lang="en-US" sz="2400" b="0" i="0" smtClean="0">
                            <a:solidFill>
                              <a:srgbClr val="6F2F9F"/>
                            </a:solidFill>
                            <a:latin typeface="Cambria Math" panose="02040503050406030204" pitchFamily="18" charset="0"/>
                            <a:cs typeface="Calibri"/>
                          </a:rPr>
                          <m:t>max</m:t>
                        </m:r>
                      </m:fName>
                      <m:e>
                        <m:d>
                          <m:dPr>
                            <m:ctrlPr>
                              <a:rPr lang="en-US" sz="2400" b="0" i="1" smtClean="0">
                                <a:solidFill>
                                  <a:srgbClr val="6F2F9F"/>
                                </a:solidFill>
                                <a:latin typeface="Cambria Math" panose="02040503050406030204" pitchFamily="18" charset="0"/>
                                <a:cs typeface="Calibri"/>
                              </a:rPr>
                            </m:ctrlPr>
                          </m:dPr>
                          <m:e>
                            <m:sSub>
                              <m:sSubPr>
                                <m:ctrlPr>
                                  <a:rPr lang="en-US" sz="2400" b="0" i="1" smtClean="0">
                                    <a:solidFill>
                                      <a:srgbClr val="6F2F9F"/>
                                    </a:solidFill>
                                    <a:latin typeface="Cambria Math" panose="02040503050406030204" pitchFamily="18" charset="0"/>
                                    <a:cs typeface="Calibri"/>
                                  </a:rPr>
                                </m:ctrlPr>
                              </m:sSubPr>
                              <m:e>
                                <m:r>
                                  <a:rPr lang="en-US" sz="2400" b="0" i="1" smtClean="0">
                                    <a:solidFill>
                                      <a:srgbClr val="6F2F9F"/>
                                    </a:solidFill>
                                    <a:latin typeface="Cambria Math" panose="02040503050406030204" pitchFamily="18" charset="0"/>
                                    <a:cs typeface="Calibri"/>
                                  </a:rPr>
                                  <m:t>𝑓</m:t>
                                </m:r>
                              </m:e>
                              <m:sub>
                                <m:r>
                                  <a:rPr lang="en-US" sz="2400" b="0" i="1" smtClean="0">
                                    <a:solidFill>
                                      <a:srgbClr val="6F2F9F"/>
                                    </a:solidFill>
                                    <a:latin typeface="Cambria Math" panose="02040503050406030204" pitchFamily="18" charset="0"/>
                                    <a:cs typeface="Calibri"/>
                                  </a:rPr>
                                  <m:t>𝑖</m:t>
                                </m:r>
                              </m:sub>
                            </m:sSub>
                            <m:d>
                              <m:dPr>
                                <m:ctrlPr>
                                  <a:rPr lang="en-US" sz="2400" b="0" i="1" smtClean="0">
                                    <a:solidFill>
                                      <a:srgbClr val="6F2F9F"/>
                                    </a:solidFill>
                                    <a:latin typeface="Cambria Math" panose="02040503050406030204" pitchFamily="18" charset="0"/>
                                    <a:cs typeface="Calibri"/>
                                  </a:rPr>
                                </m:ctrlPr>
                              </m:dPr>
                              <m:e>
                                <m:r>
                                  <a:rPr lang="en-US" sz="2400" b="0" i="1" smtClean="0">
                                    <a:solidFill>
                                      <a:srgbClr val="6F2F9F"/>
                                    </a:solidFill>
                                    <a:latin typeface="Cambria Math" panose="02040503050406030204" pitchFamily="18" charset="0"/>
                                    <a:cs typeface="Calibri"/>
                                  </a:rPr>
                                  <m:t>𝑡</m:t>
                                </m:r>
                              </m:e>
                            </m:d>
                            <m:r>
                              <a:rPr lang="en-US" sz="2400" b="0" i="1" smtClean="0">
                                <a:solidFill>
                                  <a:srgbClr val="6F2F9F"/>
                                </a:solidFill>
                                <a:latin typeface="Cambria Math" panose="02040503050406030204" pitchFamily="18" charset="0"/>
                                <a:cs typeface="Calibri"/>
                              </a:rPr>
                              <m:t>−</m:t>
                            </m:r>
                            <m:sSub>
                              <m:sSubPr>
                                <m:ctrlPr>
                                  <a:rPr lang="en-US" sz="2400" b="0" i="1" smtClean="0">
                                    <a:solidFill>
                                      <a:srgbClr val="6F2F9F"/>
                                    </a:solidFill>
                                    <a:latin typeface="Cambria Math" panose="02040503050406030204" pitchFamily="18" charset="0"/>
                                    <a:cs typeface="Calibri"/>
                                  </a:rPr>
                                </m:ctrlPr>
                              </m:sSubPr>
                              <m:e>
                                <m:r>
                                  <a:rPr lang="en-US" sz="2400" b="0" i="1" smtClean="0">
                                    <a:solidFill>
                                      <a:srgbClr val="6F2F9F"/>
                                    </a:solidFill>
                                    <a:latin typeface="Cambria Math" panose="02040503050406030204" pitchFamily="18" charset="0"/>
                                    <a:cs typeface="Calibri"/>
                                  </a:rPr>
                                  <m:t>𝑓</m:t>
                                </m:r>
                              </m:e>
                              <m:sub>
                                <m:r>
                                  <a:rPr lang="en-US" sz="2400" b="0" i="1" smtClean="0">
                                    <a:solidFill>
                                      <a:srgbClr val="6F2F9F"/>
                                    </a:solidFill>
                                    <a:latin typeface="Cambria Math" panose="02040503050406030204" pitchFamily="18" charset="0"/>
                                    <a:cs typeface="Calibri"/>
                                  </a:rPr>
                                  <m:t>𝑐</m:t>
                                </m:r>
                              </m:sub>
                            </m:sSub>
                          </m:e>
                        </m:d>
                      </m:e>
                    </m:func>
                    <m:r>
                      <a:rPr lang="en-US" sz="2400" b="0" i="1" smtClean="0">
                        <a:solidFill>
                          <a:srgbClr val="6F2F9F"/>
                        </a:solidFill>
                        <a:latin typeface="Cambria Math" panose="02040503050406030204" pitchFamily="18" charset="0"/>
                        <a:cs typeface="Calibri"/>
                      </a:rPr>
                      <m:t>=</m:t>
                    </m:r>
                    <m:sSub>
                      <m:sSubPr>
                        <m:ctrlPr>
                          <a:rPr lang="en-US" sz="2400" b="0" i="1" smtClean="0">
                            <a:solidFill>
                              <a:srgbClr val="6F2F9F"/>
                            </a:solidFill>
                            <a:latin typeface="Cambria Math" panose="02040503050406030204" pitchFamily="18" charset="0"/>
                            <a:cs typeface="Calibri"/>
                          </a:rPr>
                        </m:ctrlPr>
                      </m:sSubPr>
                      <m:e>
                        <m:r>
                          <a:rPr lang="en-US" sz="2400" b="0" i="1" smtClean="0">
                            <a:solidFill>
                              <a:srgbClr val="6F2F9F"/>
                            </a:solidFill>
                            <a:latin typeface="Cambria Math" panose="02040503050406030204" pitchFamily="18" charset="0"/>
                            <a:cs typeface="Calibri"/>
                          </a:rPr>
                          <m:t>𝑓</m:t>
                        </m:r>
                      </m:e>
                      <m:sub>
                        <m:r>
                          <a:rPr lang="en-US" sz="2400" b="0" i="1" smtClean="0">
                            <a:solidFill>
                              <a:srgbClr val="6F2F9F"/>
                            </a:solidFill>
                            <a:latin typeface="Cambria Math" panose="02040503050406030204" pitchFamily="18" charset="0"/>
                            <a:cs typeface="Calibri"/>
                          </a:rPr>
                          <m:t>𝑖</m:t>
                        </m:r>
                      </m:sub>
                    </m:sSub>
                    <m:sSub>
                      <m:sSubPr>
                        <m:ctrlPr>
                          <a:rPr lang="en-US" sz="2400" b="0" i="1" smtClean="0">
                            <a:solidFill>
                              <a:srgbClr val="6F2F9F"/>
                            </a:solidFill>
                            <a:latin typeface="Cambria Math" panose="02040503050406030204" pitchFamily="18" charset="0"/>
                            <a:cs typeface="Calibri"/>
                          </a:rPr>
                        </m:ctrlPr>
                      </m:sSubPr>
                      <m:e>
                        <m:d>
                          <m:dPr>
                            <m:ctrlPr>
                              <a:rPr lang="en-US" sz="2400" b="0" i="1" smtClean="0">
                                <a:solidFill>
                                  <a:srgbClr val="6F2F9F"/>
                                </a:solidFill>
                                <a:latin typeface="Cambria Math" panose="02040503050406030204" pitchFamily="18" charset="0"/>
                                <a:cs typeface="Calibri"/>
                              </a:rPr>
                            </m:ctrlPr>
                          </m:dPr>
                          <m:e>
                            <m:r>
                              <a:rPr lang="en-US" sz="2400" b="0" i="1" smtClean="0">
                                <a:solidFill>
                                  <a:srgbClr val="6F2F9F"/>
                                </a:solidFill>
                                <a:latin typeface="Cambria Math" panose="02040503050406030204" pitchFamily="18" charset="0"/>
                                <a:cs typeface="Calibri"/>
                              </a:rPr>
                              <m:t>𝑡</m:t>
                            </m:r>
                          </m:e>
                        </m:d>
                      </m:e>
                      <m:sub>
                        <m:r>
                          <a:rPr lang="en-US" sz="2400" b="0" i="1" smtClean="0">
                            <a:solidFill>
                              <a:srgbClr val="6F2F9F"/>
                            </a:solidFill>
                            <a:latin typeface="Cambria Math" panose="02040503050406030204" pitchFamily="18" charset="0"/>
                            <a:cs typeface="Calibri"/>
                          </a:rPr>
                          <m:t>𝑚𝑎𝑥</m:t>
                        </m:r>
                      </m:sub>
                    </m:sSub>
                    <m:r>
                      <a:rPr lang="en-US" sz="2400" b="0" i="1" smtClean="0">
                        <a:solidFill>
                          <a:srgbClr val="6F2F9F"/>
                        </a:solidFill>
                        <a:latin typeface="Cambria Math" panose="02040503050406030204" pitchFamily="18" charset="0"/>
                        <a:cs typeface="Calibri"/>
                      </a:rPr>
                      <m:t>−</m:t>
                    </m:r>
                    <m:sSub>
                      <m:sSubPr>
                        <m:ctrlPr>
                          <a:rPr lang="en-US" sz="2400" b="0" i="1" smtClean="0">
                            <a:solidFill>
                              <a:srgbClr val="6F2F9F"/>
                            </a:solidFill>
                            <a:latin typeface="Cambria Math" panose="02040503050406030204" pitchFamily="18" charset="0"/>
                            <a:cs typeface="Calibri"/>
                          </a:rPr>
                        </m:ctrlPr>
                      </m:sSubPr>
                      <m:e>
                        <m:r>
                          <a:rPr lang="en-US" sz="2400" b="0" i="1" smtClean="0">
                            <a:solidFill>
                              <a:srgbClr val="6F2F9F"/>
                            </a:solidFill>
                            <a:latin typeface="Cambria Math" panose="02040503050406030204" pitchFamily="18" charset="0"/>
                            <a:cs typeface="Calibri"/>
                          </a:rPr>
                          <m:t>𝑓</m:t>
                        </m:r>
                      </m:e>
                      <m:sub>
                        <m:r>
                          <a:rPr lang="en-US" sz="2400" b="0" i="1" smtClean="0">
                            <a:solidFill>
                              <a:srgbClr val="6F2F9F"/>
                            </a:solidFill>
                            <a:latin typeface="Cambria Math" panose="02040503050406030204" pitchFamily="18" charset="0"/>
                            <a:cs typeface="Calibri"/>
                          </a:rPr>
                          <m:t>𝑐</m:t>
                        </m:r>
                      </m:sub>
                    </m:sSub>
                    <m:r>
                      <a:rPr lang="en-US" sz="2400" b="0" i="1" smtClean="0">
                        <a:solidFill>
                          <a:srgbClr val="6F2F9F"/>
                        </a:solidFill>
                        <a:latin typeface="Cambria Math" panose="02040503050406030204" pitchFamily="18" charset="0"/>
                        <a:cs typeface="Calibri"/>
                      </a:rPr>
                      <m:t>……………..(</m:t>
                    </m:r>
                    <m:r>
                      <a:rPr lang="en-US" sz="2400" b="0" i="1" smtClean="0">
                        <a:solidFill>
                          <a:srgbClr val="6F2F9F"/>
                        </a:solidFill>
                        <a:latin typeface="Cambria Math" panose="02040503050406030204" pitchFamily="18" charset="0"/>
                        <a:cs typeface="Calibri"/>
                      </a:rPr>
                      <m:t>𝐸𝑞𝑛</m:t>
                    </m:r>
                    <m:r>
                      <a:rPr lang="en-US" sz="2400" b="0" i="1" smtClean="0">
                        <a:solidFill>
                          <a:srgbClr val="6F2F9F"/>
                        </a:solidFill>
                        <a:latin typeface="Cambria Math" panose="02040503050406030204" pitchFamily="18" charset="0"/>
                        <a:cs typeface="Calibri"/>
                      </a:rPr>
                      <m:t>1</m:t>
                    </m:r>
                    <m:r>
                      <a:rPr lang="en-US" sz="2400" b="0" i="1" smtClean="0">
                        <a:solidFill>
                          <a:srgbClr val="6F2F9F"/>
                        </a:solidFill>
                        <a:latin typeface="Cambria Math" panose="02040503050406030204" pitchFamily="18" charset="0"/>
                        <a:cs typeface="Calibri"/>
                      </a:rPr>
                      <m:t>)</m:t>
                    </m:r>
                  </m:oMath>
                </a14:m>
                <a:endParaRPr lang="en-US" sz="2400" b="0" dirty="0">
                  <a:solidFill>
                    <a:srgbClr val="6F2F9F"/>
                  </a:solidFill>
                  <a:latin typeface="Calibri"/>
                  <a:cs typeface="Calibri"/>
                </a:endParaRPr>
              </a:p>
              <a:p>
                <a:pPr marL="405765" indent="-342900" algn="just">
                  <a:lnSpc>
                    <a:spcPct val="100000"/>
                  </a:lnSpc>
                  <a:spcBef>
                    <a:spcPts val="470"/>
                  </a:spcBef>
                  <a:buFont typeface="Wingdings" panose="05000000000000000000" pitchFamily="2" charset="2"/>
                  <a:buChar char="q"/>
                  <a:tabLst>
                    <a:tab pos="520065" algn="l"/>
                  </a:tabLst>
                </a:pPr>
                <a:r>
                  <a:rPr lang="en-US" sz="2400" b="1" dirty="0">
                    <a:solidFill>
                      <a:srgbClr val="7030A0"/>
                    </a:solidFill>
                    <a:latin typeface="Calibri"/>
                    <a:cs typeface="Calibri"/>
                  </a:rPr>
                  <a:t>Phase Deviation</a:t>
                </a:r>
                <a:r>
                  <a:rPr lang="en-US" sz="2400" dirty="0">
                    <a:solidFill>
                      <a:srgbClr val="7030A0"/>
                    </a:solidFill>
                    <a:latin typeface="Calibri"/>
                    <a:cs typeface="Calibri"/>
                  </a:rPr>
                  <a:t>: </a:t>
                </a:r>
                <a14:m>
                  <m:oMath xmlns:m="http://schemas.openxmlformats.org/officeDocument/2006/math">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𝜃</m:t>
                    </m:r>
                    <m:r>
                      <a:rPr lang="en-US" sz="2400" b="0" i="1" smtClean="0">
                        <a:solidFill>
                          <a:srgbClr val="7030A0"/>
                        </a:solidFill>
                        <a:latin typeface="Cambria Math" panose="02040503050406030204" pitchFamily="18" charset="0"/>
                        <a:cs typeface="Calibri"/>
                      </a:rPr>
                      <m:t>=</m:t>
                    </m:r>
                    <m:func>
                      <m:funcPr>
                        <m:ctrlPr>
                          <a:rPr lang="en-US" sz="2400" b="0" i="1" smtClean="0">
                            <a:solidFill>
                              <a:srgbClr val="7030A0"/>
                            </a:solidFill>
                            <a:latin typeface="Cambria Math" panose="02040503050406030204" pitchFamily="18" charset="0"/>
                            <a:cs typeface="Calibri"/>
                          </a:rPr>
                        </m:ctrlPr>
                      </m:funcPr>
                      <m:fName>
                        <m:r>
                          <m:rPr>
                            <m:sty m:val="p"/>
                          </m:rPr>
                          <a:rPr lang="en-US" sz="2400" b="0" i="0" smtClean="0">
                            <a:solidFill>
                              <a:srgbClr val="7030A0"/>
                            </a:solidFill>
                            <a:latin typeface="Cambria Math" panose="02040503050406030204" pitchFamily="18" charset="0"/>
                            <a:cs typeface="Calibri"/>
                          </a:rPr>
                          <m:t>max</m:t>
                        </m:r>
                      </m:fName>
                      <m:e>
                        <m:d>
                          <m:dPr>
                            <m:ctrlPr>
                              <a:rPr lang="en-US" sz="2400" b="0" i="1" smtClean="0">
                                <a:solidFill>
                                  <a:srgbClr val="7030A0"/>
                                </a:solidFill>
                                <a:latin typeface="Cambria Math" panose="02040503050406030204" pitchFamily="18" charset="0"/>
                                <a:cs typeface="Calibri"/>
                              </a:rPr>
                            </m:ctrlPr>
                          </m:dPr>
                          <m:e>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𝜃</m:t>
                                </m:r>
                              </m:e>
                              <m:sub>
                                <m:r>
                                  <a:rPr lang="en-US" sz="2400" b="0" i="1" smtClean="0">
                                    <a:solidFill>
                                      <a:srgbClr val="7030A0"/>
                                    </a:solidFill>
                                    <a:latin typeface="Cambria Math" panose="02040503050406030204" pitchFamily="18" charset="0"/>
                                    <a:cs typeface="Calibri"/>
                                  </a:rPr>
                                  <m:t>𝑖</m:t>
                                </m:r>
                              </m:sub>
                            </m:sSub>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𝜃</m:t>
                                </m:r>
                              </m:e>
                              <m:sub>
                                <m:r>
                                  <a:rPr lang="en-US" sz="2400" b="0" i="1" smtClean="0">
                                    <a:solidFill>
                                      <a:srgbClr val="7030A0"/>
                                    </a:solidFill>
                                    <a:latin typeface="Cambria Math" panose="02040503050406030204" pitchFamily="18" charset="0"/>
                                    <a:cs typeface="Calibri"/>
                                  </a:rPr>
                                  <m:t>𝑐</m:t>
                                </m:r>
                              </m:sub>
                            </m:sSub>
                          </m:e>
                        </m:d>
                      </m:e>
                    </m:func>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𝜃</m:t>
                        </m:r>
                      </m:e>
                      <m:sub>
                        <m:r>
                          <a:rPr lang="en-US" sz="2400" b="0" i="1" smtClean="0">
                            <a:solidFill>
                              <a:srgbClr val="7030A0"/>
                            </a:solidFill>
                            <a:latin typeface="Cambria Math" panose="02040503050406030204" pitchFamily="18" charset="0"/>
                            <a:cs typeface="Calibri"/>
                          </a:rPr>
                          <m:t>𝑖</m:t>
                        </m:r>
                      </m:sub>
                    </m:sSub>
                    <m:sSub>
                      <m:sSubPr>
                        <m:ctrlPr>
                          <a:rPr lang="en-US" sz="2400" b="0" i="1" smtClean="0">
                            <a:solidFill>
                              <a:srgbClr val="7030A0"/>
                            </a:solidFill>
                            <a:latin typeface="Cambria Math" panose="02040503050406030204" pitchFamily="18" charset="0"/>
                            <a:cs typeface="Calibri"/>
                          </a:rPr>
                        </m:ctrlPr>
                      </m:sSubPr>
                      <m:e>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e>
                      <m:sub>
                        <m:r>
                          <a:rPr lang="en-US" sz="2400" b="0" i="1" smtClean="0">
                            <a:solidFill>
                              <a:srgbClr val="7030A0"/>
                            </a:solidFill>
                            <a:latin typeface="Cambria Math" panose="02040503050406030204" pitchFamily="18" charset="0"/>
                            <a:cs typeface="Calibri"/>
                          </a:rPr>
                          <m:t>𝑚𝑎𝑥</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𝜃</m:t>
                        </m:r>
                      </m:e>
                      <m:sub>
                        <m:r>
                          <a:rPr lang="en-US" sz="2400" b="0" i="1" smtClean="0">
                            <a:solidFill>
                              <a:srgbClr val="7030A0"/>
                            </a:solidFill>
                            <a:latin typeface="Cambria Math" panose="02040503050406030204" pitchFamily="18" charset="0"/>
                            <a:cs typeface="Calibri"/>
                          </a:rPr>
                          <m:t>𝑐</m:t>
                        </m:r>
                      </m:sub>
                    </m:sSub>
                  </m:oMath>
                </a14:m>
                <a:endParaRPr lang="en-US" sz="2400" dirty="0">
                  <a:solidFill>
                    <a:srgbClr val="7030A0"/>
                  </a:solidFill>
                  <a:latin typeface="Calibri"/>
                  <a:cs typeface="Calibri"/>
                </a:endParaRPr>
              </a:p>
              <a:p>
                <a:pPr marL="405765" indent="-342900" algn="just">
                  <a:lnSpc>
                    <a:spcPct val="100000"/>
                  </a:lnSpc>
                  <a:spcBef>
                    <a:spcPts val="470"/>
                  </a:spcBef>
                  <a:buFont typeface="Wingdings" panose="05000000000000000000" pitchFamily="2" charset="2"/>
                  <a:buChar char="q"/>
                  <a:tabLst>
                    <a:tab pos="520065" algn="l"/>
                  </a:tabLst>
                </a:pPr>
                <a:endParaRPr lang="en-US" sz="2400" dirty="0">
                  <a:solidFill>
                    <a:srgbClr val="7030A0"/>
                  </a:solidFill>
                  <a:latin typeface="Calibri"/>
                  <a:cs typeface="Calibri"/>
                </a:endParaRPr>
              </a:p>
              <a:p>
                <a:pPr marL="405765" indent="-342900" algn="just">
                  <a:lnSpc>
                    <a:spcPct val="100000"/>
                  </a:lnSpc>
                  <a:spcBef>
                    <a:spcPts val="470"/>
                  </a:spcBef>
                  <a:buFont typeface="Wingdings" panose="05000000000000000000" pitchFamily="2" charset="2"/>
                  <a:buChar char="q"/>
                  <a:tabLst>
                    <a:tab pos="520065" algn="l"/>
                  </a:tabLst>
                </a:pPr>
                <a:r>
                  <a:rPr lang="en-US" sz="2400" dirty="0">
                    <a:solidFill>
                      <a:srgbClr val="7030A0"/>
                    </a:solidFill>
                    <a:latin typeface="Calibri"/>
                    <a:cs typeface="Calibri"/>
                  </a:rPr>
                  <a:t>For single tone FM, why </a:t>
                </a:r>
                <a14:m>
                  <m:oMath xmlns:m="http://schemas.openxmlformats.org/officeDocument/2006/math">
                    <m:r>
                      <m:rPr>
                        <m:sty m:val="p"/>
                      </m:rPr>
                      <a:rPr lang="en-US" sz="2400" b="0" i="0" smtClean="0">
                        <a:solidFill>
                          <a:srgbClr val="7030A0"/>
                        </a:solidFill>
                        <a:latin typeface="Cambria Math" panose="02040503050406030204" pitchFamily="18" charset="0"/>
                        <a:cs typeface="Calibri"/>
                      </a:rPr>
                      <m:t>Δ</m:t>
                    </m:r>
                    <m:r>
                      <a:rPr lang="en-US" sz="2400" b="0" i="1" smtClean="0">
                        <a:solidFill>
                          <a:srgbClr val="7030A0"/>
                        </a:solidFill>
                        <a:latin typeface="Cambria Math" panose="02040503050406030204" pitchFamily="18" charset="0"/>
                        <a:cs typeface="Calibri"/>
                      </a:rPr>
                      <m:t>𝑓</m:t>
                    </m:r>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𝑉</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m:t>
                    </m:r>
                    <m:d>
                      <m:dPr>
                        <m:begChr m:val="["/>
                        <m:endChr m:val="]"/>
                        <m:ctrlPr>
                          <a:rPr lang="en-US" b="0" i="1" smtClean="0">
                            <a:solidFill>
                              <a:srgbClr val="7030A0"/>
                            </a:solidFill>
                            <a:latin typeface="Cambria Math" panose="02040503050406030204" pitchFamily="18" charset="0"/>
                            <a:cs typeface="Calibri"/>
                          </a:rPr>
                        </m:ctrlPr>
                      </m:dPr>
                      <m:e>
                        <m:sSub>
                          <m:sSubPr>
                            <m:ctrlPr>
                              <a:rPr lang="en-US" b="0" i="1" smtClean="0">
                                <a:solidFill>
                                  <a:srgbClr val="7030A0"/>
                                </a:solidFill>
                                <a:latin typeface="Cambria Math" panose="02040503050406030204" pitchFamily="18" charset="0"/>
                                <a:cs typeface="Calibri"/>
                              </a:rPr>
                            </m:ctrlPr>
                          </m:sSubPr>
                          <m:e>
                            <m:r>
                              <a:rPr lang="en-US" b="0" i="1" smtClean="0">
                                <a:solidFill>
                                  <a:srgbClr val="7030A0"/>
                                </a:solidFill>
                                <a:latin typeface="Cambria Math" panose="02040503050406030204" pitchFamily="18" charset="0"/>
                                <a:cs typeface="Calibri"/>
                              </a:rPr>
                              <m:t>𝑘</m:t>
                            </m:r>
                          </m:e>
                          <m:sub>
                            <m:r>
                              <a:rPr lang="en-US" b="0" i="1" smtClean="0">
                                <a:solidFill>
                                  <a:srgbClr val="7030A0"/>
                                </a:solidFill>
                                <a:latin typeface="Cambria Math" panose="02040503050406030204" pitchFamily="18" charset="0"/>
                                <a:cs typeface="Calibri"/>
                              </a:rPr>
                              <m:t>𝑓</m:t>
                            </m:r>
                          </m:sub>
                        </m:sSub>
                        <m:r>
                          <a:rPr lang="en-US" b="0" i="1" smtClean="0">
                            <a:solidFill>
                              <a:srgbClr val="7030A0"/>
                            </a:solidFill>
                            <a:latin typeface="Cambria Math" panose="02040503050406030204" pitchFamily="18" charset="0"/>
                            <a:cs typeface="Calibri"/>
                          </a:rPr>
                          <m:t>=</m:t>
                        </m:r>
                        <m:r>
                          <a:rPr lang="en-US" b="0" i="1" smtClean="0">
                            <a:solidFill>
                              <a:srgbClr val="7030A0"/>
                            </a:solidFill>
                            <a:latin typeface="Cambria Math" panose="02040503050406030204" pitchFamily="18" charset="0"/>
                            <a:cs typeface="Calibri"/>
                          </a:rPr>
                          <m:t>𝑓𝑟𝑒𝑞𝑢𝑒𝑛𝑐𝑦</m:t>
                        </m:r>
                        <m:r>
                          <a:rPr lang="en-US" b="0" i="1" smtClean="0">
                            <a:solidFill>
                              <a:srgbClr val="7030A0"/>
                            </a:solidFill>
                            <a:latin typeface="Cambria Math" panose="02040503050406030204" pitchFamily="18" charset="0"/>
                            <a:cs typeface="Calibri"/>
                          </a:rPr>
                          <m:t> </m:t>
                        </m:r>
                        <m:r>
                          <a:rPr lang="en-US" b="0" i="1" smtClean="0">
                            <a:solidFill>
                              <a:srgbClr val="7030A0"/>
                            </a:solidFill>
                            <a:latin typeface="Cambria Math" panose="02040503050406030204" pitchFamily="18" charset="0"/>
                            <a:cs typeface="Calibri"/>
                          </a:rPr>
                          <m:t>𝑠𝑒𝑛𝑠𝑖𝑡𝑖𝑣𝑖𝑡𝑦</m:t>
                        </m:r>
                        <m:r>
                          <a:rPr lang="en-US" b="0" i="1" smtClean="0">
                            <a:solidFill>
                              <a:srgbClr val="7030A0"/>
                            </a:solidFill>
                            <a:latin typeface="Cambria Math" panose="02040503050406030204" pitchFamily="18" charset="0"/>
                            <a:cs typeface="Calibri"/>
                          </a:rPr>
                          <m:t>,</m:t>
                        </m:r>
                        <m:sSub>
                          <m:sSubPr>
                            <m:ctrlPr>
                              <a:rPr lang="en-US" b="0" i="1" smtClean="0">
                                <a:solidFill>
                                  <a:srgbClr val="7030A0"/>
                                </a:solidFill>
                                <a:latin typeface="Cambria Math" panose="02040503050406030204" pitchFamily="18" charset="0"/>
                                <a:cs typeface="Calibri"/>
                              </a:rPr>
                            </m:ctrlPr>
                          </m:sSubPr>
                          <m:e>
                            <m:r>
                              <a:rPr lang="en-US" b="0" i="1" smtClean="0">
                                <a:solidFill>
                                  <a:srgbClr val="7030A0"/>
                                </a:solidFill>
                                <a:latin typeface="Cambria Math" panose="02040503050406030204" pitchFamily="18" charset="0"/>
                                <a:cs typeface="Calibri"/>
                              </a:rPr>
                              <m:t>𝑉</m:t>
                            </m:r>
                          </m:e>
                          <m:sub>
                            <m:r>
                              <a:rPr lang="en-US" b="0" i="1" smtClean="0">
                                <a:solidFill>
                                  <a:srgbClr val="7030A0"/>
                                </a:solidFill>
                                <a:latin typeface="Cambria Math" panose="02040503050406030204" pitchFamily="18" charset="0"/>
                                <a:cs typeface="Calibri"/>
                              </a:rPr>
                              <m:t>𝑚</m:t>
                            </m:r>
                          </m:sub>
                        </m:sSub>
                        <m:r>
                          <a:rPr lang="en-US" b="0" i="1" smtClean="0">
                            <a:solidFill>
                              <a:srgbClr val="7030A0"/>
                            </a:solidFill>
                            <a:latin typeface="Cambria Math" panose="02040503050406030204" pitchFamily="18" charset="0"/>
                            <a:cs typeface="Calibri"/>
                          </a:rPr>
                          <m:t>=</m:t>
                        </m:r>
                        <m:r>
                          <a:rPr lang="en-US" b="0" i="1" smtClean="0">
                            <a:solidFill>
                              <a:srgbClr val="7030A0"/>
                            </a:solidFill>
                            <a:latin typeface="Cambria Math" panose="02040503050406030204" pitchFamily="18" charset="0"/>
                            <a:cs typeface="Calibri"/>
                          </a:rPr>
                          <m:t>𝐴𝑚𝑝𝑙𝑖𝑡𝑢𝑑𝑒</m:t>
                        </m:r>
                        <m:r>
                          <a:rPr lang="en-US" b="0" i="1" smtClean="0">
                            <a:solidFill>
                              <a:srgbClr val="7030A0"/>
                            </a:solidFill>
                            <a:latin typeface="Cambria Math" panose="02040503050406030204" pitchFamily="18" charset="0"/>
                            <a:cs typeface="Calibri"/>
                          </a:rPr>
                          <m:t> </m:t>
                        </m:r>
                        <m:r>
                          <a:rPr lang="en-US" b="0" i="1" smtClean="0">
                            <a:solidFill>
                              <a:srgbClr val="7030A0"/>
                            </a:solidFill>
                            <a:latin typeface="Cambria Math" panose="02040503050406030204" pitchFamily="18" charset="0"/>
                            <a:cs typeface="Calibri"/>
                          </a:rPr>
                          <m:t>𝑜𝑓</m:t>
                        </m:r>
                        <m:r>
                          <a:rPr lang="en-US" b="0" i="1" smtClean="0">
                            <a:solidFill>
                              <a:srgbClr val="7030A0"/>
                            </a:solidFill>
                            <a:latin typeface="Cambria Math" panose="02040503050406030204" pitchFamily="18" charset="0"/>
                            <a:cs typeface="Calibri"/>
                          </a:rPr>
                          <m:t> </m:t>
                        </m:r>
                        <m:r>
                          <a:rPr lang="en-US" b="0" i="1" smtClean="0">
                            <a:solidFill>
                              <a:srgbClr val="7030A0"/>
                            </a:solidFill>
                            <a:latin typeface="Cambria Math" panose="02040503050406030204" pitchFamily="18" charset="0"/>
                            <a:cs typeface="Calibri"/>
                          </a:rPr>
                          <m:t>𝑚</m:t>
                        </m:r>
                        <m:d>
                          <m:dPr>
                            <m:ctrlPr>
                              <a:rPr lang="en-US" b="0" i="1" smtClean="0">
                                <a:solidFill>
                                  <a:srgbClr val="7030A0"/>
                                </a:solidFill>
                                <a:latin typeface="Cambria Math" panose="02040503050406030204" pitchFamily="18" charset="0"/>
                                <a:cs typeface="Calibri"/>
                              </a:rPr>
                            </m:ctrlPr>
                          </m:dPr>
                          <m:e>
                            <m:r>
                              <a:rPr lang="en-US" b="0" i="1" smtClean="0">
                                <a:solidFill>
                                  <a:srgbClr val="7030A0"/>
                                </a:solidFill>
                                <a:latin typeface="Cambria Math" panose="02040503050406030204" pitchFamily="18" charset="0"/>
                                <a:cs typeface="Calibri"/>
                              </a:rPr>
                              <m:t>𝑡</m:t>
                            </m:r>
                          </m:e>
                        </m:d>
                      </m:e>
                    </m:d>
                  </m:oMath>
                </a14:m>
                <a:endParaRPr lang="en-US" b="0" dirty="0">
                  <a:solidFill>
                    <a:srgbClr val="7030A0"/>
                  </a:solidFill>
                  <a:latin typeface="Calibri"/>
                  <a:cs typeface="Calibri"/>
                </a:endParaRPr>
              </a:p>
              <a:p>
                <a:pPr marL="62865" algn="just">
                  <a:lnSpc>
                    <a:spcPct val="100000"/>
                  </a:lnSpc>
                  <a:spcBef>
                    <a:spcPts val="470"/>
                  </a:spcBef>
                  <a:tabLst>
                    <a:tab pos="520065" algn="l"/>
                  </a:tabLst>
                </a:pPr>
                <a:r>
                  <a:rPr lang="en-US" sz="2400" dirty="0">
                    <a:solidFill>
                      <a:srgbClr val="7030A0"/>
                    </a:solidFill>
                    <a:latin typeface="Calibri"/>
                    <a:cs typeface="Calibri"/>
                  </a:rPr>
                  <a:t>We know, </a:t>
                </a:r>
                <a:r>
                  <a:rPr lang="en-US" sz="2400" dirty="0">
                    <a:solidFill>
                      <a:srgbClr val="6F2F9F"/>
                    </a:solidFill>
                    <a:latin typeface="Calibri"/>
                    <a:cs typeface="Calibri"/>
                  </a:rPr>
                  <a:t>Instantaneous Frequency of FM Signal:</a:t>
                </a:r>
              </a:p>
              <a:p>
                <a:pPr marL="62865">
                  <a:lnSpc>
                    <a:spcPct val="100000"/>
                  </a:lnSpc>
                  <a:spcBef>
                    <a:spcPts val="470"/>
                  </a:spcBef>
                  <a:tabLst>
                    <a:tab pos="520065" algn="l"/>
                  </a:tabLst>
                </a:pPr>
                <a:r>
                  <a:rPr lang="en-US" sz="2400" dirty="0">
                    <a:latin typeface="Calibri"/>
                    <a:cs typeface="Calibri"/>
                  </a:rPr>
                  <a:t>	</a:t>
                </a:r>
                <a14:m>
                  <m:oMath xmlns:m="http://schemas.openxmlformats.org/officeDocument/2006/math">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𝑖</m:t>
                        </m:r>
                      </m:sub>
                    </m:sSub>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r>
                      <a:rPr lang="en-US" sz="2400" b="0" i="1" smtClean="0">
                        <a:solidFill>
                          <a:srgbClr val="7030A0"/>
                        </a:solidFill>
                        <a:latin typeface="Cambria Math" panose="02040503050406030204" pitchFamily="18" charset="0"/>
                        <a:cs typeface="Calibri"/>
                      </a:rPr>
                      <m:t>𝑚</m:t>
                    </m:r>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𝑡</m:t>
                    </m:r>
                    <m:r>
                      <a:rPr lang="en-US" sz="2400" b="0" i="1" smtClean="0">
                        <a:solidFill>
                          <a:srgbClr val="7030A0"/>
                        </a:solidFill>
                        <a:latin typeface="Cambria Math" panose="02040503050406030204" pitchFamily="18" charset="0"/>
                        <a:cs typeface="Calibri"/>
                      </a:rPr>
                      <m:t>)</m:t>
                    </m:r>
                  </m:oMath>
                </a14:m>
                <a:endParaRPr lang="en-US" sz="2400" dirty="0">
                  <a:solidFill>
                    <a:srgbClr val="7030A0"/>
                  </a:solidFill>
                  <a:latin typeface="Calibri"/>
                  <a:cs typeface="Calibri"/>
                </a:endParaRPr>
              </a:p>
              <a:p>
                <a:pPr marL="62865">
                  <a:lnSpc>
                    <a:spcPct val="100000"/>
                  </a:lnSpc>
                  <a:spcBef>
                    <a:spcPts val="470"/>
                  </a:spcBef>
                  <a:tabLst>
                    <a:tab pos="520065" algn="l"/>
                  </a:tabLst>
                </a:pPr>
                <a14:m>
                  <m:oMathPara xmlns:m="http://schemas.openxmlformats.org/officeDocument/2006/math">
                    <m:oMathParaPr>
                      <m:jc m:val="left"/>
                    </m:oMathParaPr>
                    <m:oMath xmlns:m="http://schemas.openxmlformats.org/officeDocument/2006/math">
                      <m:r>
                        <a:rPr lang="en-US" sz="2400" b="0" i="1" smtClean="0">
                          <a:solidFill>
                            <a:srgbClr val="7030A0"/>
                          </a:solidFill>
                          <a:latin typeface="Cambria Math" panose="02040503050406030204" pitchFamily="18" charset="0"/>
                          <a:cs typeface="Calibri"/>
                        </a:rPr>
                        <m:t> ⇒</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𝑖</m:t>
                          </m:r>
                        </m:sub>
                      </m:sSub>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𝑉</m:t>
                          </m:r>
                        </m:e>
                        <m:sub>
                          <m:r>
                            <a:rPr lang="en-US" sz="2400" b="0" i="1" smtClean="0">
                              <a:solidFill>
                                <a:srgbClr val="7030A0"/>
                              </a:solidFill>
                              <a:latin typeface="Cambria Math" panose="02040503050406030204" pitchFamily="18" charset="0"/>
                              <a:cs typeface="Calibri"/>
                            </a:rPr>
                            <m:t>𝑚</m:t>
                          </m:r>
                        </m:sub>
                      </m:sSub>
                      <m:func>
                        <m:funcPr>
                          <m:ctrlPr>
                            <a:rPr lang="en-US" sz="2400" b="0" i="1" smtClean="0">
                              <a:solidFill>
                                <a:srgbClr val="7030A0"/>
                              </a:solidFill>
                              <a:latin typeface="Cambria Math" panose="02040503050406030204" pitchFamily="18" charset="0"/>
                              <a:cs typeface="Calibri"/>
                            </a:rPr>
                          </m:ctrlPr>
                        </m:funcPr>
                        <m:fName>
                          <m:r>
                            <m:rPr>
                              <m:sty m:val="p"/>
                            </m:rPr>
                            <a:rPr lang="en-US" sz="2400" b="0" i="0" smtClean="0">
                              <a:solidFill>
                                <a:srgbClr val="7030A0"/>
                              </a:solidFill>
                              <a:latin typeface="Cambria Math" panose="02040503050406030204" pitchFamily="18" charset="0"/>
                              <a:cs typeface="Calibri"/>
                            </a:rPr>
                            <m:t>cos</m:t>
                          </m:r>
                        </m:fName>
                        <m:e>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𝑡</m:t>
                              </m:r>
                            </m:e>
                          </m:d>
                        </m:e>
                      </m:func>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𝑚</m:t>
                      </m:r>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𝑉</m:t>
                          </m:r>
                        </m:e>
                        <m:sub>
                          <m:r>
                            <a:rPr lang="en-US" sz="2400" b="0" i="1" smtClean="0">
                              <a:solidFill>
                                <a:srgbClr val="7030A0"/>
                              </a:solidFill>
                              <a:latin typeface="Cambria Math" panose="02040503050406030204" pitchFamily="18" charset="0"/>
                              <a:cs typeface="Calibri"/>
                            </a:rPr>
                            <m:t>𝑚</m:t>
                          </m:r>
                        </m:sub>
                      </m:sSub>
                      <m:func>
                        <m:funcPr>
                          <m:ctrlPr>
                            <a:rPr lang="en-US" sz="2400" b="0" i="1" smtClean="0">
                              <a:solidFill>
                                <a:srgbClr val="7030A0"/>
                              </a:solidFill>
                              <a:latin typeface="Cambria Math" panose="02040503050406030204" pitchFamily="18" charset="0"/>
                              <a:cs typeface="Calibri"/>
                            </a:rPr>
                          </m:ctrlPr>
                        </m:funcPr>
                        <m:fName>
                          <m:r>
                            <m:rPr>
                              <m:sty m:val="p"/>
                            </m:rPr>
                            <a:rPr lang="en-US" sz="2400" b="0" i="0" smtClean="0">
                              <a:solidFill>
                                <a:srgbClr val="7030A0"/>
                              </a:solidFill>
                              <a:latin typeface="Cambria Math" panose="02040503050406030204" pitchFamily="18" charset="0"/>
                              <a:cs typeface="Calibri"/>
                            </a:rPr>
                            <m:t>cos</m:t>
                          </m:r>
                        </m:fName>
                        <m:e>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𝑡</m:t>
                              </m:r>
                            </m:e>
                          </m:d>
                        </m:e>
                      </m:func>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𝑠𝑖𝑛𝑔𝑙𝑒</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𝑡𝑜𝑛𝑒</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𝑚𝑜𝑑𝑢𝑙𝑎𝑡𝑖𝑛𝑔</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𝑠𝑖𝑔𝑛𝑎𝑙</m:t>
                      </m:r>
                      <m:r>
                        <a:rPr lang="en-US" sz="2400" b="0" i="1" smtClean="0">
                          <a:solidFill>
                            <a:srgbClr val="7030A0"/>
                          </a:solidFill>
                          <a:latin typeface="Cambria Math" panose="02040503050406030204" pitchFamily="18" charset="0"/>
                          <a:cs typeface="Calibri"/>
                        </a:rPr>
                        <m:t>]</m:t>
                      </m:r>
                    </m:oMath>
                  </m:oMathPara>
                </a14:m>
                <a:endParaRPr lang="en-US" sz="2400" dirty="0">
                  <a:solidFill>
                    <a:srgbClr val="7030A0"/>
                  </a:solidFill>
                  <a:latin typeface="Calibri"/>
                  <a:cs typeface="Calibri"/>
                </a:endParaRPr>
              </a:p>
              <a:p>
                <a:pPr marL="62865">
                  <a:lnSpc>
                    <a:spcPct val="100000"/>
                  </a:lnSpc>
                  <a:spcBef>
                    <a:spcPts val="470"/>
                  </a:spcBef>
                  <a:tabLst>
                    <a:tab pos="520065" algn="l"/>
                  </a:tabLst>
                </a:pPr>
                <a:r>
                  <a:rPr lang="en-US" sz="2400" dirty="0">
                    <a:solidFill>
                      <a:srgbClr val="7030A0"/>
                    </a:solidFill>
                    <a:latin typeface="Calibri"/>
                    <a:cs typeface="Calibri"/>
                  </a:rPr>
                  <a:t>If </a:t>
                </a:r>
                <a14:m>
                  <m:oMath xmlns:m="http://schemas.openxmlformats.org/officeDocument/2006/math">
                    <m:func>
                      <m:funcPr>
                        <m:ctrlPr>
                          <a:rPr lang="en-US" sz="2400" b="0" i="1" smtClean="0">
                            <a:solidFill>
                              <a:srgbClr val="7030A0"/>
                            </a:solidFill>
                            <a:latin typeface="Cambria Math" panose="02040503050406030204" pitchFamily="18" charset="0"/>
                            <a:cs typeface="Calibri"/>
                          </a:rPr>
                        </m:ctrlPr>
                      </m:funcPr>
                      <m:fName>
                        <m:r>
                          <m:rPr>
                            <m:sty m:val="p"/>
                          </m:rPr>
                          <a:rPr lang="en-US" sz="2400" b="0" i="0" smtClean="0">
                            <a:solidFill>
                              <a:srgbClr val="7030A0"/>
                            </a:solidFill>
                            <a:latin typeface="Cambria Math" panose="02040503050406030204" pitchFamily="18" charset="0"/>
                            <a:cs typeface="Calibri"/>
                          </a:rPr>
                          <m:t>cos</m:t>
                        </m:r>
                      </m:fName>
                      <m:e>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2</m:t>
                            </m:r>
                            <m:r>
                              <a:rPr lang="en-US" sz="2400" b="0" i="1" smtClean="0">
                                <a:solidFill>
                                  <a:srgbClr val="7030A0"/>
                                </a:solidFill>
                                <a:latin typeface="Cambria Math" panose="02040503050406030204" pitchFamily="18" charset="0"/>
                                <a:cs typeface="Calibri"/>
                              </a:rPr>
                              <m:t>𝜋</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𝑚</m:t>
                                </m:r>
                              </m:sub>
                            </m:sSub>
                            <m:r>
                              <a:rPr lang="en-US" sz="2400" b="0" i="1" smtClean="0">
                                <a:solidFill>
                                  <a:srgbClr val="7030A0"/>
                                </a:solidFill>
                                <a:latin typeface="Cambria Math" panose="02040503050406030204" pitchFamily="18" charset="0"/>
                                <a:cs typeface="Calibri"/>
                              </a:rPr>
                              <m:t>𝑡</m:t>
                            </m:r>
                          </m:e>
                        </m:d>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1</m:t>
                        </m:r>
                        <m:r>
                          <a:rPr lang="en-US" sz="2400" b="0" i="1" smtClean="0">
                            <a:solidFill>
                              <a:srgbClr val="7030A0"/>
                            </a:solidFill>
                            <a:latin typeface="Cambria Math" panose="02040503050406030204" pitchFamily="18" charset="0"/>
                            <a:cs typeface="Calibri"/>
                          </a:rPr>
                          <m:t>, </m:t>
                        </m:r>
                      </m:e>
                    </m:func>
                  </m:oMath>
                </a14:m>
                <a:r>
                  <a:rPr lang="en-US" sz="2400" dirty="0">
                    <a:solidFill>
                      <a:srgbClr val="7030A0"/>
                    </a:solidFill>
                    <a:latin typeface="Calibri"/>
                    <a:cs typeface="Calibri"/>
                  </a:rPr>
                  <a:t>we get </a:t>
                </a:r>
              </a:p>
              <a:p>
                <a:pPr marL="62865">
                  <a:lnSpc>
                    <a:spcPct val="100000"/>
                  </a:lnSpc>
                  <a:spcBef>
                    <a:spcPts val="470"/>
                  </a:spcBef>
                  <a:tabLst>
                    <a:tab pos="520065" algn="l"/>
                  </a:tabLst>
                </a:pPr>
                <a:r>
                  <a:rPr lang="en-US" sz="2400" b="0" dirty="0">
                    <a:solidFill>
                      <a:srgbClr val="7030A0"/>
                    </a:solidFill>
                    <a:latin typeface="Calibri"/>
                    <a:cs typeface="Calibri"/>
                  </a:rPr>
                  <a:t>	</a:t>
                </a:r>
                <a14:m>
                  <m:oMath xmlns:m="http://schemas.openxmlformats.org/officeDocument/2006/math">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𝑖</m:t>
                        </m:r>
                      </m:sub>
                    </m:sSub>
                    <m:sSub>
                      <m:sSubPr>
                        <m:ctrlPr>
                          <a:rPr lang="en-US" sz="2400" b="0" i="1" smtClean="0">
                            <a:solidFill>
                              <a:srgbClr val="7030A0"/>
                            </a:solidFill>
                            <a:latin typeface="Cambria Math" panose="02040503050406030204" pitchFamily="18" charset="0"/>
                            <a:cs typeface="Calibri"/>
                          </a:rPr>
                        </m:ctrlPr>
                      </m:sSubPr>
                      <m:e>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e>
                      <m:sub>
                        <m:r>
                          <a:rPr lang="en-US" sz="2400" b="0" i="1" smtClean="0">
                            <a:solidFill>
                              <a:srgbClr val="7030A0"/>
                            </a:solidFill>
                            <a:latin typeface="Cambria Math" panose="02040503050406030204" pitchFamily="18" charset="0"/>
                            <a:cs typeface="Calibri"/>
                          </a:rPr>
                          <m:t>𝑚𝑎𝑥</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𝑉</m:t>
                        </m:r>
                      </m:e>
                      <m:sub>
                        <m:r>
                          <a:rPr lang="en-US" sz="2400" b="0" i="1" smtClean="0">
                            <a:solidFill>
                              <a:srgbClr val="7030A0"/>
                            </a:solidFill>
                            <a:latin typeface="Cambria Math" panose="02040503050406030204" pitchFamily="18" charset="0"/>
                            <a:cs typeface="Calibri"/>
                          </a:rPr>
                          <m:t>𝑚</m:t>
                        </m:r>
                      </m:sub>
                    </m:sSub>
                  </m:oMath>
                </a14:m>
                <a:endParaRPr lang="en-US" sz="2400" b="0" dirty="0">
                  <a:solidFill>
                    <a:srgbClr val="7030A0"/>
                  </a:solidFill>
                  <a:latin typeface="Calibri"/>
                  <a:cs typeface="Calibri"/>
                </a:endParaRPr>
              </a:p>
              <a:p>
                <a:pPr marL="62865">
                  <a:lnSpc>
                    <a:spcPct val="100000"/>
                  </a:lnSpc>
                  <a:spcBef>
                    <a:spcPts val="470"/>
                  </a:spcBef>
                  <a:tabLst>
                    <a:tab pos="520065" algn="l"/>
                  </a:tabLst>
                </a:pPr>
                <a14:m>
                  <m:oMathPara xmlns:m="http://schemas.openxmlformats.org/officeDocument/2006/math">
                    <m:oMathParaPr>
                      <m:jc m:val="left"/>
                    </m:oMathParaPr>
                    <m:oMath xmlns:m="http://schemas.openxmlformats.org/officeDocument/2006/math">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𝑖</m:t>
                          </m:r>
                        </m:sub>
                      </m:sSub>
                      <m:sSub>
                        <m:sSubPr>
                          <m:ctrlPr>
                            <a:rPr lang="en-US" sz="2400" b="0" i="1" smtClean="0">
                              <a:solidFill>
                                <a:srgbClr val="7030A0"/>
                              </a:solidFill>
                              <a:latin typeface="Cambria Math" panose="02040503050406030204" pitchFamily="18" charset="0"/>
                              <a:cs typeface="Calibri"/>
                            </a:rPr>
                          </m:ctrlPr>
                        </m:sSubPr>
                        <m:e>
                          <m:d>
                            <m:dPr>
                              <m:ctrlPr>
                                <a:rPr lang="en-US" sz="2400" b="0" i="1" smtClean="0">
                                  <a:solidFill>
                                    <a:srgbClr val="7030A0"/>
                                  </a:solidFill>
                                  <a:latin typeface="Cambria Math" panose="02040503050406030204" pitchFamily="18" charset="0"/>
                                  <a:cs typeface="Calibri"/>
                                </a:rPr>
                              </m:ctrlPr>
                            </m:dPr>
                            <m:e>
                              <m:r>
                                <a:rPr lang="en-US" sz="2400" b="0" i="1" smtClean="0">
                                  <a:solidFill>
                                    <a:srgbClr val="7030A0"/>
                                  </a:solidFill>
                                  <a:latin typeface="Cambria Math" panose="02040503050406030204" pitchFamily="18" charset="0"/>
                                  <a:cs typeface="Calibri"/>
                                </a:rPr>
                                <m:t>𝑡</m:t>
                              </m:r>
                            </m:e>
                          </m:d>
                        </m:e>
                        <m:sub>
                          <m:r>
                            <a:rPr lang="en-US" sz="2400" b="0" i="1" smtClean="0">
                              <a:solidFill>
                                <a:srgbClr val="7030A0"/>
                              </a:solidFill>
                              <a:latin typeface="Cambria Math" panose="02040503050406030204" pitchFamily="18" charset="0"/>
                              <a:cs typeface="Calibri"/>
                            </a:rPr>
                            <m:t>𝑚𝑎𝑥</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𝑓</m:t>
                          </m:r>
                        </m:e>
                        <m:sub>
                          <m:r>
                            <a:rPr lang="en-US" sz="2400" b="0" i="1" smtClean="0">
                              <a:solidFill>
                                <a:srgbClr val="7030A0"/>
                              </a:solidFill>
                              <a:latin typeface="Cambria Math" panose="02040503050406030204" pitchFamily="18" charset="0"/>
                              <a:cs typeface="Calibri"/>
                            </a:rPr>
                            <m:t>𝑐</m:t>
                          </m:r>
                        </m:sub>
                      </m:sSub>
                      <m:r>
                        <a:rPr lang="en-US" sz="2400" b="0" i="1" smtClean="0">
                          <a:solidFill>
                            <a:srgbClr val="7030A0"/>
                          </a:solidFill>
                          <a:latin typeface="Cambria Math" panose="02040503050406030204" pitchFamily="18" charset="0"/>
                          <a:cs typeface="Calibri"/>
                        </a:rPr>
                        <m:t>=</m:t>
                      </m:r>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𝑘</m:t>
                          </m:r>
                        </m:e>
                        <m:sub>
                          <m:r>
                            <a:rPr lang="en-US" sz="2400" b="0" i="1" smtClean="0">
                              <a:solidFill>
                                <a:srgbClr val="7030A0"/>
                              </a:solidFill>
                              <a:latin typeface="Cambria Math" panose="02040503050406030204" pitchFamily="18" charset="0"/>
                              <a:cs typeface="Calibri"/>
                            </a:rPr>
                            <m:t>𝑓</m:t>
                          </m:r>
                        </m:sub>
                      </m:sSub>
                      <m:sSub>
                        <m:sSubPr>
                          <m:ctrlPr>
                            <a:rPr lang="en-US" sz="2400" b="0" i="1" smtClean="0">
                              <a:solidFill>
                                <a:srgbClr val="7030A0"/>
                              </a:solidFill>
                              <a:latin typeface="Cambria Math" panose="02040503050406030204" pitchFamily="18" charset="0"/>
                              <a:cs typeface="Calibri"/>
                            </a:rPr>
                          </m:ctrlPr>
                        </m:sSubPr>
                        <m:e>
                          <m:r>
                            <a:rPr lang="en-US" sz="2400" b="0" i="1" smtClean="0">
                              <a:solidFill>
                                <a:srgbClr val="7030A0"/>
                              </a:solidFill>
                              <a:latin typeface="Cambria Math" panose="02040503050406030204" pitchFamily="18" charset="0"/>
                              <a:cs typeface="Calibri"/>
                            </a:rPr>
                            <m:t>𝑉</m:t>
                          </m:r>
                        </m:e>
                        <m:sub>
                          <m:r>
                            <a:rPr lang="en-US" sz="2400" b="0" i="1" smtClean="0">
                              <a:solidFill>
                                <a:srgbClr val="7030A0"/>
                              </a:solidFill>
                              <a:latin typeface="Cambria Math" panose="02040503050406030204" pitchFamily="18" charset="0"/>
                              <a:cs typeface="Calibri"/>
                            </a:rPr>
                            <m:t>𝑚</m:t>
                          </m:r>
                        </m:sub>
                      </m:sSub>
                    </m:oMath>
                  </m:oMathPara>
                </a14:m>
                <a:endParaRPr lang="en-US" sz="2400" dirty="0">
                  <a:solidFill>
                    <a:srgbClr val="7030A0"/>
                  </a:solidFill>
                  <a:latin typeface="Calibri"/>
                  <a:cs typeface="Calibri"/>
                </a:endParaRPr>
              </a:p>
              <a:p>
                <a:pPr marL="62865">
                  <a:spcBef>
                    <a:spcPts val="470"/>
                  </a:spcBef>
                  <a:tabLst>
                    <a:tab pos="520065" algn="l"/>
                  </a:tabLst>
                </a:pPr>
                <a14:m>
                  <m:oMathPara xmlns:m="http://schemas.openxmlformats.org/officeDocument/2006/math">
                    <m:oMathParaPr>
                      <m:jc m:val="left"/>
                    </m:oMathParaPr>
                    <m:oMath xmlns:m="http://schemas.openxmlformats.org/officeDocument/2006/math">
                      <m:r>
                        <a:rPr lang="en-US" sz="2400" b="0" i="1" smtClean="0">
                          <a:solidFill>
                            <a:srgbClr val="7030A0"/>
                          </a:solidFill>
                          <a:latin typeface="Cambria Math" panose="02040503050406030204" pitchFamily="18" charset="0"/>
                          <a:cs typeface="Calibri"/>
                        </a:rPr>
                        <m:t>⇒</m:t>
                      </m:r>
                      <m:r>
                        <a:rPr lang="en-US" sz="2400" b="1" i="0" smtClean="0">
                          <a:solidFill>
                            <a:srgbClr val="7030A0"/>
                          </a:solidFill>
                          <a:latin typeface="Cambria Math" panose="02040503050406030204" pitchFamily="18" charset="0"/>
                          <a:cs typeface="Calibri"/>
                        </a:rPr>
                        <m:t>𝚫</m:t>
                      </m:r>
                      <m:r>
                        <a:rPr lang="en-US" sz="2400" b="1" i="1" smtClean="0">
                          <a:solidFill>
                            <a:srgbClr val="7030A0"/>
                          </a:solidFill>
                          <a:latin typeface="Cambria Math" panose="02040503050406030204" pitchFamily="18" charset="0"/>
                          <a:cs typeface="Calibri"/>
                        </a:rPr>
                        <m:t>𝒇</m:t>
                      </m:r>
                      <m:r>
                        <a:rPr lang="en-US" sz="2400" b="1" i="1" smtClean="0">
                          <a:solidFill>
                            <a:srgbClr val="7030A0"/>
                          </a:solidFill>
                          <a:latin typeface="Cambria Math" panose="02040503050406030204" pitchFamily="18" charset="0"/>
                          <a:cs typeface="Calibri"/>
                        </a:rPr>
                        <m:t>=</m:t>
                      </m:r>
                      <m:sSub>
                        <m:sSubPr>
                          <m:ctrlPr>
                            <a:rPr lang="en-US" sz="2400" b="1" i="1" smtClean="0">
                              <a:solidFill>
                                <a:srgbClr val="7030A0"/>
                              </a:solidFill>
                              <a:latin typeface="Cambria Math" panose="02040503050406030204" pitchFamily="18" charset="0"/>
                              <a:cs typeface="Calibri"/>
                            </a:rPr>
                          </m:ctrlPr>
                        </m:sSubPr>
                        <m:e>
                          <m:r>
                            <a:rPr lang="en-US" sz="2400" b="1" i="1" smtClean="0">
                              <a:solidFill>
                                <a:srgbClr val="7030A0"/>
                              </a:solidFill>
                              <a:latin typeface="Cambria Math" panose="02040503050406030204" pitchFamily="18" charset="0"/>
                              <a:cs typeface="Calibri"/>
                            </a:rPr>
                            <m:t>𝒌</m:t>
                          </m:r>
                        </m:e>
                        <m:sub>
                          <m:r>
                            <a:rPr lang="en-US" sz="2400" b="1" i="1" smtClean="0">
                              <a:solidFill>
                                <a:srgbClr val="7030A0"/>
                              </a:solidFill>
                              <a:latin typeface="Cambria Math" panose="02040503050406030204" pitchFamily="18" charset="0"/>
                              <a:cs typeface="Calibri"/>
                            </a:rPr>
                            <m:t>𝒇</m:t>
                          </m:r>
                        </m:sub>
                      </m:sSub>
                      <m:sSub>
                        <m:sSubPr>
                          <m:ctrlPr>
                            <a:rPr lang="en-US" sz="2400" b="1" i="1" smtClean="0">
                              <a:solidFill>
                                <a:srgbClr val="7030A0"/>
                              </a:solidFill>
                              <a:latin typeface="Cambria Math" panose="02040503050406030204" pitchFamily="18" charset="0"/>
                              <a:cs typeface="Calibri"/>
                            </a:rPr>
                          </m:ctrlPr>
                        </m:sSubPr>
                        <m:e>
                          <m:r>
                            <a:rPr lang="en-US" sz="2400" b="1" i="1" smtClean="0">
                              <a:solidFill>
                                <a:srgbClr val="7030A0"/>
                              </a:solidFill>
                              <a:latin typeface="Cambria Math" panose="02040503050406030204" pitchFamily="18" charset="0"/>
                              <a:cs typeface="Calibri"/>
                            </a:rPr>
                            <m:t>𝑽</m:t>
                          </m:r>
                        </m:e>
                        <m:sub>
                          <m:r>
                            <a:rPr lang="en-US" sz="2400" b="1" i="1" smtClean="0">
                              <a:solidFill>
                                <a:srgbClr val="7030A0"/>
                              </a:solidFill>
                              <a:latin typeface="Cambria Math" panose="02040503050406030204" pitchFamily="18" charset="0"/>
                              <a:cs typeface="Calibri"/>
                            </a:rPr>
                            <m:t>𝒎</m:t>
                          </m:r>
                        </m:sub>
                      </m:sSub>
                      <m:r>
                        <a:rPr lang="en-US" sz="2400" b="0" i="1" smtClean="0">
                          <a:solidFill>
                            <a:srgbClr val="7030A0"/>
                          </a:solidFill>
                          <a:latin typeface="Cambria Math" panose="02040503050406030204" pitchFamily="18" charset="0"/>
                          <a:cs typeface="Calibri"/>
                        </a:rPr>
                        <m:t>[</m:t>
                      </m:r>
                      <m:r>
                        <a:rPr lang="en-US" sz="2400" b="0" i="1" smtClean="0">
                          <a:solidFill>
                            <a:srgbClr val="7030A0"/>
                          </a:solidFill>
                          <a:latin typeface="Cambria Math" panose="02040503050406030204" pitchFamily="18" charset="0"/>
                          <a:cs typeface="Calibri"/>
                        </a:rPr>
                        <m:t>𝐹𝑟𝑜𝑚</m:t>
                      </m:r>
                      <m:r>
                        <a:rPr lang="en-US" sz="2400" b="0" i="1" smtClean="0">
                          <a:solidFill>
                            <a:srgbClr val="7030A0"/>
                          </a:solidFill>
                          <a:latin typeface="Cambria Math" panose="02040503050406030204" pitchFamily="18" charset="0"/>
                          <a:cs typeface="Calibri"/>
                        </a:rPr>
                        <m:t> </m:t>
                      </m:r>
                      <m:r>
                        <a:rPr lang="en-US" sz="2400" b="0" i="1" smtClean="0">
                          <a:solidFill>
                            <a:srgbClr val="7030A0"/>
                          </a:solidFill>
                          <a:latin typeface="Cambria Math" panose="02040503050406030204" pitchFamily="18" charset="0"/>
                          <a:cs typeface="Calibri"/>
                        </a:rPr>
                        <m:t>𝐸𝑞𝑛</m:t>
                      </m:r>
                      <m:r>
                        <a:rPr lang="en-US" sz="2400" b="0" i="1" smtClean="0">
                          <a:solidFill>
                            <a:srgbClr val="7030A0"/>
                          </a:solidFill>
                          <a:latin typeface="Cambria Math" panose="02040503050406030204" pitchFamily="18" charset="0"/>
                          <a:cs typeface="Calibri"/>
                        </a:rPr>
                        <m:t>1</m:t>
                      </m:r>
                      <m:r>
                        <a:rPr lang="en-US" sz="2400" b="0" i="1" smtClean="0">
                          <a:solidFill>
                            <a:srgbClr val="7030A0"/>
                          </a:solidFill>
                          <a:latin typeface="Cambria Math" panose="02040503050406030204" pitchFamily="18" charset="0"/>
                          <a:cs typeface="Calibri"/>
                        </a:rPr>
                        <m:t>]</m:t>
                      </m:r>
                    </m:oMath>
                  </m:oMathPara>
                </a14:m>
                <a:endParaRPr lang="en-US" sz="2400" b="1" i="1" dirty="0">
                  <a:solidFill>
                    <a:srgbClr val="7030A0"/>
                  </a:solidFill>
                  <a:latin typeface="Calibri"/>
                  <a:cs typeface="Calibri"/>
                </a:endParaRPr>
              </a:p>
            </p:txBody>
          </p:sp>
        </mc:Choice>
        <mc:Fallback>
          <p:sp>
            <p:nvSpPr>
              <p:cNvPr id="7" name="object 3">
                <a:extLst>
                  <a:ext uri="{FF2B5EF4-FFF2-40B4-BE49-F238E27FC236}">
                    <a16:creationId xmlns:a16="http://schemas.microsoft.com/office/drawing/2014/main" id="{D225DC5E-3CB1-4AF0-9A4E-04807A92F1C3}"/>
                  </a:ext>
                </a:extLst>
              </p:cNvPr>
              <p:cNvSpPr txBox="1">
                <a:spLocks noRot="1" noChangeAspect="1" noMove="1" noResize="1" noEditPoints="1" noAdjustHandles="1" noChangeArrowheads="1" noChangeShapeType="1" noTextEdit="1"/>
              </p:cNvSpPr>
              <p:nvPr/>
            </p:nvSpPr>
            <p:spPr>
              <a:xfrm>
                <a:off x="152400" y="925653"/>
                <a:ext cx="12039600" cy="4852354"/>
              </a:xfrm>
              <a:prstGeom prst="rect">
                <a:avLst/>
              </a:prstGeom>
              <a:blipFill>
                <a:blip r:embed="rId2"/>
                <a:stretch>
                  <a:fillRect l="-1013"/>
                </a:stretch>
              </a:blipFill>
            </p:spPr>
            <p:txBody>
              <a:bodyPr/>
              <a:lstStyle/>
              <a:p>
                <a:r>
                  <a:rPr lang="en-US">
                    <a:noFill/>
                  </a:rPr>
                  <a:t> </a:t>
                </a:r>
              </a:p>
            </p:txBody>
          </p:sp>
        </mc:Fallback>
      </mc:AlternateContent>
    </p:spTree>
    <p:extLst>
      <p:ext uri="{BB962C8B-B14F-4D97-AF65-F5344CB8AC3E}">
        <p14:creationId xmlns:p14="http://schemas.microsoft.com/office/powerpoint/2010/main" val="4254909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6593" y="-50165"/>
            <a:ext cx="11939270" cy="1668145"/>
          </a:xfrm>
          <a:prstGeom prst="rect">
            <a:avLst/>
          </a:prstGeom>
        </p:spPr>
        <p:txBody>
          <a:bodyPr vert="horz" wrap="square" lIns="0" tIns="12700" rIns="0" bIns="0" rtlCol="0">
            <a:spAutoFit/>
          </a:bodyPr>
          <a:lstStyle/>
          <a:p>
            <a:pPr marL="12700">
              <a:lnSpc>
                <a:spcPts val="7184"/>
              </a:lnSpc>
              <a:spcBef>
                <a:spcPts val="100"/>
              </a:spcBef>
            </a:pPr>
            <a:r>
              <a:rPr sz="6000" spc="-135" dirty="0">
                <a:solidFill>
                  <a:srgbClr val="006600"/>
                </a:solidFill>
                <a:latin typeface="Trebuchet MS"/>
                <a:cs typeface="Trebuchet MS"/>
              </a:rPr>
              <a:t>Examples</a:t>
            </a:r>
            <a:r>
              <a:rPr sz="6000" spc="-280" dirty="0">
                <a:solidFill>
                  <a:srgbClr val="006600"/>
                </a:solidFill>
                <a:latin typeface="Trebuchet MS"/>
                <a:cs typeface="Trebuchet MS"/>
              </a:rPr>
              <a:t> </a:t>
            </a:r>
            <a:r>
              <a:rPr sz="6000" spc="-180" dirty="0">
                <a:solidFill>
                  <a:srgbClr val="006600"/>
                </a:solidFill>
                <a:latin typeface="Trebuchet MS"/>
                <a:cs typeface="Trebuchet MS"/>
              </a:rPr>
              <a:t>of</a:t>
            </a:r>
            <a:r>
              <a:rPr sz="6000" spc="-275" dirty="0">
                <a:solidFill>
                  <a:srgbClr val="006600"/>
                </a:solidFill>
                <a:latin typeface="Trebuchet MS"/>
                <a:cs typeface="Trebuchet MS"/>
              </a:rPr>
              <a:t> </a:t>
            </a:r>
            <a:r>
              <a:rPr sz="6000" spc="-245" dirty="0">
                <a:solidFill>
                  <a:srgbClr val="006600"/>
                </a:solidFill>
                <a:latin typeface="Trebuchet MS"/>
                <a:cs typeface="Trebuchet MS"/>
              </a:rPr>
              <a:t>Frequency</a:t>
            </a:r>
            <a:r>
              <a:rPr sz="6000" spc="-275" dirty="0">
                <a:solidFill>
                  <a:srgbClr val="006600"/>
                </a:solidFill>
                <a:latin typeface="Trebuchet MS"/>
                <a:cs typeface="Trebuchet MS"/>
              </a:rPr>
              <a:t> </a:t>
            </a:r>
            <a:r>
              <a:rPr sz="6000" spc="-10" dirty="0">
                <a:solidFill>
                  <a:srgbClr val="006600"/>
                </a:solidFill>
                <a:latin typeface="Trebuchet MS"/>
                <a:cs typeface="Trebuchet MS"/>
              </a:rPr>
              <a:t>Modulation</a:t>
            </a:r>
            <a:endParaRPr sz="6000">
              <a:latin typeface="Trebuchet MS"/>
              <a:cs typeface="Trebuchet MS"/>
            </a:endParaRPr>
          </a:p>
          <a:p>
            <a:pPr marL="107950" marR="72390">
              <a:lnSpc>
                <a:spcPts val="2880"/>
              </a:lnSpc>
              <a:spcBef>
                <a:spcPts val="80"/>
              </a:spcBef>
              <a:tabLst>
                <a:tab pos="1354455" algn="l"/>
                <a:tab pos="1758314" algn="l"/>
                <a:tab pos="3276600" algn="l"/>
                <a:tab pos="3869690" algn="l"/>
                <a:tab pos="5451475" algn="l"/>
                <a:tab pos="7091680" algn="l"/>
                <a:tab pos="7626350" algn="l"/>
                <a:tab pos="8111490" algn="l"/>
                <a:tab pos="8689340" algn="l"/>
                <a:tab pos="9524365" algn="l"/>
                <a:tab pos="10264775" algn="l"/>
                <a:tab pos="10586720" algn="l"/>
              </a:tabLst>
            </a:pPr>
            <a:r>
              <a:rPr spc="-10" dirty="0">
                <a:solidFill>
                  <a:srgbClr val="FF0000"/>
                </a:solidFill>
              </a:rPr>
              <a:t>Example</a:t>
            </a:r>
            <a:r>
              <a:rPr dirty="0">
                <a:solidFill>
                  <a:srgbClr val="FF0000"/>
                </a:solidFill>
              </a:rPr>
              <a:t>	</a:t>
            </a:r>
            <a:r>
              <a:rPr spc="-25" dirty="0">
                <a:solidFill>
                  <a:srgbClr val="FF0000"/>
                </a:solidFill>
              </a:rPr>
              <a:t>1.</a:t>
            </a:r>
            <a:r>
              <a:rPr dirty="0">
                <a:solidFill>
                  <a:srgbClr val="FF0000"/>
                </a:solidFill>
              </a:rPr>
              <a:t>	</a:t>
            </a:r>
            <a:r>
              <a:rPr spc="-10" dirty="0"/>
              <a:t>Determine</a:t>
            </a:r>
            <a:r>
              <a:rPr dirty="0"/>
              <a:t>	</a:t>
            </a:r>
            <a:r>
              <a:rPr spc="-25" dirty="0"/>
              <a:t>the</a:t>
            </a:r>
            <a:r>
              <a:rPr dirty="0"/>
              <a:t>	</a:t>
            </a:r>
            <a:r>
              <a:rPr spc="-10" dirty="0"/>
              <a:t>percentage</a:t>
            </a:r>
            <a:r>
              <a:rPr dirty="0"/>
              <a:t>	</a:t>
            </a:r>
            <a:r>
              <a:rPr spc="-10" dirty="0"/>
              <a:t>modulation</a:t>
            </a:r>
            <a:r>
              <a:rPr dirty="0"/>
              <a:t>	</a:t>
            </a:r>
            <a:r>
              <a:rPr spc="-25" dirty="0"/>
              <a:t>for</a:t>
            </a:r>
            <a:r>
              <a:rPr dirty="0"/>
              <a:t>	</a:t>
            </a:r>
            <a:r>
              <a:rPr spc="-25" dirty="0"/>
              <a:t>an</a:t>
            </a:r>
            <a:r>
              <a:rPr dirty="0"/>
              <a:t>	</a:t>
            </a:r>
            <a:r>
              <a:rPr spc="-25" dirty="0"/>
              <a:t>FM</a:t>
            </a:r>
            <a:r>
              <a:rPr dirty="0"/>
              <a:t>	</a:t>
            </a:r>
            <a:r>
              <a:rPr spc="-20" dirty="0"/>
              <a:t>wave</a:t>
            </a:r>
            <a:r>
              <a:rPr dirty="0"/>
              <a:t>	</a:t>
            </a:r>
            <a:r>
              <a:rPr spc="-20" dirty="0"/>
              <a:t>with</a:t>
            </a:r>
            <a:r>
              <a:rPr dirty="0"/>
              <a:t>	</a:t>
            </a:r>
            <a:r>
              <a:rPr spc="-50" dirty="0"/>
              <a:t>a</a:t>
            </a:r>
            <a:r>
              <a:rPr dirty="0"/>
              <a:t>	</a:t>
            </a:r>
            <a:r>
              <a:rPr spc="-10" dirty="0"/>
              <a:t>frequency </a:t>
            </a:r>
            <a:r>
              <a:rPr dirty="0"/>
              <a:t>deviation</a:t>
            </a:r>
            <a:r>
              <a:rPr spc="-50" dirty="0"/>
              <a:t> </a:t>
            </a:r>
            <a:r>
              <a:rPr dirty="0"/>
              <a:t>of</a:t>
            </a:r>
            <a:r>
              <a:rPr spc="-50" dirty="0"/>
              <a:t> </a:t>
            </a:r>
            <a:r>
              <a:rPr dirty="0"/>
              <a:t>10</a:t>
            </a:r>
            <a:r>
              <a:rPr spc="-55" dirty="0"/>
              <a:t> </a:t>
            </a:r>
            <a:r>
              <a:rPr dirty="0"/>
              <a:t>kHz,</a:t>
            </a:r>
            <a:r>
              <a:rPr spc="-55" dirty="0"/>
              <a:t> </a:t>
            </a:r>
            <a:r>
              <a:rPr dirty="0"/>
              <a:t>if</a:t>
            </a:r>
            <a:r>
              <a:rPr spc="-50" dirty="0"/>
              <a:t> </a:t>
            </a:r>
            <a:r>
              <a:rPr dirty="0"/>
              <a:t>the</a:t>
            </a:r>
            <a:r>
              <a:rPr spc="-30" dirty="0"/>
              <a:t> </a:t>
            </a:r>
            <a:r>
              <a:rPr dirty="0"/>
              <a:t>maximum</a:t>
            </a:r>
            <a:r>
              <a:rPr spc="-70" dirty="0"/>
              <a:t> </a:t>
            </a:r>
            <a:r>
              <a:rPr dirty="0"/>
              <a:t>deviation</a:t>
            </a:r>
            <a:r>
              <a:rPr spc="-40" dirty="0"/>
              <a:t> </a:t>
            </a:r>
            <a:r>
              <a:rPr dirty="0"/>
              <a:t>allowed</a:t>
            </a:r>
            <a:r>
              <a:rPr spc="-55" dirty="0"/>
              <a:t> </a:t>
            </a:r>
            <a:r>
              <a:rPr dirty="0"/>
              <a:t>is</a:t>
            </a:r>
            <a:r>
              <a:rPr spc="-50" dirty="0"/>
              <a:t> </a:t>
            </a:r>
            <a:r>
              <a:rPr dirty="0"/>
              <a:t>25</a:t>
            </a:r>
            <a:r>
              <a:rPr spc="-55" dirty="0"/>
              <a:t> </a:t>
            </a:r>
            <a:r>
              <a:rPr spc="-20" dirty="0"/>
              <a:t>kHz.</a:t>
            </a:r>
          </a:p>
        </p:txBody>
      </p:sp>
      <p:pic>
        <p:nvPicPr>
          <p:cNvPr id="3" name="object 3"/>
          <p:cNvPicPr/>
          <p:nvPr/>
        </p:nvPicPr>
        <p:blipFill rotWithShape="1">
          <a:blip r:embed="rId2" cstate="print"/>
          <a:srcRect t="24444"/>
          <a:stretch/>
        </p:blipFill>
        <p:spPr>
          <a:xfrm>
            <a:off x="0" y="1676400"/>
            <a:ext cx="12192000" cy="5181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995" y="73278"/>
            <a:ext cx="11777345" cy="1123315"/>
          </a:xfrm>
          <a:prstGeom prst="rect">
            <a:avLst/>
          </a:prstGeom>
        </p:spPr>
        <p:txBody>
          <a:bodyPr vert="horz" wrap="square" lIns="0" tIns="12700" rIns="0" bIns="0" rtlCol="0">
            <a:spAutoFit/>
          </a:bodyPr>
          <a:lstStyle/>
          <a:p>
            <a:pPr marL="12700" marR="5080" algn="just">
              <a:lnSpc>
                <a:spcPct val="100000"/>
              </a:lnSpc>
              <a:spcBef>
                <a:spcPts val="100"/>
              </a:spcBef>
            </a:pPr>
            <a:r>
              <a:rPr dirty="0">
                <a:solidFill>
                  <a:srgbClr val="FF0000"/>
                </a:solidFill>
              </a:rPr>
              <a:t>Example</a:t>
            </a:r>
            <a:r>
              <a:rPr spc="50" dirty="0">
                <a:solidFill>
                  <a:srgbClr val="FF0000"/>
                </a:solidFill>
              </a:rPr>
              <a:t> </a:t>
            </a:r>
            <a:r>
              <a:rPr dirty="0">
                <a:solidFill>
                  <a:srgbClr val="FF0000"/>
                </a:solidFill>
              </a:rPr>
              <a:t>2.</a:t>
            </a:r>
            <a:r>
              <a:rPr spc="35" dirty="0">
                <a:solidFill>
                  <a:srgbClr val="FF0000"/>
                </a:solidFill>
              </a:rPr>
              <a:t> </a:t>
            </a:r>
            <a:r>
              <a:rPr dirty="0"/>
              <a:t>In</a:t>
            </a:r>
            <a:r>
              <a:rPr spc="40" dirty="0"/>
              <a:t> </a:t>
            </a:r>
            <a:r>
              <a:rPr dirty="0"/>
              <a:t>an</a:t>
            </a:r>
            <a:r>
              <a:rPr spc="35" dirty="0"/>
              <a:t> </a:t>
            </a:r>
            <a:r>
              <a:rPr dirty="0"/>
              <a:t>FM</a:t>
            </a:r>
            <a:r>
              <a:rPr spc="50" dirty="0"/>
              <a:t> </a:t>
            </a:r>
            <a:r>
              <a:rPr dirty="0"/>
              <a:t>system,</a:t>
            </a:r>
            <a:r>
              <a:rPr spc="40" dirty="0"/>
              <a:t> </a:t>
            </a:r>
            <a:r>
              <a:rPr dirty="0"/>
              <a:t>if</a:t>
            </a:r>
            <a:r>
              <a:rPr spc="50" dirty="0"/>
              <a:t> </a:t>
            </a:r>
            <a:r>
              <a:rPr dirty="0"/>
              <a:t>the</a:t>
            </a:r>
            <a:r>
              <a:rPr spc="60" dirty="0"/>
              <a:t> </a:t>
            </a:r>
            <a:r>
              <a:rPr dirty="0"/>
              <a:t>maximum</a:t>
            </a:r>
            <a:r>
              <a:rPr spc="45" dirty="0"/>
              <a:t> </a:t>
            </a:r>
            <a:r>
              <a:rPr dirty="0"/>
              <a:t>value</a:t>
            </a:r>
            <a:r>
              <a:rPr spc="45" dirty="0"/>
              <a:t> </a:t>
            </a:r>
            <a:r>
              <a:rPr dirty="0"/>
              <a:t>of</a:t>
            </a:r>
            <a:r>
              <a:rPr spc="45" dirty="0"/>
              <a:t> </a:t>
            </a:r>
            <a:r>
              <a:rPr dirty="0"/>
              <a:t>deviation</a:t>
            </a:r>
            <a:r>
              <a:rPr spc="50" dirty="0"/>
              <a:t> </a:t>
            </a:r>
            <a:r>
              <a:rPr dirty="0"/>
              <a:t>is</a:t>
            </a:r>
            <a:r>
              <a:rPr spc="45" dirty="0"/>
              <a:t> </a:t>
            </a:r>
            <a:r>
              <a:rPr dirty="0"/>
              <a:t>75</a:t>
            </a:r>
            <a:r>
              <a:rPr spc="40" dirty="0"/>
              <a:t> </a:t>
            </a:r>
            <a:r>
              <a:rPr dirty="0"/>
              <a:t>kHz</a:t>
            </a:r>
            <a:r>
              <a:rPr spc="50" dirty="0"/>
              <a:t> </a:t>
            </a:r>
            <a:r>
              <a:rPr dirty="0"/>
              <a:t>and</a:t>
            </a:r>
            <a:r>
              <a:rPr spc="40" dirty="0"/>
              <a:t> </a:t>
            </a:r>
            <a:r>
              <a:rPr dirty="0"/>
              <a:t>the</a:t>
            </a:r>
            <a:r>
              <a:rPr spc="70" dirty="0"/>
              <a:t> </a:t>
            </a:r>
            <a:r>
              <a:rPr spc="-10" dirty="0"/>
              <a:t>maximum </a:t>
            </a:r>
            <a:r>
              <a:rPr dirty="0"/>
              <a:t>modulating</a:t>
            </a:r>
            <a:r>
              <a:rPr spc="150" dirty="0"/>
              <a:t> </a:t>
            </a:r>
            <a:r>
              <a:rPr dirty="0"/>
              <a:t>frequency</a:t>
            </a:r>
            <a:r>
              <a:rPr spc="155" dirty="0"/>
              <a:t> </a:t>
            </a:r>
            <a:r>
              <a:rPr dirty="0"/>
              <a:t>is</a:t>
            </a:r>
            <a:r>
              <a:rPr spc="150" dirty="0"/>
              <a:t> </a:t>
            </a:r>
            <a:r>
              <a:rPr dirty="0"/>
              <a:t>10</a:t>
            </a:r>
            <a:r>
              <a:rPr spc="145" dirty="0"/>
              <a:t> </a:t>
            </a:r>
            <a:r>
              <a:rPr dirty="0"/>
              <a:t>kHz,</a:t>
            </a:r>
            <a:r>
              <a:rPr spc="155" dirty="0"/>
              <a:t> </a:t>
            </a:r>
            <a:r>
              <a:rPr dirty="0"/>
              <a:t>calculate</a:t>
            </a:r>
            <a:r>
              <a:rPr spc="145" dirty="0"/>
              <a:t> </a:t>
            </a:r>
            <a:r>
              <a:rPr dirty="0"/>
              <a:t>the</a:t>
            </a:r>
            <a:r>
              <a:rPr spc="175" dirty="0"/>
              <a:t> </a:t>
            </a:r>
            <a:r>
              <a:rPr dirty="0"/>
              <a:t>deviation</a:t>
            </a:r>
            <a:r>
              <a:rPr spc="155" dirty="0"/>
              <a:t> </a:t>
            </a:r>
            <a:r>
              <a:rPr dirty="0"/>
              <a:t>ratio</a:t>
            </a:r>
            <a:r>
              <a:rPr spc="160" dirty="0"/>
              <a:t> </a:t>
            </a:r>
            <a:r>
              <a:rPr dirty="0"/>
              <a:t>and</a:t>
            </a:r>
            <a:r>
              <a:rPr spc="150" dirty="0"/>
              <a:t> </a:t>
            </a:r>
            <a:r>
              <a:rPr dirty="0"/>
              <a:t>bandwidth</a:t>
            </a:r>
            <a:r>
              <a:rPr spc="165" dirty="0"/>
              <a:t> </a:t>
            </a:r>
            <a:r>
              <a:rPr dirty="0"/>
              <a:t>of</a:t>
            </a:r>
            <a:r>
              <a:rPr spc="160" dirty="0"/>
              <a:t> </a:t>
            </a:r>
            <a:r>
              <a:rPr dirty="0"/>
              <a:t>the</a:t>
            </a:r>
            <a:r>
              <a:rPr spc="165" dirty="0"/>
              <a:t> </a:t>
            </a:r>
            <a:r>
              <a:rPr spc="-10" dirty="0"/>
              <a:t>system </a:t>
            </a:r>
            <a:r>
              <a:rPr dirty="0"/>
              <a:t>using</a:t>
            </a:r>
            <a:r>
              <a:rPr spc="-65" dirty="0"/>
              <a:t> </a:t>
            </a:r>
            <a:r>
              <a:rPr dirty="0"/>
              <a:t>the</a:t>
            </a:r>
            <a:r>
              <a:rPr spc="-50" dirty="0"/>
              <a:t> </a:t>
            </a:r>
            <a:r>
              <a:rPr dirty="0"/>
              <a:t>Carson</a:t>
            </a:r>
            <a:r>
              <a:rPr spc="-80" dirty="0"/>
              <a:t> </a:t>
            </a:r>
            <a:r>
              <a:rPr spc="-20" dirty="0"/>
              <a:t>rule.</a:t>
            </a:r>
          </a:p>
        </p:txBody>
      </p:sp>
      <p:pic>
        <p:nvPicPr>
          <p:cNvPr id="3" name="object 3"/>
          <p:cNvPicPr/>
          <p:nvPr/>
        </p:nvPicPr>
        <p:blipFill rotWithShape="1">
          <a:blip r:embed="rId2" cstate="print"/>
          <a:srcRect t="20000"/>
          <a:stretch/>
        </p:blipFill>
        <p:spPr>
          <a:xfrm>
            <a:off x="0" y="1371600"/>
            <a:ext cx="12192000" cy="5486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48960" y="515746"/>
            <a:ext cx="2778125" cy="368300"/>
          </a:xfrm>
          <a:custGeom>
            <a:avLst/>
            <a:gdLst/>
            <a:ahLst/>
            <a:cxnLst/>
            <a:rect l="l" t="t" r="r" b="b"/>
            <a:pathLst>
              <a:path w="2778125" h="368300">
                <a:moveTo>
                  <a:pt x="100457" y="12192"/>
                </a:moveTo>
                <a:lnTo>
                  <a:pt x="96647" y="0"/>
                </a:lnTo>
                <a:lnTo>
                  <a:pt x="74803" y="8534"/>
                </a:lnTo>
                <a:lnTo>
                  <a:pt x="55600" y="21907"/>
                </a:lnTo>
                <a:lnTo>
                  <a:pt x="25146" y="63246"/>
                </a:lnTo>
                <a:lnTo>
                  <a:pt x="6286" y="118986"/>
                </a:lnTo>
                <a:lnTo>
                  <a:pt x="0" y="184277"/>
                </a:lnTo>
                <a:lnTo>
                  <a:pt x="1498" y="216547"/>
                </a:lnTo>
                <a:lnTo>
                  <a:pt x="14135" y="278244"/>
                </a:lnTo>
                <a:lnTo>
                  <a:pt x="39039" y="328028"/>
                </a:lnTo>
                <a:lnTo>
                  <a:pt x="74803" y="359651"/>
                </a:lnTo>
                <a:lnTo>
                  <a:pt x="96647" y="368173"/>
                </a:lnTo>
                <a:lnTo>
                  <a:pt x="100457" y="355981"/>
                </a:lnTo>
                <a:lnTo>
                  <a:pt x="83527" y="347218"/>
                </a:lnTo>
                <a:lnTo>
                  <a:pt x="68770" y="334454"/>
                </a:lnTo>
                <a:lnTo>
                  <a:pt x="45847" y="296926"/>
                </a:lnTo>
                <a:lnTo>
                  <a:pt x="31953" y="246087"/>
                </a:lnTo>
                <a:lnTo>
                  <a:pt x="27305" y="184277"/>
                </a:lnTo>
                <a:lnTo>
                  <a:pt x="28460" y="151930"/>
                </a:lnTo>
                <a:lnTo>
                  <a:pt x="37744" y="95402"/>
                </a:lnTo>
                <a:lnTo>
                  <a:pt x="56197" y="50482"/>
                </a:lnTo>
                <a:lnTo>
                  <a:pt x="83527" y="20955"/>
                </a:lnTo>
                <a:lnTo>
                  <a:pt x="100457" y="12192"/>
                </a:lnTo>
                <a:close/>
              </a:path>
              <a:path w="2778125" h="368300">
                <a:moveTo>
                  <a:pt x="1892681" y="12192"/>
                </a:moveTo>
                <a:lnTo>
                  <a:pt x="1888871" y="0"/>
                </a:lnTo>
                <a:lnTo>
                  <a:pt x="1867027" y="8534"/>
                </a:lnTo>
                <a:lnTo>
                  <a:pt x="1847824" y="21907"/>
                </a:lnTo>
                <a:lnTo>
                  <a:pt x="1817370" y="63246"/>
                </a:lnTo>
                <a:lnTo>
                  <a:pt x="1798510" y="118986"/>
                </a:lnTo>
                <a:lnTo>
                  <a:pt x="1792224" y="184277"/>
                </a:lnTo>
                <a:lnTo>
                  <a:pt x="1793722" y="216547"/>
                </a:lnTo>
                <a:lnTo>
                  <a:pt x="1806359" y="278244"/>
                </a:lnTo>
                <a:lnTo>
                  <a:pt x="1831263" y="328028"/>
                </a:lnTo>
                <a:lnTo>
                  <a:pt x="1867027" y="359651"/>
                </a:lnTo>
                <a:lnTo>
                  <a:pt x="1888871" y="368173"/>
                </a:lnTo>
                <a:lnTo>
                  <a:pt x="1892681" y="355981"/>
                </a:lnTo>
                <a:lnTo>
                  <a:pt x="1875751" y="347218"/>
                </a:lnTo>
                <a:lnTo>
                  <a:pt x="1860994" y="334454"/>
                </a:lnTo>
                <a:lnTo>
                  <a:pt x="1838071" y="296926"/>
                </a:lnTo>
                <a:lnTo>
                  <a:pt x="1824177" y="246087"/>
                </a:lnTo>
                <a:lnTo>
                  <a:pt x="1819529" y="184277"/>
                </a:lnTo>
                <a:lnTo>
                  <a:pt x="1820684" y="151930"/>
                </a:lnTo>
                <a:lnTo>
                  <a:pt x="1829968" y="95402"/>
                </a:lnTo>
                <a:lnTo>
                  <a:pt x="1848421" y="50482"/>
                </a:lnTo>
                <a:lnTo>
                  <a:pt x="1875751" y="20955"/>
                </a:lnTo>
                <a:lnTo>
                  <a:pt x="1892681" y="12192"/>
                </a:lnTo>
                <a:close/>
              </a:path>
              <a:path w="2778125" h="368300">
                <a:moveTo>
                  <a:pt x="2640571" y="184277"/>
                </a:moveTo>
                <a:lnTo>
                  <a:pt x="2639072" y="151930"/>
                </a:lnTo>
                <a:lnTo>
                  <a:pt x="2639009" y="150393"/>
                </a:lnTo>
                <a:lnTo>
                  <a:pt x="2634297" y="118986"/>
                </a:lnTo>
                <a:lnTo>
                  <a:pt x="2615438" y="63246"/>
                </a:lnTo>
                <a:lnTo>
                  <a:pt x="2584958" y="21907"/>
                </a:lnTo>
                <a:lnTo>
                  <a:pt x="2543810" y="0"/>
                </a:lnTo>
                <a:lnTo>
                  <a:pt x="2540127" y="12192"/>
                </a:lnTo>
                <a:lnTo>
                  <a:pt x="2557030" y="20955"/>
                </a:lnTo>
                <a:lnTo>
                  <a:pt x="2571750" y="33718"/>
                </a:lnTo>
                <a:lnTo>
                  <a:pt x="2594610" y="71247"/>
                </a:lnTo>
                <a:lnTo>
                  <a:pt x="2608542" y="122288"/>
                </a:lnTo>
                <a:lnTo>
                  <a:pt x="2613152" y="184277"/>
                </a:lnTo>
                <a:lnTo>
                  <a:pt x="2611996" y="216547"/>
                </a:lnTo>
                <a:lnTo>
                  <a:pt x="2602750" y="272884"/>
                </a:lnTo>
                <a:lnTo>
                  <a:pt x="2584272" y="317690"/>
                </a:lnTo>
                <a:lnTo>
                  <a:pt x="2557030" y="347218"/>
                </a:lnTo>
                <a:lnTo>
                  <a:pt x="2540127" y="355981"/>
                </a:lnTo>
                <a:lnTo>
                  <a:pt x="2543810" y="368173"/>
                </a:lnTo>
                <a:lnTo>
                  <a:pt x="2584958" y="346265"/>
                </a:lnTo>
                <a:lnTo>
                  <a:pt x="2615438" y="304927"/>
                </a:lnTo>
                <a:lnTo>
                  <a:pt x="2634297" y="249212"/>
                </a:lnTo>
                <a:lnTo>
                  <a:pt x="2639009" y="217855"/>
                </a:lnTo>
                <a:lnTo>
                  <a:pt x="2640571" y="184277"/>
                </a:lnTo>
                <a:close/>
              </a:path>
              <a:path w="2778125" h="368300">
                <a:moveTo>
                  <a:pt x="2777731" y="184277"/>
                </a:moveTo>
                <a:lnTo>
                  <a:pt x="2776232" y="151930"/>
                </a:lnTo>
                <a:lnTo>
                  <a:pt x="2776169" y="150393"/>
                </a:lnTo>
                <a:lnTo>
                  <a:pt x="2771457" y="118986"/>
                </a:lnTo>
                <a:lnTo>
                  <a:pt x="2752598" y="63246"/>
                </a:lnTo>
                <a:lnTo>
                  <a:pt x="2722118" y="21907"/>
                </a:lnTo>
                <a:lnTo>
                  <a:pt x="2680970" y="0"/>
                </a:lnTo>
                <a:lnTo>
                  <a:pt x="2677287" y="12192"/>
                </a:lnTo>
                <a:lnTo>
                  <a:pt x="2694190" y="20955"/>
                </a:lnTo>
                <a:lnTo>
                  <a:pt x="2708910" y="33718"/>
                </a:lnTo>
                <a:lnTo>
                  <a:pt x="2731770" y="71247"/>
                </a:lnTo>
                <a:lnTo>
                  <a:pt x="2745702" y="122288"/>
                </a:lnTo>
                <a:lnTo>
                  <a:pt x="2750312" y="184277"/>
                </a:lnTo>
                <a:lnTo>
                  <a:pt x="2749156" y="216547"/>
                </a:lnTo>
                <a:lnTo>
                  <a:pt x="2739910" y="272884"/>
                </a:lnTo>
                <a:lnTo>
                  <a:pt x="2721432" y="317690"/>
                </a:lnTo>
                <a:lnTo>
                  <a:pt x="2694190" y="347218"/>
                </a:lnTo>
                <a:lnTo>
                  <a:pt x="2677287" y="355981"/>
                </a:lnTo>
                <a:lnTo>
                  <a:pt x="2680970" y="368173"/>
                </a:lnTo>
                <a:lnTo>
                  <a:pt x="2722118" y="346265"/>
                </a:lnTo>
                <a:lnTo>
                  <a:pt x="2752598" y="304927"/>
                </a:lnTo>
                <a:lnTo>
                  <a:pt x="2771457" y="249212"/>
                </a:lnTo>
                <a:lnTo>
                  <a:pt x="2776169" y="217855"/>
                </a:lnTo>
                <a:lnTo>
                  <a:pt x="2777731" y="184277"/>
                </a:lnTo>
                <a:close/>
              </a:path>
            </a:pathLst>
          </a:custGeom>
          <a:solidFill>
            <a:srgbClr val="000000"/>
          </a:solidFill>
        </p:spPr>
        <p:txBody>
          <a:bodyPr wrap="square" lIns="0" tIns="0" rIns="0" bIns="0" rtlCol="0"/>
          <a:lstStyle/>
          <a:p>
            <a:endParaRPr/>
          </a:p>
        </p:txBody>
      </p:sp>
      <p:sp>
        <p:nvSpPr>
          <p:cNvPr id="3" name="object 3"/>
          <p:cNvSpPr txBox="1"/>
          <p:nvPr/>
        </p:nvSpPr>
        <p:spPr>
          <a:xfrm>
            <a:off x="196595" y="43133"/>
            <a:ext cx="11824970" cy="1928092"/>
          </a:xfrm>
          <a:prstGeom prst="rect">
            <a:avLst/>
          </a:prstGeom>
        </p:spPr>
        <p:txBody>
          <a:bodyPr vert="horz" wrap="square" lIns="0" tIns="42545" rIns="0" bIns="0" rtlCol="0">
            <a:spAutoFit/>
          </a:bodyPr>
          <a:lstStyle/>
          <a:p>
            <a:pPr marL="38100">
              <a:lnSpc>
                <a:spcPct val="100000"/>
              </a:lnSpc>
              <a:spcBef>
                <a:spcPts val="335"/>
              </a:spcBef>
            </a:pPr>
            <a:r>
              <a:rPr sz="2400" b="1" dirty="0">
                <a:solidFill>
                  <a:srgbClr val="FF0000"/>
                </a:solidFill>
                <a:latin typeface="Calibri"/>
                <a:cs typeface="Calibri"/>
              </a:rPr>
              <a:t>Example</a:t>
            </a:r>
            <a:r>
              <a:rPr sz="2400" b="1" spc="-70" dirty="0">
                <a:solidFill>
                  <a:srgbClr val="FF0000"/>
                </a:solidFill>
                <a:latin typeface="Calibri"/>
                <a:cs typeface="Calibri"/>
              </a:rPr>
              <a:t> </a:t>
            </a:r>
            <a:r>
              <a:rPr sz="2400" b="1" dirty="0">
                <a:solidFill>
                  <a:srgbClr val="FF0000"/>
                </a:solidFill>
                <a:latin typeface="Calibri"/>
                <a:cs typeface="Calibri"/>
              </a:rPr>
              <a:t>3.</a:t>
            </a:r>
            <a:r>
              <a:rPr sz="2400" b="1" spc="-65" dirty="0">
                <a:solidFill>
                  <a:srgbClr val="FF0000"/>
                </a:solidFill>
                <a:latin typeface="Calibri"/>
                <a:cs typeface="Calibri"/>
              </a:rPr>
              <a:t> </a:t>
            </a:r>
            <a:r>
              <a:rPr sz="2400" b="1" dirty="0">
                <a:solidFill>
                  <a:srgbClr val="6F2F9F"/>
                </a:solidFill>
                <a:latin typeface="Calibri"/>
                <a:cs typeface="Calibri"/>
              </a:rPr>
              <a:t>The</a:t>
            </a:r>
            <a:r>
              <a:rPr sz="2400" b="1" spc="-65" dirty="0">
                <a:solidFill>
                  <a:srgbClr val="6F2F9F"/>
                </a:solidFill>
                <a:latin typeface="Calibri"/>
                <a:cs typeface="Calibri"/>
              </a:rPr>
              <a:t> </a:t>
            </a:r>
            <a:r>
              <a:rPr sz="2400" b="1" dirty="0">
                <a:solidFill>
                  <a:srgbClr val="6F2F9F"/>
                </a:solidFill>
                <a:latin typeface="Calibri"/>
                <a:cs typeface="Calibri"/>
              </a:rPr>
              <a:t>equation</a:t>
            </a:r>
            <a:r>
              <a:rPr sz="2400" b="1" spc="-50" dirty="0">
                <a:solidFill>
                  <a:srgbClr val="6F2F9F"/>
                </a:solidFill>
                <a:latin typeface="Calibri"/>
                <a:cs typeface="Calibri"/>
              </a:rPr>
              <a:t> </a:t>
            </a:r>
            <a:r>
              <a:rPr sz="2400" b="1" dirty="0">
                <a:solidFill>
                  <a:srgbClr val="6F2F9F"/>
                </a:solidFill>
                <a:latin typeface="Calibri"/>
                <a:cs typeface="Calibri"/>
              </a:rPr>
              <a:t>of</a:t>
            </a:r>
            <a:r>
              <a:rPr sz="2400" b="1" spc="-65" dirty="0">
                <a:solidFill>
                  <a:srgbClr val="6F2F9F"/>
                </a:solidFill>
                <a:latin typeface="Calibri"/>
                <a:cs typeface="Calibri"/>
              </a:rPr>
              <a:t> </a:t>
            </a:r>
            <a:r>
              <a:rPr sz="2400" b="1" dirty="0">
                <a:solidFill>
                  <a:srgbClr val="6F2F9F"/>
                </a:solidFill>
                <a:latin typeface="Calibri"/>
                <a:cs typeface="Calibri"/>
              </a:rPr>
              <a:t>an</a:t>
            </a:r>
            <a:r>
              <a:rPr sz="2400" b="1" spc="-65" dirty="0">
                <a:solidFill>
                  <a:srgbClr val="6F2F9F"/>
                </a:solidFill>
                <a:latin typeface="Calibri"/>
                <a:cs typeface="Calibri"/>
              </a:rPr>
              <a:t> </a:t>
            </a:r>
            <a:r>
              <a:rPr sz="2400" b="1" spc="-20" dirty="0">
                <a:solidFill>
                  <a:srgbClr val="6F2F9F"/>
                </a:solidFill>
                <a:latin typeface="Calibri"/>
                <a:cs typeface="Calibri"/>
              </a:rPr>
              <a:t>angle-</a:t>
            </a:r>
            <a:r>
              <a:rPr sz="2400" b="1" dirty="0">
                <a:solidFill>
                  <a:srgbClr val="6F2F9F"/>
                </a:solidFill>
                <a:latin typeface="Calibri"/>
                <a:cs typeface="Calibri"/>
              </a:rPr>
              <a:t>modulated</a:t>
            </a:r>
            <a:r>
              <a:rPr sz="2400" b="1" spc="-65" dirty="0">
                <a:solidFill>
                  <a:srgbClr val="6F2F9F"/>
                </a:solidFill>
                <a:latin typeface="Calibri"/>
                <a:cs typeface="Calibri"/>
              </a:rPr>
              <a:t> </a:t>
            </a:r>
            <a:r>
              <a:rPr sz="2400" b="1" spc="-10" dirty="0">
                <a:solidFill>
                  <a:srgbClr val="6F2F9F"/>
                </a:solidFill>
                <a:latin typeface="Calibri"/>
                <a:cs typeface="Calibri"/>
              </a:rPr>
              <a:t>voltage</a:t>
            </a:r>
            <a:r>
              <a:rPr sz="2400" b="1" spc="-65" dirty="0">
                <a:solidFill>
                  <a:srgbClr val="6F2F9F"/>
                </a:solidFill>
                <a:latin typeface="Calibri"/>
                <a:cs typeface="Calibri"/>
              </a:rPr>
              <a:t> </a:t>
            </a:r>
            <a:r>
              <a:rPr sz="2400" b="1" spc="-25" dirty="0">
                <a:solidFill>
                  <a:srgbClr val="6F2F9F"/>
                </a:solidFill>
                <a:latin typeface="Calibri"/>
                <a:cs typeface="Calibri"/>
              </a:rPr>
              <a:t>is</a:t>
            </a:r>
            <a:endParaRPr sz="2400" dirty="0">
              <a:latin typeface="Calibri"/>
              <a:cs typeface="Calibri"/>
            </a:endParaRPr>
          </a:p>
          <a:p>
            <a:pPr marR="262890" algn="ctr">
              <a:lnSpc>
                <a:spcPct val="100000"/>
              </a:lnSpc>
              <a:spcBef>
                <a:spcPts val="240"/>
              </a:spcBef>
              <a:tabLst>
                <a:tab pos="1993264" algn="l"/>
                <a:tab pos="3785235" algn="l"/>
              </a:tabLst>
            </a:pPr>
            <a:r>
              <a:rPr sz="2400" dirty="0">
                <a:latin typeface="Cambria Math"/>
                <a:cs typeface="Cambria Math"/>
              </a:rPr>
              <a:t>⟹</a:t>
            </a:r>
            <a:r>
              <a:rPr sz="2400" spc="125" dirty="0">
                <a:latin typeface="Cambria Math"/>
                <a:cs typeface="Cambria Math"/>
              </a:rPr>
              <a:t> </a:t>
            </a:r>
            <a:r>
              <a:rPr sz="2400" dirty="0">
                <a:latin typeface="Cambria Math"/>
                <a:cs typeface="Cambria Math"/>
              </a:rPr>
              <a:t>𝐞</a:t>
            </a:r>
            <a:r>
              <a:rPr sz="2400" spc="140" dirty="0">
                <a:latin typeface="Cambria Math"/>
                <a:cs typeface="Cambria Math"/>
              </a:rPr>
              <a:t> </a:t>
            </a:r>
            <a:r>
              <a:rPr sz="2400" dirty="0">
                <a:latin typeface="Cambria Math"/>
                <a:cs typeface="Cambria Math"/>
              </a:rPr>
              <a:t>=</a:t>
            </a:r>
            <a:r>
              <a:rPr sz="2400" spc="120" dirty="0">
                <a:latin typeface="Cambria Math"/>
                <a:cs typeface="Cambria Math"/>
              </a:rPr>
              <a:t> </a:t>
            </a:r>
            <a:r>
              <a:rPr sz="2400" spc="-20" dirty="0">
                <a:latin typeface="Cambria Math"/>
                <a:cs typeface="Cambria Math"/>
              </a:rPr>
              <a:t>𝟏𝟎</a:t>
            </a:r>
            <a:r>
              <a:rPr sz="2400" spc="-135" dirty="0">
                <a:latin typeface="Cambria Math"/>
                <a:cs typeface="Cambria Math"/>
              </a:rPr>
              <a:t> </a:t>
            </a:r>
            <a:r>
              <a:rPr sz="2400" spc="-25" dirty="0">
                <a:latin typeface="Cambria Math"/>
                <a:cs typeface="Cambria Math"/>
              </a:rPr>
              <a:t>𝐬𝐢𝐧</a:t>
            </a:r>
            <a:r>
              <a:rPr sz="2400" dirty="0">
                <a:latin typeface="Cambria Math"/>
                <a:cs typeface="Cambria Math"/>
              </a:rPr>
              <a:t>	𝟏𝟎</a:t>
            </a:r>
            <a:r>
              <a:rPr sz="2625" baseline="28571" dirty="0">
                <a:latin typeface="Cambria Math"/>
                <a:cs typeface="Cambria Math"/>
              </a:rPr>
              <a:t>𝟖</a:t>
            </a:r>
            <a:r>
              <a:rPr sz="2400" dirty="0">
                <a:latin typeface="Cambria Math"/>
                <a:cs typeface="Cambria Math"/>
              </a:rPr>
              <a:t>𝐭</a:t>
            </a:r>
            <a:r>
              <a:rPr sz="2400" spc="15" dirty="0">
                <a:latin typeface="Cambria Math"/>
                <a:cs typeface="Cambria Math"/>
              </a:rPr>
              <a:t> </a:t>
            </a:r>
            <a:r>
              <a:rPr sz="2400" dirty="0">
                <a:latin typeface="Cambria Math"/>
                <a:cs typeface="Cambria Math"/>
              </a:rPr>
              <a:t>+</a:t>
            </a:r>
            <a:r>
              <a:rPr sz="2400" spc="20" dirty="0">
                <a:latin typeface="Cambria Math"/>
                <a:cs typeface="Cambria Math"/>
              </a:rPr>
              <a:t> </a:t>
            </a:r>
            <a:r>
              <a:rPr sz="2400" spc="-20" dirty="0">
                <a:latin typeface="Cambria Math"/>
                <a:cs typeface="Cambria Math"/>
              </a:rPr>
              <a:t>𝟑</a:t>
            </a:r>
            <a:r>
              <a:rPr sz="2400" spc="-114" dirty="0">
                <a:latin typeface="Cambria Math"/>
                <a:cs typeface="Cambria Math"/>
              </a:rPr>
              <a:t> </a:t>
            </a:r>
            <a:r>
              <a:rPr sz="2400" spc="-25" dirty="0">
                <a:latin typeface="Cambria Math"/>
                <a:cs typeface="Cambria Math"/>
              </a:rPr>
              <a:t>𝐬𝐢𝐧</a:t>
            </a:r>
            <a:r>
              <a:rPr sz="2400" dirty="0">
                <a:latin typeface="Cambria Math"/>
                <a:cs typeface="Cambria Math"/>
              </a:rPr>
              <a:t>	</a:t>
            </a:r>
            <a:r>
              <a:rPr sz="2400" spc="-20" dirty="0">
                <a:latin typeface="Cambria Math"/>
                <a:cs typeface="Cambria Math"/>
              </a:rPr>
              <a:t>𝟏𝟎</a:t>
            </a:r>
            <a:r>
              <a:rPr sz="2625" spc="-30" baseline="28571" dirty="0">
                <a:latin typeface="Cambria Math"/>
                <a:cs typeface="Cambria Math"/>
              </a:rPr>
              <a:t>𝟑</a:t>
            </a:r>
            <a:r>
              <a:rPr sz="2400" spc="-20" dirty="0">
                <a:latin typeface="Cambria Math"/>
                <a:cs typeface="Cambria Math"/>
              </a:rPr>
              <a:t>𝐭</a:t>
            </a:r>
            <a:endParaRPr sz="2400" dirty="0">
              <a:latin typeface="Cambria Math"/>
              <a:cs typeface="Cambria Math"/>
            </a:endParaRPr>
          </a:p>
          <a:p>
            <a:pPr marL="38100" marR="30480">
              <a:lnSpc>
                <a:spcPct val="100400"/>
              </a:lnSpc>
              <a:spcBef>
                <a:spcPts val="125"/>
              </a:spcBef>
            </a:pPr>
            <a:r>
              <a:rPr sz="2400" b="1" dirty="0">
                <a:solidFill>
                  <a:srgbClr val="6F2F9F"/>
                </a:solidFill>
                <a:latin typeface="Calibri"/>
                <a:cs typeface="Calibri"/>
              </a:rPr>
              <a:t>What</a:t>
            </a:r>
            <a:r>
              <a:rPr sz="2400" b="1" spc="-50" dirty="0">
                <a:solidFill>
                  <a:srgbClr val="6F2F9F"/>
                </a:solidFill>
                <a:latin typeface="Calibri"/>
                <a:cs typeface="Calibri"/>
              </a:rPr>
              <a:t> </a:t>
            </a:r>
            <a:r>
              <a:rPr sz="2400" b="1" dirty="0">
                <a:solidFill>
                  <a:srgbClr val="6F2F9F"/>
                </a:solidFill>
                <a:latin typeface="Calibri"/>
                <a:cs typeface="Calibri"/>
              </a:rPr>
              <a:t>form</a:t>
            </a:r>
            <a:r>
              <a:rPr sz="2400" b="1" spc="-60" dirty="0">
                <a:solidFill>
                  <a:srgbClr val="6F2F9F"/>
                </a:solidFill>
                <a:latin typeface="Calibri"/>
                <a:cs typeface="Calibri"/>
              </a:rPr>
              <a:t> </a:t>
            </a:r>
            <a:r>
              <a:rPr sz="2400" b="1" dirty="0">
                <a:solidFill>
                  <a:srgbClr val="6F2F9F"/>
                </a:solidFill>
                <a:latin typeface="Calibri"/>
                <a:cs typeface="Calibri"/>
              </a:rPr>
              <a:t>of</a:t>
            </a:r>
            <a:r>
              <a:rPr sz="2400" b="1" spc="-60" dirty="0">
                <a:solidFill>
                  <a:srgbClr val="6F2F9F"/>
                </a:solidFill>
                <a:latin typeface="Calibri"/>
                <a:cs typeface="Calibri"/>
              </a:rPr>
              <a:t> </a:t>
            </a:r>
            <a:r>
              <a:rPr sz="2400" b="1" dirty="0">
                <a:solidFill>
                  <a:srgbClr val="6F2F9F"/>
                </a:solidFill>
                <a:latin typeface="Calibri"/>
                <a:cs typeface="Calibri"/>
              </a:rPr>
              <a:t>angle</a:t>
            </a:r>
            <a:r>
              <a:rPr sz="2400" b="1" spc="-50" dirty="0">
                <a:solidFill>
                  <a:srgbClr val="6F2F9F"/>
                </a:solidFill>
                <a:latin typeface="Calibri"/>
                <a:cs typeface="Calibri"/>
              </a:rPr>
              <a:t> </a:t>
            </a:r>
            <a:r>
              <a:rPr sz="2400" b="1" dirty="0">
                <a:solidFill>
                  <a:srgbClr val="6F2F9F"/>
                </a:solidFill>
                <a:latin typeface="Calibri"/>
                <a:cs typeface="Calibri"/>
              </a:rPr>
              <a:t>modulation</a:t>
            </a:r>
            <a:r>
              <a:rPr sz="2400" b="1" spc="-60" dirty="0">
                <a:solidFill>
                  <a:srgbClr val="6F2F9F"/>
                </a:solidFill>
                <a:latin typeface="Calibri"/>
                <a:cs typeface="Calibri"/>
              </a:rPr>
              <a:t> </a:t>
            </a:r>
            <a:r>
              <a:rPr sz="2400" b="1" dirty="0">
                <a:solidFill>
                  <a:srgbClr val="6F2F9F"/>
                </a:solidFill>
                <a:latin typeface="Calibri"/>
                <a:cs typeface="Calibri"/>
              </a:rPr>
              <a:t>is</a:t>
            </a:r>
            <a:r>
              <a:rPr sz="2400" b="1" spc="-55" dirty="0">
                <a:solidFill>
                  <a:srgbClr val="6F2F9F"/>
                </a:solidFill>
                <a:latin typeface="Calibri"/>
                <a:cs typeface="Calibri"/>
              </a:rPr>
              <a:t> </a:t>
            </a:r>
            <a:r>
              <a:rPr sz="2400" b="1" dirty="0">
                <a:solidFill>
                  <a:srgbClr val="6F2F9F"/>
                </a:solidFill>
                <a:latin typeface="Calibri"/>
                <a:cs typeface="Calibri"/>
              </a:rPr>
              <a:t>this</a:t>
            </a:r>
            <a:r>
              <a:rPr lang="en-US" sz="2400" b="1" dirty="0">
                <a:solidFill>
                  <a:srgbClr val="6F2F9F"/>
                </a:solidFill>
                <a:latin typeface="Calibri"/>
                <a:cs typeface="Calibri"/>
              </a:rPr>
              <a:t> while the message signal is a cos wave</a:t>
            </a:r>
            <a:r>
              <a:rPr sz="2400" b="1" dirty="0">
                <a:solidFill>
                  <a:srgbClr val="6F2F9F"/>
                </a:solidFill>
                <a:latin typeface="Calibri"/>
                <a:cs typeface="Calibri"/>
              </a:rPr>
              <a:t>?</a:t>
            </a:r>
            <a:r>
              <a:rPr sz="2400" b="1" spc="-45" dirty="0">
                <a:solidFill>
                  <a:srgbClr val="6F2F9F"/>
                </a:solidFill>
                <a:latin typeface="Calibri"/>
                <a:cs typeface="Calibri"/>
              </a:rPr>
              <a:t> </a:t>
            </a:r>
            <a:r>
              <a:rPr sz="2400" b="1" spc="-10" dirty="0">
                <a:solidFill>
                  <a:srgbClr val="6F2F9F"/>
                </a:solidFill>
                <a:latin typeface="Calibri"/>
                <a:cs typeface="Calibri"/>
              </a:rPr>
              <a:t>Calculate</a:t>
            </a:r>
            <a:r>
              <a:rPr sz="2400" b="1" spc="-50" dirty="0">
                <a:solidFill>
                  <a:srgbClr val="6F2F9F"/>
                </a:solidFill>
                <a:latin typeface="Calibri"/>
                <a:cs typeface="Calibri"/>
              </a:rPr>
              <a:t> </a:t>
            </a:r>
            <a:r>
              <a:rPr sz="2400" b="1" dirty="0">
                <a:solidFill>
                  <a:srgbClr val="6F2F9F"/>
                </a:solidFill>
                <a:latin typeface="Calibri"/>
                <a:cs typeface="Calibri"/>
              </a:rPr>
              <a:t>the</a:t>
            </a:r>
            <a:r>
              <a:rPr sz="2400" b="1" spc="-50" dirty="0">
                <a:solidFill>
                  <a:srgbClr val="6F2F9F"/>
                </a:solidFill>
                <a:latin typeface="Calibri"/>
                <a:cs typeface="Calibri"/>
              </a:rPr>
              <a:t> </a:t>
            </a:r>
            <a:r>
              <a:rPr sz="2400" b="1" dirty="0">
                <a:solidFill>
                  <a:srgbClr val="6F2F9F"/>
                </a:solidFill>
                <a:latin typeface="Calibri"/>
                <a:cs typeface="Calibri"/>
              </a:rPr>
              <a:t>carrier</a:t>
            </a:r>
            <a:r>
              <a:rPr sz="2400" b="1" spc="-50" dirty="0">
                <a:solidFill>
                  <a:srgbClr val="6F2F9F"/>
                </a:solidFill>
                <a:latin typeface="Calibri"/>
                <a:cs typeface="Calibri"/>
              </a:rPr>
              <a:t> </a:t>
            </a:r>
            <a:r>
              <a:rPr sz="2400" b="1" dirty="0">
                <a:solidFill>
                  <a:srgbClr val="6F2F9F"/>
                </a:solidFill>
                <a:latin typeface="Calibri"/>
                <a:cs typeface="Calibri"/>
              </a:rPr>
              <a:t>and</a:t>
            </a:r>
            <a:r>
              <a:rPr sz="2400" b="1" spc="-60" dirty="0">
                <a:solidFill>
                  <a:srgbClr val="6F2F9F"/>
                </a:solidFill>
                <a:latin typeface="Calibri"/>
                <a:cs typeface="Calibri"/>
              </a:rPr>
              <a:t> </a:t>
            </a:r>
            <a:r>
              <a:rPr sz="2400" b="1" dirty="0">
                <a:solidFill>
                  <a:srgbClr val="6F2F9F"/>
                </a:solidFill>
                <a:latin typeface="Calibri"/>
                <a:cs typeface="Calibri"/>
              </a:rPr>
              <a:t>modulating</a:t>
            </a:r>
            <a:r>
              <a:rPr sz="2400" b="1" spc="-60" dirty="0">
                <a:solidFill>
                  <a:srgbClr val="6F2F9F"/>
                </a:solidFill>
                <a:latin typeface="Calibri"/>
                <a:cs typeface="Calibri"/>
              </a:rPr>
              <a:t> </a:t>
            </a:r>
            <a:r>
              <a:rPr sz="2400" b="1" dirty="0">
                <a:solidFill>
                  <a:srgbClr val="6F2F9F"/>
                </a:solidFill>
                <a:latin typeface="Calibri"/>
                <a:cs typeface="Calibri"/>
              </a:rPr>
              <a:t>frequencies,</a:t>
            </a:r>
            <a:r>
              <a:rPr sz="2400" b="1" spc="-40" dirty="0">
                <a:solidFill>
                  <a:srgbClr val="6F2F9F"/>
                </a:solidFill>
                <a:latin typeface="Calibri"/>
                <a:cs typeface="Calibri"/>
              </a:rPr>
              <a:t> </a:t>
            </a:r>
            <a:r>
              <a:rPr sz="2400" b="1" spc="-25" dirty="0">
                <a:solidFill>
                  <a:srgbClr val="6F2F9F"/>
                </a:solidFill>
                <a:latin typeface="Calibri"/>
                <a:cs typeface="Calibri"/>
              </a:rPr>
              <a:t>the </a:t>
            </a:r>
            <a:r>
              <a:rPr sz="2400" b="1" dirty="0">
                <a:solidFill>
                  <a:srgbClr val="6F2F9F"/>
                </a:solidFill>
                <a:latin typeface="Calibri"/>
                <a:cs typeface="Calibri"/>
              </a:rPr>
              <a:t>modulation</a:t>
            </a:r>
            <a:r>
              <a:rPr sz="2400" b="1" spc="-55" dirty="0">
                <a:solidFill>
                  <a:srgbClr val="6F2F9F"/>
                </a:solidFill>
                <a:latin typeface="Calibri"/>
                <a:cs typeface="Calibri"/>
              </a:rPr>
              <a:t> </a:t>
            </a:r>
            <a:r>
              <a:rPr sz="2400" b="1" dirty="0">
                <a:solidFill>
                  <a:srgbClr val="6F2F9F"/>
                </a:solidFill>
                <a:latin typeface="Calibri"/>
                <a:cs typeface="Calibri"/>
              </a:rPr>
              <a:t>index</a:t>
            </a:r>
            <a:r>
              <a:rPr sz="2400" b="1" spc="-65" dirty="0">
                <a:solidFill>
                  <a:srgbClr val="6F2F9F"/>
                </a:solidFill>
                <a:latin typeface="Calibri"/>
                <a:cs typeface="Calibri"/>
              </a:rPr>
              <a:t> </a:t>
            </a:r>
            <a:r>
              <a:rPr sz="2400" b="1" dirty="0">
                <a:solidFill>
                  <a:srgbClr val="6F2F9F"/>
                </a:solidFill>
                <a:latin typeface="Calibri"/>
                <a:cs typeface="Calibri"/>
              </a:rPr>
              <a:t>and</a:t>
            </a:r>
            <a:r>
              <a:rPr sz="2400" b="1" spc="-50" dirty="0">
                <a:solidFill>
                  <a:srgbClr val="6F2F9F"/>
                </a:solidFill>
                <a:latin typeface="Calibri"/>
                <a:cs typeface="Calibri"/>
              </a:rPr>
              <a:t> </a:t>
            </a:r>
            <a:r>
              <a:rPr sz="2400" b="1" dirty="0">
                <a:solidFill>
                  <a:srgbClr val="6F2F9F"/>
                </a:solidFill>
                <a:latin typeface="Calibri"/>
                <a:cs typeface="Calibri"/>
              </a:rPr>
              <a:t>deviation</a:t>
            </a:r>
            <a:r>
              <a:rPr sz="2400" b="1" spc="-60" dirty="0">
                <a:solidFill>
                  <a:srgbClr val="6F2F9F"/>
                </a:solidFill>
                <a:latin typeface="Calibri"/>
                <a:cs typeface="Calibri"/>
              </a:rPr>
              <a:t> </a:t>
            </a:r>
            <a:r>
              <a:rPr sz="2400" b="1" dirty="0">
                <a:solidFill>
                  <a:srgbClr val="6F2F9F"/>
                </a:solidFill>
                <a:latin typeface="Calibri"/>
                <a:cs typeface="Calibri"/>
              </a:rPr>
              <a:t>and</a:t>
            </a:r>
            <a:r>
              <a:rPr sz="2400" b="1" spc="-60" dirty="0">
                <a:solidFill>
                  <a:srgbClr val="6F2F9F"/>
                </a:solidFill>
                <a:latin typeface="Calibri"/>
                <a:cs typeface="Calibri"/>
              </a:rPr>
              <a:t> </a:t>
            </a:r>
            <a:r>
              <a:rPr sz="2400" b="1" dirty="0">
                <a:solidFill>
                  <a:srgbClr val="6F2F9F"/>
                </a:solidFill>
                <a:latin typeface="Calibri"/>
                <a:cs typeface="Calibri"/>
              </a:rPr>
              <a:t>the</a:t>
            </a:r>
            <a:r>
              <a:rPr sz="2400" b="1" spc="-40" dirty="0">
                <a:solidFill>
                  <a:srgbClr val="6F2F9F"/>
                </a:solidFill>
                <a:latin typeface="Calibri"/>
                <a:cs typeface="Calibri"/>
              </a:rPr>
              <a:t> </a:t>
            </a:r>
            <a:r>
              <a:rPr sz="2400" b="1" dirty="0">
                <a:solidFill>
                  <a:srgbClr val="6F2F9F"/>
                </a:solidFill>
                <a:latin typeface="Calibri"/>
                <a:cs typeface="Calibri"/>
              </a:rPr>
              <a:t>power</a:t>
            </a:r>
            <a:r>
              <a:rPr sz="2400" b="1" spc="-55" dirty="0">
                <a:solidFill>
                  <a:srgbClr val="6F2F9F"/>
                </a:solidFill>
                <a:latin typeface="Calibri"/>
                <a:cs typeface="Calibri"/>
              </a:rPr>
              <a:t> </a:t>
            </a:r>
            <a:r>
              <a:rPr sz="2400" b="1" spc="-10" dirty="0">
                <a:solidFill>
                  <a:srgbClr val="6F2F9F"/>
                </a:solidFill>
                <a:latin typeface="Calibri"/>
                <a:cs typeface="Calibri"/>
              </a:rPr>
              <a:t>dissipated</a:t>
            </a:r>
            <a:r>
              <a:rPr sz="2400" b="1" spc="-50" dirty="0">
                <a:solidFill>
                  <a:srgbClr val="6F2F9F"/>
                </a:solidFill>
                <a:latin typeface="Calibri"/>
                <a:cs typeface="Calibri"/>
              </a:rPr>
              <a:t> </a:t>
            </a:r>
            <a:r>
              <a:rPr sz="2400" b="1" dirty="0">
                <a:solidFill>
                  <a:srgbClr val="6F2F9F"/>
                </a:solidFill>
                <a:latin typeface="Calibri"/>
                <a:cs typeface="Calibri"/>
              </a:rPr>
              <a:t>in</a:t>
            </a:r>
            <a:r>
              <a:rPr sz="2400" b="1" spc="-60" dirty="0">
                <a:solidFill>
                  <a:srgbClr val="6F2F9F"/>
                </a:solidFill>
                <a:latin typeface="Calibri"/>
                <a:cs typeface="Calibri"/>
              </a:rPr>
              <a:t> </a:t>
            </a:r>
            <a:r>
              <a:rPr sz="2400" b="1" dirty="0">
                <a:solidFill>
                  <a:srgbClr val="6F2F9F"/>
                </a:solidFill>
                <a:latin typeface="Calibri"/>
                <a:cs typeface="Calibri"/>
              </a:rPr>
              <a:t>100</a:t>
            </a:r>
            <a:r>
              <a:rPr sz="2400" dirty="0">
                <a:solidFill>
                  <a:srgbClr val="6F2F9F"/>
                </a:solidFill>
                <a:latin typeface="Cambria Math"/>
                <a:cs typeface="Cambria Math"/>
              </a:rPr>
              <a:t>𝛀</a:t>
            </a:r>
            <a:r>
              <a:rPr sz="2400" spc="-50" dirty="0">
                <a:solidFill>
                  <a:srgbClr val="6F2F9F"/>
                </a:solidFill>
                <a:latin typeface="Cambria Math"/>
                <a:cs typeface="Cambria Math"/>
              </a:rPr>
              <a:t> </a:t>
            </a:r>
            <a:r>
              <a:rPr sz="2400" b="1" spc="-10" dirty="0">
                <a:solidFill>
                  <a:srgbClr val="6F2F9F"/>
                </a:solidFill>
                <a:latin typeface="Calibri"/>
                <a:cs typeface="Calibri"/>
              </a:rPr>
              <a:t>resistor.</a:t>
            </a:r>
            <a:endParaRPr sz="2400" dirty="0">
              <a:latin typeface="Calibri"/>
              <a:cs typeface="Calibri"/>
            </a:endParaRPr>
          </a:p>
        </p:txBody>
      </p:sp>
      <p:pic>
        <p:nvPicPr>
          <p:cNvPr id="4" name="object 4"/>
          <p:cNvPicPr/>
          <p:nvPr/>
        </p:nvPicPr>
        <p:blipFill rotWithShape="1">
          <a:blip r:embed="rId2" cstate="print"/>
          <a:srcRect t="23333" b="6667"/>
          <a:stretch/>
        </p:blipFill>
        <p:spPr>
          <a:xfrm>
            <a:off x="0" y="1981200"/>
            <a:ext cx="12192000" cy="4800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6593" y="-50165"/>
            <a:ext cx="11939270" cy="939800"/>
          </a:xfrm>
          <a:prstGeom prst="rect">
            <a:avLst/>
          </a:prstGeom>
        </p:spPr>
        <p:txBody>
          <a:bodyPr vert="horz" wrap="square" lIns="0" tIns="12700" rIns="0" bIns="0" rtlCol="0">
            <a:spAutoFit/>
          </a:bodyPr>
          <a:lstStyle/>
          <a:p>
            <a:pPr marL="12700">
              <a:lnSpc>
                <a:spcPct val="100000"/>
              </a:lnSpc>
              <a:spcBef>
                <a:spcPts val="100"/>
              </a:spcBef>
            </a:pPr>
            <a:r>
              <a:rPr sz="6000" spc="-135" dirty="0">
                <a:solidFill>
                  <a:srgbClr val="006600"/>
                </a:solidFill>
                <a:latin typeface="Trebuchet MS"/>
                <a:cs typeface="Trebuchet MS"/>
              </a:rPr>
              <a:t>Examples</a:t>
            </a:r>
            <a:r>
              <a:rPr sz="6000" spc="-280" dirty="0">
                <a:solidFill>
                  <a:srgbClr val="006600"/>
                </a:solidFill>
                <a:latin typeface="Trebuchet MS"/>
                <a:cs typeface="Trebuchet MS"/>
              </a:rPr>
              <a:t> </a:t>
            </a:r>
            <a:r>
              <a:rPr sz="6000" spc="-180" dirty="0">
                <a:solidFill>
                  <a:srgbClr val="006600"/>
                </a:solidFill>
                <a:latin typeface="Trebuchet MS"/>
                <a:cs typeface="Trebuchet MS"/>
              </a:rPr>
              <a:t>of</a:t>
            </a:r>
            <a:r>
              <a:rPr sz="6000" spc="-275" dirty="0">
                <a:solidFill>
                  <a:srgbClr val="006600"/>
                </a:solidFill>
                <a:latin typeface="Trebuchet MS"/>
                <a:cs typeface="Trebuchet MS"/>
              </a:rPr>
              <a:t> </a:t>
            </a:r>
            <a:r>
              <a:rPr sz="6000" spc="-245" dirty="0">
                <a:solidFill>
                  <a:srgbClr val="006600"/>
                </a:solidFill>
                <a:latin typeface="Trebuchet MS"/>
                <a:cs typeface="Trebuchet MS"/>
              </a:rPr>
              <a:t>Frequency</a:t>
            </a:r>
            <a:r>
              <a:rPr sz="6000" spc="-275" dirty="0">
                <a:solidFill>
                  <a:srgbClr val="006600"/>
                </a:solidFill>
                <a:latin typeface="Trebuchet MS"/>
                <a:cs typeface="Trebuchet MS"/>
              </a:rPr>
              <a:t> </a:t>
            </a:r>
            <a:r>
              <a:rPr sz="6000" spc="-10" dirty="0">
                <a:solidFill>
                  <a:srgbClr val="006600"/>
                </a:solidFill>
                <a:latin typeface="Trebuchet MS"/>
                <a:cs typeface="Trebuchet MS"/>
              </a:rPr>
              <a:t>Modulation</a:t>
            </a:r>
            <a:endParaRPr sz="6000">
              <a:latin typeface="Trebuchet MS"/>
              <a:cs typeface="Trebuchet MS"/>
            </a:endParaRPr>
          </a:p>
        </p:txBody>
      </p:sp>
      <p:sp>
        <p:nvSpPr>
          <p:cNvPr id="3" name="object 3"/>
          <p:cNvSpPr txBox="1"/>
          <p:nvPr/>
        </p:nvSpPr>
        <p:spPr>
          <a:xfrm>
            <a:off x="221995" y="860805"/>
            <a:ext cx="11774805" cy="1489075"/>
          </a:xfrm>
          <a:prstGeom prst="rect">
            <a:avLst/>
          </a:prstGeom>
        </p:spPr>
        <p:txBody>
          <a:bodyPr vert="horz" wrap="square" lIns="0" tIns="12700" rIns="0" bIns="0" rtlCol="0">
            <a:spAutoFit/>
          </a:bodyPr>
          <a:lstStyle/>
          <a:p>
            <a:pPr marL="12700" marR="5080">
              <a:lnSpc>
                <a:spcPct val="100000"/>
              </a:lnSpc>
              <a:spcBef>
                <a:spcPts val="100"/>
              </a:spcBef>
            </a:pPr>
            <a:r>
              <a:rPr sz="2400" b="1" dirty="0">
                <a:solidFill>
                  <a:srgbClr val="FF0000"/>
                </a:solidFill>
                <a:latin typeface="Calibri"/>
                <a:cs typeface="Calibri"/>
              </a:rPr>
              <a:t>Example</a:t>
            </a:r>
            <a:r>
              <a:rPr sz="2400" b="1" spc="30" dirty="0">
                <a:solidFill>
                  <a:srgbClr val="FF0000"/>
                </a:solidFill>
                <a:latin typeface="Calibri"/>
                <a:cs typeface="Calibri"/>
              </a:rPr>
              <a:t> </a:t>
            </a:r>
            <a:r>
              <a:rPr sz="2400" b="1" dirty="0">
                <a:solidFill>
                  <a:srgbClr val="FF0000"/>
                </a:solidFill>
                <a:latin typeface="Calibri"/>
                <a:cs typeface="Calibri"/>
              </a:rPr>
              <a:t>4.</a:t>
            </a:r>
            <a:r>
              <a:rPr sz="2400" b="1" spc="-5" dirty="0">
                <a:solidFill>
                  <a:srgbClr val="FF0000"/>
                </a:solidFill>
                <a:latin typeface="Calibri"/>
                <a:cs typeface="Calibri"/>
              </a:rPr>
              <a:t> </a:t>
            </a:r>
            <a:r>
              <a:rPr sz="2400" b="1" dirty="0">
                <a:solidFill>
                  <a:srgbClr val="6F2F9F"/>
                </a:solidFill>
                <a:latin typeface="Calibri"/>
                <a:cs typeface="Calibri"/>
              </a:rPr>
              <a:t>Use</a:t>
            </a:r>
            <a:r>
              <a:rPr sz="2400" b="1" spc="25" dirty="0">
                <a:solidFill>
                  <a:srgbClr val="6F2F9F"/>
                </a:solidFill>
                <a:latin typeface="Calibri"/>
                <a:cs typeface="Calibri"/>
              </a:rPr>
              <a:t> </a:t>
            </a:r>
            <a:r>
              <a:rPr sz="2400" b="1" spc="-10" dirty="0">
                <a:solidFill>
                  <a:srgbClr val="6F2F9F"/>
                </a:solidFill>
                <a:latin typeface="Calibri"/>
                <a:cs typeface="Calibri"/>
              </a:rPr>
              <a:t>Carson’s</a:t>
            </a:r>
            <a:r>
              <a:rPr sz="2400" b="1" spc="30" dirty="0">
                <a:solidFill>
                  <a:srgbClr val="6F2F9F"/>
                </a:solidFill>
                <a:latin typeface="Calibri"/>
                <a:cs typeface="Calibri"/>
              </a:rPr>
              <a:t> </a:t>
            </a:r>
            <a:r>
              <a:rPr sz="2400" b="1" dirty="0">
                <a:solidFill>
                  <a:srgbClr val="6F2F9F"/>
                </a:solidFill>
                <a:latin typeface="Calibri"/>
                <a:cs typeface="Calibri"/>
              </a:rPr>
              <a:t>Rule</a:t>
            </a:r>
            <a:r>
              <a:rPr sz="2400" b="1" spc="30" dirty="0">
                <a:solidFill>
                  <a:srgbClr val="6F2F9F"/>
                </a:solidFill>
                <a:latin typeface="Calibri"/>
                <a:cs typeface="Calibri"/>
              </a:rPr>
              <a:t> </a:t>
            </a:r>
            <a:r>
              <a:rPr sz="2400" b="1" dirty="0">
                <a:solidFill>
                  <a:srgbClr val="6F2F9F"/>
                </a:solidFill>
                <a:latin typeface="Calibri"/>
                <a:cs typeface="Calibri"/>
              </a:rPr>
              <a:t>to</a:t>
            </a:r>
            <a:r>
              <a:rPr sz="2400" b="1" spc="15" dirty="0">
                <a:solidFill>
                  <a:srgbClr val="6F2F9F"/>
                </a:solidFill>
                <a:latin typeface="Calibri"/>
                <a:cs typeface="Calibri"/>
              </a:rPr>
              <a:t> </a:t>
            </a:r>
            <a:r>
              <a:rPr sz="2400" b="1" dirty="0">
                <a:solidFill>
                  <a:srgbClr val="6F2F9F"/>
                </a:solidFill>
                <a:latin typeface="Calibri"/>
                <a:cs typeface="Calibri"/>
              </a:rPr>
              <a:t>compare</a:t>
            </a:r>
            <a:r>
              <a:rPr sz="2400" b="1" spc="35" dirty="0">
                <a:solidFill>
                  <a:srgbClr val="6F2F9F"/>
                </a:solidFill>
                <a:latin typeface="Calibri"/>
                <a:cs typeface="Calibri"/>
              </a:rPr>
              <a:t> </a:t>
            </a:r>
            <a:r>
              <a:rPr sz="2400" b="1" dirty="0">
                <a:solidFill>
                  <a:srgbClr val="6F2F9F"/>
                </a:solidFill>
                <a:latin typeface="Calibri"/>
                <a:cs typeface="Calibri"/>
              </a:rPr>
              <a:t>the</a:t>
            </a:r>
            <a:r>
              <a:rPr sz="2400" b="1" spc="30" dirty="0">
                <a:solidFill>
                  <a:srgbClr val="6F2F9F"/>
                </a:solidFill>
                <a:latin typeface="Calibri"/>
                <a:cs typeface="Calibri"/>
              </a:rPr>
              <a:t> </a:t>
            </a:r>
            <a:r>
              <a:rPr sz="2400" b="1" dirty="0">
                <a:solidFill>
                  <a:srgbClr val="6F2F9F"/>
                </a:solidFill>
                <a:latin typeface="Calibri"/>
                <a:cs typeface="Calibri"/>
              </a:rPr>
              <a:t>bandwidth</a:t>
            </a:r>
            <a:r>
              <a:rPr sz="2400" b="1" spc="25" dirty="0">
                <a:solidFill>
                  <a:srgbClr val="6F2F9F"/>
                </a:solidFill>
                <a:latin typeface="Calibri"/>
                <a:cs typeface="Calibri"/>
              </a:rPr>
              <a:t> </a:t>
            </a:r>
            <a:r>
              <a:rPr sz="2400" b="1" dirty="0">
                <a:solidFill>
                  <a:srgbClr val="6F2F9F"/>
                </a:solidFill>
                <a:latin typeface="Calibri"/>
                <a:cs typeface="Calibri"/>
              </a:rPr>
              <a:t>that</a:t>
            </a:r>
            <a:r>
              <a:rPr sz="2400" b="1" spc="25" dirty="0">
                <a:solidFill>
                  <a:srgbClr val="6F2F9F"/>
                </a:solidFill>
                <a:latin typeface="Calibri"/>
                <a:cs typeface="Calibri"/>
              </a:rPr>
              <a:t> </a:t>
            </a:r>
            <a:r>
              <a:rPr sz="2400" b="1" dirty="0">
                <a:solidFill>
                  <a:srgbClr val="6F2F9F"/>
                </a:solidFill>
                <a:latin typeface="Calibri"/>
                <a:cs typeface="Calibri"/>
              </a:rPr>
              <a:t>would</a:t>
            </a:r>
            <a:r>
              <a:rPr sz="2400" b="1" spc="15" dirty="0">
                <a:solidFill>
                  <a:srgbClr val="6F2F9F"/>
                </a:solidFill>
                <a:latin typeface="Calibri"/>
                <a:cs typeface="Calibri"/>
              </a:rPr>
              <a:t> </a:t>
            </a:r>
            <a:r>
              <a:rPr sz="2400" b="1" dirty="0">
                <a:solidFill>
                  <a:srgbClr val="6F2F9F"/>
                </a:solidFill>
                <a:latin typeface="Calibri"/>
                <a:cs typeface="Calibri"/>
              </a:rPr>
              <a:t>be</a:t>
            </a:r>
            <a:r>
              <a:rPr sz="2400" b="1" spc="30" dirty="0">
                <a:solidFill>
                  <a:srgbClr val="6F2F9F"/>
                </a:solidFill>
                <a:latin typeface="Calibri"/>
                <a:cs typeface="Calibri"/>
              </a:rPr>
              <a:t> </a:t>
            </a:r>
            <a:r>
              <a:rPr sz="2400" b="1" dirty="0">
                <a:solidFill>
                  <a:srgbClr val="6F2F9F"/>
                </a:solidFill>
                <a:latin typeface="Calibri"/>
                <a:cs typeface="Calibri"/>
              </a:rPr>
              <a:t>required</a:t>
            </a:r>
            <a:r>
              <a:rPr sz="2400" b="1" spc="10" dirty="0">
                <a:solidFill>
                  <a:srgbClr val="6F2F9F"/>
                </a:solidFill>
                <a:latin typeface="Calibri"/>
                <a:cs typeface="Calibri"/>
              </a:rPr>
              <a:t> </a:t>
            </a:r>
            <a:r>
              <a:rPr sz="2400" b="1" dirty="0">
                <a:solidFill>
                  <a:srgbClr val="6F2F9F"/>
                </a:solidFill>
                <a:latin typeface="Calibri"/>
                <a:cs typeface="Calibri"/>
              </a:rPr>
              <a:t>to</a:t>
            </a:r>
            <a:r>
              <a:rPr sz="2400" b="1" spc="30" dirty="0">
                <a:solidFill>
                  <a:srgbClr val="6F2F9F"/>
                </a:solidFill>
                <a:latin typeface="Calibri"/>
                <a:cs typeface="Calibri"/>
              </a:rPr>
              <a:t> </a:t>
            </a:r>
            <a:r>
              <a:rPr sz="2400" b="1" spc="-10" dirty="0">
                <a:solidFill>
                  <a:srgbClr val="6F2F9F"/>
                </a:solidFill>
                <a:latin typeface="Calibri"/>
                <a:cs typeface="Calibri"/>
              </a:rPr>
              <a:t>transmit </a:t>
            </a:r>
            <a:r>
              <a:rPr sz="2400" b="1" dirty="0">
                <a:solidFill>
                  <a:srgbClr val="6F2F9F"/>
                </a:solidFill>
                <a:latin typeface="Calibri"/>
                <a:cs typeface="Calibri"/>
              </a:rPr>
              <a:t>a</a:t>
            </a:r>
            <a:r>
              <a:rPr sz="2400" b="1" spc="-50" dirty="0">
                <a:solidFill>
                  <a:srgbClr val="6F2F9F"/>
                </a:solidFill>
                <a:latin typeface="Calibri"/>
                <a:cs typeface="Calibri"/>
              </a:rPr>
              <a:t> </a:t>
            </a:r>
            <a:r>
              <a:rPr sz="2400" b="1" dirty="0">
                <a:solidFill>
                  <a:srgbClr val="6F2F9F"/>
                </a:solidFill>
                <a:latin typeface="Calibri"/>
                <a:cs typeface="Calibri"/>
              </a:rPr>
              <a:t>baseband</a:t>
            </a:r>
            <a:r>
              <a:rPr sz="2400" b="1" spc="-50" dirty="0">
                <a:solidFill>
                  <a:srgbClr val="6F2F9F"/>
                </a:solidFill>
                <a:latin typeface="Calibri"/>
                <a:cs typeface="Calibri"/>
              </a:rPr>
              <a:t> </a:t>
            </a:r>
            <a:r>
              <a:rPr sz="2400" b="1" dirty="0">
                <a:solidFill>
                  <a:srgbClr val="6F2F9F"/>
                </a:solidFill>
                <a:latin typeface="Calibri"/>
                <a:cs typeface="Calibri"/>
              </a:rPr>
              <a:t>signal</a:t>
            </a:r>
            <a:r>
              <a:rPr sz="2400" b="1" spc="-55" dirty="0">
                <a:solidFill>
                  <a:srgbClr val="6F2F9F"/>
                </a:solidFill>
                <a:latin typeface="Calibri"/>
                <a:cs typeface="Calibri"/>
              </a:rPr>
              <a:t> </a:t>
            </a:r>
            <a:r>
              <a:rPr sz="2400" b="1" dirty="0">
                <a:solidFill>
                  <a:srgbClr val="6F2F9F"/>
                </a:solidFill>
                <a:latin typeface="Calibri"/>
                <a:cs typeface="Calibri"/>
              </a:rPr>
              <a:t>with</a:t>
            </a:r>
            <a:r>
              <a:rPr sz="2400" b="1" spc="-40" dirty="0">
                <a:solidFill>
                  <a:srgbClr val="6F2F9F"/>
                </a:solidFill>
                <a:latin typeface="Calibri"/>
                <a:cs typeface="Calibri"/>
              </a:rPr>
              <a:t> </a:t>
            </a:r>
            <a:r>
              <a:rPr sz="2400" b="1" dirty="0">
                <a:solidFill>
                  <a:srgbClr val="6F2F9F"/>
                </a:solidFill>
                <a:latin typeface="Calibri"/>
                <a:cs typeface="Calibri"/>
              </a:rPr>
              <a:t>a</a:t>
            </a:r>
            <a:r>
              <a:rPr sz="2400" b="1" spc="-60" dirty="0">
                <a:solidFill>
                  <a:srgbClr val="6F2F9F"/>
                </a:solidFill>
                <a:latin typeface="Calibri"/>
                <a:cs typeface="Calibri"/>
              </a:rPr>
              <a:t> </a:t>
            </a:r>
            <a:r>
              <a:rPr sz="2400" b="1" dirty="0">
                <a:solidFill>
                  <a:srgbClr val="6F2F9F"/>
                </a:solidFill>
                <a:latin typeface="Calibri"/>
                <a:cs typeface="Calibri"/>
              </a:rPr>
              <a:t>frequency</a:t>
            </a:r>
            <a:r>
              <a:rPr sz="2400" b="1" spc="-50" dirty="0">
                <a:solidFill>
                  <a:srgbClr val="6F2F9F"/>
                </a:solidFill>
                <a:latin typeface="Calibri"/>
                <a:cs typeface="Calibri"/>
              </a:rPr>
              <a:t> </a:t>
            </a:r>
            <a:r>
              <a:rPr sz="2400" b="1" dirty="0">
                <a:solidFill>
                  <a:srgbClr val="6F2F9F"/>
                </a:solidFill>
                <a:latin typeface="Calibri"/>
                <a:cs typeface="Calibri"/>
              </a:rPr>
              <a:t>range</a:t>
            </a:r>
            <a:r>
              <a:rPr sz="2400" b="1" spc="-45" dirty="0">
                <a:solidFill>
                  <a:srgbClr val="6F2F9F"/>
                </a:solidFill>
                <a:latin typeface="Calibri"/>
                <a:cs typeface="Calibri"/>
              </a:rPr>
              <a:t> </a:t>
            </a:r>
            <a:r>
              <a:rPr sz="2400" b="1" dirty="0">
                <a:solidFill>
                  <a:srgbClr val="6F2F9F"/>
                </a:solidFill>
                <a:latin typeface="Calibri"/>
                <a:cs typeface="Calibri"/>
              </a:rPr>
              <a:t>from</a:t>
            </a:r>
            <a:r>
              <a:rPr sz="2400" b="1" spc="-65" dirty="0">
                <a:solidFill>
                  <a:srgbClr val="6F2F9F"/>
                </a:solidFill>
                <a:latin typeface="Calibri"/>
                <a:cs typeface="Calibri"/>
              </a:rPr>
              <a:t> </a:t>
            </a:r>
            <a:r>
              <a:rPr sz="2400" b="1" dirty="0">
                <a:solidFill>
                  <a:srgbClr val="6F2F9F"/>
                </a:solidFill>
                <a:latin typeface="Calibri"/>
                <a:cs typeface="Calibri"/>
              </a:rPr>
              <a:t>300</a:t>
            </a:r>
            <a:r>
              <a:rPr sz="2400" b="1" spc="-55" dirty="0">
                <a:solidFill>
                  <a:srgbClr val="6F2F9F"/>
                </a:solidFill>
                <a:latin typeface="Calibri"/>
                <a:cs typeface="Calibri"/>
              </a:rPr>
              <a:t> </a:t>
            </a:r>
            <a:r>
              <a:rPr sz="2400" b="1" dirty="0">
                <a:solidFill>
                  <a:srgbClr val="6F2F9F"/>
                </a:solidFill>
                <a:latin typeface="Calibri"/>
                <a:cs typeface="Calibri"/>
              </a:rPr>
              <a:t>Hz</a:t>
            </a:r>
            <a:r>
              <a:rPr sz="2400" b="1" spc="-55" dirty="0">
                <a:solidFill>
                  <a:srgbClr val="6F2F9F"/>
                </a:solidFill>
                <a:latin typeface="Calibri"/>
                <a:cs typeface="Calibri"/>
              </a:rPr>
              <a:t> </a:t>
            </a:r>
            <a:r>
              <a:rPr sz="2400" b="1" dirty="0">
                <a:solidFill>
                  <a:srgbClr val="6F2F9F"/>
                </a:solidFill>
                <a:latin typeface="Calibri"/>
                <a:cs typeface="Calibri"/>
              </a:rPr>
              <a:t>to</a:t>
            </a:r>
            <a:r>
              <a:rPr sz="2400" b="1" spc="-45" dirty="0">
                <a:solidFill>
                  <a:srgbClr val="6F2F9F"/>
                </a:solidFill>
                <a:latin typeface="Calibri"/>
                <a:cs typeface="Calibri"/>
              </a:rPr>
              <a:t> </a:t>
            </a:r>
            <a:r>
              <a:rPr sz="2400" b="1" dirty="0">
                <a:solidFill>
                  <a:srgbClr val="6F2F9F"/>
                </a:solidFill>
                <a:latin typeface="Calibri"/>
                <a:cs typeface="Calibri"/>
              </a:rPr>
              <a:t>3</a:t>
            </a:r>
            <a:r>
              <a:rPr sz="2400" b="1" spc="-55" dirty="0">
                <a:solidFill>
                  <a:srgbClr val="6F2F9F"/>
                </a:solidFill>
                <a:latin typeface="Calibri"/>
                <a:cs typeface="Calibri"/>
              </a:rPr>
              <a:t> </a:t>
            </a:r>
            <a:r>
              <a:rPr sz="2400" b="1" dirty="0">
                <a:solidFill>
                  <a:srgbClr val="6F2F9F"/>
                </a:solidFill>
                <a:latin typeface="Calibri"/>
                <a:cs typeface="Calibri"/>
              </a:rPr>
              <a:t>kHz</a:t>
            </a:r>
            <a:r>
              <a:rPr sz="2400" b="1" spc="-55" dirty="0">
                <a:solidFill>
                  <a:srgbClr val="6F2F9F"/>
                </a:solidFill>
                <a:latin typeface="Calibri"/>
                <a:cs typeface="Calibri"/>
              </a:rPr>
              <a:t> </a:t>
            </a:r>
            <a:r>
              <a:rPr sz="2400" b="1" spc="-10" dirty="0">
                <a:solidFill>
                  <a:srgbClr val="6F2F9F"/>
                </a:solidFill>
                <a:latin typeface="Calibri"/>
                <a:cs typeface="Calibri"/>
              </a:rPr>
              <a:t>using</a:t>
            </a:r>
            <a:endParaRPr sz="2400">
              <a:latin typeface="Calibri"/>
              <a:cs typeface="Calibri"/>
            </a:endParaRPr>
          </a:p>
          <a:p>
            <a:pPr marL="469900" indent="-457200">
              <a:lnSpc>
                <a:spcPct val="100000"/>
              </a:lnSpc>
              <a:buAutoNum type="alphaLcPeriod"/>
              <a:tabLst>
                <a:tab pos="469900" algn="l"/>
              </a:tabLst>
            </a:pPr>
            <a:r>
              <a:rPr sz="2400" b="1" dirty="0">
                <a:solidFill>
                  <a:srgbClr val="7E5F00"/>
                </a:solidFill>
                <a:latin typeface="Calibri"/>
                <a:cs typeface="Calibri"/>
              </a:rPr>
              <a:t>NBFM</a:t>
            </a:r>
            <a:r>
              <a:rPr sz="2400" b="1" spc="-45" dirty="0">
                <a:solidFill>
                  <a:srgbClr val="7E5F00"/>
                </a:solidFill>
                <a:latin typeface="Calibri"/>
                <a:cs typeface="Calibri"/>
              </a:rPr>
              <a:t> </a:t>
            </a:r>
            <a:r>
              <a:rPr sz="2400" b="1" dirty="0">
                <a:solidFill>
                  <a:srgbClr val="7E5F00"/>
                </a:solidFill>
                <a:latin typeface="Calibri"/>
                <a:cs typeface="Calibri"/>
              </a:rPr>
              <a:t>with</a:t>
            </a:r>
            <a:r>
              <a:rPr sz="2400" b="1" spc="-30" dirty="0">
                <a:solidFill>
                  <a:srgbClr val="7E5F00"/>
                </a:solidFill>
                <a:latin typeface="Calibri"/>
                <a:cs typeface="Calibri"/>
              </a:rPr>
              <a:t> </a:t>
            </a:r>
            <a:r>
              <a:rPr sz="2400" b="1" dirty="0">
                <a:solidFill>
                  <a:srgbClr val="7E5F00"/>
                </a:solidFill>
                <a:latin typeface="Calibri"/>
                <a:cs typeface="Calibri"/>
              </a:rPr>
              <a:t>maximum</a:t>
            </a:r>
            <a:r>
              <a:rPr sz="2400" b="1" spc="-55" dirty="0">
                <a:solidFill>
                  <a:srgbClr val="7E5F00"/>
                </a:solidFill>
                <a:latin typeface="Calibri"/>
                <a:cs typeface="Calibri"/>
              </a:rPr>
              <a:t> </a:t>
            </a:r>
            <a:r>
              <a:rPr sz="2400" b="1" dirty="0">
                <a:solidFill>
                  <a:srgbClr val="7E5F00"/>
                </a:solidFill>
                <a:latin typeface="Calibri"/>
                <a:cs typeface="Calibri"/>
              </a:rPr>
              <a:t>deviation</a:t>
            </a:r>
            <a:r>
              <a:rPr sz="2400" b="1" spc="-20" dirty="0">
                <a:solidFill>
                  <a:srgbClr val="7E5F00"/>
                </a:solidFill>
                <a:latin typeface="Calibri"/>
                <a:cs typeface="Calibri"/>
              </a:rPr>
              <a:t> </a:t>
            </a:r>
            <a:r>
              <a:rPr sz="2400" b="1" dirty="0">
                <a:solidFill>
                  <a:srgbClr val="7E5F00"/>
                </a:solidFill>
                <a:latin typeface="Calibri"/>
                <a:cs typeface="Calibri"/>
              </a:rPr>
              <a:t>of</a:t>
            </a:r>
            <a:r>
              <a:rPr sz="2400" b="1" spc="-50" dirty="0">
                <a:solidFill>
                  <a:srgbClr val="7E5F00"/>
                </a:solidFill>
                <a:latin typeface="Calibri"/>
                <a:cs typeface="Calibri"/>
              </a:rPr>
              <a:t> </a:t>
            </a:r>
            <a:r>
              <a:rPr sz="2400" b="1" dirty="0">
                <a:solidFill>
                  <a:srgbClr val="7E5F00"/>
                </a:solidFill>
                <a:latin typeface="Calibri"/>
                <a:cs typeface="Calibri"/>
              </a:rPr>
              <a:t>5</a:t>
            </a:r>
            <a:r>
              <a:rPr sz="2400" b="1" spc="-35" dirty="0">
                <a:solidFill>
                  <a:srgbClr val="7E5F00"/>
                </a:solidFill>
                <a:latin typeface="Calibri"/>
                <a:cs typeface="Calibri"/>
              </a:rPr>
              <a:t> </a:t>
            </a:r>
            <a:r>
              <a:rPr sz="2400" b="1" spc="-20" dirty="0">
                <a:solidFill>
                  <a:srgbClr val="7E5F00"/>
                </a:solidFill>
                <a:latin typeface="Calibri"/>
                <a:cs typeface="Calibri"/>
              </a:rPr>
              <a:t>kHz.</a:t>
            </a:r>
            <a:endParaRPr sz="2400">
              <a:latin typeface="Calibri"/>
              <a:cs typeface="Calibri"/>
            </a:endParaRPr>
          </a:p>
          <a:p>
            <a:pPr marL="469900" indent="-457200">
              <a:lnSpc>
                <a:spcPct val="100000"/>
              </a:lnSpc>
              <a:buAutoNum type="alphaLcPeriod"/>
              <a:tabLst>
                <a:tab pos="469900" algn="l"/>
              </a:tabLst>
            </a:pPr>
            <a:r>
              <a:rPr sz="2400" b="1" dirty="0">
                <a:solidFill>
                  <a:srgbClr val="7E5F00"/>
                </a:solidFill>
                <a:latin typeface="Calibri"/>
                <a:cs typeface="Calibri"/>
              </a:rPr>
              <a:t>WBFM</a:t>
            </a:r>
            <a:r>
              <a:rPr sz="2400" b="1" spc="-65" dirty="0">
                <a:solidFill>
                  <a:srgbClr val="7E5F00"/>
                </a:solidFill>
                <a:latin typeface="Calibri"/>
                <a:cs typeface="Calibri"/>
              </a:rPr>
              <a:t> </a:t>
            </a:r>
            <a:r>
              <a:rPr sz="2400" b="1" dirty="0">
                <a:solidFill>
                  <a:srgbClr val="7E5F00"/>
                </a:solidFill>
                <a:latin typeface="Calibri"/>
                <a:cs typeface="Calibri"/>
              </a:rPr>
              <a:t>with</a:t>
            </a:r>
            <a:r>
              <a:rPr sz="2400" b="1" spc="-55" dirty="0">
                <a:solidFill>
                  <a:srgbClr val="7E5F00"/>
                </a:solidFill>
                <a:latin typeface="Calibri"/>
                <a:cs typeface="Calibri"/>
              </a:rPr>
              <a:t> </a:t>
            </a:r>
            <a:r>
              <a:rPr sz="2400" b="1" dirty="0">
                <a:solidFill>
                  <a:srgbClr val="7E5F00"/>
                </a:solidFill>
                <a:latin typeface="Calibri"/>
                <a:cs typeface="Calibri"/>
              </a:rPr>
              <a:t>maximum</a:t>
            </a:r>
            <a:r>
              <a:rPr sz="2400" b="1" spc="-75" dirty="0">
                <a:solidFill>
                  <a:srgbClr val="7E5F00"/>
                </a:solidFill>
                <a:latin typeface="Calibri"/>
                <a:cs typeface="Calibri"/>
              </a:rPr>
              <a:t> </a:t>
            </a:r>
            <a:r>
              <a:rPr sz="2400" b="1" dirty="0">
                <a:solidFill>
                  <a:srgbClr val="7E5F00"/>
                </a:solidFill>
                <a:latin typeface="Calibri"/>
                <a:cs typeface="Calibri"/>
              </a:rPr>
              <a:t>deviation</a:t>
            </a:r>
            <a:r>
              <a:rPr sz="2400" b="1" spc="-50" dirty="0">
                <a:solidFill>
                  <a:srgbClr val="7E5F00"/>
                </a:solidFill>
                <a:latin typeface="Calibri"/>
                <a:cs typeface="Calibri"/>
              </a:rPr>
              <a:t> </a:t>
            </a:r>
            <a:r>
              <a:rPr sz="2400" b="1" dirty="0">
                <a:solidFill>
                  <a:srgbClr val="7E5F00"/>
                </a:solidFill>
                <a:latin typeface="Calibri"/>
                <a:cs typeface="Calibri"/>
              </a:rPr>
              <a:t>of</a:t>
            </a:r>
            <a:r>
              <a:rPr sz="2400" b="1" spc="-75" dirty="0">
                <a:solidFill>
                  <a:srgbClr val="7E5F00"/>
                </a:solidFill>
                <a:latin typeface="Calibri"/>
                <a:cs typeface="Calibri"/>
              </a:rPr>
              <a:t> </a:t>
            </a:r>
            <a:r>
              <a:rPr sz="2400" b="1" dirty="0">
                <a:solidFill>
                  <a:srgbClr val="7E5F00"/>
                </a:solidFill>
                <a:latin typeface="Calibri"/>
                <a:cs typeface="Calibri"/>
              </a:rPr>
              <a:t>75</a:t>
            </a:r>
            <a:r>
              <a:rPr sz="2400" b="1" spc="-60" dirty="0">
                <a:solidFill>
                  <a:srgbClr val="7E5F00"/>
                </a:solidFill>
                <a:latin typeface="Calibri"/>
                <a:cs typeface="Calibri"/>
              </a:rPr>
              <a:t> </a:t>
            </a:r>
            <a:r>
              <a:rPr sz="2400" b="1" spc="-20" dirty="0">
                <a:solidFill>
                  <a:srgbClr val="7E5F00"/>
                </a:solidFill>
                <a:latin typeface="Calibri"/>
                <a:cs typeface="Calibri"/>
              </a:rPr>
              <a:t>kHz.</a:t>
            </a:r>
            <a:endParaRPr sz="2400">
              <a:latin typeface="Calibri"/>
              <a:cs typeface="Calibri"/>
            </a:endParaRPr>
          </a:p>
        </p:txBody>
      </p:sp>
      <p:pic>
        <p:nvPicPr>
          <p:cNvPr id="4" name="object 4"/>
          <p:cNvPicPr/>
          <p:nvPr/>
        </p:nvPicPr>
        <p:blipFill rotWithShape="1">
          <a:blip r:embed="rId2" cstate="print"/>
          <a:srcRect t="35555"/>
          <a:stretch/>
        </p:blipFill>
        <p:spPr>
          <a:xfrm>
            <a:off x="0" y="2438400"/>
            <a:ext cx="12192000" cy="4419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995" y="73278"/>
            <a:ext cx="11776710" cy="1123315"/>
          </a:xfrm>
          <a:prstGeom prst="rect">
            <a:avLst/>
          </a:prstGeom>
        </p:spPr>
        <p:txBody>
          <a:bodyPr vert="horz" wrap="square" lIns="0" tIns="12700" rIns="0" bIns="0" rtlCol="0">
            <a:spAutoFit/>
          </a:bodyPr>
          <a:lstStyle/>
          <a:p>
            <a:pPr marL="12700" marR="5080" algn="just">
              <a:lnSpc>
                <a:spcPct val="100000"/>
              </a:lnSpc>
              <a:spcBef>
                <a:spcPts val="100"/>
              </a:spcBef>
            </a:pPr>
            <a:r>
              <a:rPr dirty="0">
                <a:solidFill>
                  <a:srgbClr val="FF0000"/>
                </a:solidFill>
              </a:rPr>
              <a:t>Example</a:t>
            </a:r>
            <a:r>
              <a:rPr spc="515" dirty="0">
                <a:solidFill>
                  <a:srgbClr val="FF0000"/>
                </a:solidFill>
              </a:rPr>
              <a:t> </a:t>
            </a:r>
            <a:r>
              <a:rPr dirty="0">
                <a:solidFill>
                  <a:srgbClr val="FF0000"/>
                </a:solidFill>
              </a:rPr>
              <a:t>5.</a:t>
            </a:r>
            <a:r>
              <a:rPr spc="500" dirty="0">
                <a:solidFill>
                  <a:srgbClr val="FF0000"/>
                </a:solidFill>
              </a:rPr>
              <a:t> </a:t>
            </a:r>
            <a:r>
              <a:rPr dirty="0"/>
              <a:t>The</a:t>
            </a:r>
            <a:r>
              <a:rPr spc="505" dirty="0"/>
              <a:t> </a:t>
            </a:r>
            <a:r>
              <a:rPr dirty="0"/>
              <a:t>carrier</a:t>
            </a:r>
            <a:r>
              <a:rPr spc="520" dirty="0"/>
              <a:t> </a:t>
            </a:r>
            <a:r>
              <a:rPr dirty="0"/>
              <a:t>frequency</a:t>
            </a:r>
            <a:r>
              <a:rPr spc="500" dirty="0"/>
              <a:t> </a:t>
            </a:r>
            <a:r>
              <a:rPr dirty="0"/>
              <a:t>of</a:t>
            </a:r>
            <a:r>
              <a:rPr spc="500" dirty="0"/>
              <a:t> </a:t>
            </a:r>
            <a:r>
              <a:rPr dirty="0"/>
              <a:t>an</a:t>
            </a:r>
            <a:r>
              <a:rPr spc="505" dirty="0"/>
              <a:t> </a:t>
            </a:r>
            <a:r>
              <a:rPr dirty="0"/>
              <a:t>FM</a:t>
            </a:r>
            <a:r>
              <a:rPr spc="520" dirty="0"/>
              <a:t> </a:t>
            </a:r>
            <a:r>
              <a:rPr dirty="0"/>
              <a:t>broadcast</a:t>
            </a:r>
            <a:r>
              <a:rPr spc="505" dirty="0"/>
              <a:t> </a:t>
            </a:r>
            <a:r>
              <a:rPr dirty="0"/>
              <a:t>transmitter</a:t>
            </a:r>
            <a:r>
              <a:rPr spc="515" dirty="0"/>
              <a:t> </a:t>
            </a:r>
            <a:r>
              <a:rPr dirty="0"/>
              <a:t>is</a:t>
            </a:r>
            <a:r>
              <a:rPr spc="505" dirty="0"/>
              <a:t> </a:t>
            </a:r>
            <a:r>
              <a:rPr dirty="0"/>
              <a:t>100</a:t>
            </a:r>
            <a:r>
              <a:rPr spc="500" dirty="0"/>
              <a:t> </a:t>
            </a:r>
            <a:r>
              <a:rPr dirty="0"/>
              <a:t>MHz,</a:t>
            </a:r>
            <a:r>
              <a:rPr spc="520" dirty="0"/>
              <a:t> </a:t>
            </a:r>
            <a:r>
              <a:rPr dirty="0"/>
              <a:t>and</a:t>
            </a:r>
            <a:r>
              <a:rPr spc="509" dirty="0"/>
              <a:t> </a:t>
            </a:r>
            <a:r>
              <a:rPr spc="-25" dirty="0"/>
              <a:t>the </a:t>
            </a:r>
            <a:r>
              <a:rPr dirty="0"/>
              <a:t>maximum frequency</a:t>
            </a:r>
            <a:r>
              <a:rPr spc="15" dirty="0"/>
              <a:t> </a:t>
            </a:r>
            <a:r>
              <a:rPr dirty="0"/>
              <a:t>deviation is</a:t>
            </a:r>
            <a:r>
              <a:rPr spc="15" dirty="0"/>
              <a:t> </a:t>
            </a:r>
            <a:r>
              <a:rPr dirty="0"/>
              <a:t>75</a:t>
            </a:r>
            <a:r>
              <a:rPr spc="10" dirty="0"/>
              <a:t> </a:t>
            </a:r>
            <a:r>
              <a:rPr dirty="0"/>
              <a:t>kHz.</a:t>
            </a:r>
            <a:r>
              <a:rPr spc="-5" dirty="0"/>
              <a:t> </a:t>
            </a:r>
            <a:r>
              <a:rPr dirty="0"/>
              <a:t>If</a:t>
            </a:r>
            <a:r>
              <a:rPr spc="10" dirty="0"/>
              <a:t> </a:t>
            </a:r>
            <a:r>
              <a:rPr dirty="0"/>
              <a:t>the</a:t>
            </a:r>
            <a:r>
              <a:rPr spc="30" dirty="0"/>
              <a:t> </a:t>
            </a:r>
            <a:r>
              <a:rPr dirty="0"/>
              <a:t>highest</a:t>
            </a:r>
            <a:r>
              <a:rPr spc="10" dirty="0"/>
              <a:t> </a:t>
            </a:r>
            <a:r>
              <a:rPr dirty="0"/>
              <a:t>audio</a:t>
            </a:r>
            <a:r>
              <a:rPr spc="25" dirty="0"/>
              <a:t> </a:t>
            </a:r>
            <a:r>
              <a:rPr dirty="0"/>
              <a:t>frequency</a:t>
            </a:r>
            <a:r>
              <a:rPr spc="5" dirty="0"/>
              <a:t> </a:t>
            </a:r>
            <a:r>
              <a:rPr dirty="0"/>
              <a:t>modulating</a:t>
            </a:r>
            <a:r>
              <a:rPr spc="25" dirty="0"/>
              <a:t> </a:t>
            </a:r>
            <a:r>
              <a:rPr dirty="0"/>
              <a:t>carrier</a:t>
            </a:r>
            <a:r>
              <a:rPr spc="15" dirty="0"/>
              <a:t> </a:t>
            </a:r>
            <a:r>
              <a:rPr spc="-25" dirty="0"/>
              <a:t>is </a:t>
            </a:r>
            <a:r>
              <a:rPr dirty="0"/>
              <a:t>15</a:t>
            </a:r>
            <a:r>
              <a:rPr spc="-55" dirty="0"/>
              <a:t> </a:t>
            </a:r>
            <a:r>
              <a:rPr dirty="0"/>
              <a:t>kHz.</a:t>
            </a:r>
            <a:r>
              <a:rPr spc="-60" dirty="0"/>
              <a:t> </a:t>
            </a:r>
            <a:r>
              <a:rPr dirty="0"/>
              <a:t>What</a:t>
            </a:r>
            <a:r>
              <a:rPr spc="-50" dirty="0"/>
              <a:t> </a:t>
            </a:r>
            <a:r>
              <a:rPr dirty="0"/>
              <a:t>is</a:t>
            </a:r>
            <a:r>
              <a:rPr spc="-45" dirty="0"/>
              <a:t> </a:t>
            </a:r>
            <a:r>
              <a:rPr dirty="0"/>
              <a:t>the</a:t>
            </a:r>
            <a:r>
              <a:rPr spc="-30" dirty="0"/>
              <a:t> </a:t>
            </a:r>
            <a:r>
              <a:rPr spc="-10" dirty="0"/>
              <a:t>approximate</a:t>
            </a:r>
            <a:r>
              <a:rPr spc="-55" dirty="0"/>
              <a:t> </a:t>
            </a:r>
            <a:r>
              <a:rPr dirty="0"/>
              <a:t>bandwidth</a:t>
            </a:r>
            <a:r>
              <a:rPr spc="-40" dirty="0"/>
              <a:t> </a:t>
            </a:r>
            <a:r>
              <a:rPr dirty="0"/>
              <a:t>of</a:t>
            </a:r>
            <a:r>
              <a:rPr spc="-50" dirty="0"/>
              <a:t> </a:t>
            </a:r>
            <a:r>
              <a:rPr dirty="0"/>
              <a:t>the</a:t>
            </a:r>
            <a:r>
              <a:rPr spc="-35" dirty="0"/>
              <a:t> </a:t>
            </a:r>
            <a:r>
              <a:rPr spc="-10" dirty="0"/>
              <a:t>signal?</a:t>
            </a:r>
          </a:p>
        </p:txBody>
      </p:sp>
      <p:pic>
        <p:nvPicPr>
          <p:cNvPr id="3" name="object 3"/>
          <p:cNvPicPr/>
          <p:nvPr/>
        </p:nvPicPr>
        <p:blipFill rotWithShape="1">
          <a:blip r:embed="rId2" cstate="print"/>
          <a:srcRect t="21112" b="-1"/>
          <a:stretch/>
        </p:blipFill>
        <p:spPr>
          <a:xfrm>
            <a:off x="0" y="1447800"/>
            <a:ext cx="12192000" cy="541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42536" y="515746"/>
            <a:ext cx="4431665" cy="368300"/>
          </a:xfrm>
          <a:custGeom>
            <a:avLst/>
            <a:gdLst/>
            <a:ahLst/>
            <a:cxnLst/>
            <a:rect l="l" t="t" r="r" b="b"/>
            <a:pathLst>
              <a:path w="4431665" h="368300">
                <a:moveTo>
                  <a:pt x="100457" y="12192"/>
                </a:moveTo>
                <a:lnTo>
                  <a:pt x="96647" y="0"/>
                </a:lnTo>
                <a:lnTo>
                  <a:pt x="74803" y="8534"/>
                </a:lnTo>
                <a:lnTo>
                  <a:pt x="55600" y="21907"/>
                </a:lnTo>
                <a:lnTo>
                  <a:pt x="25146" y="63246"/>
                </a:lnTo>
                <a:lnTo>
                  <a:pt x="6286" y="118986"/>
                </a:lnTo>
                <a:lnTo>
                  <a:pt x="0" y="184277"/>
                </a:lnTo>
                <a:lnTo>
                  <a:pt x="1498" y="216547"/>
                </a:lnTo>
                <a:lnTo>
                  <a:pt x="14135" y="278244"/>
                </a:lnTo>
                <a:lnTo>
                  <a:pt x="39039" y="328028"/>
                </a:lnTo>
                <a:lnTo>
                  <a:pt x="74803" y="359651"/>
                </a:lnTo>
                <a:lnTo>
                  <a:pt x="96647" y="368173"/>
                </a:lnTo>
                <a:lnTo>
                  <a:pt x="100457" y="355981"/>
                </a:lnTo>
                <a:lnTo>
                  <a:pt x="83527" y="347218"/>
                </a:lnTo>
                <a:lnTo>
                  <a:pt x="68770" y="334454"/>
                </a:lnTo>
                <a:lnTo>
                  <a:pt x="45847" y="296926"/>
                </a:lnTo>
                <a:lnTo>
                  <a:pt x="31953" y="246087"/>
                </a:lnTo>
                <a:lnTo>
                  <a:pt x="27305" y="184277"/>
                </a:lnTo>
                <a:lnTo>
                  <a:pt x="28460" y="151930"/>
                </a:lnTo>
                <a:lnTo>
                  <a:pt x="37744" y="95402"/>
                </a:lnTo>
                <a:lnTo>
                  <a:pt x="56197" y="50482"/>
                </a:lnTo>
                <a:lnTo>
                  <a:pt x="83527" y="20955"/>
                </a:lnTo>
                <a:lnTo>
                  <a:pt x="100457" y="12192"/>
                </a:lnTo>
                <a:close/>
              </a:path>
              <a:path w="4431665" h="368300">
                <a:moveTo>
                  <a:pt x="2811653" y="12192"/>
                </a:moveTo>
                <a:lnTo>
                  <a:pt x="2807843" y="0"/>
                </a:lnTo>
                <a:lnTo>
                  <a:pt x="2785999" y="8534"/>
                </a:lnTo>
                <a:lnTo>
                  <a:pt x="2766796" y="21907"/>
                </a:lnTo>
                <a:lnTo>
                  <a:pt x="2736342" y="63246"/>
                </a:lnTo>
                <a:lnTo>
                  <a:pt x="2717482" y="118986"/>
                </a:lnTo>
                <a:lnTo>
                  <a:pt x="2711196" y="184277"/>
                </a:lnTo>
                <a:lnTo>
                  <a:pt x="2712694" y="216547"/>
                </a:lnTo>
                <a:lnTo>
                  <a:pt x="2725331" y="278244"/>
                </a:lnTo>
                <a:lnTo>
                  <a:pt x="2750235" y="328028"/>
                </a:lnTo>
                <a:lnTo>
                  <a:pt x="2785999" y="359651"/>
                </a:lnTo>
                <a:lnTo>
                  <a:pt x="2807843" y="368173"/>
                </a:lnTo>
                <a:lnTo>
                  <a:pt x="2811653" y="355981"/>
                </a:lnTo>
                <a:lnTo>
                  <a:pt x="2794724" y="347218"/>
                </a:lnTo>
                <a:lnTo>
                  <a:pt x="2779966" y="334454"/>
                </a:lnTo>
                <a:lnTo>
                  <a:pt x="2757043" y="296926"/>
                </a:lnTo>
                <a:lnTo>
                  <a:pt x="2743149" y="246087"/>
                </a:lnTo>
                <a:lnTo>
                  <a:pt x="2738501" y="184277"/>
                </a:lnTo>
                <a:lnTo>
                  <a:pt x="2739656" y="151930"/>
                </a:lnTo>
                <a:lnTo>
                  <a:pt x="2748940" y="95402"/>
                </a:lnTo>
                <a:lnTo>
                  <a:pt x="2767393" y="50482"/>
                </a:lnTo>
                <a:lnTo>
                  <a:pt x="2794724" y="20955"/>
                </a:lnTo>
                <a:lnTo>
                  <a:pt x="2811653" y="12192"/>
                </a:lnTo>
                <a:close/>
              </a:path>
              <a:path w="4431665" h="368300">
                <a:moveTo>
                  <a:pt x="4294111" y="184277"/>
                </a:moveTo>
                <a:lnTo>
                  <a:pt x="4292612" y="151930"/>
                </a:lnTo>
                <a:lnTo>
                  <a:pt x="4292549" y="150393"/>
                </a:lnTo>
                <a:lnTo>
                  <a:pt x="4287837" y="118986"/>
                </a:lnTo>
                <a:lnTo>
                  <a:pt x="4268978" y="63246"/>
                </a:lnTo>
                <a:lnTo>
                  <a:pt x="4238498" y="21907"/>
                </a:lnTo>
                <a:lnTo>
                  <a:pt x="4197350" y="0"/>
                </a:lnTo>
                <a:lnTo>
                  <a:pt x="4193667" y="12192"/>
                </a:lnTo>
                <a:lnTo>
                  <a:pt x="4210570" y="20955"/>
                </a:lnTo>
                <a:lnTo>
                  <a:pt x="4225290" y="33718"/>
                </a:lnTo>
                <a:lnTo>
                  <a:pt x="4248150" y="71247"/>
                </a:lnTo>
                <a:lnTo>
                  <a:pt x="4262082" y="122288"/>
                </a:lnTo>
                <a:lnTo>
                  <a:pt x="4266692" y="184277"/>
                </a:lnTo>
                <a:lnTo>
                  <a:pt x="4265536" y="216547"/>
                </a:lnTo>
                <a:lnTo>
                  <a:pt x="4256290" y="272884"/>
                </a:lnTo>
                <a:lnTo>
                  <a:pt x="4237812" y="317690"/>
                </a:lnTo>
                <a:lnTo>
                  <a:pt x="4210570" y="347218"/>
                </a:lnTo>
                <a:lnTo>
                  <a:pt x="4193667" y="355981"/>
                </a:lnTo>
                <a:lnTo>
                  <a:pt x="4197350" y="368173"/>
                </a:lnTo>
                <a:lnTo>
                  <a:pt x="4238498" y="346265"/>
                </a:lnTo>
                <a:lnTo>
                  <a:pt x="4268978" y="304927"/>
                </a:lnTo>
                <a:lnTo>
                  <a:pt x="4287837" y="249212"/>
                </a:lnTo>
                <a:lnTo>
                  <a:pt x="4292549" y="217855"/>
                </a:lnTo>
                <a:lnTo>
                  <a:pt x="4294111" y="184277"/>
                </a:lnTo>
                <a:close/>
              </a:path>
              <a:path w="4431665" h="368300">
                <a:moveTo>
                  <a:pt x="4431271" y="184277"/>
                </a:moveTo>
                <a:lnTo>
                  <a:pt x="4429772" y="151930"/>
                </a:lnTo>
                <a:lnTo>
                  <a:pt x="4429709" y="150393"/>
                </a:lnTo>
                <a:lnTo>
                  <a:pt x="4424997" y="118986"/>
                </a:lnTo>
                <a:lnTo>
                  <a:pt x="4406138" y="63246"/>
                </a:lnTo>
                <a:lnTo>
                  <a:pt x="4375658" y="21907"/>
                </a:lnTo>
                <a:lnTo>
                  <a:pt x="4334510" y="0"/>
                </a:lnTo>
                <a:lnTo>
                  <a:pt x="4330827" y="12192"/>
                </a:lnTo>
                <a:lnTo>
                  <a:pt x="4347730" y="20955"/>
                </a:lnTo>
                <a:lnTo>
                  <a:pt x="4362450" y="33718"/>
                </a:lnTo>
                <a:lnTo>
                  <a:pt x="4385310" y="71247"/>
                </a:lnTo>
                <a:lnTo>
                  <a:pt x="4399242" y="122288"/>
                </a:lnTo>
                <a:lnTo>
                  <a:pt x="4403852" y="184277"/>
                </a:lnTo>
                <a:lnTo>
                  <a:pt x="4402696" y="216547"/>
                </a:lnTo>
                <a:lnTo>
                  <a:pt x="4393450" y="272884"/>
                </a:lnTo>
                <a:lnTo>
                  <a:pt x="4374972" y="317690"/>
                </a:lnTo>
                <a:lnTo>
                  <a:pt x="4347730" y="347218"/>
                </a:lnTo>
                <a:lnTo>
                  <a:pt x="4330827" y="355981"/>
                </a:lnTo>
                <a:lnTo>
                  <a:pt x="4334510" y="368173"/>
                </a:lnTo>
                <a:lnTo>
                  <a:pt x="4375658" y="346265"/>
                </a:lnTo>
                <a:lnTo>
                  <a:pt x="4406138" y="304927"/>
                </a:lnTo>
                <a:lnTo>
                  <a:pt x="4424997" y="249212"/>
                </a:lnTo>
                <a:lnTo>
                  <a:pt x="4429709" y="217855"/>
                </a:lnTo>
                <a:lnTo>
                  <a:pt x="4431271" y="184277"/>
                </a:lnTo>
                <a:close/>
              </a:path>
            </a:pathLst>
          </a:custGeom>
          <a:solidFill>
            <a:srgbClr val="000000"/>
          </a:solidFill>
        </p:spPr>
        <p:txBody>
          <a:bodyPr wrap="square" lIns="0" tIns="0" rIns="0" bIns="0" rtlCol="0"/>
          <a:lstStyle/>
          <a:p>
            <a:endParaRPr/>
          </a:p>
        </p:txBody>
      </p:sp>
      <p:sp>
        <p:nvSpPr>
          <p:cNvPr id="3" name="object 3"/>
          <p:cNvSpPr txBox="1"/>
          <p:nvPr/>
        </p:nvSpPr>
        <p:spPr>
          <a:xfrm>
            <a:off x="171195" y="43133"/>
            <a:ext cx="11852910" cy="1566545"/>
          </a:xfrm>
          <a:prstGeom prst="rect">
            <a:avLst/>
          </a:prstGeom>
        </p:spPr>
        <p:txBody>
          <a:bodyPr vert="horz" wrap="square" lIns="0" tIns="42545" rIns="0" bIns="0" rtlCol="0">
            <a:spAutoFit/>
          </a:bodyPr>
          <a:lstStyle/>
          <a:p>
            <a:pPr marL="63500">
              <a:lnSpc>
                <a:spcPct val="100000"/>
              </a:lnSpc>
              <a:spcBef>
                <a:spcPts val="335"/>
              </a:spcBef>
            </a:pPr>
            <a:r>
              <a:rPr sz="2400" b="1" dirty="0">
                <a:solidFill>
                  <a:srgbClr val="FF0000"/>
                </a:solidFill>
                <a:latin typeface="Calibri"/>
                <a:cs typeface="Calibri"/>
              </a:rPr>
              <a:t>Example</a:t>
            </a:r>
            <a:r>
              <a:rPr sz="2400" b="1" spc="-60" dirty="0">
                <a:solidFill>
                  <a:srgbClr val="FF0000"/>
                </a:solidFill>
                <a:latin typeface="Calibri"/>
                <a:cs typeface="Calibri"/>
              </a:rPr>
              <a:t> </a:t>
            </a:r>
            <a:r>
              <a:rPr sz="2400" b="1" dirty="0">
                <a:solidFill>
                  <a:srgbClr val="FF0000"/>
                </a:solidFill>
                <a:latin typeface="Calibri"/>
                <a:cs typeface="Calibri"/>
              </a:rPr>
              <a:t>6.</a:t>
            </a:r>
            <a:r>
              <a:rPr sz="2400" b="1" spc="-60" dirty="0">
                <a:solidFill>
                  <a:srgbClr val="FF0000"/>
                </a:solidFill>
                <a:latin typeface="Calibri"/>
                <a:cs typeface="Calibri"/>
              </a:rPr>
              <a:t> </a:t>
            </a:r>
            <a:r>
              <a:rPr sz="2400" b="1" dirty="0">
                <a:solidFill>
                  <a:srgbClr val="6F2F9F"/>
                </a:solidFill>
                <a:latin typeface="Calibri"/>
                <a:cs typeface="Calibri"/>
              </a:rPr>
              <a:t>A</a:t>
            </a:r>
            <a:r>
              <a:rPr sz="2400" b="1" spc="-55" dirty="0">
                <a:solidFill>
                  <a:srgbClr val="6F2F9F"/>
                </a:solidFill>
                <a:latin typeface="Calibri"/>
                <a:cs typeface="Calibri"/>
              </a:rPr>
              <a:t> </a:t>
            </a:r>
            <a:r>
              <a:rPr sz="2400" b="1" dirty="0">
                <a:solidFill>
                  <a:srgbClr val="6F2F9F"/>
                </a:solidFill>
                <a:latin typeface="Calibri"/>
                <a:cs typeface="Calibri"/>
              </a:rPr>
              <a:t>single</a:t>
            </a:r>
            <a:r>
              <a:rPr sz="2400" b="1" spc="-50" dirty="0">
                <a:solidFill>
                  <a:srgbClr val="6F2F9F"/>
                </a:solidFill>
                <a:latin typeface="Calibri"/>
                <a:cs typeface="Calibri"/>
              </a:rPr>
              <a:t> </a:t>
            </a:r>
            <a:r>
              <a:rPr sz="2400" b="1" dirty="0">
                <a:solidFill>
                  <a:srgbClr val="6F2F9F"/>
                </a:solidFill>
                <a:latin typeface="Calibri"/>
                <a:cs typeface="Calibri"/>
              </a:rPr>
              <a:t>tone</a:t>
            </a:r>
            <a:r>
              <a:rPr sz="2400" b="1" spc="-50" dirty="0">
                <a:solidFill>
                  <a:srgbClr val="6F2F9F"/>
                </a:solidFill>
                <a:latin typeface="Calibri"/>
                <a:cs typeface="Calibri"/>
              </a:rPr>
              <a:t> </a:t>
            </a:r>
            <a:r>
              <a:rPr sz="2400" b="1" dirty="0">
                <a:solidFill>
                  <a:srgbClr val="6F2F9F"/>
                </a:solidFill>
                <a:latin typeface="Calibri"/>
                <a:cs typeface="Calibri"/>
              </a:rPr>
              <a:t>FM</a:t>
            </a:r>
            <a:r>
              <a:rPr sz="2400" b="1" spc="-60" dirty="0">
                <a:solidFill>
                  <a:srgbClr val="6F2F9F"/>
                </a:solidFill>
                <a:latin typeface="Calibri"/>
                <a:cs typeface="Calibri"/>
              </a:rPr>
              <a:t> </a:t>
            </a:r>
            <a:r>
              <a:rPr sz="2400" b="1" dirty="0">
                <a:solidFill>
                  <a:srgbClr val="6F2F9F"/>
                </a:solidFill>
                <a:latin typeface="Calibri"/>
                <a:cs typeface="Calibri"/>
              </a:rPr>
              <a:t>signal</a:t>
            </a:r>
            <a:r>
              <a:rPr sz="2400" b="1" spc="-60" dirty="0">
                <a:solidFill>
                  <a:srgbClr val="6F2F9F"/>
                </a:solidFill>
                <a:latin typeface="Calibri"/>
                <a:cs typeface="Calibri"/>
              </a:rPr>
              <a:t> </a:t>
            </a:r>
            <a:r>
              <a:rPr sz="2400" b="1" dirty="0">
                <a:solidFill>
                  <a:srgbClr val="6F2F9F"/>
                </a:solidFill>
                <a:latin typeface="Calibri"/>
                <a:cs typeface="Calibri"/>
              </a:rPr>
              <a:t>is</a:t>
            </a:r>
            <a:r>
              <a:rPr sz="2400" b="1" spc="-55" dirty="0">
                <a:solidFill>
                  <a:srgbClr val="6F2F9F"/>
                </a:solidFill>
                <a:latin typeface="Calibri"/>
                <a:cs typeface="Calibri"/>
              </a:rPr>
              <a:t> </a:t>
            </a:r>
            <a:r>
              <a:rPr sz="2400" b="1" dirty="0">
                <a:solidFill>
                  <a:srgbClr val="6F2F9F"/>
                </a:solidFill>
                <a:latin typeface="Calibri"/>
                <a:cs typeface="Calibri"/>
              </a:rPr>
              <a:t>given</a:t>
            </a:r>
            <a:r>
              <a:rPr sz="2400" b="1" spc="-55" dirty="0">
                <a:solidFill>
                  <a:srgbClr val="6F2F9F"/>
                </a:solidFill>
                <a:latin typeface="Calibri"/>
                <a:cs typeface="Calibri"/>
              </a:rPr>
              <a:t> </a:t>
            </a:r>
            <a:r>
              <a:rPr sz="2400" b="1" spc="-25" dirty="0">
                <a:solidFill>
                  <a:srgbClr val="6F2F9F"/>
                </a:solidFill>
                <a:latin typeface="Calibri"/>
                <a:cs typeface="Calibri"/>
              </a:rPr>
              <a:t>by:</a:t>
            </a:r>
            <a:endParaRPr sz="2400">
              <a:latin typeface="Calibri"/>
              <a:cs typeface="Calibri"/>
            </a:endParaRPr>
          </a:p>
          <a:p>
            <a:pPr marL="26034" algn="ctr">
              <a:lnSpc>
                <a:spcPct val="100000"/>
              </a:lnSpc>
              <a:spcBef>
                <a:spcPts val="240"/>
              </a:spcBef>
              <a:tabLst>
                <a:tab pos="2050414" algn="l"/>
                <a:tab pos="4761865" algn="l"/>
                <a:tab pos="6398895" algn="l"/>
              </a:tabLst>
            </a:pPr>
            <a:r>
              <a:rPr sz="2400" dirty="0">
                <a:latin typeface="Cambria Math"/>
                <a:cs typeface="Cambria Math"/>
              </a:rPr>
              <a:t>⟹</a:t>
            </a:r>
            <a:r>
              <a:rPr sz="2400" spc="130" dirty="0">
                <a:latin typeface="Cambria Math"/>
                <a:cs typeface="Cambria Math"/>
              </a:rPr>
              <a:t> </a:t>
            </a:r>
            <a:r>
              <a:rPr sz="2400" dirty="0">
                <a:latin typeface="Cambria Math"/>
                <a:cs typeface="Cambria Math"/>
              </a:rPr>
              <a:t>𝐕</a:t>
            </a:r>
            <a:r>
              <a:rPr sz="2400" spc="140" dirty="0">
                <a:latin typeface="Cambria Math"/>
                <a:cs typeface="Cambria Math"/>
              </a:rPr>
              <a:t> </a:t>
            </a:r>
            <a:r>
              <a:rPr sz="2400" dirty="0">
                <a:latin typeface="Cambria Math"/>
                <a:cs typeface="Cambria Math"/>
              </a:rPr>
              <a:t>=</a:t>
            </a:r>
            <a:r>
              <a:rPr sz="2400" spc="135" dirty="0">
                <a:latin typeface="Cambria Math"/>
                <a:cs typeface="Cambria Math"/>
              </a:rPr>
              <a:t> </a:t>
            </a:r>
            <a:r>
              <a:rPr sz="2400" spc="-20" dirty="0">
                <a:latin typeface="Cambria Math"/>
                <a:cs typeface="Cambria Math"/>
              </a:rPr>
              <a:t>𝟏𝟎</a:t>
            </a:r>
            <a:r>
              <a:rPr sz="2400" spc="-140" dirty="0">
                <a:latin typeface="Cambria Math"/>
                <a:cs typeface="Cambria Math"/>
              </a:rPr>
              <a:t> </a:t>
            </a:r>
            <a:r>
              <a:rPr sz="2400" spc="-25" dirty="0">
                <a:latin typeface="Cambria Math"/>
                <a:cs typeface="Cambria Math"/>
              </a:rPr>
              <a:t>𝐬𝐢𝐧</a:t>
            </a:r>
            <a:r>
              <a:rPr sz="2400" dirty="0">
                <a:latin typeface="Cambria Math"/>
                <a:cs typeface="Cambria Math"/>
              </a:rPr>
              <a:t>	𝟏𝟔𝛑</a:t>
            </a:r>
            <a:r>
              <a:rPr sz="2400" spc="-5" dirty="0">
                <a:latin typeface="Cambria Math"/>
                <a:cs typeface="Cambria Math"/>
              </a:rPr>
              <a:t> </a:t>
            </a:r>
            <a:r>
              <a:rPr sz="2400" dirty="0">
                <a:latin typeface="Cambria Math"/>
                <a:cs typeface="Cambria Math"/>
              </a:rPr>
              <a:t>×</a:t>
            </a:r>
            <a:r>
              <a:rPr sz="2400" spc="10" dirty="0">
                <a:latin typeface="Cambria Math"/>
                <a:cs typeface="Cambria Math"/>
              </a:rPr>
              <a:t> </a:t>
            </a:r>
            <a:r>
              <a:rPr sz="2400" dirty="0">
                <a:latin typeface="Cambria Math"/>
                <a:cs typeface="Cambria Math"/>
              </a:rPr>
              <a:t>𝟏𝟎</a:t>
            </a:r>
            <a:r>
              <a:rPr sz="2625" baseline="28571" dirty="0">
                <a:latin typeface="Cambria Math"/>
                <a:cs typeface="Cambria Math"/>
              </a:rPr>
              <a:t>𝟖</a:t>
            </a:r>
            <a:r>
              <a:rPr sz="2400" dirty="0">
                <a:latin typeface="Cambria Math"/>
                <a:cs typeface="Cambria Math"/>
              </a:rPr>
              <a:t>𝐭 + </a:t>
            </a:r>
            <a:r>
              <a:rPr sz="2400" spc="-20" dirty="0">
                <a:latin typeface="Cambria Math"/>
                <a:cs typeface="Cambria Math"/>
              </a:rPr>
              <a:t>𝟑</a:t>
            </a:r>
            <a:r>
              <a:rPr sz="2400" spc="-114" dirty="0">
                <a:latin typeface="Cambria Math"/>
                <a:cs typeface="Cambria Math"/>
              </a:rPr>
              <a:t> </a:t>
            </a:r>
            <a:r>
              <a:rPr sz="2400" spc="-25" dirty="0">
                <a:latin typeface="Cambria Math"/>
                <a:cs typeface="Cambria Math"/>
              </a:rPr>
              <a:t>𝐬𝐢𝐧</a:t>
            </a:r>
            <a:r>
              <a:rPr sz="2400" dirty="0">
                <a:latin typeface="Cambria Math"/>
                <a:cs typeface="Cambria Math"/>
              </a:rPr>
              <a:t>	𝟐𝛑</a:t>
            </a:r>
            <a:r>
              <a:rPr sz="2400" spc="-20" dirty="0">
                <a:latin typeface="Cambria Math"/>
                <a:cs typeface="Cambria Math"/>
              </a:rPr>
              <a:t> </a:t>
            </a:r>
            <a:r>
              <a:rPr sz="2400" dirty="0">
                <a:latin typeface="Cambria Math"/>
                <a:cs typeface="Cambria Math"/>
              </a:rPr>
              <a:t>×</a:t>
            </a:r>
            <a:r>
              <a:rPr sz="2400" spc="-5" dirty="0">
                <a:latin typeface="Cambria Math"/>
                <a:cs typeface="Cambria Math"/>
              </a:rPr>
              <a:t> </a:t>
            </a:r>
            <a:r>
              <a:rPr sz="2400" spc="-20" dirty="0">
                <a:latin typeface="Cambria Math"/>
                <a:cs typeface="Cambria Math"/>
              </a:rPr>
              <a:t>𝟏𝟎</a:t>
            </a:r>
            <a:r>
              <a:rPr sz="2625" spc="-30" baseline="28571" dirty="0">
                <a:latin typeface="Cambria Math"/>
                <a:cs typeface="Cambria Math"/>
              </a:rPr>
              <a:t>𝟑</a:t>
            </a:r>
            <a:r>
              <a:rPr sz="2400" spc="-20" dirty="0">
                <a:latin typeface="Cambria Math"/>
                <a:cs typeface="Cambria Math"/>
              </a:rPr>
              <a:t>𝐭</a:t>
            </a:r>
            <a:r>
              <a:rPr sz="2400" dirty="0">
                <a:latin typeface="Cambria Math"/>
                <a:cs typeface="Cambria Math"/>
              </a:rPr>
              <a:t>	</a:t>
            </a:r>
            <a:r>
              <a:rPr sz="2400" spc="-20" dirty="0">
                <a:latin typeface="Cambria Math"/>
                <a:cs typeface="Cambria Math"/>
              </a:rPr>
              <a:t>𝐕𝐨𝐥𝐭</a:t>
            </a:r>
            <a:endParaRPr sz="2400">
              <a:latin typeface="Cambria Math"/>
              <a:cs typeface="Cambria Math"/>
            </a:endParaRPr>
          </a:p>
          <a:p>
            <a:pPr marL="63500" marR="30480">
              <a:lnSpc>
                <a:spcPct val="100000"/>
              </a:lnSpc>
              <a:spcBef>
                <a:spcPts val="135"/>
              </a:spcBef>
            </a:pPr>
            <a:r>
              <a:rPr sz="2400" b="1" dirty="0">
                <a:solidFill>
                  <a:srgbClr val="6F2F9F"/>
                </a:solidFill>
                <a:latin typeface="Calibri"/>
                <a:cs typeface="Calibri"/>
              </a:rPr>
              <a:t>Find</a:t>
            </a:r>
            <a:r>
              <a:rPr sz="2400" b="1" spc="-20" dirty="0">
                <a:solidFill>
                  <a:srgbClr val="6F2F9F"/>
                </a:solidFill>
                <a:latin typeface="Calibri"/>
                <a:cs typeface="Calibri"/>
              </a:rPr>
              <a:t> </a:t>
            </a:r>
            <a:r>
              <a:rPr sz="2400" b="1" dirty="0">
                <a:solidFill>
                  <a:srgbClr val="6F2F9F"/>
                </a:solidFill>
                <a:latin typeface="Calibri"/>
                <a:cs typeface="Calibri"/>
              </a:rPr>
              <a:t>the</a:t>
            </a:r>
            <a:r>
              <a:rPr sz="2400" b="1" spc="-10" dirty="0">
                <a:solidFill>
                  <a:srgbClr val="6F2F9F"/>
                </a:solidFill>
                <a:latin typeface="Calibri"/>
                <a:cs typeface="Calibri"/>
              </a:rPr>
              <a:t> </a:t>
            </a:r>
            <a:r>
              <a:rPr sz="2400" b="1" dirty="0">
                <a:solidFill>
                  <a:srgbClr val="6F2F9F"/>
                </a:solidFill>
                <a:latin typeface="Calibri"/>
                <a:cs typeface="Calibri"/>
              </a:rPr>
              <a:t>modulation</a:t>
            </a:r>
            <a:r>
              <a:rPr sz="2400" b="1" spc="-15" dirty="0">
                <a:solidFill>
                  <a:srgbClr val="6F2F9F"/>
                </a:solidFill>
                <a:latin typeface="Calibri"/>
                <a:cs typeface="Calibri"/>
              </a:rPr>
              <a:t> </a:t>
            </a:r>
            <a:r>
              <a:rPr sz="2400" b="1" dirty="0">
                <a:solidFill>
                  <a:srgbClr val="6F2F9F"/>
                </a:solidFill>
                <a:latin typeface="Calibri"/>
                <a:cs typeface="Calibri"/>
              </a:rPr>
              <a:t>index,</a:t>
            </a:r>
            <a:r>
              <a:rPr sz="2400" b="1" spc="-10" dirty="0">
                <a:solidFill>
                  <a:srgbClr val="6F2F9F"/>
                </a:solidFill>
                <a:latin typeface="Calibri"/>
                <a:cs typeface="Calibri"/>
              </a:rPr>
              <a:t> </a:t>
            </a:r>
            <a:r>
              <a:rPr sz="2400" b="1" dirty="0">
                <a:solidFill>
                  <a:srgbClr val="6F2F9F"/>
                </a:solidFill>
                <a:latin typeface="Calibri"/>
                <a:cs typeface="Calibri"/>
              </a:rPr>
              <a:t>modulating</a:t>
            </a:r>
            <a:r>
              <a:rPr sz="2400" b="1" spc="-15" dirty="0">
                <a:solidFill>
                  <a:srgbClr val="6F2F9F"/>
                </a:solidFill>
                <a:latin typeface="Calibri"/>
                <a:cs typeface="Calibri"/>
              </a:rPr>
              <a:t> </a:t>
            </a:r>
            <a:r>
              <a:rPr sz="2400" b="1" spc="-10" dirty="0">
                <a:solidFill>
                  <a:srgbClr val="6F2F9F"/>
                </a:solidFill>
                <a:latin typeface="Calibri"/>
                <a:cs typeface="Calibri"/>
              </a:rPr>
              <a:t>frequency, </a:t>
            </a:r>
            <a:r>
              <a:rPr sz="2400" b="1" dirty="0">
                <a:solidFill>
                  <a:srgbClr val="6F2F9F"/>
                </a:solidFill>
                <a:latin typeface="Calibri"/>
                <a:cs typeface="Calibri"/>
              </a:rPr>
              <a:t>deviation,</a:t>
            </a:r>
            <a:r>
              <a:rPr sz="2400" b="1" spc="-5" dirty="0">
                <a:solidFill>
                  <a:srgbClr val="6F2F9F"/>
                </a:solidFill>
                <a:latin typeface="Calibri"/>
                <a:cs typeface="Calibri"/>
              </a:rPr>
              <a:t> </a:t>
            </a:r>
            <a:r>
              <a:rPr sz="2400" b="1" dirty="0">
                <a:solidFill>
                  <a:srgbClr val="6F2F9F"/>
                </a:solidFill>
                <a:latin typeface="Calibri"/>
                <a:cs typeface="Calibri"/>
              </a:rPr>
              <a:t>carrier</a:t>
            </a:r>
            <a:r>
              <a:rPr sz="2400" b="1" spc="-10" dirty="0">
                <a:solidFill>
                  <a:srgbClr val="6F2F9F"/>
                </a:solidFill>
                <a:latin typeface="Calibri"/>
                <a:cs typeface="Calibri"/>
              </a:rPr>
              <a:t> </a:t>
            </a:r>
            <a:r>
              <a:rPr sz="2400" b="1" dirty="0">
                <a:solidFill>
                  <a:srgbClr val="6F2F9F"/>
                </a:solidFill>
                <a:latin typeface="Calibri"/>
                <a:cs typeface="Calibri"/>
              </a:rPr>
              <a:t>frequency</a:t>
            </a:r>
            <a:r>
              <a:rPr sz="2400" b="1" spc="-15" dirty="0">
                <a:solidFill>
                  <a:srgbClr val="6F2F9F"/>
                </a:solidFill>
                <a:latin typeface="Calibri"/>
                <a:cs typeface="Calibri"/>
              </a:rPr>
              <a:t> </a:t>
            </a:r>
            <a:r>
              <a:rPr sz="2400" b="1" dirty="0">
                <a:solidFill>
                  <a:srgbClr val="6F2F9F"/>
                </a:solidFill>
                <a:latin typeface="Calibri"/>
                <a:cs typeface="Calibri"/>
              </a:rPr>
              <a:t>and</a:t>
            </a:r>
            <a:r>
              <a:rPr sz="2400" b="1" spc="-15" dirty="0">
                <a:solidFill>
                  <a:srgbClr val="6F2F9F"/>
                </a:solidFill>
                <a:latin typeface="Calibri"/>
                <a:cs typeface="Calibri"/>
              </a:rPr>
              <a:t> </a:t>
            </a:r>
            <a:r>
              <a:rPr sz="2400" b="1" dirty="0">
                <a:solidFill>
                  <a:srgbClr val="6F2F9F"/>
                </a:solidFill>
                <a:latin typeface="Calibri"/>
                <a:cs typeface="Calibri"/>
              </a:rPr>
              <a:t>power</a:t>
            </a:r>
            <a:r>
              <a:rPr sz="2400" b="1" spc="-10" dirty="0">
                <a:solidFill>
                  <a:srgbClr val="6F2F9F"/>
                </a:solidFill>
                <a:latin typeface="Calibri"/>
                <a:cs typeface="Calibri"/>
              </a:rPr>
              <a:t> </a:t>
            </a:r>
            <a:r>
              <a:rPr sz="2400" b="1" spc="-25" dirty="0">
                <a:solidFill>
                  <a:srgbClr val="6F2F9F"/>
                </a:solidFill>
                <a:latin typeface="Calibri"/>
                <a:cs typeface="Calibri"/>
              </a:rPr>
              <a:t>of </a:t>
            </a:r>
            <a:r>
              <a:rPr sz="2400" b="1" dirty="0">
                <a:solidFill>
                  <a:srgbClr val="6F2F9F"/>
                </a:solidFill>
                <a:latin typeface="Calibri"/>
                <a:cs typeface="Calibri"/>
              </a:rPr>
              <a:t>the</a:t>
            </a:r>
            <a:r>
              <a:rPr sz="2400" b="1" spc="-30" dirty="0">
                <a:solidFill>
                  <a:srgbClr val="6F2F9F"/>
                </a:solidFill>
                <a:latin typeface="Calibri"/>
                <a:cs typeface="Calibri"/>
              </a:rPr>
              <a:t> </a:t>
            </a:r>
            <a:r>
              <a:rPr sz="2400" b="1" dirty="0">
                <a:solidFill>
                  <a:srgbClr val="6F2F9F"/>
                </a:solidFill>
                <a:latin typeface="Calibri"/>
                <a:cs typeface="Calibri"/>
              </a:rPr>
              <a:t>FM</a:t>
            </a:r>
            <a:r>
              <a:rPr sz="2400" b="1" spc="-60" dirty="0">
                <a:solidFill>
                  <a:srgbClr val="6F2F9F"/>
                </a:solidFill>
                <a:latin typeface="Calibri"/>
                <a:cs typeface="Calibri"/>
              </a:rPr>
              <a:t> </a:t>
            </a:r>
            <a:r>
              <a:rPr sz="2400" b="1" spc="-10" dirty="0">
                <a:solidFill>
                  <a:srgbClr val="6F2F9F"/>
                </a:solidFill>
                <a:latin typeface="Calibri"/>
                <a:cs typeface="Calibri"/>
              </a:rPr>
              <a:t>signal.</a:t>
            </a:r>
            <a:endParaRPr sz="2400">
              <a:latin typeface="Calibri"/>
              <a:cs typeface="Calibri"/>
            </a:endParaRPr>
          </a:p>
        </p:txBody>
      </p:sp>
      <p:pic>
        <p:nvPicPr>
          <p:cNvPr id="4" name="object 4"/>
          <p:cNvPicPr/>
          <p:nvPr/>
        </p:nvPicPr>
        <p:blipFill rotWithShape="1">
          <a:blip r:embed="rId2" cstate="print"/>
          <a:srcRect t="23471"/>
          <a:stretch/>
        </p:blipFill>
        <p:spPr>
          <a:xfrm>
            <a:off x="0" y="1609678"/>
            <a:ext cx="12192000" cy="52483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6593" y="-50165"/>
            <a:ext cx="11939270" cy="939800"/>
          </a:xfrm>
          <a:prstGeom prst="rect">
            <a:avLst/>
          </a:prstGeom>
        </p:spPr>
        <p:txBody>
          <a:bodyPr vert="horz" wrap="square" lIns="0" tIns="12700" rIns="0" bIns="0" rtlCol="0">
            <a:spAutoFit/>
          </a:bodyPr>
          <a:lstStyle/>
          <a:p>
            <a:pPr marL="12700">
              <a:lnSpc>
                <a:spcPct val="100000"/>
              </a:lnSpc>
              <a:spcBef>
                <a:spcPts val="100"/>
              </a:spcBef>
            </a:pPr>
            <a:r>
              <a:rPr sz="6000" spc="-135" dirty="0">
                <a:solidFill>
                  <a:srgbClr val="006600"/>
                </a:solidFill>
                <a:latin typeface="Trebuchet MS"/>
                <a:cs typeface="Trebuchet MS"/>
              </a:rPr>
              <a:t>Examples</a:t>
            </a:r>
            <a:r>
              <a:rPr sz="6000" spc="-280" dirty="0">
                <a:solidFill>
                  <a:srgbClr val="006600"/>
                </a:solidFill>
                <a:latin typeface="Trebuchet MS"/>
                <a:cs typeface="Trebuchet MS"/>
              </a:rPr>
              <a:t> </a:t>
            </a:r>
            <a:r>
              <a:rPr sz="6000" spc="-180" dirty="0">
                <a:solidFill>
                  <a:srgbClr val="006600"/>
                </a:solidFill>
                <a:latin typeface="Trebuchet MS"/>
                <a:cs typeface="Trebuchet MS"/>
              </a:rPr>
              <a:t>of</a:t>
            </a:r>
            <a:r>
              <a:rPr sz="6000" spc="-275" dirty="0">
                <a:solidFill>
                  <a:srgbClr val="006600"/>
                </a:solidFill>
                <a:latin typeface="Trebuchet MS"/>
                <a:cs typeface="Trebuchet MS"/>
              </a:rPr>
              <a:t> </a:t>
            </a:r>
            <a:r>
              <a:rPr sz="6000" spc="-245" dirty="0">
                <a:solidFill>
                  <a:srgbClr val="006600"/>
                </a:solidFill>
                <a:latin typeface="Trebuchet MS"/>
                <a:cs typeface="Trebuchet MS"/>
              </a:rPr>
              <a:t>Frequency</a:t>
            </a:r>
            <a:r>
              <a:rPr sz="6000" spc="-275" dirty="0">
                <a:solidFill>
                  <a:srgbClr val="006600"/>
                </a:solidFill>
                <a:latin typeface="Trebuchet MS"/>
                <a:cs typeface="Trebuchet MS"/>
              </a:rPr>
              <a:t> </a:t>
            </a:r>
            <a:r>
              <a:rPr sz="6000" spc="-10" dirty="0">
                <a:solidFill>
                  <a:srgbClr val="006600"/>
                </a:solidFill>
                <a:latin typeface="Trebuchet MS"/>
                <a:cs typeface="Trebuchet MS"/>
              </a:rPr>
              <a:t>Modulation</a:t>
            </a:r>
            <a:endParaRPr sz="6000">
              <a:latin typeface="Trebuchet MS"/>
              <a:cs typeface="Trebuchet MS"/>
            </a:endParaRPr>
          </a:p>
        </p:txBody>
      </p:sp>
      <p:sp>
        <p:nvSpPr>
          <p:cNvPr id="3" name="object 3"/>
          <p:cNvSpPr/>
          <p:nvPr/>
        </p:nvSpPr>
        <p:spPr>
          <a:xfrm>
            <a:off x="5002784" y="1387855"/>
            <a:ext cx="3512820" cy="368300"/>
          </a:xfrm>
          <a:custGeom>
            <a:avLst/>
            <a:gdLst/>
            <a:ahLst/>
            <a:cxnLst/>
            <a:rect l="l" t="t" r="r" b="b"/>
            <a:pathLst>
              <a:path w="3512820" h="368300">
                <a:moveTo>
                  <a:pt x="100457" y="12192"/>
                </a:moveTo>
                <a:lnTo>
                  <a:pt x="96647" y="0"/>
                </a:lnTo>
                <a:lnTo>
                  <a:pt x="74803" y="8534"/>
                </a:lnTo>
                <a:lnTo>
                  <a:pt x="55600" y="21907"/>
                </a:lnTo>
                <a:lnTo>
                  <a:pt x="25146" y="63246"/>
                </a:lnTo>
                <a:lnTo>
                  <a:pt x="6286" y="118973"/>
                </a:lnTo>
                <a:lnTo>
                  <a:pt x="0" y="184150"/>
                </a:lnTo>
                <a:lnTo>
                  <a:pt x="1498" y="216420"/>
                </a:lnTo>
                <a:lnTo>
                  <a:pt x="1562" y="217792"/>
                </a:lnTo>
                <a:lnTo>
                  <a:pt x="14135" y="278231"/>
                </a:lnTo>
                <a:lnTo>
                  <a:pt x="39039" y="328028"/>
                </a:lnTo>
                <a:lnTo>
                  <a:pt x="74803" y="359651"/>
                </a:lnTo>
                <a:lnTo>
                  <a:pt x="96647" y="368173"/>
                </a:lnTo>
                <a:lnTo>
                  <a:pt x="100457" y="355981"/>
                </a:lnTo>
                <a:lnTo>
                  <a:pt x="83527" y="347218"/>
                </a:lnTo>
                <a:lnTo>
                  <a:pt x="68770" y="334454"/>
                </a:lnTo>
                <a:lnTo>
                  <a:pt x="45847" y="296926"/>
                </a:lnTo>
                <a:lnTo>
                  <a:pt x="31953" y="245973"/>
                </a:lnTo>
                <a:lnTo>
                  <a:pt x="27305" y="184150"/>
                </a:lnTo>
                <a:lnTo>
                  <a:pt x="28460" y="151815"/>
                </a:lnTo>
                <a:lnTo>
                  <a:pt x="37744" y="95377"/>
                </a:lnTo>
                <a:lnTo>
                  <a:pt x="56197" y="50482"/>
                </a:lnTo>
                <a:lnTo>
                  <a:pt x="83527" y="20955"/>
                </a:lnTo>
                <a:lnTo>
                  <a:pt x="100457" y="12192"/>
                </a:lnTo>
                <a:close/>
              </a:path>
              <a:path w="3512820" h="368300">
                <a:moveTo>
                  <a:pt x="2422652" y="55372"/>
                </a:moveTo>
                <a:lnTo>
                  <a:pt x="2418715" y="43815"/>
                </a:lnTo>
                <a:lnTo>
                  <a:pt x="2398179" y="51257"/>
                </a:lnTo>
                <a:lnTo>
                  <a:pt x="2380208" y="61963"/>
                </a:lnTo>
                <a:lnTo>
                  <a:pt x="2351913" y="93345"/>
                </a:lnTo>
                <a:lnTo>
                  <a:pt x="2334476" y="135293"/>
                </a:lnTo>
                <a:lnTo>
                  <a:pt x="2328748" y="183642"/>
                </a:lnTo>
                <a:lnTo>
                  <a:pt x="2328672" y="185039"/>
                </a:lnTo>
                <a:lnTo>
                  <a:pt x="2330119" y="210997"/>
                </a:lnTo>
                <a:lnTo>
                  <a:pt x="2341689" y="256908"/>
                </a:lnTo>
                <a:lnTo>
                  <a:pt x="2364689" y="294157"/>
                </a:lnTo>
                <a:lnTo>
                  <a:pt x="2398166" y="318782"/>
                </a:lnTo>
                <a:lnTo>
                  <a:pt x="2418715" y="326136"/>
                </a:lnTo>
                <a:lnTo>
                  <a:pt x="2422271" y="314706"/>
                </a:lnTo>
                <a:lnTo>
                  <a:pt x="2406142" y="307594"/>
                </a:lnTo>
                <a:lnTo>
                  <a:pt x="2392248" y="297675"/>
                </a:lnTo>
                <a:lnTo>
                  <a:pt x="2363749" y="251472"/>
                </a:lnTo>
                <a:lnTo>
                  <a:pt x="2355367" y="208534"/>
                </a:lnTo>
                <a:lnTo>
                  <a:pt x="2354326" y="183642"/>
                </a:lnTo>
                <a:lnTo>
                  <a:pt x="2355367" y="159550"/>
                </a:lnTo>
                <a:lnTo>
                  <a:pt x="2363749" y="117741"/>
                </a:lnTo>
                <a:lnTo>
                  <a:pt x="2392337" y="72250"/>
                </a:lnTo>
                <a:lnTo>
                  <a:pt x="2406358" y="62458"/>
                </a:lnTo>
                <a:lnTo>
                  <a:pt x="2422652" y="55372"/>
                </a:lnTo>
                <a:close/>
              </a:path>
              <a:path w="3512820" h="368300">
                <a:moveTo>
                  <a:pt x="3375406" y="185039"/>
                </a:moveTo>
                <a:lnTo>
                  <a:pt x="3369576" y="135293"/>
                </a:lnTo>
                <a:lnTo>
                  <a:pt x="3352038" y="93345"/>
                </a:lnTo>
                <a:lnTo>
                  <a:pt x="3323742" y="61963"/>
                </a:lnTo>
                <a:lnTo>
                  <a:pt x="3285363" y="43815"/>
                </a:lnTo>
                <a:lnTo>
                  <a:pt x="3281299" y="55372"/>
                </a:lnTo>
                <a:lnTo>
                  <a:pt x="3297656" y="62458"/>
                </a:lnTo>
                <a:lnTo>
                  <a:pt x="3311715" y="72250"/>
                </a:lnTo>
                <a:lnTo>
                  <a:pt x="3340239" y="117741"/>
                </a:lnTo>
                <a:lnTo>
                  <a:pt x="3348520" y="159181"/>
                </a:lnTo>
                <a:lnTo>
                  <a:pt x="3349625" y="183642"/>
                </a:lnTo>
                <a:lnTo>
                  <a:pt x="3348571" y="208534"/>
                </a:lnTo>
                <a:lnTo>
                  <a:pt x="3340189" y="251472"/>
                </a:lnTo>
                <a:lnTo>
                  <a:pt x="3311715" y="297675"/>
                </a:lnTo>
                <a:lnTo>
                  <a:pt x="3281807" y="314706"/>
                </a:lnTo>
                <a:lnTo>
                  <a:pt x="3285363" y="326136"/>
                </a:lnTo>
                <a:lnTo>
                  <a:pt x="3323856" y="308127"/>
                </a:lnTo>
                <a:lnTo>
                  <a:pt x="3352165" y="276860"/>
                </a:lnTo>
                <a:lnTo>
                  <a:pt x="3369589" y="234950"/>
                </a:lnTo>
                <a:lnTo>
                  <a:pt x="3373945" y="210997"/>
                </a:lnTo>
                <a:lnTo>
                  <a:pt x="3375406" y="185039"/>
                </a:lnTo>
                <a:close/>
              </a:path>
              <a:path w="3512820" h="368300">
                <a:moveTo>
                  <a:pt x="3512299" y="184150"/>
                </a:moveTo>
                <a:lnTo>
                  <a:pt x="3510800" y="151815"/>
                </a:lnTo>
                <a:lnTo>
                  <a:pt x="3510737" y="150329"/>
                </a:lnTo>
                <a:lnTo>
                  <a:pt x="3506025" y="118973"/>
                </a:lnTo>
                <a:lnTo>
                  <a:pt x="3487166" y="63246"/>
                </a:lnTo>
                <a:lnTo>
                  <a:pt x="3456686" y="21907"/>
                </a:lnTo>
                <a:lnTo>
                  <a:pt x="3415538" y="0"/>
                </a:lnTo>
                <a:lnTo>
                  <a:pt x="3411855" y="12192"/>
                </a:lnTo>
                <a:lnTo>
                  <a:pt x="3428758" y="20955"/>
                </a:lnTo>
                <a:lnTo>
                  <a:pt x="3443478" y="33718"/>
                </a:lnTo>
                <a:lnTo>
                  <a:pt x="3466338" y="71247"/>
                </a:lnTo>
                <a:lnTo>
                  <a:pt x="3480270" y="122224"/>
                </a:lnTo>
                <a:lnTo>
                  <a:pt x="3484880" y="184150"/>
                </a:lnTo>
                <a:lnTo>
                  <a:pt x="3483724" y="216420"/>
                </a:lnTo>
                <a:lnTo>
                  <a:pt x="3474478" y="272808"/>
                </a:lnTo>
                <a:lnTo>
                  <a:pt x="3456000" y="317690"/>
                </a:lnTo>
                <a:lnTo>
                  <a:pt x="3428758" y="347218"/>
                </a:lnTo>
                <a:lnTo>
                  <a:pt x="3411855" y="355981"/>
                </a:lnTo>
                <a:lnTo>
                  <a:pt x="3415538" y="368173"/>
                </a:lnTo>
                <a:lnTo>
                  <a:pt x="3456686" y="346265"/>
                </a:lnTo>
                <a:lnTo>
                  <a:pt x="3487166" y="304927"/>
                </a:lnTo>
                <a:lnTo>
                  <a:pt x="3506025" y="249199"/>
                </a:lnTo>
                <a:lnTo>
                  <a:pt x="3510737" y="217792"/>
                </a:lnTo>
                <a:lnTo>
                  <a:pt x="3512299" y="184150"/>
                </a:lnTo>
                <a:close/>
              </a:path>
            </a:pathLst>
          </a:custGeom>
          <a:solidFill>
            <a:srgbClr val="000000"/>
          </a:solidFill>
        </p:spPr>
        <p:txBody>
          <a:bodyPr wrap="square" lIns="0" tIns="0" rIns="0" bIns="0" rtlCol="0"/>
          <a:lstStyle/>
          <a:p>
            <a:endParaRPr/>
          </a:p>
        </p:txBody>
      </p:sp>
      <p:sp>
        <p:nvSpPr>
          <p:cNvPr id="4" name="object 4"/>
          <p:cNvSpPr txBox="1"/>
          <p:nvPr/>
        </p:nvSpPr>
        <p:spPr>
          <a:xfrm>
            <a:off x="183895" y="915161"/>
            <a:ext cx="8999855" cy="2299970"/>
          </a:xfrm>
          <a:prstGeom prst="rect">
            <a:avLst/>
          </a:prstGeom>
        </p:spPr>
        <p:txBody>
          <a:bodyPr vert="horz" wrap="square" lIns="0" tIns="43180" rIns="0" bIns="0" rtlCol="0">
            <a:spAutoFit/>
          </a:bodyPr>
          <a:lstStyle/>
          <a:p>
            <a:pPr marL="50800">
              <a:lnSpc>
                <a:spcPct val="100000"/>
              </a:lnSpc>
              <a:spcBef>
                <a:spcPts val="340"/>
              </a:spcBef>
            </a:pPr>
            <a:r>
              <a:rPr sz="2400" b="1" dirty="0">
                <a:solidFill>
                  <a:srgbClr val="FF0000"/>
                </a:solidFill>
                <a:latin typeface="Calibri"/>
                <a:cs typeface="Calibri"/>
              </a:rPr>
              <a:t>Example</a:t>
            </a:r>
            <a:r>
              <a:rPr sz="2400" b="1" spc="-60" dirty="0">
                <a:solidFill>
                  <a:srgbClr val="FF0000"/>
                </a:solidFill>
                <a:latin typeface="Calibri"/>
                <a:cs typeface="Calibri"/>
              </a:rPr>
              <a:t> </a:t>
            </a:r>
            <a:r>
              <a:rPr sz="2400" b="1" dirty="0">
                <a:solidFill>
                  <a:srgbClr val="FF0000"/>
                </a:solidFill>
                <a:latin typeface="Calibri"/>
                <a:cs typeface="Calibri"/>
              </a:rPr>
              <a:t>7.</a:t>
            </a:r>
            <a:r>
              <a:rPr sz="2400" b="1" spc="-55" dirty="0">
                <a:solidFill>
                  <a:srgbClr val="FF0000"/>
                </a:solidFill>
                <a:latin typeface="Calibri"/>
                <a:cs typeface="Calibri"/>
              </a:rPr>
              <a:t> </a:t>
            </a:r>
            <a:r>
              <a:rPr sz="2400" b="1" dirty="0">
                <a:solidFill>
                  <a:srgbClr val="6F2F9F"/>
                </a:solidFill>
                <a:latin typeface="Calibri"/>
                <a:cs typeface="Calibri"/>
              </a:rPr>
              <a:t>A</a:t>
            </a:r>
            <a:r>
              <a:rPr sz="2400" b="1" spc="-55" dirty="0">
                <a:solidFill>
                  <a:srgbClr val="6F2F9F"/>
                </a:solidFill>
                <a:latin typeface="Calibri"/>
                <a:cs typeface="Calibri"/>
              </a:rPr>
              <a:t> </a:t>
            </a:r>
            <a:r>
              <a:rPr sz="2400" b="1" dirty="0">
                <a:solidFill>
                  <a:srgbClr val="6F2F9F"/>
                </a:solidFill>
                <a:latin typeface="Calibri"/>
                <a:cs typeface="Calibri"/>
              </a:rPr>
              <a:t>FM</a:t>
            </a:r>
            <a:r>
              <a:rPr sz="2400" b="1" spc="-60" dirty="0">
                <a:solidFill>
                  <a:srgbClr val="6F2F9F"/>
                </a:solidFill>
                <a:latin typeface="Calibri"/>
                <a:cs typeface="Calibri"/>
              </a:rPr>
              <a:t> </a:t>
            </a:r>
            <a:r>
              <a:rPr sz="2400" b="1" dirty="0">
                <a:solidFill>
                  <a:srgbClr val="6F2F9F"/>
                </a:solidFill>
                <a:latin typeface="Calibri"/>
                <a:cs typeface="Calibri"/>
              </a:rPr>
              <a:t>wave</a:t>
            </a:r>
            <a:r>
              <a:rPr sz="2400" b="1" spc="-45" dirty="0">
                <a:solidFill>
                  <a:srgbClr val="6F2F9F"/>
                </a:solidFill>
                <a:latin typeface="Calibri"/>
                <a:cs typeface="Calibri"/>
              </a:rPr>
              <a:t> </a:t>
            </a:r>
            <a:r>
              <a:rPr sz="2400" b="1" dirty="0">
                <a:solidFill>
                  <a:srgbClr val="6F2F9F"/>
                </a:solidFill>
                <a:latin typeface="Calibri"/>
                <a:cs typeface="Calibri"/>
              </a:rPr>
              <a:t>is</a:t>
            </a:r>
            <a:r>
              <a:rPr sz="2400" b="1" spc="-50" dirty="0">
                <a:solidFill>
                  <a:srgbClr val="6F2F9F"/>
                </a:solidFill>
                <a:latin typeface="Calibri"/>
                <a:cs typeface="Calibri"/>
              </a:rPr>
              <a:t> </a:t>
            </a:r>
            <a:r>
              <a:rPr sz="2400" b="1" spc="-20" dirty="0">
                <a:solidFill>
                  <a:srgbClr val="6F2F9F"/>
                </a:solidFill>
                <a:latin typeface="Calibri"/>
                <a:cs typeface="Calibri"/>
              </a:rPr>
              <a:t>represented</a:t>
            </a:r>
            <a:r>
              <a:rPr sz="2400" b="1" spc="-45" dirty="0">
                <a:solidFill>
                  <a:srgbClr val="6F2F9F"/>
                </a:solidFill>
                <a:latin typeface="Calibri"/>
                <a:cs typeface="Calibri"/>
              </a:rPr>
              <a:t> </a:t>
            </a:r>
            <a:r>
              <a:rPr sz="2400" b="1" dirty="0">
                <a:solidFill>
                  <a:srgbClr val="6F2F9F"/>
                </a:solidFill>
                <a:latin typeface="Calibri"/>
                <a:cs typeface="Calibri"/>
              </a:rPr>
              <a:t>by</a:t>
            </a:r>
            <a:r>
              <a:rPr sz="2400" b="1" spc="-50" dirty="0">
                <a:solidFill>
                  <a:srgbClr val="6F2F9F"/>
                </a:solidFill>
                <a:latin typeface="Calibri"/>
                <a:cs typeface="Calibri"/>
              </a:rPr>
              <a:t> </a:t>
            </a:r>
            <a:r>
              <a:rPr sz="2400" b="1" dirty="0">
                <a:solidFill>
                  <a:srgbClr val="6F2F9F"/>
                </a:solidFill>
                <a:latin typeface="Calibri"/>
                <a:cs typeface="Calibri"/>
              </a:rPr>
              <a:t>the</a:t>
            </a:r>
            <a:r>
              <a:rPr sz="2400" b="1" spc="-35" dirty="0">
                <a:solidFill>
                  <a:srgbClr val="6F2F9F"/>
                </a:solidFill>
                <a:latin typeface="Calibri"/>
                <a:cs typeface="Calibri"/>
              </a:rPr>
              <a:t> </a:t>
            </a:r>
            <a:r>
              <a:rPr sz="2400" b="1" dirty="0">
                <a:solidFill>
                  <a:srgbClr val="6F2F9F"/>
                </a:solidFill>
                <a:latin typeface="Calibri"/>
                <a:cs typeface="Calibri"/>
              </a:rPr>
              <a:t>following</a:t>
            </a:r>
            <a:r>
              <a:rPr sz="2400" b="1" spc="-70" dirty="0">
                <a:solidFill>
                  <a:srgbClr val="6F2F9F"/>
                </a:solidFill>
                <a:latin typeface="Calibri"/>
                <a:cs typeface="Calibri"/>
              </a:rPr>
              <a:t> </a:t>
            </a:r>
            <a:r>
              <a:rPr sz="2400" b="1" spc="-10" dirty="0">
                <a:solidFill>
                  <a:srgbClr val="6F2F9F"/>
                </a:solidFill>
                <a:latin typeface="Calibri"/>
                <a:cs typeface="Calibri"/>
              </a:rPr>
              <a:t>equation:</a:t>
            </a:r>
            <a:endParaRPr sz="2400">
              <a:latin typeface="Calibri"/>
              <a:cs typeface="Calibri"/>
            </a:endParaRPr>
          </a:p>
          <a:p>
            <a:pPr marL="2905760">
              <a:lnSpc>
                <a:spcPct val="100000"/>
              </a:lnSpc>
              <a:spcBef>
                <a:spcPts val="240"/>
              </a:spcBef>
              <a:tabLst>
                <a:tab pos="4929505" algn="l"/>
                <a:tab pos="7247890" algn="l"/>
                <a:tab pos="8359140" algn="l"/>
              </a:tabLst>
            </a:pPr>
            <a:r>
              <a:rPr sz="2400" dirty="0">
                <a:latin typeface="Cambria Math"/>
                <a:cs typeface="Cambria Math"/>
              </a:rPr>
              <a:t>⟹</a:t>
            </a:r>
            <a:r>
              <a:rPr sz="2400" spc="130" dirty="0">
                <a:latin typeface="Cambria Math"/>
                <a:cs typeface="Cambria Math"/>
              </a:rPr>
              <a:t> </a:t>
            </a:r>
            <a:r>
              <a:rPr sz="2400" dirty="0">
                <a:latin typeface="Cambria Math"/>
                <a:cs typeface="Cambria Math"/>
              </a:rPr>
              <a:t>𝐕</a:t>
            </a:r>
            <a:r>
              <a:rPr sz="2400" spc="140" dirty="0">
                <a:latin typeface="Cambria Math"/>
                <a:cs typeface="Cambria Math"/>
              </a:rPr>
              <a:t> </a:t>
            </a:r>
            <a:r>
              <a:rPr sz="2400" dirty="0">
                <a:latin typeface="Cambria Math"/>
                <a:cs typeface="Cambria Math"/>
              </a:rPr>
              <a:t>=</a:t>
            </a:r>
            <a:r>
              <a:rPr sz="2400" spc="125" dirty="0">
                <a:latin typeface="Cambria Math"/>
                <a:cs typeface="Cambria Math"/>
              </a:rPr>
              <a:t> </a:t>
            </a:r>
            <a:r>
              <a:rPr sz="2400" spc="-20" dirty="0">
                <a:latin typeface="Cambria Math"/>
                <a:cs typeface="Cambria Math"/>
              </a:rPr>
              <a:t>𝟏𝟎</a:t>
            </a:r>
            <a:r>
              <a:rPr sz="2400" spc="-130" dirty="0">
                <a:latin typeface="Cambria Math"/>
                <a:cs typeface="Cambria Math"/>
              </a:rPr>
              <a:t> </a:t>
            </a:r>
            <a:r>
              <a:rPr sz="2400" spc="-25" dirty="0">
                <a:latin typeface="Cambria Math"/>
                <a:cs typeface="Cambria Math"/>
              </a:rPr>
              <a:t>𝐬𝐢𝐧</a:t>
            </a:r>
            <a:r>
              <a:rPr sz="2400" dirty="0">
                <a:latin typeface="Cambria Math"/>
                <a:cs typeface="Cambria Math"/>
              </a:rPr>
              <a:t>	𝟓</a:t>
            </a:r>
            <a:r>
              <a:rPr sz="2400" spc="5" dirty="0">
                <a:latin typeface="Cambria Math"/>
                <a:cs typeface="Cambria Math"/>
              </a:rPr>
              <a:t> </a:t>
            </a:r>
            <a:r>
              <a:rPr sz="2400" dirty="0">
                <a:latin typeface="Cambria Math"/>
                <a:cs typeface="Cambria Math"/>
              </a:rPr>
              <a:t>×</a:t>
            </a:r>
            <a:r>
              <a:rPr sz="2400" spc="5" dirty="0">
                <a:latin typeface="Cambria Math"/>
                <a:cs typeface="Cambria Math"/>
              </a:rPr>
              <a:t> </a:t>
            </a:r>
            <a:r>
              <a:rPr sz="2400" dirty="0">
                <a:latin typeface="Cambria Math"/>
                <a:cs typeface="Cambria Math"/>
              </a:rPr>
              <a:t>𝟏𝟎</a:t>
            </a:r>
            <a:r>
              <a:rPr sz="2625" baseline="28571" dirty="0">
                <a:latin typeface="Cambria Math"/>
                <a:cs typeface="Cambria Math"/>
              </a:rPr>
              <a:t>𝟖</a:t>
            </a:r>
            <a:r>
              <a:rPr sz="2400" dirty="0">
                <a:latin typeface="Cambria Math"/>
                <a:cs typeface="Cambria Math"/>
              </a:rPr>
              <a:t>𝐭</a:t>
            </a:r>
            <a:r>
              <a:rPr sz="2400" spc="20" dirty="0">
                <a:latin typeface="Cambria Math"/>
                <a:cs typeface="Cambria Math"/>
              </a:rPr>
              <a:t> </a:t>
            </a:r>
            <a:r>
              <a:rPr sz="2400" dirty="0">
                <a:latin typeface="Cambria Math"/>
                <a:cs typeface="Cambria Math"/>
              </a:rPr>
              <a:t>+</a:t>
            </a:r>
            <a:r>
              <a:rPr sz="2400" spc="-5" dirty="0">
                <a:latin typeface="Cambria Math"/>
                <a:cs typeface="Cambria Math"/>
              </a:rPr>
              <a:t> </a:t>
            </a:r>
            <a:r>
              <a:rPr sz="2400" spc="-20" dirty="0">
                <a:latin typeface="Cambria Math"/>
                <a:cs typeface="Cambria Math"/>
              </a:rPr>
              <a:t>𝟒</a:t>
            </a:r>
            <a:r>
              <a:rPr sz="2400" spc="-125" dirty="0">
                <a:latin typeface="Cambria Math"/>
                <a:cs typeface="Cambria Math"/>
              </a:rPr>
              <a:t> </a:t>
            </a:r>
            <a:r>
              <a:rPr sz="2400" spc="-25" dirty="0">
                <a:latin typeface="Cambria Math"/>
                <a:cs typeface="Cambria Math"/>
              </a:rPr>
              <a:t>𝐬𝐢𝐧</a:t>
            </a:r>
            <a:r>
              <a:rPr sz="2400" dirty="0">
                <a:latin typeface="Cambria Math"/>
                <a:cs typeface="Cambria Math"/>
              </a:rPr>
              <a:t>	</a:t>
            </a:r>
            <a:r>
              <a:rPr sz="2400" spc="-10" dirty="0">
                <a:latin typeface="Cambria Math"/>
                <a:cs typeface="Cambria Math"/>
              </a:rPr>
              <a:t>𝟏𝟐𝟓𝟎𝐭</a:t>
            </a:r>
            <a:r>
              <a:rPr sz="2400" dirty="0">
                <a:latin typeface="Cambria Math"/>
                <a:cs typeface="Cambria Math"/>
              </a:rPr>
              <a:t>	</a:t>
            </a:r>
            <a:r>
              <a:rPr sz="2400" spc="-20" dirty="0">
                <a:latin typeface="Cambria Math"/>
                <a:cs typeface="Cambria Math"/>
              </a:rPr>
              <a:t>𝐕𝐨𝐥𝐭</a:t>
            </a:r>
            <a:endParaRPr sz="2400">
              <a:latin typeface="Cambria Math"/>
              <a:cs typeface="Cambria Math"/>
            </a:endParaRPr>
          </a:p>
          <a:p>
            <a:pPr marL="50800">
              <a:lnSpc>
                <a:spcPct val="100000"/>
              </a:lnSpc>
              <a:spcBef>
                <a:spcPts val="130"/>
              </a:spcBef>
            </a:pPr>
            <a:r>
              <a:rPr sz="2400" b="1" spc="-10" dirty="0">
                <a:solidFill>
                  <a:srgbClr val="6F2F9F"/>
                </a:solidFill>
                <a:latin typeface="Calibri"/>
                <a:cs typeface="Calibri"/>
              </a:rPr>
              <a:t>Find,</a:t>
            </a:r>
            <a:endParaRPr sz="2400">
              <a:latin typeface="Calibri"/>
              <a:cs typeface="Calibri"/>
            </a:endParaRPr>
          </a:p>
          <a:p>
            <a:pPr marL="508000" indent="-457200">
              <a:lnSpc>
                <a:spcPct val="100000"/>
              </a:lnSpc>
              <a:spcBef>
                <a:spcPts val="5"/>
              </a:spcBef>
              <a:buAutoNum type="alphaUcPeriod"/>
              <a:tabLst>
                <a:tab pos="508000" algn="l"/>
              </a:tabLst>
            </a:pPr>
            <a:r>
              <a:rPr sz="2400" b="1" dirty="0">
                <a:solidFill>
                  <a:srgbClr val="7E5F00"/>
                </a:solidFill>
                <a:latin typeface="Calibri"/>
                <a:cs typeface="Calibri"/>
              </a:rPr>
              <a:t>Carrier</a:t>
            </a:r>
            <a:r>
              <a:rPr sz="2400" b="1" spc="-80" dirty="0">
                <a:solidFill>
                  <a:srgbClr val="7E5F00"/>
                </a:solidFill>
                <a:latin typeface="Calibri"/>
                <a:cs typeface="Calibri"/>
              </a:rPr>
              <a:t> </a:t>
            </a:r>
            <a:r>
              <a:rPr sz="2400" b="1" dirty="0">
                <a:solidFill>
                  <a:srgbClr val="7E5F00"/>
                </a:solidFill>
                <a:latin typeface="Calibri"/>
                <a:cs typeface="Calibri"/>
              </a:rPr>
              <a:t>and</a:t>
            </a:r>
            <a:r>
              <a:rPr sz="2400" b="1" spc="-65" dirty="0">
                <a:solidFill>
                  <a:srgbClr val="7E5F00"/>
                </a:solidFill>
                <a:latin typeface="Calibri"/>
                <a:cs typeface="Calibri"/>
              </a:rPr>
              <a:t> </a:t>
            </a:r>
            <a:r>
              <a:rPr sz="2400" b="1" dirty="0">
                <a:solidFill>
                  <a:srgbClr val="7E5F00"/>
                </a:solidFill>
                <a:latin typeface="Calibri"/>
                <a:cs typeface="Calibri"/>
              </a:rPr>
              <a:t>Modulating</a:t>
            </a:r>
            <a:r>
              <a:rPr sz="2400" b="1" spc="-65" dirty="0">
                <a:solidFill>
                  <a:srgbClr val="7E5F00"/>
                </a:solidFill>
                <a:latin typeface="Calibri"/>
                <a:cs typeface="Calibri"/>
              </a:rPr>
              <a:t> </a:t>
            </a:r>
            <a:r>
              <a:rPr sz="2400" b="1" spc="-10" dirty="0">
                <a:solidFill>
                  <a:srgbClr val="7E5F00"/>
                </a:solidFill>
                <a:latin typeface="Calibri"/>
                <a:cs typeface="Calibri"/>
              </a:rPr>
              <a:t>Frequencies</a:t>
            </a:r>
            <a:endParaRPr sz="2400">
              <a:latin typeface="Calibri"/>
              <a:cs typeface="Calibri"/>
            </a:endParaRPr>
          </a:p>
          <a:p>
            <a:pPr marL="508000" indent="-457200">
              <a:lnSpc>
                <a:spcPct val="100000"/>
              </a:lnSpc>
              <a:buAutoNum type="alphaUcPeriod"/>
              <a:tabLst>
                <a:tab pos="508000" algn="l"/>
              </a:tabLst>
            </a:pPr>
            <a:r>
              <a:rPr sz="2400" b="1" dirty="0">
                <a:solidFill>
                  <a:srgbClr val="7E5F00"/>
                </a:solidFill>
                <a:latin typeface="Calibri"/>
                <a:cs typeface="Calibri"/>
              </a:rPr>
              <a:t>Modulation</a:t>
            </a:r>
            <a:r>
              <a:rPr sz="2400" b="1" spc="-75" dirty="0">
                <a:solidFill>
                  <a:srgbClr val="7E5F00"/>
                </a:solidFill>
                <a:latin typeface="Calibri"/>
                <a:cs typeface="Calibri"/>
              </a:rPr>
              <a:t> </a:t>
            </a:r>
            <a:r>
              <a:rPr sz="2400" b="1" dirty="0">
                <a:solidFill>
                  <a:srgbClr val="7E5F00"/>
                </a:solidFill>
                <a:latin typeface="Calibri"/>
                <a:cs typeface="Calibri"/>
              </a:rPr>
              <a:t>Index</a:t>
            </a:r>
            <a:r>
              <a:rPr sz="2400" b="1" spc="-65" dirty="0">
                <a:solidFill>
                  <a:srgbClr val="7E5F00"/>
                </a:solidFill>
                <a:latin typeface="Calibri"/>
                <a:cs typeface="Calibri"/>
              </a:rPr>
              <a:t> </a:t>
            </a:r>
            <a:r>
              <a:rPr sz="2400" b="1" dirty="0">
                <a:solidFill>
                  <a:srgbClr val="7E5F00"/>
                </a:solidFill>
                <a:latin typeface="Calibri"/>
                <a:cs typeface="Calibri"/>
              </a:rPr>
              <a:t>and</a:t>
            </a:r>
            <a:r>
              <a:rPr sz="2400" b="1" spc="-75" dirty="0">
                <a:solidFill>
                  <a:srgbClr val="7E5F00"/>
                </a:solidFill>
                <a:latin typeface="Calibri"/>
                <a:cs typeface="Calibri"/>
              </a:rPr>
              <a:t> </a:t>
            </a:r>
            <a:r>
              <a:rPr sz="2400" b="1" dirty="0">
                <a:solidFill>
                  <a:srgbClr val="7E5F00"/>
                </a:solidFill>
                <a:latin typeface="Calibri"/>
                <a:cs typeface="Calibri"/>
              </a:rPr>
              <a:t>Maximum</a:t>
            </a:r>
            <a:r>
              <a:rPr sz="2400" b="1" spc="-75" dirty="0">
                <a:solidFill>
                  <a:srgbClr val="7E5F00"/>
                </a:solidFill>
                <a:latin typeface="Calibri"/>
                <a:cs typeface="Calibri"/>
              </a:rPr>
              <a:t> </a:t>
            </a:r>
            <a:r>
              <a:rPr sz="2400" b="1" spc="-10" dirty="0">
                <a:solidFill>
                  <a:srgbClr val="7E5F00"/>
                </a:solidFill>
                <a:latin typeface="Calibri"/>
                <a:cs typeface="Calibri"/>
              </a:rPr>
              <a:t>Deviation</a:t>
            </a:r>
            <a:endParaRPr sz="2400">
              <a:latin typeface="Calibri"/>
              <a:cs typeface="Calibri"/>
            </a:endParaRPr>
          </a:p>
          <a:p>
            <a:pPr marL="508000" indent="-457200">
              <a:lnSpc>
                <a:spcPct val="100000"/>
              </a:lnSpc>
              <a:spcBef>
                <a:spcPts val="10"/>
              </a:spcBef>
              <a:buAutoNum type="alphaUcPeriod"/>
              <a:tabLst>
                <a:tab pos="508000" algn="l"/>
              </a:tabLst>
            </a:pPr>
            <a:r>
              <a:rPr sz="2400" b="1" dirty="0">
                <a:solidFill>
                  <a:srgbClr val="7E5F00"/>
                </a:solidFill>
                <a:latin typeface="Calibri"/>
                <a:cs typeface="Calibri"/>
              </a:rPr>
              <a:t>The</a:t>
            </a:r>
            <a:r>
              <a:rPr sz="2400" b="1" spc="-70" dirty="0">
                <a:solidFill>
                  <a:srgbClr val="7E5F00"/>
                </a:solidFill>
                <a:latin typeface="Calibri"/>
                <a:cs typeface="Calibri"/>
              </a:rPr>
              <a:t> </a:t>
            </a:r>
            <a:r>
              <a:rPr sz="2400" b="1" dirty="0">
                <a:solidFill>
                  <a:srgbClr val="7E5F00"/>
                </a:solidFill>
                <a:latin typeface="Calibri"/>
                <a:cs typeface="Calibri"/>
              </a:rPr>
              <a:t>Power</a:t>
            </a:r>
            <a:r>
              <a:rPr sz="2400" b="1" spc="-70" dirty="0">
                <a:solidFill>
                  <a:srgbClr val="7E5F00"/>
                </a:solidFill>
                <a:latin typeface="Calibri"/>
                <a:cs typeface="Calibri"/>
              </a:rPr>
              <a:t> </a:t>
            </a:r>
            <a:r>
              <a:rPr sz="2400" b="1" dirty="0">
                <a:solidFill>
                  <a:srgbClr val="7E5F00"/>
                </a:solidFill>
                <a:latin typeface="Calibri"/>
                <a:cs typeface="Calibri"/>
              </a:rPr>
              <a:t>dissipated</a:t>
            </a:r>
            <a:r>
              <a:rPr sz="2400" b="1" spc="-40" dirty="0">
                <a:solidFill>
                  <a:srgbClr val="7E5F00"/>
                </a:solidFill>
                <a:latin typeface="Calibri"/>
                <a:cs typeface="Calibri"/>
              </a:rPr>
              <a:t> </a:t>
            </a:r>
            <a:r>
              <a:rPr sz="2400" b="1" dirty="0">
                <a:solidFill>
                  <a:srgbClr val="7E5F00"/>
                </a:solidFill>
                <a:latin typeface="Calibri"/>
                <a:cs typeface="Calibri"/>
              </a:rPr>
              <a:t>by</a:t>
            </a:r>
            <a:r>
              <a:rPr sz="2400" b="1" spc="-75" dirty="0">
                <a:solidFill>
                  <a:srgbClr val="7E5F00"/>
                </a:solidFill>
                <a:latin typeface="Calibri"/>
                <a:cs typeface="Calibri"/>
              </a:rPr>
              <a:t> </a:t>
            </a:r>
            <a:r>
              <a:rPr sz="2400" b="1" dirty="0">
                <a:solidFill>
                  <a:srgbClr val="7E5F00"/>
                </a:solidFill>
                <a:latin typeface="Calibri"/>
                <a:cs typeface="Calibri"/>
              </a:rPr>
              <a:t>this</a:t>
            </a:r>
            <a:r>
              <a:rPr sz="2400" b="1" spc="-55" dirty="0">
                <a:solidFill>
                  <a:srgbClr val="7E5F00"/>
                </a:solidFill>
                <a:latin typeface="Calibri"/>
                <a:cs typeface="Calibri"/>
              </a:rPr>
              <a:t> </a:t>
            </a:r>
            <a:r>
              <a:rPr sz="2400" b="1" dirty="0">
                <a:solidFill>
                  <a:srgbClr val="7E5F00"/>
                </a:solidFill>
                <a:latin typeface="Calibri"/>
                <a:cs typeface="Calibri"/>
              </a:rPr>
              <a:t>FM</a:t>
            </a:r>
            <a:r>
              <a:rPr sz="2400" b="1" spc="-65" dirty="0">
                <a:solidFill>
                  <a:srgbClr val="7E5F00"/>
                </a:solidFill>
                <a:latin typeface="Calibri"/>
                <a:cs typeface="Calibri"/>
              </a:rPr>
              <a:t> </a:t>
            </a:r>
            <a:r>
              <a:rPr sz="2400" b="1" dirty="0">
                <a:solidFill>
                  <a:srgbClr val="7E5F00"/>
                </a:solidFill>
                <a:latin typeface="Calibri"/>
                <a:cs typeface="Calibri"/>
              </a:rPr>
              <a:t>wave</a:t>
            </a:r>
            <a:r>
              <a:rPr sz="2400" b="1" spc="-60" dirty="0">
                <a:solidFill>
                  <a:srgbClr val="7E5F00"/>
                </a:solidFill>
                <a:latin typeface="Calibri"/>
                <a:cs typeface="Calibri"/>
              </a:rPr>
              <a:t> </a:t>
            </a:r>
            <a:r>
              <a:rPr sz="2400" b="1" dirty="0">
                <a:solidFill>
                  <a:srgbClr val="7E5F00"/>
                </a:solidFill>
                <a:latin typeface="Calibri"/>
                <a:cs typeface="Calibri"/>
              </a:rPr>
              <a:t>in</a:t>
            </a:r>
            <a:r>
              <a:rPr sz="2400" b="1" spc="-70" dirty="0">
                <a:solidFill>
                  <a:srgbClr val="7E5F00"/>
                </a:solidFill>
                <a:latin typeface="Calibri"/>
                <a:cs typeface="Calibri"/>
              </a:rPr>
              <a:t> </a:t>
            </a:r>
            <a:r>
              <a:rPr sz="2400" dirty="0">
                <a:solidFill>
                  <a:srgbClr val="7E5F00"/>
                </a:solidFill>
                <a:latin typeface="Cambria Math"/>
                <a:cs typeface="Cambria Math"/>
              </a:rPr>
              <a:t>𝟓𝛀</a:t>
            </a:r>
            <a:r>
              <a:rPr sz="2400" spc="-65" dirty="0">
                <a:solidFill>
                  <a:srgbClr val="7E5F00"/>
                </a:solidFill>
                <a:latin typeface="Cambria Math"/>
                <a:cs typeface="Cambria Math"/>
              </a:rPr>
              <a:t> </a:t>
            </a:r>
            <a:r>
              <a:rPr sz="2400" b="1" spc="-10" dirty="0">
                <a:solidFill>
                  <a:srgbClr val="7E5F00"/>
                </a:solidFill>
                <a:latin typeface="Calibri"/>
                <a:cs typeface="Calibri"/>
              </a:rPr>
              <a:t>resistor.</a:t>
            </a:r>
            <a:endParaRPr sz="2400">
              <a:latin typeface="Calibri"/>
              <a:cs typeface="Calibri"/>
            </a:endParaRPr>
          </a:p>
        </p:txBody>
      </p:sp>
      <p:pic>
        <p:nvPicPr>
          <p:cNvPr id="5" name="object 5"/>
          <p:cNvPicPr/>
          <p:nvPr/>
        </p:nvPicPr>
        <p:blipFill rotWithShape="1">
          <a:blip r:embed="rId2" cstate="print"/>
          <a:srcRect t="46881"/>
          <a:stretch/>
        </p:blipFill>
        <p:spPr>
          <a:xfrm>
            <a:off x="0" y="3215130"/>
            <a:ext cx="12192000" cy="364286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6595" y="74803"/>
            <a:ext cx="11828780" cy="1487170"/>
          </a:xfrm>
          <a:prstGeom prst="rect">
            <a:avLst/>
          </a:prstGeom>
        </p:spPr>
        <p:txBody>
          <a:bodyPr vert="horz" wrap="square" lIns="0" tIns="12700" rIns="0" bIns="0" rtlCol="0">
            <a:spAutoFit/>
          </a:bodyPr>
          <a:lstStyle/>
          <a:p>
            <a:pPr marL="38100" algn="just">
              <a:lnSpc>
                <a:spcPct val="100000"/>
              </a:lnSpc>
              <a:spcBef>
                <a:spcPts val="100"/>
              </a:spcBef>
            </a:pPr>
            <a:r>
              <a:rPr sz="2400" b="1" dirty="0">
                <a:solidFill>
                  <a:srgbClr val="FF0000"/>
                </a:solidFill>
                <a:latin typeface="Calibri"/>
                <a:cs typeface="Calibri"/>
              </a:rPr>
              <a:t>Example</a:t>
            </a:r>
            <a:r>
              <a:rPr sz="2400" b="1" spc="120" dirty="0">
                <a:solidFill>
                  <a:srgbClr val="FF0000"/>
                </a:solidFill>
                <a:latin typeface="Calibri"/>
                <a:cs typeface="Calibri"/>
              </a:rPr>
              <a:t> </a:t>
            </a:r>
            <a:r>
              <a:rPr sz="2400" b="1" dirty="0">
                <a:solidFill>
                  <a:srgbClr val="FF0000"/>
                </a:solidFill>
                <a:latin typeface="Calibri"/>
                <a:cs typeface="Calibri"/>
              </a:rPr>
              <a:t>8.</a:t>
            </a:r>
            <a:r>
              <a:rPr sz="2400" b="1" spc="100" dirty="0">
                <a:solidFill>
                  <a:srgbClr val="FF0000"/>
                </a:solidFill>
                <a:latin typeface="Calibri"/>
                <a:cs typeface="Calibri"/>
              </a:rPr>
              <a:t> </a:t>
            </a:r>
            <a:r>
              <a:rPr sz="2400" b="1" dirty="0">
                <a:solidFill>
                  <a:srgbClr val="6F2F9F"/>
                </a:solidFill>
                <a:latin typeface="Calibri"/>
                <a:cs typeface="Calibri"/>
              </a:rPr>
              <a:t>In</a:t>
            </a:r>
            <a:r>
              <a:rPr sz="2400" b="1" spc="110" dirty="0">
                <a:solidFill>
                  <a:srgbClr val="6F2F9F"/>
                </a:solidFill>
                <a:latin typeface="Calibri"/>
                <a:cs typeface="Calibri"/>
              </a:rPr>
              <a:t> </a:t>
            </a:r>
            <a:r>
              <a:rPr sz="2400" b="1" dirty="0">
                <a:solidFill>
                  <a:srgbClr val="6F2F9F"/>
                </a:solidFill>
                <a:latin typeface="Calibri"/>
                <a:cs typeface="Calibri"/>
              </a:rPr>
              <a:t>a</a:t>
            </a:r>
            <a:r>
              <a:rPr sz="2400" b="1" spc="120" dirty="0">
                <a:solidFill>
                  <a:srgbClr val="6F2F9F"/>
                </a:solidFill>
                <a:latin typeface="Calibri"/>
                <a:cs typeface="Calibri"/>
              </a:rPr>
              <a:t> </a:t>
            </a:r>
            <a:r>
              <a:rPr sz="2400" b="1" dirty="0">
                <a:solidFill>
                  <a:srgbClr val="6F2F9F"/>
                </a:solidFill>
                <a:latin typeface="Calibri"/>
                <a:cs typeface="Calibri"/>
              </a:rPr>
              <a:t>FM</a:t>
            </a:r>
            <a:r>
              <a:rPr sz="2400" b="1" spc="114" dirty="0">
                <a:solidFill>
                  <a:srgbClr val="6F2F9F"/>
                </a:solidFill>
                <a:latin typeface="Calibri"/>
                <a:cs typeface="Calibri"/>
              </a:rPr>
              <a:t> </a:t>
            </a:r>
            <a:r>
              <a:rPr sz="2400" b="1" dirty="0">
                <a:solidFill>
                  <a:srgbClr val="6F2F9F"/>
                </a:solidFill>
                <a:latin typeface="Calibri"/>
                <a:cs typeface="Calibri"/>
              </a:rPr>
              <a:t>System,</a:t>
            </a:r>
            <a:r>
              <a:rPr sz="2400" b="1" spc="120" dirty="0">
                <a:solidFill>
                  <a:srgbClr val="6F2F9F"/>
                </a:solidFill>
                <a:latin typeface="Calibri"/>
                <a:cs typeface="Calibri"/>
              </a:rPr>
              <a:t> </a:t>
            </a:r>
            <a:r>
              <a:rPr sz="2400" b="1" dirty="0">
                <a:solidFill>
                  <a:srgbClr val="6F2F9F"/>
                </a:solidFill>
                <a:latin typeface="Calibri"/>
                <a:cs typeface="Calibri"/>
              </a:rPr>
              <a:t>the</a:t>
            </a:r>
            <a:r>
              <a:rPr sz="2400" b="1" spc="120" dirty="0">
                <a:solidFill>
                  <a:srgbClr val="6F2F9F"/>
                </a:solidFill>
                <a:latin typeface="Calibri"/>
                <a:cs typeface="Calibri"/>
              </a:rPr>
              <a:t> </a:t>
            </a:r>
            <a:r>
              <a:rPr sz="2400" b="1" dirty="0">
                <a:solidFill>
                  <a:srgbClr val="6F2F9F"/>
                </a:solidFill>
                <a:latin typeface="Calibri"/>
                <a:cs typeface="Calibri"/>
              </a:rPr>
              <a:t>modulating</a:t>
            </a:r>
            <a:r>
              <a:rPr sz="2400" b="1" spc="114" dirty="0">
                <a:solidFill>
                  <a:srgbClr val="6F2F9F"/>
                </a:solidFill>
                <a:latin typeface="Calibri"/>
                <a:cs typeface="Calibri"/>
              </a:rPr>
              <a:t> </a:t>
            </a:r>
            <a:r>
              <a:rPr sz="2400" b="1" dirty="0">
                <a:solidFill>
                  <a:srgbClr val="6F2F9F"/>
                </a:solidFill>
                <a:latin typeface="Calibri"/>
                <a:cs typeface="Calibri"/>
              </a:rPr>
              <a:t>frequency</a:t>
            </a:r>
            <a:r>
              <a:rPr sz="2400" b="1" spc="114" dirty="0">
                <a:solidFill>
                  <a:srgbClr val="6F2F9F"/>
                </a:solidFill>
                <a:latin typeface="Calibri"/>
                <a:cs typeface="Calibri"/>
              </a:rPr>
              <a:t> </a:t>
            </a:r>
            <a:r>
              <a:rPr sz="2400" dirty="0">
                <a:solidFill>
                  <a:srgbClr val="6F2F9F"/>
                </a:solidFill>
                <a:latin typeface="Cambria Math"/>
                <a:cs typeface="Cambria Math"/>
              </a:rPr>
              <a:t>𝐟</a:t>
            </a:r>
            <a:r>
              <a:rPr sz="2625" baseline="-15873" dirty="0">
                <a:solidFill>
                  <a:srgbClr val="6F2F9F"/>
                </a:solidFill>
                <a:latin typeface="Cambria Math"/>
                <a:cs typeface="Cambria Math"/>
              </a:rPr>
              <a:t>𝐦</a:t>
            </a:r>
            <a:r>
              <a:rPr sz="2625" spc="472" baseline="-15873" dirty="0">
                <a:solidFill>
                  <a:srgbClr val="6F2F9F"/>
                </a:solidFill>
                <a:latin typeface="Cambria Math"/>
                <a:cs typeface="Cambria Math"/>
              </a:rPr>
              <a:t> </a:t>
            </a:r>
            <a:r>
              <a:rPr sz="2400" dirty="0">
                <a:solidFill>
                  <a:srgbClr val="6F2F9F"/>
                </a:solidFill>
                <a:latin typeface="Cambria Math"/>
                <a:cs typeface="Cambria Math"/>
              </a:rPr>
              <a:t>=</a:t>
            </a:r>
            <a:r>
              <a:rPr sz="2400" spc="80" dirty="0">
                <a:solidFill>
                  <a:srgbClr val="6F2F9F"/>
                </a:solidFill>
                <a:latin typeface="Cambria Math"/>
                <a:cs typeface="Cambria Math"/>
              </a:rPr>
              <a:t> </a:t>
            </a:r>
            <a:r>
              <a:rPr sz="2400" dirty="0">
                <a:solidFill>
                  <a:srgbClr val="6F2F9F"/>
                </a:solidFill>
                <a:latin typeface="Cambria Math"/>
                <a:cs typeface="Cambria Math"/>
              </a:rPr>
              <a:t>𝟏</a:t>
            </a:r>
            <a:r>
              <a:rPr sz="2400" spc="-45" dirty="0">
                <a:solidFill>
                  <a:srgbClr val="6F2F9F"/>
                </a:solidFill>
                <a:latin typeface="Cambria Math"/>
                <a:cs typeface="Cambria Math"/>
              </a:rPr>
              <a:t> </a:t>
            </a:r>
            <a:r>
              <a:rPr sz="2400" dirty="0">
                <a:solidFill>
                  <a:srgbClr val="6F2F9F"/>
                </a:solidFill>
                <a:latin typeface="Cambria Math"/>
                <a:cs typeface="Cambria Math"/>
              </a:rPr>
              <a:t>𝐤𝐇𝐳</a:t>
            </a:r>
            <a:r>
              <a:rPr sz="2400" b="1" dirty="0">
                <a:solidFill>
                  <a:srgbClr val="6F2F9F"/>
                </a:solidFill>
                <a:latin typeface="Calibri"/>
                <a:cs typeface="Calibri"/>
              </a:rPr>
              <a:t>,</a:t>
            </a:r>
            <a:r>
              <a:rPr sz="2400" b="1" spc="120" dirty="0">
                <a:solidFill>
                  <a:srgbClr val="6F2F9F"/>
                </a:solidFill>
                <a:latin typeface="Calibri"/>
                <a:cs typeface="Calibri"/>
              </a:rPr>
              <a:t> </a:t>
            </a:r>
            <a:r>
              <a:rPr sz="2400" b="1" dirty="0">
                <a:solidFill>
                  <a:srgbClr val="6F2F9F"/>
                </a:solidFill>
                <a:latin typeface="Calibri"/>
                <a:cs typeface="Calibri"/>
              </a:rPr>
              <a:t>the</a:t>
            </a:r>
            <a:r>
              <a:rPr sz="2400" b="1" spc="120" dirty="0">
                <a:solidFill>
                  <a:srgbClr val="6F2F9F"/>
                </a:solidFill>
                <a:latin typeface="Calibri"/>
                <a:cs typeface="Calibri"/>
              </a:rPr>
              <a:t> </a:t>
            </a:r>
            <a:r>
              <a:rPr sz="2400" b="1" dirty="0">
                <a:solidFill>
                  <a:srgbClr val="6F2F9F"/>
                </a:solidFill>
                <a:latin typeface="Calibri"/>
                <a:cs typeface="Calibri"/>
              </a:rPr>
              <a:t>modulating</a:t>
            </a:r>
            <a:r>
              <a:rPr sz="2400" b="1" spc="110" dirty="0">
                <a:solidFill>
                  <a:srgbClr val="6F2F9F"/>
                </a:solidFill>
                <a:latin typeface="Calibri"/>
                <a:cs typeface="Calibri"/>
              </a:rPr>
              <a:t> </a:t>
            </a:r>
            <a:r>
              <a:rPr sz="2400" b="1" spc="-10" dirty="0">
                <a:solidFill>
                  <a:srgbClr val="6F2F9F"/>
                </a:solidFill>
                <a:latin typeface="Calibri"/>
                <a:cs typeface="Calibri"/>
              </a:rPr>
              <a:t>voltage</a:t>
            </a:r>
            <a:endParaRPr sz="2400" dirty="0">
              <a:latin typeface="Calibri"/>
              <a:cs typeface="Calibri"/>
            </a:endParaRPr>
          </a:p>
          <a:p>
            <a:pPr marL="38100" marR="30480" algn="just">
              <a:lnSpc>
                <a:spcPct val="100000"/>
              </a:lnSpc>
            </a:pPr>
            <a:r>
              <a:rPr sz="2400" dirty="0">
                <a:solidFill>
                  <a:srgbClr val="6F2F9F"/>
                </a:solidFill>
                <a:latin typeface="Cambria Math"/>
                <a:cs typeface="Cambria Math"/>
              </a:rPr>
              <a:t>𝐄</a:t>
            </a:r>
            <a:r>
              <a:rPr sz="2625" baseline="-15873" dirty="0">
                <a:solidFill>
                  <a:srgbClr val="6F2F9F"/>
                </a:solidFill>
                <a:latin typeface="Cambria Math"/>
                <a:cs typeface="Cambria Math"/>
              </a:rPr>
              <a:t>𝐦</a:t>
            </a:r>
            <a:r>
              <a:rPr sz="2625" spc="517" baseline="-15873" dirty="0">
                <a:solidFill>
                  <a:srgbClr val="6F2F9F"/>
                </a:solidFill>
                <a:latin typeface="Cambria Math"/>
                <a:cs typeface="Cambria Math"/>
              </a:rPr>
              <a:t> </a:t>
            </a:r>
            <a:r>
              <a:rPr sz="2400" dirty="0">
                <a:solidFill>
                  <a:srgbClr val="6F2F9F"/>
                </a:solidFill>
                <a:latin typeface="Cambria Math"/>
                <a:cs typeface="Cambria Math"/>
              </a:rPr>
              <a:t>=</a:t>
            </a:r>
            <a:r>
              <a:rPr sz="2400" spc="90" dirty="0">
                <a:solidFill>
                  <a:srgbClr val="6F2F9F"/>
                </a:solidFill>
                <a:latin typeface="Cambria Math"/>
                <a:cs typeface="Cambria Math"/>
              </a:rPr>
              <a:t> </a:t>
            </a:r>
            <a:r>
              <a:rPr sz="2400" dirty="0">
                <a:solidFill>
                  <a:srgbClr val="6F2F9F"/>
                </a:solidFill>
                <a:latin typeface="Cambria Math"/>
                <a:cs typeface="Cambria Math"/>
              </a:rPr>
              <a:t>𝟐</a:t>
            </a:r>
            <a:r>
              <a:rPr sz="2400" spc="-25" dirty="0">
                <a:solidFill>
                  <a:srgbClr val="6F2F9F"/>
                </a:solidFill>
                <a:latin typeface="Cambria Math"/>
                <a:cs typeface="Cambria Math"/>
              </a:rPr>
              <a:t> </a:t>
            </a:r>
            <a:r>
              <a:rPr sz="2400" dirty="0">
                <a:solidFill>
                  <a:srgbClr val="6F2F9F"/>
                </a:solidFill>
                <a:latin typeface="Cambria Math"/>
                <a:cs typeface="Cambria Math"/>
              </a:rPr>
              <a:t>𝐯𝐨𝐥𝐭</a:t>
            </a:r>
            <a:r>
              <a:rPr sz="2400" spc="280" dirty="0">
                <a:solidFill>
                  <a:srgbClr val="6F2F9F"/>
                </a:solidFill>
                <a:latin typeface="Cambria Math"/>
                <a:cs typeface="Cambria Math"/>
              </a:rPr>
              <a:t> </a:t>
            </a:r>
            <a:r>
              <a:rPr sz="2400" b="1" dirty="0">
                <a:solidFill>
                  <a:srgbClr val="6F2F9F"/>
                </a:solidFill>
                <a:latin typeface="Calibri"/>
                <a:cs typeface="Calibri"/>
              </a:rPr>
              <a:t>and</a:t>
            </a:r>
            <a:r>
              <a:rPr sz="2400" b="1" spc="254" dirty="0">
                <a:solidFill>
                  <a:srgbClr val="6F2F9F"/>
                </a:solidFill>
                <a:latin typeface="Calibri"/>
                <a:cs typeface="Calibri"/>
              </a:rPr>
              <a:t> </a:t>
            </a:r>
            <a:r>
              <a:rPr sz="2400" b="1" dirty="0">
                <a:solidFill>
                  <a:srgbClr val="6F2F9F"/>
                </a:solidFill>
                <a:latin typeface="Calibri"/>
                <a:cs typeface="Calibri"/>
              </a:rPr>
              <a:t>the</a:t>
            </a:r>
            <a:r>
              <a:rPr sz="2400" b="1" spc="270" dirty="0">
                <a:solidFill>
                  <a:srgbClr val="6F2F9F"/>
                </a:solidFill>
                <a:latin typeface="Calibri"/>
                <a:cs typeface="Calibri"/>
              </a:rPr>
              <a:t> </a:t>
            </a:r>
            <a:r>
              <a:rPr sz="2400" b="1" dirty="0">
                <a:solidFill>
                  <a:srgbClr val="6F2F9F"/>
                </a:solidFill>
                <a:latin typeface="Calibri"/>
                <a:cs typeface="Calibri"/>
              </a:rPr>
              <a:t>deviation</a:t>
            </a:r>
            <a:r>
              <a:rPr sz="2400" b="1" spc="254" dirty="0">
                <a:solidFill>
                  <a:srgbClr val="6F2F9F"/>
                </a:solidFill>
                <a:latin typeface="Calibri"/>
                <a:cs typeface="Calibri"/>
              </a:rPr>
              <a:t> </a:t>
            </a:r>
            <a:r>
              <a:rPr sz="2400" b="1" dirty="0">
                <a:solidFill>
                  <a:srgbClr val="6F2F9F"/>
                </a:solidFill>
                <a:latin typeface="Calibri"/>
                <a:cs typeface="Calibri"/>
              </a:rPr>
              <a:t>is</a:t>
            </a:r>
            <a:r>
              <a:rPr sz="2400" b="1" spc="265" dirty="0">
                <a:solidFill>
                  <a:srgbClr val="6F2F9F"/>
                </a:solidFill>
                <a:latin typeface="Calibri"/>
                <a:cs typeface="Calibri"/>
              </a:rPr>
              <a:t> </a:t>
            </a:r>
            <a:r>
              <a:rPr sz="2400" b="1" dirty="0">
                <a:solidFill>
                  <a:srgbClr val="6F2F9F"/>
                </a:solidFill>
                <a:latin typeface="Calibri"/>
                <a:cs typeface="Calibri"/>
              </a:rPr>
              <a:t>6</a:t>
            </a:r>
            <a:r>
              <a:rPr sz="2400" b="1" spc="254" dirty="0">
                <a:solidFill>
                  <a:srgbClr val="6F2F9F"/>
                </a:solidFill>
                <a:latin typeface="Calibri"/>
                <a:cs typeface="Calibri"/>
              </a:rPr>
              <a:t> </a:t>
            </a:r>
            <a:r>
              <a:rPr sz="2400" b="1" dirty="0">
                <a:solidFill>
                  <a:srgbClr val="6F2F9F"/>
                </a:solidFill>
                <a:latin typeface="Calibri"/>
                <a:cs typeface="Calibri"/>
              </a:rPr>
              <a:t>kHz.</a:t>
            </a:r>
            <a:r>
              <a:rPr sz="2400" b="1" spc="260" dirty="0">
                <a:solidFill>
                  <a:srgbClr val="6F2F9F"/>
                </a:solidFill>
                <a:latin typeface="Calibri"/>
                <a:cs typeface="Calibri"/>
              </a:rPr>
              <a:t> </a:t>
            </a:r>
            <a:r>
              <a:rPr sz="2400" b="1" dirty="0">
                <a:solidFill>
                  <a:srgbClr val="6F2F9F"/>
                </a:solidFill>
                <a:latin typeface="Calibri"/>
                <a:cs typeface="Calibri"/>
              </a:rPr>
              <a:t>If</a:t>
            </a:r>
            <a:r>
              <a:rPr sz="2400" b="1" spc="254" dirty="0">
                <a:solidFill>
                  <a:srgbClr val="6F2F9F"/>
                </a:solidFill>
                <a:latin typeface="Calibri"/>
                <a:cs typeface="Calibri"/>
              </a:rPr>
              <a:t> </a:t>
            </a:r>
            <a:r>
              <a:rPr sz="2400" b="1" dirty="0">
                <a:solidFill>
                  <a:srgbClr val="6F2F9F"/>
                </a:solidFill>
                <a:latin typeface="Calibri"/>
                <a:cs typeface="Calibri"/>
              </a:rPr>
              <a:t>the</a:t>
            </a:r>
            <a:r>
              <a:rPr sz="2400" b="1" spc="275" dirty="0">
                <a:solidFill>
                  <a:srgbClr val="6F2F9F"/>
                </a:solidFill>
                <a:latin typeface="Calibri"/>
                <a:cs typeface="Calibri"/>
              </a:rPr>
              <a:t> </a:t>
            </a:r>
            <a:r>
              <a:rPr sz="2400" b="1" dirty="0">
                <a:solidFill>
                  <a:srgbClr val="6F2F9F"/>
                </a:solidFill>
                <a:latin typeface="Calibri"/>
                <a:cs typeface="Calibri"/>
              </a:rPr>
              <a:t>modulating</a:t>
            </a:r>
            <a:r>
              <a:rPr sz="2400" b="1" spc="260" dirty="0">
                <a:solidFill>
                  <a:srgbClr val="6F2F9F"/>
                </a:solidFill>
                <a:latin typeface="Calibri"/>
                <a:cs typeface="Calibri"/>
              </a:rPr>
              <a:t> </a:t>
            </a:r>
            <a:r>
              <a:rPr sz="2400" b="1" dirty="0">
                <a:solidFill>
                  <a:srgbClr val="6F2F9F"/>
                </a:solidFill>
                <a:latin typeface="Calibri"/>
                <a:cs typeface="Calibri"/>
              </a:rPr>
              <a:t>voltage</a:t>
            </a:r>
            <a:r>
              <a:rPr sz="2400" b="1" spc="254" dirty="0">
                <a:solidFill>
                  <a:srgbClr val="6F2F9F"/>
                </a:solidFill>
                <a:latin typeface="Calibri"/>
                <a:cs typeface="Calibri"/>
              </a:rPr>
              <a:t> </a:t>
            </a:r>
            <a:r>
              <a:rPr sz="2400" b="1" dirty="0">
                <a:solidFill>
                  <a:srgbClr val="6F2F9F"/>
                </a:solidFill>
                <a:latin typeface="Calibri"/>
                <a:cs typeface="Calibri"/>
              </a:rPr>
              <a:t>is</a:t>
            </a:r>
            <a:r>
              <a:rPr sz="2400" b="1" spc="260" dirty="0">
                <a:solidFill>
                  <a:srgbClr val="6F2F9F"/>
                </a:solidFill>
                <a:latin typeface="Calibri"/>
                <a:cs typeface="Calibri"/>
              </a:rPr>
              <a:t> </a:t>
            </a:r>
            <a:r>
              <a:rPr sz="2400" b="1" dirty="0">
                <a:solidFill>
                  <a:srgbClr val="6F2F9F"/>
                </a:solidFill>
                <a:latin typeface="Calibri"/>
                <a:cs typeface="Calibri"/>
              </a:rPr>
              <a:t>raised</a:t>
            </a:r>
            <a:r>
              <a:rPr sz="2400" b="1" spc="260" dirty="0">
                <a:solidFill>
                  <a:srgbClr val="6F2F9F"/>
                </a:solidFill>
                <a:latin typeface="Calibri"/>
                <a:cs typeface="Calibri"/>
              </a:rPr>
              <a:t> </a:t>
            </a:r>
            <a:r>
              <a:rPr sz="2400" b="1" dirty="0">
                <a:solidFill>
                  <a:srgbClr val="6F2F9F"/>
                </a:solidFill>
                <a:latin typeface="Calibri"/>
                <a:cs typeface="Calibri"/>
              </a:rPr>
              <a:t>to</a:t>
            </a:r>
            <a:r>
              <a:rPr sz="2400" b="1" spc="265" dirty="0">
                <a:solidFill>
                  <a:srgbClr val="6F2F9F"/>
                </a:solidFill>
                <a:latin typeface="Calibri"/>
                <a:cs typeface="Calibri"/>
              </a:rPr>
              <a:t> </a:t>
            </a:r>
            <a:r>
              <a:rPr sz="2400" b="1" dirty="0">
                <a:solidFill>
                  <a:srgbClr val="6F2F9F"/>
                </a:solidFill>
                <a:latin typeface="Calibri"/>
                <a:cs typeface="Calibri"/>
              </a:rPr>
              <a:t>4</a:t>
            </a:r>
            <a:r>
              <a:rPr sz="2400" b="1" spc="260" dirty="0">
                <a:solidFill>
                  <a:srgbClr val="6F2F9F"/>
                </a:solidFill>
                <a:latin typeface="Calibri"/>
                <a:cs typeface="Calibri"/>
              </a:rPr>
              <a:t> </a:t>
            </a:r>
            <a:r>
              <a:rPr sz="2400" b="1" dirty="0">
                <a:solidFill>
                  <a:srgbClr val="6F2F9F"/>
                </a:solidFill>
                <a:latin typeface="Calibri"/>
                <a:cs typeface="Calibri"/>
              </a:rPr>
              <a:t>volt</a:t>
            </a:r>
            <a:r>
              <a:rPr sz="2400" b="1" spc="254" dirty="0">
                <a:solidFill>
                  <a:srgbClr val="6F2F9F"/>
                </a:solidFill>
                <a:latin typeface="Calibri"/>
                <a:cs typeface="Calibri"/>
              </a:rPr>
              <a:t> </a:t>
            </a:r>
            <a:r>
              <a:rPr sz="2400" b="1" spc="-20" dirty="0">
                <a:solidFill>
                  <a:srgbClr val="6F2F9F"/>
                </a:solidFill>
                <a:latin typeface="Calibri"/>
                <a:cs typeface="Calibri"/>
              </a:rPr>
              <a:t>th</a:t>
            </a:r>
            <a:r>
              <a:rPr lang="en-US" sz="2400" b="1" spc="-20" dirty="0">
                <a:solidFill>
                  <a:srgbClr val="6F2F9F"/>
                </a:solidFill>
                <a:latin typeface="Calibri"/>
                <a:cs typeface="Calibri"/>
              </a:rPr>
              <a:t>e</a:t>
            </a:r>
            <a:r>
              <a:rPr sz="2400" b="1" spc="-20" dirty="0">
                <a:solidFill>
                  <a:srgbClr val="6F2F9F"/>
                </a:solidFill>
                <a:latin typeface="Calibri"/>
                <a:cs typeface="Calibri"/>
              </a:rPr>
              <a:t>n </a:t>
            </a:r>
            <a:r>
              <a:rPr sz="2400" b="1" dirty="0">
                <a:solidFill>
                  <a:srgbClr val="6F2F9F"/>
                </a:solidFill>
                <a:latin typeface="Calibri"/>
                <a:cs typeface="Calibri"/>
              </a:rPr>
              <a:t>what</a:t>
            </a:r>
            <a:r>
              <a:rPr sz="2400" b="1" spc="400" dirty="0">
                <a:solidFill>
                  <a:srgbClr val="6F2F9F"/>
                </a:solidFill>
                <a:latin typeface="Calibri"/>
                <a:cs typeface="Calibri"/>
              </a:rPr>
              <a:t> </a:t>
            </a:r>
            <a:r>
              <a:rPr sz="2400" b="1" dirty="0">
                <a:solidFill>
                  <a:srgbClr val="6F2F9F"/>
                </a:solidFill>
                <a:latin typeface="Calibri"/>
                <a:cs typeface="Calibri"/>
              </a:rPr>
              <a:t>is</a:t>
            </a:r>
            <a:r>
              <a:rPr sz="2400" b="1" spc="405" dirty="0">
                <a:solidFill>
                  <a:srgbClr val="6F2F9F"/>
                </a:solidFill>
                <a:latin typeface="Calibri"/>
                <a:cs typeface="Calibri"/>
              </a:rPr>
              <a:t> </a:t>
            </a:r>
            <a:r>
              <a:rPr sz="2400" b="1" dirty="0">
                <a:solidFill>
                  <a:srgbClr val="6F2F9F"/>
                </a:solidFill>
                <a:latin typeface="Calibri"/>
                <a:cs typeface="Calibri"/>
              </a:rPr>
              <a:t>the</a:t>
            </a:r>
            <a:r>
              <a:rPr sz="2400" b="1" spc="420" dirty="0">
                <a:solidFill>
                  <a:srgbClr val="6F2F9F"/>
                </a:solidFill>
                <a:latin typeface="Calibri"/>
                <a:cs typeface="Calibri"/>
              </a:rPr>
              <a:t> </a:t>
            </a:r>
            <a:r>
              <a:rPr sz="2400" b="1" dirty="0">
                <a:solidFill>
                  <a:srgbClr val="6F2F9F"/>
                </a:solidFill>
                <a:latin typeface="Calibri"/>
                <a:cs typeface="Calibri"/>
              </a:rPr>
              <a:t>new</a:t>
            </a:r>
            <a:r>
              <a:rPr sz="2400" b="1" spc="405" dirty="0">
                <a:solidFill>
                  <a:srgbClr val="6F2F9F"/>
                </a:solidFill>
                <a:latin typeface="Calibri"/>
                <a:cs typeface="Calibri"/>
              </a:rPr>
              <a:t> </a:t>
            </a:r>
            <a:r>
              <a:rPr sz="2400" b="1" dirty="0">
                <a:solidFill>
                  <a:srgbClr val="6F2F9F"/>
                </a:solidFill>
                <a:latin typeface="Calibri"/>
                <a:cs typeface="Calibri"/>
              </a:rPr>
              <a:t>deviation?</a:t>
            </a:r>
            <a:r>
              <a:rPr sz="2400" b="1" spc="415" dirty="0">
                <a:solidFill>
                  <a:srgbClr val="6F2F9F"/>
                </a:solidFill>
                <a:latin typeface="Calibri"/>
                <a:cs typeface="Calibri"/>
              </a:rPr>
              <a:t> </a:t>
            </a:r>
            <a:r>
              <a:rPr sz="2400" b="1" dirty="0">
                <a:solidFill>
                  <a:srgbClr val="6F2F9F"/>
                </a:solidFill>
                <a:latin typeface="Calibri"/>
                <a:cs typeface="Calibri"/>
              </a:rPr>
              <a:t>If</a:t>
            </a:r>
            <a:r>
              <a:rPr sz="2400" b="1" spc="400" dirty="0">
                <a:solidFill>
                  <a:srgbClr val="6F2F9F"/>
                </a:solidFill>
                <a:latin typeface="Calibri"/>
                <a:cs typeface="Calibri"/>
              </a:rPr>
              <a:t> </a:t>
            </a:r>
            <a:r>
              <a:rPr sz="2400" b="1" dirty="0">
                <a:solidFill>
                  <a:srgbClr val="6F2F9F"/>
                </a:solidFill>
                <a:latin typeface="Calibri"/>
                <a:cs typeface="Calibri"/>
              </a:rPr>
              <a:t>the</a:t>
            </a:r>
            <a:r>
              <a:rPr sz="2400" b="1" spc="420" dirty="0">
                <a:solidFill>
                  <a:srgbClr val="6F2F9F"/>
                </a:solidFill>
                <a:latin typeface="Calibri"/>
                <a:cs typeface="Calibri"/>
              </a:rPr>
              <a:t> </a:t>
            </a:r>
            <a:r>
              <a:rPr sz="2400" b="1" dirty="0">
                <a:solidFill>
                  <a:srgbClr val="6F2F9F"/>
                </a:solidFill>
                <a:latin typeface="Calibri"/>
                <a:cs typeface="Calibri"/>
              </a:rPr>
              <a:t>modulating</a:t>
            </a:r>
            <a:r>
              <a:rPr sz="2400" b="1" spc="409" dirty="0">
                <a:solidFill>
                  <a:srgbClr val="6F2F9F"/>
                </a:solidFill>
                <a:latin typeface="Calibri"/>
                <a:cs typeface="Calibri"/>
              </a:rPr>
              <a:t> </a:t>
            </a:r>
            <a:r>
              <a:rPr sz="2400" b="1" dirty="0">
                <a:solidFill>
                  <a:srgbClr val="6F2F9F"/>
                </a:solidFill>
                <a:latin typeface="Calibri"/>
                <a:cs typeface="Calibri"/>
              </a:rPr>
              <a:t>voltage</a:t>
            </a:r>
            <a:r>
              <a:rPr sz="2400" b="1" spc="409" dirty="0">
                <a:solidFill>
                  <a:srgbClr val="6F2F9F"/>
                </a:solidFill>
                <a:latin typeface="Calibri"/>
                <a:cs typeface="Calibri"/>
              </a:rPr>
              <a:t> </a:t>
            </a:r>
            <a:r>
              <a:rPr sz="2400" b="1" dirty="0">
                <a:solidFill>
                  <a:srgbClr val="6F2F9F"/>
                </a:solidFill>
                <a:latin typeface="Calibri"/>
                <a:cs typeface="Calibri"/>
              </a:rPr>
              <a:t>is</a:t>
            </a:r>
            <a:r>
              <a:rPr sz="2400" b="1" spc="405" dirty="0">
                <a:solidFill>
                  <a:srgbClr val="6F2F9F"/>
                </a:solidFill>
                <a:latin typeface="Calibri"/>
                <a:cs typeface="Calibri"/>
              </a:rPr>
              <a:t> </a:t>
            </a:r>
            <a:r>
              <a:rPr sz="2400" b="1" dirty="0">
                <a:solidFill>
                  <a:srgbClr val="6F2F9F"/>
                </a:solidFill>
                <a:latin typeface="Calibri"/>
                <a:cs typeface="Calibri"/>
              </a:rPr>
              <a:t>further</a:t>
            </a:r>
            <a:r>
              <a:rPr sz="2400" b="1" spc="400" dirty="0">
                <a:solidFill>
                  <a:srgbClr val="6F2F9F"/>
                </a:solidFill>
                <a:latin typeface="Calibri"/>
                <a:cs typeface="Calibri"/>
              </a:rPr>
              <a:t> </a:t>
            </a:r>
            <a:r>
              <a:rPr sz="2400" b="1" dirty="0">
                <a:solidFill>
                  <a:srgbClr val="6F2F9F"/>
                </a:solidFill>
                <a:latin typeface="Calibri"/>
                <a:cs typeface="Calibri"/>
              </a:rPr>
              <a:t>increased</a:t>
            </a:r>
            <a:r>
              <a:rPr sz="2400" b="1" spc="405" dirty="0">
                <a:solidFill>
                  <a:srgbClr val="6F2F9F"/>
                </a:solidFill>
                <a:latin typeface="Calibri"/>
                <a:cs typeface="Calibri"/>
              </a:rPr>
              <a:t> </a:t>
            </a:r>
            <a:r>
              <a:rPr sz="2400" b="1" dirty="0">
                <a:solidFill>
                  <a:srgbClr val="6F2F9F"/>
                </a:solidFill>
                <a:latin typeface="Calibri"/>
                <a:cs typeface="Calibri"/>
              </a:rPr>
              <a:t>to</a:t>
            </a:r>
            <a:r>
              <a:rPr sz="2400" b="1" spc="409" dirty="0">
                <a:solidFill>
                  <a:srgbClr val="6F2F9F"/>
                </a:solidFill>
                <a:latin typeface="Calibri"/>
                <a:cs typeface="Calibri"/>
              </a:rPr>
              <a:t> </a:t>
            </a:r>
            <a:r>
              <a:rPr sz="2400" b="1" dirty="0">
                <a:solidFill>
                  <a:srgbClr val="6F2F9F"/>
                </a:solidFill>
                <a:latin typeface="Calibri"/>
                <a:cs typeface="Calibri"/>
              </a:rPr>
              <a:t>8</a:t>
            </a:r>
            <a:r>
              <a:rPr sz="2400" b="1" spc="385" dirty="0">
                <a:solidFill>
                  <a:srgbClr val="6F2F9F"/>
                </a:solidFill>
                <a:latin typeface="Calibri"/>
                <a:cs typeface="Calibri"/>
              </a:rPr>
              <a:t> </a:t>
            </a:r>
            <a:r>
              <a:rPr sz="2400" b="1" dirty="0">
                <a:solidFill>
                  <a:srgbClr val="6F2F9F"/>
                </a:solidFill>
                <a:latin typeface="Calibri"/>
                <a:cs typeface="Calibri"/>
              </a:rPr>
              <a:t>volt</a:t>
            </a:r>
            <a:r>
              <a:rPr sz="2400" b="1" spc="400" dirty="0">
                <a:solidFill>
                  <a:srgbClr val="6F2F9F"/>
                </a:solidFill>
                <a:latin typeface="Calibri"/>
                <a:cs typeface="Calibri"/>
              </a:rPr>
              <a:t> </a:t>
            </a:r>
            <a:r>
              <a:rPr sz="2400" b="1" spc="-25" dirty="0">
                <a:solidFill>
                  <a:srgbClr val="6F2F9F"/>
                </a:solidFill>
                <a:latin typeface="Calibri"/>
                <a:cs typeface="Calibri"/>
              </a:rPr>
              <a:t>and </a:t>
            </a:r>
            <a:r>
              <a:rPr sz="2400" b="1" dirty="0">
                <a:solidFill>
                  <a:srgbClr val="6F2F9F"/>
                </a:solidFill>
                <a:latin typeface="Calibri"/>
                <a:cs typeface="Calibri"/>
              </a:rPr>
              <a:t>modulating</a:t>
            </a:r>
            <a:r>
              <a:rPr sz="2400" b="1" spc="-60" dirty="0">
                <a:solidFill>
                  <a:srgbClr val="6F2F9F"/>
                </a:solidFill>
                <a:latin typeface="Calibri"/>
                <a:cs typeface="Calibri"/>
              </a:rPr>
              <a:t> </a:t>
            </a:r>
            <a:r>
              <a:rPr sz="2400" b="1" dirty="0">
                <a:solidFill>
                  <a:srgbClr val="6F2F9F"/>
                </a:solidFill>
                <a:latin typeface="Calibri"/>
                <a:cs typeface="Calibri"/>
              </a:rPr>
              <a:t>frequency</a:t>
            </a:r>
            <a:r>
              <a:rPr sz="2400" b="1" spc="-55" dirty="0">
                <a:solidFill>
                  <a:srgbClr val="6F2F9F"/>
                </a:solidFill>
                <a:latin typeface="Calibri"/>
                <a:cs typeface="Calibri"/>
              </a:rPr>
              <a:t> </a:t>
            </a:r>
            <a:r>
              <a:rPr sz="2400" b="1" dirty="0">
                <a:solidFill>
                  <a:srgbClr val="6F2F9F"/>
                </a:solidFill>
                <a:latin typeface="Calibri"/>
                <a:cs typeface="Calibri"/>
              </a:rPr>
              <a:t>is</a:t>
            </a:r>
            <a:r>
              <a:rPr sz="2400" b="1" spc="-50" dirty="0">
                <a:solidFill>
                  <a:srgbClr val="6F2F9F"/>
                </a:solidFill>
                <a:latin typeface="Calibri"/>
                <a:cs typeface="Calibri"/>
              </a:rPr>
              <a:t> </a:t>
            </a:r>
            <a:r>
              <a:rPr sz="2400" b="1" dirty="0">
                <a:solidFill>
                  <a:srgbClr val="6F2F9F"/>
                </a:solidFill>
                <a:latin typeface="Calibri"/>
                <a:cs typeface="Calibri"/>
              </a:rPr>
              <a:t>reduced</a:t>
            </a:r>
            <a:r>
              <a:rPr sz="2400" b="1" spc="-60" dirty="0">
                <a:solidFill>
                  <a:srgbClr val="6F2F9F"/>
                </a:solidFill>
                <a:latin typeface="Calibri"/>
                <a:cs typeface="Calibri"/>
              </a:rPr>
              <a:t> </a:t>
            </a:r>
            <a:r>
              <a:rPr sz="2400" b="1" dirty="0">
                <a:solidFill>
                  <a:srgbClr val="6F2F9F"/>
                </a:solidFill>
                <a:latin typeface="Calibri"/>
                <a:cs typeface="Calibri"/>
              </a:rPr>
              <a:t>to</a:t>
            </a:r>
            <a:r>
              <a:rPr sz="2400" b="1" spc="-50" dirty="0">
                <a:solidFill>
                  <a:srgbClr val="6F2F9F"/>
                </a:solidFill>
                <a:latin typeface="Calibri"/>
                <a:cs typeface="Calibri"/>
              </a:rPr>
              <a:t> </a:t>
            </a:r>
            <a:r>
              <a:rPr sz="2400" b="1" dirty="0">
                <a:solidFill>
                  <a:srgbClr val="6F2F9F"/>
                </a:solidFill>
                <a:latin typeface="Calibri"/>
                <a:cs typeface="Calibri"/>
              </a:rPr>
              <a:t>500</a:t>
            </a:r>
            <a:r>
              <a:rPr sz="2400" b="1" spc="-60" dirty="0">
                <a:solidFill>
                  <a:srgbClr val="6F2F9F"/>
                </a:solidFill>
                <a:latin typeface="Calibri"/>
                <a:cs typeface="Calibri"/>
              </a:rPr>
              <a:t> </a:t>
            </a:r>
            <a:r>
              <a:rPr sz="2400" b="1" dirty="0">
                <a:solidFill>
                  <a:srgbClr val="6F2F9F"/>
                </a:solidFill>
                <a:latin typeface="Calibri"/>
                <a:cs typeface="Calibri"/>
              </a:rPr>
              <a:t>Hz</a:t>
            </a:r>
            <a:r>
              <a:rPr sz="2400" b="1" spc="-60" dirty="0">
                <a:solidFill>
                  <a:srgbClr val="6F2F9F"/>
                </a:solidFill>
                <a:latin typeface="Calibri"/>
                <a:cs typeface="Calibri"/>
              </a:rPr>
              <a:t> </a:t>
            </a:r>
            <a:r>
              <a:rPr sz="2400" b="1" dirty="0">
                <a:solidFill>
                  <a:srgbClr val="6F2F9F"/>
                </a:solidFill>
                <a:latin typeface="Calibri"/>
                <a:cs typeface="Calibri"/>
              </a:rPr>
              <a:t>what</a:t>
            </a:r>
            <a:r>
              <a:rPr sz="2400" b="1" spc="-60" dirty="0">
                <a:solidFill>
                  <a:srgbClr val="6F2F9F"/>
                </a:solidFill>
                <a:latin typeface="Calibri"/>
                <a:cs typeface="Calibri"/>
              </a:rPr>
              <a:t> </a:t>
            </a:r>
            <a:r>
              <a:rPr sz="2400" b="1" dirty="0">
                <a:solidFill>
                  <a:srgbClr val="6F2F9F"/>
                </a:solidFill>
                <a:latin typeface="Calibri"/>
                <a:cs typeface="Calibri"/>
              </a:rPr>
              <a:t>will</a:t>
            </a:r>
            <a:r>
              <a:rPr sz="2400" b="1" spc="-65" dirty="0">
                <a:solidFill>
                  <a:srgbClr val="6F2F9F"/>
                </a:solidFill>
                <a:latin typeface="Calibri"/>
                <a:cs typeface="Calibri"/>
              </a:rPr>
              <a:t> </a:t>
            </a:r>
            <a:r>
              <a:rPr sz="2400" b="1" dirty="0">
                <a:solidFill>
                  <a:srgbClr val="6F2F9F"/>
                </a:solidFill>
                <a:latin typeface="Calibri"/>
                <a:cs typeface="Calibri"/>
              </a:rPr>
              <a:t>be</a:t>
            </a:r>
            <a:r>
              <a:rPr sz="2400" b="1" spc="-50" dirty="0">
                <a:solidFill>
                  <a:srgbClr val="6F2F9F"/>
                </a:solidFill>
                <a:latin typeface="Calibri"/>
                <a:cs typeface="Calibri"/>
              </a:rPr>
              <a:t> </a:t>
            </a:r>
            <a:r>
              <a:rPr sz="2400" b="1" spc="-10" dirty="0">
                <a:solidFill>
                  <a:srgbClr val="6F2F9F"/>
                </a:solidFill>
                <a:latin typeface="Calibri"/>
                <a:cs typeface="Calibri"/>
              </a:rPr>
              <a:t>deviation?</a:t>
            </a:r>
            <a:endParaRPr sz="2400" dirty="0">
              <a:latin typeface="Calibri"/>
              <a:cs typeface="Calibri"/>
            </a:endParaRPr>
          </a:p>
        </p:txBody>
      </p:sp>
      <p:pic>
        <p:nvPicPr>
          <p:cNvPr id="3" name="object 3"/>
          <p:cNvPicPr/>
          <p:nvPr/>
        </p:nvPicPr>
        <p:blipFill rotWithShape="1">
          <a:blip r:embed="rId2" cstate="print"/>
          <a:srcRect t="22776"/>
          <a:stretch/>
        </p:blipFill>
        <p:spPr>
          <a:xfrm>
            <a:off x="0" y="1561972"/>
            <a:ext cx="12192000" cy="529602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995" y="73278"/>
            <a:ext cx="11777980" cy="1123315"/>
          </a:xfrm>
          <a:prstGeom prst="rect">
            <a:avLst/>
          </a:prstGeom>
        </p:spPr>
        <p:txBody>
          <a:bodyPr vert="horz" wrap="square" lIns="0" tIns="12700" rIns="0" bIns="0" rtlCol="0">
            <a:spAutoFit/>
          </a:bodyPr>
          <a:lstStyle/>
          <a:p>
            <a:pPr marL="12700" marR="5080" algn="just">
              <a:lnSpc>
                <a:spcPct val="100000"/>
              </a:lnSpc>
              <a:spcBef>
                <a:spcPts val="100"/>
              </a:spcBef>
            </a:pPr>
            <a:r>
              <a:rPr dirty="0">
                <a:solidFill>
                  <a:srgbClr val="FF0000"/>
                </a:solidFill>
              </a:rPr>
              <a:t>Example</a:t>
            </a:r>
            <a:r>
              <a:rPr spc="110" dirty="0">
                <a:solidFill>
                  <a:srgbClr val="FF0000"/>
                </a:solidFill>
              </a:rPr>
              <a:t> </a:t>
            </a:r>
            <a:r>
              <a:rPr dirty="0">
                <a:solidFill>
                  <a:srgbClr val="FF0000"/>
                </a:solidFill>
              </a:rPr>
              <a:t>9.</a:t>
            </a:r>
            <a:r>
              <a:rPr spc="75" dirty="0">
                <a:solidFill>
                  <a:srgbClr val="FF0000"/>
                </a:solidFill>
              </a:rPr>
              <a:t> </a:t>
            </a:r>
            <a:r>
              <a:rPr dirty="0"/>
              <a:t>What</a:t>
            </a:r>
            <a:r>
              <a:rPr spc="100" dirty="0"/>
              <a:t> </a:t>
            </a:r>
            <a:r>
              <a:rPr dirty="0"/>
              <a:t>is</a:t>
            </a:r>
            <a:r>
              <a:rPr spc="105" dirty="0"/>
              <a:t> </a:t>
            </a:r>
            <a:r>
              <a:rPr dirty="0"/>
              <a:t>the</a:t>
            </a:r>
            <a:r>
              <a:rPr spc="130" dirty="0"/>
              <a:t> </a:t>
            </a:r>
            <a:r>
              <a:rPr dirty="0"/>
              <a:t>bandwidth</a:t>
            </a:r>
            <a:r>
              <a:rPr spc="100" dirty="0"/>
              <a:t> </a:t>
            </a:r>
            <a:r>
              <a:rPr dirty="0"/>
              <a:t>required</a:t>
            </a:r>
            <a:r>
              <a:rPr spc="105" dirty="0"/>
              <a:t> </a:t>
            </a:r>
            <a:r>
              <a:rPr dirty="0"/>
              <a:t>for</a:t>
            </a:r>
            <a:r>
              <a:rPr spc="95" dirty="0"/>
              <a:t> </a:t>
            </a:r>
            <a:r>
              <a:rPr dirty="0"/>
              <a:t>an</a:t>
            </a:r>
            <a:r>
              <a:rPr spc="100" dirty="0"/>
              <a:t> </a:t>
            </a:r>
            <a:r>
              <a:rPr dirty="0"/>
              <a:t>FM</a:t>
            </a:r>
            <a:r>
              <a:rPr spc="110" dirty="0"/>
              <a:t> </a:t>
            </a:r>
            <a:r>
              <a:rPr dirty="0"/>
              <a:t>signal</a:t>
            </a:r>
            <a:r>
              <a:rPr spc="100" dirty="0"/>
              <a:t> </a:t>
            </a:r>
            <a:r>
              <a:rPr dirty="0"/>
              <a:t>if</a:t>
            </a:r>
            <a:r>
              <a:rPr spc="100" dirty="0"/>
              <a:t> </a:t>
            </a:r>
            <a:r>
              <a:rPr dirty="0"/>
              <a:t>the</a:t>
            </a:r>
            <a:r>
              <a:rPr spc="110" dirty="0"/>
              <a:t> </a:t>
            </a:r>
            <a:r>
              <a:rPr dirty="0"/>
              <a:t>modulating</a:t>
            </a:r>
            <a:r>
              <a:rPr spc="110" dirty="0"/>
              <a:t> </a:t>
            </a:r>
            <a:r>
              <a:rPr dirty="0"/>
              <a:t>frequency</a:t>
            </a:r>
            <a:r>
              <a:rPr spc="100" dirty="0"/>
              <a:t> </a:t>
            </a:r>
            <a:r>
              <a:rPr spc="-25" dirty="0"/>
              <a:t>is </a:t>
            </a:r>
            <a:r>
              <a:rPr dirty="0"/>
              <a:t>1kHz</a:t>
            </a:r>
            <a:r>
              <a:rPr spc="385" dirty="0"/>
              <a:t> </a:t>
            </a:r>
            <a:r>
              <a:rPr dirty="0"/>
              <a:t>and</a:t>
            </a:r>
            <a:r>
              <a:rPr spc="375" dirty="0"/>
              <a:t> </a:t>
            </a:r>
            <a:r>
              <a:rPr dirty="0"/>
              <a:t>the</a:t>
            </a:r>
            <a:r>
              <a:rPr spc="390" dirty="0"/>
              <a:t> </a:t>
            </a:r>
            <a:r>
              <a:rPr dirty="0"/>
              <a:t>maximum</a:t>
            </a:r>
            <a:r>
              <a:rPr spc="380" dirty="0"/>
              <a:t> </a:t>
            </a:r>
            <a:r>
              <a:rPr dirty="0"/>
              <a:t>deviation</a:t>
            </a:r>
            <a:r>
              <a:rPr spc="385" dirty="0"/>
              <a:t> </a:t>
            </a:r>
            <a:r>
              <a:rPr dirty="0"/>
              <a:t>is</a:t>
            </a:r>
            <a:r>
              <a:rPr spc="390" dirty="0"/>
              <a:t> </a:t>
            </a:r>
            <a:r>
              <a:rPr dirty="0"/>
              <a:t>10kHz?</a:t>
            </a:r>
            <a:r>
              <a:rPr spc="380" dirty="0"/>
              <a:t> </a:t>
            </a:r>
            <a:r>
              <a:rPr dirty="0"/>
              <a:t>What</a:t>
            </a:r>
            <a:r>
              <a:rPr spc="375" dirty="0"/>
              <a:t> </a:t>
            </a:r>
            <a:r>
              <a:rPr dirty="0"/>
              <a:t>is</a:t>
            </a:r>
            <a:r>
              <a:rPr spc="390" dirty="0"/>
              <a:t> </a:t>
            </a:r>
            <a:r>
              <a:rPr dirty="0"/>
              <a:t>the</a:t>
            </a:r>
            <a:r>
              <a:rPr spc="390" dirty="0"/>
              <a:t> </a:t>
            </a:r>
            <a:r>
              <a:rPr dirty="0"/>
              <a:t>BW</a:t>
            </a:r>
            <a:r>
              <a:rPr spc="380" dirty="0"/>
              <a:t> </a:t>
            </a:r>
            <a:r>
              <a:rPr dirty="0"/>
              <a:t>required</a:t>
            </a:r>
            <a:r>
              <a:rPr spc="385" dirty="0"/>
              <a:t> </a:t>
            </a:r>
            <a:r>
              <a:rPr dirty="0"/>
              <a:t>for</a:t>
            </a:r>
            <a:r>
              <a:rPr spc="390" dirty="0"/>
              <a:t> </a:t>
            </a:r>
            <a:r>
              <a:rPr dirty="0"/>
              <a:t>a</a:t>
            </a:r>
            <a:r>
              <a:rPr spc="375" dirty="0"/>
              <a:t> </a:t>
            </a:r>
            <a:r>
              <a:rPr dirty="0"/>
              <a:t>DSBFC</a:t>
            </a:r>
            <a:r>
              <a:rPr spc="375" dirty="0"/>
              <a:t> </a:t>
            </a:r>
            <a:r>
              <a:rPr spc="-20" dirty="0"/>
              <a:t>(AM) </a:t>
            </a:r>
            <a:r>
              <a:rPr spc="-10" dirty="0"/>
              <a:t>transmission?</a:t>
            </a:r>
          </a:p>
        </p:txBody>
      </p:sp>
      <p:pic>
        <p:nvPicPr>
          <p:cNvPr id="3" name="object 3"/>
          <p:cNvPicPr/>
          <p:nvPr/>
        </p:nvPicPr>
        <p:blipFill rotWithShape="1">
          <a:blip r:embed="rId2" cstate="print"/>
          <a:srcRect t="17448"/>
          <a:stretch/>
        </p:blipFill>
        <p:spPr>
          <a:xfrm>
            <a:off x="0" y="1196592"/>
            <a:ext cx="12192000" cy="566140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6593" y="-50165"/>
            <a:ext cx="11939270" cy="2042795"/>
          </a:xfrm>
          <a:prstGeom prst="rect">
            <a:avLst/>
          </a:prstGeom>
        </p:spPr>
        <p:txBody>
          <a:bodyPr vert="horz" wrap="square" lIns="0" tIns="12700" rIns="0" bIns="0" rtlCol="0">
            <a:spAutoFit/>
          </a:bodyPr>
          <a:lstStyle/>
          <a:p>
            <a:pPr marL="12700" algn="just">
              <a:lnSpc>
                <a:spcPct val="100000"/>
              </a:lnSpc>
              <a:spcBef>
                <a:spcPts val="100"/>
              </a:spcBef>
            </a:pPr>
            <a:r>
              <a:rPr sz="6000" spc="-135" dirty="0">
                <a:solidFill>
                  <a:srgbClr val="006600"/>
                </a:solidFill>
                <a:latin typeface="Trebuchet MS"/>
                <a:cs typeface="Trebuchet MS"/>
              </a:rPr>
              <a:t>Examples</a:t>
            </a:r>
            <a:r>
              <a:rPr sz="6000" spc="-280" dirty="0">
                <a:solidFill>
                  <a:srgbClr val="006600"/>
                </a:solidFill>
                <a:latin typeface="Trebuchet MS"/>
                <a:cs typeface="Trebuchet MS"/>
              </a:rPr>
              <a:t> </a:t>
            </a:r>
            <a:r>
              <a:rPr sz="6000" spc="-180" dirty="0">
                <a:solidFill>
                  <a:srgbClr val="006600"/>
                </a:solidFill>
                <a:latin typeface="Trebuchet MS"/>
                <a:cs typeface="Trebuchet MS"/>
              </a:rPr>
              <a:t>of</a:t>
            </a:r>
            <a:r>
              <a:rPr sz="6000" spc="-275" dirty="0">
                <a:solidFill>
                  <a:srgbClr val="006600"/>
                </a:solidFill>
                <a:latin typeface="Trebuchet MS"/>
                <a:cs typeface="Trebuchet MS"/>
              </a:rPr>
              <a:t> </a:t>
            </a:r>
            <a:r>
              <a:rPr sz="6000" spc="-245" dirty="0">
                <a:solidFill>
                  <a:srgbClr val="006600"/>
                </a:solidFill>
                <a:latin typeface="Trebuchet MS"/>
                <a:cs typeface="Trebuchet MS"/>
              </a:rPr>
              <a:t>Frequency</a:t>
            </a:r>
            <a:r>
              <a:rPr sz="6000" spc="-275" dirty="0">
                <a:solidFill>
                  <a:srgbClr val="006600"/>
                </a:solidFill>
                <a:latin typeface="Trebuchet MS"/>
                <a:cs typeface="Trebuchet MS"/>
              </a:rPr>
              <a:t> </a:t>
            </a:r>
            <a:r>
              <a:rPr sz="6000" spc="-10" dirty="0">
                <a:solidFill>
                  <a:srgbClr val="006600"/>
                </a:solidFill>
                <a:latin typeface="Trebuchet MS"/>
                <a:cs typeface="Trebuchet MS"/>
              </a:rPr>
              <a:t>Modulation</a:t>
            </a:r>
            <a:endParaRPr sz="6000" dirty="0">
              <a:latin typeface="Trebuchet MS"/>
              <a:cs typeface="Trebuchet MS"/>
            </a:endParaRPr>
          </a:p>
          <a:p>
            <a:pPr marL="107950" marR="74295" algn="just">
              <a:lnSpc>
                <a:spcPct val="100000"/>
              </a:lnSpc>
              <a:spcBef>
                <a:spcPts val="40"/>
              </a:spcBef>
            </a:pPr>
            <a:r>
              <a:rPr dirty="0">
                <a:solidFill>
                  <a:srgbClr val="FF0000"/>
                </a:solidFill>
              </a:rPr>
              <a:t>Example</a:t>
            </a:r>
            <a:r>
              <a:rPr spc="165" dirty="0">
                <a:solidFill>
                  <a:srgbClr val="FF0000"/>
                </a:solidFill>
              </a:rPr>
              <a:t> </a:t>
            </a:r>
            <a:r>
              <a:rPr dirty="0">
                <a:solidFill>
                  <a:srgbClr val="FF0000"/>
                </a:solidFill>
              </a:rPr>
              <a:t>10.</a:t>
            </a:r>
            <a:r>
              <a:rPr spc="160" dirty="0">
                <a:solidFill>
                  <a:srgbClr val="FF0000"/>
                </a:solidFill>
              </a:rPr>
              <a:t> </a:t>
            </a:r>
            <a:r>
              <a:rPr dirty="0"/>
              <a:t>A</a:t>
            </a:r>
            <a:r>
              <a:rPr spc="160" dirty="0"/>
              <a:t> </a:t>
            </a:r>
            <a:r>
              <a:rPr dirty="0"/>
              <a:t>400</a:t>
            </a:r>
            <a:r>
              <a:rPr spc="160" dirty="0"/>
              <a:t> </a:t>
            </a:r>
            <a:r>
              <a:rPr dirty="0"/>
              <a:t>Hz</a:t>
            </a:r>
            <a:r>
              <a:rPr spc="160" dirty="0"/>
              <a:t> </a:t>
            </a:r>
            <a:r>
              <a:rPr dirty="0"/>
              <a:t>modulating</a:t>
            </a:r>
            <a:r>
              <a:rPr spc="160" dirty="0"/>
              <a:t> </a:t>
            </a:r>
            <a:r>
              <a:rPr dirty="0"/>
              <a:t>signal</a:t>
            </a:r>
            <a:r>
              <a:rPr spc="160" dirty="0"/>
              <a:t> </a:t>
            </a:r>
            <a:r>
              <a:rPr dirty="0"/>
              <a:t>modulates</a:t>
            </a:r>
            <a:r>
              <a:rPr spc="165" dirty="0"/>
              <a:t> </a:t>
            </a:r>
            <a:r>
              <a:rPr dirty="0"/>
              <a:t>a</a:t>
            </a:r>
            <a:r>
              <a:rPr spc="165" dirty="0"/>
              <a:t> </a:t>
            </a:r>
            <a:r>
              <a:rPr dirty="0"/>
              <a:t>20</a:t>
            </a:r>
            <a:r>
              <a:rPr spc="170" dirty="0"/>
              <a:t> </a:t>
            </a:r>
            <a:r>
              <a:rPr dirty="0"/>
              <a:t>MHz</a:t>
            </a:r>
            <a:r>
              <a:rPr spc="165" dirty="0"/>
              <a:t> </a:t>
            </a:r>
            <a:r>
              <a:rPr dirty="0"/>
              <a:t>carrier.</a:t>
            </a:r>
            <a:r>
              <a:rPr spc="145" dirty="0"/>
              <a:t> </a:t>
            </a:r>
            <a:r>
              <a:rPr dirty="0"/>
              <a:t>The</a:t>
            </a:r>
            <a:r>
              <a:rPr spc="165" dirty="0"/>
              <a:t> </a:t>
            </a:r>
            <a:r>
              <a:rPr dirty="0"/>
              <a:t>carrier</a:t>
            </a:r>
            <a:r>
              <a:rPr spc="160" dirty="0"/>
              <a:t> </a:t>
            </a:r>
            <a:r>
              <a:rPr dirty="0"/>
              <a:t>voltage</a:t>
            </a:r>
            <a:r>
              <a:rPr spc="165" dirty="0"/>
              <a:t> </a:t>
            </a:r>
            <a:r>
              <a:rPr spc="-25" dirty="0"/>
              <a:t>is </a:t>
            </a:r>
            <a:r>
              <a:rPr dirty="0"/>
              <a:t>5V,</a:t>
            </a:r>
            <a:r>
              <a:rPr spc="65" dirty="0"/>
              <a:t> </a:t>
            </a:r>
            <a:r>
              <a:rPr dirty="0"/>
              <a:t>and</a:t>
            </a:r>
            <a:r>
              <a:rPr spc="60" dirty="0"/>
              <a:t> </a:t>
            </a:r>
            <a:r>
              <a:rPr dirty="0"/>
              <a:t>the</a:t>
            </a:r>
            <a:r>
              <a:rPr spc="80" dirty="0"/>
              <a:t> </a:t>
            </a:r>
            <a:r>
              <a:rPr dirty="0"/>
              <a:t>maximum</a:t>
            </a:r>
            <a:r>
              <a:rPr spc="65" dirty="0"/>
              <a:t> </a:t>
            </a:r>
            <a:r>
              <a:rPr dirty="0"/>
              <a:t>deviation</a:t>
            </a:r>
            <a:r>
              <a:rPr spc="70" dirty="0"/>
              <a:t> </a:t>
            </a:r>
            <a:r>
              <a:rPr dirty="0"/>
              <a:t>is</a:t>
            </a:r>
            <a:r>
              <a:rPr spc="65" dirty="0"/>
              <a:t> </a:t>
            </a:r>
            <a:r>
              <a:rPr dirty="0"/>
              <a:t>10</a:t>
            </a:r>
            <a:r>
              <a:rPr spc="60" dirty="0"/>
              <a:t> </a:t>
            </a:r>
            <a:r>
              <a:rPr dirty="0"/>
              <a:t>kHz.</a:t>
            </a:r>
            <a:r>
              <a:rPr spc="60" dirty="0"/>
              <a:t> </a:t>
            </a:r>
            <a:r>
              <a:rPr dirty="0"/>
              <a:t>Write</a:t>
            </a:r>
            <a:r>
              <a:rPr spc="65" dirty="0"/>
              <a:t> </a:t>
            </a:r>
            <a:r>
              <a:rPr dirty="0"/>
              <a:t>down</a:t>
            </a:r>
            <a:r>
              <a:rPr spc="60" dirty="0"/>
              <a:t> </a:t>
            </a:r>
            <a:r>
              <a:rPr dirty="0"/>
              <a:t>the</a:t>
            </a:r>
            <a:r>
              <a:rPr spc="70" dirty="0"/>
              <a:t> </a:t>
            </a:r>
            <a:r>
              <a:rPr dirty="0"/>
              <a:t>mathematical</a:t>
            </a:r>
            <a:r>
              <a:rPr spc="60" dirty="0"/>
              <a:t> </a:t>
            </a:r>
            <a:r>
              <a:rPr dirty="0"/>
              <a:t>expression</a:t>
            </a:r>
            <a:r>
              <a:rPr spc="65" dirty="0"/>
              <a:t> </a:t>
            </a:r>
            <a:r>
              <a:rPr dirty="0"/>
              <a:t>for</a:t>
            </a:r>
            <a:r>
              <a:rPr spc="70" dirty="0"/>
              <a:t> </a:t>
            </a:r>
            <a:r>
              <a:rPr spc="-25" dirty="0"/>
              <a:t>the </a:t>
            </a:r>
            <a:r>
              <a:rPr dirty="0"/>
              <a:t>FM</a:t>
            </a:r>
            <a:r>
              <a:rPr spc="-15" dirty="0"/>
              <a:t> </a:t>
            </a:r>
            <a:r>
              <a:rPr spc="-10" dirty="0"/>
              <a:t>wave</a:t>
            </a:r>
            <a:r>
              <a:rPr lang="en-US" spc="-10" dirty="0"/>
              <a:t> considering the carrier and message signal as sin and cos wave respectively</a:t>
            </a:r>
            <a:r>
              <a:rPr spc="-10" dirty="0"/>
              <a:t>.</a:t>
            </a:r>
          </a:p>
        </p:txBody>
      </p:sp>
      <p:pic>
        <p:nvPicPr>
          <p:cNvPr id="3" name="object 3"/>
          <p:cNvPicPr/>
          <p:nvPr/>
        </p:nvPicPr>
        <p:blipFill rotWithShape="1">
          <a:blip r:embed="rId2" cstate="print"/>
          <a:srcRect t="29056"/>
          <a:stretch/>
        </p:blipFill>
        <p:spPr>
          <a:xfrm>
            <a:off x="0" y="1992630"/>
            <a:ext cx="12192000" cy="48653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1995" y="73278"/>
            <a:ext cx="11777345" cy="1489075"/>
          </a:xfrm>
          <a:prstGeom prst="rect">
            <a:avLst/>
          </a:prstGeom>
        </p:spPr>
        <p:txBody>
          <a:bodyPr vert="horz" wrap="square" lIns="0" tIns="12700" rIns="0" bIns="0" rtlCol="0">
            <a:spAutoFit/>
          </a:bodyPr>
          <a:lstStyle/>
          <a:p>
            <a:pPr marL="12700" marR="5080" algn="just">
              <a:lnSpc>
                <a:spcPct val="100000"/>
              </a:lnSpc>
              <a:spcBef>
                <a:spcPts val="100"/>
              </a:spcBef>
            </a:pPr>
            <a:r>
              <a:rPr dirty="0">
                <a:solidFill>
                  <a:srgbClr val="FF0000"/>
                </a:solidFill>
              </a:rPr>
              <a:t>Example</a:t>
            </a:r>
            <a:r>
              <a:rPr spc="50" dirty="0">
                <a:solidFill>
                  <a:srgbClr val="FF0000"/>
                </a:solidFill>
              </a:rPr>
              <a:t> </a:t>
            </a:r>
            <a:r>
              <a:rPr dirty="0">
                <a:solidFill>
                  <a:srgbClr val="FF0000"/>
                </a:solidFill>
              </a:rPr>
              <a:t>1</a:t>
            </a:r>
            <a:r>
              <a:rPr lang="en-US" dirty="0">
                <a:solidFill>
                  <a:srgbClr val="FF0000"/>
                </a:solidFill>
              </a:rPr>
              <a:t>1</a:t>
            </a:r>
            <a:r>
              <a:rPr dirty="0">
                <a:solidFill>
                  <a:srgbClr val="FF0000"/>
                </a:solidFill>
              </a:rPr>
              <a:t>.</a:t>
            </a:r>
            <a:r>
              <a:rPr spc="35" dirty="0">
                <a:solidFill>
                  <a:srgbClr val="FF0000"/>
                </a:solidFill>
              </a:rPr>
              <a:t> </a:t>
            </a:r>
            <a:r>
              <a:rPr dirty="0"/>
              <a:t>When</a:t>
            </a:r>
            <a:r>
              <a:rPr spc="50" dirty="0"/>
              <a:t> </a:t>
            </a:r>
            <a:r>
              <a:rPr dirty="0"/>
              <a:t>the</a:t>
            </a:r>
            <a:r>
              <a:rPr spc="65" dirty="0"/>
              <a:t> </a:t>
            </a:r>
            <a:r>
              <a:rPr dirty="0"/>
              <a:t>modulating</a:t>
            </a:r>
            <a:r>
              <a:rPr spc="50" dirty="0"/>
              <a:t> </a:t>
            </a:r>
            <a:r>
              <a:rPr dirty="0"/>
              <a:t>frequency</a:t>
            </a:r>
            <a:r>
              <a:rPr spc="40" dirty="0"/>
              <a:t> </a:t>
            </a:r>
            <a:r>
              <a:rPr dirty="0"/>
              <a:t>in</a:t>
            </a:r>
            <a:r>
              <a:rPr spc="35" dirty="0"/>
              <a:t> </a:t>
            </a:r>
            <a:r>
              <a:rPr dirty="0"/>
              <a:t>an</a:t>
            </a:r>
            <a:r>
              <a:rPr spc="35" dirty="0"/>
              <a:t> </a:t>
            </a:r>
            <a:r>
              <a:rPr dirty="0"/>
              <a:t>FM</a:t>
            </a:r>
            <a:r>
              <a:rPr spc="50" dirty="0"/>
              <a:t> </a:t>
            </a:r>
            <a:r>
              <a:rPr dirty="0"/>
              <a:t>system</a:t>
            </a:r>
            <a:r>
              <a:rPr spc="50" dirty="0"/>
              <a:t> </a:t>
            </a:r>
            <a:r>
              <a:rPr dirty="0"/>
              <a:t>is</a:t>
            </a:r>
            <a:r>
              <a:rPr spc="50" dirty="0"/>
              <a:t> </a:t>
            </a:r>
            <a:r>
              <a:rPr dirty="0"/>
              <a:t>400</a:t>
            </a:r>
            <a:r>
              <a:rPr spc="50" dirty="0"/>
              <a:t> </a:t>
            </a:r>
            <a:r>
              <a:rPr dirty="0"/>
              <a:t>Hz</a:t>
            </a:r>
            <a:r>
              <a:rPr spc="50" dirty="0"/>
              <a:t> </a:t>
            </a:r>
            <a:r>
              <a:rPr dirty="0"/>
              <a:t>and</a:t>
            </a:r>
            <a:r>
              <a:rPr spc="35" dirty="0"/>
              <a:t> </a:t>
            </a:r>
            <a:r>
              <a:rPr dirty="0"/>
              <a:t>the</a:t>
            </a:r>
            <a:r>
              <a:rPr spc="75" dirty="0"/>
              <a:t> </a:t>
            </a:r>
            <a:r>
              <a:rPr spc="-10" dirty="0"/>
              <a:t>modulating </a:t>
            </a:r>
            <a:r>
              <a:rPr dirty="0"/>
              <a:t>voltage</a:t>
            </a:r>
            <a:r>
              <a:rPr spc="180" dirty="0"/>
              <a:t> </a:t>
            </a:r>
            <a:r>
              <a:rPr dirty="0"/>
              <a:t>is</a:t>
            </a:r>
            <a:r>
              <a:rPr spc="180" dirty="0"/>
              <a:t> </a:t>
            </a:r>
            <a:r>
              <a:rPr dirty="0"/>
              <a:t>2.4V,</a:t>
            </a:r>
            <a:r>
              <a:rPr spc="185" dirty="0"/>
              <a:t> </a:t>
            </a:r>
            <a:r>
              <a:rPr dirty="0"/>
              <a:t>the</a:t>
            </a:r>
            <a:r>
              <a:rPr spc="185" dirty="0"/>
              <a:t> </a:t>
            </a:r>
            <a:r>
              <a:rPr dirty="0"/>
              <a:t>modulating</a:t>
            </a:r>
            <a:r>
              <a:rPr spc="185" dirty="0"/>
              <a:t> </a:t>
            </a:r>
            <a:r>
              <a:rPr dirty="0"/>
              <a:t>index</a:t>
            </a:r>
            <a:r>
              <a:rPr spc="180" dirty="0"/>
              <a:t> </a:t>
            </a:r>
            <a:r>
              <a:rPr dirty="0"/>
              <a:t>is</a:t>
            </a:r>
            <a:r>
              <a:rPr spc="180" dirty="0"/>
              <a:t> </a:t>
            </a:r>
            <a:r>
              <a:rPr dirty="0"/>
              <a:t>60.</a:t>
            </a:r>
            <a:r>
              <a:rPr spc="175" dirty="0"/>
              <a:t> </a:t>
            </a:r>
            <a:r>
              <a:rPr dirty="0"/>
              <a:t>Calculate</a:t>
            </a:r>
            <a:r>
              <a:rPr spc="175" dirty="0"/>
              <a:t> </a:t>
            </a:r>
            <a:r>
              <a:rPr dirty="0"/>
              <a:t>the</a:t>
            </a:r>
            <a:r>
              <a:rPr spc="200" dirty="0"/>
              <a:t> </a:t>
            </a:r>
            <a:r>
              <a:rPr dirty="0"/>
              <a:t>maximum</a:t>
            </a:r>
            <a:r>
              <a:rPr spc="170" dirty="0"/>
              <a:t> </a:t>
            </a:r>
            <a:r>
              <a:rPr dirty="0"/>
              <a:t>deviation.</a:t>
            </a:r>
            <a:r>
              <a:rPr spc="180" dirty="0"/>
              <a:t> </a:t>
            </a:r>
            <a:r>
              <a:rPr dirty="0"/>
              <a:t>What</a:t>
            </a:r>
            <a:r>
              <a:rPr spc="175" dirty="0"/>
              <a:t> </a:t>
            </a:r>
            <a:r>
              <a:rPr dirty="0"/>
              <a:t>is</a:t>
            </a:r>
            <a:r>
              <a:rPr spc="190" dirty="0"/>
              <a:t> </a:t>
            </a:r>
            <a:r>
              <a:rPr spc="-25" dirty="0"/>
              <a:t>the </a:t>
            </a:r>
            <a:r>
              <a:rPr dirty="0"/>
              <a:t>modulation</a:t>
            </a:r>
            <a:r>
              <a:rPr spc="65" dirty="0"/>
              <a:t> </a:t>
            </a:r>
            <a:r>
              <a:rPr dirty="0"/>
              <a:t>index</a:t>
            </a:r>
            <a:r>
              <a:rPr spc="85" dirty="0"/>
              <a:t> </a:t>
            </a:r>
            <a:r>
              <a:rPr dirty="0"/>
              <a:t>when</a:t>
            </a:r>
            <a:r>
              <a:rPr spc="80" dirty="0"/>
              <a:t> </a:t>
            </a:r>
            <a:r>
              <a:rPr dirty="0"/>
              <a:t>the</a:t>
            </a:r>
            <a:r>
              <a:rPr spc="90" dirty="0"/>
              <a:t> </a:t>
            </a:r>
            <a:r>
              <a:rPr dirty="0"/>
              <a:t>modulating</a:t>
            </a:r>
            <a:r>
              <a:rPr spc="85" dirty="0"/>
              <a:t> </a:t>
            </a:r>
            <a:r>
              <a:rPr dirty="0"/>
              <a:t>frequency</a:t>
            </a:r>
            <a:r>
              <a:rPr spc="80" dirty="0"/>
              <a:t> </a:t>
            </a:r>
            <a:r>
              <a:rPr dirty="0"/>
              <a:t>is</a:t>
            </a:r>
            <a:r>
              <a:rPr spc="75" dirty="0"/>
              <a:t> </a:t>
            </a:r>
            <a:r>
              <a:rPr dirty="0"/>
              <a:t>reduced</a:t>
            </a:r>
            <a:r>
              <a:rPr spc="90" dirty="0"/>
              <a:t> </a:t>
            </a:r>
            <a:r>
              <a:rPr dirty="0"/>
              <a:t>to</a:t>
            </a:r>
            <a:r>
              <a:rPr spc="90" dirty="0"/>
              <a:t> </a:t>
            </a:r>
            <a:r>
              <a:rPr dirty="0"/>
              <a:t>250</a:t>
            </a:r>
            <a:r>
              <a:rPr spc="80" dirty="0"/>
              <a:t> </a:t>
            </a:r>
            <a:r>
              <a:rPr dirty="0"/>
              <a:t>Hz</a:t>
            </a:r>
            <a:r>
              <a:rPr spc="80" dirty="0"/>
              <a:t> </a:t>
            </a:r>
            <a:r>
              <a:rPr dirty="0"/>
              <a:t>and</a:t>
            </a:r>
            <a:r>
              <a:rPr spc="85" dirty="0"/>
              <a:t> </a:t>
            </a:r>
            <a:r>
              <a:rPr dirty="0"/>
              <a:t>the</a:t>
            </a:r>
            <a:r>
              <a:rPr spc="95" dirty="0"/>
              <a:t> </a:t>
            </a:r>
            <a:r>
              <a:rPr spc="-10" dirty="0"/>
              <a:t>modulating voltage</a:t>
            </a:r>
            <a:r>
              <a:rPr spc="-70" dirty="0"/>
              <a:t> </a:t>
            </a:r>
            <a:r>
              <a:rPr dirty="0"/>
              <a:t>is</a:t>
            </a:r>
            <a:r>
              <a:rPr spc="-60" dirty="0"/>
              <a:t> </a:t>
            </a:r>
            <a:r>
              <a:rPr spc="-10" dirty="0"/>
              <a:t>simultaneously</a:t>
            </a:r>
            <a:r>
              <a:rPr spc="-55" dirty="0"/>
              <a:t> </a:t>
            </a:r>
            <a:r>
              <a:rPr dirty="0"/>
              <a:t>raised</a:t>
            </a:r>
            <a:r>
              <a:rPr spc="-75" dirty="0"/>
              <a:t> </a:t>
            </a:r>
            <a:r>
              <a:rPr dirty="0"/>
              <a:t>to</a:t>
            </a:r>
            <a:r>
              <a:rPr spc="-60" dirty="0"/>
              <a:t> </a:t>
            </a:r>
            <a:r>
              <a:rPr spc="-10" dirty="0"/>
              <a:t>3.2V?</a:t>
            </a:r>
          </a:p>
        </p:txBody>
      </p:sp>
      <p:pic>
        <p:nvPicPr>
          <p:cNvPr id="3" name="object 3"/>
          <p:cNvPicPr/>
          <p:nvPr/>
        </p:nvPicPr>
        <p:blipFill rotWithShape="1">
          <a:blip r:embed="rId2" cstate="print"/>
          <a:srcRect t="24444"/>
          <a:stretch/>
        </p:blipFill>
        <p:spPr>
          <a:xfrm>
            <a:off x="0" y="1676400"/>
            <a:ext cx="12192000" cy="5181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6593" y="-104276"/>
            <a:ext cx="11939270" cy="2479675"/>
          </a:xfrm>
          <a:prstGeom prst="rect">
            <a:avLst/>
          </a:prstGeom>
        </p:spPr>
        <p:txBody>
          <a:bodyPr vert="horz" wrap="square" lIns="0" tIns="66675" rIns="0" bIns="0" rtlCol="0">
            <a:spAutoFit/>
          </a:bodyPr>
          <a:lstStyle/>
          <a:p>
            <a:pPr marL="12700" algn="just">
              <a:lnSpc>
                <a:spcPct val="100000"/>
              </a:lnSpc>
              <a:spcBef>
                <a:spcPts val="525"/>
              </a:spcBef>
            </a:pPr>
            <a:r>
              <a:rPr sz="6000" spc="-135" dirty="0">
                <a:solidFill>
                  <a:srgbClr val="006600"/>
                </a:solidFill>
                <a:latin typeface="Trebuchet MS"/>
                <a:cs typeface="Trebuchet MS"/>
              </a:rPr>
              <a:t>Examples</a:t>
            </a:r>
            <a:r>
              <a:rPr sz="6000" spc="-280" dirty="0">
                <a:solidFill>
                  <a:srgbClr val="006600"/>
                </a:solidFill>
                <a:latin typeface="Trebuchet MS"/>
                <a:cs typeface="Trebuchet MS"/>
              </a:rPr>
              <a:t> </a:t>
            </a:r>
            <a:r>
              <a:rPr sz="6000" spc="-180" dirty="0">
                <a:solidFill>
                  <a:srgbClr val="006600"/>
                </a:solidFill>
                <a:latin typeface="Trebuchet MS"/>
                <a:cs typeface="Trebuchet MS"/>
              </a:rPr>
              <a:t>of</a:t>
            </a:r>
            <a:r>
              <a:rPr sz="6000" spc="-275" dirty="0">
                <a:solidFill>
                  <a:srgbClr val="006600"/>
                </a:solidFill>
                <a:latin typeface="Trebuchet MS"/>
                <a:cs typeface="Trebuchet MS"/>
              </a:rPr>
              <a:t> </a:t>
            </a:r>
            <a:r>
              <a:rPr sz="6000" spc="-245" dirty="0">
                <a:solidFill>
                  <a:srgbClr val="006600"/>
                </a:solidFill>
                <a:latin typeface="Trebuchet MS"/>
                <a:cs typeface="Trebuchet MS"/>
              </a:rPr>
              <a:t>Frequency</a:t>
            </a:r>
            <a:r>
              <a:rPr sz="6000" spc="-275" dirty="0">
                <a:solidFill>
                  <a:srgbClr val="006600"/>
                </a:solidFill>
                <a:latin typeface="Trebuchet MS"/>
                <a:cs typeface="Trebuchet MS"/>
              </a:rPr>
              <a:t> </a:t>
            </a:r>
            <a:r>
              <a:rPr sz="6000" spc="-10" dirty="0">
                <a:solidFill>
                  <a:srgbClr val="006600"/>
                </a:solidFill>
                <a:latin typeface="Trebuchet MS"/>
                <a:cs typeface="Trebuchet MS"/>
              </a:rPr>
              <a:t>Modulation</a:t>
            </a:r>
            <a:endParaRPr sz="6000" dirty="0">
              <a:latin typeface="Trebuchet MS"/>
              <a:cs typeface="Trebuchet MS"/>
            </a:endParaRPr>
          </a:p>
          <a:p>
            <a:pPr marL="107950" marR="70485" algn="just">
              <a:lnSpc>
                <a:spcPct val="100000"/>
              </a:lnSpc>
              <a:spcBef>
                <a:spcPts val="175"/>
              </a:spcBef>
            </a:pPr>
            <a:r>
              <a:rPr dirty="0">
                <a:solidFill>
                  <a:srgbClr val="FF0000"/>
                </a:solidFill>
              </a:rPr>
              <a:t>Example</a:t>
            </a:r>
            <a:r>
              <a:rPr spc="70" dirty="0">
                <a:solidFill>
                  <a:srgbClr val="FF0000"/>
                </a:solidFill>
              </a:rPr>
              <a:t> </a:t>
            </a:r>
            <a:r>
              <a:rPr dirty="0">
                <a:solidFill>
                  <a:srgbClr val="FF0000"/>
                </a:solidFill>
              </a:rPr>
              <a:t>1</a:t>
            </a:r>
            <a:r>
              <a:rPr lang="en-US" dirty="0">
                <a:solidFill>
                  <a:srgbClr val="FF0000"/>
                </a:solidFill>
              </a:rPr>
              <a:t>2</a:t>
            </a:r>
            <a:r>
              <a:rPr dirty="0">
                <a:solidFill>
                  <a:srgbClr val="FF0000"/>
                </a:solidFill>
              </a:rPr>
              <a:t>.</a:t>
            </a:r>
            <a:r>
              <a:rPr spc="50" dirty="0">
                <a:solidFill>
                  <a:srgbClr val="FF0000"/>
                </a:solidFill>
              </a:rPr>
              <a:t> </a:t>
            </a:r>
            <a:r>
              <a:rPr dirty="0"/>
              <a:t>In</a:t>
            </a:r>
            <a:r>
              <a:rPr spc="65" dirty="0"/>
              <a:t> </a:t>
            </a:r>
            <a:r>
              <a:rPr dirty="0"/>
              <a:t>an</a:t>
            </a:r>
            <a:r>
              <a:rPr spc="65" dirty="0"/>
              <a:t> </a:t>
            </a:r>
            <a:r>
              <a:rPr dirty="0"/>
              <a:t>FM</a:t>
            </a:r>
            <a:r>
              <a:rPr spc="65" dirty="0"/>
              <a:t> </a:t>
            </a:r>
            <a:r>
              <a:rPr dirty="0"/>
              <a:t>system,</a:t>
            </a:r>
            <a:r>
              <a:rPr spc="70" dirty="0"/>
              <a:t> </a:t>
            </a:r>
            <a:r>
              <a:rPr dirty="0"/>
              <a:t>the</a:t>
            </a:r>
            <a:r>
              <a:rPr spc="75" dirty="0"/>
              <a:t> </a:t>
            </a:r>
            <a:r>
              <a:rPr dirty="0"/>
              <a:t>audio</a:t>
            </a:r>
            <a:r>
              <a:rPr spc="65" dirty="0"/>
              <a:t> </a:t>
            </a:r>
            <a:r>
              <a:rPr dirty="0"/>
              <a:t>frequency</a:t>
            </a:r>
            <a:r>
              <a:rPr spc="55" dirty="0"/>
              <a:t> </a:t>
            </a:r>
            <a:r>
              <a:rPr dirty="0"/>
              <a:t>is</a:t>
            </a:r>
            <a:r>
              <a:rPr spc="70" dirty="0"/>
              <a:t> </a:t>
            </a:r>
            <a:r>
              <a:rPr dirty="0"/>
              <a:t>1</a:t>
            </a:r>
            <a:r>
              <a:rPr spc="50" dirty="0"/>
              <a:t> </a:t>
            </a:r>
            <a:r>
              <a:rPr dirty="0"/>
              <a:t>kHz,</a:t>
            </a:r>
            <a:r>
              <a:rPr spc="75" dirty="0"/>
              <a:t> </a:t>
            </a:r>
            <a:r>
              <a:rPr dirty="0"/>
              <a:t>and</a:t>
            </a:r>
            <a:r>
              <a:rPr spc="60" dirty="0"/>
              <a:t> </a:t>
            </a:r>
            <a:r>
              <a:rPr dirty="0"/>
              <a:t>the</a:t>
            </a:r>
            <a:r>
              <a:rPr spc="70" dirty="0"/>
              <a:t> </a:t>
            </a:r>
            <a:r>
              <a:rPr dirty="0"/>
              <a:t>audio</a:t>
            </a:r>
            <a:r>
              <a:rPr spc="70" dirty="0"/>
              <a:t> </a:t>
            </a:r>
            <a:r>
              <a:rPr dirty="0"/>
              <a:t>voltage</a:t>
            </a:r>
            <a:r>
              <a:rPr spc="60" dirty="0"/>
              <a:t> </a:t>
            </a:r>
            <a:r>
              <a:rPr dirty="0"/>
              <a:t>is</a:t>
            </a:r>
            <a:r>
              <a:rPr spc="65" dirty="0"/>
              <a:t> </a:t>
            </a:r>
            <a:r>
              <a:rPr dirty="0"/>
              <a:t>2</a:t>
            </a:r>
            <a:r>
              <a:rPr spc="60" dirty="0"/>
              <a:t> </a:t>
            </a:r>
            <a:r>
              <a:rPr spc="-10" dirty="0"/>
              <a:t>volts. </a:t>
            </a:r>
            <a:r>
              <a:rPr dirty="0"/>
              <a:t>The</a:t>
            </a:r>
            <a:r>
              <a:rPr spc="440" dirty="0"/>
              <a:t> </a:t>
            </a:r>
            <a:r>
              <a:rPr dirty="0"/>
              <a:t>deviation</a:t>
            </a:r>
            <a:r>
              <a:rPr spc="434" dirty="0"/>
              <a:t> </a:t>
            </a:r>
            <a:r>
              <a:rPr dirty="0"/>
              <a:t>is</a:t>
            </a:r>
            <a:r>
              <a:rPr spc="440" dirty="0"/>
              <a:t> </a:t>
            </a:r>
            <a:r>
              <a:rPr dirty="0"/>
              <a:t>4</a:t>
            </a:r>
            <a:r>
              <a:rPr spc="420" dirty="0"/>
              <a:t> </a:t>
            </a:r>
            <a:r>
              <a:rPr dirty="0"/>
              <a:t>kHz.</a:t>
            </a:r>
            <a:r>
              <a:rPr spc="434" dirty="0"/>
              <a:t> </a:t>
            </a:r>
            <a:r>
              <a:rPr dirty="0"/>
              <a:t>If</a:t>
            </a:r>
            <a:r>
              <a:rPr spc="434" dirty="0"/>
              <a:t> </a:t>
            </a:r>
            <a:r>
              <a:rPr dirty="0"/>
              <a:t>the</a:t>
            </a:r>
            <a:r>
              <a:rPr spc="440" dirty="0"/>
              <a:t> </a:t>
            </a:r>
            <a:r>
              <a:rPr dirty="0"/>
              <a:t>AF</a:t>
            </a:r>
            <a:r>
              <a:rPr spc="434" dirty="0"/>
              <a:t> </a:t>
            </a:r>
            <a:r>
              <a:rPr dirty="0"/>
              <a:t>voltage</a:t>
            </a:r>
            <a:r>
              <a:rPr spc="445" dirty="0"/>
              <a:t> </a:t>
            </a:r>
            <a:r>
              <a:rPr dirty="0"/>
              <a:t>is</a:t>
            </a:r>
            <a:r>
              <a:rPr spc="440" dirty="0"/>
              <a:t> </a:t>
            </a:r>
            <a:r>
              <a:rPr dirty="0"/>
              <a:t>now</a:t>
            </a:r>
            <a:r>
              <a:rPr spc="430" dirty="0"/>
              <a:t> </a:t>
            </a:r>
            <a:r>
              <a:rPr dirty="0"/>
              <a:t>increased</a:t>
            </a:r>
            <a:r>
              <a:rPr spc="434" dirty="0"/>
              <a:t> </a:t>
            </a:r>
            <a:r>
              <a:rPr dirty="0"/>
              <a:t>to</a:t>
            </a:r>
            <a:r>
              <a:rPr spc="440" dirty="0"/>
              <a:t> </a:t>
            </a:r>
            <a:r>
              <a:rPr dirty="0"/>
              <a:t>8</a:t>
            </a:r>
            <a:r>
              <a:rPr spc="434" dirty="0"/>
              <a:t> </a:t>
            </a:r>
            <a:r>
              <a:rPr dirty="0"/>
              <a:t>volts,</a:t>
            </a:r>
            <a:r>
              <a:rPr spc="434" dirty="0"/>
              <a:t> </a:t>
            </a:r>
            <a:r>
              <a:rPr dirty="0"/>
              <a:t>and</a:t>
            </a:r>
            <a:r>
              <a:rPr spc="430" dirty="0"/>
              <a:t> </a:t>
            </a:r>
            <a:r>
              <a:rPr dirty="0"/>
              <a:t>its</a:t>
            </a:r>
            <a:r>
              <a:rPr spc="450" dirty="0"/>
              <a:t> </a:t>
            </a:r>
            <a:r>
              <a:rPr spc="-10" dirty="0"/>
              <a:t>frequency </a:t>
            </a:r>
            <a:r>
              <a:rPr dirty="0"/>
              <a:t>dropped</a:t>
            </a:r>
            <a:r>
              <a:rPr spc="-55" dirty="0"/>
              <a:t> </a:t>
            </a:r>
            <a:r>
              <a:rPr dirty="0"/>
              <a:t>to</a:t>
            </a:r>
            <a:r>
              <a:rPr spc="-30" dirty="0"/>
              <a:t> </a:t>
            </a:r>
            <a:r>
              <a:rPr dirty="0"/>
              <a:t>500</a:t>
            </a:r>
            <a:r>
              <a:rPr spc="-35" dirty="0"/>
              <a:t> </a:t>
            </a:r>
            <a:r>
              <a:rPr dirty="0"/>
              <a:t>Hz.</a:t>
            </a:r>
            <a:r>
              <a:rPr spc="-50" dirty="0"/>
              <a:t> </a:t>
            </a:r>
            <a:r>
              <a:rPr dirty="0"/>
              <a:t>Find</a:t>
            </a:r>
            <a:r>
              <a:rPr spc="-50" dirty="0"/>
              <a:t> </a:t>
            </a:r>
            <a:r>
              <a:rPr dirty="0"/>
              <a:t>the</a:t>
            </a:r>
            <a:r>
              <a:rPr spc="-30" dirty="0"/>
              <a:t> </a:t>
            </a:r>
            <a:r>
              <a:rPr dirty="0"/>
              <a:t>modulating</a:t>
            </a:r>
            <a:r>
              <a:rPr spc="-35" dirty="0"/>
              <a:t> </a:t>
            </a:r>
            <a:r>
              <a:rPr dirty="0"/>
              <a:t>index</a:t>
            </a:r>
            <a:r>
              <a:rPr spc="-35" dirty="0"/>
              <a:t> </a:t>
            </a:r>
            <a:r>
              <a:rPr dirty="0"/>
              <a:t>in</a:t>
            </a:r>
            <a:r>
              <a:rPr spc="-35" dirty="0"/>
              <a:t> </a:t>
            </a:r>
            <a:r>
              <a:rPr dirty="0"/>
              <a:t>each</a:t>
            </a:r>
            <a:r>
              <a:rPr spc="-60" dirty="0"/>
              <a:t> </a:t>
            </a:r>
            <a:r>
              <a:rPr dirty="0"/>
              <a:t>case</a:t>
            </a:r>
            <a:r>
              <a:rPr spc="-20" dirty="0"/>
              <a:t> </a:t>
            </a:r>
            <a:r>
              <a:rPr dirty="0"/>
              <a:t>and</a:t>
            </a:r>
            <a:r>
              <a:rPr spc="-45" dirty="0"/>
              <a:t> </a:t>
            </a:r>
            <a:r>
              <a:rPr dirty="0"/>
              <a:t>the</a:t>
            </a:r>
            <a:r>
              <a:rPr spc="-25" dirty="0"/>
              <a:t> </a:t>
            </a:r>
            <a:r>
              <a:rPr spc="-10" dirty="0"/>
              <a:t>corresponding</a:t>
            </a:r>
            <a:r>
              <a:rPr spc="-30" dirty="0"/>
              <a:t> </a:t>
            </a:r>
            <a:r>
              <a:rPr spc="-10" dirty="0"/>
              <a:t>bandwidth </a:t>
            </a:r>
            <a:r>
              <a:rPr dirty="0"/>
              <a:t>using</a:t>
            </a:r>
            <a:r>
              <a:rPr spc="-65" dirty="0"/>
              <a:t> </a:t>
            </a:r>
            <a:r>
              <a:rPr spc="-20" dirty="0"/>
              <a:t>Carson’s</a:t>
            </a:r>
            <a:r>
              <a:rPr spc="-65" dirty="0"/>
              <a:t> </a:t>
            </a:r>
            <a:r>
              <a:rPr spc="-20" dirty="0"/>
              <a:t>rule.</a:t>
            </a:r>
          </a:p>
        </p:txBody>
      </p:sp>
      <p:pic>
        <p:nvPicPr>
          <p:cNvPr id="3" name="object 3"/>
          <p:cNvPicPr/>
          <p:nvPr/>
        </p:nvPicPr>
        <p:blipFill rotWithShape="1">
          <a:blip r:embed="rId2" cstate="print"/>
          <a:srcRect t="34637"/>
          <a:stretch/>
        </p:blipFill>
        <p:spPr>
          <a:xfrm>
            <a:off x="0" y="2375398"/>
            <a:ext cx="12192000" cy="44826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114804" y="139572"/>
            <a:ext cx="5125085" cy="677545"/>
          </a:xfrm>
          <a:custGeom>
            <a:avLst/>
            <a:gdLst/>
            <a:ahLst/>
            <a:cxnLst/>
            <a:rect l="l" t="t" r="r" b="b"/>
            <a:pathLst>
              <a:path w="5125084" h="677544">
                <a:moveTo>
                  <a:pt x="93980" y="406146"/>
                </a:moveTo>
                <a:lnTo>
                  <a:pt x="90043" y="394716"/>
                </a:lnTo>
                <a:lnTo>
                  <a:pt x="69507" y="402107"/>
                </a:lnTo>
                <a:lnTo>
                  <a:pt x="51536" y="412800"/>
                </a:lnTo>
                <a:lnTo>
                  <a:pt x="23241" y="444119"/>
                </a:lnTo>
                <a:lnTo>
                  <a:pt x="5803" y="486130"/>
                </a:lnTo>
                <a:lnTo>
                  <a:pt x="76" y="534416"/>
                </a:lnTo>
                <a:lnTo>
                  <a:pt x="0" y="535940"/>
                </a:lnTo>
                <a:lnTo>
                  <a:pt x="1447" y="561886"/>
                </a:lnTo>
                <a:lnTo>
                  <a:pt x="13017" y="607707"/>
                </a:lnTo>
                <a:lnTo>
                  <a:pt x="36017" y="644944"/>
                </a:lnTo>
                <a:lnTo>
                  <a:pt x="69494" y="669658"/>
                </a:lnTo>
                <a:lnTo>
                  <a:pt x="90043" y="677037"/>
                </a:lnTo>
                <a:lnTo>
                  <a:pt x="93599" y="665607"/>
                </a:lnTo>
                <a:lnTo>
                  <a:pt x="77470" y="658444"/>
                </a:lnTo>
                <a:lnTo>
                  <a:pt x="63576" y="648512"/>
                </a:lnTo>
                <a:lnTo>
                  <a:pt x="35077" y="602272"/>
                </a:lnTo>
                <a:lnTo>
                  <a:pt x="26695" y="559358"/>
                </a:lnTo>
                <a:lnTo>
                  <a:pt x="25654" y="534416"/>
                </a:lnTo>
                <a:lnTo>
                  <a:pt x="26695" y="510349"/>
                </a:lnTo>
                <a:lnTo>
                  <a:pt x="35077" y="468579"/>
                </a:lnTo>
                <a:lnTo>
                  <a:pt x="63665" y="423024"/>
                </a:lnTo>
                <a:lnTo>
                  <a:pt x="77685" y="413232"/>
                </a:lnTo>
                <a:lnTo>
                  <a:pt x="93980" y="406146"/>
                </a:lnTo>
                <a:close/>
              </a:path>
              <a:path w="5125084" h="677544">
                <a:moveTo>
                  <a:pt x="955294" y="535940"/>
                </a:moveTo>
                <a:lnTo>
                  <a:pt x="953846" y="510349"/>
                </a:lnTo>
                <a:lnTo>
                  <a:pt x="953833" y="510057"/>
                </a:lnTo>
                <a:lnTo>
                  <a:pt x="949464" y="486130"/>
                </a:lnTo>
                <a:lnTo>
                  <a:pt x="931926" y="444119"/>
                </a:lnTo>
                <a:lnTo>
                  <a:pt x="903630" y="412800"/>
                </a:lnTo>
                <a:lnTo>
                  <a:pt x="865251" y="394716"/>
                </a:lnTo>
                <a:lnTo>
                  <a:pt x="861187" y="406146"/>
                </a:lnTo>
                <a:lnTo>
                  <a:pt x="877544" y="413232"/>
                </a:lnTo>
                <a:lnTo>
                  <a:pt x="891603" y="423024"/>
                </a:lnTo>
                <a:lnTo>
                  <a:pt x="920127" y="468579"/>
                </a:lnTo>
                <a:lnTo>
                  <a:pt x="928420" y="510057"/>
                </a:lnTo>
                <a:lnTo>
                  <a:pt x="929513" y="534416"/>
                </a:lnTo>
                <a:lnTo>
                  <a:pt x="928458" y="559358"/>
                </a:lnTo>
                <a:lnTo>
                  <a:pt x="920076" y="602272"/>
                </a:lnTo>
                <a:lnTo>
                  <a:pt x="891603" y="648512"/>
                </a:lnTo>
                <a:lnTo>
                  <a:pt x="861695" y="665607"/>
                </a:lnTo>
                <a:lnTo>
                  <a:pt x="865251" y="677037"/>
                </a:lnTo>
                <a:lnTo>
                  <a:pt x="903744" y="658964"/>
                </a:lnTo>
                <a:lnTo>
                  <a:pt x="932053" y="627634"/>
                </a:lnTo>
                <a:lnTo>
                  <a:pt x="949477" y="585787"/>
                </a:lnTo>
                <a:lnTo>
                  <a:pt x="953833" y="561886"/>
                </a:lnTo>
                <a:lnTo>
                  <a:pt x="955294" y="535940"/>
                </a:lnTo>
                <a:close/>
              </a:path>
              <a:path w="5125084" h="677544">
                <a:moveTo>
                  <a:pt x="2512568" y="11430"/>
                </a:moveTo>
                <a:lnTo>
                  <a:pt x="2508631" y="0"/>
                </a:lnTo>
                <a:lnTo>
                  <a:pt x="2488095" y="7391"/>
                </a:lnTo>
                <a:lnTo>
                  <a:pt x="2470124" y="18084"/>
                </a:lnTo>
                <a:lnTo>
                  <a:pt x="2441829" y="49403"/>
                </a:lnTo>
                <a:lnTo>
                  <a:pt x="2424392" y="91414"/>
                </a:lnTo>
                <a:lnTo>
                  <a:pt x="2418664" y="139700"/>
                </a:lnTo>
                <a:lnTo>
                  <a:pt x="2418588" y="141224"/>
                </a:lnTo>
                <a:lnTo>
                  <a:pt x="2420035" y="167170"/>
                </a:lnTo>
                <a:lnTo>
                  <a:pt x="2431605" y="212991"/>
                </a:lnTo>
                <a:lnTo>
                  <a:pt x="2454605" y="250228"/>
                </a:lnTo>
                <a:lnTo>
                  <a:pt x="2488082" y="274942"/>
                </a:lnTo>
                <a:lnTo>
                  <a:pt x="2508631" y="282321"/>
                </a:lnTo>
                <a:lnTo>
                  <a:pt x="2512187" y="270891"/>
                </a:lnTo>
                <a:lnTo>
                  <a:pt x="2496058" y="263728"/>
                </a:lnTo>
                <a:lnTo>
                  <a:pt x="2482164" y="253796"/>
                </a:lnTo>
                <a:lnTo>
                  <a:pt x="2453665" y="207556"/>
                </a:lnTo>
                <a:lnTo>
                  <a:pt x="2445283" y="164642"/>
                </a:lnTo>
                <a:lnTo>
                  <a:pt x="2444242" y="139700"/>
                </a:lnTo>
                <a:lnTo>
                  <a:pt x="2445283" y="115633"/>
                </a:lnTo>
                <a:lnTo>
                  <a:pt x="2453665" y="73863"/>
                </a:lnTo>
                <a:lnTo>
                  <a:pt x="2482253" y="28308"/>
                </a:lnTo>
                <a:lnTo>
                  <a:pt x="2496274" y="18516"/>
                </a:lnTo>
                <a:lnTo>
                  <a:pt x="2512568" y="11430"/>
                </a:lnTo>
                <a:close/>
              </a:path>
              <a:path w="5125084" h="677544">
                <a:moveTo>
                  <a:pt x="2733802" y="141224"/>
                </a:moveTo>
                <a:lnTo>
                  <a:pt x="2732354" y="115633"/>
                </a:lnTo>
                <a:lnTo>
                  <a:pt x="2732341" y="115341"/>
                </a:lnTo>
                <a:lnTo>
                  <a:pt x="2727972" y="91414"/>
                </a:lnTo>
                <a:lnTo>
                  <a:pt x="2710434" y="49403"/>
                </a:lnTo>
                <a:lnTo>
                  <a:pt x="2682138" y="18084"/>
                </a:lnTo>
                <a:lnTo>
                  <a:pt x="2643759" y="0"/>
                </a:lnTo>
                <a:lnTo>
                  <a:pt x="2639695" y="11430"/>
                </a:lnTo>
                <a:lnTo>
                  <a:pt x="2656052" y="18516"/>
                </a:lnTo>
                <a:lnTo>
                  <a:pt x="2670111" y="28308"/>
                </a:lnTo>
                <a:lnTo>
                  <a:pt x="2698635" y="73863"/>
                </a:lnTo>
                <a:lnTo>
                  <a:pt x="2706928" y="115341"/>
                </a:lnTo>
                <a:lnTo>
                  <a:pt x="2708021" y="139700"/>
                </a:lnTo>
                <a:lnTo>
                  <a:pt x="2706967" y="164642"/>
                </a:lnTo>
                <a:lnTo>
                  <a:pt x="2698585" y="207556"/>
                </a:lnTo>
                <a:lnTo>
                  <a:pt x="2670111" y="253796"/>
                </a:lnTo>
                <a:lnTo>
                  <a:pt x="2640203" y="270891"/>
                </a:lnTo>
                <a:lnTo>
                  <a:pt x="2643759" y="282321"/>
                </a:lnTo>
                <a:lnTo>
                  <a:pt x="2682252" y="264248"/>
                </a:lnTo>
                <a:lnTo>
                  <a:pt x="2710561" y="232918"/>
                </a:lnTo>
                <a:lnTo>
                  <a:pt x="2727985" y="191071"/>
                </a:lnTo>
                <a:lnTo>
                  <a:pt x="2732341" y="167170"/>
                </a:lnTo>
                <a:lnTo>
                  <a:pt x="2733802" y="141224"/>
                </a:lnTo>
                <a:close/>
              </a:path>
              <a:path w="5125084" h="677544">
                <a:moveTo>
                  <a:pt x="4192016" y="11430"/>
                </a:moveTo>
                <a:lnTo>
                  <a:pt x="4188079" y="0"/>
                </a:lnTo>
                <a:lnTo>
                  <a:pt x="4167543" y="7391"/>
                </a:lnTo>
                <a:lnTo>
                  <a:pt x="4149572" y="18084"/>
                </a:lnTo>
                <a:lnTo>
                  <a:pt x="4121277" y="49403"/>
                </a:lnTo>
                <a:lnTo>
                  <a:pt x="4103840" y="91414"/>
                </a:lnTo>
                <a:lnTo>
                  <a:pt x="4098112" y="139700"/>
                </a:lnTo>
                <a:lnTo>
                  <a:pt x="4098036" y="141224"/>
                </a:lnTo>
                <a:lnTo>
                  <a:pt x="4099483" y="167170"/>
                </a:lnTo>
                <a:lnTo>
                  <a:pt x="4111053" y="212991"/>
                </a:lnTo>
                <a:lnTo>
                  <a:pt x="4134053" y="250228"/>
                </a:lnTo>
                <a:lnTo>
                  <a:pt x="4167530" y="274942"/>
                </a:lnTo>
                <a:lnTo>
                  <a:pt x="4188079" y="282321"/>
                </a:lnTo>
                <a:lnTo>
                  <a:pt x="4191635" y="270891"/>
                </a:lnTo>
                <a:lnTo>
                  <a:pt x="4175506" y="263728"/>
                </a:lnTo>
                <a:lnTo>
                  <a:pt x="4161612" y="253796"/>
                </a:lnTo>
                <a:lnTo>
                  <a:pt x="4133113" y="207556"/>
                </a:lnTo>
                <a:lnTo>
                  <a:pt x="4124731" y="164642"/>
                </a:lnTo>
                <a:lnTo>
                  <a:pt x="4123690" y="139700"/>
                </a:lnTo>
                <a:lnTo>
                  <a:pt x="4124731" y="115633"/>
                </a:lnTo>
                <a:lnTo>
                  <a:pt x="4133113" y="73863"/>
                </a:lnTo>
                <a:lnTo>
                  <a:pt x="4161701" y="28308"/>
                </a:lnTo>
                <a:lnTo>
                  <a:pt x="4175722" y="18516"/>
                </a:lnTo>
                <a:lnTo>
                  <a:pt x="4192016" y="11430"/>
                </a:lnTo>
                <a:close/>
              </a:path>
              <a:path w="5125084" h="677544">
                <a:moveTo>
                  <a:pt x="5124958" y="141224"/>
                </a:moveTo>
                <a:lnTo>
                  <a:pt x="5123510" y="115633"/>
                </a:lnTo>
                <a:lnTo>
                  <a:pt x="5123497" y="115341"/>
                </a:lnTo>
                <a:lnTo>
                  <a:pt x="5119128" y="91414"/>
                </a:lnTo>
                <a:lnTo>
                  <a:pt x="5101590" y="49403"/>
                </a:lnTo>
                <a:lnTo>
                  <a:pt x="5073294" y="18084"/>
                </a:lnTo>
                <a:lnTo>
                  <a:pt x="5034915" y="0"/>
                </a:lnTo>
                <a:lnTo>
                  <a:pt x="5030851" y="11430"/>
                </a:lnTo>
                <a:lnTo>
                  <a:pt x="5047208" y="18516"/>
                </a:lnTo>
                <a:lnTo>
                  <a:pt x="5061267" y="28308"/>
                </a:lnTo>
                <a:lnTo>
                  <a:pt x="5089791" y="73863"/>
                </a:lnTo>
                <a:lnTo>
                  <a:pt x="5098085" y="115341"/>
                </a:lnTo>
                <a:lnTo>
                  <a:pt x="5099177" y="139700"/>
                </a:lnTo>
                <a:lnTo>
                  <a:pt x="5098123" y="164642"/>
                </a:lnTo>
                <a:lnTo>
                  <a:pt x="5089741" y="207556"/>
                </a:lnTo>
                <a:lnTo>
                  <a:pt x="5061267" y="253796"/>
                </a:lnTo>
                <a:lnTo>
                  <a:pt x="5031359" y="270891"/>
                </a:lnTo>
                <a:lnTo>
                  <a:pt x="5034915" y="282321"/>
                </a:lnTo>
                <a:lnTo>
                  <a:pt x="5073408" y="264248"/>
                </a:lnTo>
                <a:lnTo>
                  <a:pt x="5101717" y="232918"/>
                </a:lnTo>
                <a:lnTo>
                  <a:pt x="5119141" y="191071"/>
                </a:lnTo>
                <a:lnTo>
                  <a:pt x="5123497" y="167170"/>
                </a:lnTo>
                <a:lnTo>
                  <a:pt x="5124958" y="141224"/>
                </a:lnTo>
                <a:close/>
              </a:path>
            </a:pathLst>
          </a:custGeom>
          <a:solidFill>
            <a:srgbClr val="6F2F9F"/>
          </a:solidFill>
        </p:spPr>
        <p:txBody>
          <a:bodyPr wrap="square" lIns="0" tIns="0" rIns="0" bIns="0" rtlCol="0"/>
          <a:lstStyle/>
          <a:p>
            <a:endParaRPr/>
          </a:p>
        </p:txBody>
      </p:sp>
      <p:sp>
        <p:nvSpPr>
          <p:cNvPr id="3" name="object 3"/>
          <p:cNvSpPr txBox="1"/>
          <p:nvPr/>
        </p:nvSpPr>
        <p:spPr>
          <a:xfrm>
            <a:off x="4903342" y="20573"/>
            <a:ext cx="2369185" cy="815340"/>
          </a:xfrm>
          <a:prstGeom prst="rect">
            <a:avLst/>
          </a:prstGeom>
        </p:spPr>
        <p:txBody>
          <a:bodyPr vert="horz" wrap="square" lIns="0" tIns="41275" rIns="0" bIns="0" rtlCol="0">
            <a:spAutoFit/>
          </a:bodyPr>
          <a:lstStyle/>
          <a:p>
            <a:pPr marL="57785">
              <a:lnSpc>
                <a:spcPct val="100000"/>
              </a:lnSpc>
              <a:spcBef>
                <a:spcPts val="325"/>
              </a:spcBef>
            </a:pPr>
            <a:r>
              <a:rPr sz="2400" dirty="0">
                <a:solidFill>
                  <a:srgbClr val="6F2F9F"/>
                </a:solidFill>
                <a:latin typeface="Cambria Math"/>
                <a:cs typeface="Cambria Math"/>
              </a:rPr>
              <a:t>=</a:t>
            </a:r>
            <a:r>
              <a:rPr sz="2400" spc="135" dirty="0">
                <a:solidFill>
                  <a:srgbClr val="6F2F9F"/>
                </a:solidFill>
                <a:latin typeface="Cambria Math"/>
                <a:cs typeface="Cambria Math"/>
              </a:rPr>
              <a:t> </a:t>
            </a:r>
            <a:r>
              <a:rPr sz="2400" dirty="0">
                <a:solidFill>
                  <a:srgbClr val="6F2F9F"/>
                </a:solidFill>
                <a:latin typeface="Cambria Math"/>
                <a:cs typeface="Cambria Math"/>
              </a:rPr>
              <a:t>𝐀</a:t>
            </a:r>
            <a:r>
              <a:rPr sz="2625" baseline="-15873" dirty="0">
                <a:solidFill>
                  <a:srgbClr val="6F2F9F"/>
                </a:solidFill>
                <a:latin typeface="Cambria Math"/>
                <a:cs typeface="Cambria Math"/>
              </a:rPr>
              <a:t>𝐦</a:t>
            </a:r>
            <a:r>
              <a:rPr sz="2625" spc="179" baseline="-15873" dirty="0">
                <a:solidFill>
                  <a:srgbClr val="6F2F9F"/>
                </a:solidFill>
                <a:latin typeface="Cambria Math"/>
                <a:cs typeface="Cambria Math"/>
              </a:rPr>
              <a:t> </a:t>
            </a:r>
            <a:r>
              <a:rPr sz="2400" dirty="0">
                <a:solidFill>
                  <a:srgbClr val="6F2F9F"/>
                </a:solidFill>
                <a:latin typeface="Cambria Math"/>
                <a:cs typeface="Cambria Math"/>
              </a:rPr>
              <a:t>𝐬𝐢𝐧</a:t>
            </a:r>
            <a:r>
              <a:rPr sz="2400" spc="470" dirty="0">
                <a:solidFill>
                  <a:srgbClr val="6F2F9F"/>
                </a:solidFill>
                <a:latin typeface="Cambria Math"/>
                <a:cs typeface="Cambria Math"/>
              </a:rPr>
              <a:t> </a:t>
            </a:r>
            <a:r>
              <a:rPr sz="2400" spc="-10" dirty="0">
                <a:solidFill>
                  <a:srgbClr val="6F2F9F"/>
                </a:solidFill>
                <a:latin typeface="Cambria Math"/>
                <a:cs typeface="Cambria Math"/>
              </a:rPr>
              <a:t>𝟐𝛑𝐟</a:t>
            </a:r>
            <a:r>
              <a:rPr sz="2625" spc="-15" baseline="-15873" dirty="0">
                <a:solidFill>
                  <a:srgbClr val="6F2F9F"/>
                </a:solidFill>
                <a:latin typeface="Cambria Math"/>
                <a:cs typeface="Cambria Math"/>
              </a:rPr>
              <a:t>𝐦</a:t>
            </a:r>
            <a:r>
              <a:rPr sz="2400" spc="-10" dirty="0">
                <a:solidFill>
                  <a:srgbClr val="6F2F9F"/>
                </a:solidFill>
                <a:latin typeface="Cambria Math"/>
                <a:cs typeface="Cambria Math"/>
              </a:rPr>
              <a:t>𝐭</a:t>
            </a:r>
            <a:endParaRPr sz="2400" dirty="0">
              <a:latin typeface="Cambria Math"/>
              <a:cs typeface="Cambria Math"/>
            </a:endParaRPr>
          </a:p>
          <a:p>
            <a:pPr marL="38100">
              <a:lnSpc>
                <a:spcPct val="100000"/>
              </a:lnSpc>
              <a:spcBef>
                <a:spcPts val="229"/>
              </a:spcBef>
              <a:tabLst>
                <a:tab pos="1600200" algn="l"/>
              </a:tabLst>
            </a:pPr>
            <a:r>
              <a:rPr sz="2400" b="1" spc="-10" dirty="0">
                <a:solidFill>
                  <a:srgbClr val="6F2F9F"/>
                </a:solidFill>
                <a:latin typeface="Calibri"/>
                <a:cs typeface="Calibri"/>
              </a:rPr>
              <a:t>modulated</a:t>
            </a:r>
            <a:r>
              <a:rPr sz="2400" b="1" dirty="0">
                <a:solidFill>
                  <a:srgbClr val="6F2F9F"/>
                </a:solidFill>
                <a:latin typeface="Calibri"/>
                <a:cs typeface="Calibri"/>
              </a:rPr>
              <a:t>	</a:t>
            </a:r>
            <a:r>
              <a:rPr sz="2400" b="1" spc="-10" dirty="0">
                <a:solidFill>
                  <a:srgbClr val="6F2F9F"/>
                </a:solidFill>
                <a:latin typeface="Calibri"/>
                <a:cs typeface="Calibri"/>
              </a:rPr>
              <a:t>signal</a:t>
            </a:r>
            <a:endParaRPr sz="2400" dirty="0">
              <a:latin typeface="Calibri"/>
              <a:cs typeface="Calibri"/>
            </a:endParaRPr>
          </a:p>
        </p:txBody>
      </p:sp>
      <p:sp>
        <p:nvSpPr>
          <p:cNvPr id="4" name="object 4"/>
          <p:cNvSpPr/>
          <p:nvPr/>
        </p:nvSpPr>
        <p:spPr>
          <a:xfrm>
            <a:off x="7605776" y="490346"/>
            <a:ext cx="3591560" cy="368300"/>
          </a:xfrm>
          <a:custGeom>
            <a:avLst/>
            <a:gdLst/>
            <a:ahLst/>
            <a:cxnLst/>
            <a:rect l="l" t="t" r="r" b="b"/>
            <a:pathLst>
              <a:path w="3591559" h="368300">
                <a:moveTo>
                  <a:pt x="93980" y="55372"/>
                </a:moveTo>
                <a:lnTo>
                  <a:pt x="90043" y="43942"/>
                </a:lnTo>
                <a:lnTo>
                  <a:pt x="69507" y="51333"/>
                </a:lnTo>
                <a:lnTo>
                  <a:pt x="51536" y="62026"/>
                </a:lnTo>
                <a:lnTo>
                  <a:pt x="23241" y="93345"/>
                </a:lnTo>
                <a:lnTo>
                  <a:pt x="5803" y="135356"/>
                </a:lnTo>
                <a:lnTo>
                  <a:pt x="76" y="183642"/>
                </a:lnTo>
                <a:lnTo>
                  <a:pt x="0" y="185166"/>
                </a:lnTo>
                <a:lnTo>
                  <a:pt x="1447" y="211112"/>
                </a:lnTo>
                <a:lnTo>
                  <a:pt x="13017" y="256933"/>
                </a:lnTo>
                <a:lnTo>
                  <a:pt x="36017" y="294170"/>
                </a:lnTo>
                <a:lnTo>
                  <a:pt x="69494" y="318884"/>
                </a:lnTo>
                <a:lnTo>
                  <a:pt x="90043" y="326263"/>
                </a:lnTo>
                <a:lnTo>
                  <a:pt x="93599" y="314833"/>
                </a:lnTo>
                <a:lnTo>
                  <a:pt x="77470" y="307670"/>
                </a:lnTo>
                <a:lnTo>
                  <a:pt x="63576" y="297738"/>
                </a:lnTo>
                <a:lnTo>
                  <a:pt x="35077" y="251498"/>
                </a:lnTo>
                <a:lnTo>
                  <a:pt x="26695" y="208584"/>
                </a:lnTo>
                <a:lnTo>
                  <a:pt x="25654" y="183642"/>
                </a:lnTo>
                <a:lnTo>
                  <a:pt x="26695" y="159575"/>
                </a:lnTo>
                <a:lnTo>
                  <a:pt x="35077" y="117805"/>
                </a:lnTo>
                <a:lnTo>
                  <a:pt x="63665" y="72250"/>
                </a:lnTo>
                <a:lnTo>
                  <a:pt x="77685" y="62458"/>
                </a:lnTo>
                <a:lnTo>
                  <a:pt x="93980" y="55372"/>
                </a:lnTo>
                <a:close/>
              </a:path>
              <a:path w="3591559" h="368300">
                <a:moveTo>
                  <a:pt x="315214" y="185166"/>
                </a:moveTo>
                <a:lnTo>
                  <a:pt x="313766" y="159575"/>
                </a:lnTo>
                <a:lnTo>
                  <a:pt x="313753" y="159283"/>
                </a:lnTo>
                <a:lnTo>
                  <a:pt x="309384" y="135356"/>
                </a:lnTo>
                <a:lnTo>
                  <a:pt x="291846" y="93345"/>
                </a:lnTo>
                <a:lnTo>
                  <a:pt x="263550" y="62026"/>
                </a:lnTo>
                <a:lnTo>
                  <a:pt x="225171" y="43942"/>
                </a:lnTo>
                <a:lnTo>
                  <a:pt x="221107" y="55372"/>
                </a:lnTo>
                <a:lnTo>
                  <a:pt x="237464" y="62458"/>
                </a:lnTo>
                <a:lnTo>
                  <a:pt x="251523" y="72250"/>
                </a:lnTo>
                <a:lnTo>
                  <a:pt x="280047" y="117805"/>
                </a:lnTo>
                <a:lnTo>
                  <a:pt x="288340" y="159283"/>
                </a:lnTo>
                <a:lnTo>
                  <a:pt x="289433" y="183642"/>
                </a:lnTo>
                <a:lnTo>
                  <a:pt x="288378" y="208584"/>
                </a:lnTo>
                <a:lnTo>
                  <a:pt x="279996" y="251498"/>
                </a:lnTo>
                <a:lnTo>
                  <a:pt x="251523" y="297738"/>
                </a:lnTo>
                <a:lnTo>
                  <a:pt x="221615" y="314833"/>
                </a:lnTo>
                <a:lnTo>
                  <a:pt x="225171" y="326263"/>
                </a:lnTo>
                <a:lnTo>
                  <a:pt x="263664" y="308190"/>
                </a:lnTo>
                <a:lnTo>
                  <a:pt x="291973" y="276860"/>
                </a:lnTo>
                <a:lnTo>
                  <a:pt x="309397" y="235013"/>
                </a:lnTo>
                <a:lnTo>
                  <a:pt x="313753" y="211112"/>
                </a:lnTo>
                <a:lnTo>
                  <a:pt x="315214" y="185166"/>
                </a:lnTo>
                <a:close/>
              </a:path>
              <a:path w="3591559" h="368300">
                <a:moveTo>
                  <a:pt x="1708277" y="12192"/>
                </a:moveTo>
                <a:lnTo>
                  <a:pt x="1704467" y="0"/>
                </a:lnTo>
                <a:lnTo>
                  <a:pt x="1682623" y="8534"/>
                </a:lnTo>
                <a:lnTo>
                  <a:pt x="1663420" y="21907"/>
                </a:lnTo>
                <a:lnTo>
                  <a:pt x="1632966" y="63246"/>
                </a:lnTo>
                <a:lnTo>
                  <a:pt x="1614106" y="118986"/>
                </a:lnTo>
                <a:lnTo>
                  <a:pt x="1607820" y="184277"/>
                </a:lnTo>
                <a:lnTo>
                  <a:pt x="1609318" y="216547"/>
                </a:lnTo>
                <a:lnTo>
                  <a:pt x="1621955" y="278244"/>
                </a:lnTo>
                <a:lnTo>
                  <a:pt x="1646859" y="328028"/>
                </a:lnTo>
                <a:lnTo>
                  <a:pt x="1682623" y="359651"/>
                </a:lnTo>
                <a:lnTo>
                  <a:pt x="1704467" y="368173"/>
                </a:lnTo>
                <a:lnTo>
                  <a:pt x="1708277" y="355981"/>
                </a:lnTo>
                <a:lnTo>
                  <a:pt x="1691347" y="347218"/>
                </a:lnTo>
                <a:lnTo>
                  <a:pt x="1676590" y="334454"/>
                </a:lnTo>
                <a:lnTo>
                  <a:pt x="1653667" y="296926"/>
                </a:lnTo>
                <a:lnTo>
                  <a:pt x="1639773" y="246087"/>
                </a:lnTo>
                <a:lnTo>
                  <a:pt x="1635125" y="184277"/>
                </a:lnTo>
                <a:lnTo>
                  <a:pt x="1636280" y="151930"/>
                </a:lnTo>
                <a:lnTo>
                  <a:pt x="1645564" y="95402"/>
                </a:lnTo>
                <a:lnTo>
                  <a:pt x="1664017" y="50482"/>
                </a:lnTo>
                <a:lnTo>
                  <a:pt x="1691347" y="20955"/>
                </a:lnTo>
                <a:lnTo>
                  <a:pt x="1708277" y="12192"/>
                </a:lnTo>
                <a:close/>
              </a:path>
              <a:path w="3591559" h="368300">
                <a:moveTo>
                  <a:pt x="3233420" y="55372"/>
                </a:moveTo>
                <a:lnTo>
                  <a:pt x="3229483" y="43942"/>
                </a:lnTo>
                <a:lnTo>
                  <a:pt x="3208947" y="51333"/>
                </a:lnTo>
                <a:lnTo>
                  <a:pt x="3190976" y="62026"/>
                </a:lnTo>
                <a:lnTo>
                  <a:pt x="3162681" y="93345"/>
                </a:lnTo>
                <a:lnTo>
                  <a:pt x="3145244" y="135356"/>
                </a:lnTo>
                <a:lnTo>
                  <a:pt x="3139516" y="183642"/>
                </a:lnTo>
                <a:lnTo>
                  <a:pt x="3139440" y="185166"/>
                </a:lnTo>
                <a:lnTo>
                  <a:pt x="3140887" y="211112"/>
                </a:lnTo>
                <a:lnTo>
                  <a:pt x="3152457" y="256933"/>
                </a:lnTo>
                <a:lnTo>
                  <a:pt x="3175457" y="294170"/>
                </a:lnTo>
                <a:lnTo>
                  <a:pt x="3208934" y="318884"/>
                </a:lnTo>
                <a:lnTo>
                  <a:pt x="3229483" y="326263"/>
                </a:lnTo>
                <a:lnTo>
                  <a:pt x="3233039" y="314833"/>
                </a:lnTo>
                <a:lnTo>
                  <a:pt x="3216910" y="307670"/>
                </a:lnTo>
                <a:lnTo>
                  <a:pt x="3203016" y="297738"/>
                </a:lnTo>
                <a:lnTo>
                  <a:pt x="3174517" y="251498"/>
                </a:lnTo>
                <a:lnTo>
                  <a:pt x="3166135" y="208584"/>
                </a:lnTo>
                <a:lnTo>
                  <a:pt x="3165094" y="183642"/>
                </a:lnTo>
                <a:lnTo>
                  <a:pt x="3166135" y="159575"/>
                </a:lnTo>
                <a:lnTo>
                  <a:pt x="3174517" y="117805"/>
                </a:lnTo>
                <a:lnTo>
                  <a:pt x="3203105" y="72250"/>
                </a:lnTo>
                <a:lnTo>
                  <a:pt x="3217126" y="62458"/>
                </a:lnTo>
                <a:lnTo>
                  <a:pt x="3233420" y="55372"/>
                </a:lnTo>
                <a:close/>
              </a:path>
              <a:path w="3591559" h="368300">
                <a:moveTo>
                  <a:pt x="3454654" y="185166"/>
                </a:moveTo>
                <a:lnTo>
                  <a:pt x="3453206" y="159575"/>
                </a:lnTo>
                <a:lnTo>
                  <a:pt x="3453193" y="159283"/>
                </a:lnTo>
                <a:lnTo>
                  <a:pt x="3448824" y="135356"/>
                </a:lnTo>
                <a:lnTo>
                  <a:pt x="3431286" y="93345"/>
                </a:lnTo>
                <a:lnTo>
                  <a:pt x="3402990" y="62026"/>
                </a:lnTo>
                <a:lnTo>
                  <a:pt x="3364611" y="43942"/>
                </a:lnTo>
                <a:lnTo>
                  <a:pt x="3360547" y="55372"/>
                </a:lnTo>
                <a:lnTo>
                  <a:pt x="3376904" y="62458"/>
                </a:lnTo>
                <a:lnTo>
                  <a:pt x="3390963" y="72250"/>
                </a:lnTo>
                <a:lnTo>
                  <a:pt x="3419487" y="117805"/>
                </a:lnTo>
                <a:lnTo>
                  <a:pt x="3427780" y="159283"/>
                </a:lnTo>
                <a:lnTo>
                  <a:pt x="3428873" y="183642"/>
                </a:lnTo>
                <a:lnTo>
                  <a:pt x="3427819" y="208584"/>
                </a:lnTo>
                <a:lnTo>
                  <a:pt x="3419437" y="251498"/>
                </a:lnTo>
                <a:lnTo>
                  <a:pt x="3390963" y="297738"/>
                </a:lnTo>
                <a:lnTo>
                  <a:pt x="3361055" y="314833"/>
                </a:lnTo>
                <a:lnTo>
                  <a:pt x="3364611" y="326263"/>
                </a:lnTo>
                <a:lnTo>
                  <a:pt x="3403104" y="308190"/>
                </a:lnTo>
                <a:lnTo>
                  <a:pt x="3431413" y="276860"/>
                </a:lnTo>
                <a:lnTo>
                  <a:pt x="3448837" y="235013"/>
                </a:lnTo>
                <a:lnTo>
                  <a:pt x="3453193" y="211112"/>
                </a:lnTo>
                <a:lnTo>
                  <a:pt x="3454654" y="185166"/>
                </a:lnTo>
                <a:close/>
              </a:path>
              <a:path w="3591559" h="368300">
                <a:moveTo>
                  <a:pt x="3591547" y="184277"/>
                </a:moveTo>
                <a:lnTo>
                  <a:pt x="3590048" y="151930"/>
                </a:lnTo>
                <a:lnTo>
                  <a:pt x="3589985" y="150393"/>
                </a:lnTo>
                <a:lnTo>
                  <a:pt x="3585273" y="118986"/>
                </a:lnTo>
                <a:lnTo>
                  <a:pt x="3566414" y="63246"/>
                </a:lnTo>
                <a:lnTo>
                  <a:pt x="3535934" y="21907"/>
                </a:lnTo>
                <a:lnTo>
                  <a:pt x="3494786" y="0"/>
                </a:lnTo>
                <a:lnTo>
                  <a:pt x="3491103" y="12192"/>
                </a:lnTo>
                <a:lnTo>
                  <a:pt x="3508006" y="20955"/>
                </a:lnTo>
                <a:lnTo>
                  <a:pt x="3522726" y="33718"/>
                </a:lnTo>
                <a:lnTo>
                  <a:pt x="3545586" y="71247"/>
                </a:lnTo>
                <a:lnTo>
                  <a:pt x="3559518" y="122288"/>
                </a:lnTo>
                <a:lnTo>
                  <a:pt x="3564128" y="184277"/>
                </a:lnTo>
                <a:lnTo>
                  <a:pt x="3562972" y="216547"/>
                </a:lnTo>
                <a:lnTo>
                  <a:pt x="3553726" y="272884"/>
                </a:lnTo>
                <a:lnTo>
                  <a:pt x="3535248" y="317690"/>
                </a:lnTo>
                <a:lnTo>
                  <a:pt x="3508006" y="347218"/>
                </a:lnTo>
                <a:lnTo>
                  <a:pt x="3491103" y="355981"/>
                </a:lnTo>
                <a:lnTo>
                  <a:pt x="3494786" y="368173"/>
                </a:lnTo>
                <a:lnTo>
                  <a:pt x="3535934" y="346265"/>
                </a:lnTo>
                <a:lnTo>
                  <a:pt x="3566414" y="304927"/>
                </a:lnTo>
                <a:lnTo>
                  <a:pt x="3585273" y="249212"/>
                </a:lnTo>
                <a:lnTo>
                  <a:pt x="3589985" y="217855"/>
                </a:lnTo>
                <a:lnTo>
                  <a:pt x="3591547" y="184277"/>
                </a:lnTo>
                <a:close/>
              </a:path>
            </a:pathLst>
          </a:custGeom>
          <a:solidFill>
            <a:srgbClr val="6F2F9F"/>
          </a:solidFill>
        </p:spPr>
        <p:txBody>
          <a:bodyPr wrap="square" lIns="0" tIns="0" rIns="0" bIns="0" rtlCol="0"/>
          <a:lstStyle/>
          <a:p>
            <a:endParaRPr/>
          </a:p>
        </p:txBody>
      </p:sp>
      <p:sp>
        <p:nvSpPr>
          <p:cNvPr id="5" name="object 5"/>
          <p:cNvSpPr txBox="1"/>
          <p:nvPr/>
        </p:nvSpPr>
        <p:spPr>
          <a:xfrm>
            <a:off x="7334377" y="20573"/>
            <a:ext cx="4700905" cy="815340"/>
          </a:xfrm>
          <a:prstGeom prst="rect">
            <a:avLst/>
          </a:prstGeom>
        </p:spPr>
        <p:txBody>
          <a:bodyPr vert="horz" wrap="square" lIns="0" tIns="41275" rIns="0" bIns="0" rtlCol="0">
            <a:spAutoFit/>
          </a:bodyPr>
          <a:lstStyle/>
          <a:p>
            <a:pPr marL="38100">
              <a:lnSpc>
                <a:spcPct val="100000"/>
              </a:lnSpc>
              <a:spcBef>
                <a:spcPts val="325"/>
              </a:spcBef>
            </a:pPr>
            <a:r>
              <a:rPr sz="2400" b="1" dirty="0">
                <a:solidFill>
                  <a:srgbClr val="6F2F9F"/>
                </a:solidFill>
                <a:latin typeface="Calibri"/>
                <a:cs typeface="Calibri"/>
              </a:rPr>
              <a:t>is</a:t>
            </a:r>
            <a:r>
              <a:rPr sz="2400" b="1" spc="235" dirty="0">
                <a:solidFill>
                  <a:srgbClr val="6F2F9F"/>
                </a:solidFill>
                <a:latin typeface="Calibri"/>
                <a:cs typeface="Calibri"/>
              </a:rPr>
              <a:t> </a:t>
            </a:r>
            <a:r>
              <a:rPr sz="2400" b="1" dirty="0">
                <a:solidFill>
                  <a:srgbClr val="6F2F9F"/>
                </a:solidFill>
                <a:latin typeface="Calibri"/>
                <a:cs typeface="Calibri"/>
              </a:rPr>
              <a:t>used</a:t>
            </a:r>
            <a:r>
              <a:rPr sz="2400" b="1" spc="235" dirty="0">
                <a:solidFill>
                  <a:srgbClr val="6F2F9F"/>
                </a:solidFill>
                <a:latin typeface="Calibri"/>
                <a:cs typeface="Calibri"/>
              </a:rPr>
              <a:t> </a:t>
            </a:r>
            <a:r>
              <a:rPr sz="2400" b="1" dirty="0">
                <a:solidFill>
                  <a:srgbClr val="6F2F9F"/>
                </a:solidFill>
                <a:latin typeface="Calibri"/>
                <a:cs typeface="Calibri"/>
              </a:rPr>
              <a:t>to</a:t>
            </a:r>
            <a:r>
              <a:rPr sz="2400" b="1" spc="229" dirty="0">
                <a:solidFill>
                  <a:srgbClr val="6F2F9F"/>
                </a:solidFill>
                <a:latin typeface="Calibri"/>
                <a:cs typeface="Calibri"/>
              </a:rPr>
              <a:t> </a:t>
            </a:r>
            <a:r>
              <a:rPr sz="2400" b="1" dirty="0">
                <a:solidFill>
                  <a:srgbClr val="6F2F9F"/>
                </a:solidFill>
                <a:latin typeface="Calibri"/>
                <a:cs typeface="Calibri"/>
              </a:rPr>
              <a:t>modulate</a:t>
            </a:r>
            <a:r>
              <a:rPr sz="2400" b="1" spc="240" dirty="0">
                <a:solidFill>
                  <a:srgbClr val="6F2F9F"/>
                </a:solidFill>
                <a:latin typeface="Calibri"/>
                <a:cs typeface="Calibri"/>
              </a:rPr>
              <a:t> </a:t>
            </a:r>
            <a:r>
              <a:rPr sz="2400" b="1" dirty="0">
                <a:solidFill>
                  <a:srgbClr val="6F2F9F"/>
                </a:solidFill>
                <a:latin typeface="Calibri"/>
                <a:cs typeface="Calibri"/>
              </a:rPr>
              <a:t>the</a:t>
            </a:r>
            <a:r>
              <a:rPr sz="2400" b="1" spc="245" dirty="0">
                <a:solidFill>
                  <a:srgbClr val="6F2F9F"/>
                </a:solidFill>
                <a:latin typeface="Calibri"/>
                <a:cs typeface="Calibri"/>
              </a:rPr>
              <a:t> </a:t>
            </a:r>
            <a:r>
              <a:rPr sz="2400" b="1" dirty="0">
                <a:solidFill>
                  <a:srgbClr val="6F2F9F"/>
                </a:solidFill>
                <a:latin typeface="Calibri"/>
                <a:cs typeface="Calibri"/>
              </a:rPr>
              <a:t>phase</a:t>
            </a:r>
            <a:r>
              <a:rPr sz="2400" b="1" spc="235" dirty="0">
                <a:solidFill>
                  <a:srgbClr val="6F2F9F"/>
                </a:solidFill>
                <a:latin typeface="Calibri"/>
                <a:cs typeface="Calibri"/>
              </a:rPr>
              <a:t> </a:t>
            </a:r>
            <a:r>
              <a:rPr sz="2400" b="1" dirty="0">
                <a:solidFill>
                  <a:srgbClr val="6F2F9F"/>
                </a:solidFill>
                <a:latin typeface="Calibri"/>
                <a:cs typeface="Calibri"/>
              </a:rPr>
              <a:t>of</a:t>
            </a:r>
            <a:r>
              <a:rPr sz="2400" b="1" spc="225" dirty="0">
                <a:solidFill>
                  <a:srgbClr val="6F2F9F"/>
                </a:solidFill>
                <a:latin typeface="Calibri"/>
                <a:cs typeface="Calibri"/>
              </a:rPr>
              <a:t> </a:t>
            </a:r>
            <a:r>
              <a:rPr sz="2400" b="1" spc="-50" dirty="0">
                <a:solidFill>
                  <a:srgbClr val="6F2F9F"/>
                </a:solidFill>
                <a:latin typeface="Calibri"/>
                <a:cs typeface="Calibri"/>
              </a:rPr>
              <a:t>a</a:t>
            </a:r>
            <a:endParaRPr sz="2400" dirty="0">
              <a:latin typeface="Calibri"/>
              <a:cs typeface="Calibri"/>
            </a:endParaRPr>
          </a:p>
          <a:p>
            <a:pPr marL="80645">
              <a:lnSpc>
                <a:spcPct val="100000"/>
              </a:lnSpc>
              <a:spcBef>
                <a:spcPts val="229"/>
              </a:spcBef>
              <a:tabLst>
                <a:tab pos="699770" algn="l"/>
                <a:tab pos="1990089" algn="l"/>
                <a:tab pos="3919854" algn="l"/>
                <a:tab pos="4182110" algn="l"/>
              </a:tabLst>
            </a:pPr>
            <a:r>
              <a:rPr sz="2400" dirty="0">
                <a:solidFill>
                  <a:srgbClr val="6F2F9F"/>
                </a:solidFill>
                <a:latin typeface="Cambria Math"/>
                <a:cs typeface="Cambria Math"/>
              </a:rPr>
              <a:t>𝐲</a:t>
            </a:r>
            <a:r>
              <a:rPr sz="2400" spc="445" dirty="0">
                <a:solidFill>
                  <a:srgbClr val="6F2F9F"/>
                </a:solidFill>
                <a:latin typeface="Cambria Math"/>
                <a:cs typeface="Cambria Math"/>
              </a:rPr>
              <a:t> </a:t>
            </a:r>
            <a:r>
              <a:rPr sz="2400" spc="-50" dirty="0">
                <a:solidFill>
                  <a:srgbClr val="6F2F9F"/>
                </a:solidFill>
                <a:latin typeface="Cambria Math"/>
                <a:cs typeface="Cambria Math"/>
              </a:rPr>
              <a:t>𝐭</a:t>
            </a:r>
            <a:r>
              <a:rPr sz="2400" dirty="0">
                <a:solidFill>
                  <a:srgbClr val="6F2F9F"/>
                </a:solidFill>
                <a:latin typeface="Cambria Math"/>
                <a:cs typeface="Cambria Math"/>
              </a:rPr>
              <a:t>	=</a:t>
            </a:r>
            <a:r>
              <a:rPr sz="2400" spc="165" dirty="0">
                <a:solidFill>
                  <a:srgbClr val="6F2F9F"/>
                </a:solidFill>
                <a:latin typeface="Cambria Math"/>
                <a:cs typeface="Cambria Math"/>
              </a:rPr>
              <a:t> </a:t>
            </a:r>
            <a:r>
              <a:rPr sz="2400" dirty="0">
                <a:solidFill>
                  <a:srgbClr val="6F2F9F"/>
                </a:solidFill>
                <a:latin typeface="Cambria Math"/>
                <a:cs typeface="Cambria Math"/>
              </a:rPr>
              <a:t>𝐀</a:t>
            </a:r>
            <a:r>
              <a:rPr sz="2625" baseline="-15873" dirty="0">
                <a:solidFill>
                  <a:srgbClr val="6F2F9F"/>
                </a:solidFill>
                <a:latin typeface="Cambria Math"/>
                <a:cs typeface="Cambria Math"/>
              </a:rPr>
              <a:t>𝐂</a:t>
            </a:r>
            <a:r>
              <a:rPr sz="2625" spc="209" baseline="-15873" dirty="0">
                <a:solidFill>
                  <a:srgbClr val="6F2F9F"/>
                </a:solidFill>
                <a:latin typeface="Cambria Math"/>
                <a:cs typeface="Cambria Math"/>
              </a:rPr>
              <a:t> </a:t>
            </a:r>
            <a:r>
              <a:rPr sz="2400" spc="-25" dirty="0">
                <a:solidFill>
                  <a:srgbClr val="6F2F9F"/>
                </a:solidFill>
                <a:latin typeface="Cambria Math"/>
                <a:cs typeface="Cambria Math"/>
              </a:rPr>
              <a:t>𝐬𝐢𝐧</a:t>
            </a:r>
            <a:r>
              <a:rPr sz="2400" dirty="0">
                <a:solidFill>
                  <a:srgbClr val="6F2F9F"/>
                </a:solidFill>
                <a:latin typeface="Cambria Math"/>
                <a:cs typeface="Cambria Math"/>
              </a:rPr>
              <a:t>	𝟐𝛑𝐟</a:t>
            </a:r>
            <a:r>
              <a:rPr sz="2625" baseline="-15873" dirty="0">
                <a:solidFill>
                  <a:srgbClr val="6F2F9F"/>
                </a:solidFill>
                <a:latin typeface="Cambria Math"/>
                <a:cs typeface="Cambria Math"/>
              </a:rPr>
              <a:t>𝐂</a:t>
            </a:r>
            <a:r>
              <a:rPr sz="2400" dirty="0">
                <a:solidFill>
                  <a:srgbClr val="6F2F9F"/>
                </a:solidFill>
                <a:latin typeface="Cambria Math"/>
                <a:cs typeface="Cambria Math"/>
              </a:rPr>
              <a:t>𝐭</a:t>
            </a:r>
            <a:r>
              <a:rPr sz="2400" spc="-10" dirty="0">
                <a:solidFill>
                  <a:srgbClr val="6F2F9F"/>
                </a:solidFill>
                <a:latin typeface="Cambria Math"/>
                <a:cs typeface="Cambria Math"/>
              </a:rPr>
              <a:t> </a:t>
            </a:r>
            <a:r>
              <a:rPr sz="2400" dirty="0">
                <a:solidFill>
                  <a:srgbClr val="6F2F9F"/>
                </a:solidFill>
                <a:latin typeface="Cambria Math"/>
                <a:cs typeface="Cambria Math"/>
              </a:rPr>
              <a:t>+</a:t>
            </a:r>
            <a:r>
              <a:rPr sz="2400" spc="-30" dirty="0">
                <a:solidFill>
                  <a:srgbClr val="6F2F9F"/>
                </a:solidFill>
                <a:latin typeface="Cambria Math"/>
                <a:cs typeface="Cambria Math"/>
              </a:rPr>
              <a:t> </a:t>
            </a:r>
            <a:r>
              <a:rPr sz="2400" dirty="0">
                <a:solidFill>
                  <a:srgbClr val="6F2F9F"/>
                </a:solidFill>
                <a:latin typeface="Cambria Math"/>
                <a:cs typeface="Cambria Math"/>
              </a:rPr>
              <a:t>𝐦</a:t>
            </a:r>
            <a:r>
              <a:rPr sz="2400" spc="425" dirty="0">
                <a:solidFill>
                  <a:srgbClr val="6F2F9F"/>
                </a:solidFill>
                <a:latin typeface="Cambria Math"/>
                <a:cs typeface="Cambria Math"/>
              </a:rPr>
              <a:t> </a:t>
            </a:r>
            <a:r>
              <a:rPr sz="2400" spc="-50" dirty="0">
                <a:solidFill>
                  <a:srgbClr val="6F2F9F"/>
                </a:solidFill>
                <a:latin typeface="Cambria Math"/>
                <a:cs typeface="Cambria Math"/>
              </a:rPr>
              <a:t>𝐭</a:t>
            </a:r>
            <a:r>
              <a:rPr sz="2400" dirty="0">
                <a:solidFill>
                  <a:srgbClr val="6F2F9F"/>
                </a:solidFill>
                <a:latin typeface="Cambria Math"/>
                <a:cs typeface="Cambria Math"/>
              </a:rPr>
              <a:t>	</a:t>
            </a:r>
            <a:r>
              <a:rPr sz="2400" b="1" spc="-50" dirty="0">
                <a:solidFill>
                  <a:srgbClr val="6F2F9F"/>
                </a:solidFill>
                <a:latin typeface="Calibri"/>
                <a:cs typeface="Calibri"/>
              </a:rPr>
              <a:t>.</a:t>
            </a:r>
            <a:r>
              <a:rPr sz="2400" b="1" dirty="0">
                <a:solidFill>
                  <a:srgbClr val="6F2F9F"/>
                </a:solidFill>
                <a:latin typeface="Calibri"/>
                <a:cs typeface="Calibri"/>
              </a:rPr>
              <a:t>	</a:t>
            </a:r>
            <a:r>
              <a:rPr sz="2400" b="1" spc="-25" dirty="0">
                <a:solidFill>
                  <a:srgbClr val="6F2F9F"/>
                </a:solidFill>
                <a:latin typeface="Calibri"/>
                <a:cs typeface="Calibri"/>
              </a:rPr>
              <a:t>The</a:t>
            </a:r>
            <a:endParaRPr sz="2400" dirty="0">
              <a:latin typeface="Calibri"/>
              <a:cs typeface="Calibri"/>
            </a:endParaRPr>
          </a:p>
        </p:txBody>
      </p:sp>
      <p:sp>
        <p:nvSpPr>
          <p:cNvPr id="6" name="object 6"/>
          <p:cNvSpPr/>
          <p:nvPr/>
        </p:nvSpPr>
        <p:spPr>
          <a:xfrm>
            <a:off x="2200148" y="918336"/>
            <a:ext cx="315595" cy="282575"/>
          </a:xfrm>
          <a:custGeom>
            <a:avLst/>
            <a:gdLst/>
            <a:ahLst/>
            <a:cxnLst/>
            <a:rect l="l" t="t" r="r" b="b"/>
            <a:pathLst>
              <a:path w="315594" h="282575">
                <a:moveTo>
                  <a:pt x="225170" y="0"/>
                </a:moveTo>
                <a:lnTo>
                  <a:pt x="221106" y="11430"/>
                </a:lnTo>
                <a:lnTo>
                  <a:pt x="237470" y="18504"/>
                </a:lnTo>
                <a:lnTo>
                  <a:pt x="251523" y="28305"/>
                </a:lnTo>
                <a:lnTo>
                  <a:pt x="280056" y="73852"/>
                </a:lnTo>
                <a:lnTo>
                  <a:pt x="288346" y="115339"/>
                </a:lnTo>
                <a:lnTo>
                  <a:pt x="288387" y="115623"/>
                </a:lnTo>
                <a:lnTo>
                  <a:pt x="288385" y="164633"/>
                </a:lnTo>
                <a:lnTo>
                  <a:pt x="280003" y="207547"/>
                </a:lnTo>
                <a:lnTo>
                  <a:pt x="251523" y="253793"/>
                </a:lnTo>
                <a:lnTo>
                  <a:pt x="221614" y="270891"/>
                </a:lnTo>
                <a:lnTo>
                  <a:pt x="225170" y="282321"/>
                </a:lnTo>
                <a:lnTo>
                  <a:pt x="263667" y="264239"/>
                </a:lnTo>
                <a:lnTo>
                  <a:pt x="291972" y="232918"/>
                </a:lnTo>
                <a:lnTo>
                  <a:pt x="309403" y="191071"/>
                </a:lnTo>
                <a:lnTo>
                  <a:pt x="315213" y="141224"/>
                </a:lnTo>
                <a:lnTo>
                  <a:pt x="313775" y="115623"/>
                </a:lnTo>
                <a:lnTo>
                  <a:pt x="313759" y="115339"/>
                </a:lnTo>
                <a:lnTo>
                  <a:pt x="302087" y="69429"/>
                </a:lnTo>
                <a:lnTo>
                  <a:pt x="278963" y="32093"/>
                </a:lnTo>
                <a:lnTo>
                  <a:pt x="245625" y="7379"/>
                </a:lnTo>
                <a:lnTo>
                  <a:pt x="225170" y="0"/>
                </a:lnTo>
                <a:close/>
              </a:path>
              <a:path w="315594" h="282575">
                <a:moveTo>
                  <a:pt x="90042" y="0"/>
                </a:moveTo>
                <a:lnTo>
                  <a:pt x="51546" y="18081"/>
                </a:lnTo>
                <a:lnTo>
                  <a:pt x="23240" y="49403"/>
                </a:lnTo>
                <a:lnTo>
                  <a:pt x="5810" y="91408"/>
                </a:lnTo>
                <a:lnTo>
                  <a:pt x="85" y="139700"/>
                </a:lnTo>
                <a:lnTo>
                  <a:pt x="0" y="141224"/>
                </a:lnTo>
                <a:lnTo>
                  <a:pt x="5794" y="191071"/>
                </a:lnTo>
                <a:lnTo>
                  <a:pt x="23113" y="232918"/>
                </a:lnTo>
                <a:lnTo>
                  <a:pt x="51482" y="264239"/>
                </a:lnTo>
                <a:lnTo>
                  <a:pt x="90042" y="282321"/>
                </a:lnTo>
                <a:lnTo>
                  <a:pt x="93598" y="270891"/>
                </a:lnTo>
                <a:lnTo>
                  <a:pt x="77475" y="263717"/>
                </a:lnTo>
                <a:lnTo>
                  <a:pt x="63579" y="253793"/>
                </a:lnTo>
                <a:lnTo>
                  <a:pt x="35083" y="207547"/>
                </a:lnTo>
                <a:lnTo>
                  <a:pt x="26701" y="164633"/>
                </a:lnTo>
                <a:lnTo>
                  <a:pt x="25718" y="141224"/>
                </a:lnTo>
                <a:lnTo>
                  <a:pt x="25653" y="139700"/>
                </a:lnTo>
                <a:lnTo>
                  <a:pt x="29844" y="93678"/>
                </a:lnTo>
                <a:lnTo>
                  <a:pt x="42417" y="56134"/>
                </a:lnTo>
                <a:lnTo>
                  <a:pt x="77690" y="18504"/>
                </a:lnTo>
                <a:lnTo>
                  <a:pt x="93979" y="11430"/>
                </a:lnTo>
                <a:lnTo>
                  <a:pt x="90042" y="0"/>
                </a:lnTo>
                <a:close/>
              </a:path>
            </a:pathLst>
          </a:custGeom>
          <a:solidFill>
            <a:srgbClr val="6F2F9F"/>
          </a:solidFill>
        </p:spPr>
        <p:txBody>
          <a:bodyPr wrap="square" lIns="0" tIns="0" rIns="0" bIns="0" rtlCol="0"/>
          <a:lstStyle/>
          <a:p>
            <a:endParaRPr/>
          </a:p>
        </p:txBody>
      </p:sp>
      <p:sp>
        <p:nvSpPr>
          <p:cNvPr id="7" name="object 7"/>
          <p:cNvSpPr txBox="1"/>
          <p:nvPr/>
        </p:nvSpPr>
        <p:spPr>
          <a:xfrm>
            <a:off x="145795" y="20573"/>
            <a:ext cx="4662170" cy="1198880"/>
          </a:xfrm>
          <a:prstGeom prst="rect">
            <a:avLst/>
          </a:prstGeom>
        </p:spPr>
        <p:txBody>
          <a:bodyPr vert="horz" wrap="square" lIns="0" tIns="17780" rIns="0" bIns="0" rtlCol="0">
            <a:spAutoFit/>
          </a:bodyPr>
          <a:lstStyle/>
          <a:p>
            <a:pPr marL="88900" marR="43180" algn="just">
              <a:lnSpc>
                <a:spcPct val="106500"/>
              </a:lnSpc>
              <a:spcBef>
                <a:spcPts val="140"/>
              </a:spcBef>
            </a:pPr>
            <a:r>
              <a:rPr sz="2400" b="1" dirty="0">
                <a:solidFill>
                  <a:srgbClr val="FF0000"/>
                </a:solidFill>
                <a:latin typeface="Calibri"/>
                <a:cs typeface="Calibri"/>
              </a:rPr>
              <a:t>Example</a:t>
            </a:r>
            <a:r>
              <a:rPr sz="2400" b="1" spc="229" dirty="0">
                <a:solidFill>
                  <a:srgbClr val="FF0000"/>
                </a:solidFill>
                <a:latin typeface="Calibri"/>
                <a:cs typeface="Calibri"/>
              </a:rPr>
              <a:t> </a:t>
            </a:r>
            <a:r>
              <a:rPr sz="2400" b="1" dirty="0">
                <a:solidFill>
                  <a:srgbClr val="FF0000"/>
                </a:solidFill>
                <a:latin typeface="Calibri"/>
                <a:cs typeface="Calibri"/>
              </a:rPr>
              <a:t>1</a:t>
            </a:r>
            <a:r>
              <a:rPr lang="en-US" sz="2400" b="1" dirty="0">
                <a:solidFill>
                  <a:srgbClr val="FF0000"/>
                </a:solidFill>
                <a:latin typeface="Calibri"/>
                <a:cs typeface="Calibri"/>
              </a:rPr>
              <a:t>3</a:t>
            </a:r>
            <a:r>
              <a:rPr sz="2400" b="1" dirty="0">
                <a:solidFill>
                  <a:srgbClr val="FF0000"/>
                </a:solidFill>
                <a:latin typeface="Calibri"/>
                <a:cs typeface="Calibri"/>
              </a:rPr>
              <a:t>.</a:t>
            </a:r>
            <a:r>
              <a:rPr sz="2400" b="1" spc="225" dirty="0">
                <a:solidFill>
                  <a:srgbClr val="FF0000"/>
                </a:solidFill>
                <a:latin typeface="Calibri"/>
                <a:cs typeface="Calibri"/>
              </a:rPr>
              <a:t> </a:t>
            </a:r>
            <a:r>
              <a:rPr sz="2400" b="1" dirty="0">
                <a:solidFill>
                  <a:srgbClr val="6F2F9F"/>
                </a:solidFill>
                <a:latin typeface="Calibri"/>
                <a:cs typeface="Calibri"/>
              </a:rPr>
              <a:t>A</a:t>
            </a:r>
            <a:r>
              <a:rPr sz="2400" b="1" spc="225" dirty="0">
                <a:solidFill>
                  <a:srgbClr val="6F2F9F"/>
                </a:solidFill>
                <a:latin typeface="Calibri"/>
                <a:cs typeface="Calibri"/>
              </a:rPr>
              <a:t> </a:t>
            </a:r>
            <a:r>
              <a:rPr sz="2400" b="1" dirty="0">
                <a:solidFill>
                  <a:srgbClr val="6F2F9F"/>
                </a:solidFill>
                <a:latin typeface="Calibri"/>
                <a:cs typeface="Calibri"/>
              </a:rPr>
              <a:t>message</a:t>
            </a:r>
            <a:r>
              <a:rPr sz="2400" b="1" spc="229" dirty="0">
                <a:solidFill>
                  <a:srgbClr val="6F2F9F"/>
                </a:solidFill>
                <a:latin typeface="Calibri"/>
                <a:cs typeface="Calibri"/>
              </a:rPr>
              <a:t> </a:t>
            </a:r>
            <a:r>
              <a:rPr sz="2400" b="1" dirty="0">
                <a:solidFill>
                  <a:srgbClr val="6F2F9F"/>
                </a:solidFill>
                <a:latin typeface="Calibri"/>
                <a:cs typeface="Calibri"/>
              </a:rPr>
              <a:t>signal</a:t>
            </a:r>
            <a:r>
              <a:rPr sz="2400" b="1" spc="225" dirty="0">
                <a:solidFill>
                  <a:srgbClr val="6F2F9F"/>
                </a:solidFill>
                <a:latin typeface="Calibri"/>
                <a:cs typeface="Calibri"/>
              </a:rPr>
              <a:t> </a:t>
            </a:r>
            <a:r>
              <a:rPr sz="2400" dirty="0">
                <a:solidFill>
                  <a:srgbClr val="6F2F9F"/>
                </a:solidFill>
                <a:latin typeface="Cambria Math"/>
                <a:cs typeface="Cambria Math"/>
              </a:rPr>
              <a:t>𝐦</a:t>
            </a:r>
            <a:r>
              <a:rPr sz="2400" spc="395" dirty="0">
                <a:solidFill>
                  <a:srgbClr val="6F2F9F"/>
                </a:solidFill>
                <a:latin typeface="Cambria Math"/>
                <a:cs typeface="Cambria Math"/>
              </a:rPr>
              <a:t> </a:t>
            </a:r>
            <a:r>
              <a:rPr sz="2400" spc="-50" dirty="0">
                <a:solidFill>
                  <a:srgbClr val="6F2F9F"/>
                </a:solidFill>
                <a:latin typeface="Cambria Math"/>
                <a:cs typeface="Cambria Math"/>
              </a:rPr>
              <a:t>𝐭 </a:t>
            </a:r>
            <a:r>
              <a:rPr sz="2400" b="1" dirty="0">
                <a:solidFill>
                  <a:srgbClr val="6F2F9F"/>
                </a:solidFill>
                <a:latin typeface="Calibri"/>
                <a:cs typeface="Calibri"/>
              </a:rPr>
              <a:t>carrier</a:t>
            </a:r>
            <a:r>
              <a:rPr sz="2400" b="1" spc="150" dirty="0">
                <a:solidFill>
                  <a:srgbClr val="6F2F9F"/>
                </a:solidFill>
                <a:latin typeface="Calibri"/>
                <a:cs typeface="Calibri"/>
              </a:rPr>
              <a:t>  </a:t>
            </a:r>
            <a:r>
              <a:rPr sz="2400" dirty="0">
                <a:solidFill>
                  <a:srgbClr val="6F2F9F"/>
                </a:solidFill>
                <a:latin typeface="Cambria Math"/>
                <a:cs typeface="Cambria Math"/>
              </a:rPr>
              <a:t>𝐀</a:t>
            </a:r>
            <a:r>
              <a:rPr sz="2625" baseline="-15873" dirty="0">
                <a:solidFill>
                  <a:srgbClr val="6F2F9F"/>
                </a:solidFill>
                <a:latin typeface="Cambria Math"/>
                <a:cs typeface="Cambria Math"/>
              </a:rPr>
              <a:t>𝐂</a:t>
            </a:r>
            <a:r>
              <a:rPr sz="2625" spc="150" baseline="-15873" dirty="0">
                <a:solidFill>
                  <a:srgbClr val="6F2F9F"/>
                </a:solidFill>
                <a:latin typeface="Cambria Math"/>
                <a:cs typeface="Cambria Math"/>
              </a:rPr>
              <a:t> </a:t>
            </a:r>
            <a:r>
              <a:rPr sz="2400" dirty="0">
                <a:solidFill>
                  <a:srgbClr val="6F2F9F"/>
                </a:solidFill>
                <a:latin typeface="Cambria Math"/>
                <a:cs typeface="Cambria Math"/>
              </a:rPr>
              <a:t>𝐬𝐢𝐧</a:t>
            </a:r>
            <a:r>
              <a:rPr sz="2400" spc="434" dirty="0">
                <a:solidFill>
                  <a:srgbClr val="6F2F9F"/>
                </a:solidFill>
                <a:latin typeface="Cambria Math"/>
                <a:cs typeface="Cambria Math"/>
              </a:rPr>
              <a:t> </a:t>
            </a:r>
            <a:r>
              <a:rPr sz="2400" dirty="0">
                <a:solidFill>
                  <a:srgbClr val="6F2F9F"/>
                </a:solidFill>
                <a:latin typeface="Cambria Math"/>
                <a:cs typeface="Cambria Math"/>
              </a:rPr>
              <a:t>𝟐𝛑𝐟</a:t>
            </a:r>
            <a:r>
              <a:rPr sz="2625" baseline="-15873" dirty="0">
                <a:solidFill>
                  <a:srgbClr val="6F2F9F"/>
                </a:solidFill>
                <a:latin typeface="Cambria Math"/>
                <a:cs typeface="Cambria Math"/>
              </a:rPr>
              <a:t>𝐂</a:t>
            </a:r>
            <a:r>
              <a:rPr sz="2400" dirty="0">
                <a:solidFill>
                  <a:srgbClr val="6F2F9F"/>
                </a:solidFill>
                <a:latin typeface="Cambria Math"/>
                <a:cs typeface="Cambria Math"/>
              </a:rPr>
              <a:t>𝐭</a:t>
            </a:r>
            <a:r>
              <a:rPr sz="2400" spc="335" dirty="0">
                <a:solidFill>
                  <a:srgbClr val="6F2F9F"/>
                </a:solidFill>
                <a:latin typeface="Cambria Math"/>
                <a:cs typeface="Cambria Math"/>
              </a:rPr>
              <a:t>   </a:t>
            </a:r>
            <a:r>
              <a:rPr sz="2400" b="1" dirty="0">
                <a:solidFill>
                  <a:srgbClr val="6F2F9F"/>
                </a:solidFill>
                <a:latin typeface="Calibri"/>
                <a:cs typeface="Calibri"/>
              </a:rPr>
              <a:t>to</a:t>
            </a:r>
            <a:r>
              <a:rPr sz="2400" b="1" spc="160" dirty="0">
                <a:solidFill>
                  <a:srgbClr val="6F2F9F"/>
                </a:solidFill>
                <a:latin typeface="Calibri"/>
                <a:cs typeface="Calibri"/>
              </a:rPr>
              <a:t>  </a:t>
            </a:r>
            <a:r>
              <a:rPr sz="2400" b="1" dirty="0">
                <a:solidFill>
                  <a:srgbClr val="6F2F9F"/>
                </a:solidFill>
                <a:latin typeface="Calibri"/>
                <a:cs typeface="Calibri"/>
              </a:rPr>
              <a:t>get</a:t>
            </a:r>
            <a:r>
              <a:rPr sz="2400" b="1" spc="155" dirty="0">
                <a:solidFill>
                  <a:srgbClr val="6F2F9F"/>
                </a:solidFill>
                <a:latin typeface="Calibri"/>
                <a:cs typeface="Calibri"/>
              </a:rPr>
              <a:t>  </a:t>
            </a:r>
            <a:r>
              <a:rPr sz="2400" b="1" spc="-25" dirty="0">
                <a:solidFill>
                  <a:srgbClr val="6F2F9F"/>
                </a:solidFill>
                <a:latin typeface="Calibri"/>
                <a:cs typeface="Calibri"/>
              </a:rPr>
              <a:t>the </a:t>
            </a:r>
            <a:r>
              <a:rPr sz="2400" b="1" dirty="0">
                <a:solidFill>
                  <a:srgbClr val="6F2F9F"/>
                </a:solidFill>
                <a:latin typeface="Calibri"/>
                <a:cs typeface="Calibri"/>
              </a:rPr>
              <a:t>bandwidth</a:t>
            </a:r>
            <a:r>
              <a:rPr sz="2400" b="1" spc="-10" dirty="0">
                <a:solidFill>
                  <a:srgbClr val="6F2F9F"/>
                </a:solidFill>
                <a:latin typeface="Calibri"/>
                <a:cs typeface="Calibri"/>
              </a:rPr>
              <a:t> </a:t>
            </a:r>
            <a:r>
              <a:rPr sz="2400" b="1" dirty="0">
                <a:solidFill>
                  <a:srgbClr val="6F2F9F"/>
                </a:solidFill>
                <a:latin typeface="Calibri"/>
                <a:cs typeface="Calibri"/>
              </a:rPr>
              <a:t>of</a:t>
            </a:r>
            <a:r>
              <a:rPr sz="2400" b="1" spc="-30" dirty="0">
                <a:solidFill>
                  <a:srgbClr val="6F2F9F"/>
                </a:solidFill>
                <a:latin typeface="Calibri"/>
                <a:cs typeface="Calibri"/>
              </a:rPr>
              <a:t> </a:t>
            </a:r>
            <a:r>
              <a:rPr sz="2400" dirty="0">
                <a:solidFill>
                  <a:srgbClr val="6F2F9F"/>
                </a:solidFill>
                <a:latin typeface="Cambria Math"/>
                <a:cs typeface="Cambria Math"/>
              </a:rPr>
              <a:t>𝐲</a:t>
            </a:r>
            <a:r>
              <a:rPr sz="2400" spc="420" dirty="0">
                <a:solidFill>
                  <a:srgbClr val="6F2F9F"/>
                </a:solidFill>
                <a:latin typeface="Cambria Math"/>
                <a:cs typeface="Cambria Math"/>
              </a:rPr>
              <a:t> </a:t>
            </a:r>
            <a:r>
              <a:rPr sz="2400" dirty="0">
                <a:solidFill>
                  <a:srgbClr val="6F2F9F"/>
                </a:solidFill>
                <a:latin typeface="Cambria Math"/>
                <a:cs typeface="Cambria Math"/>
              </a:rPr>
              <a:t>𝐭</a:t>
            </a:r>
            <a:r>
              <a:rPr sz="2400" spc="415" dirty="0">
                <a:solidFill>
                  <a:srgbClr val="6F2F9F"/>
                </a:solidFill>
                <a:latin typeface="Cambria Math"/>
                <a:cs typeface="Cambria Math"/>
              </a:rPr>
              <a:t> </a:t>
            </a:r>
            <a:r>
              <a:rPr sz="2400" b="1" spc="-50" dirty="0">
                <a:solidFill>
                  <a:srgbClr val="6F2F9F"/>
                </a:solidFill>
                <a:latin typeface="Calibri"/>
                <a:cs typeface="Calibri"/>
              </a:rPr>
              <a:t>.</a:t>
            </a:r>
            <a:endParaRPr sz="2400" dirty="0">
              <a:latin typeface="Calibri"/>
              <a:cs typeface="Calibri"/>
            </a:endParaRPr>
          </a:p>
        </p:txBody>
      </p:sp>
      <p:sp>
        <p:nvSpPr>
          <p:cNvPr id="8" name="object 8"/>
          <p:cNvSpPr txBox="1"/>
          <p:nvPr/>
        </p:nvSpPr>
        <p:spPr>
          <a:xfrm>
            <a:off x="196595" y="1194308"/>
            <a:ext cx="4685030" cy="1489075"/>
          </a:xfrm>
          <a:prstGeom prst="rect">
            <a:avLst/>
          </a:prstGeom>
        </p:spPr>
        <p:txBody>
          <a:bodyPr vert="horz" wrap="square" lIns="0" tIns="12700" rIns="0" bIns="0" rtlCol="0">
            <a:spAutoFit/>
          </a:bodyPr>
          <a:lstStyle/>
          <a:p>
            <a:pPr marL="495300" indent="-457200">
              <a:lnSpc>
                <a:spcPct val="100000"/>
              </a:lnSpc>
              <a:spcBef>
                <a:spcPts val="100"/>
              </a:spcBef>
              <a:buAutoNum type="alphaLcPeriod"/>
              <a:tabLst>
                <a:tab pos="495300" algn="l"/>
              </a:tabLst>
            </a:pPr>
            <a:r>
              <a:rPr sz="2400" b="1" dirty="0">
                <a:solidFill>
                  <a:srgbClr val="7E5F00"/>
                </a:solidFill>
                <a:latin typeface="Calibri"/>
                <a:cs typeface="Calibri"/>
              </a:rPr>
              <a:t>Depends</a:t>
            </a:r>
            <a:r>
              <a:rPr sz="2400" b="1" spc="-15" dirty="0">
                <a:solidFill>
                  <a:srgbClr val="7E5F00"/>
                </a:solidFill>
                <a:latin typeface="Calibri"/>
                <a:cs typeface="Calibri"/>
              </a:rPr>
              <a:t> </a:t>
            </a:r>
            <a:r>
              <a:rPr sz="2400" b="1" dirty="0">
                <a:solidFill>
                  <a:srgbClr val="7E5F00"/>
                </a:solidFill>
                <a:latin typeface="Calibri"/>
                <a:cs typeface="Calibri"/>
              </a:rPr>
              <a:t>on</a:t>
            </a:r>
            <a:r>
              <a:rPr sz="2400" b="1" spc="-35" dirty="0">
                <a:solidFill>
                  <a:srgbClr val="7E5F00"/>
                </a:solidFill>
                <a:latin typeface="Calibri"/>
                <a:cs typeface="Calibri"/>
              </a:rPr>
              <a:t> </a:t>
            </a:r>
            <a:r>
              <a:rPr sz="2400" dirty="0">
                <a:solidFill>
                  <a:srgbClr val="7E5F00"/>
                </a:solidFill>
                <a:latin typeface="Cambria Math"/>
                <a:cs typeface="Cambria Math"/>
              </a:rPr>
              <a:t>𝐀</a:t>
            </a:r>
            <a:r>
              <a:rPr sz="2625" baseline="-15873" dirty="0">
                <a:solidFill>
                  <a:srgbClr val="7E5F00"/>
                </a:solidFill>
                <a:latin typeface="Cambria Math"/>
                <a:cs typeface="Cambria Math"/>
              </a:rPr>
              <a:t>𝐦</a:t>
            </a:r>
            <a:r>
              <a:rPr sz="2625" spc="345" baseline="-15873" dirty="0">
                <a:solidFill>
                  <a:srgbClr val="7E5F00"/>
                </a:solidFill>
                <a:latin typeface="Cambria Math"/>
                <a:cs typeface="Cambria Math"/>
              </a:rPr>
              <a:t> </a:t>
            </a:r>
            <a:r>
              <a:rPr sz="2400" b="1" dirty="0">
                <a:solidFill>
                  <a:srgbClr val="7E5F00"/>
                </a:solidFill>
                <a:latin typeface="Calibri"/>
                <a:cs typeface="Calibri"/>
              </a:rPr>
              <a:t>but</a:t>
            </a:r>
            <a:r>
              <a:rPr sz="2400" b="1" spc="-15" dirty="0">
                <a:solidFill>
                  <a:srgbClr val="7E5F00"/>
                </a:solidFill>
                <a:latin typeface="Calibri"/>
                <a:cs typeface="Calibri"/>
              </a:rPr>
              <a:t> </a:t>
            </a:r>
            <a:r>
              <a:rPr sz="2400" b="1" dirty="0">
                <a:solidFill>
                  <a:srgbClr val="7E5F00"/>
                </a:solidFill>
                <a:latin typeface="Calibri"/>
                <a:cs typeface="Calibri"/>
              </a:rPr>
              <a:t>not</a:t>
            </a:r>
            <a:r>
              <a:rPr sz="2400" b="1" spc="-10" dirty="0">
                <a:solidFill>
                  <a:srgbClr val="7E5F00"/>
                </a:solidFill>
                <a:latin typeface="Calibri"/>
                <a:cs typeface="Calibri"/>
              </a:rPr>
              <a:t> </a:t>
            </a:r>
            <a:r>
              <a:rPr sz="2400" b="1" dirty="0">
                <a:solidFill>
                  <a:srgbClr val="7E5F00"/>
                </a:solidFill>
                <a:latin typeface="Calibri"/>
                <a:cs typeface="Calibri"/>
              </a:rPr>
              <a:t>on</a:t>
            </a:r>
            <a:r>
              <a:rPr sz="2400" b="1" spc="-35" dirty="0">
                <a:solidFill>
                  <a:srgbClr val="7E5F00"/>
                </a:solidFill>
                <a:latin typeface="Calibri"/>
                <a:cs typeface="Calibri"/>
              </a:rPr>
              <a:t> </a:t>
            </a:r>
            <a:r>
              <a:rPr sz="2400" spc="-25" dirty="0">
                <a:solidFill>
                  <a:srgbClr val="7E5F00"/>
                </a:solidFill>
                <a:latin typeface="Cambria Math"/>
                <a:cs typeface="Cambria Math"/>
              </a:rPr>
              <a:t>𝐟</a:t>
            </a:r>
            <a:r>
              <a:rPr sz="2625" spc="-37" baseline="-15873" dirty="0">
                <a:solidFill>
                  <a:srgbClr val="7E5F00"/>
                </a:solidFill>
                <a:latin typeface="Cambria Math"/>
                <a:cs typeface="Cambria Math"/>
              </a:rPr>
              <a:t>𝐦</a:t>
            </a:r>
            <a:endParaRPr sz="2625" baseline="-15873">
              <a:latin typeface="Cambria Math"/>
              <a:cs typeface="Cambria Math"/>
            </a:endParaRPr>
          </a:p>
          <a:p>
            <a:pPr marL="495300" indent="-457200">
              <a:lnSpc>
                <a:spcPct val="100000"/>
              </a:lnSpc>
              <a:buAutoNum type="alphaLcPeriod"/>
              <a:tabLst>
                <a:tab pos="495300" algn="l"/>
              </a:tabLst>
            </a:pPr>
            <a:r>
              <a:rPr sz="2400" b="1" dirty="0">
                <a:solidFill>
                  <a:srgbClr val="7E5F00"/>
                </a:solidFill>
                <a:latin typeface="Calibri"/>
                <a:cs typeface="Calibri"/>
              </a:rPr>
              <a:t>Depends</a:t>
            </a:r>
            <a:r>
              <a:rPr sz="2400" b="1" spc="-45" dirty="0">
                <a:solidFill>
                  <a:srgbClr val="7E5F00"/>
                </a:solidFill>
                <a:latin typeface="Calibri"/>
                <a:cs typeface="Calibri"/>
              </a:rPr>
              <a:t> </a:t>
            </a:r>
            <a:r>
              <a:rPr sz="2400" b="1" dirty="0">
                <a:solidFill>
                  <a:srgbClr val="7E5F00"/>
                </a:solidFill>
                <a:latin typeface="Calibri"/>
                <a:cs typeface="Calibri"/>
              </a:rPr>
              <a:t>on</a:t>
            </a:r>
            <a:r>
              <a:rPr sz="2400" b="1" spc="-60" dirty="0">
                <a:solidFill>
                  <a:srgbClr val="7E5F00"/>
                </a:solidFill>
                <a:latin typeface="Calibri"/>
                <a:cs typeface="Calibri"/>
              </a:rPr>
              <a:t> </a:t>
            </a:r>
            <a:r>
              <a:rPr sz="2400" dirty="0">
                <a:solidFill>
                  <a:srgbClr val="7E5F00"/>
                </a:solidFill>
                <a:latin typeface="Cambria Math"/>
                <a:cs typeface="Cambria Math"/>
              </a:rPr>
              <a:t>𝐟</a:t>
            </a:r>
            <a:r>
              <a:rPr sz="2625" baseline="-15873" dirty="0">
                <a:solidFill>
                  <a:srgbClr val="7E5F00"/>
                </a:solidFill>
                <a:latin typeface="Cambria Math"/>
                <a:cs typeface="Cambria Math"/>
              </a:rPr>
              <a:t>𝐦</a:t>
            </a:r>
            <a:r>
              <a:rPr sz="2625" spc="307" baseline="-15873" dirty="0">
                <a:solidFill>
                  <a:srgbClr val="7E5F00"/>
                </a:solidFill>
                <a:latin typeface="Cambria Math"/>
                <a:cs typeface="Cambria Math"/>
              </a:rPr>
              <a:t> </a:t>
            </a:r>
            <a:r>
              <a:rPr sz="2400" b="1" dirty="0">
                <a:solidFill>
                  <a:srgbClr val="7E5F00"/>
                </a:solidFill>
                <a:latin typeface="Calibri"/>
                <a:cs typeface="Calibri"/>
              </a:rPr>
              <a:t>but</a:t>
            </a:r>
            <a:r>
              <a:rPr sz="2400" b="1" spc="-40" dirty="0">
                <a:solidFill>
                  <a:srgbClr val="7E5F00"/>
                </a:solidFill>
                <a:latin typeface="Calibri"/>
                <a:cs typeface="Calibri"/>
              </a:rPr>
              <a:t> </a:t>
            </a:r>
            <a:r>
              <a:rPr sz="2400" b="1" dirty="0">
                <a:solidFill>
                  <a:srgbClr val="7E5F00"/>
                </a:solidFill>
                <a:latin typeface="Calibri"/>
                <a:cs typeface="Calibri"/>
              </a:rPr>
              <a:t>not</a:t>
            </a:r>
            <a:r>
              <a:rPr sz="2400" b="1" spc="-40" dirty="0">
                <a:solidFill>
                  <a:srgbClr val="7E5F00"/>
                </a:solidFill>
                <a:latin typeface="Calibri"/>
                <a:cs typeface="Calibri"/>
              </a:rPr>
              <a:t> </a:t>
            </a:r>
            <a:r>
              <a:rPr sz="2400" b="1" dirty="0">
                <a:solidFill>
                  <a:srgbClr val="7E5F00"/>
                </a:solidFill>
                <a:latin typeface="Calibri"/>
                <a:cs typeface="Calibri"/>
              </a:rPr>
              <a:t>on</a:t>
            </a:r>
            <a:r>
              <a:rPr sz="2400" b="1" spc="-65" dirty="0">
                <a:solidFill>
                  <a:srgbClr val="7E5F00"/>
                </a:solidFill>
                <a:latin typeface="Calibri"/>
                <a:cs typeface="Calibri"/>
              </a:rPr>
              <a:t> </a:t>
            </a:r>
            <a:r>
              <a:rPr sz="2400" spc="-25" dirty="0">
                <a:solidFill>
                  <a:srgbClr val="7E5F00"/>
                </a:solidFill>
                <a:latin typeface="Cambria Math"/>
                <a:cs typeface="Cambria Math"/>
              </a:rPr>
              <a:t>𝐀</a:t>
            </a:r>
            <a:r>
              <a:rPr sz="2625" spc="-37" baseline="-15873" dirty="0">
                <a:solidFill>
                  <a:srgbClr val="7E5F00"/>
                </a:solidFill>
                <a:latin typeface="Cambria Math"/>
                <a:cs typeface="Cambria Math"/>
              </a:rPr>
              <a:t>𝐦</a:t>
            </a:r>
            <a:endParaRPr sz="2625" baseline="-15873">
              <a:latin typeface="Cambria Math"/>
              <a:cs typeface="Cambria Math"/>
            </a:endParaRPr>
          </a:p>
          <a:p>
            <a:pPr marL="495300" indent="-457200">
              <a:lnSpc>
                <a:spcPct val="100000"/>
              </a:lnSpc>
              <a:buAutoNum type="alphaLcPeriod"/>
              <a:tabLst>
                <a:tab pos="495300" algn="l"/>
              </a:tabLst>
            </a:pPr>
            <a:r>
              <a:rPr sz="2400" b="1" dirty="0">
                <a:solidFill>
                  <a:srgbClr val="7E5F00"/>
                </a:solidFill>
                <a:latin typeface="Calibri"/>
                <a:cs typeface="Calibri"/>
              </a:rPr>
              <a:t>Depends</a:t>
            </a:r>
            <a:r>
              <a:rPr sz="2400" b="1" spc="-20" dirty="0">
                <a:solidFill>
                  <a:srgbClr val="7E5F00"/>
                </a:solidFill>
                <a:latin typeface="Calibri"/>
                <a:cs typeface="Calibri"/>
              </a:rPr>
              <a:t> </a:t>
            </a:r>
            <a:r>
              <a:rPr sz="2400" b="1" dirty="0">
                <a:solidFill>
                  <a:srgbClr val="7E5F00"/>
                </a:solidFill>
                <a:latin typeface="Calibri"/>
                <a:cs typeface="Calibri"/>
              </a:rPr>
              <a:t>on</a:t>
            </a:r>
            <a:r>
              <a:rPr sz="2400" b="1" spc="-40" dirty="0">
                <a:solidFill>
                  <a:srgbClr val="7E5F00"/>
                </a:solidFill>
                <a:latin typeface="Calibri"/>
                <a:cs typeface="Calibri"/>
              </a:rPr>
              <a:t> </a:t>
            </a:r>
            <a:r>
              <a:rPr sz="2400" b="1" dirty="0">
                <a:solidFill>
                  <a:srgbClr val="7E5F00"/>
                </a:solidFill>
                <a:latin typeface="Calibri"/>
                <a:cs typeface="Calibri"/>
              </a:rPr>
              <a:t>both</a:t>
            </a:r>
            <a:r>
              <a:rPr sz="2400" b="1" spc="-20" dirty="0">
                <a:solidFill>
                  <a:srgbClr val="7E5F00"/>
                </a:solidFill>
                <a:latin typeface="Calibri"/>
                <a:cs typeface="Calibri"/>
              </a:rPr>
              <a:t> </a:t>
            </a:r>
            <a:r>
              <a:rPr sz="2400" dirty="0">
                <a:solidFill>
                  <a:srgbClr val="7E5F00"/>
                </a:solidFill>
                <a:latin typeface="Cambria Math"/>
                <a:cs typeface="Cambria Math"/>
              </a:rPr>
              <a:t>𝐀</a:t>
            </a:r>
            <a:r>
              <a:rPr sz="2625" baseline="-15873" dirty="0">
                <a:solidFill>
                  <a:srgbClr val="7E5F00"/>
                </a:solidFill>
                <a:latin typeface="Cambria Math"/>
                <a:cs typeface="Cambria Math"/>
              </a:rPr>
              <a:t>𝐦</a:t>
            </a:r>
            <a:r>
              <a:rPr sz="2625" spc="330" baseline="-15873" dirty="0">
                <a:solidFill>
                  <a:srgbClr val="7E5F00"/>
                </a:solidFill>
                <a:latin typeface="Cambria Math"/>
                <a:cs typeface="Cambria Math"/>
              </a:rPr>
              <a:t> </a:t>
            </a:r>
            <a:r>
              <a:rPr sz="2400" b="1" dirty="0">
                <a:solidFill>
                  <a:srgbClr val="7E5F00"/>
                </a:solidFill>
                <a:latin typeface="Calibri"/>
                <a:cs typeface="Calibri"/>
              </a:rPr>
              <a:t>and</a:t>
            </a:r>
            <a:r>
              <a:rPr sz="2400" b="1" spc="-30" dirty="0">
                <a:solidFill>
                  <a:srgbClr val="7E5F00"/>
                </a:solidFill>
                <a:latin typeface="Calibri"/>
                <a:cs typeface="Calibri"/>
              </a:rPr>
              <a:t> </a:t>
            </a:r>
            <a:r>
              <a:rPr sz="2400" spc="-25" dirty="0">
                <a:solidFill>
                  <a:srgbClr val="7E5F00"/>
                </a:solidFill>
                <a:latin typeface="Cambria Math"/>
                <a:cs typeface="Cambria Math"/>
              </a:rPr>
              <a:t>𝐟</a:t>
            </a:r>
            <a:r>
              <a:rPr sz="2625" spc="-37" baseline="-15873" dirty="0">
                <a:solidFill>
                  <a:srgbClr val="7E5F00"/>
                </a:solidFill>
                <a:latin typeface="Cambria Math"/>
                <a:cs typeface="Cambria Math"/>
              </a:rPr>
              <a:t>𝐦</a:t>
            </a:r>
            <a:endParaRPr sz="2625" baseline="-15873">
              <a:latin typeface="Cambria Math"/>
              <a:cs typeface="Cambria Math"/>
            </a:endParaRPr>
          </a:p>
          <a:p>
            <a:pPr marL="495300" indent="-457200">
              <a:lnSpc>
                <a:spcPct val="100000"/>
              </a:lnSpc>
              <a:buAutoNum type="alphaLcPeriod"/>
              <a:tabLst>
                <a:tab pos="495300" algn="l"/>
              </a:tabLst>
            </a:pPr>
            <a:r>
              <a:rPr sz="2400" b="1" dirty="0">
                <a:solidFill>
                  <a:srgbClr val="7E5F00"/>
                </a:solidFill>
                <a:latin typeface="Calibri"/>
                <a:cs typeface="Calibri"/>
              </a:rPr>
              <a:t>Does</a:t>
            </a:r>
            <a:r>
              <a:rPr sz="2400" b="1" spc="-15" dirty="0">
                <a:solidFill>
                  <a:srgbClr val="7E5F00"/>
                </a:solidFill>
                <a:latin typeface="Calibri"/>
                <a:cs typeface="Calibri"/>
              </a:rPr>
              <a:t> </a:t>
            </a:r>
            <a:r>
              <a:rPr sz="2400" b="1" dirty="0">
                <a:solidFill>
                  <a:srgbClr val="7E5F00"/>
                </a:solidFill>
                <a:latin typeface="Calibri"/>
                <a:cs typeface="Calibri"/>
              </a:rPr>
              <a:t>not</a:t>
            </a:r>
            <a:r>
              <a:rPr sz="2400" b="1" spc="-5" dirty="0">
                <a:solidFill>
                  <a:srgbClr val="7E5F00"/>
                </a:solidFill>
                <a:latin typeface="Calibri"/>
                <a:cs typeface="Calibri"/>
              </a:rPr>
              <a:t> </a:t>
            </a:r>
            <a:r>
              <a:rPr sz="2400" b="1" dirty="0">
                <a:solidFill>
                  <a:srgbClr val="7E5F00"/>
                </a:solidFill>
                <a:latin typeface="Calibri"/>
                <a:cs typeface="Calibri"/>
              </a:rPr>
              <a:t>Depends</a:t>
            </a:r>
            <a:r>
              <a:rPr sz="2400" b="1" spc="5" dirty="0">
                <a:solidFill>
                  <a:srgbClr val="7E5F00"/>
                </a:solidFill>
                <a:latin typeface="Calibri"/>
                <a:cs typeface="Calibri"/>
              </a:rPr>
              <a:t> </a:t>
            </a:r>
            <a:r>
              <a:rPr sz="2400" b="1" dirty="0">
                <a:solidFill>
                  <a:srgbClr val="7E5F00"/>
                </a:solidFill>
                <a:latin typeface="Calibri"/>
                <a:cs typeface="Calibri"/>
              </a:rPr>
              <a:t>on</a:t>
            </a:r>
            <a:r>
              <a:rPr sz="2400" b="1" spc="-25" dirty="0">
                <a:solidFill>
                  <a:srgbClr val="7E5F00"/>
                </a:solidFill>
                <a:latin typeface="Calibri"/>
                <a:cs typeface="Calibri"/>
              </a:rPr>
              <a:t> </a:t>
            </a:r>
            <a:r>
              <a:rPr sz="2400" dirty="0">
                <a:solidFill>
                  <a:srgbClr val="7E5F00"/>
                </a:solidFill>
                <a:latin typeface="Cambria Math"/>
                <a:cs typeface="Cambria Math"/>
              </a:rPr>
              <a:t>𝐀</a:t>
            </a:r>
            <a:r>
              <a:rPr sz="2625" baseline="-15873" dirty="0">
                <a:solidFill>
                  <a:srgbClr val="7E5F00"/>
                </a:solidFill>
                <a:latin typeface="Cambria Math"/>
                <a:cs typeface="Cambria Math"/>
              </a:rPr>
              <a:t>𝐦</a:t>
            </a:r>
            <a:r>
              <a:rPr sz="2625" spc="345" baseline="-15873" dirty="0">
                <a:solidFill>
                  <a:srgbClr val="7E5F00"/>
                </a:solidFill>
                <a:latin typeface="Cambria Math"/>
                <a:cs typeface="Cambria Math"/>
              </a:rPr>
              <a:t> </a:t>
            </a:r>
            <a:r>
              <a:rPr sz="2400" b="1" dirty="0">
                <a:solidFill>
                  <a:srgbClr val="7E5F00"/>
                </a:solidFill>
                <a:latin typeface="Calibri"/>
                <a:cs typeface="Calibri"/>
              </a:rPr>
              <a:t>and</a:t>
            </a:r>
            <a:r>
              <a:rPr sz="2400" b="1" spc="-15" dirty="0">
                <a:solidFill>
                  <a:srgbClr val="7E5F00"/>
                </a:solidFill>
                <a:latin typeface="Calibri"/>
                <a:cs typeface="Calibri"/>
              </a:rPr>
              <a:t> </a:t>
            </a:r>
            <a:r>
              <a:rPr sz="2400" spc="-25" dirty="0">
                <a:solidFill>
                  <a:srgbClr val="7E5F00"/>
                </a:solidFill>
                <a:latin typeface="Cambria Math"/>
                <a:cs typeface="Cambria Math"/>
              </a:rPr>
              <a:t>𝐟</a:t>
            </a:r>
            <a:r>
              <a:rPr sz="2625" spc="-37" baseline="-15873" dirty="0">
                <a:solidFill>
                  <a:srgbClr val="7E5F00"/>
                </a:solidFill>
                <a:latin typeface="Cambria Math"/>
                <a:cs typeface="Cambria Math"/>
              </a:rPr>
              <a:t>𝐦</a:t>
            </a:r>
            <a:endParaRPr sz="2625" baseline="-15873">
              <a:latin typeface="Cambria Math"/>
              <a:cs typeface="Cambria Math"/>
            </a:endParaRPr>
          </a:p>
        </p:txBody>
      </p:sp>
      <p:pic>
        <p:nvPicPr>
          <p:cNvPr id="9" name="object 9"/>
          <p:cNvPicPr/>
          <p:nvPr/>
        </p:nvPicPr>
        <p:blipFill rotWithShape="1">
          <a:blip r:embed="rId2" cstate="print"/>
          <a:srcRect t="18021" b="60266"/>
          <a:stretch/>
        </p:blipFill>
        <p:spPr>
          <a:xfrm>
            <a:off x="0" y="1235838"/>
            <a:ext cx="12192000" cy="148907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CC7FB83-0E00-4A08-85D5-D4B19703783E}"/>
                  </a:ext>
                </a:extLst>
              </p:cNvPr>
              <p:cNvSpPr txBox="1"/>
              <p:nvPr/>
            </p:nvSpPr>
            <p:spPr>
              <a:xfrm>
                <a:off x="196595" y="2895600"/>
                <a:ext cx="11766805" cy="371704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     </m:t>
                          </m:r>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=2</m:t>
                      </m:r>
                      <m:r>
                        <a:rPr lang="en-US" sz="2000" b="0" i="1" smtClean="0">
                          <a:latin typeface="Cambria Math" panose="02040503050406030204" pitchFamily="18" charset="0"/>
                        </a:rPr>
                        <m:t>𝜋</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𝑡</m:t>
                      </m:r>
                      <m:r>
                        <a:rPr lang="en-US" sz="2000" b="0" i="1" smtClean="0">
                          <a:latin typeface="Cambria Math" panose="02040503050406030204" pitchFamily="18" charset="0"/>
                        </a:rPr>
                        <m:t>+</m:t>
                      </m:r>
                      <m:r>
                        <a:rPr lang="en-US" sz="2000" b="0" i="1" smtClean="0">
                          <a:latin typeface="Cambria Math" panose="02040503050406030204" pitchFamily="18" charset="0"/>
                        </a:rPr>
                        <m:t>𝑚</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oMath>
                  </m:oMathPara>
                </a14:m>
                <a:endParaRPr lang="en-US" sz="2000" b="0" dirty="0">
                  <a:latin typeface="+mn-lt"/>
                </a:endParaRPr>
              </a:p>
              <a:p>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m:t>
                          </m:r>
                        </m:num>
                        <m:den>
                          <m:r>
                            <a:rPr lang="en-US" sz="2000" b="0" i="1" smtClean="0">
                              <a:latin typeface="Cambria Math" panose="02040503050406030204" pitchFamily="18" charset="0"/>
                            </a:rPr>
                            <m:t>𝑑𝑡</m:t>
                          </m:r>
                        </m:den>
                      </m:f>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𝜃</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𝜔</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=2</m:t>
                      </m:r>
                      <m:r>
                        <a:rPr lang="en-US" sz="2000" b="0" i="1" smtClean="0">
                          <a:latin typeface="Cambria Math" panose="02040503050406030204" pitchFamily="18" charset="0"/>
                        </a:rPr>
                        <m:t>𝜋</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=2</m:t>
                      </m:r>
                      <m:r>
                        <a:rPr lang="en-US" sz="2000" b="0" i="1" smtClean="0">
                          <a:latin typeface="Cambria Math" panose="02040503050406030204" pitchFamily="18" charset="0"/>
                        </a:rPr>
                        <m:t>𝜋</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r>
                        <a:rPr lang="en-US" sz="2000" b="0" i="1" smtClean="0">
                          <a:latin typeface="Cambria Math" panose="02040503050406030204" pitchFamily="18" charset="0"/>
                        </a:rPr>
                        <m:t>𝑚</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oMath>
                  </m:oMathPara>
                </a14:m>
                <a:endParaRPr lang="en-US" sz="2000" b="0" dirty="0">
                  <a:latin typeface="+mn-lt"/>
                </a:endParaRPr>
              </a:p>
              <a:p>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r>
                            <a:rPr lang="en-US" sz="2000" b="0" i="1" smtClean="0">
                              <a:latin typeface="Cambria Math" panose="02040503050406030204" pitchFamily="18" charset="0"/>
                            </a:rPr>
                            <m:t>𝜋</m:t>
                          </m:r>
                        </m:den>
                      </m:f>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𝑚</m:t>
                          </m:r>
                        </m:e>
                        <m:sup>
                          <m:r>
                            <a:rPr lang="en-US" sz="2000" b="0" i="1" smtClean="0">
                              <a:latin typeface="Cambria Math" panose="02040503050406030204" pitchFamily="18" charset="0"/>
                            </a:rPr>
                            <m:t>′</m:t>
                          </m:r>
                        </m:sup>
                      </m:sSup>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m:t>
                          </m:r>
                        </m:e>
                      </m:d>
                    </m:oMath>
                  </m:oMathPara>
                </a14:m>
                <a:endParaRPr lang="en-US" sz="2000" b="0" dirty="0">
                  <a:latin typeface="+mn-lt"/>
                </a:endParaRPr>
              </a:p>
              <a:p>
                <a:pPr/>
                <a14:m>
                  <m:oMathPara xmlns:m="http://schemas.openxmlformats.org/officeDocument/2006/math">
                    <m:oMathParaPr>
                      <m:jc m:val="left"/>
                    </m:oMathParaPr>
                    <m:oMath xmlns:m="http://schemas.openxmlformats.org/officeDocument/2006/math">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𝐴𝑠</m:t>
                          </m:r>
                          <m:r>
                            <a:rPr lang="en-US" sz="2000" b="0" i="1" smtClean="0">
                              <a:latin typeface="Cambria Math" panose="02040503050406030204" pitchFamily="18" charset="0"/>
                            </a:rPr>
                            <m:t> </m:t>
                          </m:r>
                          <m:r>
                            <a:rPr lang="en-US" sz="2000" b="0" i="1" smtClean="0">
                              <a:latin typeface="Cambria Math" panose="02040503050406030204" pitchFamily="18" charset="0"/>
                            </a:rPr>
                            <m:t>𝑚</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𝑚</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sin</m:t>
                              </m:r>
                            </m:fName>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rPr>
                                    <m:t>𝜋</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𝑚</m:t>
                                      </m:r>
                                    </m:sub>
                                  </m:sSub>
                                  <m:r>
                                    <a:rPr lang="en-US" sz="2000" b="0" i="1" smtClean="0">
                                      <a:latin typeface="Cambria Math" panose="02040503050406030204" pitchFamily="18" charset="0"/>
                                    </a:rPr>
                                    <m:t>𝑡</m:t>
                                  </m:r>
                                </m:e>
                              </m:d>
                            </m:e>
                          </m:func>
                          <m:r>
                            <a:rPr lang="en-US" sz="2000" b="0" i="1" smtClean="0">
                              <a:latin typeface="Cambria Math" panose="02040503050406030204" pitchFamily="18" charset="0"/>
                            </a:rPr>
                            <m:t>, </m:t>
                          </m:r>
                          <m:r>
                            <a:rPr lang="en-US" sz="2000" b="0" i="1" smtClean="0">
                              <a:latin typeface="Cambria Math" panose="02040503050406030204" pitchFamily="18" charset="0"/>
                            </a:rPr>
                            <m:t>𝑠𝑜</m:t>
                          </m:r>
                          <m:r>
                            <a:rPr lang="en-US" sz="2000" b="0" i="1" smtClean="0">
                              <a:latin typeface="Cambria Math" panose="02040503050406030204" pitchFamily="18" charset="0"/>
                            </a:rPr>
                            <m:t> </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𝒎</m:t>
                              </m:r>
                            </m:e>
                            <m:sup>
                              <m:r>
                                <a:rPr lang="en-US" sz="2000" b="1" i="1" smtClean="0">
                                  <a:latin typeface="Cambria Math" panose="02040503050406030204" pitchFamily="18" charset="0"/>
                                </a:rPr>
                                <m:t>′</m:t>
                              </m:r>
                            </m:sup>
                          </m:sSup>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𝒕</m:t>
                              </m:r>
                            </m:e>
                          </m:d>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𝑨</m:t>
                              </m:r>
                            </m:e>
                            <m:sub>
                              <m:r>
                                <a:rPr lang="en-US" sz="2000" b="1" i="1" smtClean="0">
                                  <a:latin typeface="Cambria Math" panose="02040503050406030204" pitchFamily="18" charset="0"/>
                                </a:rPr>
                                <m:t>𝒎</m:t>
                              </m:r>
                            </m:sub>
                          </m:sSub>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𝟐</m:t>
                              </m:r>
                              <m:r>
                                <a:rPr lang="en-US" sz="2000" b="1" i="1" smtClean="0">
                                  <a:latin typeface="Cambria Math" panose="02040503050406030204" pitchFamily="18" charset="0"/>
                                </a:rPr>
                                <m:t>𝝅</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𝒇</m:t>
                                  </m:r>
                                </m:e>
                                <m:sub>
                                  <m:r>
                                    <a:rPr lang="en-US" sz="2000" b="1" i="1" smtClean="0">
                                      <a:latin typeface="Cambria Math" panose="02040503050406030204" pitchFamily="18" charset="0"/>
                                    </a:rPr>
                                    <m:t>𝒎</m:t>
                                  </m:r>
                                </m:sub>
                              </m:sSub>
                            </m:e>
                          </m:d>
                          <m:func>
                            <m:funcPr>
                              <m:ctrlPr>
                                <a:rPr lang="en-US" sz="2000" b="1" i="1" smtClean="0">
                                  <a:latin typeface="Cambria Math" panose="02040503050406030204" pitchFamily="18" charset="0"/>
                                </a:rPr>
                              </m:ctrlPr>
                            </m:funcPr>
                            <m:fName>
                              <m:r>
                                <a:rPr lang="en-US" sz="2000" b="1" i="0" smtClean="0">
                                  <a:latin typeface="Cambria Math" panose="02040503050406030204" pitchFamily="18" charset="0"/>
                                </a:rPr>
                                <m:t>𝐜𝐨𝐬</m:t>
                              </m:r>
                            </m:fName>
                            <m:e>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𝟐</m:t>
                                  </m:r>
                                  <m:r>
                                    <a:rPr lang="en-US" sz="2000" b="1" i="1" smtClean="0">
                                      <a:latin typeface="Cambria Math" panose="02040503050406030204" pitchFamily="18" charset="0"/>
                                    </a:rPr>
                                    <m:t>𝝅</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𝒇</m:t>
                                      </m:r>
                                    </m:e>
                                    <m:sub>
                                      <m:r>
                                        <a:rPr lang="en-US" sz="2000" b="1" i="1" smtClean="0">
                                          <a:latin typeface="Cambria Math" panose="02040503050406030204" pitchFamily="18" charset="0"/>
                                        </a:rPr>
                                        <m:t>𝒎</m:t>
                                      </m:r>
                                    </m:sub>
                                  </m:sSub>
                                  <m:r>
                                    <a:rPr lang="en-US" sz="2000" b="1" i="1" smtClean="0">
                                      <a:latin typeface="Cambria Math" panose="02040503050406030204" pitchFamily="18" charset="0"/>
                                    </a:rPr>
                                    <m:t>𝒕</m:t>
                                  </m:r>
                                </m:e>
                              </m:d>
                            </m:e>
                          </m:func>
                        </m:e>
                      </m:d>
                    </m:oMath>
                  </m:oMathPara>
                </a14:m>
                <a:endParaRPr lang="en-US" sz="2000" b="0" dirty="0">
                  <a:latin typeface="+mn-lt"/>
                </a:endParaRPr>
              </a:p>
              <a:p>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𝑚</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𝑚</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rPr>
                                <m:t>𝜋</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𝑚</m:t>
                                  </m:r>
                                </m:sub>
                              </m:sSub>
                              <m:r>
                                <a:rPr lang="en-US" sz="2000" b="0" i="1" smtClean="0">
                                  <a:latin typeface="Cambria Math" panose="02040503050406030204" pitchFamily="18" charset="0"/>
                                </a:rPr>
                                <m:t>𝑡</m:t>
                              </m:r>
                            </m:e>
                          </m:d>
                        </m:e>
                      </m:func>
                    </m:oMath>
                  </m:oMathPara>
                </a14:m>
                <a:endParaRPr lang="en-US" sz="2000" b="0" dirty="0">
                  <a:latin typeface="+mn-lt"/>
                </a:endParaRPr>
              </a:p>
              <a:p>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𝑐</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𝑚</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𝑚</m:t>
                          </m:r>
                        </m:sub>
                      </m:sSub>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rPr>
                                <m:t>𝜋</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𝑚</m:t>
                                  </m:r>
                                </m:sub>
                              </m:sSub>
                              <m:r>
                                <a:rPr lang="en-US" sz="2000" b="0" i="1" smtClean="0">
                                  <a:latin typeface="Cambria Math" panose="02040503050406030204" pitchFamily="18" charset="0"/>
                                </a:rPr>
                                <m:t>𝑡</m:t>
                              </m:r>
                            </m:e>
                          </m:d>
                        </m:e>
                      </m:func>
                    </m:oMath>
                  </m:oMathPara>
                </a14:m>
                <a:endParaRPr lang="en-US" sz="2000" dirty="0">
                  <a:latin typeface="+mn-lt"/>
                </a:endParaRPr>
              </a:p>
              <a:p>
                <a:pPr/>
                <a14:m>
                  <m:oMathPara xmlns:m="http://schemas.openxmlformats.org/officeDocument/2006/math">
                    <m:oMathParaPr>
                      <m:jc m:val="left"/>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 </m:t>
                      </m:r>
                      <m:r>
                        <a:rPr lang="en-US" sz="2000" b="0" i="1" smtClean="0">
                          <a:latin typeface="Cambria Math" panose="02040503050406030204" pitchFamily="18" charset="0"/>
                        </a:rPr>
                        <m:t>𝑤𝑖𝑙𝑙</m:t>
                      </m:r>
                      <m:r>
                        <a:rPr lang="en-US" sz="2000" b="0" i="1" smtClean="0">
                          <a:latin typeface="Cambria Math" panose="02040503050406030204" pitchFamily="18" charset="0"/>
                        </a:rPr>
                        <m:t> </m:t>
                      </m:r>
                      <m:r>
                        <a:rPr lang="en-US" sz="2000" b="0" i="1" smtClean="0">
                          <a:latin typeface="Cambria Math" panose="02040503050406030204" pitchFamily="18" charset="0"/>
                        </a:rPr>
                        <m:t>𝑏𝑒</m:t>
                      </m:r>
                      <m:r>
                        <a:rPr lang="en-US" sz="2000" b="0" i="1" smtClean="0">
                          <a:latin typeface="Cambria Math" panose="02040503050406030204" pitchFamily="18" charset="0"/>
                        </a:rPr>
                        <m:t> </m:t>
                      </m:r>
                      <m:r>
                        <a:rPr lang="en-US" sz="2000" b="0" i="1" smtClean="0">
                          <a:latin typeface="Cambria Math" panose="02040503050406030204" pitchFamily="18" charset="0"/>
                        </a:rPr>
                        <m:t>𝑚𝑎𝑥𝑖𝑚𝑢𝑚</m:t>
                      </m:r>
                      <m:r>
                        <a:rPr lang="en-US" sz="2000" b="0" i="1" smtClean="0">
                          <a:latin typeface="Cambria Math" panose="02040503050406030204" pitchFamily="18" charset="0"/>
                        </a:rPr>
                        <m:t> </m:t>
                      </m:r>
                      <m:r>
                        <a:rPr lang="en-US" sz="2000" b="0" i="1" smtClean="0">
                          <a:latin typeface="Cambria Math" panose="02040503050406030204" pitchFamily="18" charset="0"/>
                        </a:rPr>
                        <m:t>𝑤h𝑒𝑛</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cos</m:t>
                          </m:r>
                        </m:fName>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rPr>
                                <m:t>𝜋</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𝑚</m:t>
                                  </m:r>
                                </m:sub>
                              </m:sSub>
                              <m:r>
                                <a:rPr lang="en-US" sz="2000" b="0" i="1" smtClean="0">
                                  <a:latin typeface="Cambria Math" panose="02040503050406030204" pitchFamily="18" charset="0"/>
                                </a:rPr>
                                <m:t>𝑡</m:t>
                              </m:r>
                            </m:e>
                          </m:d>
                        </m:e>
                      </m:func>
                      <m:r>
                        <a:rPr lang="en-US" sz="2000" b="0" i="1" smtClean="0">
                          <a:latin typeface="Cambria Math" panose="02040503050406030204" pitchFamily="18" charset="0"/>
                        </a:rPr>
                        <m:t>=1 </m:t>
                      </m:r>
                      <m:r>
                        <a:rPr lang="en-US" sz="2000" b="0" i="1" smtClean="0">
                          <a:latin typeface="Cambria Math" panose="02040503050406030204" pitchFamily="18" charset="0"/>
                        </a:rPr>
                        <m:t>𝑎𝑛𝑑</m:t>
                      </m:r>
                      <m:r>
                        <a:rPr lang="en-US" sz="2000" b="0" i="1" smtClean="0">
                          <a:latin typeface="Cambria Math" panose="02040503050406030204" pitchFamily="18" charset="0"/>
                        </a:rPr>
                        <m:t> </m:t>
                      </m:r>
                      <m:r>
                        <a:rPr lang="en-US" sz="2000" b="0" i="1" smtClean="0">
                          <a:latin typeface="Cambria Math" panose="02040503050406030204" pitchFamily="18" charset="0"/>
                        </a:rPr>
                        <m:t>𝑡h𝑒𝑛</m:t>
                      </m:r>
                      <m:r>
                        <a:rPr lang="en-US" sz="2000" b="0" i="1" smtClean="0">
                          <a:latin typeface="Cambria Math" panose="02040503050406030204" pitchFamily="18" charset="0"/>
                        </a:rPr>
                        <m:t> </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𝑡</m:t>
                                  </m:r>
                                </m:e>
                              </m:d>
                            </m:e>
                            <m:sub>
                              <m:r>
                                <a:rPr lang="en-US" sz="2000" b="0" i="1" smtClean="0">
                                  <a:latin typeface="Cambria Math" panose="02040503050406030204" pitchFamily="18" charset="0"/>
                                </a:rPr>
                                <m:t>𝑚𝑎𝑥</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𝑐</m:t>
                              </m:r>
                            </m:sub>
                          </m:sSub>
                        </m:e>
                      </m:d>
                      <m:r>
                        <a:rPr lang="en-US" sz="2000" b="0" i="1" smtClean="0">
                          <a:latin typeface="Cambria Math" panose="02040503050406030204" pitchFamily="18" charset="0"/>
                        </a:rPr>
                        <m:t> </m:t>
                      </m:r>
                      <m:r>
                        <a:rPr lang="en-US" sz="2000" b="0" i="1" smtClean="0">
                          <a:latin typeface="Cambria Math" panose="02040503050406030204" pitchFamily="18" charset="0"/>
                        </a:rPr>
                        <m:t>𝑖𝑠</m:t>
                      </m:r>
                      <m:r>
                        <a:rPr lang="en-US" sz="2000" b="0" i="1" smtClean="0">
                          <a:latin typeface="Cambria Math" panose="02040503050406030204" pitchFamily="18" charset="0"/>
                        </a:rPr>
                        <m:t> </m:t>
                      </m:r>
                      <m:r>
                        <a:rPr lang="en-US" sz="2000" b="0" i="1" smtClean="0">
                          <a:latin typeface="Cambria Math" panose="02040503050406030204" pitchFamily="18" charset="0"/>
                        </a:rPr>
                        <m:t>𝑟𝑒𝑝𝑟𝑒𝑠𝑒𝑛𝑡𝑒𝑑</m:t>
                      </m:r>
                      <m:r>
                        <a:rPr lang="en-US" sz="2000" b="0" i="1" smtClean="0">
                          <a:latin typeface="Cambria Math" panose="02040503050406030204" pitchFamily="18" charset="0"/>
                        </a:rPr>
                        <m:t> </m:t>
                      </m:r>
                      <m:r>
                        <a:rPr lang="en-US" sz="2000" b="0" i="1" smtClean="0">
                          <a:latin typeface="Cambria Math" panose="02040503050406030204" pitchFamily="18" charset="0"/>
                        </a:rPr>
                        <m:t>𝑎𝑠</m:t>
                      </m:r>
                      <m:r>
                        <a:rPr lang="en-US" sz="2000" b="0" i="1" smtClean="0">
                          <a:latin typeface="Cambria Math" panose="02040503050406030204" pitchFamily="18" charset="0"/>
                        </a:rPr>
                        <m:t> </m:t>
                      </m:r>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𝑓</m:t>
                      </m:r>
                      <m:r>
                        <a:rPr lang="en-US" sz="2000" b="0" i="1" smtClean="0">
                          <a:latin typeface="Cambria Math" panose="02040503050406030204" pitchFamily="18" charset="0"/>
                        </a:rPr>
                        <m:t>.</m:t>
                      </m:r>
                    </m:oMath>
                  </m:oMathPara>
                </a14:m>
                <a:endParaRPr lang="en-US" sz="2000" b="0" dirty="0">
                  <a:latin typeface="+mn-lt"/>
                </a:endParaRPr>
              </a:p>
              <a:p>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𝑆𝑜</m:t>
                      </m:r>
                      <m:r>
                        <a:rPr lang="en-US" sz="2000" b="0" i="1"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𝒇</m:t>
                          </m:r>
                        </m:e>
                        <m:sub>
                          <m:r>
                            <a:rPr lang="en-US" sz="2000" b="1" i="1" smtClean="0">
                              <a:latin typeface="Cambria Math" panose="02040503050406030204" pitchFamily="18" charset="0"/>
                            </a:rPr>
                            <m:t>𝒊</m:t>
                          </m:r>
                        </m:sub>
                      </m:sSub>
                      <m:sSub>
                        <m:sSubPr>
                          <m:ctrlPr>
                            <a:rPr lang="en-US" sz="2000" b="1" i="1" smtClean="0">
                              <a:latin typeface="Cambria Math" panose="02040503050406030204" pitchFamily="18" charset="0"/>
                            </a:rPr>
                          </m:ctrlPr>
                        </m:sSubPr>
                        <m:e>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𝒕</m:t>
                              </m:r>
                            </m:e>
                          </m:d>
                        </m:e>
                        <m:sub>
                          <m:r>
                            <a:rPr lang="en-US" sz="2000" b="1" i="1" smtClean="0">
                              <a:latin typeface="Cambria Math" panose="02040503050406030204" pitchFamily="18" charset="0"/>
                            </a:rPr>
                            <m:t>𝒎𝒂𝒙</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𝒇</m:t>
                          </m:r>
                        </m:e>
                        <m:sub>
                          <m:r>
                            <a:rPr lang="en-US" sz="2000" b="1" i="1" smtClean="0">
                              <a:latin typeface="Cambria Math" panose="02040503050406030204" pitchFamily="18" charset="0"/>
                            </a:rPr>
                            <m:t>𝒄</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𝑨</m:t>
                          </m:r>
                        </m:e>
                        <m:sub>
                          <m:r>
                            <a:rPr lang="en-US" sz="2000" b="1" i="1" smtClean="0">
                              <a:latin typeface="Cambria Math" panose="02040503050406030204" pitchFamily="18" charset="0"/>
                            </a:rPr>
                            <m:t>𝒎</m:t>
                          </m:r>
                        </m:sub>
                      </m:sSub>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𝒇</m:t>
                          </m:r>
                        </m:e>
                        <m:sub>
                          <m:r>
                            <a:rPr lang="en-US" sz="2000" b="1" i="1" smtClean="0">
                              <a:latin typeface="Cambria Math" panose="02040503050406030204" pitchFamily="18" charset="0"/>
                            </a:rPr>
                            <m:t>𝒎</m:t>
                          </m:r>
                        </m:sub>
                      </m:sSub>
                      <m:r>
                        <a:rPr lang="en-US" sz="2000" b="1" i="1" smtClean="0">
                          <a:latin typeface="Cambria Math" panose="02040503050406030204" pitchFamily="18" charset="0"/>
                        </a:rPr>
                        <m:t>=</m:t>
                      </m:r>
                      <m:r>
                        <a:rPr lang="en-US" sz="2000" b="1" i="0" smtClean="0">
                          <a:latin typeface="Cambria Math" panose="02040503050406030204" pitchFamily="18" charset="0"/>
                        </a:rPr>
                        <m:t>𝚫</m:t>
                      </m:r>
                      <m:r>
                        <a:rPr lang="en-US" sz="2000" b="1" i="1" smtClean="0">
                          <a:latin typeface="Cambria Math" panose="02040503050406030204" pitchFamily="18" charset="0"/>
                        </a:rPr>
                        <m:t>𝒇</m:t>
                      </m:r>
                    </m:oMath>
                  </m:oMathPara>
                </a14:m>
                <a:endParaRPr lang="en-US" sz="2000" b="1" dirty="0">
                  <a:latin typeface="+mn-lt"/>
                </a:endParaRPr>
              </a:p>
              <a:p>
                <a:endParaRPr lang="en-US" sz="2000" b="1" dirty="0">
                  <a:latin typeface="+mn-lt"/>
                </a:endParaRPr>
              </a:p>
              <a:p>
                <a:r>
                  <a:rPr lang="en-US" sz="2000" b="1" dirty="0">
                    <a:latin typeface="+mn-lt"/>
                  </a:rPr>
                  <a:t>Now, Bandwidth of y(t) is </a:t>
                </a:r>
                <a14:m>
                  <m:oMath xmlns:m="http://schemas.openxmlformats.org/officeDocument/2006/math">
                    <m:r>
                      <a:rPr lang="en-US" sz="2000" b="0" i="1" smtClean="0">
                        <a:latin typeface="Cambria Math" panose="02040503050406030204" pitchFamily="18" charset="0"/>
                      </a:rPr>
                      <m:t>𝐵</m:t>
                    </m:r>
                    <m:r>
                      <a:rPr lang="en-US" sz="2000" b="0" i="1" smtClean="0">
                        <a:latin typeface="Cambria Math" panose="02040503050406030204" pitchFamily="18" charset="0"/>
                      </a:rPr>
                      <m:t>=2</m:t>
                    </m:r>
                    <m:d>
                      <m:dPr>
                        <m:ctrlPr>
                          <a:rPr lang="en-US" sz="2000" b="0" i="1" smtClean="0">
                            <a:latin typeface="Cambria Math" panose="02040503050406030204" pitchFamily="18" charset="0"/>
                          </a:rPr>
                        </m:ctrlPr>
                      </m:d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𝑚</m:t>
                            </m:r>
                          </m:sub>
                        </m:sSub>
                        <m:r>
                          <a:rPr lang="en-US" sz="2000" b="0" i="1" smtClean="0">
                            <a:latin typeface="Cambria Math" panose="02040503050406030204" pitchFamily="18" charset="0"/>
                          </a:rPr>
                          <m:t>+</m:t>
                        </m:r>
                        <m:r>
                          <a:rPr lang="en-US" sz="2000" b="0" i="1" smtClean="0">
                            <a:latin typeface="Cambria Math" panose="02040503050406030204" pitchFamily="18" charset="0"/>
                          </a:rPr>
                          <m:t>𝛥</m:t>
                        </m:r>
                        <m:r>
                          <a:rPr lang="en-US" sz="2000" b="0" i="1" smtClean="0">
                            <a:latin typeface="Cambria Math" panose="02040503050406030204" pitchFamily="18" charset="0"/>
                          </a:rPr>
                          <m:t>𝑓</m:t>
                        </m:r>
                      </m:e>
                    </m:d>
                    <m:r>
                      <a:rPr lang="en-US" sz="2000" b="0" i="1" smtClean="0">
                        <a:latin typeface="Cambria Math" panose="02040503050406030204" pitchFamily="18" charset="0"/>
                      </a:rPr>
                      <m:t>=2</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𝑚</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𝑚</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𝑚</m:t>
                            </m:r>
                          </m:sub>
                        </m:sSub>
                      </m:e>
                    </m:d>
                    <m:r>
                      <a:rPr lang="en-US" sz="2000" b="0" i="1" smtClean="0">
                        <a:latin typeface="Cambria Math" panose="02040503050406030204" pitchFamily="18" charset="0"/>
                      </a:rPr>
                      <m:t> [</m:t>
                    </m:r>
                    <m:r>
                      <a:rPr lang="en-US" sz="2000" b="0" i="1" smtClean="0">
                        <a:latin typeface="Cambria Math" panose="02040503050406030204" pitchFamily="18" charset="0"/>
                      </a:rPr>
                      <m:t>𝑆𝑜</m:t>
                    </m:r>
                    <m:r>
                      <a:rPr lang="en-US" sz="2000" b="0" i="1" smtClean="0">
                        <a:latin typeface="Cambria Math" panose="02040503050406030204" pitchFamily="18" charset="0"/>
                      </a:rPr>
                      <m:t>, </m:t>
                    </m:r>
                    <m:r>
                      <a:rPr lang="en-US" sz="2000" b="0" i="1" smtClean="0">
                        <a:latin typeface="Cambria Math" panose="02040503050406030204" pitchFamily="18" charset="0"/>
                      </a:rPr>
                      <m:t>𝐴𝑛𝑠𝑤𝑒𝑟</m:t>
                    </m:r>
                    <m:r>
                      <a:rPr lang="en-US" sz="2000" b="0" i="1" smtClean="0">
                        <a:latin typeface="Cambria Math" panose="02040503050406030204" pitchFamily="18" charset="0"/>
                      </a:rPr>
                      <m:t> </m:t>
                    </m:r>
                    <m:r>
                      <a:rPr lang="en-US" sz="2000" b="0" i="1" smtClean="0">
                        <a:latin typeface="Cambria Math" panose="02040503050406030204" pitchFamily="18" charset="0"/>
                      </a:rPr>
                      <m:t>𝑖𝑠</m:t>
                    </m:r>
                    <m:r>
                      <a:rPr lang="en-US" sz="2000" b="0" i="1" smtClean="0">
                        <a:latin typeface="Cambria Math" panose="02040503050406030204" pitchFamily="18" charset="0"/>
                      </a:rPr>
                      <m:t> </m:t>
                    </m:r>
                    <m:r>
                      <a:rPr lang="en-US" sz="2000" b="0" i="1" smtClean="0">
                        <a:latin typeface="Cambria Math" panose="02040503050406030204" pitchFamily="18" charset="0"/>
                      </a:rPr>
                      <m:t>𝑐</m:t>
                    </m:r>
                    <m:r>
                      <a:rPr lang="en-US" sz="2000" b="0" i="1" smtClean="0">
                        <a:latin typeface="Cambria Math" panose="02040503050406030204" pitchFamily="18" charset="0"/>
                      </a:rPr>
                      <m:t>]</m:t>
                    </m:r>
                  </m:oMath>
                </a14:m>
                <a:endParaRPr lang="en-US" sz="2000" i="1" dirty="0">
                  <a:latin typeface="+mn-lt"/>
                </a:endParaRPr>
              </a:p>
            </p:txBody>
          </p:sp>
        </mc:Choice>
        <mc:Fallback xmlns="">
          <p:sp>
            <p:nvSpPr>
              <p:cNvPr id="11" name="TextBox 10">
                <a:extLst>
                  <a:ext uri="{FF2B5EF4-FFF2-40B4-BE49-F238E27FC236}">
                    <a16:creationId xmlns:a16="http://schemas.microsoft.com/office/drawing/2014/main" id="{BCC7FB83-0E00-4A08-85D5-D4B19703783E}"/>
                  </a:ext>
                </a:extLst>
              </p:cNvPr>
              <p:cNvSpPr txBox="1">
                <a:spLocks noRot="1" noChangeAspect="1" noMove="1" noResize="1" noEditPoints="1" noAdjustHandles="1" noChangeArrowheads="1" noChangeShapeType="1" noTextEdit="1"/>
              </p:cNvSpPr>
              <p:nvPr/>
            </p:nvSpPr>
            <p:spPr>
              <a:xfrm>
                <a:off x="196595" y="2895600"/>
                <a:ext cx="11766805" cy="3717043"/>
              </a:xfrm>
              <a:prstGeom prst="rect">
                <a:avLst/>
              </a:prstGeom>
              <a:blipFill>
                <a:blip r:embed="rId3"/>
                <a:stretch>
                  <a:fillRect l="-518" b="-1967"/>
                </a:stretch>
              </a:blipFill>
            </p:spPr>
            <p:txBody>
              <a:bodyPr/>
              <a:lstStyle/>
              <a:p>
                <a:r>
                  <a:rPr 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824988" y="530732"/>
            <a:ext cx="6550025" cy="282575"/>
          </a:xfrm>
          <a:custGeom>
            <a:avLst/>
            <a:gdLst/>
            <a:ahLst/>
            <a:cxnLst/>
            <a:rect l="l" t="t" r="r" b="b"/>
            <a:pathLst>
              <a:path w="6550025" h="282575">
                <a:moveTo>
                  <a:pt x="93980" y="11430"/>
                </a:moveTo>
                <a:lnTo>
                  <a:pt x="90043" y="0"/>
                </a:lnTo>
                <a:lnTo>
                  <a:pt x="69507" y="7391"/>
                </a:lnTo>
                <a:lnTo>
                  <a:pt x="51536" y="18084"/>
                </a:lnTo>
                <a:lnTo>
                  <a:pt x="23241" y="49403"/>
                </a:lnTo>
                <a:lnTo>
                  <a:pt x="5803" y="91414"/>
                </a:lnTo>
                <a:lnTo>
                  <a:pt x="76" y="139700"/>
                </a:lnTo>
                <a:lnTo>
                  <a:pt x="0" y="141224"/>
                </a:lnTo>
                <a:lnTo>
                  <a:pt x="1447" y="167170"/>
                </a:lnTo>
                <a:lnTo>
                  <a:pt x="13017" y="212991"/>
                </a:lnTo>
                <a:lnTo>
                  <a:pt x="36017" y="250228"/>
                </a:lnTo>
                <a:lnTo>
                  <a:pt x="69494" y="274942"/>
                </a:lnTo>
                <a:lnTo>
                  <a:pt x="90043" y="282321"/>
                </a:lnTo>
                <a:lnTo>
                  <a:pt x="93599" y="270891"/>
                </a:lnTo>
                <a:lnTo>
                  <a:pt x="77470" y="263728"/>
                </a:lnTo>
                <a:lnTo>
                  <a:pt x="63576" y="253796"/>
                </a:lnTo>
                <a:lnTo>
                  <a:pt x="35077" y="207556"/>
                </a:lnTo>
                <a:lnTo>
                  <a:pt x="26695" y="164642"/>
                </a:lnTo>
                <a:lnTo>
                  <a:pt x="25654" y="139700"/>
                </a:lnTo>
                <a:lnTo>
                  <a:pt x="26695" y="115633"/>
                </a:lnTo>
                <a:lnTo>
                  <a:pt x="35077" y="73863"/>
                </a:lnTo>
                <a:lnTo>
                  <a:pt x="63665" y="28308"/>
                </a:lnTo>
                <a:lnTo>
                  <a:pt x="77685" y="18516"/>
                </a:lnTo>
                <a:lnTo>
                  <a:pt x="93980" y="11430"/>
                </a:lnTo>
                <a:close/>
              </a:path>
              <a:path w="6550025" h="282575">
                <a:moveTo>
                  <a:pt x="315214" y="141224"/>
                </a:moveTo>
                <a:lnTo>
                  <a:pt x="313766" y="115633"/>
                </a:lnTo>
                <a:lnTo>
                  <a:pt x="313753" y="115341"/>
                </a:lnTo>
                <a:lnTo>
                  <a:pt x="309384" y="91414"/>
                </a:lnTo>
                <a:lnTo>
                  <a:pt x="291846" y="49403"/>
                </a:lnTo>
                <a:lnTo>
                  <a:pt x="263550" y="18084"/>
                </a:lnTo>
                <a:lnTo>
                  <a:pt x="225171" y="0"/>
                </a:lnTo>
                <a:lnTo>
                  <a:pt x="221107" y="11430"/>
                </a:lnTo>
                <a:lnTo>
                  <a:pt x="237464" y="18516"/>
                </a:lnTo>
                <a:lnTo>
                  <a:pt x="251523" y="28308"/>
                </a:lnTo>
                <a:lnTo>
                  <a:pt x="280047" y="73863"/>
                </a:lnTo>
                <a:lnTo>
                  <a:pt x="288340" y="115341"/>
                </a:lnTo>
                <a:lnTo>
                  <a:pt x="289433" y="139700"/>
                </a:lnTo>
                <a:lnTo>
                  <a:pt x="288378" y="164642"/>
                </a:lnTo>
                <a:lnTo>
                  <a:pt x="279996" y="207556"/>
                </a:lnTo>
                <a:lnTo>
                  <a:pt x="251523" y="253796"/>
                </a:lnTo>
                <a:lnTo>
                  <a:pt x="221615" y="270891"/>
                </a:lnTo>
                <a:lnTo>
                  <a:pt x="225171" y="282321"/>
                </a:lnTo>
                <a:lnTo>
                  <a:pt x="263664" y="264248"/>
                </a:lnTo>
                <a:lnTo>
                  <a:pt x="291973" y="232918"/>
                </a:lnTo>
                <a:lnTo>
                  <a:pt x="309397" y="191071"/>
                </a:lnTo>
                <a:lnTo>
                  <a:pt x="313753" y="167170"/>
                </a:lnTo>
                <a:lnTo>
                  <a:pt x="315214" y="141224"/>
                </a:lnTo>
                <a:close/>
              </a:path>
              <a:path w="6550025" h="282575">
                <a:moveTo>
                  <a:pt x="1328420" y="11430"/>
                </a:moveTo>
                <a:lnTo>
                  <a:pt x="1324483" y="0"/>
                </a:lnTo>
                <a:lnTo>
                  <a:pt x="1303947" y="7391"/>
                </a:lnTo>
                <a:lnTo>
                  <a:pt x="1285976" y="18084"/>
                </a:lnTo>
                <a:lnTo>
                  <a:pt x="1257681" y="49403"/>
                </a:lnTo>
                <a:lnTo>
                  <a:pt x="1240243" y="91414"/>
                </a:lnTo>
                <a:lnTo>
                  <a:pt x="1234516" y="139700"/>
                </a:lnTo>
                <a:lnTo>
                  <a:pt x="1234440" y="141224"/>
                </a:lnTo>
                <a:lnTo>
                  <a:pt x="1235887" y="167170"/>
                </a:lnTo>
                <a:lnTo>
                  <a:pt x="1247457" y="212991"/>
                </a:lnTo>
                <a:lnTo>
                  <a:pt x="1270457" y="250228"/>
                </a:lnTo>
                <a:lnTo>
                  <a:pt x="1303934" y="274942"/>
                </a:lnTo>
                <a:lnTo>
                  <a:pt x="1324483" y="282321"/>
                </a:lnTo>
                <a:lnTo>
                  <a:pt x="1328039" y="270891"/>
                </a:lnTo>
                <a:lnTo>
                  <a:pt x="1311910" y="263728"/>
                </a:lnTo>
                <a:lnTo>
                  <a:pt x="1298016" y="253796"/>
                </a:lnTo>
                <a:lnTo>
                  <a:pt x="1269517" y="207556"/>
                </a:lnTo>
                <a:lnTo>
                  <a:pt x="1261135" y="164642"/>
                </a:lnTo>
                <a:lnTo>
                  <a:pt x="1260094" y="139700"/>
                </a:lnTo>
                <a:lnTo>
                  <a:pt x="1261135" y="115633"/>
                </a:lnTo>
                <a:lnTo>
                  <a:pt x="1269517" y="73863"/>
                </a:lnTo>
                <a:lnTo>
                  <a:pt x="1298105" y="28308"/>
                </a:lnTo>
                <a:lnTo>
                  <a:pt x="1312125" y="18516"/>
                </a:lnTo>
                <a:lnTo>
                  <a:pt x="1328420" y="11430"/>
                </a:lnTo>
                <a:close/>
              </a:path>
              <a:path w="6550025" h="282575">
                <a:moveTo>
                  <a:pt x="3367532" y="11430"/>
                </a:moveTo>
                <a:lnTo>
                  <a:pt x="3363595" y="0"/>
                </a:lnTo>
                <a:lnTo>
                  <a:pt x="3343059" y="7391"/>
                </a:lnTo>
                <a:lnTo>
                  <a:pt x="3325088" y="18084"/>
                </a:lnTo>
                <a:lnTo>
                  <a:pt x="3296793" y="49403"/>
                </a:lnTo>
                <a:lnTo>
                  <a:pt x="3279356" y="91414"/>
                </a:lnTo>
                <a:lnTo>
                  <a:pt x="3273628" y="139700"/>
                </a:lnTo>
                <a:lnTo>
                  <a:pt x="3273552" y="141224"/>
                </a:lnTo>
                <a:lnTo>
                  <a:pt x="3274999" y="167170"/>
                </a:lnTo>
                <a:lnTo>
                  <a:pt x="3286569" y="212991"/>
                </a:lnTo>
                <a:lnTo>
                  <a:pt x="3309569" y="250228"/>
                </a:lnTo>
                <a:lnTo>
                  <a:pt x="3343046" y="274942"/>
                </a:lnTo>
                <a:lnTo>
                  <a:pt x="3363595" y="282321"/>
                </a:lnTo>
                <a:lnTo>
                  <a:pt x="3367151" y="270891"/>
                </a:lnTo>
                <a:lnTo>
                  <a:pt x="3351022" y="263728"/>
                </a:lnTo>
                <a:lnTo>
                  <a:pt x="3337128" y="253796"/>
                </a:lnTo>
                <a:lnTo>
                  <a:pt x="3308629" y="207556"/>
                </a:lnTo>
                <a:lnTo>
                  <a:pt x="3300247" y="164642"/>
                </a:lnTo>
                <a:lnTo>
                  <a:pt x="3299206" y="139700"/>
                </a:lnTo>
                <a:lnTo>
                  <a:pt x="3300247" y="115633"/>
                </a:lnTo>
                <a:lnTo>
                  <a:pt x="3308629" y="73863"/>
                </a:lnTo>
                <a:lnTo>
                  <a:pt x="3337217" y="28308"/>
                </a:lnTo>
                <a:lnTo>
                  <a:pt x="3351238" y="18516"/>
                </a:lnTo>
                <a:lnTo>
                  <a:pt x="3367532" y="11430"/>
                </a:lnTo>
                <a:close/>
              </a:path>
              <a:path w="6550025" h="282575">
                <a:moveTo>
                  <a:pt x="4233418" y="141224"/>
                </a:moveTo>
                <a:lnTo>
                  <a:pt x="4231970" y="115633"/>
                </a:lnTo>
                <a:lnTo>
                  <a:pt x="4231957" y="115341"/>
                </a:lnTo>
                <a:lnTo>
                  <a:pt x="4227588" y="91414"/>
                </a:lnTo>
                <a:lnTo>
                  <a:pt x="4210050" y="49403"/>
                </a:lnTo>
                <a:lnTo>
                  <a:pt x="4181754" y="18084"/>
                </a:lnTo>
                <a:lnTo>
                  <a:pt x="4143375" y="0"/>
                </a:lnTo>
                <a:lnTo>
                  <a:pt x="4139311" y="11430"/>
                </a:lnTo>
                <a:lnTo>
                  <a:pt x="4155668" y="18516"/>
                </a:lnTo>
                <a:lnTo>
                  <a:pt x="4169727" y="28308"/>
                </a:lnTo>
                <a:lnTo>
                  <a:pt x="4198251" y="73863"/>
                </a:lnTo>
                <a:lnTo>
                  <a:pt x="4206544" y="115341"/>
                </a:lnTo>
                <a:lnTo>
                  <a:pt x="4207637" y="139700"/>
                </a:lnTo>
                <a:lnTo>
                  <a:pt x="4206583" y="164642"/>
                </a:lnTo>
                <a:lnTo>
                  <a:pt x="4198201" y="207556"/>
                </a:lnTo>
                <a:lnTo>
                  <a:pt x="4169727" y="253796"/>
                </a:lnTo>
                <a:lnTo>
                  <a:pt x="4139819" y="270891"/>
                </a:lnTo>
                <a:lnTo>
                  <a:pt x="4143375" y="282321"/>
                </a:lnTo>
                <a:lnTo>
                  <a:pt x="4181868" y="264248"/>
                </a:lnTo>
                <a:lnTo>
                  <a:pt x="4210177" y="232918"/>
                </a:lnTo>
                <a:lnTo>
                  <a:pt x="4227601" y="191071"/>
                </a:lnTo>
                <a:lnTo>
                  <a:pt x="4231957" y="167170"/>
                </a:lnTo>
                <a:lnTo>
                  <a:pt x="4233418" y="141224"/>
                </a:lnTo>
                <a:close/>
              </a:path>
              <a:path w="6550025" h="282575">
                <a:moveTo>
                  <a:pt x="5559044" y="11430"/>
                </a:moveTo>
                <a:lnTo>
                  <a:pt x="5555107" y="0"/>
                </a:lnTo>
                <a:lnTo>
                  <a:pt x="5534571" y="7391"/>
                </a:lnTo>
                <a:lnTo>
                  <a:pt x="5516600" y="18084"/>
                </a:lnTo>
                <a:lnTo>
                  <a:pt x="5488305" y="49403"/>
                </a:lnTo>
                <a:lnTo>
                  <a:pt x="5470868" y="91414"/>
                </a:lnTo>
                <a:lnTo>
                  <a:pt x="5465140" y="139700"/>
                </a:lnTo>
                <a:lnTo>
                  <a:pt x="5465064" y="141224"/>
                </a:lnTo>
                <a:lnTo>
                  <a:pt x="5466512" y="167170"/>
                </a:lnTo>
                <a:lnTo>
                  <a:pt x="5478081" y="212991"/>
                </a:lnTo>
                <a:lnTo>
                  <a:pt x="5501081" y="250228"/>
                </a:lnTo>
                <a:lnTo>
                  <a:pt x="5534558" y="274942"/>
                </a:lnTo>
                <a:lnTo>
                  <a:pt x="5555107" y="282321"/>
                </a:lnTo>
                <a:lnTo>
                  <a:pt x="5558663" y="270891"/>
                </a:lnTo>
                <a:lnTo>
                  <a:pt x="5542534" y="263728"/>
                </a:lnTo>
                <a:lnTo>
                  <a:pt x="5528640" y="253796"/>
                </a:lnTo>
                <a:lnTo>
                  <a:pt x="5500141" y="207556"/>
                </a:lnTo>
                <a:lnTo>
                  <a:pt x="5491759" y="164642"/>
                </a:lnTo>
                <a:lnTo>
                  <a:pt x="5490718" y="139700"/>
                </a:lnTo>
                <a:lnTo>
                  <a:pt x="5491759" y="115633"/>
                </a:lnTo>
                <a:lnTo>
                  <a:pt x="5500141" y="73863"/>
                </a:lnTo>
                <a:lnTo>
                  <a:pt x="5528729" y="28308"/>
                </a:lnTo>
                <a:lnTo>
                  <a:pt x="5542750" y="18516"/>
                </a:lnTo>
                <a:lnTo>
                  <a:pt x="5559044" y="11430"/>
                </a:lnTo>
                <a:close/>
              </a:path>
              <a:path w="6550025" h="282575">
                <a:moveTo>
                  <a:pt x="6423406" y="141224"/>
                </a:moveTo>
                <a:lnTo>
                  <a:pt x="6421958" y="115633"/>
                </a:lnTo>
                <a:lnTo>
                  <a:pt x="6421945" y="115341"/>
                </a:lnTo>
                <a:lnTo>
                  <a:pt x="6417577" y="91414"/>
                </a:lnTo>
                <a:lnTo>
                  <a:pt x="6400038" y="49403"/>
                </a:lnTo>
                <a:lnTo>
                  <a:pt x="6371742" y="18084"/>
                </a:lnTo>
                <a:lnTo>
                  <a:pt x="6333363" y="0"/>
                </a:lnTo>
                <a:lnTo>
                  <a:pt x="6329299" y="11430"/>
                </a:lnTo>
                <a:lnTo>
                  <a:pt x="6345656" y="18516"/>
                </a:lnTo>
                <a:lnTo>
                  <a:pt x="6359715" y="28308"/>
                </a:lnTo>
                <a:lnTo>
                  <a:pt x="6388240" y="73863"/>
                </a:lnTo>
                <a:lnTo>
                  <a:pt x="6396533" y="115341"/>
                </a:lnTo>
                <a:lnTo>
                  <a:pt x="6397625" y="139700"/>
                </a:lnTo>
                <a:lnTo>
                  <a:pt x="6396571" y="164642"/>
                </a:lnTo>
                <a:lnTo>
                  <a:pt x="6388189" y="207556"/>
                </a:lnTo>
                <a:lnTo>
                  <a:pt x="6359715" y="253796"/>
                </a:lnTo>
                <a:lnTo>
                  <a:pt x="6329807" y="270891"/>
                </a:lnTo>
                <a:lnTo>
                  <a:pt x="6333363" y="282321"/>
                </a:lnTo>
                <a:lnTo>
                  <a:pt x="6371857" y="264248"/>
                </a:lnTo>
                <a:lnTo>
                  <a:pt x="6400165" y="232918"/>
                </a:lnTo>
                <a:lnTo>
                  <a:pt x="6417589" y="191071"/>
                </a:lnTo>
                <a:lnTo>
                  <a:pt x="6421945" y="167170"/>
                </a:lnTo>
                <a:lnTo>
                  <a:pt x="6423406" y="141224"/>
                </a:lnTo>
                <a:close/>
              </a:path>
              <a:path w="6550025" h="282575">
                <a:moveTo>
                  <a:pt x="6549898" y="141224"/>
                </a:moveTo>
                <a:lnTo>
                  <a:pt x="6548450" y="115633"/>
                </a:lnTo>
                <a:lnTo>
                  <a:pt x="6548437" y="115341"/>
                </a:lnTo>
                <a:lnTo>
                  <a:pt x="6544069" y="91414"/>
                </a:lnTo>
                <a:lnTo>
                  <a:pt x="6526530" y="49403"/>
                </a:lnTo>
                <a:lnTo>
                  <a:pt x="6498234" y="18084"/>
                </a:lnTo>
                <a:lnTo>
                  <a:pt x="6459855" y="0"/>
                </a:lnTo>
                <a:lnTo>
                  <a:pt x="6455791" y="11430"/>
                </a:lnTo>
                <a:lnTo>
                  <a:pt x="6472148" y="18516"/>
                </a:lnTo>
                <a:lnTo>
                  <a:pt x="6486207" y="28308"/>
                </a:lnTo>
                <a:lnTo>
                  <a:pt x="6514732" y="73863"/>
                </a:lnTo>
                <a:lnTo>
                  <a:pt x="6523025" y="115341"/>
                </a:lnTo>
                <a:lnTo>
                  <a:pt x="6524117" y="139700"/>
                </a:lnTo>
                <a:lnTo>
                  <a:pt x="6523063" y="164642"/>
                </a:lnTo>
                <a:lnTo>
                  <a:pt x="6514681" y="207556"/>
                </a:lnTo>
                <a:lnTo>
                  <a:pt x="6486207" y="253796"/>
                </a:lnTo>
                <a:lnTo>
                  <a:pt x="6456299" y="270891"/>
                </a:lnTo>
                <a:lnTo>
                  <a:pt x="6459855" y="282321"/>
                </a:lnTo>
                <a:lnTo>
                  <a:pt x="6498349" y="264248"/>
                </a:lnTo>
                <a:lnTo>
                  <a:pt x="6526657" y="232918"/>
                </a:lnTo>
                <a:lnTo>
                  <a:pt x="6544081" y="191071"/>
                </a:lnTo>
                <a:lnTo>
                  <a:pt x="6548437" y="167170"/>
                </a:lnTo>
                <a:lnTo>
                  <a:pt x="6549898" y="141224"/>
                </a:lnTo>
                <a:close/>
              </a:path>
            </a:pathLst>
          </a:custGeom>
          <a:solidFill>
            <a:srgbClr val="000000"/>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3" name="object 3"/>
              <p:cNvSpPr txBox="1"/>
              <p:nvPr/>
            </p:nvSpPr>
            <p:spPr>
              <a:xfrm>
                <a:off x="158495" y="73278"/>
                <a:ext cx="11716385" cy="1490152"/>
              </a:xfrm>
              <a:prstGeom prst="rect">
                <a:avLst/>
              </a:prstGeom>
            </p:spPr>
            <p:txBody>
              <a:bodyPr vert="horz" wrap="square" lIns="0" tIns="12700" rIns="0" bIns="0" rtlCol="0">
                <a:spAutoFit/>
              </a:bodyPr>
              <a:lstStyle/>
              <a:p>
                <a:pPr marL="76200">
                  <a:lnSpc>
                    <a:spcPct val="100000"/>
                  </a:lnSpc>
                  <a:spcBef>
                    <a:spcPts val="100"/>
                  </a:spcBef>
                </a:pPr>
                <a:r>
                  <a:rPr lang="en-US" sz="2400" b="1" dirty="0">
                    <a:solidFill>
                      <a:srgbClr val="FF0000"/>
                    </a:solidFill>
                    <a:latin typeface="Calibri"/>
                    <a:cs typeface="Calibri"/>
                  </a:rPr>
                  <a:t>Example</a:t>
                </a:r>
                <a:r>
                  <a:rPr lang="en-US" sz="2400" b="1" spc="-65" dirty="0">
                    <a:solidFill>
                      <a:srgbClr val="FF0000"/>
                    </a:solidFill>
                    <a:latin typeface="Calibri"/>
                    <a:cs typeface="Calibri"/>
                  </a:rPr>
                  <a:t> </a:t>
                </a:r>
                <a:r>
                  <a:rPr lang="en-US" sz="2400" b="1" dirty="0">
                    <a:solidFill>
                      <a:srgbClr val="FF0000"/>
                    </a:solidFill>
                    <a:latin typeface="Calibri"/>
                    <a:cs typeface="Calibri"/>
                  </a:rPr>
                  <a:t>14.</a:t>
                </a:r>
                <a:r>
                  <a:rPr lang="en-US" sz="2400" b="1" spc="-65" dirty="0">
                    <a:solidFill>
                      <a:srgbClr val="FF0000"/>
                    </a:solidFill>
                    <a:latin typeface="Calibri"/>
                    <a:cs typeface="Calibri"/>
                  </a:rPr>
                  <a:t> </a:t>
                </a:r>
                <a:r>
                  <a:rPr lang="en-US" sz="2400" b="1" dirty="0">
                    <a:solidFill>
                      <a:srgbClr val="6F2F9F"/>
                    </a:solidFill>
                    <a:latin typeface="Calibri"/>
                    <a:cs typeface="Calibri"/>
                  </a:rPr>
                  <a:t>Consider</a:t>
                </a:r>
                <a:r>
                  <a:rPr lang="en-US" sz="2400" b="1" spc="-60" dirty="0">
                    <a:solidFill>
                      <a:srgbClr val="6F2F9F"/>
                    </a:solidFill>
                    <a:latin typeface="Calibri"/>
                    <a:cs typeface="Calibri"/>
                  </a:rPr>
                  <a:t> </a:t>
                </a:r>
                <a:r>
                  <a:rPr lang="en-US" sz="2400" b="1" dirty="0">
                    <a:solidFill>
                      <a:srgbClr val="6F2F9F"/>
                    </a:solidFill>
                    <a:latin typeface="Calibri"/>
                    <a:cs typeface="Calibri"/>
                  </a:rPr>
                  <a:t>an</a:t>
                </a:r>
                <a:r>
                  <a:rPr lang="en-US" sz="2400" b="1" spc="-65" dirty="0">
                    <a:solidFill>
                      <a:srgbClr val="6F2F9F"/>
                    </a:solidFill>
                    <a:latin typeface="Calibri"/>
                    <a:cs typeface="Calibri"/>
                  </a:rPr>
                  <a:t> </a:t>
                </a:r>
                <a:r>
                  <a:rPr lang="en-US" sz="2400" b="1" dirty="0">
                    <a:solidFill>
                      <a:srgbClr val="6F2F9F"/>
                    </a:solidFill>
                    <a:latin typeface="Calibri"/>
                    <a:cs typeface="Calibri"/>
                  </a:rPr>
                  <a:t>FM</a:t>
                </a:r>
                <a:r>
                  <a:rPr lang="en-US" sz="2400" b="1" spc="-70" dirty="0">
                    <a:solidFill>
                      <a:srgbClr val="6F2F9F"/>
                    </a:solidFill>
                    <a:latin typeface="Calibri"/>
                    <a:cs typeface="Calibri"/>
                  </a:rPr>
                  <a:t> </a:t>
                </a:r>
                <a:r>
                  <a:rPr lang="en-US" sz="2400" b="1" spc="-10" dirty="0">
                    <a:solidFill>
                      <a:srgbClr val="6F2F9F"/>
                    </a:solidFill>
                    <a:latin typeface="Calibri"/>
                    <a:cs typeface="Calibri"/>
                  </a:rPr>
                  <a:t>signal:</a:t>
                </a:r>
                <a:endParaRPr lang="en-US" sz="2400" dirty="0">
                  <a:latin typeface="Calibri"/>
                  <a:cs typeface="Calibri"/>
                </a:endParaRPr>
              </a:p>
              <a:p>
                <a:pPr marL="187960" algn="ctr">
                  <a:lnSpc>
                    <a:spcPct val="100000"/>
                  </a:lnSpc>
                  <a:spcBef>
                    <a:spcPts val="10"/>
                  </a:spcBef>
                  <a:tabLst>
                    <a:tab pos="1210310" algn="l"/>
                    <a:tab pos="5112385" algn="l"/>
                    <a:tab pos="7362190" algn="l"/>
                  </a:tabLst>
                </a:pPr>
                <a:r>
                  <a:rPr lang="en-US" sz="2400" dirty="0">
                    <a:latin typeface="Cambria Math"/>
                    <a:cs typeface="Cambria Math"/>
                  </a:rPr>
                  <a:t>⟹</a:t>
                </a:r>
                <a:r>
                  <a:rPr lang="en-US" sz="2400" spc="130" dirty="0">
                    <a:latin typeface="Cambria Math"/>
                    <a:cs typeface="Cambria Math"/>
                  </a:rPr>
                  <a:t> </a:t>
                </a:r>
                <a:r>
                  <a:rPr lang="en-US" sz="2400" dirty="0">
                    <a:latin typeface="Cambria Math"/>
                    <a:cs typeface="Cambria Math"/>
                  </a:rPr>
                  <a:t>𝐟</a:t>
                </a:r>
                <a:r>
                  <a:rPr lang="en-US" sz="2400" spc="455" dirty="0">
                    <a:latin typeface="Cambria Math"/>
                    <a:cs typeface="Cambria Math"/>
                  </a:rPr>
                  <a:t> </a:t>
                </a:r>
                <a:r>
                  <a:rPr lang="en-US" sz="2400" spc="-50" dirty="0">
                    <a:latin typeface="Cambria Math"/>
                    <a:cs typeface="Cambria Math"/>
                  </a:rPr>
                  <a:t>𝐭</a:t>
                </a:r>
                <a:r>
                  <a:rPr lang="en-US" sz="2400" dirty="0">
                    <a:latin typeface="Cambria Math"/>
                    <a:cs typeface="Cambria Math"/>
                  </a:rPr>
                  <a:t>	=</a:t>
                </a:r>
                <a:r>
                  <a:rPr lang="en-US" sz="2400" spc="125" dirty="0">
                    <a:latin typeface="Cambria Math"/>
                    <a:cs typeface="Cambria Math"/>
                  </a:rPr>
                  <a:t> </a:t>
                </a:r>
                <a:r>
                  <a:rPr lang="en-US" sz="2400" dirty="0">
                    <a:latin typeface="Cambria Math"/>
                    <a:cs typeface="Cambria Math"/>
                  </a:rPr>
                  <a:t>𝐜𝐨𝐬</a:t>
                </a:r>
                <a:r>
                  <a:rPr lang="en-US" sz="2400" spc="445" dirty="0">
                    <a:latin typeface="Cambria Math"/>
                    <a:cs typeface="Cambria Math"/>
                  </a:rPr>
                  <a:t> </a:t>
                </a:r>
                <a:r>
                  <a:rPr lang="en-US" sz="2400" dirty="0">
                    <a:latin typeface="Cambria Math"/>
                    <a:cs typeface="Cambria Math"/>
                  </a:rPr>
                  <a:t>𝟐𝛑𝐟</a:t>
                </a:r>
                <a:r>
                  <a:rPr lang="en-US" sz="2625" baseline="-15873" dirty="0">
                    <a:latin typeface="Cambria Math"/>
                    <a:cs typeface="Cambria Math"/>
                  </a:rPr>
                  <a:t>𝐜</a:t>
                </a:r>
                <a:r>
                  <a:rPr lang="en-US" sz="2400" dirty="0">
                    <a:latin typeface="Cambria Math"/>
                    <a:cs typeface="Cambria Math"/>
                  </a:rPr>
                  <a:t>𝐭</a:t>
                </a:r>
                <a:r>
                  <a:rPr lang="en-US" sz="2400" spc="-10" dirty="0">
                    <a:latin typeface="Cambria Math"/>
                    <a:cs typeface="Cambria Math"/>
                  </a:rPr>
                  <a:t> </a:t>
                </a:r>
                <a:r>
                  <a:rPr lang="en-US" sz="2400" dirty="0">
                    <a:latin typeface="Cambria Math"/>
                    <a:cs typeface="Cambria Math"/>
                  </a:rPr>
                  <a:t>+</a:t>
                </a:r>
                <a:r>
                  <a:rPr lang="en-US" sz="2400" spc="-5" dirty="0">
                    <a:latin typeface="Cambria Math"/>
                    <a:cs typeface="Cambria Math"/>
                  </a:rPr>
                  <a:t> </a:t>
                </a:r>
                <a:r>
                  <a:rPr lang="en-US" sz="2400" dirty="0">
                    <a:latin typeface="Cambria Math"/>
                    <a:cs typeface="Cambria Math"/>
                  </a:rPr>
                  <a:t>𝛃</a:t>
                </a:r>
                <a:r>
                  <a:rPr lang="en-US" sz="2625" baseline="-15873" dirty="0">
                    <a:latin typeface="Cambria Math"/>
                    <a:cs typeface="Cambria Math"/>
                  </a:rPr>
                  <a:t>𝟏</a:t>
                </a:r>
                <a:r>
                  <a:rPr lang="en-US" sz="2625" spc="165" baseline="-15873" dirty="0">
                    <a:latin typeface="Cambria Math"/>
                    <a:cs typeface="Cambria Math"/>
                  </a:rPr>
                  <a:t> </a:t>
                </a:r>
                <a:r>
                  <a:rPr lang="en-US" sz="2400" dirty="0">
                    <a:latin typeface="Cambria Math"/>
                    <a:cs typeface="Cambria Math"/>
                  </a:rPr>
                  <a:t>𝐬𝐢𝐧</a:t>
                </a:r>
                <a:r>
                  <a:rPr lang="en-US" sz="2400" spc="445" dirty="0">
                    <a:latin typeface="Cambria Math"/>
                    <a:cs typeface="Cambria Math"/>
                  </a:rPr>
                  <a:t> </a:t>
                </a:r>
                <a:r>
                  <a:rPr lang="en-US" sz="2400" spc="-10" dirty="0">
                    <a:latin typeface="Cambria Math"/>
                    <a:cs typeface="Cambria Math"/>
                  </a:rPr>
                  <a:t>𝟐𝛑𝐟</a:t>
                </a:r>
                <a:r>
                  <a:rPr lang="en-US" sz="2625" spc="-15" baseline="-15873" dirty="0">
                    <a:latin typeface="Cambria Math"/>
                    <a:cs typeface="Cambria Math"/>
                  </a:rPr>
                  <a:t>𝟏</a:t>
                </a:r>
                <a:r>
                  <a:rPr lang="en-US" sz="2400" spc="-10" dirty="0">
                    <a:latin typeface="Cambria Math"/>
                    <a:cs typeface="Cambria Math"/>
                  </a:rPr>
                  <a:t>𝐭</a:t>
                </a:r>
                <a:r>
                  <a:rPr lang="en-US" sz="2400" dirty="0">
                    <a:latin typeface="Cambria Math"/>
                    <a:cs typeface="Cambria Math"/>
                  </a:rPr>
                  <a:t>	+</a:t>
                </a:r>
                <a:r>
                  <a:rPr lang="en-US" sz="2400" spc="-10" dirty="0">
                    <a:latin typeface="Cambria Math"/>
                    <a:cs typeface="Cambria Math"/>
                  </a:rPr>
                  <a:t> </a:t>
                </a:r>
                <a:r>
                  <a:rPr lang="en-US" sz="2400" dirty="0">
                    <a:latin typeface="Cambria Math"/>
                    <a:cs typeface="Cambria Math"/>
                  </a:rPr>
                  <a:t>𝛃</a:t>
                </a:r>
                <a:r>
                  <a:rPr lang="en-US" sz="2625" baseline="-15873" dirty="0">
                    <a:latin typeface="Cambria Math"/>
                    <a:cs typeface="Cambria Math"/>
                  </a:rPr>
                  <a:t>𝟐</a:t>
                </a:r>
                <a:r>
                  <a:rPr lang="en-US" sz="2625" spc="150" baseline="-15873" dirty="0">
                    <a:latin typeface="Cambria Math"/>
                    <a:cs typeface="Cambria Math"/>
                  </a:rPr>
                  <a:t> </a:t>
                </a:r>
                <a:r>
                  <a:rPr lang="en-US" sz="2400" dirty="0">
                    <a:latin typeface="Cambria Math"/>
                    <a:cs typeface="Cambria Math"/>
                  </a:rPr>
                  <a:t>𝐬𝐢𝐧</a:t>
                </a:r>
                <a:r>
                  <a:rPr lang="en-US" sz="2400" spc="434" dirty="0">
                    <a:latin typeface="Cambria Math"/>
                    <a:cs typeface="Cambria Math"/>
                  </a:rPr>
                  <a:t> </a:t>
                </a:r>
                <a:r>
                  <a:rPr lang="en-US" sz="2400" spc="-10" dirty="0">
                    <a:latin typeface="Cambria Math"/>
                    <a:cs typeface="Cambria Math"/>
                  </a:rPr>
                  <a:t>𝟐𝛑𝐟</a:t>
                </a:r>
                <a:r>
                  <a:rPr lang="en-US" sz="2625" spc="-15" baseline="-15873" dirty="0">
                    <a:latin typeface="Cambria Math"/>
                    <a:cs typeface="Cambria Math"/>
                  </a:rPr>
                  <a:t>𝟐</a:t>
                </a:r>
                <a:r>
                  <a:rPr lang="en-US" sz="2400" spc="-10" dirty="0">
                    <a:latin typeface="Cambria Math"/>
                    <a:cs typeface="Cambria Math"/>
                  </a:rPr>
                  <a:t>𝐭</a:t>
                </a:r>
                <a:r>
                  <a:rPr lang="en-US" sz="2400" dirty="0">
                    <a:latin typeface="Cambria Math"/>
                    <a:cs typeface="Cambria Math"/>
                  </a:rPr>
                  <a:t>	</a:t>
                </a:r>
                <a:r>
                  <a:rPr lang="en-US" sz="2400" spc="-20" dirty="0">
                    <a:latin typeface="Cambria Math"/>
                    <a:cs typeface="Cambria Math"/>
                  </a:rPr>
                  <a:t>𝐕𝐨𝐥𝐭</a:t>
                </a:r>
                <a:endParaRPr lang="en-US" sz="2400" dirty="0">
                  <a:latin typeface="Cambria Math"/>
                  <a:cs typeface="Cambria Math"/>
                </a:endParaRPr>
              </a:p>
              <a:p>
                <a:pPr marL="76200">
                  <a:lnSpc>
                    <a:spcPct val="100000"/>
                  </a:lnSpc>
                  <a:spcBef>
                    <a:spcPts val="5"/>
                  </a:spcBef>
                </a:pPr>
                <a:r>
                  <a:rPr lang="en-US" sz="2400" b="1" dirty="0">
                    <a:solidFill>
                      <a:srgbClr val="6F2F9F"/>
                    </a:solidFill>
                    <a:latin typeface="Calibri"/>
                    <a:cs typeface="Calibri"/>
                  </a:rPr>
                  <a:t>Here f(t) is a multi-tone FM signal with 2 modulation indexes (i.e., </a:t>
                </a:r>
                <a14:m>
                  <m:oMath xmlns:m="http://schemas.openxmlformats.org/officeDocument/2006/math">
                    <m:sSub>
                      <m:sSubPr>
                        <m:ctrlPr>
                          <a:rPr lang="en-US" sz="2400" b="1" i="1" smtClean="0">
                            <a:solidFill>
                              <a:srgbClr val="6F2F9F"/>
                            </a:solidFill>
                            <a:latin typeface="Cambria Math" panose="02040503050406030204" pitchFamily="18" charset="0"/>
                            <a:cs typeface="Calibri"/>
                          </a:rPr>
                        </m:ctrlPr>
                      </m:sSubPr>
                      <m:e>
                        <m:r>
                          <a:rPr lang="en-US" sz="2400" b="1" i="1" smtClean="0">
                            <a:solidFill>
                              <a:srgbClr val="6F2F9F"/>
                            </a:solidFill>
                            <a:latin typeface="Cambria Math" panose="02040503050406030204" pitchFamily="18" charset="0"/>
                            <a:cs typeface="Calibri"/>
                          </a:rPr>
                          <m:t>𝜷</m:t>
                        </m:r>
                      </m:e>
                      <m:sub>
                        <m:r>
                          <a:rPr lang="en-US" sz="2400" b="1" i="1" smtClean="0">
                            <a:solidFill>
                              <a:srgbClr val="6F2F9F"/>
                            </a:solidFill>
                            <a:latin typeface="Cambria Math" panose="02040503050406030204" pitchFamily="18" charset="0"/>
                            <a:cs typeface="Calibri"/>
                          </a:rPr>
                          <m:t>𝟏</m:t>
                        </m:r>
                      </m:sub>
                    </m:sSub>
                    <m:r>
                      <a:rPr lang="en-US" sz="2400" b="1" i="1" smtClean="0">
                        <a:solidFill>
                          <a:srgbClr val="6F2F9F"/>
                        </a:solidFill>
                        <a:latin typeface="Cambria Math" panose="02040503050406030204" pitchFamily="18" charset="0"/>
                        <a:cs typeface="Calibri"/>
                      </a:rPr>
                      <m:t> </m:t>
                    </m:r>
                    <m:r>
                      <a:rPr lang="en-US" sz="2400" b="1" i="1" smtClean="0">
                        <a:solidFill>
                          <a:srgbClr val="6F2F9F"/>
                        </a:solidFill>
                        <a:latin typeface="Cambria Math" panose="02040503050406030204" pitchFamily="18" charset="0"/>
                        <a:cs typeface="Calibri"/>
                      </a:rPr>
                      <m:t>𝒂𝒏𝒅</m:t>
                    </m:r>
                    <m:r>
                      <a:rPr lang="en-US" sz="2400" b="1" i="1" smtClean="0">
                        <a:solidFill>
                          <a:srgbClr val="6F2F9F"/>
                        </a:solidFill>
                        <a:latin typeface="Cambria Math" panose="02040503050406030204" pitchFamily="18" charset="0"/>
                        <a:cs typeface="Calibri"/>
                      </a:rPr>
                      <m:t> </m:t>
                    </m:r>
                    <m:sSub>
                      <m:sSubPr>
                        <m:ctrlPr>
                          <a:rPr lang="en-US" sz="2400" b="1" i="1" smtClean="0">
                            <a:solidFill>
                              <a:srgbClr val="6F2F9F"/>
                            </a:solidFill>
                            <a:latin typeface="Cambria Math" panose="02040503050406030204" pitchFamily="18" charset="0"/>
                            <a:cs typeface="Calibri"/>
                          </a:rPr>
                        </m:ctrlPr>
                      </m:sSubPr>
                      <m:e>
                        <m:r>
                          <a:rPr lang="en-US" sz="2400" b="1" i="1" smtClean="0">
                            <a:solidFill>
                              <a:srgbClr val="6F2F9F"/>
                            </a:solidFill>
                            <a:latin typeface="Cambria Math" panose="02040503050406030204" pitchFamily="18" charset="0"/>
                            <a:cs typeface="Calibri"/>
                          </a:rPr>
                          <m:t>𝜷</m:t>
                        </m:r>
                      </m:e>
                      <m:sub>
                        <m:r>
                          <a:rPr lang="en-US" sz="2400" b="1" i="1" smtClean="0">
                            <a:solidFill>
                              <a:srgbClr val="6F2F9F"/>
                            </a:solidFill>
                            <a:latin typeface="Cambria Math" panose="02040503050406030204" pitchFamily="18" charset="0"/>
                            <a:cs typeface="Calibri"/>
                          </a:rPr>
                          <m:t>𝟐</m:t>
                        </m:r>
                      </m:sub>
                    </m:sSub>
                  </m:oMath>
                </a14:m>
                <a:r>
                  <a:rPr lang="en-US" sz="2400" b="1" dirty="0">
                    <a:solidFill>
                      <a:srgbClr val="6F2F9F"/>
                    </a:solidFill>
                    <a:latin typeface="Calibri"/>
                    <a:cs typeface="Calibri"/>
                  </a:rPr>
                  <a:t>)</a:t>
                </a:r>
              </a:p>
              <a:p>
                <a:pPr marL="76200">
                  <a:lnSpc>
                    <a:spcPct val="100000"/>
                  </a:lnSpc>
                  <a:spcBef>
                    <a:spcPts val="5"/>
                  </a:spcBef>
                </a:pPr>
                <a:r>
                  <a:rPr lang="en-US" sz="2400" b="1" dirty="0">
                    <a:solidFill>
                      <a:srgbClr val="6F2F9F"/>
                    </a:solidFill>
                    <a:latin typeface="Calibri"/>
                    <a:cs typeface="Calibri"/>
                  </a:rPr>
                  <a:t>The</a:t>
                </a:r>
                <a:r>
                  <a:rPr lang="en-US" sz="2400" b="1" spc="-75" dirty="0">
                    <a:solidFill>
                      <a:srgbClr val="6F2F9F"/>
                    </a:solidFill>
                    <a:latin typeface="Calibri"/>
                    <a:cs typeface="Calibri"/>
                  </a:rPr>
                  <a:t> </a:t>
                </a:r>
                <a:r>
                  <a:rPr lang="en-US" sz="2400" b="1" dirty="0">
                    <a:solidFill>
                      <a:srgbClr val="6F2F9F"/>
                    </a:solidFill>
                    <a:latin typeface="Calibri"/>
                    <a:cs typeface="Calibri"/>
                  </a:rPr>
                  <a:t>maximum</a:t>
                </a:r>
                <a:r>
                  <a:rPr lang="en-US" sz="2400" b="1" spc="-95" dirty="0">
                    <a:solidFill>
                      <a:srgbClr val="6F2F9F"/>
                    </a:solidFill>
                    <a:latin typeface="Calibri"/>
                    <a:cs typeface="Calibri"/>
                  </a:rPr>
                  <a:t> </a:t>
                </a:r>
                <a:r>
                  <a:rPr lang="en-US" sz="2400" b="1" dirty="0">
                    <a:solidFill>
                      <a:srgbClr val="6F2F9F"/>
                    </a:solidFill>
                    <a:latin typeface="Calibri"/>
                    <a:cs typeface="Calibri"/>
                  </a:rPr>
                  <a:t>deviation</a:t>
                </a:r>
                <a:r>
                  <a:rPr lang="en-US" sz="2400" b="1" spc="-60" dirty="0">
                    <a:solidFill>
                      <a:srgbClr val="6F2F9F"/>
                    </a:solidFill>
                    <a:latin typeface="Calibri"/>
                    <a:cs typeface="Calibri"/>
                  </a:rPr>
                  <a:t> </a:t>
                </a:r>
                <a:r>
                  <a:rPr lang="en-US" sz="2400" b="1" dirty="0">
                    <a:solidFill>
                      <a:srgbClr val="6F2F9F"/>
                    </a:solidFill>
                    <a:latin typeface="Calibri"/>
                    <a:cs typeface="Calibri"/>
                  </a:rPr>
                  <a:t>of</a:t>
                </a:r>
                <a:r>
                  <a:rPr lang="en-US" sz="2400" b="1" spc="-90" dirty="0">
                    <a:solidFill>
                      <a:srgbClr val="6F2F9F"/>
                    </a:solidFill>
                    <a:latin typeface="Calibri"/>
                    <a:cs typeface="Calibri"/>
                  </a:rPr>
                  <a:t> </a:t>
                </a:r>
                <a:r>
                  <a:rPr lang="en-US" sz="2400" b="1" spc="-10" dirty="0">
                    <a:solidFill>
                      <a:srgbClr val="6F2F9F"/>
                    </a:solidFill>
                    <a:latin typeface="Calibri"/>
                    <a:cs typeface="Calibri"/>
                  </a:rPr>
                  <a:t>instantaneous</a:t>
                </a:r>
                <a:r>
                  <a:rPr lang="en-US" sz="2400" b="1" spc="-55" dirty="0">
                    <a:solidFill>
                      <a:srgbClr val="6F2F9F"/>
                    </a:solidFill>
                    <a:latin typeface="Calibri"/>
                    <a:cs typeface="Calibri"/>
                  </a:rPr>
                  <a:t> </a:t>
                </a:r>
                <a:r>
                  <a:rPr lang="en-US" sz="2400" b="1" dirty="0">
                    <a:solidFill>
                      <a:srgbClr val="6F2F9F"/>
                    </a:solidFill>
                    <a:latin typeface="Calibri"/>
                    <a:cs typeface="Calibri"/>
                  </a:rPr>
                  <a:t>frequency</a:t>
                </a:r>
                <a:r>
                  <a:rPr lang="en-US" sz="2400" b="1" spc="-75" dirty="0">
                    <a:solidFill>
                      <a:srgbClr val="6F2F9F"/>
                    </a:solidFill>
                    <a:latin typeface="Calibri"/>
                    <a:cs typeface="Calibri"/>
                  </a:rPr>
                  <a:t> </a:t>
                </a:r>
                <a:r>
                  <a:rPr lang="en-US" sz="2400" b="1" dirty="0">
                    <a:solidFill>
                      <a:srgbClr val="6F2F9F"/>
                    </a:solidFill>
                    <a:latin typeface="Calibri"/>
                    <a:cs typeface="Calibri"/>
                  </a:rPr>
                  <a:t>from</a:t>
                </a:r>
                <a:r>
                  <a:rPr lang="en-US" sz="2400" b="1" spc="-75" dirty="0">
                    <a:solidFill>
                      <a:srgbClr val="6F2F9F"/>
                    </a:solidFill>
                    <a:latin typeface="Calibri"/>
                    <a:cs typeface="Calibri"/>
                  </a:rPr>
                  <a:t> </a:t>
                </a:r>
                <a:r>
                  <a:rPr lang="en-US" sz="2400" b="1" dirty="0">
                    <a:solidFill>
                      <a:srgbClr val="6F2F9F"/>
                    </a:solidFill>
                    <a:latin typeface="Calibri"/>
                    <a:cs typeface="Calibri"/>
                  </a:rPr>
                  <a:t>the</a:t>
                </a:r>
                <a:r>
                  <a:rPr lang="en-US" sz="2400" b="1" spc="-60" dirty="0">
                    <a:solidFill>
                      <a:srgbClr val="6F2F9F"/>
                    </a:solidFill>
                    <a:latin typeface="Calibri"/>
                    <a:cs typeface="Calibri"/>
                  </a:rPr>
                  <a:t> </a:t>
                </a:r>
                <a:r>
                  <a:rPr lang="en-US" sz="2400" b="1" dirty="0">
                    <a:solidFill>
                      <a:srgbClr val="6F2F9F"/>
                    </a:solidFill>
                    <a:latin typeface="Calibri"/>
                    <a:cs typeface="Calibri"/>
                  </a:rPr>
                  <a:t>carrier</a:t>
                </a:r>
                <a:r>
                  <a:rPr lang="en-US" sz="2400" b="1" spc="-90" dirty="0">
                    <a:solidFill>
                      <a:srgbClr val="6F2F9F"/>
                    </a:solidFill>
                    <a:latin typeface="Calibri"/>
                    <a:cs typeface="Calibri"/>
                  </a:rPr>
                  <a:t> </a:t>
                </a:r>
                <a:r>
                  <a:rPr lang="en-US" sz="2400" b="1" dirty="0">
                    <a:solidFill>
                      <a:srgbClr val="6F2F9F"/>
                    </a:solidFill>
                    <a:latin typeface="Calibri"/>
                    <a:cs typeface="Calibri"/>
                  </a:rPr>
                  <a:t>frequency</a:t>
                </a:r>
                <a:r>
                  <a:rPr lang="en-US" sz="2400" b="1" spc="-75" dirty="0">
                    <a:solidFill>
                      <a:srgbClr val="6F2F9F"/>
                    </a:solidFill>
                    <a:latin typeface="Calibri"/>
                    <a:cs typeface="Calibri"/>
                  </a:rPr>
                  <a:t> </a:t>
                </a:r>
                <a:r>
                  <a:rPr lang="en-US" sz="2400" dirty="0">
                    <a:solidFill>
                      <a:srgbClr val="6F2F9F"/>
                    </a:solidFill>
                    <a:latin typeface="Cambria Math"/>
                    <a:cs typeface="Cambria Math"/>
                  </a:rPr>
                  <a:t>𝐟</a:t>
                </a:r>
                <a:r>
                  <a:rPr lang="en-US" sz="2625" baseline="-15873" dirty="0">
                    <a:solidFill>
                      <a:srgbClr val="6F2F9F"/>
                    </a:solidFill>
                    <a:latin typeface="Cambria Math"/>
                    <a:cs typeface="Cambria Math"/>
                  </a:rPr>
                  <a:t>𝐜</a:t>
                </a:r>
                <a:r>
                  <a:rPr lang="en-US" sz="2625" spc="270" baseline="-15873" dirty="0">
                    <a:solidFill>
                      <a:srgbClr val="6F2F9F"/>
                    </a:solidFill>
                    <a:latin typeface="Cambria Math"/>
                    <a:cs typeface="Cambria Math"/>
                  </a:rPr>
                  <a:t> </a:t>
                </a:r>
                <a:r>
                  <a:rPr lang="en-US" sz="2400" b="1" dirty="0">
                    <a:solidFill>
                      <a:srgbClr val="6F2F9F"/>
                    </a:solidFill>
                    <a:latin typeface="Calibri"/>
                    <a:cs typeface="Calibri"/>
                  </a:rPr>
                  <a:t>is</a:t>
                </a:r>
                <a:r>
                  <a:rPr lang="en-US" sz="2400" b="1" spc="-75" dirty="0">
                    <a:solidFill>
                      <a:srgbClr val="6F2F9F"/>
                    </a:solidFill>
                    <a:latin typeface="Calibri"/>
                    <a:cs typeface="Calibri"/>
                  </a:rPr>
                  <a:t> </a:t>
                </a:r>
                <a:r>
                  <a:rPr lang="en-US" sz="2400" b="1" spc="-10" dirty="0">
                    <a:solidFill>
                      <a:srgbClr val="6F2F9F"/>
                    </a:solidFill>
                    <a:latin typeface="Calibri"/>
                    <a:cs typeface="Calibri"/>
                  </a:rPr>
                  <a:t>…………?</a:t>
                </a:r>
                <a:endParaRPr sz="2400" dirty="0">
                  <a:latin typeface="Calibri"/>
                  <a:cs typeface="Calibri"/>
                </a:endParaRPr>
              </a:p>
            </p:txBody>
          </p:sp>
        </mc:Choice>
        <mc:Fallback>
          <p:sp>
            <p:nvSpPr>
              <p:cNvPr id="3" name="object 3"/>
              <p:cNvSpPr txBox="1">
                <a:spLocks noRot="1" noChangeAspect="1" noMove="1" noResize="1" noEditPoints="1" noAdjustHandles="1" noChangeArrowheads="1" noChangeShapeType="1" noTextEdit="1"/>
              </p:cNvSpPr>
              <p:nvPr/>
            </p:nvSpPr>
            <p:spPr>
              <a:xfrm>
                <a:off x="158495" y="73278"/>
                <a:ext cx="11716385" cy="1490152"/>
              </a:xfrm>
              <a:prstGeom prst="rect">
                <a:avLst/>
              </a:prstGeom>
              <a:blipFill>
                <a:blip r:embed="rId2"/>
                <a:stretch>
                  <a:fillRect l="-884" t="-5328" r="-989" b="-11885"/>
                </a:stretch>
              </a:blipFill>
            </p:spPr>
            <p:txBody>
              <a:bodyPr/>
              <a:lstStyle/>
              <a:p>
                <a:r>
                  <a:rPr lang="en-US">
                    <a:noFill/>
                  </a:rPr>
                  <a:t> </a:t>
                </a:r>
              </a:p>
            </p:txBody>
          </p:sp>
        </mc:Fallback>
      </mc:AlternateContent>
      <p:pic>
        <p:nvPicPr>
          <p:cNvPr id="4" name="object 4"/>
          <p:cNvPicPr/>
          <p:nvPr/>
        </p:nvPicPr>
        <p:blipFill rotWithShape="1">
          <a:blip r:embed="rId3" cstate="print"/>
          <a:srcRect t="20000" b="25555"/>
          <a:stretch/>
        </p:blipFill>
        <p:spPr>
          <a:xfrm>
            <a:off x="0" y="1981200"/>
            <a:ext cx="12192000" cy="3733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71676" y="515746"/>
            <a:ext cx="9258300" cy="368300"/>
          </a:xfrm>
          <a:custGeom>
            <a:avLst/>
            <a:gdLst/>
            <a:ahLst/>
            <a:cxnLst/>
            <a:rect l="l" t="t" r="r" b="b"/>
            <a:pathLst>
              <a:path w="9258300" h="368300">
                <a:moveTo>
                  <a:pt x="93980" y="55372"/>
                </a:moveTo>
                <a:lnTo>
                  <a:pt x="90043" y="43942"/>
                </a:lnTo>
                <a:lnTo>
                  <a:pt x="69507" y="51333"/>
                </a:lnTo>
                <a:lnTo>
                  <a:pt x="51536" y="62026"/>
                </a:lnTo>
                <a:lnTo>
                  <a:pt x="23241" y="93345"/>
                </a:lnTo>
                <a:lnTo>
                  <a:pt x="5803" y="135356"/>
                </a:lnTo>
                <a:lnTo>
                  <a:pt x="76" y="183642"/>
                </a:lnTo>
                <a:lnTo>
                  <a:pt x="0" y="185166"/>
                </a:lnTo>
                <a:lnTo>
                  <a:pt x="1447" y="211112"/>
                </a:lnTo>
                <a:lnTo>
                  <a:pt x="13017" y="256933"/>
                </a:lnTo>
                <a:lnTo>
                  <a:pt x="36017" y="294170"/>
                </a:lnTo>
                <a:lnTo>
                  <a:pt x="69494" y="318884"/>
                </a:lnTo>
                <a:lnTo>
                  <a:pt x="90043" y="326263"/>
                </a:lnTo>
                <a:lnTo>
                  <a:pt x="93599" y="314833"/>
                </a:lnTo>
                <a:lnTo>
                  <a:pt x="77470" y="307670"/>
                </a:lnTo>
                <a:lnTo>
                  <a:pt x="63576" y="297738"/>
                </a:lnTo>
                <a:lnTo>
                  <a:pt x="35077" y="251498"/>
                </a:lnTo>
                <a:lnTo>
                  <a:pt x="26695" y="208584"/>
                </a:lnTo>
                <a:lnTo>
                  <a:pt x="25654" y="183642"/>
                </a:lnTo>
                <a:lnTo>
                  <a:pt x="26695" y="159575"/>
                </a:lnTo>
                <a:lnTo>
                  <a:pt x="35077" y="117805"/>
                </a:lnTo>
                <a:lnTo>
                  <a:pt x="63665" y="72250"/>
                </a:lnTo>
                <a:lnTo>
                  <a:pt x="77685" y="62458"/>
                </a:lnTo>
                <a:lnTo>
                  <a:pt x="93980" y="55372"/>
                </a:lnTo>
                <a:close/>
              </a:path>
              <a:path w="9258300" h="368300">
                <a:moveTo>
                  <a:pt x="315214" y="185166"/>
                </a:moveTo>
                <a:lnTo>
                  <a:pt x="313766" y="159575"/>
                </a:lnTo>
                <a:lnTo>
                  <a:pt x="313753" y="159283"/>
                </a:lnTo>
                <a:lnTo>
                  <a:pt x="309384" y="135356"/>
                </a:lnTo>
                <a:lnTo>
                  <a:pt x="291846" y="93345"/>
                </a:lnTo>
                <a:lnTo>
                  <a:pt x="263550" y="62026"/>
                </a:lnTo>
                <a:lnTo>
                  <a:pt x="225171" y="43942"/>
                </a:lnTo>
                <a:lnTo>
                  <a:pt x="221107" y="55372"/>
                </a:lnTo>
                <a:lnTo>
                  <a:pt x="237464" y="62458"/>
                </a:lnTo>
                <a:lnTo>
                  <a:pt x="251523" y="72250"/>
                </a:lnTo>
                <a:lnTo>
                  <a:pt x="280047" y="117805"/>
                </a:lnTo>
                <a:lnTo>
                  <a:pt x="288340" y="159283"/>
                </a:lnTo>
                <a:lnTo>
                  <a:pt x="289433" y="183642"/>
                </a:lnTo>
                <a:lnTo>
                  <a:pt x="288378" y="208584"/>
                </a:lnTo>
                <a:lnTo>
                  <a:pt x="279996" y="251498"/>
                </a:lnTo>
                <a:lnTo>
                  <a:pt x="251523" y="297738"/>
                </a:lnTo>
                <a:lnTo>
                  <a:pt x="221615" y="314833"/>
                </a:lnTo>
                <a:lnTo>
                  <a:pt x="225171" y="326263"/>
                </a:lnTo>
                <a:lnTo>
                  <a:pt x="263664" y="308190"/>
                </a:lnTo>
                <a:lnTo>
                  <a:pt x="291973" y="276860"/>
                </a:lnTo>
                <a:lnTo>
                  <a:pt x="309397" y="235013"/>
                </a:lnTo>
                <a:lnTo>
                  <a:pt x="313753" y="211112"/>
                </a:lnTo>
                <a:lnTo>
                  <a:pt x="315214" y="185166"/>
                </a:lnTo>
                <a:close/>
              </a:path>
              <a:path w="9258300" h="368300">
                <a:moveTo>
                  <a:pt x="1750949" y="12192"/>
                </a:moveTo>
                <a:lnTo>
                  <a:pt x="1747139" y="0"/>
                </a:lnTo>
                <a:lnTo>
                  <a:pt x="1725295" y="8534"/>
                </a:lnTo>
                <a:lnTo>
                  <a:pt x="1706092" y="21907"/>
                </a:lnTo>
                <a:lnTo>
                  <a:pt x="1675638" y="63246"/>
                </a:lnTo>
                <a:lnTo>
                  <a:pt x="1656778" y="118986"/>
                </a:lnTo>
                <a:lnTo>
                  <a:pt x="1650492" y="184277"/>
                </a:lnTo>
                <a:lnTo>
                  <a:pt x="1651990" y="216547"/>
                </a:lnTo>
                <a:lnTo>
                  <a:pt x="1664627" y="278244"/>
                </a:lnTo>
                <a:lnTo>
                  <a:pt x="1689531" y="328028"/>
                </a:lnTo>
                <a:lnTo>
                  <a:pt x="1725295" y="359651"/>
                </a:lnTo>
                <a:lnTo>
                  <a:pt x="1747139" y="368173"/>
                </a:lnTo>
                <a:lnTo>
                  <a:pt x="1750949" y="355981"/>
                </a:lnTo>
                <a:lnTo>
                  <a:pt x="1734019" y="347218"/>
                </a:lnTo>
                <a:lnTo>
                  <a:pt x="1719262" y="334454"/>
                </a:lnTo>
                <a:lnTo>
                  <a:pt x="1696339" y="296926"/>
                </a:lnTo>
                <a:lnTo>
                  <a:pt x="1682445" y="246087"/>
                </a:lnTo>
                <a:lnTo>
                  <a:pt x="1677797" y="184277"/>
                </a:lnTo>
                <a:lnTo>
                  <a:pt x="1678952" y="151930"/>
                </a:lnTo>
                <a:lnTo>
                  <a:pt x="1688236" y="95402"/>
                </a:lnTo>
                <a:lnTo>
                  <a:pt x="1706689" y="50482"/>
                </a:lnTo>
                <a:lnTo>
                  <a:pt x="1734019" y="20955"/>
                </a:lnTo>
                <a:lnTo>
                  <a:pt x="1750949" y="12192"/>
                </a:lnTo>
                <a:close/>
              </a:path>
              <a:path w="9258300" h="368300">
                <a:moveTo>
                  <a:pt x="4274312" y="55372"/>
                </a:moveTo>
                <a:lnTo>
                  <a:pt x="4270375" y="43942"/>
                </a:lnTo>
                <a:lnTo>
                  <a:pt x="4249839" y="51333"/>
                </a:lnTo>
                <a:lnTo>
                  <a:pt x="4231868" y="62026"/>
                </a:lnTo>
                <a:lnTo>
                  <a:pt x="4203573" y="93345"/>
                </a:lnTo>
                <a:lnTo>
                  <a:pt x="4186136" y="135356"/>
                </a:lnTo>
                <a:lnTo>
                  <a:pt x="4180408" y="183642"/>
                </a:lnTo>
                <a:lnTo>
                  <a:pt x="4180332" y="185166"/>
                </a:lnTo>
                <a:lnTo>
                  <a:pt x="4181779" y="211112"/>
                </a:lnTo>
                <a:lnTo>
                  <a:pt x="4193349" y="256933"/>
                </a:lnTo>
                <a:lnTo>
                  <a:pt x="4216349" y="294170"/>
                </a:lnTo>
                <a:lnTo>
                  <a:pt x="4249826" y="318884"/>
                </a:lnTo>
                <a:lnTo>
                  <a:pt x="4270375" y="326263"/>
                </a:lnTo>
                <a:lnTo>
                  <a:pt x="4273931" y="314833"/>
                </a:lnTo>
                <a:lnTo>
                  <a:pt x="4257802" y="307670"/>
                </a:lnTo>
                <a:lnTo>
                  <a:pt x="4243908" y="297738"/>
                </a:lnTo>
                <a:lnTo>
                  <a:pt x="4215409" y="251498"/>
                </a:lnTo>
                <a:lnTo>
                  <a:pt x="4207027" y="208584"/>
                </a:lnTo>
                <a:lnTo>
                  <a:pt x="4205986" y="183642"/>
                </a:lnTo>
                <a:lnTo>
                  <a:pt x="4207027" y="159575"/>
                </a:lnTo>
                <a:lnTo>
                  <a:pt x="4215409" y="117805"/>
                </a:lnTo>
                <a:lnTo>
                  <a:pt x="4243997" y="72250"/>
                </a:lnTo>
                <a:lnTo>
                  <a:pt x="4258018" y="62458"/>
                </a:lnTo>
                <a:lnTo>
                  <a:pt x="4274312" y="55372"/>
                </a:lnTo>
                <a:close/>
              </a:path>
              <a:path w="9258300" h="368300">
                <a:moveTo>
                  <a:pt x="5961634" y="185166"/>
                </a:moveTo>
                <a:lnTo>
                  <a:pt x="5960186" y="159575"/>
                </a:lnTo>
                <a:lnTo>
                  <a:pt x="5960173" y="159283"/>
                </a:lnTo>
                <a:lnTo>
                  <a:pt x="5955804" y="135356"/>
                </a:lnTo>
                <a:lnTo>
                  <a:pt x="5938266" y="93345"/>
                </a:lnTo>
                <a:lnTo>
                  <a:pt x="5909970" y="62026"/>
                </a:lnTo>
                <a:lnTo>
                  <a:pt x="5871591" y="43942"/>
                </a:lnTo>
                <a:lnTo>
                  <a:pt x="5867527" y="55372"/>
                </a:lnTo>
                <a:lnTo>
                  <a:pt x="5883884" y="62458"/>
                </a:lnTo>
                <a:lnTo>
                  <a:pt x="5897943" y="72250"/>
                </a:lnTo>
                <a:lnTo>
                  <a:pt x="5926467" y="117805"/>
                </a:lnTo>
                <a:lnTo>
                  <a:pt x="5934761" y="159283"/>
                </a:lnTo>
                <a:lnTo>
                  <a:pt x="5935853" y="183642"/>
                </a:lnTo>
                <a:lnTo>
                  <a:pt x="5934799" y="208584"/>
                </a:lnTo>
                <a:lnTo>
                  <a:pt x="5926417" y="251498"/>
                </a:lnTo>
                <a:lnTo>
                  <a:pt x="5897943" y="297738"/>
                </a:lnTo>
                <a:lnTo>
                  <a:pt x="5868035" y="314833"/>
                </a:lnTo>
                <a:lnTo>
                  <a:pt x="5871591" y="326263"/>
                </a:lnTo>
                <a:lnTo>
                  <a:pt x="5910084" y="308190"/>
                </a:lnTo>
                <a:lnTo>
                  <a:pt x="5938393" y="276860"/>
                </a:lnTo>
                <a:lnTo>
                  <a:pt x="5955817" y="235013"/>
                </a:lnTo>
                <a:lnTo>
                  <a:pt x="5960173" y="211112"/>
                </a:lnTo>
                <a:lnTo>
                  <a:pt x="5961634" y="185166"/>
                </a:lnTo>
                <a:close/>
              </a:path>
              <a:path w="9258300" h="368300">
                <a:moveTo>
                  <a:pt x="7433564" y="55372"/>
                </a:moveTo>
                <a:lnTo>
                  <a:pt x="7429627" y="43942"/>
                </a:lnTo>
                <a:lnTo>
                  <a:pt x="7409091" y="51333"/>
                </a:lnTo>
                <a:lnTo>
                  <a:pt x="7391120" y="62026"/>
                </a:lnTo>
                <a:lnTo>
                  <a:pt x="7362825" y="93345"/>
                </a:lnTo>
                <a:lnTo>
                  <a:pt x="7345388" y="135356"/>
                </a:lnTo>
                <a:lnTo>
                  <a:pt x="7339660" y="183642"/>
                </a:lnTo>
                <a:lnTo>
                  <a:pt x="7339584" y="185166"/>
                </a:lnTo>
                <a:lnTo>
                  <a:pt x="7341032" y="211112"/>
                </a:lnTo>
                <a:lnTo>
                  <a:pt x="7352601" y="256933"/>
                </a:lnTo>
                <a:lnTo>
                  <a:pt x="7375601" y="294170"/>
                </a:lnTo>
                <a:lnTo>
                  <a:pt x="7409078" y="318884"/>
                </a:lnTo>
                <a:lnTo>
                  <a:pt x="7429627" y="326263"/>
                </a:lnTo>
                <a:lnTo>
                  <a:pt x="7433183" y="314833"/>
                </a:lnTo>
                <a:lnTo>
                  <a:pt x="7417054" y="307670"/>
                </a:lnTo>
                <a:lnTo>
                  <a:pt x="7403160" y="297738"/>
                </a:lnTo>
                <a:lnTo>
                  <a:pt x="7374661" y="251498"/>
                </a:lnTo>
                <a:lnTo>
                  <a:pt x="7366279" y="208584"/>
                </a:lnTo>
                <a:lnTo>
                  <a:pt x="7365238" y="183642"/>
                </a:lnTo>
                <a:lnTo>
                  <a:pt x="7366279" y="159575"/>
                </a:lnTo>
                <a:lnTo>
                  <a:pt x="7374661" y="117805"/>
                </a:lnTo>
                <a:lnTo>
                  <a:pt x="7403249" y="72250"/>
                </a:lnTo>
                <a:lnTo>
                  <a:pt x="7417270" y="62458"/>
                </a:lnTo>
                <a:lnTo>
                  <a:pt x="7433564" y="55372"/>
                </a:lnTo>
                <a:close/>
              </a:path>
              <a:path w="9258300" h="368300">
                <a:moveTo>
                  <a:pt x="9120886" y="185166"/>
                </a:moveTo>
                <a:lnTo>
                  <a:pt x="9119438" y="159575"/>
                </a:lnTo>
                <a:lnTo>
                  <a:pt x="9119425" y="159283"/>
                </a:lnTo>
                <a:lnTo>
                  <a:pt x="9115057" y="135356"/>
                </a:lnTo>
                <a:lnTo>
                  <a:pt x="9097518" y="93345"/>
                </a:lnTo>
                <a:lnTo>
                  <a:pt x="9069222" y="62026"/>
                </a:lnTo>
                <a:lnTo>
                  <a:pt x="9030843" y="43942"/>
                </a:lnTo>
                <a:lnTo>
                  <a:pt x="9026779" y="55372"/>
                </a:lnTo>
                <a:lnTo>
                  <a:pt x="9043137" y="62458"/>
                </a:lnTo>
                <a:lnTo>
                  <a:pt x="9057195" y="72250"/>
                </a:lnTo>
                <a:lnTo>
                  <a:pt x="9085720" y="117805"/>
                </a:lnTo>
                <a:lnTo>
                  <a:pt x="9094013" y="159283"/>
                </a:lnTo>
                <a:lnTo>
                  <a:pt x="9095105" y="183642"/>
                </a:lnTo>
                <a:lnTo>
                  <a:pt x="9094051" y="208584"/>
                </a:lnTo>
                <a:lnTo>
                  <a:pt x="9085669" y="251498"/>
                </a:lnTo>
                <a:lnTo>
                  <a:pt x="9057195" y="297738"/>
                </a:lnTo>
                <a:lnTo>
                  <a:pt x="9027287" y="314833"/>
                </a:lnTo>
                <a:lnTo>
                  <a:pt x="9030843" y="326263"/>
                </a:lnTo>
                <a:lnTo>
                  <a:pt x="9069337" y="308190"/>
                </a:lnTo>
                <a:lnTo>
                  <a:pt x="9097645" y="276860"/>
                </a:lnTo>
                <a:lnTo>
                  <a:pt x="9115069" y="235013"/>
                </a:lnTo>
                <a:lnTo>
                  <a:pt x="9119425" y="211112"/>
                </a:lnTo>
                <a:lnTo>
                  <a:pt x="9120886" y="185166"/>
                </a:lnTo>
                <a:close/>
              </a:path>
              <a:path w="9258300" h="368300">
                <a:moveTo>
                  <a:pt x="9257779" y="184277"/>
                </a:moveTo>
                <a:lnTo>
                  <a:pt x="9256281" y="151930"/>
                </a:lnTo>
                <a:lnTo>
                  <a:pt x="9256217" y="150393"/>
                </a:lnTo>
                <a:lnTo>
                  <a:pt x="9251505" y="118986"/>
                </a:lnTo>
                <a:lnTo>
                  <a:pt x="9232646" y="63246"/>
                </a:lnTo>
                <a:lnTo>
                  <a:pt x="9202166" y="21907"/>
                </a:lnTo>
                <a:lnTo>
                  <a:pt x="9161018" y="0"/>
                </a:lnTo>
                <a:lnTo>
                  <a:pt x="9157335" y="12192"/>
                </a:lnTo>
                <a:lnTo>
                  <a:pt x="9174239" y="20955"/>
                </a:lnTo>
                <a:lnTo>
                  <a:pt x="9188958" y="33718"/>
                </a:lnTo>
                <a:lnTo>
                  <a:pt x="9211818" y="71247"/>
                </a:lnTo>
                <a:lnTo>
                  <a:pt x="9225750" y="122288"/>
                </a:lnTo>
                <a:lnTo>
                  <a:pt x="9230360" y="184277"/>
                </a:lnTo>
                <a:lnTo>
                  <a:pt x="9229204" y="216547"/>
                </a:lnTo>
                <a:lnTo>
                  <a:pt x="9219959" y="272884"/>
                </a:lnTo>
                <a:lnTo>
                  <a:pt x="9201480" y="317690"/>
                </a:lnTo>
                <a:lnTo>
                  <a:pt x="9174239" y="347218"/>
                </a:lnTo>
                <a:lnTo>
                  <a:pt x="9157335" y="355981"/>
                </a:lnTo>
                <a:lnTo>
                  <a:pt x="9161018" y="368173"/>
                </a:lnTo>
                <a:lnTo>
                  <a:pt x="9202166" y="346265"/>
                </a:lnTo>
                <a:lnTo>
                  <a:pt x="9232646" y="304927"/>
                </a:lnTo>
                <a:lnTo>
                  <a:pt x="9251505" y="249212"/>
                </a:lnTo>
                <a:lnTo>
                  <a:pt x="9256217" y="217855"/>
                </a:lnTo>
                <a:lnTo>
                  <a:pt x="9257779" y="184277"/>
                </a:lnTo>
                <a:close/>
              </a:path>
            </a:pathLst>
          </a:custGeom>
          <a:solidFill>
            <a:srgbClr val="000000"/>
          </a:solidFill>
        </p:spPr>
        <p:txBody>
          <a:bodyPr wrap="square" lIns="0" tIns="0" rIns="0" bIns="0" rtlCol="0"/>
          <a:lstStyle/>
          <a:p>
            <a:endParaRPr/>
          </a:p>
        </p:txBody>
      </p:sp>
      <p:sp>
        <p:nvSpPr>
          <p:cNvPr id="3" name="object 3"/>
          <p:cNvSpPr txBox="1"/>
          <p:nvPr/>
        </p:nvSpPr>
        <p:spPr>
          <a:xfrm>
            <a:off x="10745216" y="469214"/>
            <a:ext cx="615950" cy="391795"/>
          </a:xfrm>
          <a:prstGeom prst="rect">
            <a:avLst/>
          </a:prstGeom>
        </p:spPr>
        <p:txBody>
          <a:bodyPr vert="horz" wrap="square" lIns="0" tIns="12700" rIns="0" bIns="0" rtlCol="0">
            <a:spAutoFit/>
          </a:bodyPr>
          <a:lstStyle/>
          <a:p>
            <a:pPr marL="12700">
              <a:lnSpc>
                <a:spcPct val="100000"/>
              </a:lnSpc>
              <a:spcBef>
                <a:spcPts val="100"/>
              </a:spcBef>
            </a:pPr>
            <a:r>
              <a:rPr sz="2400" spc="-20" dirty="0">
                <a:latin typeface="Cambria Math"/>
                <a:cs typeface="Cambria Math"/>
              </a:rPr>
              <a:t>𝐕𝐨𝐥𝐭</a:t>
            </a:r>
            <a:endParaRPr sz="2400">
              <a:latin typeface="Cambria Math"/>
              <a:cs typeface="Cambria Math"/>
            </a:endParaRPr>
          </a:p>
        </p:txBody>
      </p:sp>
      <p:sp>
        <p:nvSpPr>
          <p:cNvPr id="4" name="object 4"/>
          <p:cNvSpPr txBox="1"/>
          <p:nvPr/>
        </p:nvSpPr>
        <p:spPr>
          <a:xfrm>
            <a:off x="171195" y="43133"/>
            <a:ext cx="10373995" cy="1200785"/>
          </a:xfrm>
          <a:prstGeom prst="rect">
            <a:avLst/>
          </a:prstGeom>
        </p:spPr>
        <p:txBody>
          <a:bodyPr vert="horz" wrap="square" lIns="0" tIns="42545" rIns="0" bIns="0" rtlCol="0">
            <a:spAutoFit/>
          </a:bodyPr>
          <a:lstStyle/>
          <a:p>
            <a:pPr marL="63500">
              <a:lnSpc>
                <a:spcPct val="100000"/>
              </a:lnSpc>
              <a:spcBef>
                <a:spcPts val="335"/>
              </a:spcBef>
            </a:pPr>
            <a:r>
              <a:rPr sz="2400" b="1" dirty="0">
                <a:solidFill>
                  <a:srgbClr val="FF0000"/>
                </a:solidFill>
                <a:latin typeface="Calibri"/>
                <a:cs typeface="Calibri"/>
              </a:rPr>
              <a:t>Example</a:t>
            </a:r>
            <a:r>
              <a:rPr sz="2400" b="1" spc="-65" dirty="0">
                <a:solidFill>
                  <a:srgbClr val="FF0000"/>
                </a:solidFill>
                <a:latin typeface="Calibri"/>
                <a:cs typeface="Calibri"/>
              </a:rPr>
              <a:t> </a:t>
            </a:r>
            <a:r>
              <a:rPr sz="2400" b="1" dirty="0">
                <a:solidFill>
                  <a:srgbClr val="FF0000"/>
                </a:solidFill>
                <a:latin typeface="Calibri"/>
                <a:cs typeface="Calibri"/>
              </a:rPr>
              <a:t>1</a:t>
            </a:r>
            <a:r>
              <a:rPr lang="en-US" sz="2400" b="1" dirty="0">
                <a:solidFill>
                  <a:srgbClr val="FF0000"/>
                </a:solidFill>
                <a:latin typeface="Calibri"/>
                <a:cs typeface="Calibri"/>
              </a:rPr>
              <a:t>5</a:t>
            </a:r>
            <a:r>
              <a:rPr sz="2400" b="1" dirty="0">
                <a:solidFill>
                  <a:srgbClr val="FF0000"/>
                </a:solidFill>
                <a:latin typeface="Calibri"/>
                <a:cs typeface="Calibri"/>
              </a:rPr>
              <a:t>.</a:t>
            </a:r>
            <a:r>
              <a:rPr sz="2400" b="1" spc="-65" dirty="0">
                <a:solidFill>
                  <a:srgbClr val="FF0000"/>
                </a:solidFill>
                <a:latin typeface="Calibri"/>
                <a:cs typeface="Calibri"/>
              </a:rPr>
              <a:t> </a:t>
            </a:r>
            <a:r>
              <a:rPr sz="2400" b="1" dirty="0">
                <a:solidFill>
                  <a:srgbClr val="6F2F9F"/>
                </a:solidFill>
                <a:latin typeface="Calibri"/>
                <a:cs typeface="Calibri"/>
              </a:rPr>
              <a:t>Consider</a:t>
            </a:r>
            <a:r>
              <a:rPr sz="2400" b="1" spc="-60" dirty="0">
                <a:solidFill>
                  <a:srgbClr val="6F2F9F"/>
                </a:solidFill>
                <a:latin typeface="Calibri"/>
                <a:cs typeface="Calibri"/>
              </a:rPr>
              <a:t> </a:t>
            </a:r>
            <a:r>
              <a:rPr sz="2400" b="1" dirty="0">
                <a:solidFill>
                  <a:srgbClr val="6F2F9F"/>
                </a:solidFill>
                <a:latin typeface="Calibri"/>
                <a:cs typeface="Calibri"/>
              </a:rPr>
              <a:t>an</a:t>
            </a:r>
            <a:r>
              <a:rPr sz="2400" b="1" spc="-65" dirty="0">
                <a:solidFill>
                  <a:srgbClr val="6F2F9F"/>
                </a:solidFill>
                <a:latin typeface="Calibri"/>
                <a:cs typeface="Calibri"/>
              </a:rPr>
              <a:t> </a:t>
            </a:r>
            <a:r>
              <a:rPr sz="2400" b="1" dirty="0">
                <a:solidFill>
                  <a:srgbClr val="6F2F9F"/>
                </a:solidFill>
                <a:latin typeface="Calibri"/>
                <a:cs typeface="Calibri"/>
              </a:rPr>
              <a:t>FM</a:t>
            </a:r>
            <a:r>
              <a:rPr sz="2400" b="1" spc="-70" dirty="0">
                <a:solidFill>
                  <a:srgbClr val="6F2F9F"/>
                </a:solidFill>
                <a:latin typeface="Calibri"/>
                <a:cs typeface="Calibri"/>
              </a:rPr>
              <a:t> </a:t>
            </a:r>
            <a:r>
              <a:rPr sz="2400" b="1" spc="-10" dirty="0">
                <a:solidFill>
                  <a:srgbClr val="6F2F9F"/>
                </a:solidFill>
                <a:latin typeface="Calibri"/>
                <a:cs typeface="Calibri"/>
              </a:rPr>
              <a:t>signal:</a:t>
            </a:r>
            <a:endParaRPr sz="2400" dirty="0">
              <a:latin typeface="Calibri"/>
              <a:cs typeface="Calibri"/>
            </a:endParaRPr>
          </a:p>
          <a:p>
            <a:pPr marL="703580">
              <a:lnSpc>
                <a:spcPct val="100000"/>
              </a:lnSpc>
              <a:spcBef>
                <a:spcPts val="240"/>
              </a:spcBef>
              <a:tabLst>
                <a:tab pos="1727835" algn="l"/>
                <a:tab pos="3061335" algn="l"/>
                <a:tab pos="5581015" algn="l"/>
                <a:tab pos="7356475" algn="l"/>
                <a:tab pos="8740775" algn="l"/>
              </a:tabLst>
            </a:pPr>
            <a:r>
              <a:rPr sz="2400" dirty="0">
                <a:latin typeface="Cambria Math"/>
                <a:cs typeface="Cambria Math"/>
              </a:rPr>
              <a:t>⟹</a:t>
            </a:r>
            <a:r>
              <a:rPr sz="2400" spc="130" dirty="0">
                <a:latin typeface="Cambria Math"/>
                <a:cs typeface="Cambria Math"/>
              </a:rPr>
              <a:t> </a:t>
            </a:r>
            <a:r>
              <a:rPr sz="2400" dirty="0">
                <a:latin typeface="Cambria Math"/>
                <a:cs typeface="Cambria Math"/>
              </a:rPr>
              <a:t>𝐟</a:t>
            </a:r>
            <a:r>
              <a:rPr sz="2400" spc="455" dirty="0">
                <a:latin typeface="Cambria Math"/>
                <a:cs typeface="Cambria Math"/>
              </a:rPr>
              <a:t> </a:t>
            </a:r>
            <a:r>
              <a:rPr sz="2400" spc="-50" dirty="0">
                <a:latin typeface="Cambria Math"/>
                <a:cs typeface="Cambria Math"/>
              </a:rPr>
              <a:t>𝐭</a:t>
            </a:r>
            <a:r>
              <a:rPr sz="2400" dirty="0">
                <a:latin typeface="Cambria Math"/>
                <a:cs typeface="Cambria Math"/>
              </a:rPr>
              <a:t>	=</a:t>
            </a:r>
            <a:r>
              <a:rPr sz="2400" spc="125" dirty="0">
                <a:latin typeface="Cambria Math"/>
                <a:cs typeface="Cambria Math"/>
              </a:rPr>
              <a:t> </a:t>
            </a:r>
            <a:r>
              <a:rPr sz="2400" spc="-20" dirty="0">
                <a:latin typeface="Cambria Math"/>
                <a:cs typeface="Cambria Math"/>
              </a:rPr>
              <a:t>𝟏𝟎</a:t>
            </a:r>
            <a:r>
              <a:rPr sz="2400" spc="-130" dirty="0">
                <a:latin typeface="Cambria Math"/>
                <a:cs typeface="Cambria Math"/>
              </a:rPr>
              <a:t> </a:t>
            </a:r>
            <a:r>
              <a:rPr sz="2400" spc="-25" dirty="0">
                <a:latin typeface="Cambria Math"/>
                <a:cs typeface="Cambria Math"/>
              </a:rPr>
              <a:t>𝐜𝐨𝐬</a:t>
            </a:r>
            <a:r>
              <a:rPr sz="2400" dirty="0">
                <a:latin typeface="Cambria Math"/>
                <a:cs typeface="Cambria Math"/>
              </a:rPr>
              <a:t>	𝟐𝛑</a:t>
            </a:r>
            <a:r>
              <a:rPr sz="2400" spc="10" dirty="0">
                <a:latin typeface="Cambria Math"/>
                <a:cs typeface="Cambria Math"/>
              </a:rPr>
              <a:t> </a:t>
            </a:r>
            <a:r>
              <a:rPr sz="2400" dirty="0">
                <a:latin typeface="Cambria Math"/>
                <a:cs typeface="Cambria Math"/>
              </a:rPr>
              <a:t>×</a:t>
            </a:r>
            <a:r>
              <a:rPr sz="2400" spc="5" dirty="0">
                <a:latin typeface="Cambria Math"/>
                <a:cs typeface="Cambria Math"/>
              </a:rPr>
              <a:t> </a:t>
            </a:r>
            <a:r>
              <a:rPr sz="2400" dirty="0">
                <a:latin typeface="Cambria Math"/>
                <a:cs typeface="Cambria Math"/>
              </a:rPr>
              <a:t>𝟏𝟎</a:t>
            </a:r>
            <a:r>
              <a:rPr sz="2625" baseline="28571" dirty="0">
                <a:latin typeface="Cambria Math"/>
                <a:cs typeface="Cambria Math"/>
              </a:rPr>
              <a:t>𝟓</a:t>
            </a:r>
            <a:r>
              <a:rPr sz="2400" dirty="0">
                <a:latin typeface="Cambria Math"/>
                <a:cs typeface="Cambria Math"/>
              </a:rPr>
              <a:t>𝐭</a:t>
            </a:r>
            <a:r>
              <a:rPr sz="2400" spc="20" dirty="0">
                <a:latin typeface="Cambria Math"/>
                <a:cs typeface="Cambria Math"/>
              </a:rPr>
              <a:t> </a:t>
            </a:r>
            <a:r>
              <a:rPr sz="2400" dirty="0">
                <a:latin typeface="Cambria Math"/>
                <a:cs typeface="Cambria Math"/>
              </a:rPr>
              <a:t>+ </a:t>
            </a:r>
            <a:r>
              <a:rPr sz="2400" spc="-20" dirty="0">
                <a:latin typeface="Cambria Math"/>
                <a:cs typeface="Cambria Math"/>
              </a:rPr>
              <a:t>𝟓</a:t>
            </a:r>
            <a:r>
              <a:rPr sz="2400" spc="-125" dirty="0">
                <a:latin typeface="Cambria Math"/>
                <a:cs typeface="Cambria Math"/>
              </a:rPr>
              <a:t> </a:t>
            </a:r>
            <a:r>
              <a:rPr sz="2400" spc="-25" dirty="0">
                <a:latin typeface="Cambria Math"/>
                <a:cs typeface="Cambria Math"/>
              </a:rPr>
              <a:t>𝐬𝐢𝐧</a:t>
            </a:r>
            <a:r>
              <a:rPr sz="2400" dirty="0">
                <a:latin typeface="Cambria Math"/>
                <a:cs typeface="Cambria Math"/>
              </a:rPr>
              <a:t>	𝟐𝛑</a:t>
            </a:r>
            <a:r>
              <a:rPr sz="2400" spc="-20" dirty="0">
                <a:latin typeface="Cambria Math"/>
                <a:cs typeface="Cambria Math"/>
              </a:rPr>
              <a:t> </a:t>
            </a:r>
            <a:r>
              <a:rPr sz="2400" dirty="0">
                <a:latin typeface="Cambria Math"/>
                <a:cs typeface="Cambria Math"/>
              </a:rPr>
              <a:t>×</a:t>
            </a:r>
            <a:r>
              <a:rPr sz="2400" spc="-10" dirty="0">
                <a:latin typeface="Cambria Math"/>
                <a:cs typeface="Cambria Math"/>
              </a:rPr>
              <a:t> 𝟏𝟓𝟎𝟎𝐭</a:t>
            </a:r>
            <a:r>
              <a:rPr sz="2400" dirty="0">
                <a:latin typeface="Cambria Math"/>
                <a:cs typeface="Cambria Math"/>
              </a:rPr>
              <a:t>	</a:t>
            </a:r>
            <a:r>
              <a:rPr lang="en-US" sz="2400" dirty="0">
                <a:latin typeface="Cambria Math"/>
                <a:cs typeface="Cambria Math"/>
              </a:rPr>
              <a:t>+</a:t>
            </a:r>
            <a:r>
              <a:rPr sz="2400" spc="-5" dirty="0">
                <a:latin typeface="Cambria Math"/>
                <a:cs typeface="Cambria Math"/>
              </a:rPr>
              <a:t> </a:t>
            </a:r>
            <a:r>
              <a:rPr sz="2400" spc="-10" dirty="0">
                <a:latin typeface="Cambria Math"/>
                <a:cs typeface="Cambria Math"/>
              </a:rPr>
              <a:t>𝟕.</a:t>
            </a:r>
            <a:r>
              <a:rPr sz="2400" spc="-130" dirty="0">
                <a:latin typeface="Cambria Math"/>
                <a:cs typeface="Cambria Math"/>
              </a:rPr>
              <a:t> </a:t>
            </a:r>
            <a:r>
              <a:rPr sz="2400" spc="-20" dirty="0">
                <a:latin typeface="Cambria Math"/>
                <a:cs typeface="Cambria Math"/>
              </a:rPr>
              <a:t>𝟓</a:t>
            </a:r>
            <a:r>
              <a:rPr sz="2400" spc="-120" dirty="0">
                <a:latin typeface="Cambria Math"/>
                <a:cs typeface="Cambria Math"/>
              </a:rPr>
              <a:t> </a:t>
            </a:r>
            <a:r>
              <a:rPr lang="en-US" sz="2400" spc="-25" dirty="0">
                <a:latin typeface="Cambria Math"/>
                <a:cs typeface="Cambria Math"/>
              </a:rPr>
              <a:t>𝐬𝐢𝐧</a:t>
            </a:r>
            <a:r>
              <a:rPr sz="2400" dirty="0">
                <a:latin typeface="Cambria Math"/>
                <a:cs typeface="Cambria Math"/>
              </a:rPr>
              <a:t>	𝟐𝛑</a:t>
            </a:r>
            <a:r>
              <a:rPr sz="2400" spc="-20" dirty="0">
                <a:latin typeface="Cambria Math"/>
                <a:cs typeface="Cambria Math"/>
              </a:rPr>
              <a:t> </a:t>
            </a:r>
            <a:r>
              <a:rPr sz="2400" dirty="0">
                <a:latin typeface="Cambria Math"/>
                <a:cs typeface="Cambria Math"/>
              </a:rPr>
              <a:t>×</a:t>
            </a:r>
            <a:r>
              <a:rPr sz="2400" spc="-10" dirty="0">
                <a:latin typeface="Cambria Math"/>
                <a:cs typeface="Cambria Math"/>
              </a:rPr>
              <a:t> 𝟏𝟎𝟎𝟎𝐭</a:t>
            </a:r>
            <a:endParaRPr sz="2400" dirty="0">
              <a:latin typeface="Cambria Math"/>
              <a:cs typeface="Cambria Math"/>
            </a:endParaRPr>
          </a:p>
          <a:p>
            <a:pPr marL="63500">
              <a:lnSpc>
                <a:spcPct val="100000"/>
              </a:lnSpc>
              <a:spcBef>
                <a:spcPts val="135"/>
              </a:spcBef>
            </a:pPr>
            <a:r>
              <a:rPr sz="2400" b="1" dirty="0">
                <a:solidFill>
                  <a:srgbClr val="6F2F9F"/>
                </a:solidFill>
                <a:latin typeface="Calibri"/>
                <a:cs typeface="Calibri"/>
              </a:rPr>
              <a:t>The</a:t>
            </a:r>
            <a:r>
              <a:rPr sz="2400" b="1" spc="-50" dirty="0">
                <a:solidFill>
                  <a:srgbClr val="6F2F9F"/>
                </a:solidFill>
                <a:latin typeface="Calibri"/>
                <a:cs typeface="Calibri"/>
              </a:rPr>
              <a:t> </a:t>
            </a:r>
            <a:r>
              <a:rPr lang="en-US" sz="2400" b="1" spc="-50" dirty="0">
                <a:solidFill>
                  <a:srgbClr val="6F2F9F"/>
                </a:solidFill>
                <a:latin typeface="Calibri"/>
                <a:cs typeface="Calibri"/>
              </a:rPr>
              <a:t>deviation ratio</a:t>
            </a:r>
            <a:r>
              <a:rPr sz="2400" b="1" spc="-50" dirty="0">
                <a:solidFill>
                  <a:srgbClr val="6F2F9F"/>
                </a:solidFill>
                <a:latin typeface="Calibri"/>
                <a:cs typeface="Calibri"/>
              </a:rPr>
              <a:t> </a:t>
            </a:r>
            <a:r>
              <a:rPr sz="2400" b="1" dirty="0">
                <a:solidFill>
                  <a:srgbClr val="6F2F9F"/>
                </a:solidFill>
                <a:latin typeface="Calibri"/>
                <a:cs typeface="Calibri"/>
              </a:rPr>
              <a:t>of</a:t>
            </a:r>
            <a:r>
              <a:rPr sz="2400" b="1" spc="-65" dirty="0">
                <a:solidFill>
                  <a:srgbClr val="6F2F9F"/>
                </a:solidFill>
                <a:latin typeface="Calibri"/>
                <a:cs typeface="Calibri"/>
              </a:rPr>
              <a:t> </a:t>
            </a:r>
            <a:r>
              <a:rPr sz="2400" b="1" dirty="0">
                <a:solidFill>
                  <a:srgbClr val="6F2F9F"/>
                </a:solidFill>
                <a:latin typeface="Calibri"/>
                <a:cs typeface="Calibri"/>
              </a:rPr>
              <a:t>given</a:t>
            </a:r>
            <a:r>
              <a:rPr sz="2400" b="1" spc="-55" dirty="0">
                <a:solidFill>
                  <a:srgbClr val="6F2F9F"/>
                </a:solidFill>
                <a:latin typeface="Calibri"/>
                <a:cs typeface="Calibri"/>
              </a:rPr>
              <a:t> </a:t>
            </a:r>
            <a:r>
              <a:rPr sz="2400" b="1" dirty="0">
                <a:solidFill>
                  <a:srgbClr val="6F2F9F"/>
                </a:solidFill>
                <a:latin typeface="Calibri"/>
                <a:cs typeface="Calibri"/>
              </a:rPr>
              <a:t>FM</a:t>
            </a:r>
            <a:r>
              <a:rPr sz="2400" b="1" spc="-60" dirty="0">
                <a:solidFill>
                  <a:srgbClr val="6F2F9F"/>
                </a:solidFill>
                <a:latin typeface="Calibri"/>
                <a:cs typeface="Calibri"/>
              </a:rPr>
              <a:t> </a:t>
            </a:r>
            <a:r>
              <a:rPr sz="2400" b="1" dirty="0">
                <a:solidFill>
                  <a:srgbClr val="6F2F9F"/>
                </a:solidFill>
                <a:latin typeface="Calibri"/>
                <a:cs typeface="Calibri"/>
              </a:rPr>
              <a:t>signal</a:t>
            </a:r>
            <a:r>
              <a:rPr sz="2400" b="1" spc="-60" dirty="0">
                <a:solidFill>
                  <a:srgbClr val="6F2F9F"/>
                </a:solidFill>
                <a:latin typeface="Calibri"/>
                <a:cs typeface="Calibri"/>
              </a:rPr>
              <a:t> </a:t>
            </a:r>
            <a:r>
              <a:rPr sz="2400" b="1" dirty="0">
                <a:solidFill>
                  <a:srgbClr val="6F2F9F"/>
                </a:solidFill>
                <a:latin typeface="Calibri"/>
                <a:cs typeface="Calibri"/>
              </a:rPr>
              <a:t>is</a:t>
            </a:r>
            <a:r>
              <a:rPr sz="2400" b="1" spc="-45" dirty="0">
                <a:solidFill>
                  <a:srgbClr val="6F2F9F"/>
                </a:solidFill>
                <a:latin typeface="Calibri"/>
                <a:cs typeface="Calibri"/>
              </a:rPr>
              <a:t> </a:t>
            </a:r>
            <a:r>
              <a:rPr sz="2400" b="1" spc="-10" dirty="0">
                <a:solidFill>
                  <a:srgbClr val="6F2F9F"/>
                </a:solidFill>
                <a:latin typeface="Calibri"/>
                <a:cs typeface="Calibri"/>
              </a:rPr>
              <a:t>………………………</a:t>
            </a:r>
            <a:endParaRPr sz="2400" dirty="0">
              <a:latin typeface="Calibri"/>
              <a:cs typeface="Calibri"/>
            </a:endParaRPr>
          </a:p>
        </p:txBody>
      </p:sp>
      <p:pic>
        <p:nvPicPr>
          <p:cNvPr id="5" name="object 5"/>
          <p:cNvPicPr/>
          <p:nvPr/>
        </p:nvPicPr>
        <p:blipFill rotWithShape="1">
          <a:blip r:embed="rId2" cstate="print"/>
          <a:srcRect t="18138"/>
          <a:stretch/>
        </p:blipFill>
        <p:spPr>
          <a:xfrm>
            <a:off x="0" y="1243918"/>
            <a:ext cx="12192000" cy="5614082"/>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482365D-E9BF-42B8-B9AB-B1235029A2A2}"/>
                  </a:ext>
                </a:extLst>
              </p:cNvPr>
              <p:cNvSpPr txBox="1"/>
              <p:nvPr/>
            </p:nvSpPr>
            <p:spPr>
              <a:xfrm>
                <a:off x="3543300" y="5410200"/>
                <a:ext cx="5105400" cy="713722"/>
              </a:xfrm>
              <a:prstGeom prst="rect">
                <a:avLst/>
              </a:prstGeom>
              <a:noFill/>
            </p:spPr>
            <p:txBody>
              <a:bodyPr wrap="square" rtlCol="0">
                <a:spAutoFit/>
              </a:bodyPr>
              <a:lstStyle/>
              <a:p>
                <a:r>
                  <a:rPr lang="en-US" sz="2400" dirty="0">
                    <a:solidFill>
                      <a:srgbClr val="7030A0"/>
                    </a:solidFill>
                    <a:latin typeface="+mn-lt"/>
                  </a:rPr>
                  <a:t>Deviation Ratio = </a:t>
                </a:r>
                <a14:m>
                  <m:oMath xmlns:m="http://schemas.openxmlformats.org/officeDocument/2006/math">
                    <m:f>
                      <m:fPr>
                        <m:ctrlPr>
                          <a:rPr lang="en-US" sz="2400" b="0" i="1" smtClean="0">
                            <a:solidFill>
                              <a:srgbClr val="7030A0"/>
                            </a:solidFill>
                            <a:latin typeface="Cambria Math" panose="02040503050406030204" pitchFamily="18" charset="0"/>
                          </a:rPr>
                        </m:ctrlPr>
                      </m:fPr>
                      <m:num>
                        <m:r>
                          <m:rPr>
                            <m:sty m:val="p"/>
                          </m:rPr>
                          <a:rPr lang="en-US" sz="2400" b="0" i="0" smtClean="0">
                            <a:solidFill>
                              <a:srgbClr val="7030A0"/>
                            </a:solidFill>
                            <a:latin typeface="Cambria Math" panose="02040503050406030204" pitchFamily="18" charset="0"/>
                          </a:rPr>
                          <m:t>Δ</m:t>
                        </m:r>
                        <m:r>
                          <a:rPr lang="en-US" sz="2400" b="0" i="1" smtClean="0">
                            <a:solidFill>
                              <a:srgbClr val="7030A0"/>
                            </a:solidFill>
                            <a:latin typeface="Cambria Math" panose="02040503050406030204" pitchFamily="18" charset="0"/>
                          </a:rPr>
                          <m:t>𝑓</m:t>
                        </m:r>
                      </m:num>
                      <m:den>
                        <m:sSub>
                          <m:sSubPr>
                            <m:ctrlPr>
                              <a:rPr lang="en-US" sz="2400" b="0" i="1" smtClean="0">
                                <a:solidFill>
                                  <a:srgbClr val="7030A0"/>
                                </a:solidFill>
                                <a:latin typeface="Cambria Math" panose="02040503050406030204" pitchFamily="18" charset="0"/>
                              </a:rPr>
                            </m:ctrlPr>
                          </m:sSubPr>
                          <m:e>
                            <m:r>
                              <a:rPr lang="en-US" sz="2400" b="0" i="1" smtClean="0">
                                <a:solidFill>
                                  <a:srgbClr val="7030A0"/>
                                </a:solidFill>
                                <a:latin typeface="Cambria Math" panose="02040503050406030204" pitchFamily="18" charset="0"/>
                              </a:rPr>
                              <m:t>𝑓</m:t>
                            </m:r>
                          </m:e>
                          <m:sub>
                            <m:r>
                              <a:rPr lang="en-US" sz="2400" b="0" i="1" smtClean="0">
                                <a:solidFill>
                                  <a:srgbClr val="7030A0"/>
                                </a:solidFill>
                                <a:latin typeface="Cambria Math" panose="02040503050406030204" pitchFamily="18" charset="0"/>
                              </a:rPr>
                              <m:t>𝑚</m:t>
                            </m:r>
                            <m:r>
                              <a:rPr lang="en-US" sz="2400" b="0" i="1" smtClean="0">
                                <a:solidFill>
                                  <a:srgbClr val="7030A0"/>
                                </a:solidFill>
                                <a:latin typeface="Cambria Math" panose="02040503050406030204" pitchFamily="18" charset="0"/>
                              </a:rPr>
                              <m:t>(</m:t>
                            </m:r>
                            <m:r>
                              <a:rPr lang="en-US" sz="2400" b="0" i="1" smtClean="0">
                                <a:solidFill>
                                  <a:srgbClr val="7030A0"/>
                                </a:solidFill>
                                <a:latin typeface="Cambria Math" panose="02040503050406030204" pitchFamily="18" charset="0"/>
                              </a:rPr>
                              <m:t>𝑚𝑎𝑥</m:t>
                            </m:r>
                            <m:r>
                              <a:rPr lang="en-US" sz="2400" b="0" i="1" smtClean="0">
                                <a:solidFill>
                                  <a:srgbClr val="7030A0"/>
                                </a:solidFill>
                                <a:latin typeface="Cambria Math" panose="02040503050406030204" pitchFamily="18" charset="0"/>
                              </a:rPr>
                              <m:t>)</m:t>
                            </m:r>
                          </m:sub>
                        </m:sSub>
                      </m:den>
                    </m:f>
                    <m:r>
                      <a:rPr lang="en-US" sz="2400" b="0" i="1" smtClean="0">
                        <a:solidFill>
                          <a:srgbClr val="7030A0"/>
                        </a:solidFill>
                        <a:latin typeface="Cambria Math" panose="02040503050406030204" pitchFamily="18" charset="0"/>
                      </a:rPr>
                      <m:t>=</m:t>
                    </m:r>
                    <m:f>
                      <m:fPr>
                        <m:ctrlPr>
                          <a:rPr lang="en-US" sz="2400" b="0" i="1" smtClean="0">
                            <a:solidFill>
                              <a:srgbClr val="7030A0"/>
                            </a:solidFill>
                            <a:latin typeface="Cambria Math" panose="02040503050406030204" pitchFamily="18" charset="0"/>
                          </a:rPr>
                        </m:ctrlPr>
                      </m:fPr>
                      <m:num>
                        <m:r>
                          <a:rPr lang="en-US" sz="2400" b="0" i="1" smtClean="0">
                            <a:solidFill>
                              <a:srgbClr val="7030A0"/>
                            </a:solidFill>
                            <a:latin typeface="Cambria Math" panose="02040503050406030204" pitchFamily="18" charset="0"/>
                          </a:rPr>
                          <m:t>15000</m:t>
                        </m:r>
                      </m:num>
                      <m:den>
                        <m:r>
                          <a:rPr lang="en-US" sz="2400" b="0" i="1" smtClean="0">
                            <a:solidFill>
                              <a:srgbClr val="7030A0"/>
                            </a:solidFill>
                            <a:latin typeface="Cambria Math" panose="02040503050406030204" pitchFamily="18" charset="0"/>
                          </a:rPr>
                          <m:t>1500</m:t>
                        </m:r>
                      </m:den>
                    </m:f>
                    <m:r>
                      <a:rPr lang="en-US" sz="2400" b="0" i="1" smtClean="0">
                        <a:solidFill>
                          <a:srgbClr val="7030A0"/>
                        </a:solidFill>
                        <a:latin typeface="Cambria Math" panose="02040503050406030204" pitchFamily="18" charset="0"/>
                      </a:rPr>
                      <m:t>=</m:t>
                    </m:r>
                    <m:r>
                      <a:rPr lang="en-US" sz="2400" b="0" i="1" smtClean="0">
                        <a:solidFill>
                          <a:srgbClr val="7030A0"/>
                        </a:solidFill>
                        <a:latin typeface="Cambria Math" panose="02040503050406030204" pitchFamily="18" charset="0"/>
                      </a:rPr>
                      <m:t>10</m:t>
                    </m:r>
                  </m:oMath>
                </a14:m>
                <a:endParaRPr lang="en-US" sz="2400" dirty="0">
                  <a:solidFill>
                    <a:srgbClr val="7030A0"/>
                  </a:solidFill>
                  <a:latin typeface="+mn-lt"/>
                </a:endParaRPr>
              </a:p>
            </p:txBody>
          </p:sp>
        </mc:Choice>
        <mc:Fallback xmlns="">
          <p:sp>
            <p:nvSpPr>
              <p:cNvPr id="7" name="TextBox 6">
                <a:extLst>
                  <a:ext uri="{FF2B5EF4-FFF2-40B4-BE49-F238E27FC236}">
                    <a16:creationId xmlns:a16="http://schemas.microsoft.com/office/drawing/2014/main" id="{D482365D-E9BF-42B8-B9AB-B1235029A2A2}"/>
                  </a:ext>
                </a:extLst>
              </p:cNvPr>
              <p:cNvSpPr txBox="1">
                <a:spLocks noRot="1" noChangeAspect="1" noMove="1" noResize="1" noEditPoints="1" noAdjustHandles="1" noChangeArrowheads="1" noChangeShapeType="1" noTextEdit="1"/>
              </p:cNvSpPr>
              <p:nvPr/>
            </p:nvSpPr>
            <p:spPr>
              <a:xfrm>
                <a:off x="3543300" y="5410200"/>
                <a:ext cx="5105400" cy="713722"/>
              </a:xfrm>
              <a:prstGeom prst="rect">
                <a:avLst/>
              </a:prstGeom>
              <a:blipFill>
                <a:blip r:embed="rId3"/>
                <a:stretch>
                  <a:fillRect l="-1790"/>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133712B6-5760-4131-BB70-7714B0B14590}"/>
              </a:ext>
            </a:extLst>
          </p:cNvPr>
          <p:cNvSpPr/>
          <p:nvPr/>
        </p:nvSpPr>
        <p:spPr>
          <a:xfrm>
            <a:off x="228600" y="1447800"/>
            <a:ext cx="556260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0920" y="515365"/>
            <a:ext cx="7608570" cy="502920"/>
          </a:xfrm>
          <a:custGeom>
            <a:avLst/>
            <a:gdLst/>
            <a:ahLst/>
            <a:cxnLst/>
            <a:rect l="l" t="t" r="r" b="b"/>
            <a:pathLst>
              <a:path w="7608570" h="502919">
                <a:moveTo>
                  <a:pt x="93980" y="122809"/>
                </a:moveTo>
                <a:lnTo>
                  <a:pt x="90043" y="111379"/>
                </a:lnTo>
                <a:lnTo>
                  <a:pt x="69507" y="118770"/>
                </a:lnTo>
                <a:lnTo>
                  <a:pt x="51536" y="129463"/>
                </a:lnTo>
                <a:lnTo>
                  <a:pt x="23241" y="160782"/>
                </a:lnTo>
                <a:lnTo>
                  <a:pt x="5803" y="202793"/>
                </a:lnTo>
                <a:lnTo>
                  <a:pt x="76" y="251079"/>
                </a:lnTo>
                <a:lnTo>
                  <a:pt x="0" y="252603"/>
                </a:lnTo>
                <a:lnTo>
                  <a:pt x="1447" y="278549"/>
                </a:lnTo>
                <a:lnTo>
                  <a:pt x="13017" y="324370"/>
                </a:lnTo>
                <a:lnTo>
                  <a:pt x="36017" y="361607"/>
                </a:lnTo>
                <a:lnTo>
                  <a:pt x="69494" y="386321"/>
                </a:lnTo>
                <a:lnTo>
                  <a:pt x="90043" y="393700"/>
                </a:lnTo>
                <a:lnTo>
                  <a:pt x="93599" y="382270"/>
                </a:lnTo>
                <a:lnTo>
                  <a:pt x="77470" y="375107"/>
                </a:lnTo>
                <a:lnTo>
                  <a:pt x="63576" y="365175"/>
                </a:lnTo>
                <a:lnTo>
                  <a:pt x="35077" y="318935"/>
                </a:lnTo>
                <a:lnTo>
                  <a:pt x="26695" y="276021"/>
                </a:lnTo>
                <a:lnTo>
                  <a:pt x="25654" y="251079"/>
                </a:lnTo>
                <a:lnTo>
                  <a:pt x="26695" y="227012"/>
                </a:lnTo>
                <a:lnTo>
                  <a:pt x="35077" y="185242"/>
                </a:lnTo>
                <a:lnTo>
                  <a:pt x="63665" y="139687"/>
                </a:lnTo>
                <a:lnTo>
                  <a:pt x="77685" y="129895"/>
                </a:lnTo>
                <a:lnTo>
                  <a:pt x="93980" y="122809"/>
                </a:lnTo>
                <a:close/>
              </a:path>
              <a:path w="7608570" h="502919">
                <a:moveTo>
                  <a:pt x="315214" y="252603"/>
                </a:moveTo>
                <a:lnTo>
                  <a:pt x="313766" y="227012"/>
                </a:lnTo>
                <a:lnTo>
                  <a:pt x="313753" y="226720"/>
                </a:lnTo>
                <a:lnTo>
                  <a:pt x="309384" y="202793"/>
                </a:lnTo>
                <a:lnTo>
                  <a:pt x="291846" y="160782"/>
                </a:lnTo>
                <a:lnTo>
                  <a:pt x="263550" y="129463"/>
                </a:lnTo>
                <a:lnTo>
                  <a:pt x="225171" y="111379"/>
                </a:lnTo>
                <a:lnTo>
                  <a:pt x="221107" y="122809"/>
                </a:lnTo>
                <a:lnTo>
                  <a:pt x="237464" y="129895"/>
                </a:lnTo>
                <a:lnTo>
                  <a:pt x="251523" y="139687"/>
                </a:lnTo>
                <a:lnTo>
                  <a:pt x="280047" y="185242"/>
                </a:lnTo>
                <a:lnTo>
                  <a:pt x="288340" y="226720"/>
                </a:lnTo>
                <a:lnTo>
                  <a:pt x="289433" y="251079"/>
                </a:lnTo>
                <a:lnTo>
                  <a:pt x="288378" y="276021"/>
                </a:lnTo>
                <a:lnTo>
                  <a:pt x="279996" y="318935"/>
                </a:lnTo>
                <a:lnTo>
                  <a:pt x="251523" y="365175"/>
                </a:lnTo>
                <a:lnTo>
                  <a:pt x="221615" y="382270"/>
                </a:lnTo>
                <a:lnTo>
                  <a:pt x="225171" y="393700"/>
                </a:lnTo>
                <a:lnTo>
                  <a:pt x="263664" y="375627"/>
                </a:lnTo>
                <a:lnTo>
                  <a:pt x="291973" y="344297"/>
                </a:lnTo>
                <a:lnTo>
                  <a:pt x="309397" y="302450"/>
                </a:lnTo>
                <a:lnTo>
                  <a:pt x="313753" y="278549"/>
                </a:lnTo>
                <a:lnTo>
                  <a:pt x="315214" y="252603"/>
                </a:lnTo>
                <a:close/>
              </a:path>
              <a:path w="7608570" h="502919">
                <a:moveTo>
                  <a:pt x="1397508" y="11938"/>
                </a:moveTo>
                <a:lnTo>
                  <a:pt x="1347939" y="35902"/>
                </a:lnTo>
                <a:lnTo>
                  <a:pt x="1313434" y="92837"/>
                </a:lnTo>
                <a:lnTo>
                  <a:pt x="1291424" y="166268"/>
                </a:lnTo>
                <a:lnTo>
                  <a:pt x="1285925" y="207302"/>
                </a:lnTo>
                <a:lnTo>
                  <a:pt x="1284097" y="251206"/>
                </a:lnTo>
                <a:lnTo>
                  <a:pt x="1285875" y="293636"/>
                </a:lnTo>
                <a:lnTo>
                  <a:pt x="1285925" y="294957"/>
                </a:lnTo>
                <a:lnTo>
                  <a:pt x="1291424" y="335915"/>
                </a:lnTo>
                <a:lnTo>
                  <a:pt x="1300594" y="374116"/>
                </a:lnTo>
                <a:lnTo>
                  <a:pt x="1329436" y="440969"/>
                </a:lnTo>
                <a:lnTo>
                  <a:pt x="1368971" y="487553"/>
                </a:lnTo>
                <a:lnTo>
                  <a:pt x="1392555" y="502793"/>
                </a:lnTo>
                <a:lnTo>
                  <a:pt x="1397508" y="490855"/>
                </a:lnTo>
                <a:lnTo>
                  <a:pt x="1378597" y="475576"/>
                </a:lnTo>
                <a:lnTo>
                  <a:pt x="1361884" y="455637"/>
                </a:lnTo>
                <a:lnTo>
                  <a:pt x="1335024" y="401828"/>
                </a:lnTo>
                <a:lnTo>
                  <a:pt x="1318158" y="332714"/>
                </a:lnTo>
                <a:lnTo>
                  <a:pt x="1313942" y="293636"/>
                </a:lnTo>
                <a:lnTo>
                  <a:pt x="1312545" y="251587"/>
                </a:lnTo>
                <a:lnTo>
                  <a:pt x="1313942" y="208775"/>
                </a:lnTo>
                <a:lnTo>
                  <a:pt x="1318171" y="169278"/>
                </a:lnTo>
                <a:lnTo>
                  <a:pt x="1335151" y="100203"/>
                </a:lnTo>
                <a:lnTo>
                  <a:pt x="1362138" y="46977"/>
                </a:lnTo>
                <a:lnTo>
                  <a:pt x="1378762" y="27178"/>
                </a:lnTo>
                <a:lnTo>
                  <a:pt x="1397508" y="11938"/>
                </a:lnTo>
                <a:close/>
              </a:path>
              <a:path w="7608570" h="502919">
                <a:moveTo>
                  <a:pt x="1917065" y="79629"/>
                </a:moveTo>
                <a:lnTo>
                  <a:pt x="1913255" y="67437"/>
                </a:lnTo>
                <a:lnTo>
                  <a:pt x="1891411" y="75971"/>
                </a:lnTo>
                <a:lnTo>
                  <a:pt x="1872208" y="89344"/>
                </a:lnTo>
                <a:lnTo>
                  <a:pt x="1841754" y="130683"/>
                </a:lnTo>
                <a:lnTo>
                  <a:pt x="1822881" y="186423"/>
                </a:lnTo>
                <a:lnTo>
                  <a:pt x="1816608" y="251714"/>
                </a:lnTo>
                <a:lnTo>
                  <a:pt x="1818106" y="283984"/>
                </a:lnTo>
                <a:lnTo>
                  <a:pt x="1830743" y="345681"/>
                </a:lnTo>
                <a:lnTo>
                  <a:pt x="1855647" y="395465"/>
                </a:lnTo>
                <a:lnTo>
                  <a:pt x="1891411" y="427088"/>
                </a:lnTo>
                <a:lnTo>
                  <a:pt x="1913255" y="435610"/>
                </a:lnTo>
                <a:lnTo>
                  <a:pt x="1917065" y="423418"/>
                </a:lnTo>
                <a:lnTo>
                  <a:pt x="1900135" y="414655"/>
                </a:lnTo>
                <a:lnTo>
                  <a:pt x="1885378" y="401891"/>
                </a:lnTo>
                <a:lnTo>
                  <a:pt x="1862455" y="364363"/>
                </a:lnTo>
                <a:lnTo>
                  <a:pt x="1848561" y="313524"/>
                </a:lnTo>
                <a:lnTo>
                  <a:pt x="1843913" y="251714"/>
                </a:lnTo>
                <a:lnTo>
                  <a:pt x="1845068" y="219367"/>
                </a:lnTo>
                <a:lnTo>
                  <a:pt x="1854352" y="162839"/>
                </a:lnTo>
                <a:lnTo>
                  <a:pt x="1872805" y="117919"/>
                </a:lnTo>
                <a:lnTo>
                  <a:pt x="1900135" y="88392"/>
                </a:lnTo>
                <a:lnTo>
                  <a:pt x="1917065" y="79629"/>
                </a:lnTo>
                <a:close/>
              </a:path>
              <a:path w="7608570" h="502919">
                <a:moveTo>
                  <a:pt x="4422140" y="122809"/>
                </a:moveTo>
                <a:lnTo>
                  <a:pt x="4418203" y="111379"/>
                </a:lnTo>
                <a:lnTo>
                  <a:pt x="4397667" y="118770"/>
                </a:lnTo>
                <a:lnTo>
                  <a:pt x="4379696" y="129463"/>
                </a:lnTo>
                <a:lnTo>
                  <a:pt x="4351401" y="160782"/>
                </a:lnTo>
                <a:lnTo>
                  <a:pt x="4333964" y="202793"/>
                </a:lnTo>
                <a:lnTo>
                  <a:pt x="4328236" y="251079"/>
                </a:lnTo>
                <a:lnTo>
                  <a:pt x="4328160" y="252603"/>
                </a:lnTo>
                <a:lnTo>
                  <a:pt x="4329608" y="278549"/>
                </a:lnTo>
                <a:lnTo>
                  <a:pt x="4341177" y="324370"/>
                </a:lnTo>
                <a:lnTo>
                  <a:pt x="4364177" y="361607"/>
                </a:lnTo>
                <a:lnTo>
                  <a:pt x="4397654" y="386321"/>
                </a:lnTo>
                <a:lnTo>
                  <a:pt x="4418203" y="393700"/>
                </a:lnTo>
                <a:lnTo>
                  <a:pt x="4421759" y="382270"/>
                </a:lnTo>
                <a:lnTo>
                  <a:pt x="4405630" y="375107"/>
                </a:lnTo>
                <a:lnTo>
                  <a:pt x="4391736" y="365175"/>
                </a:lnTo>
                <a:lnTo>
                  <a:pt x="4363237" y="318935"/>
                </a:lnTo>
                <a:lnTo>
                  <a:pt x="4354855" y="276021"/>
                </a:lnTo>
                <a:lnTo>
                  <a:pt x="4353814" y="251079"/>
                </a:lnTo>
                <a:lnTo>
                  <a:pt x="4354855" y="227012"/>
                </a:lnTo>
                <a:lnTo>
                  <a:pt x="4363237" y="185242"/>
                </a:lnTo>
                <a:lnTo>
                  <a:pt x="4391825" y="139687"/>
                </a:lnTo>
                <a:lnTo>
                  <a:pt x="4405846" y="129895"/>
                </a:lnTo>
                <a:lnTo>
                  <a:pt x="4422140" y="122809"/>
                </a:lnTo>
                <a:close/>
              </a:path>
              <a:path w="7608570" h="502919">
                <a:moveTo>
                  <a:pt x="5192014" y="252603"/>
                </a:moveTo>
                <a:lnTo>
                  <a:pt x="5190566" y="227012"/>
                </a:lnTo>
                <a:lnTo>
                  <a:pt x="5190553" y="226720"/>
                </a:lnTo>
                <a:lnTo>
                  <a:pt x="5186184" y="202793"/>
                </a:lnTo>
                <a:lnTo>
                  <a:pt x="5168646" y="160782"/>
                </a:lnTo>
                <a:lnTo>
                  <a:pt x="5140350" y="129463"/>
                </a:lnTo>
                <a:lnTo>
                  <a:pt x="5101971" y="111379"/>
                </a:lnTo>
                <a:lnTo>
                  <a:pt x="5097907" y="122809"/>
                </a:lnTo>
                <a:lnTo>
                  <a:pt x="5114264" y="129895"/>
                </a:lnTo>
                <a:lnTo>
                  <a:pt x="5128323" y="139687"/>
                </a:lnTo>
                <a:lnTo>
                  <a:pt x="5156847" y="185242"/>
                </a:lnTo>
                <a:lnTo>
                  <a:pt x="5165141" y="226720"/>
                </a:lnTo>
                <a:lnTo>
                  <a:pt x="5166233" y="251079"/>
                </a:lnTo>
                <a:lnTo>
                  <a:pt x="5165179" y="276021"/>
                </a:lnTo>
                <a:lnTo>
                  <a:pt x="5156797" y="318935"/>
                </a:lnTo>
                <a:lnTo>
                  <a:pt x="5128323" y="365175"/>
                </a:lnTo>
                <a:lnTo>
                  <a:pt x="5098415" y="382270"/>
                </a:lnTo>
                <a:lnTo>
                  <a:pt x="5101971" y="393700"/>
                </a:lnTo>
                <a:lnTo>
                  <a:pt x="5140464" y="375627"/>
                </a:lnTo>
                <a:lnTo>
                  <a:pt x="5168773" y="344297"/>
                </a:lnTo>
                <a:lnTo>
                  <a:pt x="5186197" y="302450"/>
                </a:lnTo>
                <a:lnTo>
                  <a:pt x="5190553" y="278549"/>
                </a:lnTo>
                <a:lnTo>
                  <a:pt x="5192014" y="252603"/>
                </a:lnTo>
                <a:close/>
              </a:path>
              <a:path w="7608570" h="502919">
                <a:moveTo>
                  <a:pt x="6551168" y="122809"/>
                </a:moveTo>
                <a:lnTo>
                  <a:pt x="6547231" y="111379"/>
                </a:lnTo>
                <a:lnTo>
                  <a:pt x="6526695" y="118770"/>
                </a:lnTo>
                <a:lnTo>
                  <a:pt x="6508724" y="129463"/>
                </a:lnTo>
                <a:lnTo>
                  <a:pt x="6480429" y="160782"/>
                </a:lnTo>
                <a:lnTo>
                  <a:pt x="6462992" y="202793"/>
                </a:lnTo>
                <a:lnTo>
                  <a:pt x="6457264" y="251079"/>
                </a:lnTo>
                <a:lnTo>
                  <a:pt x="6457188" y="252603"/>
                </a:lnTo>
                <a:lnTo>
                  <a:pt x="6458636" y="278549"/>
                </a:lnTo>
                <a:lnTo>
                  <a:pt x="6470205" y="324370"/>
                </a:lnTo>
                <a:lnTo>
                  <a:pt x="6493205" y="361607"/>
                </a:lnTo>
                <a:lnTo>
                  <a:pt x="6526682" y="386321"/>
                </a:lnTo>
                <a:lnTo>
                  <a:pt x="6547231" y="393700"/>
                </a:lnTo>
                <a:lnTo>
                  <a:pt x="6550787" y="382270"/>
                </a:lnTo>
                <a:lnTo>
                  <a:pt x="6534658" y="375107"/>
                </a:lnTo>
                <a:lnTo>
                  <a:pt x="6520764" y="365175"/>
                </a:lnTo>
                <a:lnTo>
                  <a:pt x="6492265" y="318935"/>
                </a:lnTo>
                <a:lnTo>
                  <a:pt x="6483883" y="276021"/>
                </a:lnTo>
                <a:lnTo>
                  <a:pt x="6482842" y="251079"/>
                </a:lnTo>
                <a:lnTo>
                  <a:pt x="6483883" y="227012"/>
                </a:lnTo>
                <a:lnTo>
                  <a:pt x="6492265" y="185242"/>
                </a:lnTo>
                <a:lnTo>
                  <a:pt x="6520853" y="139687"/>
                </a:lnTo>
                <a:lnTo>
                  <a:pt x="6534874" y="129895"/>
                </a:lnTo>
                <a:lnTo>
                  <a:pt x="6551168" y="122809"/>
                </a:lnTo>
                <a:close/>
              </a:path>
              <a:path w="7608570" h="502919">
                <a:moveTo>
                  <a:pt x="7321042" y="252603"/>
                </a:moveTo>
                <a:lnTo>
                  <a:pt x="7319594" y="227012"/>
                </a:lnTo>
                <a:lnTo>
                  <a:pt x="7319581" y="226720"/>
                </a:lnTo>
                <a:lnTo>
                  <a:pt x="7315213" y="202793"/>
                </a:lnTo>
                <a:lnTo>
                  <a:pt x="7297674" y="160782"/>
                </a:lnTo>
                <a:lnTo>
                  <a:pt x="7269378" y="129463"/>
                </a:lnTo>
                <a:lnTo>
                  <a:pt x="7230999" y="111379"/>
                </a:lnTo>
                <a:lnTo>
                  <a:pt x="7226935" y="122809"/>
                </a:lnTo>
                <a:lnTo>
                  <a:pt x="7243292" y="129895"/>
                </a:lnTo>
                <a:lnTo>
                  <a:pt x="7257351" y="139687"/>
                </a:lnTo>
                <a:lnTo>
                  <a:pt x="7285876" y="185242"/>
                </a:lnTo>
                <a:lnTo>
                  <a:pt x="7294169" y="226720"/>
                </a:lnTo>
                <a:lnTo>
                  <a:pt x="7295261" y="251079"/>
                </a:lnTo>
                <a:lnTo>
                  <a:pt x="7294207" y="276021"/>
                </a:lnTo>
                <a:lnTo>
                  <a:pt x="7285825" y="318935"/>
                </a:lnTo>
                <a:lnTo>
                  <a:pt x="7257351" y="365175"/>
                </a:lnTo>
                <a:lnTo>
                  <a:pt x="7227443" y="382270"/>
                </a:lnTo>
                <a:lnTo>
                  <a:pt x="7230999" y="393700"/>
                </a:lnTo>
                <a:lnTo>
                  <a:pt x="7269493" y="375627"/>
                </a:lnTo>
                <a:lnTo>
                  <a:pt x="7297801" y="344297"/>
                </a:lnTo>
                <a:lnTo>
                  <a:pt x="7315225" y="302450"/>
                </a:lnTo>
                <a:lnTo>
                  <a:pt x="7319581" y="278549"/>
                </a:lnTo>
                <a:lnTo>
                  <a:pt x="7321042" y="252603"/>
                </a:lnTo>
                <a:close/>
              </a:path>
              <a:path w="7608570" h="502919">
                <a:moveTo>
                  <a:pt x="7457935" y="251714"/>
                </a:moveTo>
                <a:lnTo>
                  <a:pt x="7456437" y="219367"/>
                </a:lnTo>
                <a:lnTo>
                  <a:pt x="7456373" y="217830"/>
                </a:lnTo>
                <a:lnTo>
                  <a:pt x="7451661" y="186423"/>
                </a:lnTo>
                <a:lnTo>
                  <a:pt x="7432802" y="130683"/>
                </a:lnTo>
                <a:lnTo>
                  <a:pt x="7402322" y="89344"/>
                </a:lnTo>
                <a:lnTo>
                  <a:pt x="7361174" y="67437"/>
                </a:lnTo>
                <a:lnTo>
                  <a:pt x="7357491" y="79629"/>
                </a:lnTo>
                <a:lnTo>
                  <a:pt x="7374395" y="88392"/>
                </a:lnTo>
                <a:lnTo>
                  <a:pt x="7389114" y="101155"/>
                </a:lnTo>
                <a:lnTo>
                  <a:pt x="7411974" y="138684"/>
                </a:lnTo>
                <a:lnTo>
                  <a:pt x="7425906" y="189725"/>
                </a:lnTo>
                <a:lnTo>
                  <a:pt x="7430516" y="251714"/>
                </a:lnTo>
                <a:lnTo>
                  <a:pt x="7429360" y="283984"/>
                </a:lnTo>
                <a:lnTo>
                  <a:pt x="7420115" y="340321"/>
                </a:lnTo>
                <a:lnTo>
                  <a:pt x="7401636" y="385127"/>
                </a:lnTo>
                <a:lnTo>
                  <a:pt x="7374395" y="414655"/>
                </a:lnTo>
                <a:lnTo>
                  <a:pt x="7357491" y="423418"/>
                </a:lnTo>
                <a:lnTo>
                  <a:pt x="7361174" y="435610"/>
                </a:lnTo>
                <a:lnTo>
                  <a:pt x="7402322" y="413702"/>
                </a:lnTo>
                <a:lnTo>
                  <a:pt x="7432802" y="372364"/>
                </a:lnTo>
                <a:lnTo>
                  <a:pt x="7451661" y="316649"/>
                </a:lnTo>
                <a:lnTo>
                  <a:pt x="7456373" y="285292"/>
                </a:lnTo>
                <a:lnTo>
                  <a:pt x="7457935" y="251714"/>
                </a:lnTo>
                <a:close/>
              </a:path>
              <a:path w="7608570" h="502919">
                <a:moveTo>
                  <a:pt x="7608189" y="251206"/>
                </a:moveTo>
                <a:lnTo>
                  <a:pt x="7606411" y="208775"/>
                </a:lnTo>
                <a:lnTo>
                  <a:pt x="7600848" y="166268"/>
                </a:lnTo>
                <a:lnTo>
                  <a:pt x="7591679" y="128104"/>
                </a:lnTo>
                <a:lnTo>
                  <a:pt x="7562824" y="61747"/>
                </a:lnTo>
                <a:lnTo>
                  <a:pt x="7523200" y="15316"/>
                </a:lnTo>
                <a:lnTo>
                  <a:pt x="7499604" y="0"/>
                </a:lnTo>
                <a:lnTo>
                  <a:pt x="7494778" y="11938"/>
                </a:lnTo>
                <a:lnTo>
                  <a:pt x="7513510" y="27178"/>
                </a:lnTo>
                <a:lnTo>
                  <a:pt x="7530122" y="46977"/>
                </a:lnTo>
                <a:lnTo>
                  <a:pt x="7557008" y="100203"/>
                </a:lnTo>
                <a:lnTo>
                  <a:pt x="7574089" y="169278"/>
                </a:lnTo>
                <a:lnTo>
                  <a:pt x="7578331" y="208775"/>
                </a:lnTo>
                <a:lnTo>
                  <a:pt x="7579728" y="251206"/>
                </a:lnTo>
                <a:lnTo>
                  <a:pt x="7579741" y="251587"/>
                </a:lnTo>
                <a:lnTo>
                  <a:pt x="7578331" y="293636"/>
                </a:lnTo>
                <a:lnTo>
                  <a:pt x="7574115" y="332714"/>
                </a:lnTo>
                <a:lnTo>
                  <a:pt x="7557262" y="401828"/>
                </a:lnTo>
                <a:lnTo>
                  <a:pt x="7530300" y="455637"/>
                </a:lnTo>
                <a:lnTo>
                  <a:pt x="7494778" y="490855"/>
                </a:lnTo>
                <a:lnTo>
                  <a:pt x="7499604" y="502793"/>
                </a:lnTo>
                <a:lnTo>
                  <a:pt x="7544270" y="466953"/>
                </a:lnTo>
                <a:lnTo>
                  <a:pt x="7578852" y="409575"/>
                </a:lnTo>
                <a:lnTo>
                  <a:pt x="7600848" y="335915"/>
                </a:lnTo>
                <a:lnTo>
                  <a:pt x="7606347" y="294957"/>
                </a:lnTo>
                <a:lnTo>
                  <a:pt x="7608163" y="251587"/>
                </a:lnTo>
                <a:lnTo>
                  <a:pt x="7608189" y="251206"/>
                </a:lnTo>
                <a:close/>
              </a:path>
            </a:pathLst>
          </a:custGeom>
          <a:solidFill>
            <a:srgbClr val="000000"/>
          </a:solidFill>
        </p:spPr>
        <p:txBody>
          <a:bodyPr wrap="square" lIns="0" tIns="0" rIns="0" bIns="0" rtlCol="0"/>
          <a:lstStyle/>
          <a:p>
            <a:endParaRPr/>
          </a:p>
        </p:txBody>
      </p:sp>
      <p:sp>
        <p:nvSpPr>
          <p:cNvPr id="3" name="object 3"/>
          <p:cNvSpPr txBox="1"/>
          <p:nvPr/>
        </p:nvSpPr>
        <p:spPr>
          <a:xfrm>
            <a:off x="158495" y="-23855"/>
            <a:ext cx="11957305" cy="1411284"/>
          </a:xfrm>
          <a:prstGeom prst="rect">
            <a:avLst/>
          </a:prstGeom>
        </p:spPr>
        <p:txBody>
          <a:bodyPr vert="horz" wrap="square" lIns="0" tIns="109855" rIns="0" bIns="0" rtlCol="0">
            <a:spAutoFit/>
          </a:bodyPr>
          <a:lstStyle/>
          <a:p>
            <a:pPr marL="76200">
              <a:lnSpc>
                <a:spcPct val="100000"/>
              </a:lnSpc>
              <a:spcBef>
                <a:spcPts val="865"/>
              </a:spcBef>
            </a:pPr>
            <a:r>
              <a:rPr sz="2400" b="1" dirty="0">
                <a:solidFill>
                  <a:srgbClr val="FF0000"/>
                </a:solidFill>
                <a:latin typeface="Calibri"/>
                <a:cs typeface="Calibri"/>
              </a:rPr>
              <a:t>Example</a:t>
            </a:r>
            <a:r>
              <a:rPr sz="2400" b="1" spc="-70" dirty="0">
                <a:solidFill>
                  <a:srgbClr val="FF0000"/>
                </a:solidFill>
                <a:latin typeface="Calibri"/>
                <a:cs typeface="Calibri"/>
              </a:rPr>
              <a:t> </a:t>
            </a:r>
            <a:r>
              <a:rPr sz="2400" b="1" dirty="0">
                <a:solidFill>
                  <a:srgbClr val="FF0000"/>
                </a:solidFill>
                <a:latin typeface="Calibri"/>
                <a:cs typeface="Calibri"/>
              </a:rPr>
              <a:t>1</a:t>
            </a:r>
            <a:r>
              <a:rPr lang="en-US" sz="2400" b="1" dirty="0">
                <a:solidFill>
                  <a:srgbClr val="FF0000"/>
                </a:solidFill>
                <a:latin typeface="Calibri"/>
                <a:cs typeface="Calibri"/>
              </a:rPr>
              <a:t>6</a:t>
            </a:r>
            <a:r>
              <a:rPr sz="2400" b="1" dirty="0">
                <a:solidFill>
                  <a:srgbClr val="FF0000"/>
                </a:solidFill>
                <a:latin typeface="Calibri"/>
                <a:cs typeface="Calibri"/>
              </a:rPr>
              <a:t>.</a:t>
            </a:r>
            <a:r>
              <a:rPr sz="2400" b="1" spc="-65" dirty="0">
                <a:solidFill>
                  <a:srgbClr val="FF0000"/>
                </a:solidFill>
                <a:latin typeface="Calibri"/>
                <a:cs typeface="Calibri"/>
              </a:rPr>
              <a:t> </a:t>
            </a:r>
            <a:r>
              <a:rPr sz="2400" b="1" dirty="0">
                <a:solidFill>
                  <a:srgbClr val="6F2F9F"/>
                </a:solidFill>
                <a:latin typeface="Calibri"/>
                <a:cs typeface="Calibri"/>
              </a:rPr>
              <a:t>An</a:t>
            </a:r>
            <a:r>
              <a:rPr sz="2400" b="1" spc="-65" dirty="0">
                <a:solidFill>
                  <a:srgbClr val="6F2F9F"/>
                </a:solidFill>
                <a:latin typeface="Calibri"/>
                <a:cs typeface="Calibri"/>
              </a:rPr>
              <a:t> </a:t>
            </a:r>
            <a:r>
              <a:rPr sz="2400" b="1" dirty="0">
                <a:solidFill>
                  <a:srgbClr val="6F2F9F"/>
                </a:solidFill>
                <a:latin typeface="Calibri"/>
                <a:cs typeface="Calibri"/>
              </a:rPr>
              <a:t>angle</a:t>
            </a:r>
            <a:r>
              <a:rPr sz="2400" b="1" spc="-50" dirty="0">
                <a:solidFill>
                  <a:srgbClr val="6F2F9F"/>
                </a:solidFill>
                <a:latin typeface="Calibri"/>
                <a:cs typeface="Calibri"/>
              </a:rPr>
              <a:t> </a:t>
            </a:r>
            <a:r>
              <a:rPr sz="2400" b="1" dirty="0">
                <a:solidFill>
                  <a:srgbClr val="6F2F9F"/>
                </a:solidFill>
                <a:latin typeface="Calibri"/>
                <a:cs typeface="Calibri"/>
              </a:rPr>
              <a:t>modulated</a:t>
            </a:r>
            <a:r>
              <a:rPr sz="2400" b="1" spc="-60" dirty="0">
                <a:solidFill>
                  <a:srgbClr val="6F2F9F"/>
                </a:solidFill>
                <a:latin typeface="Calibri"/>
                <a:cs typeface="Calibri"/>
              </a:rPr>
              <a:t> </a:t>
            </a:r>
            <a:r>
              <a:rPr sz="2400" b="1" dirty="0">
                <a:solidFill>
                  <a:srgbClr val="6F2F9F"/>
                </a:solidFill>
                <a:latin typeface="Calibri"/>
                <a:cs typeface="Calibri"/>
              </a:rPr>
              <a:t>signal</a:t>
            </a:r>
            <a:r>
              <a:rPr sz="2400" b="1" spc="-65" dirty="0">
                <a:solidFill>
                  <a:srgbClr val="6F2F9F"/>
                </a:solidFill>
                <a:latin typeface="Calibri"/>
                <a:cs typeface="Calibri"/>
              </a:rPr>
              <a:t> </a:t>
            </a:r>
            <a:r>
              <a:rPr sz="2400" b="1" dirty="0">
                <a:solidFill>
                  <a:srgbClr val="6F2F9F"/>
                </a:solidFill>
                <a:latin typeface="Calibri"/>
                <a:cs typeface="Calibri"/>
              </a:rPr>
              <a:t>is</a:t>
            </a:r>
            <a:r>
              <a:rPr sz="2400" b="1" spc="-55" dirty="0">
                <a:solidFill>
                  <a:srgbClr val="6F2F9F"/>
                </a:solidFill>
                <a:latin typeface="Calibri"/>
                <a:cs typeface="Calibri"/>
              </a:rPr>
              <a:t> </a:t>
            </a:r>
            <a:r>
              <a:rPr sz="2400" b="1" dirty="0">
                <a:solidFill>
                  <a:srgbClr val="6F2F9F"/>
                </a:solidFill>
                <a:latin typeface="Calibri"/>
                <a:cs typeface="Calibri"/>
              </a:rPr>
              <a:t>given</a:t>
            </a:r>
            <a:r>
              <a:rPr sz="2400" b="1" spc="-70" dirty="0">
                <a:solidFill>
                  <a:srgbClr val="6F2F9F"/>
                </a:solidFill>
                <a:latin typeface="Calibri"/>
                <a:cs typeface="Calibri"/>
              </a:rPr>
              <a:t> </a:t>
            </a:r>
            <a:r>
              <a:rPr sz="2400" b="1" spc="-25" dirty="0">
                <a:solidFill>
                  <a:srgbClr val="6F2F9F"/>
                </a:solidFill>
                <a:latin typeface="Calibri"/>
                <a:cs typeface="Calibri"/>
              </a:rPr>
              <a:t>by:</a:t>
            </a:r>
            <a:endParaRPr sz="2400" dirty="0">
              <a:latin typeface="Calibri"/>
              <a:cs typeface="Calibri"/>
            </a:endParaRPr>
          </a:p>
          <a:p>
            <a:pPr marL="1507490">
              <a:lnSpc>
                <a:spcPct val="100000"/>
              </a:lnSpc>
              <a:spcBef>
                <a:spcPts val="765"/>
              </a:spcBef>
              <a:tabLst>
                <a:tab pos="2548255" algn="l"/>
                <a:tab pos="3529965" algn="l"/>
                <a:tab pos="4049395" algn="l"/>
                <a:tab pos="7408545" algn="l"/>
                <a:tab pos="8679815" algn="l"/>
                <a:tab pos="9806305" algn="l"/>
              </a:tabLst>
            </a:pPr>
            <a:r>
              <a:rPr sz="2400" dirty="0">
                <a:latin typeface="Cambria Math"/>
                <a:cs typeface="Cambria Math"/>
              </a:rPr>
              <a:t>⟹</a:t>
            </a:r>
            <a:r>
              <a:rPr sz="2400" spc="130" dirty="0">
                <a:latin typeface="Cambria Math"/>
                <a:cs typeface="Cambria Math"/>
              </a:rPr>
              <a:t> </a:t>
            </a:r>
            <a:r>
              <a:rPr sz="2400" dirty="0">
                <a:latin typeface="Cambria Math"/>
                <a:cs typeface="Cambria Math"/>
              </a:rPr>
              <a:t>𝐬</a:t>
            </a:r>
            <a:r>
              <a:rPr sz="2400" spc="465" dirty="0">
                <a:latin typeface="Cambria Math"/>
                <a:cs typeface="Cambria Math"/>
              </a:rPr>
              <a:t> </a:t>
            </a:r>
            <a:r>
              <a:rPr sz="2400" spc="-50" dirty="0">
                <a:latin typeface="Cambria Math"/>
                <a:cs typeface="Cambria Math"/>
              </a:rPr>
              <a:t>𝐭</a:t>
            </a:r>
            <a:r>
              <a:rPr sz="2400" dirty="0">
                <a:latin typeface="Cambria Math"/>
                <a:cs typeface="Cambria Math"/>
              </a:rPr>
              <a:t>	=</a:t>
            </a:r>
            <a:r>
              <a:rPr sz="2400" spc="125" dirty="0">
                <a:latin typeface="Cambria Math"/>
                <a:cs typeface="Cambria Math"/>
              </a:rPr>
              <a:t> </a:t>
            </a:r>
            <a:r>
              <a:rPr sz="2400" spc="-25" dirty="0">
                <a:latin typeface="Cambria Math"/>
                <a:cs typeface="Cambria Math"/>
              </a:rPr>
              <a:t>𝐜𝐨𝐬</a:t>
            </a:r>
            <a:r>
              <a:rPr sz="2400" dirty="0">
                <a:latin typeface="Cambria Math"/>
                <a:cs typeface="Cambria Math"/>
              </a:rPr>
              <a:t>	</a:t>
            </a:r>
            <a:r>
              <a:rPr sz="2400" spc="-25" dirty="0">
                <a:latin typeface="Cambria Math"/>
                <a:cs typeface="Cambria Math"/>
              </a:rPr>
              <a:t>𝟐𝛑</a:t>
            </a:r>
            <a:r>
              <a:rPr sz="2400" dirty="0">
                <a:latin typeface="Cambria Math"/>
                <a:cs typeface="Cambria Math"/>
              </a:rPr>
              <a:t>	𝟐</a:t>
            </a:r>
            <a:r>
              <a:rPr sz="2400" spc="5" dirty="0">
                <a:latin typeface="Cambria Math"/>
                <a:cs typeface="Cambria Math"/>
              </a:rPr>
              <a:t> </a:t>
            </a:r>
            <a:r>
              <a:rPr sz="2400" dirty="0">
                <a:latin typeface="Cambria Math"/>
                <a:cs typeface="Cambria Math"/>
              </a:rPr>
              <a:t>×</a:t>
            </a:r>
            <a:r>
              <a:rPr sz="2400" spc="5" dirty="0">
                <a:latin typeface="Cambria Math"/>
                <a:cs typeface="Cambria Math"/>
              </a:rPr>
              <a:t> </a:t>
            </a:r>
            <a:r>
              <a:rPr sz="2400" dirty="0">
                <a:latin typeface="Cambria Math"/>
                <a:cs typeface="Cambria Math"/>
              </a:rPr>
              <a:t>𝟏𝟎</a:t>
            </a:r>
            <a:r>
              <a:rPr sz="2625" baseline="28571" dirty="0">
                <a:latin typeface="Cambria Math"/>
                <a:cs typeface="Cambria Math"/>
              </a:rPr>
              <a:t>𝟔</a:t>
            </a:r>
            <a:r>
              <a:rPr sz="2400" dirty="0">
                <a:latin typeface="Cambria Math"/>
                <a:cs typeface="Cambria Math"/>
              </a:rPr>
              <a:t>𝐭</a:t>
            </a:r>
            <a:r>
              <a:rPr sz="2400" spc="5" dirty="0">
                <a:latin typeface="Cambria Math"/>
                <a:cs typeface="Cambria Math"/>
              </a:rPr>
              <a:t> </a:t>
            </a:r>
            <a:r>
              <a:rPr sz="2400" dirty="0">
                <a:latin typeface="Cambria Math"/>
                <a:cs typeface="Cambria Math"/>
              </a:rPr>
              <a:t>+</a:t>
            </a:r>
            <a:r>
              <a:rPr sz="2400" spc="10" dirty="0">
                <a:latin typeface="Cambria Math"/>
                <a:cs typeface="Cambria Math"/>
              </a:rPr>
              <a:t> </a:t>
            </a:r>
            <a:r>
              <a:rPr sz="2400" spc="-20" dirty="0">
                <a:latin typeface="Cambria Math"/>
                <a:cs typeface="Cambria Math"/>
              </a:rPr>
              <a:t>𝟑𝟎</a:t>
            </a:r>
            <a:r>
              <a:rPr sz="2400" spc="-125" dirty="0">
                <a:latin typeface="Cambria Math"/>
                <a:cs typeface="Cambria Math"/>
              </a:rPr>
              <a:t> </a:t>
            </a:r>
            <a:r>
              <a:rPr sz="2400" dirty="0">
                <a:latin typeface="Cambria Math"/>
                <a:cs typeface="Cambria Math"/>
              </a:rPr>
              <a:t>𝐬𝐢𝐧</a:t>
            </a:r>
            <a:r>
              <a:rPr sz="2400" spc="470" dirty="0">
                <a:latin typeface="Cambria Math"/>
                <a:cs typeface="Cambria Math"/>
              </a:rPr>
              <a:t> </a:t>
            </a:r>
            <a:r>
              <a:rPr sz="2400" spc="-20" dirty="0">
                <a:latin typeface="Cambria Math"/>
                <a:cs typeface="Cambria Math"/>
              </a:rPr>
              <a:t>𝟏𝟓𝟎𝐭</a:t>
            </a:r>
            <a:r>
              <a:rPr sz="2400" dirty="0">
                <a:latin typeface="Cambria Math"/>
                <a:cs typeface="Cambria Math"/>
              </a:rPr>
              <a:t>	+</a:t>
            </a:r>
            <a:r>
              <a:rPr sz="2400" spc="-5" dirty="0">
                <a:latin typeface="Cambria Math"/>
                <a:cs typeface="Cambria Math"/>
              </a:rPr>
              <a:t> </a:t>
            </a:r>
            <a:r>
              <a:rPr sz="2400" spc="-20" dirty="0">
                <a:latin typeface="Cambria Math"/>
                <a:cs typeface="Cambria Math"/>
              </a:rPr>
              <a:t>𝟒𝟎</a:t>
            </a:r>
            <a:r>
              <a:rPr sz="2400" spc="-130" dirty="0">
                <a:latin typeface="Cambria Math"/>
                <a:cs typeface="Cambria Math"/>
              </a:rPr>
              <a:t> </a:t>
            </a:r>
            <a:r>
              <a:rPr lang="en-US" sz="2400" spc="-25" dirty="0">
                <a:latin typeface="Cambria Math"/>
                <a:cs typeface="Cambria Math"/>
              </a:rPr>
              <a:t>𝐬𝐢𝐧</a:t>
            </a:r>
            <a:r>
              <a:rPr sz="2400" dirty="0">
                <a:latin typeface="Cambria Math"/>
                <a:cs typeface="Cambria Math"/>
              </a:rPr>
              <a:t>	</a:t>
            </a:r>
            <a:r>
              <a:rPr sz="2400" spc="-20" dirty="0">
                <a:latin typeface="Cambria Math"/>
                <a:cs typeface="Cambria Math"/>
              </a:rPr>
              <a:t>𝟏𝟓𝟎𝐭</a:t>
            </a:r>
            <a:r>
              <a:rPr sz="2400" dirty="0">
                <a:latin typeface="Cambria Math"/>
                <a:cs typeface="Cambria Math"/>
              </a:rPr>
              <a:t>	</a:t>
            </a:r>
            <a:r>
              <a:rPr sz="2400" spc="-20" dirty="0">
                <a:latin typeface="Cambria Math"/>
                <a:cs typeface="Cambria Math"/>
              </a:rPr>
              <a:t>𝐕𝐨𝐥𝐭</a:t>
            </a:r>
            <a:endParaRPr sz="2400" dirty="0">
              <a:latin typeface="Cambria Math"/>
              <a:cs typeface="Cambria Math"/>
            </a:endParaRPr>
          </a:p>
          <a:p>
            <a:pPr marL="76200">
              <a:lnSpc>
                <a:spcPct val="100000"/>
              </a:lnSpc>
              <a:spcBef>
                <a:spcPts val="665"/>
              </a:spcBef>
            </a:pPr>
            <a:r>
              <a:rPr sz="2400" b="1" dirty="0">
                <a:solidFill>
                  <a:srgbClr val="6F2F9F"/>
                </a:solidFill>
                <a:latin typeface="Calibri"/>
                <a:cs typeface="Calibri"/>
              </a:rPr>
              <a:t>The</a:t>
            </a:r>
            <a:r>
              <a:rPr sz="2400" b="1" spc="-55" dirty="0">
                <a:solidFill>
                  <a:srgbClr val="6F2F9F"/>
                </a:solidFill>
                <a:latin typeface="Calibri"/>
                <a:cs typeface="Calibri"/>
              </a:rPr>
              <a:t> </a:t>
            </a:r>
            <a:r>
              <a:rPr sz="2400" b="1" dirty="0">
                <a:solidFill>
                  <a:srgbClr val="6F2F9F"/>
                </a:solidFill>
                <a:latin typeface="Calibri"/>
                <a:cs typeface="Calibri"/>
              </a:rPr>
              <a:t>maximum</a:t>
            </a:r>
            <a:r>
              <a:rPr sz="2400" b="1" spc="-80" dirty="0">
                <a:solidFill>
                  <a:srgbClr val="6F2F9F"/>
                </a:solidFill>
                <a:latin typeface="Calibri"/>
                <a:cs typeface="Calibri"/>
              </a:rPr>
              <a:t> </a:t>
            </a:r>
            <a:r>
              <a:rPr sz="2400" b="1" dirty="0">
                <a:solidFill>
                  <a:srgbClr val="6F2F9F"/>
                </a:solidFill>
                <a:latin typeface="Calibri"/>
                <a:cs typeface="Calibri"/>
              </a:rPr>
              <a:t>frequency</a:t>
            </a:r>
            <a:r>
              <a:rPr lang="en-US" sz="2400" b="1" dirty="0">
                <a:solidFill>
                  <a:srgbClr val="6F2F9F"/>
                </a:solidFill>
                <a:latin typeface="Calibri"/>
                <a:cs typeface="Calibri"/>
              </a:rPr>
              <a:t> deviation</a:t>
            </a:r>
            <a:r>
              <a:rPr sz="2400" b="1" spc="-55" dirty="0">
                <a:solidFill>
                  <a:srgbClr val="6F2F9F"/>
                </a:solidFill>
                <a:latin typeface="Calibri"/>
                <a:cs typeface="Calibri"/>
              </a:rPr>
              <a:t> </a:t>
            </a:r>
            <a:r>
              <a:rPr sz="2400" b="1" dirty="0">
                <a:solidFill>
                  <a:srgbClr val="6F2F9F"/>
                </a:solidFill>
                <a:latin typeface="Calibri"/>
                <a:cs typeface="Calibri"/>
              </a:rPr>
              <a:t>and</a:t>
            </a:r>
            <a:r>
              <a:rPr sz="2400" b="1" spc="-55" dirty="0">
                <a:solidFill>
                  <a:srgbClr val="6F2F9F"/>
                </a:solidFill>
                <a:latin typeface="Calibri"/>
                <a:cs typeface="Calibri"/>
              </a:rPr>
              <a:t> </a:t>
            </a:r>
            <a:r>
              <a:rPr sz="2400" b="1" dirty="0">
                <a:solidFill>
                  <a:srgbClr val="6F2F9F"/>
                </a:solidFill>
                <a:latin typeface="Calibri"/>
                <a:cs typeface="Calibri"/>
              </a:rPr>
              <a:t>phase</a:t>
            </a:r>
            <a:r>
              <a:rPr sz="2400" b="1" spc="-50" dirty="0">
                <a:solidFill>
                  <a:srgbClr val="6F2F9F"/>
                </a:solidFill>
                <a:latin typeface="Calibri"/>
                <a:cs typeface="Calibri"/>
              </a:rPr>
              <a:t> </a:t>
            </a:r>
            <a:r>
              <a:rPr sz="2400" b="1" spc="-10" dirty="0">
                <a:solidFill>
                  <a:srgbClr val="6F2F9F"/>
                </a:solidFill>
                <a:latin typeface="Calibri"/>
                <a:cs typeface="Calibri"/>
              </a:rPr>
              <a:t>deviation</a:t>
            </a:r>
            <a:r>
              <a:rPr sz="2400" b="1" spc="-40" dirty="0">
                <a:solidFill>
                  <a:srgbClr val="6F2F9F"/>
                </a:solidFill>
                <a:latin typeface="Calibri"/>
                <a:cs typeface="Calibri"/>
              </a:rPr>
              <a:t> </a:t>
            </a:r>
            <a:r>
              <a:rPr sz="2400" b="1" dirty="0">
                <a:solidFill>
                  <a:srgbClr val="6F2F9F"/>
                </a:solidFill>
                <a:latin typeface="Calibri"/>
                <a:cs typeface="Calibri"/>
              </a:rPr>
              <a:t>of</a:t>
            </a:r>
            <a:r>
              <a:rPr sz="2400" b="1" spc="-70" dirty="0">
                <a:solidFill>
                  <a:srgbClr val="6F2F9F"/>
                </a:solidFill>
                <a:latin typeface="Calibri"/>
                <a:cs typeface="Calibri"/>
              </a:rPr>
              <a:t> </a:t>
            </a:r>
            <a:r>
              <a:rPr sz="2400" b="1" dirty="0">
                <a:solidFill>
                  <a:srgbClr val="6F2F9F"/>
                </a:solidFill>
                <a:latin typeface="Calibri"/>
                <a:cs typeface="Calibri"/>
              </a:rPr>
              <a:t>above</a:t>
            </a:r>
            <a:r>
              <a:rPr sz="2400" b="1" spc="-55" dirty="0">
                <a:solidFill>
                  <a:srgbClr val="6F2F9F"/>
                </a:solidFill>
                <a:latin typeface="Calibri"/>
                <a:cs typeface="Calibri"/>
              </a:rPr>
              <a:t> </a:t>
            </a:r>
            <a:r>
              <a:rPr sz="2400" b="1" dirty="0">
                <a:solidFill>
                  <a:srgbClr val="6F2F9F"/>
                </a:solidFill>
                <a:latin typeface="Calibri"/>
                <a:cs typeface="Calibri"/>
              </a:rPr>
              <a:t>signal</a:t>
            </a:r>
            <a:r>
              <a:rPr sz="2400" b="1" spc="-60" dirty="0">
                <a:solidFill>
                  <a:srgbClr val="6F2F9F"/>
                </a:solidFill>
                <a:latin typeface="Calibri"/>
                <a:cs typeface="Calibri"/>
              </a:rPr>
              <a:t> </a:t>
            </a:r>
            <a:r>
              <a:rPr lang="en-US" sz="2400" b="1" spc="-60" dirty="0">
                <a:solidFill>
                  <a:srgbClr val="6F2F9F"/>
                </a:solidFill>
                <a:latin typeface="Calibri"/>
                <a:cs typeface="Calibri"/>
              </a:rPr>
              <a:t>are</a:t>
            </a:r>
            <a:r>
              <a:rPr sz="2400" b="1" spc="-50" dirty="0">
                <a:solidFill>
                  <a:srgbClr val="6F2F9F"/>
                </a:solidFill>
                <a:latin typeface="Calibri"/>
                <a:cs typeface="Calibri"/>
              </a:rPr>
              <a:t> </a:t>
            </a:r>
            <a:r>
              <a:rPr sz="2400" b="1" spc="-10" dirty="0">
                <a:solidFill>
                  <a:srgbClr val="6F2F9F"/>
                </a:solidFill>
                <a:latin typeface="Calibri"/>
                <a:cs typeface="Calibri"/>
              </a:rPr>
              <a:t>……</a:t>
            </a:r>
            <a:r>
              <a:rPr lang="en-US" sz="2400" b="1" spc="-10" dirty="0">
                <a:solidFill>
                  <a:srgbClr val="6F2F9F"/>
                </a:solidFill>
                <a:latin typeface="Calibri"/>
                <a:cs typeface="Calibri"/>
              </a:rPr>
              <a:t>………?</a:t>
            </a:r>
            <a:endParaRPr sz="2400" dirty="0">
              <a:latin typeface="Calibri"/>
              <a:cs typeface="Calibri"/>
            </a:endParaRPr>
          </a:p>
        </p:txBody>
      </p:sp>
      <p:pic>
        <p:nvPicPr>
          <p:cNvPr id="7" name="Picture 6">
            <a:extLst>
              <a:ext uri="{FF2B5EF4-FFF2-40B4-BE49-F238E27FC236}">
                <a16:creationId xmlns:a16="http://schemas.microsoft.com/office/drawing/2014/main" id="{077A2B0F-66DD-4A78-B0E0-59EBD71226DE}"/>
              </a:ext>
            </a:extLst>
          </p:cNvPr>
          <p:cNvPicPr>
            <a:picLocks noChangeAspect="1"/>
          </p:cNvPicPr>
          <p:nvPr/>
        </p:nvPicPr>
        <p:blipFill>
          <a:blip r:embed="rId2"/>
          <a:stretch>
            <a:fillRect/>
          </a:stretch>
        </p:blipFill>
        <p:spPr>
          <a:xfrm>
            <a:off x="2209800" y="1752600"/>
            <a:ext cx="7772400" cy="2151362"/>
          </a:xfrm>
          <a:prstGeom prst="rect">
            <a:avLst/>
          </a:prstGeom>
        </p:spPr>
      </p:pic>
      <p:pic>
        <p:nvPicPr>
          <p:cNvPr id="9" name="Picture 8">
            <a:extLst>
              <a:ext uri="{FF2B5EF4-FFF2-40B4-BE49-F238E27FC236}">
                <a16:creationId xmlns:a16="http://schemas.microsoft.com/office/drawing/2014/main" id="{06E2F7ED-FE7D-43F8-85DE-DC1A6CDE6105}"/>
              </a:ext>
            </a:extLst>
          </p:cNvPr>
          <p:cNvPicPr>
            <a:picLocks noChangeAspect="1"/>
          </p:cNvPicPr>
          <p:nvPr/>
        </p:nvPicPr>
        <p:blipFill>
          <a:blip r:embed="rId3"/>
          <a:stretch>
            <a:fillRect/>
          </a:stretch>
        </p:blipFill>
        <p:spPr>
          <a:xfrm>
            <a:off x="2209801" y="3923012"/>
            <a:ext cx="8396350" cy="27637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0D9A83-D403-4993-BCD0-FB131F72755B}"/>
              </a:ext>
            </a:extLst>
          </p:cNvPr>
          <p:cNvPicPr>
            <a:picLocks noChangeAspect="1"/>
          </p:cNvPicPr>
          <p:nvPr/>
        </p:nvPicPr>
        <p:blipFill>
          <a:blip r:embed="rId2"/>
          <a:stretch>
            <a:fillRect/>
          </a:stretch>
        </p:blipFill>
        <p:spPr>
          <a:xfrm>
            <a:off x="795766" y="685800"/>
            <a:ext cx="10453240" cy="5410200"/>
          </a:xfrm>
          <a:prstGeom prst="rect">
            <a:avLst/>
          </a:prstGeom>
        </p:spPr>
      </p:pic>
    </p:spTree>
    <p:extLst>
      <p:ext uri="{BB962C8B-B14F-4D97-AF65-F5344CB8AC3E}">
        <p14:creationId xmlns:p14="http://schemas.microsoft.com/office/powerpoint/2010/main" val="2893884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0920" y="515365"/>
            <a:ext cx="7608570" cy="502920"/>
          </a:xfrm>
          <a:custGeom>
            <a:avLst/>
            <a:gdLst/>
            <a:ahLst/>
            <a:cxnLst/>
            <a:rect l="l" t="t" r="r" b="b"/>
            <a:pathLst>
              <a:path w="7608570" h="502919">
                <a:moveTo>
                  <a:pt x="93980" y="122809"/>
                </a:moveTo>
                <a:lnTo>
                  <a:pt x="90043" y="111379"/>
                </a:lnTo>
                <a:lnTo>
                  <a:pt x="69507" y="118770"/>
                </a:lnTo>
                <a:lnTo>
                  <a:pt x="51536" y="129463"/>
                </a:lnTo>
                <a:lnTo>
                  <a:pt x="23241" y="160782"/>
                </a:lnTo>
                <a:lnTo>
                  <a:pt x="5803" y="202793"/>
                </a:lnTo>
                <a:lnTo>
                  <a:pt x="76" y="251079"/>
                </a:lnTo>
                <a:lnTo>
                  <a:pt x="0" y="252603"/>
                </a:lnTo>
                <a:lnTo>
                  <a:pt x="1447" y="278549"/>
                </a:lnTo>
                <a:lnTo>
                  <a:pt x="13017" y="324370"/>
                </a:lnTo>
                <a:lnTo>
                  <a:pt x="36017" y="361607"/>
                </a:lnTo>
                <a:lnTo>
                  <a:pt x="69494" y="386321"/>
                </a:lnTo>
                <a:lnTo>
                  <a:pt x="90043" y="393700"/>
                </a:lnTo>
                <a:lnTo>
                  <a:pt x="93599" y="382270"/>
                </a:lnTo>
                <a:lnTo>
                  <a:pt x="77470" y="375107"/>
                </a:lnTo>
                <a:lnTo>
                  <a:pt x="63576" y="365175"/>
                </a:lnTo>
                <a:lnTo>
                  <a:pt x="35077" y="318935"/>
                </a:lnTo>
                <a:lnTo>
                  <a:pt x="26695" y="276021"/>
                </a:lnTo>
                <a:lnTo>
                  <a:pt x="25654" y="251079"/>
                </a:lnTo>
                <a:lnTo>
                  <a:pt x="26695" y="227012"/>
                </a:lnTo>
                <a:lnTo>
                  <a:pt x="35077" y="185242"/>
                </a:lnTo>
                <a:lnTo>
                  <a:pt x="63665" y="139687"/>
                </a:lnTo>
                <a:lnTo>
                  <a:pt x="77685" y="129895"/>
                </a:lnTo>
                <a:lnTo>
                  <a:pt x="93980" y="122809"/>
                </a:lnTo>
                <a:close/>
              </a:path>
              <a:path w="7608570" h="502919">
                <a:moveTo>
                  <a:pt x="315214" y="252603"/>
                </a:moveTo>
                <a:lnTo>
                  <a:pt x="313766" y="227012"/>
                </a:lnTo>
                <a:lnTo>
                  <a:pt x="313753" y="226720"/>
                </a:lnTo>
                <a:lnTo>
                  <a:pt x="309384" y="202793"/>
                </a:lnTo>
                <a:lnTo>
                  <a:pt x="291846" y="160782"/>
                </a:lnTo>
                <a:lnTo>
                  <a:pt x="263550" y="129463"/>
                </a:lnTo>
                <a:lnTo>
                  <a:pt x="225171" y="111379"/>
                </a:lnTo>
                <a:lnTo>
                  <a:pt x="221107" y="122809"/>
                </a:lnTo>
                <a:lnTo>
                  <a:pt x="237464" y="129895"/>
                </a:lnTo>
                <a:lnTo>
                  <a:pt x="251523" y="139687"/>
                </a:lnTo>
                <a:lnTo>
                  <a:pt x="280047" y="185242"/>
                </a:lnTo>
                <a:lnTo>
                  <a:pt x="288340" y="226720"/>
                </a:lnTo>
                <a:lnTo>
                  <a:pt x="289433" y="251079"/>
                </a:lnTo>
                <a:lnTo>
                  <a:pt x="288378" y="276021"/>
                </a:lnTo>
                <a:lnTo>
                  <a:pt x="279996" y="318935"/>
                </a:lnTo>
                <a:lnTo>
                  <a:pt x="251523" y="365175"/>
                </a:lnTo>
                <a:lnTo>
                  <a:pt x="221615" y="382270"/>
                </a:lnTo>
                <a:lnTo>
                  <a:pt x="225171" y="393700"/>
                </a:lnTo>
                <a:lnTo>
                  <a:pt x="263664" y="375627"/>
                </a:lnTo>
                <a:lnTo>
                  <a:pt x="291973" y="344297"/>
                </a:lnTo>
                <a:lnTo>
                  <a:pt x="309397" y="302450"/>
                </a:lnTo>
                <a:lnTo>
                  <a:pt x="313753" y="278549"/>
                </a:lnTo>
                <a:lnTo>
                  <a:pt x="315214" y="252603"/>
                </a:lnTo>
                <a:close/>
              </a:path>
              <a:path w="7608570" h="502919">
                <a:moveTo>
                  <a:pt x="1397508" y="11938"/>
                </a:moveTo>
                <a:lnTo>
                  <a:pt x="1347939" y="35902"/>
                </a:lnTo>
                <a:lnTo>
                  <a:pt x="1313434" y="92837"/>
                </a:lnTo>
                <a:lnTo>
                  <a:pt x="1291424" y="166268"/>
                </a:lnTo>
                <a:lnTo>
                  <a:pt x="1285925" y="207302"/>
                </a:lnTo>
                <a:lnTo>
                  <a:pt x="1284097" y="251206"/>
                </a:lnTo>
                <a:lnTo>
                  <a:pt x="1285875" y="293636"/>
                </a:lnTo>
                <a:lnTo>
                  <a:pt x="1285925" y="294957"/>
                </a:lnTo>
                <a:lnTo>
                  <a:pt x="1291424" y="335915"/>
                </a:lnTo>
                <a:lnTo>
                  <a:pt x="1300594" y="374116"/>
                </a:lnTo>
                <a:lnTo>
                  <a:pt x="1329436" y="440969"/>
                </a:lnTo>
                <a:lnTo>
                  <a:pt x="1368971" y="487553"/>
                </a:lnTo>
                <a:lnTo>
                  <a:pt x="1392555" y="502793"/>
                </a:lnTo>
                <a:lnTo>
                  <a:pt x="1397508" y="490855"/>
                </a:lnTo>
                <a:lnTo>
                  <a:pt x="1378597" y="475576"/>
                </a:lnTo>
                <a:lnTo>
                  <a:pt x="1361884" y="455637"/>
                </a:lnTo>
                <a:lnTo>
                  <a:pt x="1335024" y="401828"/>
                </a:lnTo>
                <a:lnTo>
                  <a:pt x="1318158" y="332714"/>
                </a:lnTo>
                <a:lnTo>
                  <a:pt x="1313942" y="293636"/>
                </a:lnTo>
                <a:lnTo>
                  <a:pt x="1312545" y="251587"/>
                </a:lnTo>
                <a:lnTo>
                  <a:pt x="1313942" y="208775"/>
                </a:lnTo>
                <a:lnTo>
                  <a:pt x="1318171" y="169278"/>
                </a:lnTo>
                <a:lnTo>
                  <a:pt x="1335151" y="100203"/>
                </a:lnTo>
                <a:lnTo>
                  <a:pt x="1362138" y="46977"/>
                </a:lnTo>
                <a:lnTo>
                  <a:pt x="1378762" y="27178"/>
                </a:lnTo>
                <a:lnTo>
                  <a:pt x="1397508" y="11938"/>
                </a:lnTo>
                <a:close/>
              </a:path>
              <a:path w="7608570" h="502919">
                <a:moveTo>
                  <a:pt x="1917065" y="79629"/>
                </a:moveTo>
                <a:lnTo>
                  <a:pt x="1913255" y="67437"/>
                </a:lnTo>
                <a:lnTo>
                  <a:pt x="1891411" y="75971"/>
                </a:lnTo>
                <a:lnTo>
                  <a:pt x="1872208" y="89344"/>
                </a:lnTo>
                <a:lnTo>
                  <a:pt x="1841754" y="130683"/>
                </a:lnTo>
                <a:lnTo>
                  <a:pt x="1822881" y="186423"/>
                </a:lnTo>
                <a:lnTo>
                  <a:pt x="1816608" y="251714"/>
                </a:lnTo>
                <a:lnTo>
                  <a:pt x="1818106" y="283984"/>
                </a:lnTo>
                <a:lnTo>
                  <a:pt x="1830743" y="345681"/>
                </a:lnTo>
                <a:lnTo>
                  <a:pt x="1855647" y="395465"/>
                </a:lnTo>
                <a:lnTo>
                  <a:pt x="1891411" y="427088"/>
                </a:lnTo>
                <a:lnTo>
                  <a:pt x="1913255" y="435610"/>
                </a:lnTo>
                <a:lnTo>
                  <a:pt x="1917065" y="423418"/>
                </a:lnTo>
                <a:lnTo>
                  <a:pt x="1900135" y="414655"/>
                </a:lnTo>
                <a:lnTo>
                  <a:pt x="1885378" y="401891"/>
                </a:lnTo>
                <a:lnTo>
                  <a:pt x="1862455" y="364363"/>
                </a:lnTo>
                <a:lnTo>
                  <a:pt x="1848561" y="313524"/>
                </a:lnTo>
                <a:lnTo>
                  <a:pt x="1843913" y="251714"/>
                </a:lnTo>
                <a:lnTo>
                  <a:pt x="1845068" y="219367"/>
                </a:lnTo>
                <a:lnTo>
                  <a:pt x="1854352" y="162839"/>
                </a:lnTo>
                <a:lnTo>
                  <a:pt x="1872805" y="117919"/>
                </a:lnTo>
                <a:lnTo>
                  <a:pt x="1900135" y="88392"/>
                </a:lnTo>
                <a:lnTo>
                  <a:pt x="1917065" y="79629"/>
                </a:lnTo>
                <a:close/>
              </a:path>
              <a:path w="7608570" h="502919">
                <a:moveTo>
                  <a:pt x="4422140" y="122809"/>
                </a:moveTo>
                <a:lnTo>
                  <a:pt x="4418203" y="111379"/>
                </a:lnTo>
                <a:lnTo>
                  <a:pt x="4397667" y="118770"/>
                </a:lnTo>
                <a:lnTo>
                  <a:pt x="4379696" y="129463"/>
                </a:lnTo>
                <a:lnTo>
                  <a:pt x="4351401" y="160782"/>
                </a:lnTo>
                <a:lnTo>
                  <a:pt x="4333964" y="202793"/>
                </a:lnTo>
                <a:lnTo>
                  <a:pt x="4328236" y="251079"/>
                </a:lnTo>
                <a:lnTo>
                  <a:pt x="4328160" y="252603"/>
                </a:lnTo>
                <a:lnTo>
                  <a:pt x="4329608" y="278549"/>
                </a:lnTo>
                <a:lnTo>
                  <a:pt x="4341177" y="324370"/>
                </a:lnTo>
                <a:lnTo>
                  <a:pt x="4364177" y="361607"/>
                </a:lnTo>
                <a:lnTo>
                  <a:pt x="4397654" y="386321"/>
                </a:lnTo>
                <a:lnTo>
                  <a:pt x="4418203" y="393700"/>
                </a:lnTo>
                <a:lnTo>
                  <a:pt x="4421759" y="382270"/>
                </a:lnTo>
                <a:lnTo>
                  <a:pt x="4405630" y="375107"/>
                </a:lnTo>
                <a:lnTo>
                  <a:pt x="4391736" y="365175"/>
                </a:lnTo>
                <a:lnTo>
                  <a:pt x="4363237" y="318935"/>
                </a:lnTo>
                <a:lnTo>
                  <a:pt x="4354855" y="276021"/>
                </a:lnTo>
                <a:lnTo>
                  <a:pt x="4353814" y="251079"/>
                </a:lnTo>
                <a:lnTo>
                  <a:pt x="4354855" y="227012"/>
                </a:lnTo>
                <a:lnTo>
                  <a:pt x="4363237" y="185242"/>
                </a:lnTo>
                <a:lnTo>
                  <a:pt x="4391825" y="139687"/>
                </a:lnTo>
                <a:lnTo>
                  <a:pt x="4405846" y="129895"/>
                </a:lnTo>
                <a:lnTo>
                  <a:pt x="4422140" y="122809"/>
                </a:lnTo>
                <a:close/>
              </a:path>
              <a:path w="7608570" h="502919">
                <a:moveTo>
                  <a:pt x="5192014" y="252603"/>
                </a:moveTo>
                <a:lnTo>
                  <a:pt x="5190566" y="227012"/>
                </a:lnTo>
                <a:lnTo>
                  <a:pt x="5190553" y="226720"/>
                </a:lnTo>
                <a:lnTo>
                  <a:pt x="5186184" y="202793"/>
                </a:lnTo>
                <a:lnTo>
                  <a:pt x="5168646" y="160782"/>
                </a:lnTo>
                <a:lnTo>
                  <a:pt x="5140350" y="129463"/>
                </a:lnTo>
                <a:lnTo>
                  <a:pt x="5101971" y="111379"/>
                </a:lnTo>
                <a:lnTo>
                  <a:pt x="5097907" y="122809"/>
                </a:lnTo>
                <a:lnTo>
                  <a:pt x="5114264" y="129895"/>
                </a:lnTo>
                <a:lnTo>
                  <a:pt x="5128323" y="139687"/>
                </a:lnTo>
                <a:lnTo>
                  <a:pt x="5156847" y="185242"/>
                </a:lnTo>
                <a:lnTo>
                  <a:pt x="5165141" y="226720"/>
                </a:lnTo>
                <a:lnTo>
                  <a:pt x="5166233" y="251079"/>
                </a:lnTo>
                <a:lnTo>
                  <a:pt x="5165179" y="276021"/>
                </a:lnTo>
                <a:lnTo>
                  <a:pt x="5156797" y="318935"/>
                </a:lnTo>
                <a:lnTo>
                  <a:pt x="5128323" y="365175"/>
                </a:lnTo>
                <a:lnTo>
                  <a:pt x="5098415" y="382270"/>
                </a:lnTo>
                <a:lnTo>
                  <a:pt x="5101971" y="393700"/>
                </a:lnTo>
                <a:lnTo>
                  <a:pt x="5140464" y="375627"/>
                </a:lnTo>
                <a:lnTo>
                  <a:pt x="5168773" y="344297"/>
                </a:lnTo>
                <a:lnTo>
                  <a:pt x="5186197" y="302450"/>
                </a:lnTo>
                <a:lnTo>
                  <a:pt x="5190553" y="278549"/>
                </a:lnTo>
                <a:lnTo>
                  <a:pt x="5192014" y="252603"/>
                </a:lnTo>
                <a:close/>
              </a:path>
              <a:path w="7608570" h="502919">
                <a:moveTo>
                  <a:pt x="6551168" y="122809"/>
                </a:moveTo>
                <a:lnTo>
                  <a:pt x="6547231" y="111379"/>
                </a:lnTo>
                <a:lnTo>
                  <a:pt x="6526695" y="118770"/>
                </a:lnTo>
                <a:lnTo>
                  <a:pt x="6508724" y="129463"/>
                </a:lnTo>
                <a:lnTo>
                  <a:pt x="6480429" y="160782"/>
                </a:lnTo>
                <a:lnTo>
                  <a:pt x="6462992" y="202793"/>
                </a:lnTo>
                <a:lnTo>
                  <a:pt x="6457264" y="251079"/>
                </a:lnTo>
                <a:lnTo>
                  <a:pt x="6457188" y="252603"/>
                </a:lnTo>
                <a:lnTo>
                  <a:pt x="6458636" y="278549"/>
                </a:lnTo>
                <a:lnTo>
                  <a:pt x="6470205" y="324370"/>
                </a:lnTo>
                <a:lnTo>
                  <a:pt x="6493205" y="361607"/>
                </a:lnTo>
                <a:lnTo>
                  <a:pt x="6526682" y="386321"/>
                </a:lnTo>
                <a:lnTo>
                  <a:pt x="6547231" y="393700"/>
                </a:lnTo>
                <a:lnTo>
                  <a:pt x="6550787" y="382270"/>
                </a:lnTo>
                <a:lnTo>
                  <a:pt x="6534658" y="375107"/>
                </a:lnTo>
                <a:lnTo>
                  <a:pt x="6520764" y="365175"/>
                </a:lnTo>
                <a:lnTo>
                  <a:pt x="6492265" y="318935"/>
                </a:lnTo>
                <a:lnTo>
                  <a:pt x="6483883" y="276021"/>
                </a:lnTo>
                <a:lnTo>
                  <a:pt x="6482842" y="251079"/>
                </a:lnTo>
                <a:lnTo>
                  <a:pt x="6483883" y="227012"/>
                </a:lnTo>
                <a:lnTo>
                  <a:pt x="6492265" y="185242"/>
                </a:lnTo>
                <a:lnTo>
                  <a:pt x="6520853" y="139687"/>
                </a:lnTo>
                <a:lnTo>
                  <a:pt x="6534874" y="129895"/>
                </a:lnTo>
                <a:lnTo>
                  <a:pt x="6551168" y="122809"/>
                </a:lnTo>
                <a:close/>
              </a:path>
              <a:path w="7608570" h="502919">
                <a:moveTo>
                  <a:pt x="7321042" y="252603"/>
                </a:moveTo>
                <a:lnTo>
                  <a:pt x="7319594" y="227012"/>
                </a:lnTo>
                <a:lnTo>
                  <a:pt x="7319581" y="226720"/>
                </a:lnTo>
                <a:lnTo>
                  <a:pt x="7315213" y="202793"/>
                </a:lnTo>
                <a:lnTo>
                  <a:pt x="7297674" y="160782"/>
                </a:lnTo>
                <a:lnTo>
                  <a:pt x="7269378" y="129463"/>
                </a:lnTo>
                <a:lnTo>
                  <a:pt x="7230999" y="111379"/>
                </a:lnTo>
                <a:lnTo>
                  <a:pt x="7226935" y="122809"/>
                </a:lnTo>
                <a:lnTo>
                  <a:pt x="7243292" y="129895"/>
                </a:lnTo>
                <a:lnTo>
                  <a:pt x="7257351" y="139687"/>
                </a:lnTo>
                <a:lnTo>
                  <a:pt x="7285876" y="185242"/>
                </a:lnTo>
                <a:lnTo>
                  <a:pt x="7294169" y="226720"/>
                </a:lnTo>
                <a:lnTo>
                  <a:pt x="7295261" y="251079"/>
                </a:lnTo>
                <a:lnTo>
                  <a:pt x="7294207" y="276021"/>
                </a:lnTo>
                <a:lnTo>
                  <a:pt x="7285825" y="318935"/>
                </a:lnTo>
                <a:lnTo>
                  <a:pt x="7257351" y="365175"/>
                </a:lnTo>
                <a:lnTo>
                  <a:pt x="7227443" y="382270"/>
                </a:lnTo>
                <a:lnTo>
                  <a:pt x="7230999" y="393700"/>
                </a:lnTo>
                <a:lnTo>
                  <a:pt x="7269493" y="375627"/>
                </a:lnTo>
                <a:lnTo>
                  <a:pt x="7297801" y="344297"/>
                </a:lnTo>
                <a:lnTo>
                  <a:pt x="7315225" y="302450"/>
                </a:lnTo>
                <a:lnTo>
                  <a:pt x="7319581" y="278549"/>
                </a:lnTo>
                <a:lnTo>
                  <a:pt x="7321042" y="252603"/>
                </a:lnTo>
                <a:close/>
              </a:path>
              <a:path w="7608570" h="502919">
                <a:moveTo>
                  <a:pt x="7457935" y="251714"/>
                </a:moveTo>
                <a:lnTo>
                  <a:pt x="7456437" y="219367"/>
                </a:lnTo>
                <a:lnTo>
                  <a:pt x="7456373" y="217830"/>
                </a:lnTo>
                <a:lnTo>
                  <a:pt x="7451661" y="186423"/>
                </a:lnTo>
                <a:lnTo>
                  <a:pt x="7432802" y="130683"/>
                </a:lnTo>
                <a:lnTo>
                  <a:pt x="7402322" y="89344"/>
                </a:lnTo>
                <a:lnTo>
                  <a:pt x="7361174" y="67437"/>
                </a:lnTo>
                <a:lnTo>
                  <a:pt x="7357491" y="79629"/>
                </a:lnTo>
                <a:lnTo>
                  <a:pt x="7374395" y="88392"/>
                </a:lnTo>
                <a:lnTo>
                  <a:pt x="7389114" y="101155"/>
                </a:lnTo>
                <a:lnTo>
                  <a:pt x="7411974" y="138684"/>
                </a:lnTo>
                <a:lnTo>
                  <a:pt x="7425906" y="189725"/>
                </a:lnTo>
                <a:lnTo>
                  <a:pt x="7430516" y="251714"/>
                </a:lnTo>
                <a:lnTo>
                  <a:pt x="7429360" y="283984"/>
                </a:lnTo>
                <a:lnTo>
                  <a:pt x="7420115" y="340321"/>
                </a:lnTo>
                <a:lnTo>
                  <a:pt x="7401636" y="385127"/>
                </a:lnTo>
                <a:lnTo>
                  <a:pt x="7374395" y="414655"/>
                </a:lnTo>
                <a:lnTo>
                  <a:pt x="7357491" y="423418"/>
                </a:lnTo>
                <a:lnTo>
                  <a:pt x="7361174" y="435610"/>
                </a:lnTo>
                <a:lnTo>
                  <a:pt x="7402322" y="413702"/>
                </a:lnTo>
                <a:lnTo>
                  <a:pt x="7432802" y="372364"/>
                </a:lnTo>
                <a:lnTo>
                  <a:pt x="7451661" y="316649"/>
                </a:lnTo>
                <a:lnTo>
                  <a:pt x="7456373" y="285292"/>
                </a:lnTo>
                <a:lnTo>
                  <a:pt x="7457935" y="251714"/>
                </a:lnTo>
                <a:close/>
              </a:path>
              <a:path w="7608570" h="502919">
                <a:moveTo>
                  <a:pt x="7608189" y="251206"/>
                </a:moveTo>
                <a:lnTo>
                  <a:pt x="7606411" y="208775"/>
                </a:lnTo>
                <a:lnTo>
                  <a:pt x="7600848" y="166268"/>
                </a:lnTo>
                <a:lnTo>
                  <a:pt x="7591679" y="128104"/>
                </a:lnTo>
                <a:lnTo>
                  <a:pt x="7562824" y="61747"/>
                </a:lnTo>
                <a:lnTo>
                  <a:pt x="7523200" y="15316"/>
                </a:lnTo>
                <a:lnTo>
                  <a:pt x="7499604" y="0"/>
                </a:lnTo>
                <a:lnTo>
                  <a:pt x="7494778" y="11938"/>
                </a:lnTo>
                <a:lnTo>
                  <a:pt x="7513510" y="27178"/>
                </a:lnTo>
                <a:lnTo>
                  <a:pt x="7530122" y="46977"/>
                </a:lnTo>
                <a:lnTo>
                  <a:pt x="7557008" y="100203"/>
                </a:lnTo>
                <a:lnTo>
                  <a:pt x="7574089" y="169278"/>
                </a:lnTo>
                <a:lnTo>
                  <a:pt x="7578331" y="208775"/>
                </a:lnTo>
                <a:lnTo>
                  <a:pt x="7579728" y="251206"/>
                </a:lnTo>
                <a:lnTo>
                  <a:pt x="7579741" y="251587"/>
                </a:lnTo>
                <a:lnTo>
                  <a:pt x="7578331" y="293636"/>
                </a:lnTo>
                <a:lnTo>
                  <a:pt x="7574115" y="332714"/>
                </a:lnTo>
                <a:lnTo>
                  <a:pt x="7557262" y="401828"/>
                </a:lnTo>
                <a:lnTo>
                  <a:pt x="7530300" y="455637"/>
                </a:lnTo>
                <a:lnTo>
                  <a:pt x="7494778" y="490855"/>
                </a:lnTo>
                <a:lnTo>
                  <a:pt x="7499604" y="502793"/>
                </a:lnTo>
                <a:lnTo>
                  <a:pt x="7544270" y="466953"/>
                </a:lnTo>
                <a:lnTo>
                  <a:pt x="7578852" y="409575"/>
                </a:lnTo>
                <a:lnTo>
                  <a:pt x="7600848" y="335915"/>
                </a:lnTo>
                <a:lnTo>
                  <a:pt x="7606347" y="294957"/>
                </a:lnTo>
                <a:lnTo>
                  <a:pt x="7608163" y="251587"/>
                </a:lnTo>
                <a:lnTo>
                  <a:pt x="7608189" y="251206"/>
                </a:lnTo>
                <a:close/>
              </a:path>
            </a:pathLst>
          </a:custGeom>
          <a:solidFill>
            <a:srgbClr val="000000"/>
          </a:solidFill>
        </p:spPr>
        <p:txBody>
          <a:bodyPr wrap="square" lIns="0" tIns="0" rIns="0" bIns="0" rtlCol="0"/>
          <a:lstStyle/>
          <a:p>
            <a:endParaRPr/>
          </a:p>
        </p:txBody>
      </p:sp>
      <p:sp>
        <p:nvSpPr>
          <p:cNvPr id="3" name="object 3"/>
          <p:cNvSpPr txBox="1"/>
          <p:nvPr/>
        </p:nvSpPr>
        <p:spPr>
          <a:xfrm>
            <a:off x="158495" y="-23855"/>
            <a:ext cx="11881105" cy="1401445"/>
          </a:xfrm>
          <a:prstGeom prst="rect">
            <a:avLst/>
          </a:prstGeom>
        </p:spPr>
        <p:txBody>
          <a:bodyPr vert="horz" wrap="square" lIns="0" tIns="109855" rIns="0" bIns="0" rtlCol="0">
            <a:spAutoFit/>
          </a:bodyPr>
          <a:lstStyle/>
          <a:p>
            <a:pPr marL="76200">
              <a:lnSpc>
                <a:spcPct val="100000"/>
              </a:lnSpc>
              <a:spcBef>
                <a:spcPts val="865"/>
              </a:spcBef>
            </a:pPr>
            <a:r>
              <a:rPr sz="2400" b="1" dirty="0">
                <a:solidFill>
                  <a:srgbClr val="FF0000"/>
                </a:solidFill>
                <a:latin typeface="Calibri"/>
                <a:cs typeface="Calibri"/>
              </a:rPr>
              <a:t>Example</a:t>
            </a:r>
            <a:r>
              <a:rPr sz="2400" b="1" spc="-70" dirty="0">
                <a:solidFill>
                  <a:srgbClr val="FF0000"/>
                </a:solidFill>
                <a:latin typeface="Calibri"/>
                <a:cs typeface="Calibri"/>
              </a:rPr>
              <a:t> </a:t>
            </a:r>
            <a:r>
              <a:rPr lang="en-US" sz="2400" b="1" spc="-70" dirty="0">
                <a:solidFill>
                  <a:srgbClr val="FF0000"/>
                </a:solidFill>
                <a:latin typeface="Calibri"/>
                <a:cs typeface="Calibri"/>
              </a:rPr>
              <a:t>17</a:t>
            </a:r>
            <a:r>
              <a:rPr sz="2400" b="1" dirty="0">
                <a:solidFill>
                  <a:srgbClr val="FF0000"/>
                </a:solidFill>
                <a:latin typeface="Calibri"/>
                <a:cs typeface="Calibri"/>
              </a:rPr>
              <a:t>.</a:t>
            </a:r>
            <a:r>
              <a:rPr sz="2400" b="1" spc="-65" dirty="0">
                <a:solidFill>
                  <a:srgbClr val="FF0000"/>
                </a:solidFill>
                <a:latin typeface="Calibri"/>
                <a:cs typeface="Calibri"/>
              </a:rPr>
              <a:t> </a:t>
            </a:r>
            <a:r>
              <a:rPr sz="2400" b="1" dirty="0">
                <a:solidFill>
                  <a:srgbClr val="6F2F9F"/>
                </a:solidFill>
                <a:latin typeface="Calibri"/>
                <a:cs typeface="Calibri"/>
              </a:rPr>
              <a:t>An</a:t>
            </a:r>
            <a:r>
              <a:rPr sz="2400" b="1" spc="-65" dirty="0">
                <a:solidFill>
                  <a:srgbClr val="6F2F9F"/>
                </a:solidFill>
                <a:latin typeface="Calibri"/>
                <a:cs typeface="Calibri"/>
              </a:rPr>
              <a:t> </a:t>
            </a:r>
            <a:r>
              <a:rPr sz="2400" b="1" dirty="0">
                <a:solidFill>
                  <a:srgbClr val="6F2F9F"/>
                </a:solidFill>
                <a:latin typeface="Calibri"/>
                <a:cs typeface="Calibri"/>
              </a:rPr>
              <a:t>angle</a:t>
            </a:r>
            <a:r>
              <a:rPr sz="2400" b="1" spc="-50" dirty="0">
                <a:solidFill>
                  <a:srgbClr val="6F2F9F"/>
                </a:solidFill>
                <a:latin typeface="Calibri"/>
                <a:cs typeface="Calibri"/>
              </a:rPr>
              <a:t> </a:t>
            </a:r>
            <a:r>
              <a:rPr sz="2400" b="1" dirty="0">
                <a:solidFill>
                  <a:srgbClr val="6F2F9F"/>
                </a:solidFill>
                <a:latin typeface="Calibri"/>
                <a:cs typeface="Calibri"/>
              </a:rPr>
              <a:t>modulated</a:t>
            </a:r>
            <a:r>
              <a:rPr sz="2400" b="1" spc="-60" dirty="0">
                <a:solidFill>
                  <a:srgbClr val="6F2F9F"/>
                </a:solidFill>
                <a:latin typeface="Calibri"/>
                <a:cs typeface="Calibri"/>
              </a:rPr>
              <a:t> </a:t>
            </a:r>
            <a:r>
              <a:rPr sz="2400" b="1" dirty="0">
                <a:solidFill>
                  <a:srgbClr val="6F2F9F"/>
                </a:solidFill>
                <a:latin typeface="Calibri"/>
                <a:cs typeface="Calibri"/>
              </a:rPr>
              <a:t>signal</a:t>
            </a:r>
            <a:r>
              <a:rPr sz="2400" b="1" spc="-65" dirty="0">
                <a:solidFill>
                  <a:srgbClr val="6F2F9F"/>
                </a:solidFill>
                <a:latin typeface="Calibri"/>
                <a:cs typeface="Calibri"/>
              </a:rPr>
              <a:t> </a:t>
            </a:r>
            <a:r>
              <a:rPr sz="2400" b="1" dirty="0">
                <a:solidFill>
                  <a:srgbClr val="6F2F9F"/>
                </a:solidFill>
                <a:latin typeface="Calibri"/>
                <a:cs typeface="Calibri"/>
              </a:rPr>
              <a:t>is</a:t>
            </a:r>
            <a:r>
              <a:rPr sz="2400" b="1" spc="-55" dirty="0">
                <a:solidFill>
                  <a:srgbClr val="6F2F9F"/>
                </a:solidFill>
                <a:latin typeface="Calibri"/>
                <a:cs typeface="Calibri"/>
              </a:rPr>
              <a:t> </a:t>
            </a:r>
            <a:r>
              <a:rPr sz="2400" b="1" dirty="0">
                <a:solidFill>
                  <a:srgbClr val="6F2F9F"/>
                </a:solidFill>
                <a:latin typeface="Calibri"/>
                <a:cs typeface="Calibri"/>
              </a:rPr>
              <a:t>given</a:t>
            </a:r>
            <a:r>
              <a:rPr sz="2400" b="1" spc="-70" dirty="0">
                <a:solidFill>
                  <a:srgbClr val="6F2F9F"/>
                </a:solidFill>
                <a:latin typeface="Calibri"/>
                <a:cs typeface="Calibri"/>
              </a:rPr>
              <a:t> </a:t>
            </a:r>
            <a:r>
              <a:rPr sz="2400" b="1" spc="-25" dirty="0">
                <a:solidFill>
                  <a:srgbClr val="6F2F9F"/>
                </a:solidFill>
                <a:latin typeface="Calibri"/>
                <a:cs typeface="Calibri"/>
              </a:rPr>
              <a:t>by:</a:t>
            </a:r>
            <a:endParaRPr sz="2400" dirty="0">
              <a:latin typeface="Calibri"/>
              <a:cs typeface="Calibri"/>
            </a:endParaRPr>
          </a:p>
          <a:p>
            <a:pPr marL="1507490">
              <a:lnSpc>
                <a:spcPct val="100000"/>
              </a:lnSpc>
              <a:spcBef>
                <a:spcPts val="765"/>
              </a:spcBef>
              <a:tabLst>
                <a:tab pos="2548255" algn="l"/>
                <a:tab pos="3529965" algn="l"/>
                <a:tab pos="4049395" algn="l"/>
                <a:tab pos="7408545" algn="l"/>
                <a:tab pos="8679815" algn="l"/>
                <a:tab pos="9806305" algn="l"/>
              </a:tabLst>
            </a:pPr>
            <a:r>
              <a:rPr sz="2400" dirty="0">
                <a:latin typeface="Cambria Math"/>
                <a:cs typeface="Cambria Math"/>
              </a:rPr>
              <a:t>⟹</a:t>
            </a:r>
            <a:r>
              <a:rPr sz="2400" spc="130" dirty="0">
                <a:latin typeface="Cambria Math"/>
                <a:cs typeface="Cambria Math"/>
              </a:rPr>
              <a:t> </a:t>
            </a:r>
            <a:r>
              <a:rPr sz="2400" dirty="0">
                <a:latin typeface="Cambria Math"/>
                <a:cs typeface="Cambria Math"/>
              </a:rPr>
              <a:t>𝐬</a:t>
            </a:r>
            <a:r>
              <a:rPr sz="2400" spc="465" dirty="0">
                <a:latin typeface="Cambria Math"/>
                <a:cs typeface="Cambria Math"/>
              </a:rPr>
              <a:t> </a:t>
            </a:r>
            <a:r>
              <a:rPr sz="2400" spc="-50" dirty="0">
                <a:latin typeface="Cambria Math"/>
                <a:cs typeface="Cambria Math"/>
              </a:rPr>
              <a:t>𝐭</a:t>
            </a:r>
            <a:r>
              <a:rPr sz="2400" dirty="0">
                <a:latin typeface="Cambria Math"/>
                <a:cs typeface="Cambria Math"/>
              </a:rPr>
              <a:t>	=</a:t>
            </a:r>
            <a:r>
              <a:rPr sz="2400" spc="125" dirty="0">
                <a:latin typeface="Cambria Math"/>
                <a:cs typeface="Cambria Math"/>
              </a:rPr>
              <a:t> </a:t>
            </a:r>
            <a:r>
              <a:rPr sz="2400" spc="-25" dirty="0">
                <a:latin typeface="Cambria Math"/>
                <a:cs typeface="Cambria Math"/>
              </a:rPr>
              <a:t>𝐜𝐨𝐬</a:t>
            </a:r>
            <a:r>
              <a:rPr sz="2400" dirty="0">
                <a:latin typeface="Cambria Math"/>
                <a:cs typeface="Cambria Math"/>
              </a:rPr>
              <a:t>	</a:t>
            </a:r>
            <a:r>
              <a:rPr sz="2400" spc="-25" dirty="0">
                <a:latin typeface="Cambria Math"/>
                <a:cs typeface="Cambria Math"/>
              </a:rPr>
              <a:t>𝟐𝛑</a:t>
            </a:r>
            <a:r>
              <a:rPr sz="2400" dirty="0">
                <a:latin typeface="Cambria Math"/>
                <a:cs typeface="Cambria Math"/>
              </a:rPr>
              <a:t>	𝟐</a:t>
            </a:r>
            <a:r>
              <a:rPr sz="2400" spc="5" dirty="0">
                <a:latin typeface="Cambria Math"/>
                <a:cs typeface="Cambria Math"/>
              </a:rPr>
              <a:t> </a:t>
            </a:r>
            <a:r>
              <a:rPr sz="2400" dirty="0">
                <a:latin typeface="Cambria Math"/>
                <a:cs typeface="Cambria Math"/>
              </a:rPr>
              <a:t>×</a:t>
            </a:r>
            <a:r>
              <a:rPr sz="2400" spc="5" dirty="0">
                <a:latin typeface="Cambria Math"/>
                <a:cs typeface="Cambria Math"/>
              </a:rPr>
              <a:t> </a:t>
            </a:r>
            <a:r>
              <a:rPr sz="2400" dirty="0">
                <a:latin typeface="Cambria Math"/>
                <a:cs typeface="Cambria Math"/>
              </a:rPr>
              <a:t>𝟏𝟎</a:t>
            </a:r>
            <a:r>
              <a:rPr sz="2625" baseline="28571" dirty="0">
                <a:latin typeface="Cambria Math"/>
                <a:cs typeface="Cambria Math"/>
              </a:rPr>
              <a:t>𝟔</a:t>
            </a:r>
            <a:r>
              <a:rPr sz="2400" dirty="0">
                <a:latin typeface="Cambria Math"/>
                <a:cs typeface="Cambria Math"/>
              </a:rPr>
              <a:t>𝐭</a:t>
            </a:r>
            <a:r>
              <a:rPr sz="2400" spc="5" dirty="0">
                <a:latin typeface="Cambria Math"/>
                <a:cs typeface="Cambria Math"/>
              </a:rPr>
              <a:t> </a:t>
            </a:r>
            <a:r>
              <a:rPr sz="2400" dirty="0">
                <a:latin typeface="Cambria Math"/>
                <a:cs typeface="Cambria Math"/>
              </a:rPr>
              <a:t>+</a:t>
            </a:r>
            <a:r>
              <a:rPr sz="2400" spc="10" dirty="0">
                <a:latin typeface="Cambria Math"/>
                <a:cs typeface="Cambria Math"/>
              </a:rPr>
              <a:t> </a:t>
            </a:r>
            <a:r>
              <a:rPr sz="2400" spc="-20" dirty="0">
                <a:latin typeface="Cambria Math"/>
                <a:cs typeface="Cambria Math"/>
              </a:rPr>
              <a:t>𝟑𝟎</a:t>
            </a:r>
            <a:r>
              <a:rPr sz="2400" spc="-125" dirty="0">
                <a:latin typeface="Cambria Math"/>
                <a:cs typeface="Cambria Math"/>
              </a:rPr>
              <a:t> </a:t>
            </a:r>
            <a:r>
              <a:rPr sz="2400" dirty="0">
                <a:latin typeface="Cambria Math"/>
                <a:cs typeface="Cambria Math"/>
              </a:rPr>
              <a:t>𝐬𝐢𝐧</a:t>
            </a:r>
            <a:r>
              <a:rPr sz="2400" spc="470" dirty="0">
                <a:latin typeface="Cambria Math"/>
                <a:cs typeface="Cambria Math"/>
              </a:rPr>
              <a:t> </a:t>
            </a:r>
            <a:r>
              <a:rPr sz="2400" spc="-20" dirty="0">
                <a:latin typeface="Cambria Math"/>
                <a:cs typeface="Cambria Math"/>
              </a:rPr>
              <a:t>𝟏𝟓𝟎𝐭</a:t>
            </a:r>
            <a:r>
              <a:rPr sz="2400" dirty="0">
                <a:latin typeface="Cambria Math"/>
                <a:cs typeface="Cambria Math"/>
              </a:rPr>
              <a:t>	+</a:t>
            </a:r>
            <a:r>
              <a:rPr sz="2400" spc="-5" dirty="0">
                <a:latin typeface="Cambria Math"/>
                <a:cs typeface="Cambria Math"/>
              </a:rPr>
              <a:t> </a:t>
            </a:r>
            <a:r>
              <a:rPr sz="2400" spc="-20" dirty="0">
                <a:latin typeface="Cambria Math"/>
                <a:cs typeface="Cambria Math"/>
              </a:rPr>
              <a:t>𝟒𝟎</a:t>
            </a:r>
            <a:r>
              <a:rPr sz="2400" spc="-130" dirty="0">
                <a:latin typeface="Cambria Math"/>
                <a:cs typeface="Cambria Math"/>
              </a:rPr>
              <a:t> </a:t>
            </a:r>
            <a:r>
              <a:rPr lang="en-US" sz="2400" b="1" spc="-130" dirty="0">
                <a:latin typeface="Cambria Math"/>
                <a:cs typeface="Cambria Math"/>
              </a:rPr>
              <a:t>c </a:t>
            </a:r>
            <a:r>
              <a:rPr lang="en-US" sz="2400" b="1" spc="-130" dirty="0" err="1">
                <a:latin typeface="Cambria Math"/>
                <a:cs typeface="Cambria Math"/>
              </a:rPr>
              <a:t>os</a:t>
            </a:r>
            <a:r>
              <a:rPr sz="2400" dirty="0">
                <a:latin typeface="Cambria Math"/>
                <a:cs typeface="Cambria Math"/>
              </a:rPr>
              <a:t>	</a:t>
            </a:r>
            <a:r>
              <a:rPr sz="2400" spc="-20" dirty="0">
                <a:latin typeface="Cambria Math"/>
                <a:cs typeface="Cambria Math"/>
              </a:rPr>
              <a:t>𝟏𝟓𝟎𝐭</a:t>
            </a:r>
            <a:r>
              <a:rPr sz="2400" dirty="0">
                <a:latin typeface="Cambria Math"/>
                <a:cs typeface="Cambria Math"/>
              </a:rPr>
              <a:t>	</a:t>
            </a:r>
            <a:r>
              <a:rPr sz="2400" spc="-20" dirty="0">
                <a:latin typeface="Cambria Math"/>
                <a:cs typeface="Cambria Math"/>
              </a:rPr>
              <a:t>𝐕𝐨𝐥𝐭</a:t>
            </a:r>
            <a:endParaRPr sz="2400" dirty="0">
              <a:latin typeface="Cambria Math"/>
              <a:cs typeface="Cambria Math"/>
            </a:endParaRPr>
          </a:p>
          <a:p>
            <a:pPr marL="76200">
              <a:lnSpc>
                <a:spcPct val="100000"/>
              </a:lnSpc>
              <a:spcBef>
                <a:spcPts val="665"/>
              </a:spcBef>
            </a:pPr>
            <a:r>
              <a:rPr sz="2400" b="1" dirty="0">
                <a:solidFill>
                  <a:srgbClr val="6F2F9F"/>
                </a:solidFill>
                <a:latin typeface="Calibri"/>
                <a:cs typeface="Calibri"/>
              </a:rPr>
              <a:t>The</a:t>
            </a:r>
            <a:r>
              <a:rPr sz="2400" b="1" spc="-55" dirty="0">
                <a:solidFill>
                  <a:srgbClr val="6F2F9F"/>
                </a:solidFill>
                <a:latin typeface="Calibri"/>
                <a:cs typeface="Calibri"/>
              </a:rPr>
              <a:t> </a:t>
            </a:r>
            <a:r>
              <a:rPr sz="2400" b="1" dirty="0">
                <a:solidFill>
                  <a:srgbClr val="6F2F9F"/>
                </a:solidFill>
                <a:latin typeface="Calibri"/>
                <a:cs typeface="Calibri"/>
              </a:rPr>
              <a:t>maximum</a:t>
            </a:r>
            <a:r>
              <a:rPr sz="2400" b="1" spc="-80" dirty="0">
                <a:solidFill>
                  <a:srgbClr val="6F2F9F"/>
                </a:solidFill>
                <a:latin typeface="Calibri"/>
                <a:cs typeface="Calibri"/>
              </a:rPr>
              <a:t> </a:t>
            </a:r>
            <a:r>
              <a:rPr sz="2400" b="1" dirty="0">
                <a:solidFill>
                  <a:srgbClr val="6F2F9F"/>
                </a:solidFill>
                <a:latin typeface="Calibri"/>
                <a:cs typeface="Calibri"/>
              </a:rPr>
              <a:t>frequency</a:t>
            </a:r>
            <a:r>
              <a:rPr lang="en-US" sz="2400" b="1" dirty="0">
                <a:solidFill>
                  <a:srgbClr val="6F2F9F"/>
                </a:solidFill>
                <a:latin typeface="Calibri"/>
                <a:cs typeface="Calibri"/>
              </a:rPr>
              <a:t> deviation</a:t>
            </a:r>
            <a:r>
              <a:rPr sz="2400" b="1" spc="-55" dirty="0">
                <a:solidFill>
                  <a:srgbClr val="6F2F9F"/>
                </a:solidFill>
                <a:latin typeface="Calibri"/>
                <a:cs typeface="Calibri"/>
              </a:rPr>
              <a:t> </a:t>
            </a:r>
            <a:r>
              <a:rPr sz="2400" b="1" dirty="0">
                <a:solidFill>
                  <a:srgbClr val="6F2F9F"/>
                </a:solidFill>
                <a:latin typeface="Calibri"/>
                <a:cs typeface="Calibri"/>
              </a:rPr>
              <a:t>and</a:t>
            </a:r>
            <a:r>
              <a:rPr sz="2400" b="1" spc="-55" dirty="0">
                <a:solidFill>
                  <a:srgbClr val="6F2F9F"/>
                </a:solidFill>
                <a:latin typeface="Calibri"/>
                <a:cs typeface="Calibri"/>
              </a:rPr>
              <a:t> </a:t>
            </a:r>
            <a:r>
              <a:rPr sz="2400" b="1" dirty="0">
                <a:solidFill>
                  <a:srgbClr val="6F2F9F"/>
                </a:solidFill>
                <a:latin typeface="Calibri"/>
                <a:cs typeface="Calibri"/>
              </a:rPr>
              <a:t>phase</a:t>
            </a:r>
            <a:r>
              <a:rPr sz="2400" b="1" spc="-50" dirty="0">
                <a:solidFill>
                  <a:srgbClr val="6F2F9F"/>
                </a:solidFill>
                <a:latin typeface="Calibri"/>
                <a:cs typeface="Calibri"/>
              </a:rPr>
              <a:t> </a:t>
            </a:r>
            <a:r>
              <a:rPr sz="2400" b="1" spc="-10" dirty="0">
                <a:solidFill>
                  <a:srgbClr val="6F2F9F"/>
                </a:solidFill>
                <a:latin typeface="Calibri"/>
                <a:cs typeface="Calibri"/>
              </a:rPr>
              <a:t>deviation</a:t>
            </a:r>
            <a:r>
              <a:rPr sz="2400" b="1" spc="-40" dirty="0">
                <a:solidFill>
                  <a:srgbClr val="6F2F9F"/>
                </a:solidFill>
                <a:latin typeface="Calibri"/>
                <a:cs typeface="Calibri"/>
              </a:rPr>
              <a:t> </a:t>
            </a:r>
            <a:r>
              <a:rPr sz="2400" b="1" dirty="0">
                <a:solidFill>
                  <a:srgbClr val="6F2F9F"/>
                </a:solidFill>
                <a:latin typeface="Calibri"/>
                <a:cs typeface="Calibri"/>
              </a:rPr>
              <a:t>of</a:t>
            </a:r>
            <a:r>
              <a:rPr sz="2400" b="1" spc="-70" dirty="0">
                <a:solidFill>
                  <a:srgbClr val="6F2F9F"/>
                </a:solidFill>
                <a:latin typeface="Calibri"/>
                <a:cs typeface="Calibri"/>
              </a:rPr>
              <a:t> </a:t>
            </a:r>
            <a:r>
              <a:rPr sz="2400" b="1" dirty="0">
                <a:solidFill>
                  <a:srgbClr val="6F2F9F"/>
                </a:solidFill>
                <a:latin typeface="Calibri"/>
                <a:cs typeface="Calibri"/>
              </a:rPr>
              <a:t>above</a:t>
            </a:r>
            <a:r>
              <a:rPr sz="2400" b="1" spc="-55" dirty="0">
                <a:solidFill>
                  <a:srgbClr val="6F2F9F"/>
                </a:solidFill>
                <a:latin typeface="Calibri"/>
                <a:cs typeface="Calibri"/>
              </a:rPr>
              <a:t> </a:t>
            </a:r>
            <a:r>
              <a:rPr sz="2400" b="1" dirty="0">
                <a:solidFill>
                  <a:srgbClr val="6F2F9F"/>
                </a:solidFill>
                <a:latin typeface="Calibri"/>
                <a:cs typeface="Calibri"/>
              </a:rPr>
              <a:t>signal</a:t>
            </a:r>
            <a:r>
              <a:rPr sz="2400" b="1" spc="-60" dirty="0">
                <a:solidFill>
                  <a:srgbClr val="6F2F9F"/>
                </a:solidFill>
                <a:latin typeface="Calibri"/>
                <a:cs typeface="Calibri"/>
              </a:rPr>
              <a:t> </a:t>
            </a:r>
            <a:r>
              <a:rPr lang="en-US" sz="2400" b="1" spc="-60" dirty="0">
                <a:solidFill>
                  <a:srgbClr val="6F2F9F"/>
                </a:solidFill>
                <a:latin typeface="Calibri"/>
                <a:cs typeface="Calibri"/>
              </a:rPr>
              <a:t>are</a:t>
            </a:r>
            <a:r>
              <a:rPr sz="2400" b="1" spc="-50" dirty="0">
                <a:solidFill>
                  <a:srgbClr val="6F2F9F"/>
                </a:solidFill>
                <a:latin typeface="Calibri"/>
                <a:cs typeface="Calibri"/>
              </a:rPr>
              <a:t> </a:t>
            </a:r>
            <a:r>
              <a:rPr sz="2400" b="1" spc="-10" dirty="0">
                <a:solidFill>
                  <a:srgbClr val="6F2F9F"/>
                </a:solidFill>
                <a:latin typeface="Calibri"/>
                <a:cs typeface="Calibri"/>
              </a:rPr>
              <a:t>…………………….</a:t>
            </a:r>
            <a:endParaRPr sz="2400" dirty="0">
              <a:latin typeface="Calibri"/>
              <a:cs typeface="Calibri"/>
            </a:endParaRPr>
          </a:p>
        </p:txBody>
      </p:sp>
      <p:pic>
        <p:nvPicPr>
          <p:cNvPr id="5" name="Picture 4">
            <a:extLst>
              <a:ext uri="{FF2B5EF4-FFF2-40B4-BE49-F238E27FC236}">
                <a16:creationId xmlns:a16="http://schemas.microsoft.com/office/drawing/2014/main" id="{0677C0D4-7176-41B0-B66D-067A281818D6}"/>
              </a:ext>
            </a:extLst>
          </p:cNvPr>
          <p:cNvPicPr>
            <a:picLocks noChangeAspect="1"/>
          </p:cNvPicPr>
          <p:nvPr/>
        </p:nvPicPr>
        <p:blipFill>
          <a:blip r:embed="rId2"/>
          <a:stretch>
            <a:fillRect/>
          </a:stretch>
        </p:blipFill>
        <p:spPr>
          <a:xfrm>
            <a:off x="1790700" y="1397049"/>
            <a:ext cx="8610600" cy="5470476"/>
          </a:xfrm>
          <a:prstGeom prst="rect">
            <a:avLst/>
          </a:prstGeom>
        </p:spPr>
      </p:pic>
    </p:spTree>
    <p:extLst>
      <p:ext uri="{BB962C8B-B14F-4D97-AF65-F5344CB8AC3E}">
        <p14:creationId xmlns:p14="http://schemas.microsoft.com/office/powerpoint/2010/main" val="98338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3CD6AF-DAD2-4CFA-BF39-55F83591DB95}"/>
              </a:ext>
            </a:extLst>
          </p:cNvPr>
          <p:cNvPicPr>
            <a:picLocks noChangeAspect="1"/>
          </p:cNvPicPr>
          <p:nvPr/>
        </p:nvPicPr>
        <p:blipFill>
          <a:blip r:embed="rId2"/>
          <a:stretch>
            <a:fillRect/>
          </a:stretch>
        </p:blipFill>
        <p:spPr>
          <a:xfrm>
            <a:off x="1447800" y="429688"/>
            <a:ext cx="9296400" cy="5998624"/>
          </a:xfrm>
          <a:prstGeom prst="rect">
            <a:avLst/>
          </a:prstGeom>
        </p:spPr>
      </p:pic>
      <p:pic>
        <p:nvPicPr>
          <p:cNvPr id="5" name="Picture 4">
            <a:extLst>
              <a:ext uri="{FF2B5EF4-FFF2-40B4-BE49-F238E27FC236}">
                <a16:creationId xmlns:a16="http://schemas.microsoft.com/office/drawing/2014/main" id="{ABBFC177-4982-4E45-8395-3D9235CFFA27}"/>
              </a:ext>
            </a:extLst>
          </p:cNvPr>
          <p:cNvPicPr>
            <a:picLocks noChangeAspect="1"/>
          </p:cNvPicPr>
          <p:nvPr/>
        </p:nvPicPr>
        <p:blipFill>
          <a:blip r:embed="rId3"/>
          <a:stretch>
            <a:fillRect/>
          </a:stretch>
        </p:blipFill>
        <p:spPr>
          <a:xfrm>
            <a:off x="10210800" y="5867400"/>
            <a:ext cx="243861" cy="190517"/>
          </a:xfrm>
          <a:prstGeom prst="rect">
            <a:avLst/>
          </a:prstGeom>
        </p:spPr>
      </p:pic>
    </p:spTree>
    <p:extLst>
      <p:ext uri="{BB962C8B-B14F-4D97-AF65-F5344CB8AC3E}">
        <p14:creationId xmlns:p14="http://schemas.microsoft.com/office/powerpoint/2010/main" val="40767860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2831</TotalTime>
  <Words>1606</Words>
  <Application>Microsoft Office PowerPoint</Application>
  <PresentationFormat>Widescreen</PresentationFormat>
  <Paragraphs>115</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Calibri</vt:lpstr>
      <vt:lpstr>Calibri Math</vt:lpstr>
      <vt:lpstr>Cambria Math</vt:lpstr>
      <vt:lpstr>Trebuchet MS</vt:lpstr>
      <vt:lpstr>Wingdings</vt:lpstr>
      <vt:lpstr>Office Theme</vt:lpstr>
      <vt:lpstr>Angle Modulation</vt:lpstr>
      <vt:lpstr>Single Tone Frequency Modulation</vt:lpstr>
      <vt:lpstr>Single Tone Frequency Modulation</vt:lpstr>
      <vt:lpstr>Single Tone Frequency Modulation</vt:lpstr>
      <vt:lpstr>Frequency Deviation and Phase Deviation</vt:lpstr>
      <vt:lpstr>Examples of Frequency Modulation Example 1. Determine the percentage modulation for an FM wave with a frequency deviation of 10 kHz, if the maximum deviation allowed is 25 kHz.</vt:lpstr>
      <vt:lpstr>Example 2. In an FM system, if the maximum value of deviation is 75 kHz and the maximum modulating frequency is 10 kHz, calculate the deviation ratio and bandwidth of the system using the Carson rule.</vt:lpstr>
      <vt:lpstr>PowerPoint Presentation</vt:lpstr>
      <vt:lpstr>Examples of Frequency Modulation</vt:lpstr>
      <vt:lpstr>Example 5. The carrier frequency of an FM broadcast transmitter is 100 MHz, and the maximum frequency deviation is 75 kHz. If the highest audio frequency modulating carrier is 15 kHz. What is the approximate bandwidth of the signal?</vt:lpstr>
      <vt:lpstr>PowerPoint Presentation</vt:lpstr>
      <vt:lpstr>Examples of Frequency Modulation</vt:lpstr>
      <vt:lpstr>PowerPoint Presentation</vt:lpstr>
      <vt:lpstr>Example 9. What is the bandwidth required for an FM signal if the modulating frequency is 1kHz and the maximum deviation is 10kHz? What is the BW required for a DSBFC (AM) transmission?</vt:lpstr>
      <vt:lpstr>Examples of Frequency Modulation Example 10. A 400 Hz modulating signal modulates a 20 MHz carrier. The carrier voltage is 5V, and the maximum deviation is 10 kHz. Write down the mathematical expression for the FM wave considering the carrier and message signal as sin and cos wave respectively.</vt:lpstr>
      <vt:lpstr>Example 11. When the modulating frequency in an FM system is 400 Hz and the modulating voltage is 2.4V, the modulating index is 60. Calculate the maximum deviation. What is the modulation index when the modulating frequency is reduced to 250 Hz and the modulating voltage is simultaneously raised to 3.2V?</vt:lpstr>
      <vt:lpstr>Examples of Frequency Modulation Example 12. In an FM system, the audio frequency is 1 kHz, and the audio voltage is 2 volts. The deviation is 4 kHz. If the AF voltage is now increased to 8 volts, and its frequency dropped to 500 Hz. Find the modulating index in each case and the corresponding bandwidth using Carson’s rule.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Angle Modulation</dc:title>
  <cp:lastModifiedBy>Rifat Rahman</cp:lastModifiedBy>
  <cp:revision>74</cp:revision>
  <dcterms:created xsi:type="dcterms:W3CDTF">2026-03-06T09:28:36Z</dcterms:created>
  <dcterms:modified xsi:type="dcterms:W3CDTF">2026-03-31T11:30:56Z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2026-03-06T00:00:00Z</vt:filetime>
  </property>
  <property fmtid="{D5CDD505-2E9C-101B-9397-08002B2CF9AE}" pid="3" name="LastSaved">
    <vt:filetime>2026-03-06T00:00:00Z</vt:filetime>
  </property>
  <property fmtid="{D5CDD505-2E9C-101B-9397-08002B2CF9AE}" pid="4" name="Producer">
    <vt:lpwstr>3-Heights™ PDF Merge Split Shell 6.12.1.11 (http://www.pdf-tools.com)</vt:lpwstr>
  </property>
</Properties>
</file>