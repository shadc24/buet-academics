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1"/>
  </p:notesMasterIdLst>
  <p:sldIdLst>
    <p:sldId id="33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339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340" r:id="rId27"/>
    <p:sldId id="341" r:id="rId28"/>
    <p:sldId id="281" r:id="rId29"/>
    <p:sldId id="342" r:id="rId30"/>
    <p:sldId id="343" r:id="rId31"/>
    <p:sldId id="344" r:id="rId32"/>
    <p:sldId id="345" r:id="rId33"/>
    <p:sldId id="346" r:id="rId34"/>
    <p:sldId id="347" r:id="rId35"/>
    <p:sldId id="348" r:id="rId36"/>
    <p:sldId id="349" r:id="rId37"/>
    <p:sldId id="350" r:id="rId38"/>
    <p:sldId id="351" r:id="rId39"/>
    <p:sldId id="352" r:id="rId40"/>
    <p:sldId id="353" r:id="rId41"/>
    <p:sldId id="354" r:id="rId42"/>
    <p:sldId id="355" r:id="rId43"/>
    <p:sldId id="356" r:id="rId44"/>
    <p:sldId id="357" r:id="rId45"/>
    <p:sldId id="358" r:id="rId46"/>
    <p:sldId id="359" r:id="rId47"/>
    <p:sldId id="360" r:id="rId48"/>
    <p:sldId id="361" r:id="rId49"/>
    <p:sldId id="362" r:id="rId5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629" y="-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A1C33D-F38E-4380-A6CB-88DBA88BF431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ED6EB3-96B8-417E-A189-B079F46F6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12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8D8B12-BED8-4CDA-9EDC-5B42A6C01BD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09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4142" y="44576"/>
            <a:ext cx="9118600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rrahman007.buet.ac.bd/" TargetMode="External"/><Relationship Id="rId2" Type="http://schemas.openxmlformats.org/officeDocument/2006/relationships/hyperlink" Target="https://sites.google.com/view/rifatrahman007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18.png"/><Relationship Id="rId7" Type="http://schemas.openxmlformats.org/officeDocument/2006/relationships/image" Target="../media/image80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49.png"/><Relationship Id="rId9" Type="http://schemas.openxmlformats.org/officeDocument/2006/relationships/image" Target="../media/image82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0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7" Type="http://schemas.openxmlformats.org/officeDocument/2006/relationships/image" Target="../media/image97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9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6.png"/><Relationship Id="rId4" Type="http://schemas.openxmlformats.org/officeDocument/2006/relationships/image" Target="../media/image60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221" y="1559560"/>
            <a:ext cx="11800205" cy="677108"/>
          </a:xfrm>
        </p:spPr>
        <p:txBody>
          <a:bodyPr/>
          <a:lstStyle/>
          <a:p>
            <a:pPr algn="ctr"/>
            <a:r>
              <a:rPr lang="en-US" sz="4400" u="none" dirty="0"/>
              <a:t>Digital </a:t>
            </a:r>
            <a:r>
              <a:rPr lang="en-US" sz="4400" u="none" dirty="0" smtClean="0"/>
              <a:t>Modulation</a:t>
            </a:r>
            <a:endParaRPr lang="en-US" sz="4400" u="non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1828800" y="3352800"/>
            <a:ext cx="8534400" cy="2215991"/>
          </a:xfrm>
        </p:spPr>
        <p:txBody>
          <a:bodyPr/>
          <a:lstStyle/>
          <a:p>
            <a:pPr algn="ctr"/>
            <a:r>
              <a:rPr lang="en-US" dirty="0"/>
              <a:t>Prepared by</a:t>
            </a:r>
          </a:p>
          <a:p>
            <a:pPr algn="ctr"/>
            <a:r>
              <a:rPr lang="en-US" dirty="0"/>
              <a:t>Prof. Hitesh </a:t>
            </a:r>
            <a:r>
              <a:rPr lang="en-US" dirty="0" err="1"/>
              <a:t>Dholakiya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Modified by</a:t>
            </a:r>
          </a:p>
          <a:p>
            <a:pPr algn="ctr"/>
            <a:r>
              <a:rPr lang="en-US" dirty="0" err="1">
                <a:hlinkClick r:id="rId2"/>
              </a:rPr>
              <a:t>Rifat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Rahman</a:t>
            </a:r>
            <a:endParaRPr lang="en-US" dirty="0"/>
          </a:p>
          <a:p>
            <a:pPr algn="ctr"/>
            <a:r>
              <a:rPr lang="en-US" dirty="0"/>
              <a:t>Assistant Professor</a:t>
            </a:r>
          </a:p>
          <a:p>
            <a:pPr algn="ctr"/>
            <a:r>
              <a:rPr lang="en-US" dirty="0"/>
              <a:t>Institute of Appropriate Technology, BUET</a:t>
            </a:r>
          </a:p>
          <a:p>
            <a:pPr algn="ctr"/>
            <a:r>
              <a:rPr lang="en-US" dirty="0">
                <a:hlinkClick r:id="rId3"/>
              </a:rPr>
              <a:t>https://rrahman007.buet.ac.bd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764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4273" y="-62357"/>
            <a:ext cx="1096200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u="none" spc="-105" dirty="0">
                <a:solidFill>
                  <a:srgbClr val="006600"/>
                </a:solidFill>
                <a:latin typeface="Arial"/>
                <a:cs typeface="Arial"/>
              </a:rPr>
              <a:t>Amplitude</a:t>
            </a:r>
            <a:r>
              <a:rPr sz="6600" u="none" spc="-24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325" dirty="0">
                <a:solidFill>
                  <a:srgbClr val="006600"/>
                </a:solidFill>
                <a:latin typeface="Arial"/>
                <a:cs typeface="Arial"/>
              </a:rPr>
              <a:t>Shift</a:t>
            </a:r>
            <a:r>
              <a:rPr sz="6600" u="none" spc="-17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260" dirty="0">
                <a:solidFill>
                  <a:srgbClr val="006600"/>
                </a:solidFill>
                <a:latin typeface="Arial"/>
                <a:cs typeface="Arial"/>
              </a:rPr>
              <a:t>Keying</a:t>
            </a:r>
            <a:r>
              <a:rPr sz="6600" u="none" spc="-22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590" dirty="0">
                <a:solidFill>
                  <a:srgbClr val="006600"/>
                </a:solidFill>
                <a:latin typeface="Arial"/>
                <a:cs typeface="Arial"/>
              </a:rPr>
              <a:t>-</a:t>
            </a:r>
            <a:r>
              <a:rPr sz="6600" u="none" spc="-21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819" dirty="0">
                <a:solidFill>
                  <a:srgbClr val="006600"/>
                </a:solidFill>
                <a:latin typeface="Arial"/>
                <a:cs typeface="Arial"/>
              </a:rPr>
              <a:t>ASK</a:t>
            </a:r>
            <a:endParaRPr sz="6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4142" y="749045"/>
            <a:ext cx="14478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Outlines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4739" y="1243710"/>
            <a:ext cx="4174490" cy="295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Basics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ASK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Waveforms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ASK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Bandwidth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ASK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Demodulation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ASK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Constellation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Diagram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ASK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Advantages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ASK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Disadvantages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ASK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Applications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ASK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Basics</a:t>
            </a:r>
            <a:r>
              <a:rPr spc="-45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spc="-25" dirty="0"/>
              <a:t>ASK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4739" y="575309"/>
            <a:ext cx="1175766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 algn="just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9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ASK</a:t>
            </a:r>
            <a:r>
              <a:rPr sz="2400" b="1" spc="2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2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2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digital</a:t>
            </a:r>
            <a:r>
              <a:rPr sz="2400" b="1" spc="2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modulation</a:t>
            </a:r>
            <a:r>
              <a:rPr sz="2400" b="1" spc="2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technique</a:t>
            </a:r>
            <a:r>
              <a:rPr sz="2400" b="1" spc="2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that</a:t>
            </a:r>
            <a:r>
              <a:rPr sz="2400" b="1" spc="2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converts</a:t>
            </a:r>
            <a:r>
              <a:rPr sz="2400" b="1" spc="2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digital</a:t>
            </a:r>
            <a:r>
              <a:rPr sz="2400" b="1" spc="2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signals</a:t>
            </a:r>
            <a:r>
              <a:rPr sz="2400" b="1" spc="2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into</a:t>
            </a:r>
            <a:r>
              <a:rPr sz="2400" b="1" spc="2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Analog</a:t>
            </a:r>
            <a:r>
              <a:rPr sz="2400" b="1" spc="229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form</a:t>
            </a:r>
            <a:r>
              <a:rPr sz="2400" b="1" spc="2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by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varying</a:t>
            </a:r>
            <a:r>
              <a:rPr sz="2400" b="1" spc="3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3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carrier’s</a:t>
            </a:r>
            <a:r>
              <a:rPr sz="2400" b="1" spc="3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amplitude,</a:t>
            </a:r>
            <a:r>
              <a:rPr sz="2400" b="1" spc="3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enabling</a:t>
            </a:r>
            <a:r>
              <a:rPr sz="2400" b="1" spc="3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efficient</a:t>
            </a:r>
            <a:r>
              <a:rPr sz="2400" b="1" spc="3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transmission</a:t>
            </a:r>
            <a:r>
              <a:rPr sz="2400" b="1" spc="3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over</a:t>
            </a:r>
            <a:r>
              <a:rPr sz="2400" b="1" spc="3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3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communication channel.</a:t>
            </a:r>
            <a:endParaRPr sz="2400">
              <a:latin typeface="Calibri"/>
              <a:cs typeface="Calibri"/>
            </a:endParaRPr>
          </a:p>
          <a:p>
            <a:pPr marL="469265" indent="-456565" algn="just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ASK,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Amplitude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Carrier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varies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according</a:t>
            </a:r>
            <a:r>
              <a:rPr sz="2400" b="1" spc="-10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Digital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Message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Signal.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673" y="2372672"/>
            <a:ext cx="7803508" cy="236223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4739" y="4929378"/>
            <a:ext cx="5198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{BASK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or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OOK}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ASK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by: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9643" y="5516942"/>
            <a:ext cx="4262948" cy="5618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Waveforms</a:t>
            </a:r>
            <a:r>
              <a:rPr spc="-80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spc="-25" dirty="0"/>
              <a:t>ASK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56" y="2771775"/>
            <a:ext cx="11749364" cy="17430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661152" y="2798190"/>
            <a:ext cx="1288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Carrier</a:t>
            </a:r>
            <a:r>
              <a:rPr sz="18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56" y="4619587"/>
            <a:ext cx="11749364" cy="185589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799835" y="4760721"/>
            <a:ext cx="1014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ASK </a:t>
            </a:r>
            <a:r>
              <a:rPr sz="1800" b="1" spc="-10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519430"/>
            <a:ext cx="12192000" cy="2147570"/>
            <a:chOff x="0" y="519430"/>
            <a:chExt cx="12192000" cy="214757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519430"/>
              <a:ext cx="12192000" cy="214757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32861" y="626592"/>
              <a:ext cx="2244216" cy="2191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394075" y="587121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98543" y="587121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Bandwidth</a:t>
            </a:r>
            <a:r>
              <a:rPr spc="-5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25" dirty="0"/>
              <a:t>ASK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508" y="805414"/>
            <a:ext cx="6338837" cy="181454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24739" y="2667711"/>
            <a:ext cx="117551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Ideally,</a:t>
            </a:r>
            <a:r>
              <a:rPr sz="2400" b="1" spc="1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its</a:t>
            </a:r>
            <a:r>
              <a:rPr sz="2400" b="1" spc="1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bandwidth</a:t>
            </a:r>
            <a:r>
              <a:rPr sz="2400" b="1" spc="1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equals</a:t>
            </a:r>
            <a:r>
              <a:rPr sz="2400" b="1" spc="1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1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Baud</a:t>
            </a:r>
            <a:r>
              <a:rPr sz="2400" b="1" spc="1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rate</a:t>
            </a:r>
            <a:r>
              <a:rPr sz="2400" b="1" spc="1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1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1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message,</a:t>
            </a:r>
            <a:r>
              <a:rPr sz="2400" b="1" spc="1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but</a:t>
            </a:r>
            <a:r>
              <a:rPr sz="2400" b="1" spc="1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spc="1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practice,</a:t>
            </a:r>
            <a:r>
              <a:rPr sz="2400" b="1" spc="1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it</a:t>
            </a:r>
            <a:r>
              <a:rPr sz="2400" b="1" spc="1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1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slightly</a:t>
            </a:r>
            <a:endParaRPr sz="24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greater.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6527" y="3628832"/>
            <a:ext cx="4742993" cy="113236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00800" y="3732030"/>
            <a:ext cx="3623855" cy="99322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4800" y="5105400"/>
            <a:ext cx="5943600" cy="1295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1C1B24B0-B03E-4495-9020-7D3BFEFE83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6026" y="166992"/>
            <a:ext cx="4103574" cy="250071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36F70136-DD84-4613-9A21-BB7434B38A05}"/>
              </a:ext>
            </a:extLst>
          </p:cNvPr>
          <p:cNvSpPr/>
          <p:nvPr/>
        </p:nvSpPr>
        <p:spPr>
          <a:xfrm>
            <a:off x="7848600" y="44576"/>
            <a:ext cx="4191000" cy="25753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id="{13960845-BEC2-4311-B9C6-14B743664DA1}"/>
                  </a:ext>
                </a:extLst>
              </p:cNvPr>
              <p:cNvSpPr txBox="1"/>
              <p:nvPr/>
            </p:nvSpPr>
            <p:spPr>
              <a:xfrm>
                <a:off x="6781800" y="4761194"/>
                <a:ext cx="5105400" cy="20482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b>
                        <m:r>
                          <a:rPr lang="en-US" sz="20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𝐛</m:t>
                        </m:r>
                      </m:sub>
                    </m:sSub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𝐇𝐢𝐠𝐡𝐞𝐬𝐭</m:t>
                    </m:r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𝐛𝐚𝐬𝐞𝐛𝐚𝐧𝐝</m:t>
                    </m:r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𝐟𝐫𝐞𝐪𝐮𝐞𝐧𝐜𝐲</m:t>
                    </m:r>
                  </m:oMath>
                </a14:m>
                <a:endParaRPr lang="en-US" sz="2000" b="1" dirty="0" smtClean="0">
                  <a:solidFill>
                    <a:srgbClr val="FF0000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2000" b="1" dirty="0" smtClean="0">
                    <a:solidFill>
                      <a:srgbClr val="FF0000"/>
                    </a:solidFill>
                  </a:rPr>
                  <a:t>For M-</a:t>
                </a:r>
                <a:r>
                  <a:rPr lang="en-US" sz="2000" b="1" dirty="0" err="1" smtClean="0">
                    <a:solidFill>
                      <a:srgbClr val="FF0000"/>
                    </a:solidFill>
                  </a:rPr>
                  <a:t>ary</a:t>
                </a:r>
                <a:r>
                  <a:rPr lang="en-US" sz="2000" b="1" dirty="0" smtClean="0">
                    <a:solidFill>
                      <a:srgbClr val="FF0000"/>
                    </a:solidFill>
                  </a:rPr>
                  <a:t> ASK,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b>
                        <m:r>
                          <a:rPr lang="en-US" sz="20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𝐛</m:t>
                        </m:r>
                      </m:sub>
                    </m:sSub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2000" b="1" i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𝐁𝐚𝐮𝐝</m:t>
                        </m:r>
                        <m:r>
                          <a:rPr lang="en-US" sz="2000" b="1" i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2000" b="1" i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𝐑𝐚𝐭𝐞</m:t>
                        </m:r>
                      </m:num>
                      <m:den>
                        <m:r>
                          <a:rPr lang="en-US" sz="2000" b="1" i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den>
                    </m:f>
                  </m:oMath>
                </a14:m>
                <a:endParaRPr lang="en-US" sz="2000" b="1" dirty="0" smtClean="0">
                  <a:solidFill>
                    <a:srgbClr val="FF0000"/>
                  </a:solidFill>
                </a:endParaRPr>
              </a:p>
              <a:p>
                <a:endParaRPr lang="en-US" sz="2000" b="1" dirty="0" smtClean="0">
                  <a:solidFill>
                    <a:srgbClr val="FF0000"/>
                  </a:solidFill>
                </a:endParaRPr>
              </a:p>
              <a:p>
                <a:r>
                  <a:rPr lang="en-US" sz="2000" b="1" dirty="0" smtClean="0">
                    <a:solidFill>
                      <a:srgbClr val="7030A0"/>
                    </a:solidFill>
                  </a:rPr>
                  <a:t>Another Way: (For M-</a:t>
                </a:r>
                <a:r>
                  <a:rPr lang="en-US" sz="2000" b="1" dirty="0" err="1" smtClean="0">
                    <a:solidFill>
                      <a:srgbClr val="7030A0"/>
                    </a:solidFill>
                  </a:rPr>
                  <a:t>ary</a:t>
                </a:r>
                <a:r>
                  <a:rPr lang="en-US" sz="2000" b="1" dirty="0" smtClean="0">
                    <a:solidFill>
                      <a:srgbClr val="7030A0"/>
                    </a:solidFill>
                  </a:rPr>
                  <a:t> ASK)</a:t>
                </a:r>
                <a:endParaRPr lang="en-US" sz="2000" dirty="0" smtClean="0">
                  <a:solidFill>
                    <a:srgbClr val="7030A0"/>
                  </a:solidFill>
                </a:endParaRPr>
              </a:p>
              <a:p>
                <a:r>
                  <a:rPr lang="en-US" b="1" dirty="0" smtClean="0">
                    <a:solidFill>
                      <a:srgbClr val="7030A0"/>
                    </a:solidFill>
                  </a:rPr>
                  <a:t>When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7030A0"/>
                        </a:solidFill>
                        <a:latin typeface="Cambria Math"/>
                      </a:rPr>
                      <m:t>𝜶</m:t>
                    </m:r>
                  </m:oMath>
                </a14:m>
                <a:r>
                  <a:rPr lang="en-US" b="1" dirty="0" smtClean="0">
                    <a:solidFill>
                      <a:srgbClr val="7030A0"/>
                    </a:solidFill>
                  </a:rPr>
                  <a:t> is zero, BW will be minimum. So,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000" b="1" i="0" smtClean="0">
                        <a:solidFill>
                          <a:srgbClr val="7030A0"/>
                        </a:solidFill>
                        <a:latin typeface="Cambria Math"/>
                      </a:rPr>
                      <m:t>𝐁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𝐖</m:t>
                        </m:r>
                      </m:e>
                      <m:sub>
                        <m:r>
                          <a:rPr lang="en-US" sz="2000" b="1" i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𝐦𝐢𝐧</m:t>
                        </m:r>
                      </m:sub>
                    </m:sSub>
                    <m:r>
                      <a:rPr lang="en-US" sz="2000" b="1" i="0" smtClean="0">
                        <a:solidFill>
                          <a:srgbClr val="7030A0"/>
                        </a:solidFill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2000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𝟏</m:t>
                        </m:r>
                        <m:r>
                          <a:rPr lang="en-US" sz="2000" b="1" i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2000" b="1" i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𝟎</m:t>
                        </m:r>
                      </m:e>
                    </m:d>
                    <m:r>
                      <a:rPr lang="en-US" sz="2000" b="1" i="0" smtClean="0">
                        <a:solidFill>
                          <a:srgbClr val="7030A0"/>
                        </a:solidFill>
                        <a:latin typeface="Cambria Math"/>
                      </a:rPr>
                      <m:t>𝐫</m:t>
                    </m:r>
                    <m:r>
                      <a:rPr lang="en-US" sz="2000" b="1" i="0" smtClean="0">
                        <a:solidFill>
                          <a:srgbClr val="7030A0"/>
                        </a:solidFill>
                        <a:latin typeface="Cambria Math"/>
                      </a:rPr>
                      <m:t>=</m:t>
                    </m:r>
                    <m:r>
                      <a:rPr lang="en-US" sz="2000" b="1" i="0" smtClean="0">
                        <a:solidFill>
                          <a:srgbClr val="7030A0"/>
                        </a:solidFill>
                        <a:latin typeface="Cambria Math"/>
                      </a:rPr>
                      <m:t>𝐫</m:t>
                    </m:r>
                    <m:r>
                      <a:rPr lang="en-US" sz="2000" b="1" i="0" smtClean="0">
                        <a:solidFill>
                          <a:srgbClr val="7030A0"/>
                        </a:solidFill>
                        <a:latin typeface="Cambria Math"/>
                      </a:rPr>
                      <m:t>⇒</m:t>
                    </m:r>
                    <m:r>
                      <a:rPr lang="en-US" sz="2000" b="1" i="0" smtClean="0">
                        <a:solidFill>
                          <a:srgbClr val="7030A0"/>
                        </a:solidFill>
                        <a:latin typeface="Cambria Math"/>
                      </a:rPr>
                      <m:t>𝐁𝐚𝐮𝐝</m:t>
                    </m:r>
                    <m:r>
                      <a:rPr lang="en-US" sz="2000" b="1" i="0" smtClean="0">
                        <a:solidFill>
                          <a:srgbClr val="7030A0"/>
                        </a:solidFill>
                        <a:latin typeface="Cambria Math"/>
                      </a:rPr>
                      <m:t> </m:t>
                    </m:r>
                    <m:r>
                      <a:rPr lang="en-US" sz="2000" b="1" i="0" smtClean="0">
                        <a:solidFill>
                          <a:srgbClr val="7030A0"/>
                        </a:solidFill>
                        <a:latin typeface="Cambria Math"/>
                      </a:rPr>
                      <m:t>𝐫𝐚𝐭𝐞</m:t>
                    </m:r>
                  </m:oMath>
                </a14:m>
                <a:endParaRPr lang="en-US" sz="20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13960845-BEC2-4311-B9C6-14B743664D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800" y="4761194"/>
                <a:ext cx="5105400" cy="2048253"/>
              </a:xfrm>
              <a:prstGeom prst="rect">
                <a:avLst/>
              </a:prstGeom>
              <a:blipFill rotWithShape="1">
                <a:blip r:embed="rId7"/>
                <a:stretch>
                  <a:fillRect l="-1314" t="-1190" b="-4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mc="http://schemas.openxmlformats.org/markup-compatibility/2006" xmlns:a14="http://schemas.microsoft.com/office/drawing/2010/main" xmlns="" xmlns:a16="http://schemas.microsoft.com/office/drawing/2014/main" id="{13960845-BEC2-4311-B9C6-14B743664DA1}"/>
              </a:ext>
            </a:extLst>
          </p:cNvPr>
          <p:cNvSpPr txBox="1"/>
          <p:nvPr/>
        </p:nvSpPr>
        <p:spPr>
          <a:xfrm>
            <a:off x="9982200" y="4114800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FF0000"/>
                </a:solidFill>
              </a:rPr>
              <a:t>(For Binary ASK)</a:t>
            </a:r>
            <a:endParaRPr lang="en-US" sz="1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Demodulation</a:t>
            </a:r>
            <a:r>
              <a:rPr spc="-8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spc="-25" dirty="0"/>
              <a:t>ASK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4739" y="575309"/>
            <a:ext cx="590486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There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are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two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Types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ASK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Demodulation: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BE9000"/>
                </a:solidFill>
                <a:latin typeface="Calibri"/>
                <a:cs typeface="Calibri"/>
              </a:rPr>
              <a:t>Synchronous</a:t>
            </a:r>
            <a:r>
              <a:rPr sz="2400" b="1" spc="-114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BE9000"/>
                </a:solidFill>
                <a:latin typeface="Calibri"/>
                <a:cs typeface="Calibri"/>
              </a:rPr>
              <a:t>(Coherent)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BE9000"/>
                </a:solidFill>
                <a:latin typeface="Calibri"/>
                <a:cs typeface="Calibri"/>
              </a:rPr>
              <a:t>Asynchronous</a:t>
            </a:r>
            <a:r>
              <a:rPr sz="2400" b="1" spc="-90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BE9000"/>
                </a:solidFill>
                <a:latin typeface="Calibri"/>
                <a:cs typeface="Calibri"/>
              </a:rPr>
              <a:t>(Non-Coherent)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4233" y="2117598"/>
            <a:ext cx="50546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u="sng" spc="-1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Calibri"/>
                <a:cs typeface="Calibri"/>
              </a:rPr>
              <a:t>Synchronous</a:t>
            </a:r>
            <a:r>
              <a:rPr sz="2200" b="1" u="sng" spc="-45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Calibri"/>
                <a:cs typeface="Calibri"/>
              </a:rPr>
              <a:t> </a:t>
            </a:r>
            <a:r>
              <a:rPr sz="2200" b="1" u="sng" spc="-1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Calibri"/>
                <a:cs typeface="Calibri"/>
              </a:rPr>
              <a:t>(Coherent)</a:t>
            </a:r>
            <a:r>
              <a:rPr sz="2200" b="1" u="sng" spc="-2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Calibri"/>
                <a:cs typeface="Calibri"/>
              </a:rPr>
              <a:t> </a:t>
            </a:r>
            <a:r>
              <a:rPr sz="2200" b="1" u="sng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Calibri"/>
                <a:cs typeface="Calibri"/>
              </a:rPr>
              <a:t>ASK</a:t>
            </a:r>
            <a:r>
              <a:rPr sz="2200" b="1" u="sng" spc="-65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Calibri"/>
                <a:cs typeface="Calibri"/>
              </a:rPr>
              <a:t> </a:t>
            </a:r>
            <a:r>
              <a:rPr sz="2200" b="1" u="sng" spc="-1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Calibri"/>
                <a:cs typeface="Calibri"/>
              </a:rPr>
              <a:t>Demodulation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268" y="3372484"/>
            <a:ext cx="5738495" cy="1167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7615" algn="ctr">
              <a:lnSpc>
                <a:spcPts val="1255"/>
              </a:lnSpc>
            </a:pPr>
            <a:r>
              <a:rPr sz="1800" b="1" spc="-25" dirty="0">
                <a:latin typeface="Calibri"/>
                <a:cs typeface="Calibri"/>
              </a:rPr>
              <a:t>LPF</a:t>
            </a:r>
            <a:endParaRPr sz="1800">
              <a:latin typeface="Calibri"/>
              <a:cs typeface="Calibri"/>
            </a:endParaRPr>
          </a:p>
          <a:p>
            <a:pPr>
              <a:lnSpc>
                <a:spcPts val="1710"/>
              </a:lnSpc>
              <a:tabLst>
                <a:tab pos="4291330" algn="l"/>
              </a:tabLst>
            </a:pPr>
            <a:r>
              <a:rPr sz="2700" b="1" baseline="1543" dirty="0">
                <a:latin typeface="Calibri"/>
                <a:cs typeface="Calibri"/>
              </a:rPr>
              <a:t>ASK </a:t>
            </a:r>
            <a:r>
              <a:rPr sz="2700" b="1" spc="-15" baseline="1543" dirty="0">
                <a:latin typeface="Calibri"/>
                <a:cs typeface="Calibri"/>
              </a:rPr>
              <a:t>Signal</a:t>
            </a:r>
            <a:r>
              <a:rPr sz="2700" b="1" baseline="1543" dirty="0">
                <a:latin typeface="Calibri"/>
                <a:cs typeface="Calibri"/>
              </a:rPr>
              <a:t>	</a:t>
            </a:r>
            <a:r>
              <a:rPr sz="1800" b="1" dirty="0">
                <a:latin typeface="Calibri"/>
                <a:cs typeface="Calibri"/>
              </a:rPr>
              <a:t>Message</a:t>
            </a:r>
            <a:r>
              <a:rPr sz="1800" b="1" spc="-8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Signal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80"/>
              </a:spcBef>
            </a:pPr>
            <a:endParaRPr sz="1800">
              <a:latin typeface="Calibri"/>
              <a:cs typeface="Calibri"/>
            </a:endParaRPr>
          </a:p>
          <a:p>
            <a:pPr marL="1708785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Carrier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Signal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-9525" y="1868677"/>
            <a:ext cx="12211050" cy="2699385"/>
            <a:chOff x="-9525" y="1868677"/>
            <a:chExt cx="12211050" cy="2699385"/>
          </a:xfrm>
        </p:grpSpPr>
        <p:sp>
          <p:nvSpPr>
            <p:cNvPr id="7" name="object 7"/>
            <p:cNvSpPr/>
            <p:nvPr/>
          </p:nvSpPr>
          <p:spPr>
            <a:xfrm>
              <a:off x="0" y="1878202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6978" y="3423919"/>
              <a:ext cx="812800" cy="85725"/>
            </a:xfrm>
            <a:custGeom>
              <a:avLst/>
              <a:gdLst/>
              <a:ahLst/>
              <a:cxnLst/>
              <a:rect l="l" t="t" r="r" b="b"/>
              <a:pathLst>
                <a:path w="812800" h="85725">
                  <a:moveTo>
                    <a:pt x="726643" y="0"/>
                  </a:moveTo>
                  <a:lnTo>
                    <a:pt x="726643" y="85725"/>
                  </a:lnTo>
                  <a:lnTo>
                    <a:pt x="783877" y="57150"/>
                  </a:lnTo>
                  <a:lnTo>
                    <a:pt x="740867" y="57150"/>
                  </a:lnTo>
                  <a:lnTo>
                    <a:pt x="740867" y="28575"/>
                  </a:lnTo>
                  <a:lnTo>
                    <a:pt x="783708" y="28575"/>
                  </a:lnTo>
                  <a:lnTo>
                    <a:pt x="726643" y="0"/>
                  </a:lnTo>
                  <a:close/>
                </a:path>
                <a:path w="812800" h="85725">
                  <a:moveTo>
                    <a:pt x="726643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726643" y="57150"/>
                  </a:lnTo>
                  <a:lnTo>
                    <a:pt x="726643" y="28575"/>
                  </a:lnTo>
                  <a:close/>
                </a:path>
                <a:path w="812800" h="85725">
                  <a:moveTo>
                    <a:pt x="783708" y="28575"/>
                  </a:moveTo>
                  <a:lnTo>
                    <a:pt x="740867" y="28575"/>
                  </a:lnTo>
                  <a:lnTo>
                    <a:pt x="740867" y="57150"/>
                  </a:lnTo>
                  <a:lnTo>
                    <a:pt x="783877" y="57150"/>
                  </a:lnTo>
                  <a:lnTo>
                    <a:pt x="812368" y="42926"/>
                  </a:lnTo>
                  <a:lnTo>
                    <a:pt x="783708" y="28575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1666" y="3175444"/>
              <a:ext cx="582850" cy="58280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391666" y="3175444"/>
              <a:ext cx="582930" cy="582930"/>
            </a:xfrm>
            <a:custGeom>
              <a:avLst/>
              <a:gdLst/>
              <a:ahLst/>
              <a:cxnLst/>
              <a:rect l="l" t="t" r="r" b="b"/>
              <a:pathLst>
                <a:path w="582930" h="582929">
                  <a:moveTo>
                    <a:pt x="83057" y="85534"/>
                  </a:moveTo>
                  <a:lnTo>
                    <a:pt x="118833" y="54772"/>
                  </a:lnTo>
                  <a:lnTo>
                    <a:pt x="158080" y="30838"/>
                  </a:lnTo>
                  <a:lnTo>
                    <a:pt x="199950" y="13731"/>
                  </a:lnTo>
                  <a:lnTo>
                    <a:pt x="243594" y="3451"/>
                  </a:lnTo>
                  <a:lnTo>
                    <a:pt x="288163" y="0"/>
                  </a:lnTo>
                  <a:lnTo>
                    <a:pt x="332808" y="3375"/>
                  </a:lnTo>
                  <a:lnTo>
                    <a:pt x="376680" y="13578"/>
                  </a:lnTo>
                  <a:lnTo>
                    <a:pt x="418931" y="30609"/>
                  </a:lnTo>
                  <a:lnTo>
                    <a:pt x="458711" y="54467"/>
                  </a:lnTo>
                  <a:lnTo>
                    <a:pt x="495172" y="85153"/>
                  </a:lnTo>
                  <a:lnTo>
                    <a:pt x="526302" y="121237"/>
                  </a:lnTo>
                  <a:lnTo>
                    <a:pt x="550646" y="160724"/>
                  </a:lnTo>
                  <a:lnTo>
                    <a:pt x="568193" y="202765"/>
                  </a:lnTo>
                  <a:lnTo>
                    <a:pt x="578932" y="246512"/>
                  </a:lnTo>
                  <a:lnTo>
                    <a:pt x="582850" y="291115"/>
                  </a:lnTo>
                  <a:lnTo>
                    <a:pt x="579937" y="335726"/>
                  </a:lnTo>
                  <a:lnTo>
                    <a:pt x="570182" y="379496"/>
                  </a:lnTo>
                  <a:lnTo>
                    <a:pt x="553572" y="421575"/>
                  </a:lnTo>
                  <a:lnTo>
                    <a:pt x="530097" y="461115"/>
                  </a:lnTo>
                  <a:lnTo>
                    <a:pt x="499744" y="497268"/>
                  </a:lnTo>
                  <a:lnTo>
                    <a:pt x="463969" y="528030"/>
                  </a:lnTo>
                  <a:lnTo>
                    <a:pt x="424722" y="551964"/>
                  </a:lnTo>
                  <a:lnTo>
                    <a:pt x="382852" y="569071"/>
                  </a:lnTo>
                  <a:lnTo>
                    <a:pt x="339208" y="579351"/>
                  </a:lnTo>
                  <a:lnTo>
                    <a:pt x="294639" y="582803"/>
                  </a:lnTo>
                  <a:lnTo>
                    <a:pt x="249994" y="579427"/>
                  </a:lnTo>
                  <a:lnTo>
                    <a:pt x="206122" y="569224"/>
                  </a:lnTo>
                  <a:lnTo>
                    <a:pt x="163871" y="552193"/>
                  </a:lnTo>
                  <a:lnTo>
                    <a:pt x="124091" y="528335"/>
                  </a:lnTo>
                  <a:lnTo>
                    <a:pt x="87629" y="497649"/>
                  </a:lnTo>
                  <a:lnTo>
                    <a:pt x="56503" y="461531"/>
                  </a:lnTo>
                  <a:lnTo>
                    <a:pt x="32168" y="422017"/>
                  </a:lnTo>
                  <a:lnTo>
                    <a:pt x="14633" y="379957"/>
                  </a:lnTo>
                  <a:lnTo>
                    <a:pt x="3907" y="336198"/>
                  </a:lnTo>
                  <a:lnTo>
                    <a:pt x="0" y="291592"/>
                  </a:lnTo>
                  <a:lnTo>
                    <a:pt x="2919" y="246985"/>
                  </a:lnTo>
                  <a:lnTo>
                    <a:pt x="12676" y="203226"/>
                  </a:lnTo>
                  <a:lnTo>
                    <a:pt x="29279" y="161166"/>
                  </a:lnTo>
                  <a:lnTo>
                    <a:pt x="52736" y="121652"/>
                  </a:lnTo>
                  <a:lnTo>
                    <a:pt x="83057" y="85534"/>
                  </a:lnTo>
                  <a:close/>
                </a:path>
              </a:pathLst>
            </a:custGeom>
            <a:ln w="6349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79296" y="3260597"/>
              <a:ext cx="407670" cy="412750"/>
            </a:xfrm>
            <a:custGeom>
              <a:avLst/>
              <a:gdLst/>
              <a:ahLst/>
              <a:cxnLst/>
              <a:rect l="l" t="t" r="r" b="b"/>
              <a:pathLst>
                <a:path w="407669" h="412750">
                  <a:moveTo>
                    <a:pt x="407543" y="0"/>
                  </a:moveTo>
                  <a:lnTo>
                    <a:pt x="0" y="412495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74724" y="3260978"/>
              <a:ext cx="417195" cy="412115"/>
            </a:xfrm>
            <a:custGeom>
              <a:avLst/>
              <a:gdLst/>
              <a:ahLst/>
              <a:cxnLst/>
              <a:rect l="l" t="t" r="r" b="b"/>
              <a:pathLst>
                <a:path w="417194" h="412114">
                  <a:moveTo>
                    <a:pt x="416687" y="411734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59482" y="3423919"/>
              <a:ext cx="1058545" cy="85725"/>
            </a:xfrm>
            <a:custGeom>
              <a:avLst/>
              <a:gdLst/>
              <a:ahLst/>
              <a:cxnLst/>
              <a:rect l="l" t="t" r="r" b="b"/>
              <a:pathLst>
                <a:path w="1058545" h="85725">
                  <a:moveTo>
                    <a:pt x="972819" y="0"/>
                  </a:moveTo>
                  <a:lnTo>
                    <a:pt x="972819" y="85725"/>
                  </a:lnTo>
                  <a:lnTo>
                    <a:pt x="1030054" y="57150"/>
                  </a:lnTo>
                  <a:lnTo>
                    <a:pt x="987044" y="57150"/>
                  </a:lnTo>
                  <a:lnTo>
                    <a:pt x="987044" y="28575"/>
                  </a:lnTo>
                  <a:lnTo>
                    <a:pt x="1029885" y="28575"/>
                  </a:lnTo>
                  <a:lnTo>
                    <a:pt x="972819" y="0"/>
                  </a:lnTo>
                  <a:close/>
                </a:path>
                <a:path w="1058545" h="85725">
                  <a:moveTo>
                    <a:pt x="972819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972819" y="57150"/>
                  </a:lnTo>
                  <a:lnTo>
                    <a:pt x="972819" y="28575"/>
                  </a:lnTo>
                  <a:close/>
                </a:path>
                <a:path w="1058545" h="85725">
                  <a:moveTo>
                    <a:pt x="1029885" y="28575"/>
                  </a:moveTo>
                  <a:lnTo>
                    <a:pt x="987044" y="28575"/>
                  </a:lnTo>
                  <a:lnTo>
                    <a:pt x="987044" y="57150"/>
                  </a:lnTo>
                  <a:lnTo>
                    <a:pt x="1030054" y="57150"/>
                  </a:lnTo>
                  <a:lnTo>
                    <a:pt x="1058545" y="42926"/>
                  </a:lnTo>
                  <a:lnTo>
                    <a:pt x="1029885" y="28575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18027" y="3055645"/>
              <a:ext cx="1125296" cy="82229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018027" y="3055645"/>
              <a:ext cx="1125855" cy="822325"/>
            </a:xfrm>
            <a:custGeom>
              <a:avLst/>
              <a:gdLst/>
              <a:ahLst/>
              <a:cxnLst/>
              <a:rect l="l" t="t" r="r" b="b"/>
              <a:pathLst>
                <a:path w="1125854" h="822325">
                  <a:moveTo>
                    <a:pt x="0" y="822299"/>
                  </a:moveTo>
                  <a:lnTo>
                    <a:pt x="1125296" y="822299"/>
                  </a:lnTo>
                  <a:lnTo>
                    <a:pt x="1125296" y="0"/>
                  </a:lnTo>
                  <a:lnTo>
                    <a:pt x="0" y="0"/>
                  </a:lnTo>
                  <a:lnTo>
                    <a:pt x="0" y="822299"/>
                  </a:lnTo>
                  <a:close/>
                </a:path>
              </a:pathLst>
            </a:custGeom>
            <a:ln w="635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42745" y="3423919"/>
              <a:ext cx="3559175" cy="1144270"/>
            </a:xfrm>
            <a:custGeom>
              <a:avLst/>
              <a:gdLst/>
              <a:ahLst/>
              <a:cxnLst/>
              <a:rect l="l" t="t" r="r" b="b"/>
              <a:pathLst>
                <a:path w="3559175" h="1144270">
                  <a:moveTo>
                    <a:pt x="85725" y="419354"/>
                  </a:moveTo>
                  <a:lnTo>
                    <a:pt x="78549" y="405003"/>
                  </a:lnTo>
                  <a:lnTo>
                    <a:pt x="42926" y="333629"/>
                  </a:lnTo>
                  <a:lnTo>
                    <a:pt x="0" y="419354"/>
                  </a:lnTo>
                  <a:lnTo>
                    <a:pt x="28575" y="419354"/>
                  </a:lnTo>
                  <a:lnTo>
                    <a:pt x="28575" y="1143889"/>
                  </a:lnTo>
                  <a:lnTo>
                    <a:pt x="57150" y="1143889"/>
                  </a:lnTo>
                  <a:lnTo>
                    <a:pt x="57150" y="419354"/>
                  </a:lnTo>
                  <a:lnTo>
                    <a:pt x="85725" y="419354"/>
                  </a:lnTo>
                  <a:close/>
                </a:path>
                <a:path w="3559175" h="1144270">
                  <a:moveTo>
                    <a:pt x="3559048" y="42926"/>
                  </a:moveTo>
                  <a:lnTo>
                    <a:pt x="3530384" y="28575"/>
                  </a:lnTo>
                  <a:lnTo>
                    <a:pt x="3473323" y="0"/>
                  </a:lnTo>
                  <a:lnTo>
                    <a:pt x="3473323" y="28575"/>
                  </a:lnTo>
                  <a:lnTo>
                    <a:pt x="2500630" y="28575"/>
                  </a:lnTo>
                  <a:lnTo>
                    <a:pt x="2500630" y="57150"/>
                  </a:lnTo>
                  <a:lnTo>
                    <a:pt x="3473323" y="57150"/>
                  </a:lnTo>
                  <a:lnTo>
                    <a:pt x="3473323" y="85725"/>
                  </a:lnTo>
                  <a:lnTo>
                    <a:pt x="3530549" y="57150"/>
                  </a:lnTo>
                  <a:lnTo>
                    <a:pt x="3559048" y="42926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55336" y="1868677"/>
            <a:ext cx="7894320" cy="4999355"/>
            <a:chOff x="55336" y="1868677"/>
            <a:chExt cx="7894320" cy="4999355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336" y="2734309"/>
              <a:ext cx="5947788" cy="219519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057011" y="1878202"/>
              <a:ext cx="0" cy="4980305"/>
            </a:xfrm>
            <a:custGeom>
              <a:avLst/>
              <a:gdLst/>
              <a:ahLst/>
              <a:cxnLst/>
              <a:rect l="l" t="t" r="r" b="b"/>
              <a:pathLst>
                <a:path h="4980305">
                  <a:moveTo>
                    <a:pt x="0" y="4979797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155309" y="3466338"/>
              <a:ext cx="814069" cy="85725"/>
            </a:xfrm>
            <a:custGeom>
              <a:avLst/>
              <a:gdLst/>
              <a:ahLst/>
              <a:cxnLst/>
              <a:rect l="l" t="t" r="r" b="b"/>
              <a:pathLst>
                <a:path w="814070" h="85725">
                  <a:moveTo>
                    <a:pt x="728345" y="0"/>
                  </a:moveTo>
                  <a:lnTo>
                    <a:pt x="728345" y="85725"/>
                  </a:lnTo>
                  <a:lnTo>
                    <a:pt x="785410" y="57150"/>
                  </a:lnTo>
                  <a:lnTo>
                    <a:pt x="742569" y="57150"/>
                  </a:lnTo>
                  <a:lnTo>
                    <a:pt x="742569" y="28575"/>
                  </a:lnTo>
                  <a:lnTo>
                    <a:pt x="785579" y="28575"/>
                  </a:lnTo>
                  <a:lnTo>
                    <a:pt x="728345" y="0"/>
                  </a:lnTo>
                  <a:close/>
                </a:path>
                <a:path w="814070" h="85725">
                  <a:moveTo>
                    <a:pt x="72834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728345" y="57150"/>
                  </a:lnTo>
                  <a:lnTo>
                    <a:pt x="728345" y="28575"/>
                  </a:lnTo>
                  <a:close/>
                </a:path>
                <a:path w="814070" h="85725">
                  <a:moveTo>
                    <a:pt x="785579" y="28575"/>
                  </a:moveTo>
                  <a:lnTo>
                    <a:pt x="742569" y="28575"/>
                  </a:lnTo>
                  <a:lnTo>
                    <a:pt x="742569" y="57150"/>
                  </a:lnTo>
                  <a:lnTo>
                    <a:pt x="785410" y="57150"/>
                  </a:lnTo>
                  <a:lnTo>
                    <a:pt x="814069" y="42799"/>
                  </a:lnTo>
                  <a:lnTo>
                    <a:pt x="785579" y="28575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69378" y="3098063"/>
              <a:ext cx="980160" cy="82229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224739" y="5072253"/>
            <a:ext cx="481520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469265" algn="l"/>
              </a:tabLst>
            </a:pP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Pro:</a:t>
            </a:r>
            <a:r>
              <a:rPr sz="2400" b="1" spc="-6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85622"/>
                </a:solidFill>
                <a:latin typeface="Calibri"/>
                <a:cs typeface="Calibri"/>
              </a:rPr>
              <a:t>Efficient</a:t>
            </a:r>
            <a:r>
              <a:rPr sz="2400" b="1" spc="-4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85622"/>
                </a:solidFill>
                <a:latin typeface="Calibri"/>
                <a:cs typeface="Calibri"/>
              </a:rPr>
              <a:t>Method.</a:t>
            </a:r>
            <a:endParaRPr sz="24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"/>
              <a:tabLst>
                <a:tab pos="469265" algn="l"/>
              </a:tabLst>
            </a:pP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Con:</a:t>
            </a:r>
            <a:r>
              <a:rPr sz="2400" b="1" spc="-4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Need</a:t>
            </a:r>
            <a:r>
              <a:rPr sz="2400" b="1" spc="-5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of</a:t>
            </a:r>
            <a:r>
              <a:rPr sz="2400" b="1" spc="-4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Oscillator</a:t>
            </a:r>
            <a:r>
              <a:rPr sz="2400" b="1" spc="-4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for</a:t>
            </a:r>
            <a:r>
              <a:rPr sz="2400" b="1" spc="-5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85622"/>
                </a:solidFill>
                <a:latin typeface="Calibri"/>
                <a:cs typeface="Calibri"/>
              </a:rPr>
              <a:t>Carrier.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223253" y="2123058"/>
            <a:ext cx="57746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u="sng" spc="-1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Calibri"/>
                <a:cs typeface="Calibri"/>
              </a:rPr>
              <a:t>Asynchronous</a:t>
            </a:r>
            <a:r>
              <a:rPr sz="2200" b="1" u="sng" spc="-3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Calibri"/>
                <a:cs typeface="Calibri"/>
              </a:rPr>
              <a:t> </a:t>
            </a:r>
            <a:r>
              <a:rPr sz="2200" b="1" u="sng" spc="-2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Calibri"/>
                <a:cs typeface="Calibri"/>
              </a:rPr>
              <a:t>(Non-</a:t>
            </a:r>
            <a:r>
              <a:rPr sz="2200" b="1" u="sng" spc="-1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Calibri"/>
                <a:cs typeface="Calibri"/>
              </a:rPr>
              <a:t>Coherent) </a:t>
            </a:r>
            <a:r>
              <a:rPr sz="2200" b="1" u="sng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Calibri"/>
                <a:cs typeface="Calibri"/>
              </a:rPr>
              <a:t>ASK</a:t>
            </a:r>
            <a:r>
              <a:rPr sz="2200" b="1" u="sng" spc="-45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Calibri"/>
                <a:cs typeface="Calibri"/>
              </a:rPr>
              <a:t> </a:t>
            </a:r>
            <a:r>
              <a:rPr sz="2200" b="1" u="sng" spc="-1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Calibri"/>
                <a:cs typeface="Calibri"/>
              </a:rPr>
              <a:t>Demodulation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969379" y="3098063"/>
            <a:ext cx="980440" cy="822325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259079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039"/>
              </a:spcBef>
            </a:pPr>
            <a:r>
              <a:rPr sz="1800" b="1" spc="-10" dirty="0">
                <a:latin typeface="Calibri"/>
                <a:cs typeface="Calibri"/>
              </a:rPr>
              <a:t>Rectifier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224142" y="3534917"/>
            <a:ext cx="5911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ASK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Signal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949438" y="3092348"/>
            <a:ext cx="1195705" cy="822325"/>
            <a:chOff x="7949438" y="3092348"/>
            <a:chExt cx="1195705" cy="822325"/>
          </a:xfrm>
        </p:grpSpPr>
        <p:sp>
          <p:nvSpPr>
            <p:cNvPr id="27" name="object 27"/>
            <p:cNvSpPr/>
            <p:nvPr/>
          </p:nvSpPr>
          <p:spPr>
            <a:xfrm>
              <a:off x="7949438" y="3461131"/>
              <a:ext cx="854075" cy="85725"/>
            </a:xfrm>
            <a:custGeom>
              <a:avLst/>
              <a:gdLst/>
              <a:ahLst/>
              <a:cxnLst/>
              <a:rect l="l" t="t" r="r" b="b"/>
              <a:pathLst>
                <a:path w="854075" h="85725">
                  <a:moveTo>
                    <a:pt x="767841" y="0"/>
                  </a:moveTo>
                  <a:lnTo>
                    <a:pt x="768476" y="85725"/>
                  </a:lnTo>
                  <a:lnTo>
                    <a:pt x="824437" y="57245"/>
                  </a:lnTo>
                  <a:lnTo>
                    <a:pt x="782574" y="57245"/>
                  </a:lnTo>
                  <a:lnTo>
                    <a:pt x="782441" y="42291"/>
                  </a:lnTo>
                  <a:lnTo>
                    <a:pt x="782320" y="28669"/>
                  </a:lnTo>
                  <a:lnTo>
                    <a:pt x="826128" y="28669"/>
                  </a:lnTo>
                  <a:lnTo>
                    <a:pt x="767841" y="0"/>
                  </a:lnTo>
                  <a:close/>
                </a:path>
                <a:path w="854075" h="85725">
                  <a:moveTo>
                    <a:pt x="768054" y="28669"/>
                  </a:moveTo>
                  <a:lnTo>
                    <a:pt x="0" y="33782"/>
                  </a:lnTo>
                  <a:lnTo>
                    <a:pt x="208" y="57245"/>
                  </a:lnTo>
                  <a:lnTo>
                    <a:pt x="253" y="62357"/>
                  </a:lnTo>
                  <a:lnTo>
                    <a:pt x="768266" y="57245"/>
                  </a:lnTo>
                  <a:lnTo>
                    <a:pt x="768155" y="42291"/>
                  </a:lnTo>
                  <a:lnTo>
                    <a:pt x="768054" y="28669"/>
                  </a:lnTo>
                  <a:close/>
                </a:path>
                <a:path w="854075" h="85725">
                  <a:moveTo>
                    <a:pt x="826128" y="28669"/>
                  </a:moveTo>
                  <a:lnTo>
                    <a:pt x="782320" y="28669"/>
                  </a:lnTo>
                  <a:lnTo>
                    <a:pt x="782574" y="57245"/>
                  </a:lnTo>
                  <a:lnTo>
                    <a:pt x="824437" y="57245"/>
                  </a:lnTo>
                  <a:lnTo>
                    <a:pt x="853820" y="42291"/>
                  </a:lnTo>
                  <a:lnTo>
                    <a:pt x="826128" y="28669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69503" y="3092348"/>
              <a:ext cx="675627" cy="822299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8469503" y="3092348"/>
            <a:ext cx="675640" cy="822325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259079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2039"/>
              </a:spcBef>
            </a:pPr>
            <a:r>
              <a:rPr sz="1800" b="1" spc="-25" dirty="0">
                <a:latin typeface="Calibri"/>
                <a:cs typeface="Calibri"/>
              </a:rPr>
              <a:t>LPF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145143" y="3092348"/>
            <a:ext cx="1872614" cy="822325"/>
            <a:chOff x="9145143" y="3092348"/>
            <a:chExt cx="1872614" cy="822325"/>
          </a:xfrm>
        </p:grpSpPr>
        <p:sp>
          <p:nvSpPr>
            <p:cNvPr id="31" name="object 31"/>
            <p:cNvSpPr/>
            <p:nvPr/>
          </p:nvSpPr>
          <p:spPr>
            <a:xfrm>
              <a:off x="9145143" y="3460623"/>
              <a:ext cx="518159" cy="85725"/>
            </a:xfrm>
            <a:custGeom>
              <a:avLst/>
              <a:gdLst/>
              <a:ahLst/>
              <a:cxnLst/>
              <a:rect l="l" t="t" r="r" b="b"/>
              <a:pathLst>
                <a:path w="518159" h="85725">
                  <a:moveTo>
                    <a:pt x="432308" y="0"/>
                  </a:moveTo>
                  <a:lnTo>
                    <a:pt x="432308" y="85725"/>
                  </a:lnTo>
                  <a:lnTo>
                    <a:pt x="489373" y="57150"/>
                  </a:lnTo>
                  <a:lnTo>
                    <a:pt x="446659" y="57150"/>
                  </a:lnTo>
                  <a:lnTo>
                    <a:pt x="446659" y="28575"/>
                  </a:lnTo>
                  <a:lnTo>
                    <a:pt x="489542" y="28575"/>
                  </a:lnTo>
                  <a:lnTo>
                    <a:pt x="432308" y="0"/>
                  </a:lnTo>
                  <a:close/>
                </a:path>
                <a:path w="518159" h="85725">
                  <a:moveTo>
                    <a:pt x="432308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432308" y="57150"/>
                  </a:lnTo>
                  <a:lnTo>
                    <a:pt x="432308" y="28575"/>
                  </a:lnTo>
                  <a:close/>
                </a:path>
                <a:path w="518159" h="85725">
                  <a:moveTo>
                    <a:pt x="489542" y="28575"/>
                  </a:moveTo>
                  <a:lnTo>
                    <a:pt x="446659" y="28575"/>
                  </a:lnTo>
                  <a:lnTo>
                    <a:pt x="446659" y="57150"/>
                  </a:lnTo>
                  <a:lnTo>
                    <a:pt x="489373" y="57150"/>
                  </a:lnTo>
                  <a:lnTo>
                    <a:pt x="518033" y="42799"/>
                  </a:lnTo>
                  <a:lnTo>
                    <a:pt x="489542" y="28575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63176" y="3092348"/>
              <a:ext cx="1354327" cy="822299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9663176" y="3092348"/>
            <a:ext cx="1354455" cy="822325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259079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2039"/>
              </a:spcBef>
            </a:pPr>
            <a:r>
              <a:rPr sz="1800" b="1" spc="-10" dirty="0">
                <a:latin typeface="Calibri"/>
                <a:cs typeface="Calibri"/>
              </a:rPr>
              <a:t>Comparator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1017504" y="3460622"/>
            <a:ext cx="530225" cy="85725"/>
          </a:xfrm>
          <a:custGeom>
            <a:avLst/>
            <a:gdLst/>
            <a:ahLst/>
            <a:cxnLst/>
            <a:rect l="l" t="t" r="r" b="b"/>
            <a:pathLst>
              <a:path w="530225" h="85725">
                <a:moveTo>
                  <a:pt x="444119" y="0"/>
                </a:moveTo>
                <a:lnTo>
                  <a:pt x="444119" y="85725"/>
                </a:lnTo>
                <a:lnTo>
                  <a:pt x="501184" y="57150"/>
                </a:lnTo>
                <a:lnTo>
                  <a:pt x="458343" y="57150"/>
                </a:lnTo>
                <a:lnTo>
                  <a:pt x="458343" y="28575"/>
                </a:lnTo>
                <a:lnTo>
                  <a:pt x="501353" y="28575"/>
                </a:lnTo>
                <a:lnTo>
                  <a:pt x="444119" y="0"/>
                </a:lnTo>
                <a:close/>
              </a:path>
              <a:path w="530225" h="85725">
                <a:moveTo>
                  <a:pt x="444119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444119" y="57150"/>
                </a:lnTo>
                <a:lnTo>
                  <a:pt x="444119" y="28575"/>
                </a:lnTo>
                <a:close/>
              </a:path>
              <a:path w="530225" h="85725">
                <a:moveTo>
                  <a:pt x="501353" y="28575"/>
                </a:moveTo>
                <a:lnTo>
                  <a:pt x="458343" y="28575"/>
                </a:lnTo>
                <a:lnTo>
                  <a:pt x="458343" y="57150"/>
                </a:lnTo>
                <a:lnTo>
                  <a:pt x="501184" y="57150"/>
                </a:lnTo>
                <a:lnTo>
                  <a:pt x="529844" y="42799"/>
                </a:lnTo>
                <a:lnTo>
                  <a:pt x="501353" y="28575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1240769" y="3531819"/>
            <a:ext cx="8572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Message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latin typeface="Calibri"/>
                <a:cs typeface="Calibri"/>
              </a:rPr>
              <a:t>Signal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300596" y="5072253"/>
            <a:ext cx="51873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469900" algn="l"/>
              </a:tabLst>
            </a:pP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Pro:</a:t>
            </a:r>
            <a:r>
              <a:rPr sz="2400" b="1" spc="-5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No</a:t>
            </a:r>
            <a:r>
              <a:rPr sz="2400" b="1" spc="-6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Need</a:t>
            </a:r>
            <a:r>
              <a:rPr sz="2400" b="1" spc="-3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of</a:t>
            </a:r>
            <a:r>
              <a:rPr sz="2400" b="1" spc="-5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Oscillator</a:t>
            </a:r>
            <a:r>
              <a:rPr sz="2400" b="1" spc="-3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for</a:t>
            </a:r>
            <a:r>
              <a:rPr sz="2400" b="1" spc="-4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85622"/>
                </a:solidFill>
                <a:latin typeface="Calibri"/>
                <a:cs typeface="Calibri"/>
              </a:rPr>
              <a:t>Carrier.</a:t>
            </a: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"/>
              <a:tabLst>
                <a:tab pos="469900" algn="l"/>
              </a:tabLst>
            </a:pP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Con:</a:t>
            </a:r>
            <a:r>
              <a:rPr sz="2400" b="1" spc="-5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Poor</a:t>
            </a:r>
            <a:r>
              <a:rPr sz="2400" b="1" spc="-8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85622"/>
                </a:solidFill>
                <a:latin typeface="Calibri"/>
                <a:cs typeface="Calibri"/>
              </a:rPr>
              <a:t>Performance</a:t>
            </a:r>
            <a:r>
              <a:rPr sz="2400" b="1" spc="-5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(Less</a:t>
            </a:r>
            <a:r>
              <a:rPr sz="2400" b="1" spc="-4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385622"/>
                </a:solidFill>
                <a:latin typeface="Calibri"/>
                <a:cs typeface="Calibri"/>
              </a:rPr>
              <a:t>SNR)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Constellation</a:t>
            </a:r>
            <a:r>
              <a:rPr spc="-85" dirty="0"/>
              <a:t> </a:t>
            </a:r>
            <a:r>
              <a:rPr dirty="0"/>
              <a:t>Diagram</a:t>
            </a:r>
            <a:r>
              <a:rPr spc="-8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5" dirty="0"/>
              <a:t>ASK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11366" y="2051685"/>
            <a:ext cx="5410200" cy="4300220"/>
            <a:chOff x="211366" y="997458"/>
            <a:chExt cx="5410200" cy="4300220"/>
          </a:xfrm>
        </p:grpSpPr>
        <p:sp>
          <p:nvSpPr>
            <p:cNvPr id="4" name="object 4"/>
            <p:cNvSpPr/>
            <p:nvPr/>
          </p:nvSpPr>
          <p:spPr>
            <a:xfrm>
              <a:off x="211366" y="997457"/>
              <a:ext cx="5410200" cy="4300220"/>
            </a:xfrm>
            <a:custGeom>
              <a:avLst/>
              <a:gdLst/>
              <a:ahLst/>
              <a:cxnLst/>
              <a:rect l="l" t="t" r="r" b="b"/>
              <a:pathLst>
                <a:path w="5410200" h="4300220">
                  <a:moveTo>
                    <a:pt x="5409781" y="2191131"/>
                  </a:moveTo>
                  <a:lnTo>
                    <a:pt x="5371681" y="2172081"/>
                  </a:lnTo>
                  <a:lnTo>
                    <a:pt x="5295481" y="2133981"/>
                  </a:lnTo>
                  <a:lnTo>
                    <a:pt x="5295481" y="2172081"/>
                  </a:lnTo>
                  <a:lnTo>
                    <a:pt x="2723985" y="2172081"/>
                  </a:lnTo>
                  <a:lnTo>
                    <a:pt x="2723985" y="114312"/>
                  </a:lnTo>
                  <a:lnTo>
                    <a:pt x="2762085" y="114312"/>
                  </a:lnTo>
                  <a:lnTo>
                    <a:pt x="2752496" y="95123"/>
                  </a:lnTo>
                  <a:lnTo>
                    <a:pt x="2704935" y="0"/>
                  </a:lnTo>
                  <a:lnTo>
                    <a:pt x="2647772" y="114312"/>
                  </a:lnTo>
                  <a:lnTo>
                    <a:pt x="2685885" y="114312"/>
                  </a:lnTo>
                  <a:lnTo>
                    <a:pt x="2685885" y="2172081"/>
                  </a:lnTo>
                  <a:lnTo>
                    <a:pt x="0" y="2172081"/>
                  </a:lnTo>
                  <a:lnTo>
                    <a:pt x="0" y="2210181"/>
                  </a:lnTo>
                  <a:lnTo>
                    <a:pt x="2685885" y="2210181"/>
                  </a:lnTo>
                  <a:lnTo>
                    <a:pt x="2685885" y="4300220"/>
                  </a:lnTo>
                  <a:lnTo>
                    <a:pt x="2723985" y="4300220"/>
                  </a:lnTo>
                  <a:lnTo>
                    <a:pt x="2723985" y="2210181"/>
                  </a:lnTo>
                  <a:lnTo>
                    <a:pt x="5295481" y="2210181"/>
                  </a:lnTo>
                  <a:lnTo>
                    <a:pt x="5295481" y="2248281"/>
                  </a:lnTo>
                  <a:lnTo>
                    <a:pt x="5371681" y="2210181"/>
                  </a:lnTo>
                  <a:lnTo>
                    <a:pt x="5409781" y="2191131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63139" y="3046094"/>
              <a:ext cx="288289" cy="2849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63139" y="3046094"/>
              <a:ext cx="288290" cy="285115"/>
            </a:xfrm>
            <a:custGeom>
              <a:avLst/>
              <a:gdLst/>
              <a:ahLst/>
              <a:cxnLst/>
              <a:rect l="l" t="t" r="r" b="b"/>
              <a:pathLst>
                <a:path w="288289" h="285114">
                  <a:moveTo>
                    <a:pt x="0" y="69723"/>
                  </a:moveTo>
                  <a:lnTo>
                    <a:pt x="68072" y="0"/>
                  </a:lnTo>
                  <a:lnTo>
                    <a:pt x="144145" y="74295"/>
                  </a:lnTo>
                  <a:lnTo>
                    <a:pt x="220218" y="0"/>
                  </a:lnTo>
                  <a:lnTo>
                    <a:pt x="288290" y="69723"/>
                  </a:lnTo>
                  <a:lnTo>
                    <a:pt x="213868" y="142494"/>
                  </a:lnTo>
                  <a:lnTo>
                    <a:pt x="288290" y="215265"/>
                  </a:lnTo>
                  <a:lnTo>
                    <a:pt x="220218" y="284988"/>
                  </a:lnTo>
                  <a:lnTo>
                    <a:pt x="144145" y="210693"/>
                  </a:lnTo>
                  <a:lnTo>
                    <a:pt x="68072" y="284988"/>
                  </a:lnTo>
                  <a:lnTo>
                    <a:pt x="0" y="215265"/>
                  </a:lnTo>
                  <a:lnTo>
                    <a:pt x="74422" y="142494"/>
                  </a:lnTo>
                  <a:lnTo>
                    <a:pt x="0" y="69723"/>
                  </a:lnTo>
                  <a:close/>
                </a:path>
              </a:pathLst>
            </a:custGeom>
            <a:ln w="19049">
              <a:solidFill>
                <a:srgbClr val="843B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54016" y="3046094"/>
              <a:ext cx="288289" cy="2849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454016" y="3046094"/>
              <a:ext cx="288290" cy="285115"/>
            </a:xfrm>
            <a:custGeom>
              <a:avLst/>
              <a:gdLst/>
              <a:ahLst/>
              <a:cxnLst/>
              <a:rect l="l" t="t" r="r" b="b"/>
              <a:pathLst>
                <a:path w="288289" h="285114">
                  <a:moveTo>
                    <a:pt x="0" y="69723"/>
                  </a:moveTo>
                  <a:lnTo>
                    <a:pt x="68072" y="0"/>
                  </a:lnTo>
                  <a:lnTo>
                    <a:pt x="144145" y="74295"/>
                  </a:lnTo>
                  <a:lnTo>
                    <a:pt x="220218" y="0"/>
                  </a:lnTo>
                  <a:lnTo>
                    <a:pt x="288290" y="69723"/>
                  </a:lnTo>
                  <a:lnTo>
                    <a:pt x="213868" y="142494"/>
                  </a:lnTo>
                  <a:lnTo>
                    <a:pt x="288290" y="215265"/>
                  </a:lnTo>
                  <a:lnTo>
                    <a:pt x="220218" y="284988"/>
                  </a:lnTo>
                  <a:lnTo>
                    <a:pt x="144145" y="210693"/>
                  </a:lnTo>
                  <a:lnTo>
                    <a:pt x="68072" y="284988"/>
                  </a:lnTo>
                  <a:lnTo>
                    <a:pt x="0" y="215265"/>
                  </a:lnTo>
                  <a:lnTo>
                    <a:pt x="74422" y="142494"/>
                  </a:lnTo>
                  <a:lnTo>
                    <a:pt x="0" y="69723"/>
                  </a:lnTo>
                  <a:close/>
                </a:path>
              </a:pathLst>
            </a:custGeom>
            <a:ln w="19049">
              <a:solidFill>
                <a:srgbClr val="843B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550764" y="3854272"/>
            <a:ext cx="44299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I</a:t>
            </a:r>
            <a:r>
              <a:rPr lang="en-US" sz="2400" b="1" spc="-50" dirty="0">
                <a:latin typeface="Calibri"/>
                <a:cs typeface="Calibri"/>
              </a:rPr>
              <a:t>(t)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27425" y="1801698"/>
            <a:ext cx="671063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Q</a:t>
            </a:r>
            <a:r>
              <a:rPr lang="en-US" sz="2400" b="1" spc="-50" dirty="0">
                <a:latin typeface="Calibri"/>
                <a:cs typeface="Calibri"/>
              </a:rPr>
              <a:t>(t)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057010" y="1676400"/>
            <a:ext cx="0" cy="6236335"/>
          </a:xfrm>
          <a:custGeom>
            <a:avLst/>
            <a:gdLst/>
            <a:ahLst/>
            <a:cxnLst/>
            <a:rect l="l" t="t" r="r" b="b"/>
            <a:pathLst>
              <a:path h="6236334">
                <a:moveTo>
                  <a:pt x="0" y="6235827"/>
                </a:moveTo>
                <a:lnTo>
                  <a:pt x="0" y="0"/>
                </a:lnTo>
              </a:path>
            </a:pathLst>
          </a:custGeom>
          <a:ln w="19050">
            <a:solidFill>
              <a:srgbClr val="4471C4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6309995" y="2083054"/>
            <a:ext cx="5410200" cy="4300855"/>
            <a:chOff x="6309995" y="1028827"/>
            <a:chExt cx="5410200" cy="4300855"/>
          </a:xfrm>
        </p:grpSpPr>
        <p:sp>
          <p:nvSpPr>
            <p:cNvPr id="13" name="object 13"/>
            <p:cNvSpPr/>
            <p:nvPr/>
          </p:nvSpPr>
          <p:spPr>
            <a:xfrm>
              <a:off x="6309995" y="1028826"/>
              <a:ext cx="5410200" cy="4300855"/>
            </a:xfrm>
            <a:custGeom>
              <a:avLst/>
              <a:gdLst/>
              <a:ahLst/>
              <a:cxnLst/>
              <a:rect l="l" t="t" r="r" b="b"/>
              <a:pathLst>
                <a:path w="5410200" h="4300855">
                  <a:moveTo>
                    <a:pt x="5409819" y="2191131"/>
                  </a:moveTo>
                  <a:lnTo>
                    <a:pt x="5371719" y="2172081"/>
                  </a:lnTo>
                  <a:lnTo>
                    <a:pt x="5295519" y="2133981"/>
                  </a:lnTo>
                  <a:lnTo>
                    <a:pt x="5295519" y="2172081"/>
                  </a:lnTo>
                  <a:lnTo>
                    <a:pt x="2723896" y="2172081"/>
                  </a:lnTo>
                  <a:lnTo>
                    <a:pt x="2723896" y="114300"/>
                  </a:lnTo>
                  <a:lnTo>
                    <a:pt x="2761996" y="114300"/>
                  </a:lnTo>
                  <a:lnTo>
                    <a:pt x="2752471" y="95250"/>
                  </a:lnTo>
                  <a:lnTo>
                    <a:pt x="2704846" y="0"/>
                  </a:lnTo>
                  <a:lnTo>
                    <a:pt x="2647696" y="114300"/>
                  </a:lnTo>
                  <a:lnTo>
                    <a:pt x="2685796" y="114300"/>
                  </a:lnTo>
                  <a:lnTo>
                    <a:pt x="2685796" y="2172081"/>
                  </a:lnTo>
                  <a:lnTo>
                    <a:pt x="0" y="2172081"/>
                  </a:lnTo>
                  <a:lnTo>
                    <a:pt x="0" y="2210181"/>
                  </a:lnTo>
                  <a:lnTo>
                    <a:pt x="2685796" y="2210181"/>
                  </a:lnTo>
                  <a:lnTo>
                    <a:pt x="2685796" y="4300347"/>
                  </a:lnTo>
                  <a:lnTo>
                    <a:pt x="2723896" y="4300347"/>
                  </a:lnTo>
                  <a:lnTo>
                    <a:pt x="2723896" y="2210181"/>
                  </a:lnTo>
                  <a:lnTo>
                    <a:pt x="5295519" y="2210181"/>
                  </a:lnTo>
                  <a:lnTo>
                    <a:pt x="5295519" y="2248281"/>
                  </a:lnTo>
                  <a:lnTo>
                    <a:pt x="5371719" y="2210181"/>
                  </a:lnTo>
                  <a:lnTo>
                    <a:pt x="5409819" y="2191131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07149" y="3075431"/>
              <a:ext cx="288417" cy="28498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907149" y="3075431"/>
              <a:ext cx="288925" cy="285115"/>
            </a:xfrm>
            <a:custGeom>
              <a:avLst/>
              <a:gdLst/>
              <a:ahLst/>
              <a:cxnLst/>
              <a:rect l="l" t="t" r="r" b="b"/>
              <a:pathLst>
                <a:path w="288925" h="285114">
                  <a:moveTo>
                    <a:pt x="0" y="69723"/>
                  </a:moveTo>
                  <a:lnTo>
                    <a:pt x="68072" y="0"/>
                  </a:lnTo>
                  <a:lnTo>
                    <a:pt x="144145" y="74422"/>
                  </a:lnTo>
                  <a:lnTo>
                    <a:pt x="220218" y="0"/>
                  </a:lnTo>
                  <a:lnTo>
                    <a:pt x="288417" y="69723"/>
                  </a:lnTo>
                  <a:lnTo>
                    <a:pt x="213868" y="142494"/>
                  </a:lnTo>
                  <a:lnTo>
                    <a:pt x="288417" y="215392"/>
                  </a:lnTo>
                  <a:lnTo>
                    <a:pt x="220218" y="284988"/>
                  </a:lnTo>
                  <a:lnTo>
                    <a:pt x="144145" y="210693"/>
                  </a:lnTo>
                  <a:lnTo>
                    <a:pt x="68072" y="284988"/>
                  </a:lnTo>
                  <a:lnTo>
                    <a:pt x="0" y="215392"/>
                  </a:lnTo>
                  <a:lnTo>
                    <a:pt x="74422" y="142494"/>
                  </a:lnTo>
                  <a:lnTo>
                    <a:pt x="0" y="69723"/>
                  </a:lnTo>
                  <a:close/>
                </a:path>
              </a:pathLst>
            </a:custGeom>
            <a:ln w="19050">
              <a:solidFill>
                <a:srgbClr val="843B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01432" y="3075431"/>
              <a:ext cx="288417" cy="28498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901432" y="3075431"/>
              <a:ext cx="288925" cy="285115"/>
            </a:xfrm>
            <a:custGeom>
              <a:avLst/>
              <a:gdLst/>
              <a:ahLst/>
              <a:cxnLst/>
              <a:rect l="l" t="t" r="r" b="b"/>
              <a:pathLst>
                <a:path w="288925" h="285114">
                  <a:moveTo>
                    <a:pt x="0" y="69723"/>
                  </a:moveTo>
                  <a:lnTo>
                    <a:pt x="68072" y="0"/>
                  </a:lnTo>
                  <a:lnTo>
                    <a:pt x="144145" y="74422"/>
                  </a:lnTo>
                  <a:lnTo>
                    <a:pt x="220218" y="0"/>
                  </a:lnTo>
                  <a:lnTo>
                    <a:pt x="288417" y="69723"/>
                  </a:lnTo>
                  <a:lnTo>
                    <a:pt x="213868" y="142494"/>
                  </a:lnTo>
                  <a:lnTo>
                    <a:pt x="288417" y="215392"/>
                  </a:lnTo>
                  <a:lnTo>
                    <a:pt x="220218" y="284988"/>
                  </a:lnTo>
                  <a:lnTo>
                    <a:pt x="144145" y="210693"/>
                  </a:lnTo>
                  <a:lnTo>
                    <a:pt x="68072" y="284988"/>
                  </a:lnTo>
                  <a:lnTo>
                    <a:pt x="0" y="215392"/>
                  </a:lnTo>
                  <a:lnTo>
                    <a:pt x="74549" y="142494"/>
                  </a:lnTo>
                  <a:lnTo>
                    <a:pt x="0" y="69723"/>
                  </a:lnTo>
                  <a:close/>
                </a:path>
              </a:pathLst>
            </a:custGeom>
            <a:ln w="19050">
              <a:solidFill>
                <a:srgbClr val="843B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09607" y="3077463"/>
              <a:ext cx="288417" cy="28511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809607" y="3077463"/>
              <a:ext cx="288925" cy="285115"/>
            </a:xfrm>
            <a:custGeom>
              <a:avLst/>
              <a:gdLst/>
              <a:ahLst/>
              <a:cxnLst/>
              <a:rect l="l" t="t" r="r" b="b"/>
              <a:pathLst>
                <a:path w="288925" h="285114">
                  <a:moveTo>
                    <a:pt x="0" y="69723"/>
                  </a:moveTo>
                  <a:lnTo>
                    <a:pt x="68199" y="0"/>
                  </a:lnTo>
                  <a:lnTo>
                    <a:pt x="144272" y="74422"/>
                  </a:lnTo>
                  <a:lnTo>
                    <a:pt x="220345" y="0"/>
                  </a:lnTo>
                  <a:lnTo>
                    <a:pt x="288417" y="69723"/>
                  </a:lnTo>
                  <a:lnTo>
                    <a:pt x="213868" y="142494"/>
                  </a:lnTo>
                  <a:lnTo>
                    <a:pt x="288417" y="215392"/>
                  </a:lnTo>
                  <a:lnTo>
                    <a:pt x="220345" y="285115"/>
                  </a:lnTo>
                  <a:lnTo>
                    <a:pt x="144272" y="210693"/>
                  </a:lnTo>
                  <a:lnTo>
                    <a:pt x="68199" y="285115"/>
                  </a:lnTo>
                  <a:lnTo>
                    <a:pt x="0" y="215392"/>
                  </a:lnTo>
                  <a:lnTo>
                    <a:pt x="74549" y="142494"/>
                  </a:lnTo>
                  <a:lnTo>
                    <a:pt x="0" y="69723"/>
                  </a:lnTo>
                  <a:close/>
                </a:path>
              </a:pathLst>
            </a:custGeom>
            <a:ln w="19050">
              <a:solidFill>
                <a:srgbClr val="843B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804016" y="3077463"/>
              <a:ext cx="288290" cy="28511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0804016" y="3077463"/>
              <a:ext cx="288290" cy="285115"/>
            </a:xfrm>
            <a:custGeom>
              <a:avLst/>
              <a:gdLst/>
              <a:ahLst/>
              <a:cxnLst/>
              <a:rect l="l" t="t" r="r" b="b"/>
              <a:pathLst>
                <a:path w="288290" h="285114">
                  <a:moveTo>
                    <a:pt x="0" y="69723"/>
                  </a:moveTo>
                  <a:lnTo>
                    <a:pt x="68072" y="0"/>
                  </a:lnTo>
                  <a:lnTo>
                    <a:pt x="144145" y="74422"/>
                  </a:lnTo>
                  <a:lnTo>
                    <a:pt x="220218" y="0"/>
                  </a:lnTo>
                  <a:lnTo>
                    <a:pt x="288290" y="69723"/>
                  </a:lnTo>
                  <a:lnTo>
                    <a:pt x="213868" y="142494"/>
                  </a:lnTo>
                  <a:lnTo>
                    <a:pt x="288290" y="215392"/>
                  </a:lnTo>
                  <a:lnTo>
                    <a:pt x="220218" y="285115"/>
                  </a:lnTo>
                  <a:lnTo>
                    <a:pt x="144145" y="210693"/>
                  </a:lnTo>
                  <a:lnTo>
                    <a:pt x="68072" y="285115"/>
                  </a:lnTo>
                  <a:lnTo>
                    <a:pt x="0" y="215392"/>
                  </a:lnTo>
                  <a:lnTo>
                    <a:pt x="74422" y="142494"/>
                  </a:lnTo>
                  <a:lnTo>
                    <a:pt x="0" y="69723"/>
                  </a:lnTo>
                  <a:close/>
                </a:path>
              </a:pathLst>
            </a:custGeom>
            <a:ln w="19050">
              <a:solidFill>
                <a:srgbClr val="843B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1799822" y="3885641"/>
            <a:ext cx="537337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I</a:t>
            </a:r>
            <a:r>
              <a:rPr lang="en-US" sz="2400" b="1" spc="-50" dirty="0">
                <a:latin typeface="Calibri"/>
                <a:cs typeface="Calibri"/>
              </a:rPr>
              <a:t>(t)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126727" y="1833753"/>
            <a:ext cx="1388871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Q</a:t>
            </a:r>
            <a:r>
              <a:rPr lang="en-US" sz="2400" b="1" spc="-50" dirty="0">
                <a:latin typeface="Calibri"/>
                <a:cs typeface="Calibri"/>
              </a:rPr>
              <a:t>(t)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265045" y="6451117"/>
            <a:ext cx="128841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Binary</a:t>
            </a:r>
            <a:r>
              <a:rPr sz="2200"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b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ASK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69273" y="6451117"/>
            <a:ext cx="7067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4-</a:t>
            </a:r>
            <a:r>
              <a:rPr sz="2200" b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ASK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12367" y="4365371"/>
            <a:ext cx="1746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Symbol</a:t>
            </a:r>
            <a:r>
              <a:rPr sz="1800" b="1" spc="-50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for</a:t>
            </a:r>
            <a:r>
              <a:rPr sz="1800" b="1" spc="-35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Logic</a:t>
            </a:r>
            <a:r>
              <a:rPr sz="1800" b="1" spc="-35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843B0B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29914" y="4412868"/>
            <a:ext cx="1746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Symbol</a:t>
            </a:r>
            <a:r>
              <a:rPr sz="1800" b="1" spc="-50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for</a:t>
            </a:r>
            <a:r>
              <a:rPr sz="1800" b="1" spc="-35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Logic</a:t>
            </a:r>
            <a:r>
              <a:rPr sz="1800" b="1" spc="-35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843B0B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26960" y="3782313"/>
            <a:ext cx="25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843B0B"/>
                </a:solidFill>
                <a:latin typeface="Calibri"/>
                <a:cs typeface="Calibri"/>
              </a:rPr>
              <a:t>00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890281" y="3782313"/>
            <a:ext cx="25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843B0B"/>
                </a:solidFill>
                <a:latin typeface="Calibri"/>
                <a:cs typeface="Calibri"/>
              </a:rPr>
              <a:t>01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796119" y="3782313"/>
            <a:ext cx="25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843B0B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813160" y="3782313"/>
            <a:ext cx="25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843B0B"/>
                </a:solidFill>
                <a:latin typeface="Calibri"/>
                <a:cs typeface="Calibri"/>
              </a:rPr>
              <a:t>11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4">
            <a:extLst>
              <a:ext uri="{FF2B5EF4-FFF2-40B4-BE49-F238E27FC236}">
                <a16:creationId xmlns="" xmlns:a16="http://schemas.microsoft.com/office/drawing/2014/main" id="{ADD9D565-49B9-43F6-A7F6-77F4C5282FE1}"/>
              </a:ext>
            </a:extLst>
          </p:cNvPr>
          <p:cNvSpPr txBox="1"/>
          <p:nvPr/>
        </p:nvSpPr>
        <p:spPr>
          <a:xfrm>
            <a:off x="224739" y="555580"/>
            <a:ext cx="1175512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 algn="just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lang="en-US" sz="2400" b="1" dirty="0">
                <a:solidFill>
                  <a:srgbClr val="6F2F9F"/>
                </a:solidFill>
                <a:latin typeface="Calibri"/>
                <a:cs typeface="Calibri"/>
              </a:rPr>
              <a:t>A constellation diagram is a graphical representation of a digital signal showing how data symbols are mapped onto signal states. 𝐼(𝑡) → In-phase component and 𝑄(𝑡) → Quadrature component (90° phase shifted)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753599" y="2362200"/>
            <a:ext cx="2226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+mn-lt"/>
              </a:rPr>
              <a:t>Bipolar 4-ASK</a:t>
            </a:r>
            <a:endParaRPr lang="en-US" b="1" dirty="0">
              <a:latin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Advantages</a:t>
            </a:r>
            <a:r>
              <a:rPr spc="-10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spc="-25" dirty="0"/>
              <a:t>ASK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8338" y="575309"/>
            <a:ext cx="8261350" cy="4690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561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7561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Simple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Implementation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(Easy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Modulation</a:t>
            </a:r>
            <a:r>
              <a:rPr sz="2400" b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Demodulation)</a:t>
            </a:r>
            <a:endParaRPr sz="2400" dirty="0">
              <a:latin typeface="Calibri"/>
              <a:cs typeface="Calibri"/>
            </a:endParaRPr>
          </a:p>
          <a:p>
            <a:pPr marL="475615" indent="-456565">
              <a:lnSpc>
                <a:spcPct val="100000"/>
              </a:lnSpc>
              <a:buFont typeface="Wingdings"/>
              <a:buChar char=""/>
              <a:tabLst>
                <a:tab pos="47561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Band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Efficient</a:t>
            </a:r>
            <a:endParaRPr sz="2400" dirty="0">
              <a:latin typeface="Calibri"/>
              <a:cs typeface="Calibri"/>
            </a:endParaRPr>
          </a:p>
          <a:p>
            <a:pPr marL="475615" indent="-456565">
              <a:lnSpc>
                <a:spcPct val="100000"/>
              </a:lnSpc>
              <a:buFont typeface="Wingdings"/>
              <a:buChar char=""/>
              <a:tabLst>
                <a:tab pos="47561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Useful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Low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Cost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Applications</a:t>
            </a:r>
            <a:endParaRPr sz="2400" dirty="0">
              <a:latin typeface="Calibri"/>
              <a:cs typeface="Calibri"/>
            </a:endParaRPr>
          </a:p>
          <a:p>
            <a:pPr marL="19050">
              <a:lnSpc>
                <a:spcPct val="100000"/>
              </a:lnSpc>
              <a:spcBef>
                <a:spcPts val="770"/>
              </a:spcBef>
            </a:pPr>
            <a:r>
              <a:rPr sz="3200" b="1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Disadvantages</a:t>
            </a:r>
            <a:r>
              <a:rPr sz="3200" b="1" u="sng" spc="-6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of</a:t>
            </a:r>
            <a:r>
              <a:rPr sz="3200" b="1" u="sng" spc="-8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2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ASK</a:t>
            </a:r>
            <a:endParaRPr sz="32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81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Highly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</a:t>
            </a:r>
            <a:r>
              <a:rPr lang="en-US" sz="2400" b="1" spc="-10" dirty="0">
                <a:solidFill>
                  <a:srgbClr val="6F2F9F"/>
                </a:solidFill>
                <a:latin typeface="Calibri"/>
                <a:cs typeface="Calibri"/>
              </a:rPr>
              <a:t>ensitive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Noise</a:t>
            </a:r>
            <a:endParaRPr sz="24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Bad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Performance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Wireless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Communication</a:t>
            </a:r>
            <a:endParaRPr sz="2400" dirty="0">
              <a:latin typeface="Calibri"/>
              <a:cs typeface="Calibri"/>
            </a:endParaRPr>
          </a:p>
          <a:p>
            <a:pPr marL="19050">
              <a:lnSpc>
                <a:spcPct val="100000"/>
              </a:lnSpc>
              <a:spcBef>
                <a:spcPts val="740"/>
              </a:spcBef>
            </a:pP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Applications</a:t>
            </a:r>
            <a:r>
              <a:rPr sz="3200" b="1" u="sng" spc="-10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of</a:t>
            </a:r>
            <a:r>
              <a:rPr sz="3200" b="1" u="sng" spc="-5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2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ASK</a:t>
            </a:r>
            <a:endParaRPr sz="32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81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Optical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Fiber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Communication</a:t>
            </a:r>
            <a:endParaRPr sz="24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Low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Frequency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RF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Communication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{RFID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Tag}</a:t>
            </a:r>
            <a:endParaRPr sz="24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Early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Modems</a:t>
            </a:r>
            <a:endParaRPr sz="24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IR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Remote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Control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4189" y="-26974"/>
            <a:ext cx="1078928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u="none" spc="-370" dirty="0">
                <a:solidFill>
                  <a:srgbClr val="006600"/>
                </a:solidFill>
                <a:latin typeface="Arial"/>
                <a:cs typeface="Arial"/>
              </a:rPr>
              <a:t>Signal</a:t>
            </a:r>
            <a:r>
              <a:rPr sz="6600" u="none" spc="-18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585" dirty="0">
                <a:solidFill>
                  <a:srgbClr val="006600"/>
                </a:solidFill>
                <a:latin typeface="Arial"/>
                <a:cs typeface="Arial"/>
              </a:rPr>
              <a:t>Space</a:t>
            </a:r>
            <a:r>
              <a:rPr sz="6600" u="none" spc="-18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10" dirty="0">
                <a:solidFill>
                  <a:srgbClr val="006600"/>
                </a:solidFill>
                <a:latin typeface="Arial"/>
                <a:cs typeface="Arial"/>
              </a:rPr>
              <a:t>Diagram</a:t>
            </a:r>
            <a:r>
              <a:rPr sz="6600" u="none" spc="-41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170" dirty="0">
                <a:solidFill>
                  <a:srgbClr val="006600"/>
                </a:solidFill>
                <a:latin typeface="Arial"/>
                <a:cs typeface="Arial"/>
              </a:rPr>
              <a:t>of</a:t>
            </a:r>
            <a:r>
              <a:rPr sz="6600" u="none" spc="-26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819" dirty="0">
                <a:solidFill>
                  <a:srgbClr val="006600"/>
                </a:solidFill>
                <a:latin typeface="Arial"/>
                <a:cs typeface="Arial"/>
              </a:rPr>
              <a:t>ASK</a:t>
            </a:r>
            <a:endParaRPr sz="6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73321" y="1749633"/>
            <a:ext cx="7457207" cy="2257366"/>
            <a:chOff x="373321" y="1749633"/>
            <a:chExt cx="7457207" cy="2257366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3321" y="1749633"/>
              <a:ext cx="7457207" cy="225736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46447" y="3505200"/>
              <a:ext cx="2276729" cy="43821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2597" y="3622421"/>
              <a:ext cx="236092" cy="211708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354829" y="3552570"/>
            <a:ext cx="342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𝐂</a:t>
            </a:r>
            <a:r>
              <a:rPr sz="1800" spc="34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644260" y="3622421"/>
            <a:ext cx="510540" cy="212090"/>
          </a:xfrm>
          <a:custGeom>
            <a:avLst/>
            <a:gdLst/>
            <a:ahLst/>
            <a:cxnLst/>
            <a:rect l="l" t="t" r="r" b="b"/>
            <a:pathLst>
              <a:path w="510539" h="212089">
                <a:moveTo>
                  <a:pt x="442849" y="0"/>
                </a:moveTo>
                <a:lnTo>
                  <a:pt x="439801" y="8635"/>
                </a:lnTo>
                <a:lnTo>
                  <a:pt x="452086" y="13946"/>
                </a:lnTo>
                <a:lnTo>
                  <a:pt x="462645" y="21304"/>
                </a:lnTo>
                <a:lnTo>
                  <a:pt x="484036" y="55429"/>
                </a:lnTo>
                <a:lnTo>
                  <a:pt x="490288" y="86483"/>
                </a:lnTo>
                <a:lnTo>
                  <a:pt x="490323" y="86723"/>
                </a:lnTo>
                <a:lnTo>
                  <a:pt x="491109" y="104774"/>
                </a:lnTo>
                <a:lnTo>
                  <a:pt x="490323" y="123443"/>
                </a:lnTo>
                <a:lnTo>
                  <a:pt x="487965" y="140398"/>
                </a:lnTo>
                <a:lnTo>
                  <a:pt x="471418" y="180786"/>
                </a:lnTo>
                <a:lnTo>
                  <a:pt x="440182" y="203199"/>
                </a:lnTo>
                <a:lnTo>
                  <a:pt x="442849" y="211708"/>
                </a:lnTo>
                <a:lnTo>
                  <a:pt x="483318" y="187705"/>
                </a:lnTo>
                <a:lnTo>
                  <a:pt x="506047" y="143335"/>
                </a:lnTo>
                <a:lnTo>
                  <a:pt x="510413" y="105917"/>
                </a:lnTo>
                <a:lnTo>
                  <a:pt x="509331" y="86723"/>
                </a:lnTo>
                <a:lnTo>
                  <a:pt x="509317" y="86483"/>
                </a:lnTo>
                <a:lnTo>
                  <a:pt x="492887" y="37083"/>
                </a:lnTo>
                <a:lnTo>
                  <a:pt x="458204" y="5526"/>
                </a:lnTo>
                <a:lnTo>
                  <a:pt x="442849" y="0"/>
                </a:lnTo>
                <a:close/>
              </a:path>
              <a:path w="510539" h="212089">
                <a:moveTo>
                  <a:pt x="67564" y="0"/>
                </a:moveTo>
                <a:lnTo>
                  <a:pt x="27219" y="24056"/>
                </a:lnTo>
                <a:lnTo>
                  <a:pt x="4381" y="68548"/>
                </a:lnTo>
                <a:lnTo>
                  <a:pt x="64" y="104774"/>
                </a:lnTo>
                <a:lnTo>
                  <a:pt x="0" y="105917"/>
                </a:lnTo>
                <a:lnTo>
                  <a:pt x="985" y="123443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5"/>
                </a:lnTo>
                <a:lnTo>
                  <a:pt x="67564" y="211708"/>
                </a:lnTo>
                <a:lnTo>
                  <a:pt x="70231" y="203199"/>
                </a:lnTo>
                <a:lnTo>
                  <a:pt x="58183" y="197792"/>
                </a:lnTo>
                <a:lnTo>
                  <a:pt x="47767" y="190325"/>
                </a:lnTo>
                <a:lnTo>
                  <a:pt x="26376" y="155638"/>
                </a:lnTo>
                <a:lnTo>
                  <a:pt x="19352" y="105917"/>
                </a:lnTo>
                <a:lnTo>
                  <a:pt x="19304" y="104774"/>
                </a:lnTo>
                <a:lnTo>
                  <a:pt x="20089" y="86723"/>
                </a:lnTo>
                <a:lnTo>
                  <a:pt x="31877" y="42163"/>
                </a:lnTo>
                <a:lnTo>
                  <a:pt x="58398" y="13946"/>
                </a:lnTo>
                <a:lnTo>
                  <a:pt x="70612" y="8635"/>
                </a:lnTo>
                <a:lnTo>
                  <a:pt x="6756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6723" y="1106881"/>
            <a:ext cx="90157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665" indent="-3549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676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spc="-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Space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Diagram</a:t>
            </a:r>
            <a:r>
              <a:rPr sz="2400" b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explains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distance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between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digital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symbols.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4811" y="3552570"/>
            <a:ext cx="839789" cy="2997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bject 9"/>
          <p:cNvSpPr txBox="1"/>
          <p:nvPr/>
        </p:nvSpPr>
        <p:spPr>
          <a:xfrm>
            <a:off x="4878163" y="3534409"/>
            <a:ext cx="2053083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20" dirty="0" smtClean="0">
                <a:solidFill>
                  <a:srgbClr val="FF0000"/>
                </a:solidFill>
                <a:latin typeface="Cambria Math"/>
                <a:cs typeface="Cambria Math"/>
              </a:rPr>
              <a:t>𝐀</a:t>
            </a:r>
            <a:r>
              <a:rPr lang="en-US" sz="1800" spc="-20" dirty="0" smtClean="0">
                <a:solidFill>
                  <a:srgbClr val="FF0000"/>
                </a:solidFill>
                <a:latin typeface="Cambria Math"/>
                <a:cs typeface="Cambria Math"/>
              </a:rPr>
              <a:t>'</a:t>
            </a:r>
            <a:r>
              <a:rPr sz="1800" spc="-95" dirty="0" smtClean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 smtClean="0">
                <a:solidFill>
                  <a:srgbClr val="FF0000"/>
                </a:solidFill>
                <a:latin typeface="Cambria Math"/>
                <a:cs typeface="Cambria Math"/>
              </a:rPr>
              <a:t>𝐜𝐨𝐬</a:t>
            </a:r>
            <a:r>
              <a:rPr lang="en-US" sz="1800" dirty="0" smtClean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en-US" spc="350" dirty="0">
                <a:solidFill>
                  <a:srgbClr val="FF0000"/>
                </a:solidFill>
                <a:latin typeface="Cambria Math"/>
                <a:cs typeface="Cambria Math"/>
              </a:rPr>
              <a:t>(</a:t>
            </a:r>
            <a:r>
              <a:rPr sz="1800" spc="-25" dirty="0" smtClean="0">
                <a:solidFill>
                  <a:srgbClr val="FF0000"/>
                </a:solidFill>
                <a:latin typeface="Cambria Math"/>
                <a:cs typeface="Cambria Math"/>
              </a:rPr>
              <a:t>𝛚</a:t>
            </a:r>
            <a:r>
              <a:rPr sz="1950" spc="-37" baseline="-14957" dirty="0" smtClean="0">
                <a:solidFill>
                  <a:srgbClr val="FF0000"/>
                </a:solidFill>
                <a:latin typeface="Cambria Math"/>
                <a:cs typeface="Cambria Math"/>
              </a:rPr>
              <a:t>𝐜</a:t>
            </a:r>
            <a:r>
              <a:rPr sz="1800" spc="-25" dirty="0" smtClean="0">
                <a:solidFill>
                  <a:srgbClr val="FF0000"/>
                </a:solidFill>
                <a:latin typeface="Cambria Math"/>
                <a:cs typeface="Cambria Math"/>
              </a:rPr>
              <a:t>𝐭</a:t>
            </a:r>
            <a:r>
              <a:rPr lang="en-US" sz="1800" spc="-25" dirty="0" smtClean="0">
                <a:solidFill>
                  <a:srgbClr val="FF0000"/>
                </a:solidFill>
                <a:latin typeface="Cambria Math"/>
                <a:cs typeface="Cambria Math"/>
              </a:rPr>
              <a:t>)</a:t>
            </a:r>
            <a:endParaRPr sz="1800" dirty="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7778"/>
          <a:stretch/>
        </p:blipFill>
        <p:spPr>
          <a:xfrm>
            <a:off x="0" y="533400"/>
            <a:ext cx="12192000" cy="6324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6AA81CED-9710-428E-B348-FEC31C918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99" y="28574"/>
            <a:ext cx="10562501" cy="504825"/>
          </a:xfrm>
          <a:prstGeom prst="rect">
            <a:avLst/>
          </a:prstGeom>
        </p:spPr>
      </p:pic>
      <p:sp>
        <p:nvSpPr>
          <p:cNvPr id="5" name="Freeform 4"/>
          <p:cNvSpPr/>
          <p:nvPr/>
        </p:nvSpPr>
        <p:spPr>
          <a:xfrm>
            <a:off x="7780107" y="6318504"/>
            <a:ext cx="19725" cy="118872"/>
          </a:xfrm>
          <a:custGeom>
            <a:avLst/>
            <a:gdLst>
              <a:gd name="connsiteX0" fmla="*/ 19725 w 19725"/>
              <a:gd name="connsiteY0" fmla="*/ 0 h 118872"/>
              <a:gd name="connsiteX1" fmla="*/ 1437 w 19725"/>
              <a:gd name="connsiteY1" fmla="*/ 118872 h 118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725" h="118872">
                <a:moveTo>
                  <a:pt x="19725" y="0"/>
                </a:moveTo>
                <a:cubicBezTo>
                  <a:pt x="-7619" y="68360"/>
                  <a:pt x="1437" y="29306"/>
                  <a:pt x="1437" y="118872"/>
                </a:cubicBezTo>
              </a:path>
            </a:pathLst>
          </a:cu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6773" y="-62357"/>
            <a:ext cx="592137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u="none" spc="-229" dirty="0">
                <a:solidFill>
                  <a:srgbClr val="006600"/>
                </a:solidFill>
                <a:latin typeface="Arial"/>
                <a:cs typeface="Arial"/>
              </a:rPr>
              <a:t>Example </a:t>
            </a:r>
            <a:r>
              <a:rPr sz="6600" u="none" spc="-170" dirty="0">
                <a:solidFill>
                  <a:srgbClr val="006600"/>
                </a:solidFill>
                <a:latin typeface="Arial"/>
                <a:cs typeface="Arial"/>
              </a:rPr>
              <a:t>of</a:t>
            </a:r>
            <a:r>
              <a:rPr sz="6600" u="none" spc="-26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810" dirty="0">
                <a:solidFill>
                  <a:srgbClr val="006600"/>
                </a:solidFill>
                <a:latin typeface="Arial"/>
                <a:cs typeface="Arial"/>
              </a:rPr>
              <a:t>ASK</a:t>
            </a:r>
            <a:endParaRPr sz="6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8292" y="898347"/>
            <a:ext cx="1195641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1.</a:t>
            </a:r>
            <a:r>
              <a:rPr sz="2400" b="1" spc="270" dirty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Example:</a:t>
            </a:r>
            <a:r>
              <a:rPr sz="2400" b="1" spc="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We</a:t>
            </a:r>
            <a:r>
              <a:rPr sz="2400" b="1" spc="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have</a:t>
            </a:r>
            <a:r>
              <a:rPr sz="2400" b="1" spc="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</a:t>
            </a:r>
            <a:r>
              <a:rPr sz="2400" b="1" spc="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available</a:t>
            </a:r>
            <a:r>
              <a:rPr sz="2400" b="1" spc="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bandwidth</a:t>
            </a:r>
            <a:r>
              <a:rPr sz="2400" b="1" spc="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100</a:t>
            </a:r>
            <a:r>
              <a:rPr sz="2400" b="1" spc="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kHz,</a:t>
            </a:r>
            <a:r>
              <a:rPr sz="2400" b="1" spc="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ranging</a:t>
            </a:r>
            <a:r>
              <a:rPr sz="2400" b="1" spc="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from</a:t>
            </a:r>
            <a:r>
              <a:rPr sz="2400" b="1" spc="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200</a:t>
            </a:r>
            <a:r>
              <a:rPr sz="2400" b="1" spc="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kHz</a:t>
            </a:r>
            <a:r>
              <a:rPr sz="2400" b="1" spc="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300</a:t>
            </a:r>
            <a:r>
              <a:rPr sz="2400" b="1" spc="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kHz.</a:t>
            </a:r>
            <a:r>
              <a:rPr sz="2400" b="1" spc="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If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we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modulate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our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data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using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BASK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with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roll-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off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factor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1,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what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are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carrier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frequency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rate?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 rotWithShape="1">
          <a:blip r:embed="rId2" cstate="print"/>
          <a:srcRect t="32239"/>
          <a:stretch/>
        </p:blipFill>
        <p:spPr>
          <a:xfrm>
            <a:off x="0" y="2210936"/>
            <a:ext cx="12192000" cy="46470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0953" y="-62357"/>
            <a:ext cx="1075118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u="none" spc="-320" dirty="0">
                <a:solidFill>
                  <a:srgbClr val="006600"/>
                </a:solidFill>
                <a:latin typeface="Arial"/>
                <a:cs typeface="Arial"/>
              </a:rPr>
              <a:t>Frequency</a:t>
            </a:r>
            <a:r>
              <a:rPr sz="6600" u="none" spc="-17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330" dirty="0">
                <a:solidFill>
                  <a:srgbClr val="006600"/>
                </a:solidFill>
                <a:latin typeface="Arial"/>
                <a:cs typeface="Arial"/>
              </a:rPr>
              <a:t>Shift</a:t>
            </a:r>
            <a:r>
              <a:rPr sz="6600" u="none" spc="-17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260" dirty="0">
                <a:solidFill>
                  <a:srgbClr val="006600"/>
                </a:solidFill>
                <a:latin typeface="Arial"/>
                <a:cs typeface="Arial"/>
              </a:rPr>
              <a:t>Keying</a:t>
            </a:r>
            <a:r>
              <a:rPr sz="6600" u="none" spc="-19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590" dirty="0">
                <a:solidFill>
                  <a:srgbClr val="006600"/>
                </a:solidFill>
                <a:latin typeface="Arial"/>
                <a:cs typeface="Arial"/>
              </a:rPr>
              <a:t>-</a:t>
            </a:r>
            <a:r>
              <a:rPr sz="6600" u="none" spc="-17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869" dirty="0">
                <a:solidFill>
                  <a:srgbClr val="006600"/>
                </a:solidFill>
                <a:latin typeface="Arial"/>
                <a:cs typeface="Arial"/>
              </a:rPr>
              <a:t>FSK</a:t>
            </a:r>
            <a:endParaRPr sz="6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4142" y="749045"/>
            <a:ext cx="14478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Outlines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4739" y="1243710"/>
            <a:ext cx="4125595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Basics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FSK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Waveforms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FSK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Bandwidth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FSK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Multilevel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FSK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Demodulation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FSK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Constellation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Diagram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FSK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Advantages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FSK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Disadvantages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FSK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Applications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FSK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Basics</a:t>
            </a:r>
            <a:r>
              <a:rPr spc="-45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spc="-25" dirty="0"/>
              <a:t>FSK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4739" y="575309"/>
            <a:ext cx="1175639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 algn="just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9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FSK</a:t>
            </a:r>
            <a:r>
              <a:rPr sz="2400" b="1" spc="2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2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2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digital</a:t>
            </a:r>
            <a:r>
              <a:rPr sz="2400" b="1" spc="2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modulation</a:t>
            </a:r>
            <a:r>
              <a:rPr sz="2400" b="1" spc="2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technique</a:t>
            </a:r>
            <a:r>
              <a:rPr sz="2400" b="1" spc="2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that</a:t>
            </a:r>
            <a:r>
              <a:rPr sz="2400" b="1" spc="2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converts</a:t>
            </a:r>
            <a:r>
              <a:rPr sz="2400" b="1" spc="25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digital</a:t>
            </a:r>
            <a:r>
              <a:rPr sz="2400" b="1" spc="2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signals</a:t>
            </a:r>
            <a:r>
              <a:rPr sz="2400" b="1" spc="2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into</a:t>
            </a:r>
            <a:r>
              <a:rPr sz="2400" b="1" spc="2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Analog</a:t>
            </a:r>
            <a:r>
              <a:rPr sz="2400" b="1" spc="2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form</a:t>
            </a:r>
            <a:r>
              <a:rPr sz="2400" b="1" spc="25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by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varying</a:t>
            </a:r>
            <a:r>
              <a:rPr sz="2400" b="1" spc="3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3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carrier’s</a:t>
            </a:r>
            <a:r>
              <a:rPr sz="2400" b="1" spc="3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frequency,</a:t>
            </a:r>
            <a:r>
              <a:rPr sz="2400" b="1" spc="3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enabling</a:t>
            </a:r>
            <a:r>
              <a:rPr sz="2400" b="1" spc="3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efficient</a:t>
            </a:r>
            <a:r>
              <a:rPr sz="2400" b="1" spc="3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transmission</a:t>
            </a:r>
            <a:r>
              <a:rPr sz="2400" b="1" spc="3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over</a:t>
            </a:r>
            <a:r>
              <a:rPr sz="2400" b="1" spc="3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3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communication channel.</a:t>
            </a:r>
            <a:endParaRPr sz="2400">
              <a:latin typeface="Calibri"/>
              <a:cs typeface="Calibri"/>
            </a:endParaRPr>
          </a:p>
          <a:p>
            <a:pPr marL="469265" indent="-456565" algn="just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FSK,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Frequency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Carrier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varies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according</a:t>
            </a:r>
            <a:r>
              <a:rPr sz="2400" b="1" spc="-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Digital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Message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Signal.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7439" y="2083635"/>
            <a:ext cx="11729720" cy="1186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35"/>
              </a:lnSpc>
              <a:tabLst>
                <a:tab pos="456565" algn="l"/>
                <a:tab pos="10918825" algn="l"/>
                <a:tab pos="11250930" algn="l"/>
              </a:tabLst>
            </a:pPr>
            <a:r>
              <a:rPr sz="2400" spc="-50" dirty="0">
                <a:solidFill>
                  <a:srgbClr val="6F2F9F"/>
                </a:solidFill>
                <a:latin typeface="Wingdings"/>
                <a:cs typeface="Wingdings"/>
              </a:rPr>
              <a:t></a:t>
            </a:r>
            <a:r>
              <a:rPr sz="2400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Let’s</a:t>
            </a:r>
            <a:r>
              <a:rPr sz="2400" b="1" spc="1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consider</a:t>
            </a:r>
            <a:r>
              <a:rPr sz="2400" b="1" spc="1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1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message</a:t>
            </a:r>
            <a:r>
              <a:rPr sz="2400" b="1" spc="1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spc="1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𝐦</a:t>
            </a:r>
            <a:r>
              <a:rPr sz="2400" spc="40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𝐭</a:t>
            </a:r>
            <a:r>
              <a:rPr sz="2400" spc="40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1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which</a:t>
            </a:r>
            <a:r>
              <a:rPr sz="2400" b="1" spc="11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1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1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combination</a:t>
            </a:r>
            <a:r>
              <a:rPr sz="2400" b="1" spc="1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1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logic</a:t>
            </a:r>
            <a:r>
              <a:rPr sz="2400" b="1" spc="1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‘0’</a:t>
            </a:r>
            <a:r>
              <a:rPr sz="2400" b="1" spc="11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1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6F2F9F"/>
                </a:solidFill>
                <a:latin typeface="Cambria Math"/>
                <a:cs typeface="Cambria Math"/>
              </a:rPr>
              <a:t>𝐦</a:t>
            </a:r>
            <a:r>
              <a:rPr sz="2625" spc="-37" baseline="-15873" dirty="0">
                <a:solidFill>
                  <a:srgbClr val="6F2F9F"/>
                </a:solidFill>
                <a:latin typeface="Cambria Math"/>
                <a:cs typeface="Cambria Math"/>
              </a:rPr>
              <a:t>𝟎</a:t>
            </a:r>
            <a:r>
              <a:rPr sz="2625" baseline="-15873" dirty="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6F2F9F"/>
                </a:solidFill>
                <a:latin typeface="Cambria Math"/>
                <a:cs typeface="Cambria Math"/>
              </a:rPr>
              <a:t>𝐭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  <a:p>
            <a:pPr marL="457200">
              <a:lnSpc>
                <a:spcPct val="100000"/>
              </a:lnSpc>
              <a:tabLst>
                <a:tab pos="22599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logic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‘1’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6F2F9F"/>
                </a:solidFill>
                <a:latin typeface="Cambria Math"/>
                <a:cs typeface="Cambria Math"/>
              </a:rPr>
              <a:t>𝐦</a:t>
            </a:r>
            <a:r>
              <a:rPr sz="2625" spc="-37" baseline="-15873" dirty="0">
                <a:solidFill>
                  <a:srgbClr val="6F2F9F"/>
                </a:solidFill>
                <a:latin typeface="Cambria Math"/>
                <a:cs typeface="Cambria Math"/>
              </a:rPr>
              <a:t>𝟏</a:t>
            </a:r>
            <a:r>
              <a:rPr sz="2625" baseline="-15873" dirty="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𝐭</a:t>
            </a:r>
            <a:r>
              <a:rPr sz="2400" spc="37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.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Then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Binary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Frequency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Shift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Keying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-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BFSK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by:</a:t>
            </a:r>
            <a:endParaRPr sz="2400">
              <a:latin typeface="Calibri"/>
              <a:cs typeface="Calibri"/>
            </a:endParaRPr>
          </a:p>
          <a:p>
            <a:pPr marL="485140">
              <a:lnSpc>
                <a:spcPct val="100000"/>
              </a:lnSpc>
              <a:spcBef>
                <a:spcPts val="535"/>
              </a:spcBef>
              <a:tabLst>
                <a:tab pos="2682875" algn="l"/>
                <a:tab pos="2975610" algn="l"/>
                <a:tab pos="4363085" algn="l"/>
                <a:tab pos="5207000" algn="l"/>
                <a:tab pos="5499735" algn="l"/>
              </a:tabLst>
            </a:pPr>
            <a:r>
              <a:rPr sz="2400" dirty="0">
                <a:latin typeface="Cambria Math"/>
                <a:cs typeface="Cambria Math"/>
              </a:rPr>
              <a:t>⟹</a:t>
            </a:r>
            <a:r>
              <a:rPr sz="2400" spc="9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𝚽</a:t>
            </a:r>
            <a:r>
              <a:rPr sz="2625" baseline="-15873" dirty="0">
                <a:latin typeface="Cambria Math"/>
                <a:cs typeface="Cambria Math"/>
              </a:rPr>
              <a:t>𝐁𝐅𝐒𝐊</a:t>
            </a:r>
            <a:r>
              <a:rPr sz="2625" spc="502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0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𝐦</a:t>
            </a:r>
            <a:r>
              <a:rPr sz="2625" spc="-37" baseline="-15873" dirty="0">
                <a:latin typeface="Cambria Math"/>
                <a:cs typeface="Cambria Math"/>
              </a:rPr>
              <a:t>𝟎</a:t>
            </a:r>
            <a:r>
              <a:rPr sz="2625" baseline="-15873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𝐭</a:t>
            </a:r>
            <a:r>
              <a:rPr sz="2400" dirty="0">
                <a:latin typeface="Cambria Math"/>
                <a:cs typeface="Cambria Math"/>
              </a:rPr>
              <a:t>	𝐜𝐨𝐬</a:t>
            </a:r>
            <a:r>
              <a:rPr sz="2400" spc="260" dirty="0">
                <a:latin typeface="Cambria Math"/>
                <a:cs typeface="Cambria Math"/>
              </a:rPr>
              <a:t> </a:t>
            </a:r>
            <a:r>
              <a:rPr sz="2400" spc="-20" dirty="0">
                <a:latin typeface="Cambria Math"/>
                <a:cs typeface="Cambria Math"/>
              </a:rPr>
              <a:t>𝛚</a:t>
            </a:r>
            <a:r>
              <a:rPr sz="2625" spc="-30" baseline="-15873" dirty="0">
                <a:latin typeface="Cambria Math"/>
                <a:cs typeface="Cambria Math"/>
              </a:rPr>
              <a:t>𝐂𝟎</a:t>
            </a:r>
            <a:r>
              <a:rPr sz="2400" spc="-20" dirty="0">
                <a:latin typeface="Cambria Math"/>
                <a:cs typeface="Cambria Math"/>
              </a:rPr>
              <a:t>𝐭</a:t>
            </a:r>
            <a:r>
              <a:rPr sz="2400" dirty="0">
                <a:latin typeface="Cambria Math"/>
                <a:cs typeface="Cambria Math"/>
              </a:rPr>
              <a:t>	+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𝐦</a:t>
            </a:r>
            <a:r>
              <a:rPr sz="2625" spc="-37" baseline="-15873" dirty="0">
                <a:latin typeface="Cambria Math"/>
                <a:cs typeface="Cambria Math"/>
              </a:rPr>
              <a:t>𝟏</a:t>
            </a:r>
            <a:r>
              <a:rPr sz="2625" baseline="-15873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𝐭</a:t>
            </a:r>
            <a:r>
              <a:rPr sz="2400" dirty="0">
                <a:latin typeface="Cambria Math"/>
                <a:cs typeface="Cambria Math"/>
              </a:rPr>
              <a:t>	𝐜𝐨𝐬</a:t>
            </a:r>
            <a:r>
              <a:rPr sz="2400" spc="275" dirty="0">
                <a:latin typeface="Cambria Math"/>
                <a:cs typeface="Cambria Math"/>
              </a:rPr>
              <a:t> </a:t>
            </a:r>
            <a:r>
              <a:rPr sz="2400" spc="-20" dirty="0">
                <a:latin typeface="Cambria Math"/>
                <a:cs typeface="Cambria Math"/>
              </a:rPr>
              <a:t>𝛚</a:t>
            </a:r>
            <a:r>
              <a:rPr sz="2625" spc="-30" baseline="-15873" dirty="0">
                <a:latin typeface="Cambria Math"/>
                <a:cs typeface="Cambria Math"/>
              </a:rPr>
              <a:t>𝐂𝟏</a:t>
            </a:r>
            <a:r>
              <a:rPr sz="2400" spc="-20" dirty="0">
                <a:latin typeface="Cambria Math"/>
                <a:cs typeface="Cambria Math"/>
              </a:rPr>
              <a:t>𝐭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397760" y="2129789"/>
            <a:ext cx="8973185" cy="1083945"/>
            <a:chOff x="2397760" y="2129789"/>
            <a:chExt cx="8973185" cy="1083945"/>
          </a:xfrm>
        </p:grpSpPr>
        <p:sp>
          <p:nvSpPr>
            <p:cNvPr id="6" name="object 6"/>
            <p:cNvSpPr/>
            <p:nvPr/>
          </p:nvSpPr>
          <p:spPr>
            <a:xfrm>
              <a:off x="2397760" y="2129789"/>
              <a:ext cx="8973185" cy="648335"/>
            </a:xfrm>
            <a:custGeom>
              <a:avLst/>
              <a:gdLst/>
              <a:ahLst/>
              <a:cxnLst/>
              <a:rect l="l" t="t" r="r" b="b"/>
              <a:pathLst>
                <a:path w="8973185" h="648335">
                  <a:moveTo>
                    <a:pt x="93980" y="377190"/>
                  </a:moveTo>
                  <a:lnTo>
                    <a:pt x="90043" y="365760"/>
                  </a:lnTo>
                  <a:lnTo>
                    <a:pt x="69557" y="373151"/>
                  </a:lnTo>
                  <a:lnTo>
                    <a:pt x="51587" y="383857"/>
                  </a:lnTo>
                  <a:lnTo>
                    <a:pt x="23241" y="415290"/>
                  </a:lnTo>
                  <a:lnTo>
                    <a:pt x="5803" y="457187"/>
                  </a:lnTo>
                  <a:lnTo>
                    <a:pt x="76" y="505587"/>
                  </a:lnTo>
                  <a:lnTo>
                    <a:pt x="0" y="506984"/>
                  </a:lnTo>
                  <a:lnTo>
                    <a:pt x="1447" y="532942"/>
                  </a:lnTo>
                  <a:lnTo>
                    <a:pt x="13017" y="578853"/>
                  </a:lnTo>
                  <a:lnTo>
                    <a:pt x="36017" y="616102"/>
                  </a:lnTo>
                  <a:lnTo>
                    <a:pt x="69494" y="640727"/>
                  </a:lnTo>
                  <a:lnTo>
                    <a:pt x="90043" y="648081"/>
                  </a:lnTo>
                  <a:lnTo>
                    <a:pt x="93599" y="636651"/>
                  </a:lnTo>
                  <a:lnTo>
                    <a:pt x="77470" y="629539"/>
                  </a:lnTo>
                  <a:lnTo>
                    <a:pt x="63576" y="619620"/>
                  </a:lnTo>
                  <a:lnTo>
                    <a:pt x="35077" y="573366"/>
                  </a:lnTo>
                  <a:lnTo>
                    <a:pt x="26695" y="530453"/>
                  </a:lnTo>
                  <a:lnTo>
                    <a:pt x="25654" y="505587"/>
                  </a:lnTo>
                  <a:lnTo>
                    <a:pt x="26695" y="481444"/>
                  </a:lnTo>
                  <a:lnTo>
                    <a:pt x="35077" y="439674"/>
                  </a:lnTo>
                  <a:lnTo>
                    <a:pt x="63665" y="394182"/>
                  </a:lnTo>
                  <a:lnTo>
                    <a:pt x="77685" y="384340"/>
                  </a:lnTo>
                  <a:lnTo>
                    <a:pt x="93980" y="377190"/>
                  </a:lnTo>
                  <a:close/>
                </a:path>
                <a:path w="8973185" h="648335">
                  <a:moveTo>
                    <a:pt x="315214" y="506984"/>
                  </a:moveTo>
                  <a:lnTo>
                    <a:pt x="313766" y="481444"/>
                  </a:lnTo>
                  <a:lnTo>
                    <a:pt x="313753" y="481114"/>
                  </a:lnTo>
                  <a:lnTo>
                    <a:pt x="309384" y="457187"/>
                  </a:lnTo>
                  <a:lnTo>
                    <a:pt x="291846" y="415290"/>
                  </a:lnTo>
                  <a:lnTo>
                    <a:pt x="263550" y="383857"/>
                  </a:lnTo>
                  <a:lnTo>
                    <a:pt x="225171" y="365760"/>
                  </a:lnTo>
                  <a:lnTo>
                    <a:pt x="221107" y="377190"/>
                  </a:lnTo>
                  <a:lnTo>
                    <a:pt x="237464" y="384340"/>
                  </a:lnTo>
                  <a:lnTo>
                    <a:pt x="251523" y="394182"/>
                  </a:lnTo>
                  <a:lnTo>
                    <a:pt x="280047" y="439674"/>
                  </a:lnTo>
                  <a:lnTo>
                    <a:pt x="288328" y="481114"/>
                  </a:lnTo>
                  <a:lnTo>
                    <a:pt x="288378" y="481444"/>
                  </a:lnTo>
                  <a:lnTo>
                    <a:pt x="289433" y="505587"/>
                  </a:lnTo>
                  <a:lnTo>
                    <a:pt x="288378" y="530453"/>
                  </a:lnTo>
                  <a:lnTo>
                    <a:pt x="285242" y="553046"/>
                  </a:lnTo>
                  <a:lnTo>
                    <a:pt x="272669" y="591439"/>
                  </a:lnTo>
                  <a:lnTo>
                    <a:pt x="237655" y="629539"/>
                  </a:lnTo>
                  <a:lnTo>
                    <a:pt x="221615" y="636651"/>
                  </a:lnTo>
                  <a:lnTo>
                    <a:pt x="225171" y="648081"/>
                  </a:lnTo>
                  <a:lnTo>
                    <a:pt x="263664" y="630072"/>
                  </a:lnTo>
                  <a:lnTo>
                    <a:pt x="291973" y="598805"/>
                  </a:lnTo>
                  <a:lnTo>
                    <a:pt x="309397" y="556895"/>
                  </a:lnTo>
                  <a:lnTo>
                    <a:pt x="313753" y="532942"/>
                  </a:lnTo>
                  <a:lnTo>
                    <a:pt x="315214" y="506984"/>
                  </a:lnTo>
                  <a:close/>
                </a:path>
                <a:path w="8973185" h="648335">
                  <a:moveTo>
                    <a:pt x="3065780" y="11430"/>
                  </a:moveTo>
                  <a:lnTo>
                    <a:pt x="3061843" y="0"/>
                  </a:lnTo>
                  <a:lnTo>
                    <a:pt x="3041358" y="7391"/>
                  </a:lnTo>
                  <a:lnTo>
                    <a:pt x="3023387" y="18097"/>
                  </a:lnTo>
                  <a:lnTo>
                    <a:pt x="2995041" y="49530"/>
                  </a:lnTo>
                  <a:lnTo>
                    <a:pt x="2977604" y="91427"/>
                  </a:lnTo>
                  <a:lnTo>
                    <a:pt x="2971876" y="139827"/>
                  </a:lnTo>
                  <a:lnTo>
                    <a:pt x="2971800" y="141224"/>
                  </a:lnTo>
                  <a:lnTo>
                    <a:pt x="2973247" y="167182"/>
                  </a:lnTo>
                  <a:lnTo>
                    <a:pt x="2984817" y="213093"/>
                  </a:lnTo>
                  <a:lnTo>
                    <a:pt x="3007817" y="250342"/>
                  </a:lnTo>
                  <a:lnTo>
                    <a:pt x="3041294" y="274967"/>
                  </a:lnTo>
                  <a:lnTo>
                    <a:pt x="3061843" y="282321"/>
                  </a:lnTo>
                  <a:lnTo>
                    <a:pt x="3065399" y="270891"/>
                  </a:lnTo>
                  <a:lnTo>
                    <a:pt x="3049270" y="263779"/>
                  </a:lnTo>
                  <a:lnTo>
                    <a:pt x="3035376" y="253860"/>
                  </a:lnTo>
                  <a:lnTo>
                    <a:pt x="3006877" y="207606"/>
                  </a:lnTo>
                  <a:lnTo>
                    <a:pt x="2998495" y="164693"/>
                  </a:lnTo>
                  <a:lnTo>
                    <a:pt x="2997454" y="139827"/>
                  </a:lnTo>
                  <a:lnTo>
                    <a:pt x="2998495" y="115684"/>
                  </a:lnTo>
                  <a:lnTo>
                    <a:pt x="3006877" y="73914"/>
                  </a:lnTo>
                  <a:lnTo>
                    <a:pt x="3035465" y="28422"/>
                  </a:lnTo>
                  <a:lnTo>
                    <a:pt x="3049486" y="18580"/>
                  </a:lnTo>
                  <a:lnTo>
                    <a:pt x="3065780" y="11430"/>
                  </a:lnTo>
                  <a:close/>
                </a:path>
                <a:path w="8973185" h="648335">
                  <a:moveTo>
                    <a:pt x="3287014" y="141224"/>
                  </a:moveTo>
                  <a:lnTo>
                    <a:pt x="3285566" y="115684"/>
                  </a:lnTo>
                  <a:lnTo>
                    <a:pt x="3285553" y="115354"/>
                  </a:lnTo>
                  <a:lnTo>
                    <a:pt x="3281184" y="91427"/>
                  </a:lnTo>
                  <a:lnTo>
                    <a:pt x="3263646" y="49530"/>
                  </a:lnTo>
                  <a:lnTo>
                    <a:pt x="3235350" y="18097"/>
                  </a:lnTo>
                  <a:lnTo>
                    <a:pt x="3196971" y="0"/>
                  </a:lnTo>
                  <a:lnTo>
                    <a:pt x="3192907" y="11430"/>
                  </a:lnTo>
                  <a:lnTo>
                    <a:pt x="3209264" y="18580"/>
                  </a:lnTo>
                  <a:lnTo>
                    <a:pt x="3223323" y="28422"/>
                  </a:lnTo>
                  <a:lnTo>
                    <a:pt x="3251847" y="73914"/>
                  </a:lnTo>
                  <a:lnTo>
                    <a:pt x="3260128" y="115354"/>
                  </a:lnTo>
                  <a:lnTo>
                    <a:pt x="3260179" y="115684"/>
                  </a:lnTo>
                  <a:lnTo>
                    <a:pt x="3261233" y="139827"/>
                  </a:lnTo>
                  <a:lnTo>
                    <a:pt x="3260179" y="164693"/>
                  </a:lnTo>
                  <a:lnTo>
                    <a:pt x="3257042" y="187286"/>
                  </a:lnTo>
                  <a:lnTo>
                    <a:pt x="3244469" y="225679"/>
                  </a:lnTo>
                  <a:lnTo>
                    <a:pt x="3209455" y="263779"/>
                  </a:lnTo>
                  <a:lnTo>
                    <a:pt x="3193415" y="270891"/>
                  </a:lnTo>
                  <a:lnTo>
                    <a:pt x="3196971" y="282321"/>
                  </a:lnTo>
                  <a:lnTo>
                    <a:pt x="3235464" y="264312"/>
                  </a:lnTo>
                  <a:lnTo>
                    <a:pt x="3263773" y="233045"/>
                  </a:lnTo>
                  <a:lnTo>
                    <a:pt x="3281197" y="191135"/>
                  </a:lnTo>
                  <a:lnTo>
                    <a:pt x="3285553" y="167182"/>
                  </a:lnTo>
                  <a:lnTo>
                    <a:pt x="3287014" y="141224"/>
                  </a:lnTo>
                  <a:close/>
                </a:path>
                <a:path w="8973185" h="648335">
                  <a:moveTo>
                    <a:pt x="8751824" y="11430"/>
                  </a:moveTo>
                  <a:lnTo>
                    <a:pt x="8747887" y="0"/>
                  </a:lnTo>
                  <a:lnTo>
                    <a:pt x="8727402" y="7391"/>
                  </a:lnTo>
                  <a:lnTo>
                    <a:pt x="8709431" y="18097"/>
                  </a:lnTo>
                  <a:lnTo>
                    <a:pt x="8681085" y="49530"/>
                  </a:lnTo>
                  <a:lnTo>
                    <a:pt x="8663648" y="91427"/>
                  </a:lnTo>
                  <a:lnTo>
                    <a:pt x="8657920" y="139827"/>
                  </a:lnTo>
                  <a:lnTo>
                    <a:pt x="8657844" y="141224"/>
                  </a:lnTo>
                  <a:lnTo>
                    <a:pt x="8659292" y="167182"/>
                  </a:lnTo>
                  <a:lnTo>
                    <a:pt x="8670861" y="213093"/>
                  </a:lnTo>
                  <a:lnTo>
                    <a:pt x="8693861" y="250342"/>
                  </a:lnTo>
                  <a:lnTo>
                    <a:pt x="8727338" y="274967"/>
                  </a:lnTo>
                  <a:lnTo>
                    <a:pt x="8747887" y="282321"/>
                  </a:lnTo>
                  <a:lnTo>
                    <a:pt x="8751443" y="270891"/>
                  </a:lnTo>
                  <a:lnTo>
                    <a:pt x="8735314" y="263779"/>
                  </a:lnTo>
                  <a:lnTo>
                    <a:pt x="8721420" y="253860"/>
                  </a:lnTo>
                  <a:lnTo>
                    <a:pt x="8692921" y="207606"/>
                  </a:lnTo>
                  <a:lnTo>
                    <a:pt x="8684539" y="164693"/>
                  </a:lnTo>
                  <a:lnTo>
                    <a:pt x="8683498" y="139827"/>
                  </a:lnTo>
                  <a:lnTo>
                    <a:pt x="8684539" y="115684"/>
                  </a:lnTo>
                  <a:lnTo>
                    <a:pt x="8692921" y="73914"/>
                  </a:lnTo>
                  <a:lnTo>
                    <a:pt x="8721509" y="28422"/>
                  </a:lnTo>
                  <a:lnTo>
                    <a:pt x="8735530" y="18580"/>
                  </a:lnTo>
                  <a:lnTo>
                    <a:pt x="8751824" y="11430"/>
                  </a:lnTo>
                  <a:close/>
                </a:path>
                <a:path w="8973185" h="648335">
                  <a:moveTo>
                    <a:pt x="8973058" y="141224"/>
                  </a:moveTo>
                  <a:lnTo>
                    <a:pt x="8971610" y="115684"/>
                  </a:lnTo>
                  <a:lnTo>
                    <a:pt x="8971597" y="115354"/>
                  </a:lnTo>
                  <a:lnTo>
                    <a:pt x="8967229" y="91427"/>
                  </a:lnTo>
                  <a:lnTo>
                    <a:pt x="8949690" y="49530"/>
                  </a:lnTo>
                  <a:lnTo>
                    <a:pt x="8921394" y="18097"/>
                  </a:lnTo>
                  <a:lnTo>
                    <a:pt x="8883015" y="0"/>
                  </a:lnTo>
                  <a:lnTo>
                    <a:pt x="8878951" y="11430"/>
                  </a:lnTo>
                  <a:lnTo>
                    <a:pt x="8895309" y="18580"/>
                  </a:lnTo>
                  <a:lnTo>
                    <a:pt x="8909367" y="28422"/>
                  </a:lnTo>
                  <a:lnTo>
                    <a:pt x="8937892" y="73914"/>
                  </a:lnTo>
                  <a:lnTo>
                    <a:pt x="8946172" y="115354"/>
                  </a:lnTo>
                  <a:lnTo>
                    <a:pt x="8946223" y="115684"/>
                  </a:lnTo>
                  <a:lnTo>
                    <a:pt x="8947277" y="139827"/>
                  </a:lnTo>
                  <a:lnTo>
                    <a:pt x="8946223" y="164693"/>
                  </a:lnTo>
                  <a:lnTo>
                    <a:pt x="8943086" y="187286"/>
                  </a:lnTo>
                  <a:lnTo>
                    <a:pt x="8930513" y="225679"/>
                  </a:lnTo>
                  <a:lnTo>
                    <a:pt x="8895499" y="263779"/>
                  </a:lnTo>
                  <a:lnTo>
                    <a:pt x="8879459" y="270891"/>
                  </a:lnTo>
                  <a:lnTo>
                    <a:pt x="8883015" y="282321"/>
                  </a:lnTo>
                  <a:lnTo>
                    <a:pt x="8921509" y="264312"/>
                  </a:lnTo>
                  <a:lnTo>
                    <a:pt x="8949817" y="233045"/>
                  </a:lnTo>
                  <a:lnTo>
                    <a:pt x="8967241" y="191135"/>
                  </a:lnTo>
                  <a:lnTo>
                    <a:pt x="8971597" y="167182"/>
                  </a:lnTo>
                  <a:lnTo>
                    <a:pt x="8973058" y="141224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20797" y="2928746"/>
              <a:ext cx="4202430" cy="284480"/>
            </a:xfrm>
            <a:custGeom>
              <a:avLst/>
              <a:gdLst/>
              <a:ahLst/>
              <a:cxnLst/>
              <a:rect l="l" t="t" r="r" b="b"/>
              <a:pathLst>
                <a:path w="4202430" h="284480">
                  <a:moveTo>
                    <a:pt x="94107" y="12065"/>
                  </a:moveTo>
                  <a:lnTo>
                    <a:pt x="90043" y="635"/>
                  </a:lnTo>
                  <a:lnTo>
                    <a:pt x="69583" y="8026"/>
                  </a:lnTo>
                  <a:lnTo>
                    <a:pt x="51650" y="18732"/>
                  </a:lnTo>
                  <a:lnTo>
                    <a:pt x="23368" y="50165"/>
                  </a:lnTo>
                  <a:lnTo>
                    <a:pt x="5816" y="92062"/>
                  </a:lnTo>
                  <a:lnTo>
                    <a:pt x="76" y="140335"/>
                  </a:lnTo>
                  <a:lnTo>
                    <a:pt x="0" y="141859"/>
                  </a:lnTo>
                  <a:lnTo>
                    <a:pt x="1447" y="167817"/>
                  </a:lnTo>
                  <a:lnTo>
                    <a:pt x="13068" y="213728"/>
                  </a:lnTo>
                  <a:lnTo>
                    <a:pt x="36118" y="250926"/>
                  </a:lnTo>
                  <a:lnTo>
                    <a:pt x="69507" y="275590"/>
                  </a:lnTo>
                  <a:lnTo>
                    <a:pt x="90043" y="282956"/>
                  </a:lnTo>
                  <a:lnTo>
                    <a:pt x="93599" y="271526"/>
                  </a:lnTo>
                  <a:lnTo>
                    <a:pt x="77546" y="264414"/>
                  </a:lnTo>
                  <a:lnTo>
                    <a:pt x="63690" y="254495"/>
                  </a:lnTo>
                  <a:lnTo>
                    <a:pt x="35204" y="208241"/>
                  </a:lnTo>
                  <a:lnTo>
                    <a:pt x="26822" y="165277"/>
                  </a:lnTo>
                  <a:lnTo>
                    <a:pt x="25781" y="140335"/>
                  </a:lnTo>
                  <a:lnTo>
                    <a:pt x="26822" y="116268"/>
                  </a:lnTo>
                  <a:lnTo>
                    <a:pt x="35204" y="74498"/>
                  </a:lnTo>
                  <a:lnTo>
                    <a:pt x="63792" y="28994"/>
                  </a:lnTo>
                  <a:lnTo>
                    <a:pt x="77812" y="19164"/>
                  </a:lnTo>
                  <a:lnTo>
                    <a:pt x="94107" y="12065"/>
                  </a:lnTo>
                  <a:close/>
                </a:path>
                <a:path w="4202430" h="284480">
                  <a:moveTo>
                    <a:pt x="315214" y="141859"/>
                  </a:moveTo>
                  <a:lnTo>
                    <a:pt x="313766" y="116268"/>
                  </a:lnTo>
                  <a:lnTo>
                    <a:pt x="313753" y="115989"/>
                  </a:lnTo>
                  <a:lnTo>
                    <a:pt x="309397" y="92062"/>
                  </a:lnTo>
                  <a:lnTo>
                    <a:pt x="291973" y="50165"/>
                  </a:lnTo>
                  <a:lnTo>
                    <a:pt x="263664" y="18732"/>
                  </a:lnTo>
                  <a:lnTo>
                    <a:pt x="225171" y="635"/>
                  </a:lnTo>
                  <a:lnTo>
                    <a:pt x="221234" y="12065"/>
                  </a:lnTo>
                  <a:lnTo>
                    <a:pt x="237540" y="19164"/>
                  </a:lnTo>
                  <a:lnTo>
                    <a:pt x="251587" y="28994"/>
                  </a:lnTo>
                  <a:lnTo>
                    <a:pt x="280123" y="74498"/>
                  </a:lnTo>
                  <a:lnTo>
                    <a:pt x="288467" y="115989"/>
                  </a:lnTo>
                  <a:lnTo>
                    <a:pt x="289560" y="140335"/>
                  </a:lnTo>
                  <a:lnTo>
                    <a:pt x="288505" y="165277"/>
                  </a:lnTo>
                  <a:lnTo>
                    <a:pt x="280123" y="208241"/>
                  </a:lnTo>
                  <a:lnTo>
                    <a:pt x="251625" y="254495"/>
                  </a:lnTo>
                  <a:lnTo>
                    <a:pt x="221615" y="271526"/>
                  </a:lnTo>
                  <a:lnTo>
                    <a:pt x="225171" y="282956"/>
                  </a:lnTo>
                  <a:lnTo>
                    <a:pt x="263728" y="264896"/>
                  </a:lnTo>
                  <a:lnTo>
                    <a:pt x="292100" y="233680"/>
                  </a:lnTo>
                  <a:lnTo>
                    <a:pt x="309410" y="191770"/>
                  </a:lnTo>
                  <a:lnTo>
                    <a:pt x="313753" y="167817"/>
                  </a:lnTo>
                  <a:lnTo>
                    <a:pt x="315214" y="141859"/>
                  </a:lnTo>
                  <a:close/>
                </a:path>
                <a:path w="4202430" h="284480">
                  <a:moveTo>
                    <a:pt x="962025" y="0"/>
                  </a:moveTo>
                  <a:lnTo>
                    <a:pt x="895604" y="0"/>
                  </a:lnTo>
                  <a:lnTo>
                    <a:pt x="895604" y="11430"/>
                  </a:lnTo>
                  <a:lnTo>
                    <a:pt x="895604" y="271780"/>
                  </a:lnTo>
                  <a:lnTo>
                    <a:pt x="895604" y="284480"/>
                  </a:lnTo>
                  <a:lnTo>
                    <a:pt x="962025" y="284480"/>
                  </a:lnTo>
                  <a:lnTo>
                    <a:pt x="962025" y="271780"/>
                  </a:lnTo>
                  <a:lnTo>
                    <a:pt x="920369" y="271780"/>
                  </a:lnTo>
                  <a:lnTo>
                    <a:pt x="920369" y="11430"/>
                  </a:lnTo>
                  <a:lnTo>
                    <a:pt x="962025" y="11430"/>
                  </a:lnTo>
                  <a:lnTo>
                    <a:pt x="962025" y="0"/>
                  </a:lnTo>
                  <a:close/>
                </a:path>
                <a:path w="4202430" h="284480">
                  <a:moveTo>
                    <a:pt x="1678178" y="0"/>
                  </a:moveTo>
                  <a:lnTo>
                    <a:pt x="1611884" y="0"/>
                  </a:lnTo>
                  <a:lnTo>
                    <a:pt x="1611884" y="11430"/>
                  </a:lnTo>
                  <a:lnTo>
                    <a:pt x="1653540" y="11430"/>
                  </a:lnTo>
                  <a:lnTo>
                    <a:pt x="1653540" y="271780"/>
                  </a:lnTo>
                  <a:lnTo>
                    <a:pt x="1611884" y="271780"/>
                  </a:lnTo>
                  <a:lnTo>
                    <a:pt x="1611884" y="284480"/>
                  </a:lnTo>
                  <a:lnTo>
                    <a:pt x="1678178" y="284480"/>
                  </a:lnTo>
                  <a:lnTo>
                    <a:pt x="1678178" y="271780"/>
                  </a:lnTo>
                  <a:lnTo>
                    <a:pt x="1678178" y="11430"/>
                  </a:lnTo>
                  <a:lnTo>
                    <a:pt x="1678178" y="0"/>
                  </a:lnTo>
                  <a:close/>
                </a:path>
                <a:path w="4202430" h="284480">
                  <a:moveTo>
                    <a:pt x="2617851" y="12065"/>
                  </a:moveTo>
                  <a:lnTo>
                    <a:pt x="2613787" y="635"/>
                  </a:lnTo>
                  <a:lnTo>
                    <a:pt x="2593327" y="8026"/>
                  </a:lnTo>
                  <a:lnTo>
                    <a:pt x="2575395" y="18732"/>
                  </a:lnTo>
                  <a:lnTo>
                    <a:pt x="2547112" y="50165"/>
                  </a:lnTo>
                  <a:lnTo>
                    <a:pt x="2529560" y="92062"/>
                  </a:lnTo>
                  <a:lnTo>
                    <a:pt x="2523820" y="140335"/>
                  </a:lnTo>
                  <a:lnTo>
                    <a:pt x="2523744" y="141859"/>
                  </a:lnTo>
                  <a:lnTo>
                    <a:pt x="2525191" y="167817"/>
                  </a:lnTo>
                  <a:lnTo>
                    <a:pt x="2536812" y="213728"/>
                  </a:lnTo>
                  <a:lnTo>
                    <a:pt x="2559862" y="250926"/>
                  </a:lnTo>
                  <a:lnTo>
                    <a:pt x="2593251" y="275590"/>
                  </a:lnTo>
                  <a:lnTo>
                    <a:pt x="2613787" y="282956"/>
                  </a:lnTo>
                  <a:lnTo>
                    <a:pt x="2617343" y="271526"/>
                  </a:lnTo>
                  <a:lnTo>
                    <a:pt x="2601290" y="264414"/>
                  </a:lnTo>
                  <a:lnTo>
                    <a:pt x="2587434" y="254495"/>
                  </a:lnTo>
                  <a:lnTo>
                    <a:pt x="2558948" y="208241"/>
                  </a:lnTo>
                  <a:lnTo>
                    <a:pt x="2550566" y="165277"/>
                  </a:lnTo>
                  <a:lnTo>
                    <a:pt x="2549525" y="140335"/>
                  </a:lnTo>
                  <a:lnTo>
                    <a:pt x="2550566" y="116268"/>
                  </a:lnTo>
                  <a:lnTo>
                    <a:pt x="2558948" y="74498"/>
                  </a:lnTo>
                  <a:lnTo>
                    <a:pt x="2587536" y="28994"/>
                  </a:lnTo>
                  <a:lnTo>
                    <a:pt x="2601557" y="19164"/>
                  </a:lnTo>
                  <a:lnTo>
                    <a:pt x="2617851" y="12065"/>
                  </a:lnTo>
                  <a:close/>
                </a:path>
                <a:path w="4202430" h="284480">
                  <a:moveTo>
                    <a:pt x="2838958" y="141859"/>
                  </a:moveTo>
                  <a:lnTo>
                    <a:pt x="2837510" y="116268"/>
                  </a:lnTo>
                  <a:lnTo>
                    <a:pt x="2837497" y="115989"/>
                  </a:lnTo>
                  <a:lnTo>
                    <a:pt x="2833141" y="92062"/>
                  </a:lnTo>
                  <a:lnTo>
                    <a:pt x="2815717" y="50165"/>
                  </a:lnTo>
                  <a:lnTo>
                    <a:pt x="2787408" y="18732"/>
                  </a:lnTo>
                  <a:lnTo>
                    <a:pt x="2748915" y="635"/>
                  </a:lnTo>
                  <a:lnTo>
                    <a:pt x="2744978" y="12065"/>
                  </a:lnTo>
                  <a:lnTo>
                    <a:pt x="2761284" y="19164"/>
                  </a:lnTo>
                  <a:lnTo>
                    <a:pt x="2775331" y="28994"/>
                  </a:lnTo>
                  <a:lnTo>
                    <a:pt x="2803868" y="74498"/>
                  </a:lnTo>
                  <a:lnTo>
                    <a:pt x="2812211" y="115989"/>
                  </a:lnTo>
                  <a:lnTo>
                    <a:pt x="2813304" y="140335"/>
                  </a:lnTo>
                  <a:lnTo>
                    <a:pt x="2812250" y="165277"/>
                  </a:lnTo>
                  <a:lnTo>
                    <a:pt x="2803868" y="208241"/>
                  </a:lnTo>
                  <a:lnTo>
                    <a:pt x="2775369" y="254495"/>
                  </a:lnTo>
                  <a:lnTo>
                    <a:pt x="2745359" y="271526"/>
                  </a:lnTo>
                  <a:lnTo>
                    <a:pt x="2748915" y="282956"/>
                  </a:lnTo>
                  <a:lnTo>
                    <a:pt x="2787472" y="264896"/>
                  </a:lnTo>
                  <a:lnTo>
                    <a:pt x="2815844" y="233680"/>
                  </a:lnTo>
                  <a:lnTo>
                    <a:pt x="2833154" y="191770"/>
                  </a:lnTo>
                  <a:lnTo>
                    <a:pt x="2837497" y="167817"/>
                  </a:lnTo>
                  <a:lnTo>
                    <a:pt x="2838958" y="141859"/>
                  </a:lnTo>
                  <a:close/>
                </a:path>
                <a:path w="4202430" h="284480">
                  <a:moveTo>
                    <a:pt x="3487293" y="0"/>
                  </a:moveTo>
                  <a:lnTo>
                    <a:pt x="3420872" y="0"/>
                  </a:lnTo>
                  <a:lnTo>
                    <a:pt x="3420872" y="11430"/>
                  </a:lnTo>
                  <a:lnTo>
                    <a:pt x="3420872" y="271780"/>
                  </a:lnTo>
                  <a:lnTo>
                    <a:pt x="3420872" y="284480"/>
                  </a:lnTo>
                  <a:lnTo>
                    <a:pt x="3487293" y="284480"/>
                  </a:lnTo>
                  <a:lnTo>
                    <a:pt x="3487293" y="271780"/>
                  </a:lnTo>
                  <a:lnTo>
                    <a:pt x="3445637" y="271780"/>
                  </a:lnTo>
                  <a:lnTo>
                    <a:pt x="3445637" y="11430"/>
                  </a:lnTo>
                  <a:lnTo>
                    <a:pt x="3487293" y="11430"/>
                  </a:lnTo>
                  <a:lnTo>
                    <a:pt x="3487293" y="0"/>
                  </a:lnTo>
                  <a:close/>
                </a:path>
                <a:path w="4202430" h="284480">
                  <a:moveTo>
                    <a:pt x="4201922" y="0"/>
                  </a:moveTo>
                  <a:lnTo>
                    <a:pt x="4135628" y="0"/>
                  </a:lnTo>
                  <a:lnTo>
                    <a:pt x="4135628" y="11430"/>
                  </a:lnTo>
                  <a:lnTo>
                    <a:pt x="4177284" y="11430"/>
                  </a:lnTo>
                  <a:lnTo>
                    <a:pt x="4177284" y="271780"/>
                  </a:lnTo>
                  <a:lnTo>
                    <a:pt x="4135628" y="271780"/>
                  </a:lnTo>
                  <a:lnTo>
                    <a:pt x="4135628" y="284480"/>
                  </a:lnTo>
                  <a:lnTo>
                    <a:pt x="4201922" y="284480"/>
                  </a:lnTo>
                  <a:lnTo>
                    <a:pt x="4201922" y="271780"/>
                  </a:lnTo>
                  <a:lnTo>
                    <a:pt x="4201922" y="11430"/>
                  </a:lnTo>
                  <a:lnTo>
                    <a:pt x="42019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91895" y="3991851"/>
            <a:ext cx="5654675" cy="2381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>
              <a:lnSpc>
                <a:spcPts val="1760"/>
              </a:lnSpc>
            </a:pPr>
            <a:r>
              <a:rPr sz="1800" dirty="0">
                <a:latin typeface="Cambria Math"/>
                <a:cs typeface="Cambria Math"/>
              </a:rPr>
              <a:t>𝐦</a:t>
            </a:r>
            <a:r>
              <a:rPr sz="1950" baseline="-14957" dirty="0">
                <a:latin typeface="Cambria Math"/>
                <a:cs typeface="Cambria Math"/>
              </a:rPr>
              <a:t>𝟎</a:t>
            </a:r>
            <a:r>
              <a:rPr sz="1950" spc="187" baseline="-14957" dirty="0">
                <a:latin typeface="Cambria Math"/>
                <a:cs typeface="Cambria Math"/>
              </a:rPr>
              <a:t> 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  <a:p>
            <a:pPr marL="5057140">
              <a:lnSpc>
                <a:spcPts val="1839"/>
              </a:lnSpc>
              <a:spcBef>
                <a:spcPts val="620"/>
              </a:spcBef>
            </a:pPr>
            <a:r>
              <a:rPr sz="2700" spc="-30" baseline="10802" dirty="0">
                <a:latin typeface="Cambria Math"/>
                <a:cs typeface="Cambria Math"/>
              </a:rPr>
              <a:t>𝚽</a:t>
            </a:r>
            <a:r>
              <a:rPr sz="1300" spc="-20" dirty="0">
                <a:latin typeface="Cambria Math"/>
                <a:cs typeface="Cambria Math"/>
              </a:rPr>
              <a:t>𝐁𝐅𝐒𝐊</a:t>
            </a:r>
            <a:endParaRPr sz="1300">
              <a:latin typeface="Cambria Math"/>
              <a:cs typeface="Cambria Math"/>
            </a:endParaRPr>
          </a:p>
          <a:p>
            <a:pPr marL="1582420">
              <a:lnSpc>
                <a:spcPts val="1839"/>
              </a:lnSpc>
              <a:tabLst>
                <a:tab pos="3320415" algn="l"/>
              </a:tabLst>
            </a:pPr>
            <a:r>
              <a:rPr sz="2700" baseline="-18518" dirty="0">
                <a:latin typeface="Cambria Math"/>
                <a:cs typeface="Cambria Math"/>
              </a:rPr>
              <a:t>𝐜𝐨𝐬</a:t>
            </a:r>
            <a:r>
              <a:rPr sz="2700" spc="-150" baseline="-18518" dirty="0">
                <a:latin typeface="Cambria Math"/>
                <a:cs typeface="Cambria Math"/>
              </a:rPr>
              <a:t> </a:t>
            </a:r>
            <a:r>
              <a:rPr sz="2700" spc="-30" baseline="-18518" dirty="0">
                <a:latin typeface="Cambria Math"/>
                <a:cs typeface="Cambria Math"/>
              </a:rPr>
              <a:t>𝛚</a:t>
            </a:r>
            <a:r>
              <a:rPr sz="1950" spc="-30" baseline="-40598" dirty="0">
                <a:latin typeface="Cambria Math"/>
                <a:cs typeface="Cambria Math"/>
              </a:rPr>
              <a:t>𝐂𝟎</a:t>
            </a:r>
            <a:r>
              <a:rPr sz="2700" spc="-30" baseline="-18518" dirty="0">
                <a:latin typeface="Cambria Math"/>
                <a:cs typeface="Cambria Math"/>
              </a:rPr>
              <a:t>𝐭</a:t>
            </a:r>
            <a:r>
              <a:rPr sz="2700" baseline="-18518" dirty="0">
                <a:latin typeface="Cambria Math"/>
                <a:cs typeface="Cambria Math"/>
              </a:rPr>
              <a:t>	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Interleaver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mbria Math"/>
                <a:cs typeface="Cambria Math"/>
              </a:rPr>
              <a:t>𝐦</a:t>
            </a:r>
            <a:r>
              <a:rPr sz="1950" baseline="-14957" dirty="0">
                <a:latin typeface="Cambria Math"/>
                <a:cs typeface="Cambria Math"/>
              </a:rPr>
              <a:t>𝟏</a:t>
            </a:r>
            <a:r>
              <a:rPr sz="1950" spc="187" baseline="-14957" dirty="0">
                <a:latin typeface="Cambria Math"/>
                <a:cs typeface="Cambria Math"/>
              </a:rPr>
              <a:t> 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1800">
              <a:latin typeface="Cambria Math"/>
              <a:cs typeface="Cambria Math"/>
            </a:endParaRPr>
          </a:p>
          <a:p>
            <a:pPr marL="1582420">
              <a:lnSpc>
                <a:spcPct val="100000"/>
              </a:lnSpc>
            </a:pP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-100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𝛚</a:t>
            </a:r>
            <a:r>
              <a:rPr sz="1950" spc="-30" baseline="-14957" dirty="0">
                <a:latin typeface="Cambria Math"/>
                <a:cs typeface="Cambria Math"/>
              </a:rPr>
              <a:t>𝐂𝟏</a:t>
            </a:r>
            <a:r>
              <a:rPr sz="1800" spc="-20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5250" y="2115820"/>
            <a:ext cx="11913235" cy="4271645"/>
            <a:chOff x="95250" y="2115820"/>
            <a:chExt cx="11913235" cy="427164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" y="2115820"/>
              <a:ext cx="11912727" cy="127876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58901" y="3854450"/>
              <a:ext cx="1240155" cy="114300"/>
            </a:xfrm>
            <a:custGeom>
              <a:avLst/>
              <a:gdLst/>
              <a:ahLst/>
              <a:cxnLst/>
              <a:rect l="l" t="t" r="r" b="b"/>
              <a:pathLst>
                <a:path w="1240155" h="114300">
                  <a:moveTo>
                    <a:pt x="1125448" y="0"/>
                  </a:moveTo>
                  <a:lnTo>
                    <a:pt x="1125448" y="114300"/>
                  </a:lnTo>
                  <a:lnTo>
                    <a:pt x="1201648" y="76200"/>
                  </a:lnTo>
                  <a:lnTo>
                    <a:pt x="1144498" y="76200"/>
                  </a:lnTo>
                  <a:lnTo>
                    <a:pt x="1144498" y="38100"/>
                  </a:lnTo>
                  <a:lnTo>
                    <a:pt x="1201648" y="38100"/>
                  </a:lnTo>
                  <a:lnTo>
                    <a:pt x="1125448" y="0"/>
                  </a:lnTo>
                  <a:close/>
                </a:path>
                <a:path w="1240155" h="114300">
                  <a:moveTo>
                    <a:pt x="1125448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125448" y="76200"/>
                  </a:lnTo>
                  <a:lnTo>
                    <a:pt x="1125448" y="38100"/>
                  </a:lnTo>
                  <a:close/>
                </a:path>
                <a:path w="1240155" h="114300">
                  <a:moveTo>
                    <a:pt x="1201648" y="38100"/>
                  </a:moveTo>
                  <a:lnTo>
                    <a:pt x="1144498" y="38100"/>
                  </a:lnTo>
                  <a:lnTo>
                    <a:pt x="1144498" y="76200"/>
                  </a:lnTo>
                  <a:lnTo>
                    <a:pt x="1201648" y="76200"/>
                  </a:lnTo>
                  <a:lnTo>
                    <a:pt x="1239748" y="57150"/>
                  </a:lnTo>
                  <a:lnTo>
                    <a:pt x="1201648" y="381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8650" y="3655441"/>
              <a:ext cx="508000" cy="51231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898650" y="3655441"/>
              <a:ext cx="508000" cy="512445"/>
            </a:xfrm>
            <a:custGeom>
              <a:avLst/>
              <a:gdLst/>
              <a:ahLst/>
              <a:cxnLst/>
              <a:rect l="l" t="t" r="r" b="b"/>
              <a:pathLst>
                <a:path w="508000" h="512445">
                  <a:moveTo>
                    <a:pt x="0" y="256159"/>
                  </a:moveTo>
                  <a:lnTo>
                    <a:pt x="4090" y="210112"/>
                  </a:lnTo>
                  <a:lnTo>
                    <a:pt x="15884" y="166774"/>
                  </a:lnTo>
                  <a:lnTo>
                    <a:pt x="34666" y="126868"/>
                  </a:lnTo>
                  <a:lnTo>
                    <a:pt x="59719" y="91116"/>
                  </a:lnTo>
                  <a:lnTo>
                    <a:pt x="90328" y="60243"/>
                  </a:lnTo>
                  <a:lnTo>
                    <a:pt x="125777" y="34972"/>
                  </a:lnTo>
                  <a:lnTo>
                    <a:pt x="165349" y="16025"/>
                  </a:lnTo>
                  <a:lnTo>
                    <a:pt x="208328" y="4126"/>
                  </a:lnTo>
                  <a:lnTo>
                    <a:pt x="254000" y="0"/>
                  </a:lnTo>
                  <a:lnTo>
                    <a:pt x="299671" y="4126"/>
                  </a:lnTo>
                  <a:lnTo>
                    <a:pt x="342650" y="16025"/>
                  </a:lnTo>
                  <a:lnTo>
                    <a:pt x="382222" y="34972"/>
                  </a:lnTo>
                  <a:lnTo>
                    <a:pt x="417671" y="60243"/>
                  </a:lnTo>
                  <a:lnTo>
                    <a:pt x="448280" y="91116"/>
                  </a:lnTo>
                  <a:lnTo>
                    <a:pt x="473333" y="126868"/>
                  </a:lnTo>
                  <a:lnTo>
                    <a:pt x="492115" y="166774"/>
                  </a:lnTo>
                  <a:lnTo>
                    <a:pt x="503909" y="210112"/>
                  </a:lnTo>
                  <a:lnTo>
                    <a:pt x="508000" y="256159"/>
                  </a:lnTo>
                  <a:lnTo>
                    <a:pt x="503909" y="302205"/>
                  </a:lnTo>
                  <a:lnTo>
                    <a:pt x="492115" y="345543"/>
                  </a:lnTo>
                  <a:lnTo>
                    <a:pt x="473333" y="385449"/>
                  </a:lnTo>
                  <a:lnTo>
                    <a:pt x="448280" y="421201"/>
                  </a:lnTo>
                  <a:lnTo>
                    <a:pt x="417671" y="452074"/>
                  </a:lnTo>
                  <a:lnTo>
                    <a:pt x="382222" y="477345"/>
                  </a:lnTo>
                  <a:lnTo>
                    <a:pt x="342650" y="496292"/>
                  </a:lnTo>
                  <a:lnTo>
                    <a:pt x="299671" y="508191"/>
                  </a:lnTo>
                  <a:lnTo>
                    <a:pt x="254000" y="512318"/>
                  </a:lnTo>
                  <a:lnTo>
                    <a:pt x="208328" y="508191"/>
                  </a:lnTo>
                  <a:lnTo>
                    <a:pt x="165349" y="496292"/>
                  </a:lnTo>
                  <a:lnTo>
                    <a:pt x="125777" y="477345"/>
                  </a:lnTo>
                  <a:lnTo>
                    <a:pt x="90328" y="452074"/>
                  </a:lnTo>
                  <a:lnTo>
                    <a:pt x="59719" y="421201"/>
                  </a:lnTo>
                  <a:lnTo>
                    <a:pt x="34666" y="385449"/>
                  </a:lnTo>
                  <a:lnTo>
                    <a:pt x="15884" y="345543"/>
                  </a:lnTo>
                  <a:lnTo>
                    <a:pt x="4090" y="302205"/>
                  </a:lnTo>
                  <a:lnTo>
                    <a:pt x="0" y="256159"/>
                  </a:lnTo>
                  <a:close/>
                </a:path>
              </a:pathLst>
            </a:custGeom>
            <a:ln w="28575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73072" y="3730371"/>
              <a:ext cx="359410" cy="362585"/>
            </a:xfrm>
            <a:custGeom>
              <a:avLst/>
              <a:gdLst/>
              <a:ahLst/>
              <a:cxnLst/>
              <a:rect l="l" t="t" r="r" b="b"/>
              <a:pathLst>
                <a:path w="359410" h="362585">
                  <a:moveTo>
                    <a:pt x="0" y="0"/>
                  </a:moveTo>
                  <a:lnTo>
                    <a:pt x="359156" y="362457"/>
                  </a:lnTo>
                </a:path>
              </a:pathLst>
            </a:custGeom>
            <a:ln w="28575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73072" y="3730371"/>
              <a:ext cx="359410" cy="362585"/>
            </a:xfrm>
            <a:custGeom>
              <a:avLst/>
              <a:gdLst/>
              <a:ahLst/>
              <a:cxnLst/>
              <a:rect l="l" t="t" r="r" b="b"/>
              <a:pathLst>
                <a:path w="359410" h="362585">
                  <a:moveTo>
                    <a:pt x="0" y="362457"/>
                  </a:moveTo>
                  <a:lnTo>
                    <a:pt x="359156" y="0"/>
                  </a:lnTo>
                </a:path>
              </a:pathLst>
            </a:custGeom>
            <a:ln w="28575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095500" y="4167759"/>
              <a:ext cx="114300" cy="720725"/>
            </a:xfrm>
            <a:custGeom>
              <a:avLst/>
              <a:gdLst/>
              <a:ahLst/>
              <a:cxnLst/>
              <a:rect l="l" t="t" r="r" b="b"/>
              <a:pathLst>
                <a:path w="114300" h="720725">
                  <a:moveTo>
                    <a:pt x="76200" y="95250"/>
                  </a:moveTo>
                  <a:lnTo>
                    <a:pt x="38100" y="95250"/>
                  </a:lnTo>
                  <a:lnTo>
                    <a:pt x="38100" y="720344"/>
                  </a:lnTo>
                  <a:lnTo>
                    <a:pt x="76200" y="720344"/>
                  </a:lnTo>
                  <a:lnTo>
                    <a:pt x="76200" y="95250"/>
                  </a:lnTo>
                  <a:close/>
                </a:path>
                <a:path w="114300" h="720725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720725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5126" y="3998214"/>
              <a:ext cx="236016" cy="21183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58901" y="5353685"/>
              <a:ext cx="1240155" cy="114300"/>
            </a:xfrm>
            <a:custGeom>
              <a:avLst/>
              <a:gdLst/>
              <a:ahLst/>
              <a:cxnLst/>
              <a:rect l="l" t="t" r="r" b="b"/>
              <a:pathLst>
                <a:path w="1240155" h="114300">
                  <a:moveTo>
                    <a:pt x="1125448" y="0"/>
                  </a:moveTo>
                  <a:lnTo>
                    <a:pt x="1125448" y="114299"/>
                  </a:lnTo>
                  <a:lnTo>
                    <a:pt x="1201648" y="76199"/>
                  </a:lnTo>
                  <a:lnTo>
                    <a:pt x="1144498" y="76199"/>
                  </a:lnTo>
                  <a:lnTo>
                    <a:pt x="1144498" y="38099"/>
                  </a:lnTo>
                  <a:lnTo>
                    <a:pt x="1201648" y="38099"/>
                  </a:lnTo>
                  <a:lnTo>
                    <a:pt x="1125448" y="0"/>
                  </a:lnTo>
                  <a:close/>
                </a:path>
                <a:path w="1240155" h="114300">
                  <a:moveTo>
                    <a:pt x="1125448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1125448" y="76199"/>
                  </a:lnTo>
                  <a:lnTo>
                    <a:pt x="1125448" y="38099"/>
                  </a:lnTo>
                  <a:close/>
                </a:path>
                <a:path w="1240155" h="114300">
                  <a:moveTo>
                    <a:pt x="1201648" y="38099"/>
                  </a:moveTo>
                  <a:lnTo>
                    <a:pt x="1144498" y="38099"/>
                  </a:lnTo>
                  <a:lnTo>
                    <a:pt x="1144498" y="76199"/>
                  </a:lnTo>
                  <a:lnTo>
                    <a:pt x="1201648" y="76199"/>
                  </a:lnTo>
                  <a:lnTo>
                    <a:pt x="1239748" y="57149"/>
                  </a:lnTo>
                  <a:lnTo>
                    <a:pt x="1201648" y="38099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8650" y="5154676"/>
              <a:ext cx="508000" cy="51239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898650" y="5154676"/>
              <a:ext cx="508000" cy="512445"/>
            </a:xfrm>
            <a:custGeom>
              <a:avLst/>
              <a:gdLst/>
              <a:ahLst/>
              <a:cxnLst/>
              <a:rect l="l" t="t" r="r" b="b"/>
              <a:pathLst>
                <a:path w="508000" h="512445">
                  <a:moveTo>
                    <a:pt x="0" y="256159"/>
                  </a:moveTo>
                  <a:lnTo>
                    <a:pt x="4090" y="210112"/>
                  </a:lnTo>
                  <a:lnTo>
                    <a:pt x="15884" y="166774"/>
                  </a:lnTo>
                  <a:lnTo>
                    <a:pt x="34666" y="126868"/>
                  </a:lnTo>
                  <a:lnTo>
                    <a:pt x="59719" y="91116"/>
                  </a:lnTo>
                  <a:lnTo>
                    <a:pt x="90328" y="60243"/>
                  </a:lnTo>
                  <a:lnTo>
                    <a:pt x="125777" y="34972"/>
                  </a:lnTo>
                  <a:lnTo>
                    <a:pt x="165349" y="16025"/>
                  </a:lnTo>
                  <a:lnTo>
                    <a:pt x="208328" y="4126"/>
                  </a:lnTo>
                  <a:lnTo>
                    <a:pt x="254000" y="0"/>
                  </a:lnTo>
                  <a:lnTo>
                    <a:pt x="299671" y="4126"/>
                  </a:lnTo>
                  <a:lnTo>
                    <a:pt x="342650" y="16025"/>
                  </a:lnTo>
                  <a:lnTo>
                    <a:pt x="382222" y="34972"/>
                  </a:lnTo>
                  <a:lnTo>
                    <a:pt x="417671" y="60243"/>
                  </a:lnTo>
                  <a:lnTo>
                    <a:pt x="448280" y="91116"/>
                  </a:lnTo>
                  <a:lnTo>
                    <a:pt x="473333" y="126868"/>
                  </a:lnTo>
                  <a:lnTo>
                    <a:pt x="492115" y="166774"/>
                  </a:lnTo>
                  <a:lnTo>
                    <a:pt x="503909" y="210112"/>
                  </a:lnTo>
                  <a:lnTo>
                    <a:pt x="508000" y="256159"/>
                  </a:lnTo>
                  <a:lnTo>
                    <a:pt x="503909" y="302207"/>
                  </a:lnTo>
                  <a:lnTo>
                    <a:pt x="492115" y="345552"/>
                  </a:lnTo>
                  <a:lnTo>
                    <a:pt x="473333" y="385469"/>
                  </a:lnTo>
                  <a:lnTo>
                    <a:pt x="448280" y="421232"/>
                  </a:lnTo>
                  <a:lnTo>
                    <a:pt x="417671" y="452118"/>
                  </a:lnTo>
                  <a:lnTo>
                    <a:pt x="382222" y="477402"/>
                  </a:lnTo>
                  <a:lnTo>
                    <a:pt x="342650" y="496359"/>
                  </a:lnTo>
                  <a:lnTo>
                    <a:pt x="299671" y="508264"/>
                  </a:lnTo>
                  <a:lnTo>
                    <a:pt x="254000" y="512394"/>
                  </a:lnTo>
                  <a:lnTo>
                    <a:pt x="208328" y="508264"/>
                  </a:lnTo>
                  <a:lnTo>
                    <a:pt x="165349" y="496359"/>
                  </a:lnTo>
                  <a:lnTo>
                    <a:pt x="125777" y="477402"/>
                  </a:lnTo>
                  <a:lnTo>
                    <a:pt x="90328" y="452118"/>
                  </a:lnTo>
                  <a:lnTo>
                    <a:pt x="59719" y="421232"/>
                  </a:lnTo>
                  <a:lnTo>
                    <a:pt x="34666" y="385469"/>
                  </a:lnTo>
                  <a:lnTo>
                    <a:pt x="15884" y="345552"/>
                  </a:lnTo>
                  <a:lnTo>
                    <a:pt x="4090" y="302207"/>
                  </a:lnTo>
                  <a:lnTo>
                    <a:pt x="0" y="256159"/>
                  </a:lnTo>
                  <a:close/>
                </a:path>
              </a:pathLst>
            </a:custGeom>
            <a:ln w="28574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73072" y="5229733"/>
              <a:ext cx="359410" cy="362585"/>
            </a:xfrm>
            <a:custGeom>
              <a:avLst/>
              <a:gdLst/>
              <a:ahLst/>
              <a:cxnLst/>
              <a:rect l="l" t="t" r="r" b="b"/>
              <a:pathLst>
                <a:path w="359410" h="362585">
                  <a:moveTo>
                    <a:pt x="0" y="0"/>
                  </a:moveTo>
                  <a:lnTo>
                    <a:pt x="359156" y="362305"/>
                  </a:lnTo>
                </a:path>
              </a:pathLst>
            </a:custGeom>
            <a:ln w="28575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973072" y="5229733"/>
              <a:ext cx="359410" cy="362585"/>
            </a:xfrm>
            <a:custGeom>
              <a:avLst/>
              <a:gdLst/>
              <a:ahLst/>
              <a:cxnLst/>
              <a:rect l="l" t="t" r="r" b="b"/>
              <a:pathLst>
                <a:path w="359410" h="362585">
                  <a:moveTo>
                    <a:pt x="0" y="362305"/>
                  </a:moveTo>
                  <a:lnTo>
                    <a:pt x="359156" y="0"/>
                  </a:lnTo>
                </a:path>
              </a:pathLst>
            </a:custGeom>
            <a:ln w="28575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095500" y="5667070"/>
              <a:ext cx="114300" cy="720725"/>
            </a:xfrm>
            <a:custGeom>
              <a:avLst/>
              <a:gdLst/>
              <a:ahLst/>
              <a:cxnLst/>
              <a:rect l="l" t="t" r="r" b="b"/>
              <a:pathLst>
                <a:path w="114300" h="720725">
                  <a:moveTo>
                    <a:pt x="76200" y="95250"/>
                  </a:moveTo>
                  <a:lnTo>
                    <a:pt x="38100" y="95250"/>
                  </a:lnTo>
                  <a:lnTo>
                    <a:pt x="38100" y="720280"/>
                  </a:lnTo>
                  <a:lnTo>
                    <a:pt x="76200" y="720280"/>
                  </a:lnTo>
                  <a:lnTo>
                    <a:pt x="76200" y="95250"/>
                  </a:lnTo>
                  <a:close/>
                </a:path>
                <a:path w="114300" h="720725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720725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9030" y="5497576"/>
              <a:ext cx="236042" cy="21170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85615" y="4379937"/>
              <a:ext cx="1490472" cy="51730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785615" y="4379937"/>
              <a:ext cx="1490980" cy="517525"/>
            </a:xfrm>
            <a:custGeom>
              <a:avLst/>
              <a:gdLst/>
              <a:ahLst/>
              <a:cxnLst/>
              <a:rect l="l" t="t" r="r" b="b"/>
              <a:pathLst>
                <a:path w="1490979" h="517525">
                  <a:moveTo>
                    <a:pt x="0" y="517309"/>
                  </a:moveTo>
                  <a:lnTo>
                    <a:pt x="1490472" y="517309"/>
                  </a:lnTo>
                  <a:lnTo>
                    <a:pt x="1490472" y="0"/>
                  </a:lnTo>
                  <a:lnTo>
                    <a:pt x="0" y="0"/>
                  </a:lnTo>
                  <a:lnTo>
                    <a:pt x="0" y="517309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406650" y="3892550"/>
              <a:ext cx="4085590" cy="1537335"/>
            </a:xfrm>
            <a:custGeom>
              <a:avLst/>
              <a:gdLst/>
              <a:ahLst/>
              <a:cxnLst/>
              <a:rect l="l" t="t" r="r" b="b"/>
              <a:pathLst>
                <a:path w="4085590" h="1537335">
                  <a:moveTo>
                    <a:pt x="2181352" y="1118997"/>
                  </a:moveTo>
                  <a:lnTo>
                    <a:pt x="2171827" y="1099947"/>
                  </a:lnTo>
                  <a:lnTo>
                    <a:pt x="2124202" y="1004697"/>
                  </a:lnTo>
                  <a:lnTo>
                    <a:pt x="2067052" y="1118997"/>
                  </a:lnTo>
                  <a:lnTo>
                    <a:pt x="2105152" y="1118997"/>
                  </a:lnTo>
                  <a:lnTo>
                    <a:pt x="2105152" y="1499235"/>
                  </a:lnTo>
                  <a:lnTo>
                    <a:pt x="0" y="1499235"/>
                  </a:lnTo>
                  <a:lnTo>
                    <a:pt x="0" y="1537335"/>
                  </a:lnTo>
                  <a:lnTo>
                    <a:pt x="2143252" y="1537335"/>
                  </a:lnTo>
                  <a:lnTo>
                    <a:pt x="2143252" y="1518285"/>
                  </a:lnTo>
                  <a:lnTo>
                    <a:pt x="2143252" y="1499235"/>
                  </a:lnTo>
                  <a:lnTo>
                    <a:pt x="2143252" y="1118997"/>
                  </a:lnTo>
                  <a:lnTo>
                    <a:pt x="2181352" y="1118997"/>
                  </a:lnTo>
                  <a:close/>
                </a:path>
                <a:path w="4085590" h="1537335">
                  <a:moveTo>
                    <a:pt x="2181352" y="373126"/>
                  </a:moveTo>
                  <a:lnTo>
                    <a:pt x="2143252" y="373126"/>
                  </a:lnTo>
                  <a:lnTo>
                    <a:pt x="2143252" y="38100"/>
                  </a:lnTo>
                  <a:lnTo>
                    <a:pt x="2143252" y="19050"/>
                  </a:lnTo>
                  <a:lnTo>
                    <a:pt x="2143252" y="0"/>
                  </a:lnTo>
                  <a:lnTo>
                    <a:pt x="0" y="0"/>
                  </a:lnTo>
                  <a:lnTo>
                    <a:pt x="0" y="38100"/>
                  </a:lnTo>
                  <a:lnTo>
                    <a:pt x="2105152" y="38100"/>
                  </a:lnTo>
                  <a:lnTo>
                    <a:pt x="2105152" y="373126"/>
                  </a:lnTo>
                  <a:lnTo>
                    <a:pt x="2067052" y="373126"/>
                  </a:lnTo>
                  <a:lnTo>
                    <a:pt x="2124202" y="487426"/>
                  </a:lnTo>
                  <a:lnTo>
                    <a:pt x="2171827" y="392176"/>
                  </a:lnTo>
                  <a:lnTo>
                    <a:pt x="2181352" y="373126"/>
                  </a:lnTo>
                  <a:close/>
                </a:path>
                <a:path w="4085590" h="1537335">
                  <a:moveTo>
                    <a:pt x="4085590" y="746125"/>
                  </a:moveTo>
                  <a:lnTo>
                    <a:pt x="4047490" y="727075"/>
                  </a:lnTo>
                  <a:lnTo>
                    <a:pt x="3971290" y="688975"/>
                  </a:lnTo>
                  <a:lnTo>
                    <a:pt x="3971290" y="727075"/>
                  </a:lnTo>
                  <a:lnTo>
                    <a:pt x="2869438" y="727075"/>
                  </a:lnTo>
                  <a:lnTo>
                    <a:pt x="2869438" y="765175"/>
                  </a:lnTo>
                  <a:lnTo>
                    <a:pt x="3971290" y="765175"/>
                  </a:lnTo>
                  <a:lnTo>
                    <a:pt x="3971290" y="803275"/>
                  </a:lnTo>
                  <a:lnTo>
                    <a:pt x="4047490" y="765175"/>
                  </a:lnTo>
                  <a:lnTo>
                    <a:pt x="4085590" y="746125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2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2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5853" y="3569639"/>
              <a:ext cx="5823712" cy="2816479"/>
            </a:xfrm>
            <a:prstGeom prst="rect">
              <a:avLst/>
            </a:prstGeom>
          </p:spPr>
        </p:pic>
        <p:pic>
          <p:nvPicPr>
            <p:cNvPr id="33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Waveforms</a:t>
            </a:r>
            <a:r>
              <a:rPr spc="-80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spc="-25" dirty="0"/>
              <a:t>FSK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525780"/>
            <a:ext cx="12192000" cy="4687570"/>
            <a:chOff x="0" y="525780"/>
            <a:chExt cx="12192000" cy="46875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25780"/>
              <a:ext cx="12192000" cy="235204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846069"/>
              <a:ext cx="12058649" cy="2367153"/>
            </a:xfrm>
            <a:prstGeom prst="rect">
              <a:avLst/>
            </a:prstGeom>
          </p:spPr>
        </p:pic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617764"/>
            <a:ext cx="228600" cy="220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854" y="609600"/>
            <a:ext cx="275545" cy="220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B2EAF3-29C2-4F3C-B520-35EDB7654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42" y="44576"/>
            <a:ext cx="9118600" cy="492443"/>
          </a:xfrm>
        </p:spPr>
        <p:txBody>
          <a:bodyPr/>
          <a:lstStyle/>
          <a:p>
            <a:r>
              <a:rPr lang="en-US" dirty="0" smtClean="0"/>
              <a:t>BFSK </a:t>
            </a:r>
            <a:r>
              <a:rPr lang="en-US" dirty="0"/>
              <a:t>Signal Basics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9782C2A3-E458-43C0-B5CE-8CC3F529B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609600"/>
            <a:ext cx="7239000" cy="56749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05B88375-C77D-4FDE-9659-68AB21042C98}"/>
                  </a:ext>
                </a:extLst>
              </p:cNvPr>
              <p:cNvSpPr txBox="1"/>
              <p:nvPr/>
            </p:nvSpPr>
            <p:spPr>
              <a:xfrm>
                <a:off x="4114800" y="6248400"/>
                <a:ext cx="472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𝚫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𝐟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𝐅𝐫𝐞𝐪𝐮𝐞𝐧𝐜𝐲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𝐒𝐞𝐩𝐚𝐫𝐚𝐭𝐢𝐨𝐧</m:t>
                      </m:r>
                    </m:oMath>
                  </m:oMathPara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B88375-C77D-4FDE-9659-68AB21042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6248400"/>
                <a:ext cx="4724400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2ADCBAA4-D52D-4824-9BBB-6818F35480E1}"/>
              </a:ext>
            </a:extLst>
          </p:cNvPr>
          <p:cNvSpPr/>
          <p:nvPr/>
        </p:nvSpPr>
        <p:spPr>
          <a:xfrm>
            <a:off x="4800600" y="6248400"/>
            <a:ext cx="33528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802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100"/>
              </a:spcBef>
            </a:pPr>
            <a:r>
              <a:rPr dirty="0"/>
              <a:t>Bandwidth</a:t>
            </a:r>
            <a:r>
              <a:rPr spc="-5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lang="en-US" spc="-15" dirty="0" smtClean="0"/>
              <a:t>B</a:t>
            </a:r>
            <a:r>
              <a:rPr spc="-25" dirty="0" smtClean="0"/>
              <a:t>FSK</a:t>
            </a:r>
            <a:endParaRPr spc="-25" dirty="0"/>
          </a:p>
        </p:txBody>
      </p:sp>
      <p:sp>
        <p:nvSpPr>
          <p:cNvPr id="3" name="object 3"/>
          <p:cNvSpPr/>
          <p:nvPr/>
        </p:nvSpPr>
        <p:spPr>
          <a:xfrm>
            <a:off x="283464" y="771143"/>
            <a:ext cx="6373495" cy="2512060"/>
          </a:xfrm>
          <a:custGeom>
            <a:avLst/>
            <a:gdLst/>
            <a:ahLst/>
            <a:cxnLst/>
            <a:rect l="l" t="t" r="r" b="b"/>
            <a:pathLst>
              <a:path w="6373495" h="2512060">
                <a:moveTo>
                  <a:pt x="6373368" y="2109216"/>
                </a:moveTo>
                <a:lnTo>
                  <a:pt x="6335268" y="2090166"/>
                </a:lnTo>
                <a:lnTo>
                  <a:pt x="6259068" y="2052066"/>
                </a:lnTo>
                <a:lnTo>
                  <a:pt x="6259068" y="2090166"/>
                </a:lnTo>
                <a:lnTo>
                  <a:pt x="445770" y="2090166"/>
                </a:lnTo>
                <a:lnTo>
                  <a:pt x="445770" y="114300"/>
                </a:lnTo>
                <a:lnTo>
                  <a:pt x="483870" y="114300"/>
                </a:lnTo>
                <a:lnTo>
                  <a:pt x="474345" y="95250"/>
                </a:lnTo>
                <a:lnTo>
                  <a:pt x="426720" y="0"/>
                </a:lnTo>
                <a:lnTo>
                  <a:pt x="369570" y="114300"/>
                </a:lnTo>
                <a:lnTo>
                  <a:pt x="407670" y="114300"/>
                </a:lnTo>
                <a:lnTo>
                  <a:pt x="407670" y="2090166"/>
                </a:lnTo>
                <a:lnTo>
                  <a:pt x="0" y="2090166"/>
                </a:lnTo>
                <a:lnTo>
                  <a:pt x="0" y="2128266"/>
                </a:lnTo>
                <a:lnTo>
                  <a:pt x="407670" y="2128266"/>
                </a:lnTo>
                <a:lnTo>
                  <a:pt x="407670" y="2511552"/>
                </a:lnTo>
                <a:lnTo>
                  <a:pt x="445770" y="2511552"/>
                </a:lnTo>
                <a:lnTo>
                  <a:pt x="445770" y="2128266"/>
                </a:lnTo>
                <a:lnTo>
                  <a:pt x="6259068" y="2128266"/>
                </a:lnTo>
                <a:lnTo>
                  <a:pt x="6259068" y="2166366"/>
                </a:lnTo>
                <a:lnTo>
                  <a:pt x="6335268" y="2128266"/>
                </a:lnTo>
                <a:lnTo>
                  <a:pt x="6373368" y="2109216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74267" y="656590"/>
            <a:ext cx="1026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Amplitude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75628" y="2931921"/>
            <a:ext cx="10109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Frequency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3464" y="4110101"/>
            <a:ext cx="6373495" cy="2512060"/>
          </a:xfrm>
          <a:custGeom>
            <a:avLst/>
            <a:gdLst/>
            <a:ahLst/>
            <a:cxnLst/>
            <a:rect l="l" t="t" r="r" b="b"/>
            <a:pathLst>
              <a:path w="6373495" h="2512059">
                <a:moveTo>
                  <a:pt x="6373368" y="2109254"/>
                </a:moveTo>
                <a:lnTo>
                  <a:pt x="6335268" y="2090204"/>
                </a:lnTo>
                <a:lnTo>
                  <a:pt x="6259068" y="2052104"/>
                </a:lnTo>
                <a:lnTo>
                  <a:pt x="6259068" y="2090204"/>
                </a:lnTo>
                <a:lnTo>
                  <a:pt x="445770" y="2090204"/>
                </a:lnTo>
                <a:lnTo>
                  <a:pt x="445770" y="114300"/>
                </a:lnTo>
                <a:lnTo>
                  <a:pt x="483870" y="114300"/>
                </a:lnTo>
                <a:lnTo>
                  <a:pt x="474345" y="95250"/>
                </a:lnTo>
                <a:lnTo>
                  <a:pt x="426720" y="0"/>
                </a:lnTo>
                <a:lnTo>
                  <a:pt x="369570" y="114300"/>
                </a:lnTo>
                <a:lnTo>
                  <a:pt x="407670" y="114300"/>
                </a:lnTo>
                <a:lnTo>
                  <a:pt x="407670" y="2090204"/>
                </a:lnTo>
                <a:lnTo>
                  <a:pt x="0" y="2090204"/>
                </a:lnTo>
                <a:lnTo>
                  <a:pt x="0" y="2128304"/>
                </a:lnTo>
                <a:lnTo>
                  <a:pt x="407670" y="2128304"/>
                </a:lnTo>
                <a:lnTo>
                  <a:pt x="407670" y="2511590"/>
                </a:lnTo>
                <a:lnTo>
                  <a:pt x="445770" y="2511590"/>
                </a:lnTo>
                <a:lnTo>
                  <a:pt x="445770" y="2128304"/>
                </a:lnTo>
                <a:lnTo>
                  <a:pt x="6259068" y="2128304"/>
                </a:lnTo>
                <a:lnTo>
                  <a:pt x="6259068" y="2166404"/>
                </a:lnTo>
                <a:lnTo>
                  <a:pt x="6335268" y="2128304"/>
                </a:lnTo>
                <a:lnTo>
                  <a:pt x="6373368" y="2109254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175628" y="6271666"/>
            <a:ext cx="10109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Frequency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1140" y="3395852"/>
            <a:ext cx="4084954" cy="90043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1155"/>
              </a:spcBef>
              <a:buFont typeface="Wingdings"/>
              <a:buChar char=""/>
              <a:tabLst>
                <a:tab pos="36703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Minimum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Bandwidth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BFSK</a:t>
            </a:r>
            <a:endParaRPr sz="2400">
              <a:latin typeface="Calibri"/>
              <a:cs typeface="Calibri"/>
            </a:endParaRPr>
          </a:p>
          <a:p>
            <a:pPr marL="655320">
              <a:lnSpc>
                <a:spcPct val="100000"/>
              </a:lnSpc>
              <a:spcBef>
                <a:spcPts val="790"/>
              </a:spcBef>
            </a:pPr>
            <a:r>
              <a:rPr sz="1800" b="1" spc="-10" dirty="0">
                <a:latin typeface="Calibri"/>
                <a:cs typeface="Calibri"/>
              </a:rPr>
              <a:t>Amplitude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04975" y="1274317"/>
            <a:ext cx="3129280" cy="5076190"/>
            <a:chOff x="1704975" y="1274317"/>
            <a:chExt cx="3129280" cy="5076190"/>
          </a:xfrm>
        </p:grpSpPr>
        <p:sp>
          <p:nvSpPr>
            <p:cNvPr id="10" name="object 10"/>
            <p:cNvSpPr/>
            <p:nvPr/>
          </p:nvSpPr>
          <p:spPr>
            <a:xfrm>
              <a:off x="1704975" y="1476375"/>
              <a:ext cx="1148080" cy="1390650"/>
            </a:xfrm>
            <a:custGeom>
              <a:avLst/>
              <a:gdLst/>
              <a:ahLst/>
              <a:cxnLst/>
              <a:rect l="l" t="t" r="r" b="b"/>
              <a:pathLst>
                <a:path w="1148080" h="1390650">
                  <a:moveTo>
                    <a:pt x="0" y="1385951"/>
                  </a:moveTo>
                  <a:lnTo>
                    <a:pt x="18490" y="1320964"/>
                  </a:lnTo>
                  <a:lnTo>
                    <a:pt x="36979" y="1256105"/>
                  </a:lnTo>
                  <a:lnTo>
                    <a:pt x="55466" y="1191501"/>
                  </a:lnTo>
                  <a:lnTo>
                    <a:pt x="73950" y="1127279"/>
                  </a:lnTo>
                  <a:lnTo>
                    <a:pt x="92429" y="1063566"/>
                  </a:lnTo>
                  <a:lnTo>
                    <a:pt x="110903" y="1000489"/>
                  </a:lnTo>
                  <a:lnTo>
                    <a:pt x="129371" y="938176"/>
                  </a:lnTo>
                  <a:lnTo>
                    <a:pt x="147831" y="876752"/>
                  </a:lnTo>
                  <a:lnTo>
                    <a:pt x="166283" y="816346"/>
                  </a:lnTo>
                  <a:lnTo>
                    <a:pt x="184725" y="757083"/>
                  </a:lnTo>
                  <a:lnTo>
                    <a:pt x="203157" y="699093"/>
                  </a:lnTo>
                  <a:lnTo>
                    <a:pt x="221576" y="642500"/>
                  </a:lnTo>
                  <a:lnTo>
                    <a:pt x="239983" y="587434"/>
                  </a:lnTo>
                  <a:lnTo>
                    <a:pt x="258376" y="534019"/>
                  </a:lnTo>
                  <a:lnTo>
                    <a:pt x="276754" y="482385"/>
                  </a:lnTo>
                  <a:lnTo>
                    <a:pt x="295116" y="432657"/>
                  </a:lnTo>
                  <a:lnTo>
                    <a:pt x="313460" y="384963"/>
                  </a:lnTo>
                  <a:lnTo>
                    <a:pt x="331787" y="339429"/>
                  </a:lnTo>
                  <a:lnTo>
                    <a:pt x="350094" y="296183"/>
                  </a:lnTo>
                  <a:lnTo>
                    <a:pt x="368381" y="255353"/>
                  </a:lnTo>
                  <a:lnTo>
                    <a:pt x="386647" y="217064"/>
                  </a:lnTo>
                  <a:lnTo>
                    <a:pt x="404890" y="181445"/>
                  </a:lnTo>
                  <a:lnTo>
                    <a:pt x="441305" y="118721"/>
                  </a:lnTo>
                  <a:lnTo>
                    <a:pt x="477617" y="68198"/>
                  </a:lnTo>
                  <a:lnTo>
                    <a:pt x="513817" y="30892"/>
                  </a:lnTo>
                  <a:lnTo>
                    <a:pt x="549898" y="7821"/>
                  </a:lnTo>
                  <a:lnTo>
                    <a:pt x="585851" y="0"/>
                  </a:lnTo>
                  <a:lnTo>
                    <a:pt x="603764" y="2083"/>
                  </a:lnTo>
                  <a:lnTo>
                    <a:pt x="639491" y="17945"/>
                  </a:lnTo>
                  <a:lnTo>
                    <a:pt x="675091" y="48552"/>
                  </a:lnTo>
                  <a:lnTo>
                    <a:pt x="710573" y="92886"/>
                  </a:lnTo>
                  <a:lnTo>
                    <a:pt x="745947" y="149931"/>
                  </a:lnTo>
                  <a:lnTo>
                    <a:pt x="781221" y="218671"/>
                  </a:lnTo>
                  <a:lnTo>
                    <a:pt x="798824" y="257108"/>
                  </a:lnTo>
                  <a:lnTo>
                    <a:pt x="816404" y="298087"/>
                  </a:lnTo>
                  <a:lnTo>
                    <a:pt x="833965" y="341481"/>
                  </a:lnTo>
                  <a:lnTo>
                    <a:pt x="851506" y="387163"/>
                  </a:lnTo>
                  <a:lnTo>
                    <a:pt x="869029" y="435006"/>
                  </a:lnTo>
                  <a:lnTo>
                    <a:pt x="886534" y="484883"/>
                  </a:lnTo>
                  <a:lnTo>
                    <a:pt x="904024" y="536666"/>
                  </a:lnTo>
                  <a:lnTo>
                    <a:pt x="921499" y="590229"/>
                  </a:lnTo>
                  <a:lnTo>
                    <a:pt x="938960" y="645445"/>
                  </a:lnTo>
                  <a:lnTo>
                    <a:pt x="956409" y="702185"/>
                  </a:lnTo>
                  <a:lnTo>
                    <a:pt x="973845" y="760324"/>
                  </a:lnTo>
                  <a:lnTo>
                    <a:pt x="991272" y="819734"/>
                  </a:lnTo>
                  <a:lnTo>
                    <a:pt x="1008689" y="880288"/>
                  </a:lnTo>
                  <a:lnTo>
                    <a:pt x="1026098" y="941859"/>
                  </a:lnTo>
                  <a:lnTo>
                    <a:pt x="1043500" y="1004319"/>
                  </a:lnTo>
                  <a:lnTo>
                    <a:pt x="1060896" y="1067543"/>
                  </a:lnTo>
                  <a:lnTo>
                    <a:pt x="1078287" y="1131401"/>
                  </a:lnTo>
                  <a:lnTo>
                    <a:pt x="1095674" y="1195768"/>
                  </a:lnTo>
                  <a:lnTo>
                    <a:pt x="1113059" y="1260517"/>
                  </a:lnTo>
                  <a:lnTo>
                    <a:pt x="1130443" y="1325520"/>
                  </a:lnTo>
                  <a:lnTo>
                    <a:pt x="1147826" y="1390650"/>
                  </a:lnTo>
                </a:path>
              </a:pathLst>
            </a:custGeom>
            <a:ln w="28575">
              <a:solidFill>
                <a:srgbClr val="7E5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86175" y="1473200"/>
              <a:ext cx="1148080" cy="1390650"/>
            </a:xfrm>
            <a:custGeom>
              <a:avLst/>
              <a:gdLst/>
              <a:ahLst/>
              <a:cxnLst/>
              <a:rect l="l" t="t" r="r" b="b"/>
              <a:pathLst>
                <a:path w="1148079" h="1390650">
                  <a:moveTo>
                    <a:pt x="0" y="1385951"/>
                  </a:moveTo>
                  <a:lnTo>
                    <a:pt x="18490" y="1320964"/>
                  </a:lnTo>
                  <a:lnTo>
                    <a:pt x="36979" y="1256105"/>
                  </a:lnTo>
                  <a:lnTo>
                    <a:pt x="55466" y="1191501"/>
                  </a:lnTo>
                  <a:lnTo>
                    <a:pt x="73950" y="1127279"/>
                  </a:lnTo>
                  <a:lnTo>
                    <a:pt x="92429" y="1063566"/>
                  </a:lnTo>
                  <a:lnTo>
                    <a:pt x="110903" y="1000489"/>
                  </a:lnTo>
                  <a:lnTo>
                    <a:pt x="129371" y="938176"/>
                  </a:lnTo>
                  <a:lnTo>
                    <a:pt x="147831" y="876752"/>
                  </a:lnTo>
                  <a:lnTo>
                    <a:pt x="166283" y="816346"/>
                  </a:lnTo>
                  <a:lnTo>
                    <a:pt x="184725" y="757083"/>
                  </a:lnTo>
                  <a:lnTo>
                    <a:pt x="203157" y="699093"/>
                  </a:lnTo>
                  <a:lnTo>
                    <a:pt x="221576" y="642500"/>
                  </a:lnTo>
                  <a:lnTo>
                    <a:pt x="239983" y="587434"/>
                  </a:lnTo>
                  <a:lnTo>
                    <a:pt x="258376" y="534019"/>
                  </a:lnTo>
                  <a:lnTo>
                    <a:pt x="276754" y="482385"/>
                  </a:lnTo>
                  <a:lnTo>
                    <a:pt x="295116" y="432657"/>
                  </a:lnTo>
                  <a:lnTo>
                    <a:pt x="313460" y="384963"/>
                  </a:lnTo>
                  <a:lnTo>
                    <a:pt x="331787" y="339429"/>
                  </a:lnTo>
                  <a:lnTo>
                    <a:pt x="350094" y="296183"/>
                  </a:lnTo>
                  <a:lnTo>
                    <a:pt x="368381" y="255353"/>
                  </a:lnTo>
                  <a:lnTo>
                    <a:pt x="386647" y="217064"/>
                  </a:lnTo>
                  <a:lnTo>
                    <a:pt x="404890" y="181445"/>
                  </a:lnTo>
                  <a:lnTo>
                    <a:pt x="441305" y="118721"/>
                  </a:lnTo>
                  <a:lnTo>
                    <a:pt x="477617" y="68198"/>
                  </a:lnTo>
                  <a:lnTo>
                    <a:pt x="513817" y="30892"/>
                  </a:lnTo>
                  <a:lnTo>
                    <a:pt x="549898" y="7821"/>
                  </a:lnTo>
                  <a:lnTo>
                    <a:pt x="585851" y="0"/>
                  </a:lnTo>
                  <a:lnTo>
                    <a:pt x="603764" y="2083"/>
                  </a:lnTo>
                  <a:lnTo>
                    <a:pt x="639491" y="17945"/>
                  </a:lnTo>
                  <a:lnTo>
                    <a:pt x="675091" y="48552"/>
                  </a:lnTo>
                  <a:lnTo>
                    <a:pt x="710573" y="92886"/>
                  </a:lnTo>
                  <a:lnTo>
                    <a:pt x="745947" y="149931"/>
                  </a:lnTo>
                  <a:lnTo>
                    <a:pt x="781221" y="218671"/>
                  </a:lnTo>
                  <a:lnTo>
                    <a:pt x="798824" y="257108"/>
                  </a:lnTo>
                  <a:lnTo>
                    <a:pt x="816404" y="298087"/>
                  </a:lnTo>
                  <a:lnTo>
                    <a:pt x="833965" y="341481"/>
                  </a:lnTo>
                  <a:lnTo>
                    <a:pt x="851506" y="387163"/>
                  </a:lnTo>
                  <a:lnTo>
                    <a:pt x="869029" y="435006"/>
                  </a:lnTo>
                  <a:lnTo>
                    <a:pt x="886534" y="484883"/>
                  </a:lnTo>
                  <a:lnTo>
                    <a:pt x="904024" y="536666"/>
                  </a:lnTo>
                  <a:lnTo>
                    <a:pt x="921499" y="590229"/>
                  </a:lnTo>
                  <a:lnTo>
                    <a:pt x="938960" y="645445"/>
                  </a:lnTo>
                  <a:lnTo>
                    <a:pt x="956409" y="702185"/>
                  </a:lnTo>
                  <a:lnTo>
                    <a:pt x="973845" y="760324"/>
                  </a:lnTo>
                  <a:lnTo>
                    <a:pt x="991272" y="819734"/>
                  </a:lnTo>
                  <a:lnTo>
                    <a:pt x="1008689" y="880288"/>
                  </a:lnTo>
                  <a:lnTo>
                    <a:pt x="1026098" y="941859"/>
                  </a:lnTo>
                  <a:lnTo>
                    <a:pt x="1043500" y="1004319"/>
                  </a:lnTo>
                  <a:lnTo>
                    <a:pt x="1060896" y="1067543"/>
                  </a:lnTo>
                  <a:lnTo>
                    <a:pt x="1078287" y="1131401"/>
                  </a:lnTo>
                  <a:lnTo>
                    <a:pt x="1095674" y="1195768"/>
                  </a:lnTo>
                  <a:lnTo>
                    <a:pt x="1113059" y="1260517"/>
                  </a:lnTo>
                  <a:lnTo>
                    <a:pt x="1130443" y="1325520"/>
                  </a:lnTo>
                  <a:lnTo>
                    <a:pt x="1147826" y="1390650"/>
                  </a:lnTo>
                </a:path>
              </a:pathLst>
            </a:custGeom>
            <a:ln w="28575">
              <a:solidFill>
                <a:srgbClr val="7E5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04975" y="4837557"/>
              <a:ext cx="1148080" cy="1391285"/>
            </a:xfrm>
            <a:custGeom>
              <a:avLst/>
              <a:gdLst/>
              <a:ahLst/>
              <a:cxnLst/>
              <a:rect l="l" t="t" r="r" b="b"/>
              <a:pathLst>
                <a:path w="1148080" h="1391285">
                  <a:moveTo>
                    <a:pt x="0" y="1385925"/>
                  </a:moveTo>
                  <a:lnTo>
                    <a:pt x="18490" y="1320941"/>
                  </a:lnTo>
                  <a:lnTo>
                    <a:pt x="36979" y="1256084"/>
                  </a:lnTo>
                  <a:lnTo>
                    <a:pt x="55466" y="1191482"/>
                  </a:lnTo>
                  <a:lnTo>
                    <a:pt x="73950" y="1127262"/>
                  </a:lnTo>
                  <a:lnTo>
                    <a:pt x="92429" y="1063551"/>
                  </a:lnTo>
                  <a:lnTo>
                    <a:pt x="110903" y="1000476"/>
                  </a:lnTo>
                  <a:lnTo>
                    <a:pt x="129371" y="938163"/>
                  </a:lnTo>
                  <a:lnTo>
                    <a:pt x="147831" y="876741"/>
                  </a:lnTo>
                  <a:lnTo>
                    <a:pt x="166283" y="816336"/>
                  </a:lnTo>
                  <a:lnTo>
                    <a:pt x="184725" y="757075"/>
                  </a:lnTo>
                  <a:lnTo>
                    <a:pt x="203157" y="699086"/>
                  </a:lnTo>
                  <a:lnTo>
                    <a:pt x="221576" y="642494"/>
                  </a:lnTo>
                  <a:lnTo>
                    <a:pt x="239983" y="587428"/>
                  </a:lnTo>
                  <a:lnTo>
                    <a:pt x="258376" y="534015"/>
                  </a:lnTo>
                  <a:lnTo>
                    <a:pt x="276754" y="482381"/>
                  </a:lnTo>
                  <a:lnTo>
                    <a:pt x="295116" y="432654"/>
                  </a:lnTo>
                  <a:lnTo>
                    <a:pt x="313460" y="384960"/>
                  </a:lnTo>
                  <a:lnTo>
                    <a:pt x="331787" y="339427"/>
                  </a:lnTo>
                  <a:lnTo>
                    <a:pt x="350094" y="296182"/>
                  </a:lnTo>
                  <a:lnTo>
                    <a:pt x="368381" y="255352"/>
                  </a:lnTo>
                  <a:lnTo>
                    <a:pt x="386647" y="217063"/>
                  </a:lnTo>
                  <a:lnTo>
                    <a:pt x="404890" y="181444"/>
                  </a:lnTo>
                  <a:lnTo>
                    <a:pt x="441305" y="118720"/>
                  </a:lnTo>
                  <a:lnTo>
                    <a:pt x="477617" y="68198"/>
                  </a:lnTo>
                  <a:lnTo>
                    <a:pt x="513817" y="30892"/>
                  </a:lnTo>
                  <a:lnTo>
                    <a:pt x="549898" y="7821"/>
                  </a:lnTo>
                  <a:lnTo>
                    <a:pt x="585851" y="0"/>
                  </a:lnTo>
                  <a:lnTo>
                    <a:pt x="603764" y="2095"/>
                  </a:lnTo>
                  <a:lnTo>
                    <a:pt x="639491" y="17975"/>
                  </a:lnTo>
                  <a:lnTo>
                    <a:pt x="675091" y="48595"/>
                  </a:lnTo>
                  <a:lnTo>
                    <a:pt x="710573" y="92938"/>
                  </a:lnTo>
                  <a:lnTo>
                    <a:pt x="745947" y="149988"/>
                  </a:lnTo>
                  <a:lnTo>
                    <a:pt x="781221" y="218728"/>
                  </a:lnTo>
                  <a:lnTo>
                    <a:pt x="798824" y="257165"/>
                  </a:lnTo>
                  <a:lnTo>
                    <a:pt x="816404" y="298144"/>
                  </a:lnTo>
                  <a:lnTo>
                    <a:pt x="833965" y="341537"/>
                  </a:lnTo>
                  <a:lnTo>
                    <a:pt x="851506" y="387218"/>
                  </a:lnTo>
                  <a:lnTo>
                    <a:pt x="869029" y="435059"/>
                  </a:lnTo>
                  <a:lnTo>
                    <a:pt x="886534" y="484933"/>
                  </a:lnTo>
                  <a:lnTo>
                    <a:pt x="904024" y="536714"/>
                  </a:lnTo>
                  <a:lnTo>
                    <a:pt x="921499" y="590275"/>
                  </a:lnTo>
                  <a:lnTo>
                    <a:pt x="938960" y="645488"/>
                  </a:lnTo>
                  <a:lnTo>
                    <a:pt x="956409" y="702226"/>
                  </a:lnTo>
                  <a:lnTo>
                    <a:pt x="973845" y="760362"/>
                  </a:lnTo>
                  <a:lnTo>
                    <a:pt x="991272" y="819770"/>
                  </a:lnTo>
                  <a:lnTo>
                    <a:pt x="1008689" y="880322"/>
                  </a:lnTo>
                  <a:lnTo>
                    <a:pt x="1026098" y="941891"/>
                  </a:lnTo>
                  <a:lnTo>
                    <a:pt x="1043500" y="1004351"/>
                  </a:lnTo>
                  <a:lnTo>
                    <a:pt x="1060896" y="1067573"/>
                  </a:lnTo>
                  <a:lnTo>
                    <a:pt x="1078287" y="1131432"/>
                  </a:lnTo>
                  <a:lnTo>
                    <a:pt x="1095674" y="1195800"/>
                  </a:lnTo>
                  <a:lnTo>
                    <a:pt x="1113059" y="1260550"/>
                  </a:lnTo>
                  <a:lnTo>
                    <a:pt x="1130443" y="1325555"/>
                  </a:lnTo>
                  <a:lnTo>
                    <a:pt x="1147826" y="1390688"/>
                  </a:lnTo>
                </a:path>
              </a:pathLst>
            </a:custGeom>
            <a:ln w="28575">
              <a:solidFill>
                <a:srgbClr val="7E5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60675" y="4834382"/>
              <a:ext cx="1148080" cy="1391285"/>
            </a:xfrm>
            <a:custGeom>
              <a:avLst/>
              <a:gdLst/>
              <a:ahLst/>
              <a:cxnLst/>
              <a:rect l="l" t="t" r="r" b="b"/>
              <a:pathLst>
                <a:path w="1148079" h="1391285">
                  <a:moveTo>
                    <a:pt x="0" y="1385938"/>
                  </a:moveTo>
                  <a:lnTo>
                    <a:pt x="18490" y="1320964"/>
                  </a:lnTo>
                  <a:lnTo>
                    <a:pt x="36979" y="1256116"/>
                  </a:lnTo>
                  <a:lnTo>
                    <a:pt x="55466" y="1191521"/>
                  </a:lnTo>
                  <a:lnTo>
                    <a:pt x="73950" y="1127307"/>
                  </a:lnTo>
                  <a:lnTo>
                    <a:pt x="92429" y="1063601"/>
                  </a:lnTo>
                  <a:lnTo>
                    <a:pt x="110903" y="1000530"/>
                  </a:lnTo>
                  <a:lnTo>
                    <a:pt x="129371" y="938220"/>
                  </a:lnTo>
                  <a:lnTo>
                    <a:pt x="147831" y="876800"/>
                  </a:lnTo>
                  <a:lnTo>
                    <a:pt x="166283" y="816396"/>
                  </a:lnTo>
                  <a:lnTo>
                    <a:pt x="184725" y="757136"/>
                  </a:lnTo>
                  <a:lnTo>
                    <a:pt x="203157" y="699146"/>
                  </a:lnTo>
                  <a:lnTo>
                    <a:pt x="221576" y="642553"/>
                  </a:lnTo>
                  <a:lnTo>
                    <a:pt x="239983" y="587486"/>
                  </a:lnTo>
                  <a:lnTo>
                    <a:pt x="258376" y="534070"/>
                  </a:lnTo>
                  <a:lnTo>
                    <a:pt x="276754" y="482433"/>
                  </a:lnTo>
                  <a:lnTo>
                    <a:pt x="295116" y="432703"/>
                  </a:lnTo>
                  <a:lnTo>
                    <a:pt x="313460" y="385006"/>
                  </a:lnTo>
                  <a:lnTo>
                    <a:pt x="331787" y="339469"/>
                  </a:lnTo>
                  <a:lnTo>
                    <a:pt x="350094" y="296220"/>
                  </a:lnTo>
                  <a:lnTo>
                    <a:pt x="368381" y="255386"/>
                  </a:lnTo>
                  <a:lnTo>
                    <a:pt x="386647" y="217093"/>
                  </a:lnTo>
                  <a:lnTo>
                    <a:pt x="404890" y="181470"/>
                  </a:lnTo>
                  <a:lnTo>
                    <a:pt x="441305" y="118738"/>
                  </a:lnTo>
                  <a:lnTo>
                    <a:pt x="477617" y="68209"/>
                  </a:lnTo>
                  <a:lnTo>
                    <a:pt x="513817" y="30897"/>
                  </a:lnTo>
                  <a:lnTo>
                    <a:pt x="549898" y="7822"/>
                  </a:lnTo>
                  <a:lnTo>
                    <a:pt x="585851" y="0"/>
                  </a:lnTo>
                  <a:lnTo>
                    <a:pt x="603764" y="2095"/>
                  </a:lnTo>
                  <a:lnTo>
                    <a:pt x="639491" y="17978"/>
                  </a:lnTo>
                  <a:lnTo>
                    <a:pt x="675091" y="48602"/>
                  </a:lnTo>
                  <a:lnTo>
                    <a:pt x="710573" y="92952"/>
                  </a:lnTo>
                  <a:lnTo>
                    <a:pt x="745947" y="150010"/>
                  </a:lnTo>
                  <a:lnTo>
                    <a:pt x="781221" y="218759"/>
                  </a:lnTo>
                  <a:lnTo>
                    <a:pt x="798824" y="257200"/>
                  </a:lnTo>
                  <a:lnTo>
                    <a:pt x="816404" y="298182"/>
                  </a:lnTo>
                  <a:lnTo>
                    <a:pt x="833965" y="341579"/>
                  </a:lnTo>
                  <a:lnTo>
                    <a:pt x="851506" y="387263"/>
                  </a:lnTo>
                  <a:lnTo>
                    <a:pt x="869029" y="435108"/>
                  </a:lnTo>
                  <a:lnTo>
                    <a:pt x="886534" y="484986"/>
                  </a:lnTo>
                  <a:lnTo>
                    <a:pt x="904024" y="536769"/>
                  </a:lnTo>
                  <a:lnTo>
                    <a:pt x="921499" y="590332"/>
                  </a:lnTo>
                  <a:lnTo>
                    <a:pt x="938960" y="645546"/>
                  </a:lnTo>
                  <a:lnTo>
                    <a:pt x="956409" y="702286"/>
                  </a:lnTo>
                  <a:lnTo>
                    <a:pt x="973845" y="760423"/>
                  </a:lnTo>
                  <a:lnTo>
                    <a:pt x="991272" y="819830"/>
                  </a:lnTo>
                  <a:lnTo>
                    <a:pt x="1008689" y="880381"/>
                  </a:lnTo>
                  <a:lnTo>
                    <a:pt x="1026098" y="941948"/>
                  </a:lnTo>
                  <a:lnTo>
                    <a:pt x="1043500" y="1004405"/>
                  </a:lnTo>
                  <a:lnTo>
                    <a:pt x="1060896" y="1067623"/>
                  </a:lnTo>
                  <a:lnTo>
                    <a:pt x="1078287" y="1131477"/>
                  </a:lnTo>
                  <a:lnTo>
                    <a:pt x="1095674" y="1195839"/>
                  </a:lnTo>
                  <a:lnTo>
                    <a:pt x="1113059" y="1260581"/>
                  </a:lnTo>
                  <a:lnTo>
                    <a:pt x="1130443" y="1325577"/>
                  </a:lnTo>
                  <a:lnTo>
                    <a:pt x="1147826" y="1390700"/>
                  </a:lnTo>
                </a:path>
              </a:pathLst>
            </a:custGeom>
            <a:ln w="28575">
              <a:solidFill>
                <a:srgbClr val="7E5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287777" y="1274317"/>
              <a:ext cx="0" cy="1807210"/>
            </a:xfrm>
            <a:custGeom>
              <a:avLst/>
              <a:gdLst/>
              <a:ahLst/>
              <a:cxnLst/>
              <a:rect l="l" t="t" r="r" b="b"/>
              <a:pathLst>
                <a:path h="1807210">
                  <a:moveTo>
                    <a:pt x="0" y="0"/>
                  </a:moveTo>
                  <a:lnTo>
                    <a:pt x="0" y="1806829"/>
                  </a:lnTo>
                </a:path>
              </a:pathLst>
            </a:custGeom>
            <a:ln w="1905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7995" y="1274317"/>
              <a:ext cx="0" cy="1807210"/>
            </a:xfrm>
            <a:custGeom>
              <a:avLst/>
              <a:gdLst/>
              <a:ahLst/>
              <a:cxnLst/>
              <a:rect l="l" t="t" r="r" b="b"/>
              <a:pathLst>
                <a:path h="1807210">
                  <a:moveTo>
                    <a:pt x="0" y="0"/>
                  </a:moveTo>
                  <a:lnTo>
                    <a:pt x="0" y="1806829"/>
                  </a:lnTo>
                </a:path>
              </a:pathLst>
            </a:custGeom>
            <a:ln w="1905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94508" y="4543297"/>
              <a:ext cx="0" cy="1807210"/>
            </a:xfrm>
            <a:custGeom>
              <a:avLst/>
              <a:gdLst/>
              <a:ahLst/>
              <a:cxnLst/>
              <a:rect l="l" t="t" r="r" b="b"/>
              <a:pathLst>
                <a:path h="1807210">
                  <a:moveTo>
                    <a:pt x="0" y="0"/>
                  </a:moveTo>
                  <a:lnTo>
                    <a:pt x="0" y="1806867"/>
                  </a:lnTo>
                </a:path>
              </a:pathLst>
            </a:custGeom>
            <a:ln w="1905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443223" y="4543297"/>
              <a:ext cx="0" cy="1807210"/>
            </a:xfrm>
            <a:custGeom>
              <a:avLst/>
              <a:gdLst/>
              <a:ahLst/>
              <a:cxnLst/>
              <a:rect l="l" t="t" r="r" b="b"/>
              <a:pathLst>
                <a:path h="1807210">
                  <a:moveTo>
                    <a:pt x="0" y="0"/>
                  </a:moveTo>
                  <a:lnTo>
                    <a:pt x="0" y="1806867"/>
                  </a:lnTo>
                </a:path>
              </a:pathLst>
            </a:custGeom>
            <a:ln w="1905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Rectangle 18"/>
          <p:cNvSpPr/>
          <p:nvPr/>
        </p:nvSpPr>
        <p:spPr>
          <a:xfrm>
            <a:off x="231140" y="3962400"/>
            <a:ext cx="7084060" cy="281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373609"/>
            <a:ext cx="6438900" cy="140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object 18"/>
          <p:cNvPicPr/>
          <p:nvPr/>
        </p:nvPicPr>
        <p:blipFill rotWithShape="1">
          <a:blip r:embed="rId3" cstate="print"/>
          <a:srcRect b="46567"/>
          <a:stretch/>
        </p:blipFill>
        <p:spPr>
          <a:xfrm>
            <a:off x="0" y="1"/>
            <a:ext cx="12192000" cy="366442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100"/>
              </a:spcBef>
            </a:pPr>
            <a:r>
              <a:rPr dirty="0"/>
              <a:t>Multi-Level</a:t>
            </a:r>
            <a:r>
              <a:rPr spc="-90" dirty="0"/>
              <a:t> </a:t>
            </a:r>
            <a:r>
              <a:rPr spc="-25" dirty="0"/>
              <a:t>FSK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10400" y="468868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Number of Level=Number of Symbol =M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010400" y="468868"/>
            <a:ext cx="426720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267200" y="152400"/>
            <a:ext cx="381000" cy="4572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114800" y="304800"/>
            <a:ext cx="457200" cy="381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219200" y="1447800"/>
            <a:ext cx="381000" cy="381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n>
                  <a:solidFill>
                    <a:schemeClr val="bg1"/>
                  </a:solidFill>
                </a:ln>
              </a:rPr>
              <a:t>M</a:t>
            </a:r>
            <a:endParaRPr lang="en-US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66800" y="2743200"/>
            <a:ext cx="381000" cy="381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n>
                  <a:solidFill>
                    <a:schemeClr val="bg1"/>
                  </a:solidFill>
                </a:ln>
              </a:rPr>
              <a:t>M</a:t>
            </a:r>
            <a:endParaRPr lang="en-US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66800" y="4038600"/>
            <a:ext cx="381000" cy="381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n>
                  <a:solidFill>
                    <a:schemeClr val="bg1"/>
                  </a:solidFill>
                </a:ln>
              </a:rPr>
              <a:t>M</a:t>
            </a:r>
            <a:endParaRPr lang="en-US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209800" y="4800600"/>
            <a:ext cx="381000" cy="381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n>
                  <a:solidFill>
                    <a:schemeClr val="bg1"/>
                  </a:solidFill>
                </a:ln>
              </a:rPr>
              <a:t>M</a:t>
            </a:r>
            <a:endParaRPr lang="en-US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257800" y="5181600"/>
            <a:ext cx="228600" cy="381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n>
                  <a:solidFill>
                    <a:schemeClr val="bg1"/>
                  </a:solidFill>
                </a:ln>
              </a:rPr>
              <a:t>M</a:t>
            </a:r>
            <a:endParaRPr lang="en-US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5" name="Rectangle 14"/>
          <p:cNvSpPr/>
          <p:nvPr/>
        </p:nvSpPr>
        <p:spPr>
          <a:xfrm flipH="1">
            <a:off x="5791200" y="5638800"/>
            <a:ext cx="228600" cy="381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n>
                  <a:solidFill>
                    <a:schemeClr val="bg1"/>
                  </a:solidFill>
                </a:ln>
              </a:rPr>
              <a:t>M</a:t>
            </a:r>
            <a:endParaRPr lang="en-US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276600" y="6172200"/>
            <a:ext cx="2286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n>
                  <a:solidFill>
                    <a:schemeClr val="bg1"/>
                  </a:solidFill>
                </a:ln>
              </a:rPr>
              <a:t>M</a:t>
            </a:r>
            <a:endParaRPr lang="en-US" b="1" dirty="0">
              <a:ln>
                <a:solidFill>
                  <a:schemeClr val="bg1"/>
                </a:solidFill>
              </a:ln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-24796"/>
            <a:ext cx="5073650" cy="96583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/>
              <a:t>FSK</a:t>
            </a:r>
            <a:r>
              <a:rPr spc="-50" dirty="0"/>
              <a:t> </a:t>
            </a:r>
            <a:r>
              <a:rPr spc="-10" dirty="0"/>
              <a:t>Demodulation</a:t>
            </a:r>
          </a:p>
          <a:p>
            <a:pPr marL="75565">
              <a:lnSpc>
                <a:spcPct val="100000"/>
              </a:lnSpc>
              <a:spcBef>
                <a:spcPts val="375"/>
              </a:spcBef>
            </a:pPr>
            <a:r>
              <a:rPr sz="2200" u="sng" spc="-1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</a:rPr>
              <a:t>Synchronous</a:t>
            </a:r>
            <a:r>
              <a:rPr sz="2200" u="sng" spc="-45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</a:rPr>
              <a:t> </a:t>
            </a:r>
            <a:r>
              <a:rPr sz="2200" u="sng" spc="-1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</a:rPr>
              <a:t>(Coherent)</a:t>
            </a:r>
            <a:r>
              <a:rPr sz="2200" u="sng" spc="-5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</a:rPr>
              <a:t> </a:t>
            </a:r>
            <a:r>
              <a:rPr sz="2200" u="sng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</a:rPr>
              <a:t>FSK</a:t>
            </a:r>
            <a:r>
              <a:rPr sz="2200" u="sng" spc="-55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</a:rPr>
              <a:t> </a:t>
            </a:r>
            <a:r>
              <a:rPr sz="2200" u="sng" spc="-1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</a:rPr>
              <a:t>Demodulation</a:t>
            </a:r>
            <a:endParaRPr sz="2200"/>
          </a:p>
        </p:txBody>
      </p:sp>
      <p:sp>
        <p:nvSpPr>
          <p:cNvPr id="3" name="object 3"/>
          <p:cNvSpPr/>
          <p:nvPr/>
        </p:nvSpPr>
        <p:spPr>
          <a:xfrm>
            <a:off x="6102095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19050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223253" y="586486"/>
            <a:ext cx="57289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u="sng" spc="-1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Calibri"/>
                <a:cs typeface="Calibri"/>
              </a:rPr>
              <a:t>Asynchronous</a:t>
            </a:r>
            <a:r>
              <a:rPr sz="2200" b="1" u="sng" spc="-35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Calibri"/>
                <a:cs typeface="Calibri"/>
              </a:rPr>
              <a:t> </a:t>
            </a:r>
            <a:r>
              <a:rPr sz="2200" b="1" u="sng" spc="-2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Calibri"/>
                <a:cs typeface="Calibri"/>
              </a:rPr>
              <a:t>(Non-</a:t>
            </a:r>
            <a:r>
              <a:rPr sz="2200" b="1" u="sng" spc="-1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Calibri"/>
                <a:cs typeface="Calibri"/>
              </a:rPr>
              <a:t>Coherent)</a:t>
            </a:r>
            <a:r>
              <a:rPr sz="2200" b="1" u="sng" spc="-15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Calibri"/>
                <a:cs typeface="Calibri"/>
              </a:rPr>
              <a:t> </a:t>
            </a:r>
            <a:r>
              <a:rPr sz="2200" b="1" u="sng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Calibri"/>
                <a:cs typeface="Calibri"/>
              </a:rPr>
              <a:t>FSK</a:t>
            </a:r>
            <a:r>
              <a:rPr sz="2200" b="1" u="sng" spc="-6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Calibri"/>
                <a:cs typeface="Calibri"/>
              </a:rPr>
              <a:t> </a:t>
            </a:r>
            <a:r>
              <a:rPr sz="2200" b="1" u="sng" spc="-1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Calibri"/>
                <a:cs typeface="Calibri"/>
              </a:rPr>
              <a:t>Demodulation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107" y="1180444"/>
            <a:ext cx="5911770" cy="319854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54877" y="1320589"/>
            <a:ext cx="5714464" cy="257494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24739" y="4538598"/>
            <a:ext cx="481520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469265" algn="l"/>
              </a:tabLst>
            </a:pP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Pro:</a:t>
            </a:r>
            <a:r>
              <a:rPr sz="2400" b="1" spc="-6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85622"/>
                </a:solidFill>
                <a:latin typeface="Calibri"/>
                <a:cs typeface="Calibri"/>
              </a:rPr>
              <a:t>Efficient</a:t>
            </a:r>
            <a:r>
              <a:rPr sz="2400" b="1" spc="-4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85622"/>
                </a:solidFill>
                <a:latin typeface="Calibri"/>
                <a:cs typeface="Calibri"/>
              </a:rPr>
              <a:t>Method.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"/>
              <a:tabLst>
                <a:tab pos="469265" algn="l"/>
              </a:tabLst>
            </a:pP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Con:</a:t>
            </a:r>
            <a:r>
              <a:rPr sz="2400" b="1" spc="-4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Need</a:t>
            </a:r>
            <a:r>
              <a:rPr sz="2400" b="1" spc="-4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of</a:t>
            </a:r>
            <a:r>
              <a:rPr sz="2400" b="1" spc="-4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Oscillator</a:t>
            </a:r>
            <a:r>
              <a:rPr sz="2400" b="1" spc="-4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for</a:t>
            </a:r>
            <a:r>
              <a:rPr sz="2400" b="1" spc="-4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85622"/>
                </a:solidFill>
                <a:latin typeface="Calibri"/>
                <a:cs typeface="Calibri"/>
              </a:rPr>
              <a:t>Carrier.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00596" y="4538598"/>
            <a:ext cx="51873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469900" algn="l"/>
              </a:tabLst>
            </a:pP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Pro:</a:t>
            </a:r>
            <a:r>
              <a:rPr sz="2400" b="1" spc="-5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No</a:t>
            </a:r>
            <a:r>
              <a:rPr sz="2400" b="1" spc="-6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Need</a:t>
            </a:r>
            <a:r>
              <a:rPr sz="2400" b="1" spc="-3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of</a:t>
            </a:r>
            <a:r>
              <a:rPr sz="2400" b="1" spc="-5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Oscillator</a:t>
            </a:r>
            <a:r>
              <a:rPr sz="2400" b="1" spc="-3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for</a:t>
            </a:r>
            <a:r>
              <a:rPr sz="2400" b="1" spc="-4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85622"/>
                </a:solidFill>
                <a:latin typeface="Calibri"/>
                <a:cs typeface="Calibri"/>
              </a:rPr>
              <a:t>Carrier.</a:t>
            </a: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"/>
              <a:tabLst>
                <a:tab pos="469900" algn="l"/>
              </a:tabLst>
            </a:pP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Con:</a:t>
            </a:r>
            <a:r>
              <a:rPr sz="2400" b="1" spc="-5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Poor</a:t>
            </a:r>
            <a:r>
              <a:rPr sz="2400" b="1" spc="-5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85622"/>
                </a:solidFill>
                <a:latin typeface="Calibri"/>
                <a:cs typeface="Calibri"/>
              </a:rPr>
              <a:t>Performance</a:t>
            </a:r>
            <a:r>
              <a:rPr sz="2400" b="1" spc="-4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(Less</a:t>
            </a:r>
            <a:r>
              <a:rPr sz="2400" b="1" spc="-4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385622"/>
                </a:solidFill>
                <a:latin typeface="Calibri"/>
                <a:cs typeface="Calibri"/>
              </a:rPr>
              <a:t>SNR)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Constellation</a:t>
            </a:r>
            <a:r>
              <a:rPr spc="-85" dirty="0"/>
              <a:t> </a:t>
            </a:r>
            <a:r>
              <a:rPr dirty="0"/>
              <a:t>Diagram</a:t>
            </a:r>
            <a:r>
              <a:rPr spc="-8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5" dirty="0"/>
              <a:t>FSK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4739" y="600583"/>
            <a:ext cx="1575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BFSK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8066" y="1389380"/>
            <a:ext cx="5410200" cy="304165"/>
            <a:chOff x="478066" y="1389380"/>
            <a:chExt cx="5410200" cy="304165"/>
          </a:xfrm>
        </p:grpSpPr>
        <p:sp>
          <p:nvSpPr>
            <p:cNvPr id="5" name="object 5"/>
            <p:cNvSpPr/>
            <p:nvPr/>
          </p:nvSpPr>
          <p:spPr>
            <a:xfrm>
              <a:off x="478066" y="1471549"/>
              <a:ext cx="5410200" cy="114300"/>
            </a:xfrm>
            <a:custGeom>
              <a:avLst/>
              <a:gdLst/>
              <a:ahLst/>
              <a:cxnLst/>
              <a:rect l="l" t="t" r="r" b="b"/>
              <a:pathLst>
                <a:path w="5410200" h="114300">
                  <a:moveTo>
                    <a:pt x="5295480" y="0"/>
                  </a:moveTo>
                  <a:lnTo>
                    <a:pt x="5295480" y="114300"/>
                  </a:lnTo>
                  <a:lnTo>
                    <a:pt x="5371680" y="76200"/>
                  </a:lnTo>
                  <a:lnTo>
                    <a:pt x="5314530" y="76200"/>
                  </a:lnTo>
                  <a:lnTo>
                    <a:pt x="5314530" y="38100"/>
                  </a:lnTo>
                  <a:lnTo>
                    <a:pt x="5371680" y="38100"/>
                  </a:lnTo>
                  <a:lnTo>
                    <a:pt x="5295480" y="0"/>
                  </a:lnTo>
                  <a:close/>
                </a:path>
                <a:path w="5410200" h="114300">
                  <a:moveTo>
                    <a:pt x="5295480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295480" y="76200"/>
                  </a:lnTo>
                  <a:lnTo>
                    <a:pt x="5295480" y="38100"/>
                  </a:lnTo>
                  <a:close/>
                </a:path>
                <a:path w="5410200" h="114300">
                  <a:moveTo>
                    <a:pt x="5371680" y="38100"/>
                  </a:moveTo>
                  <a:lnTo>
                    <a:pt x="5314530" y="38100"/>
                  </a:lnTo>
                  <a:lnTo>
                    <a:pt x="5314530" y="76200"/>
                  </a:lnTo>
                  <a:lnTo>
                    <a:pt x="5371680" y="76200"/>
                  </a:lnTo>
                  <a:lnTo>
                    <a:pt x="5409780" y="57150"/>
                  </a:lnTo>
                  <a:lnTo>
                    <a:pt x="5371680" y="381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91639" y="1398905"/>
              <a:ext cx="288289" cy="28498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191639" y="1398905"/>
              <a:ext cx="288290" cy="285115"/>
            </a:xfrm>
            <a:custGeom>
              <a:avLst/>
              <a:gdLst/>
              <a:ahLst/>
              <a:cxnLst/>
              <a:rect l="l" t="t" r="r" b="b"/>
              <a:pathLst>
                <a:path w="288289" h="285114">
                  <a:moveTo>
                    <a:pt x="0" y="69596"/>
                  </a:moveTo>
                  <a:lnTo>
                    <a:pt x="68072" y="0"/>
                  </a:lnTo>
                  <a:lnTo>
                    <a:pt x="144145" y="74295"/>
                  </a:lnTo>
                  <a:lnTo>
                    <a:pt x="220218" y="0"/>
                  </a:lnTo>
                  <a:lnTo>
                    <a:pt x="288290" y="69596"/>
                  </a:lnTo>
                  <a:lnTo>
                    <a:pt x="213868" y="142494"/>
                  </a:lnTo>
                  <a:lnTo>
                    <a:pt x="288290" y="215265"/>
                  </a:lnTo>
                  <a:lnTo>
                    <a:pt x="220218" y="284988"/>
                  </a:lnTo>
                  <a:lnTo>
                    <a:pt x="144145" y="210566"/>
                  </a:lnTo>
                  <a:lnTo>
                    <a:pt x="68072" y="284988"/>
                  </a:lnTo>
                  <a:lnTo>
                    <a:pt x="0" y="215265"/>
                  </a:lnTo>
                  <a:lnTo>
                    <a:pt x="74422" y="142494"/>
                  </a:lnTo>
                  <a:lnTo>
                    <a:pt x="0" y="69596"/>
                  </a:lnTo>
                  <a:close/>
                </a:path>
              </a:pathLst>
            </a:custGeom>
            <a:ln w="19050">
              <a:solidFill>
                <a:srgbClr val="843B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967221" y="1140078"/>
            <a:ext cx="1931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Frequency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Axis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7263" y="1692021"/>
            <a:ext cx="1746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Symbol</a:t>
            </a:r>
            <a:r>
              <a:rPr sz="1800" b="1" spc="-50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for</a:t>
            </a:r>
            <a:r>
              <a:rPr sz="1800" b="1" spc="-35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Logic</a:t>
            </a:r>
            <a:r>
              <a:rPr sz="1800" b="1" spc="-35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843B0B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72991" y="1389380"/>
            <a:ext cx="307340" cy="304165"/>
            <a:chOff x="3872991" y="1389380"/>
            <a:chExt cx="307340" cy="30416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2516" y="1398905"/>
              <a:ext cx="288289" cy="28498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882516" y="1398905"/>
              <a:ext cx="288290" cy="285115"/>
            </a:xfrm>
            <a:custGeom>
              <a:avLst/>
              <a:gdLst/>
              <a:ahLst/>
              <a:cxnLst/>
              <a:rect l="l" t="t" r="r" b="b"/>
              <a:pathLst>
                <a:path w="288289" h="285114">
                  <a:moveTo>
                    <a:pt x="0" y="69596"/>
                  </a:moveTo>
                  <a:lnTo>
                    <a:pt x="68072" y="0"/>
                  </a:lnTo>
                  <a:lnTo>
                    <a:pt x="144145" y="74295"/>
                  </a:lnTo>
                  <a:lnTo>
                    <a:pt x="220218" y="0"/>
                  </a:lnTo>
                  <a:lnTo>
                    <a:pt x="288290" y="69596"/>
                  </a:lnTo>
                  <a:lnTo>
                    <a:pt x="213868" y="142494"/>
                  </a:lnTo>
                  <a:lnTo>
                    <a:pt x="288290" y="215265"/>
                  </a:lnTo>
                  <a:lnTo>
                    <a:pt x="220218" y="284988"/>
                  </a:lnTo>
                  <a:lnTo>
                    <a:pt x="144145" y="210566"/>
                  </a:lnTo>
                  <a:lnTo>
                    <a:pt x="68072" y="284988"/>
                  </a:lnTo>
                  <a:lnTo>
                    <a:pt x="0" y="215265"/>
                  </a:lnTo>
                  <a:lnTo>
                    <a:pt x="74422" y="142494"/>
                  </a:lnTo>
                  <a:lnTo>
                    <a:pt x="0" y="69596"/>
                  </a:lnTo>
                  <a:close/>
                </a:path>
              </a:pathLst>
            </a:custGeom>
            <a:ln w="19050">
              <a:solidFill>
                <a:srgbClr val="843B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058414" y="1710944"/>
            <a:ext cx="1746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Symbol</a:t>
            </a:r>
            <a:r>
              <a:rPr sz="1800" b="1" spc="-50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for</a:t>
            </a:r>
            <a:r>
              <a:rPr sz="1800" b="1" spc="-35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Logic</a:t>
            </a:r>
            <a:r>
              <a:rPr sz="1800" b="1" spc="-35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843B0B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4739" y="2441575"/>
            <a:ext cx="1651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4-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FSK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78066" y="3305936"/>
            <a:ext cx="5410200" cy="304165"/>
            <a:chOff x="478066" y="3305936"/>
            <a:chExt cx="5410200" cy="304165"/>
          </a:xfrm>
        </p:grpSpPr>
        <p:sp>
          <p:nvSpPr>
            <p:cNvPr id="16" name="object 16"/>
            <p:cNvSpPr/>
            <p:nvPr/>
          </p:nvSpPr>
          <p:spPr>
            <a:xfrm>
              <a:off x="478066" y="3413505"/>
              <a:ext cx="5410200" cy="114300"/>
            </a:xfrm>
            <a:custGeom>
              <a:avLst/>
              <a:gdLst/>
              <a:ahLst/>
              <a:cxnLst/>
              <a:rect l="l" t="t" r="r" b="b"/>
              <a:pathLst>
                <a:path w="5410200" h="114300">
                  <a:moveTo>
                    <a:pt x="5295480" y="0"/>
                  </a:moveTo>
                  <a:lnTo>
                    <a:pt x="5295480" y="114300"/>
                  </a:lnTo>
                  <a:lnTo>
                    <a:pt x="5371680" y="76200"/>
                  </a:lnTo>
                  <a:lnTo>
                    <a:pt x="5314530" y="76200"/>
                  </a:lnTo>
                  <a:lnTo>
                    <a:pt x="5314530" y="38100"/>
                  </a:lnTo>
                  <a:lnTo>
                    <a:pt x="5371680" y="38100"/>
                  </a:lnTo>
                  <a:lnTo>
                    <a:pt x="5295480" y="0"/>
                  </a:lnTo>
                  <a:close/>
                </a:path>
                <a:path w="5410200" h="114300">
                  <a:moveTo>
                    <a:pt x="5295480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295480" y="76200"/>
                  </a:lnTo>
                  <a:lnTo>
                    <a:pt x="5295480" y="38100"/>
                  </a:lnTo>
                  <a:close/>
                </a:path>
                <a:path w="5410200" h="114300">
                  <a:moveTo>
                    <a:pt x="5371680" y="38100"/>
                  </a:moveTo>
                  <a:lnTo>
                    <a:pt x="5314530" y="38100"/>
                  </a:lnTo>
                  <a:lnTo>
                    <a:pt x="5314530" y="76200"/>
                  </a:lnTo>
                  <a:lnTo>
                    <a:pt x="5371680" y="76200"/>
                  </a:lnTo>
                  <a:lnTo>
                    <a:pt x="5409780" y="57150"/>
                  </a:lnTo>
                  <a:lnTo>
                    <a:pt x="5371680" y="381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9388" y="3315461"/>
              <a:ext cx="288340" cy="28498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099388" y="3315461"/>
              <a:ext cx="288925" cy="285115"/>
            </a:xfrm>
            <a:custGeom>
              <a:avLst/>
              <a:gdLst/>
              <a:ahLst/>
              <a:cxnLst/>
              <a:rect l="l" t="t" r="r" b="b"/>
              <a:pathLst>
                <a:path w="288925" h="285114">
                  <a:moveTo>
                    <a:pt x="0" y="69723"/>
                  </a:moveTo>
                  <a:lnTo>
                    <a:pt x="68122" y="0"/>
                  </a:lnTo>
                  <a:lnTo>
                    <a:pt x="144195" y="74295"/>
                  </a:lnTo>
                  <a:lnTo>
                    <a:pt x="220268" y="0"/>
                  </a:lnTo>
                  <a:lnTo>
                    <a:pt x="288340" y="69723"/>
                  </a:lnTo>
                  <a:lnTo>
                    <a:pt x="213918" y="142494"/>
                  </a:lnTo>
                  <a:lnTo>
                    <a:pt x="288340" y="215265"/>
                  </a:lnTo>
                  <a:lnTo>
                    <a:pt x="220268" y="284988"/>
                  </a:lnTo>
                  <a:lnTo>
                    <a:pt x="144195" y="210566"/>
                  </a:lnTo>
                  <a:lnTo>
                    <a:pt x="68122" y="284988"/>
                  </a:lnTo>
                  <a:lnTo>
                    <a:pt x="0" y="215265"/>
                  </a:lnTo>
                  <a:lnTo>
                    <a:pt x="74485" y="142494"/>
                  </a:lnTo>
                  <a:lnTo>
                    <a:pt x="0" y="69723"/>
                  </a:lnTo>
                  <a:close/>
                </a:path>
              </a:pathLst>
            </a:custGeom>
            <a:ln w="19049">
              <a:solidFill>
                <a:srgbClr val="843B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967221" y="3082544"/>
            <a:ext cx="1931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Frequency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Axis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10488" y="3596385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843B0B"/>
                </a:solidFill>
                <a:latin typeface="Calibri"/>
                <a:cs typeface="Calibri"/>
              </a:rPr>
              <a:t>00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140457" y="3305936"/>
            <a:ext cx="307975" cy="304165"/>
            <a:chOff x="2140457" y="3305936"/>
            <a:chExt cx="307975" cy="304165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49982" y="3315461"/>
              <a:ext cx="288417" cy="28498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149982" y="3315461"/>
              <a:ext cx="288925" cy="285115"/>
            </a:xfrm>
            <a:custGeom>
              <a:avLst/>
              <a:gdLst/>
              <a:ahLst/>
              <a:cxnLst/>
              <a:rect l="l" t="t" r="r" b="b"/>
              <a:pathLst>
                <a:path w="288925" h="285114">
                  <a:moveTo>
                    <a:pt x="0" y="69723"/>
                  </a:moveTo>
                  <a:lnTo>
                    <a:pt x="68199" y="0"/>
                  </a:lnTo>
                  <a:lnTo>
                    <a:pt x="144272" y="74295"/>
                  </a:lnTo>
                  <a:lnTo>
                    <a:pt x="220345" y="0"/>
                  </a:lnTo>
                  <a:lnTo>
                    <a:pt x="288417" y="69723"/>
                  </a:lnTo>
                  <a:lnTo>
                    <a:pt x="213868" y="142494"/>
                  </a:lnTo>
                  <a:lnTo>
                    <a:pt x="288417" y="215265"/>
                  </a:lnTo>
                  <a:lnTo>
                    <a:pt x="220345" y="284988"/>
                  </a:lnTo>
                  <a:lnTo>
                    <a:pt x="144272" y="210566"/>
                  </a:lnTo>
                  <a:lnTo>
                    <a:pt x="68199" y="284988"/>
                  </a:lnTo>
                  <a:lnTo>
                    <a:pt x="0" y="215265"/>
                  </a:lnTo>
                  <a:lnTo>
                    <a:pt x="74549" y="142494"/>
                  </a:lnTo>
                  <a:lnTo>
                    <a:pt x="0" y="69723"/>
                  </a:lnTo>
                  <a:close/>
                </a:path>
              </a:pathLst>
            </a:custGeom>
            <a:ln w="19050">
              <a:solidFill>
                <a:srgbClr val="843B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161413" y="3596385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843B0B"/>
                </a:solidFill>
                <a:latin typeface="Calibri"/>
                <a:cs typeface="Calibri"/>
              </a:rPr>
              <a:t>01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191255" y="3305936"/>
            <a:ext cx="307975" cy="304165"/>
            <a:chOff x="3191255" y="3305936"/>
            <a:chExt cx="307975" cy="304165"/>
          </a:xfrm>
        </p:grpSpPr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00780" y="3315461"/>
              <a:ext cx="288417" cy="28498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200780" y="3315461"/>
              <a:ext cx="288925" cy="285115"/>
            </a:xfrm>
            <a:custGeom>
              <a:avLst/>
              <a:gdLst/>
              <a:ahLst/>
              <a:cxnLst/>
              <a:rect l="l" t="t" r="r" b="b"/>
              <a:pathLst>
                <a:path w="288925" h="285114">
                  <a:moveTo>
                    <a:pt x="0" y="69723"/>
                  </a:moveTo>
                  <a:lnTo>
                    <a:pt x="68199" y="0"/>
                  </a:lnTo>
                  <a:lnTo>
                    <a:pt x="144272" y="74295"/>
                  </a:lnTo>
                  <a:lnTo>
                    <a:pt x="220345" y="0"/>
                  </a:lnTo>
                  <a:lnTo>
                    <a:pt x="288417" y="69723"/>
                  </a:lnTo>
                  <a:lnTo>
                    <a:pt x="213868" y="142494"/>
                  </a:lnTo>
                  <a:lnTo>
                    <a:pt x="288417" y="215265"/>
                  </a:lnTo>
                  <a:lnTo>
                    <a:pt x="220345" y="284988"/>
                  </a:lnTo>
                  <a:lnTo>
                    <a:pt x="144272" y="210566"/>
                  </a:lnTo>
                  <a:lnTo>
                    <a:pt x="68199" y="284988"/>
                  </a:lnTo>
                  <a:lnTo>
                    <a:pt x="0" y="215265"/>
                  </a:lnTo>
                  <a:lnTo>
                    <a:pt x="74549" y="142494"/>
                  </a:lnTo>
                  <a:lnTo>
                    <a:pt x="0" y="69723"/>
                  </a:lnTo>
                  <a:close/>
                </a:path>
              </a:pathLst>
            </a:custGeom>
            <a:ln w="19050">
              <a:solidFill>
                <a:srgbClr val="843B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212083" y="3596385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843B0B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280027" y="3305936"/>
            <a:ext cx="307975" cy="304165"/>
            <a:chOff x="4280027" y="3305936"/>
            <a:chExt cx="307975" cy="304165"/>
          </a:xfrm>
        </p:grpSpPr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89552" y="3315461"/>
              <a:ext cx="288416" cy="284988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289552" y="3315461"/>
              <a:ext cx="288925" cy="285115"/>
            </a:xfrm>
            <a:custGeom>
              <a:avLst/>
              <a:gdLst/>
              <a:ahLst/>
              <a:cxnLst/>
              <a:rect l="l" t="t" r="r" b="b"/>
              <a:pathLst>
                <a:path w="288925" h="285114">
                  <a:moveTo>
                    <a:pt x="0" y="69723"/>
                  </a:moveTo>
                  <a:lnTo>
                    <a:pt x="68072" y="0"/>
                  </a:lnTo>
                  <a:lnTo>
                    <a:pt x="144145" y="74295"/>
                  </a:lnTo>
                  <a:lnTo>
                    <a:pt x="220218" y="0"/>
                  </a:lnTo>
                  <a:lnTo>
                    <a:pt x="288417" y="69723"/>
                  </a:lnTo>
                  <a:lnTo>
                    <a:pt x="213868" y="142494"/>
                  </a:lnTo>
                  <a:lnTo>
                    <a:pt x="288417" y="215265"/>
                  </a:lnTo>
                  <a:lnTo>
                    <a:pt x="220218" y="284988"/>
                  </a:lnTo>
                  <a:lnTo>
                    <a:pt x="144145" y="210566"/>
                  </a:lnTo>
                  <a:lnTo>
                    <a:pt x="68072" y="284988"/>
                  </a:lnTo>
                  <a:lnTo>
                    <a:pt x="0" y="215265"/>
                  </a:lnTo>
                  <a:lnTo>
                    <a:pt x="74422" y="142494"/>
                  </a:lnTo>
                  <a:lnTo>
                    <a:pt x="0" y="69723"/>
                  </a:lnTo>
                  <a:close/>
                </a:path>
              </a:pathLst>
            </a:custGeom>
            <a:ln w="19050">
              <a:solidFill>
                <a:srgbClr val="843B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301109" y="3596385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843B0B"/>
                </a:solidFill>
                <a:latin typeface="Calibri"/>
                <a:cs typeface="Calibri"/>
              </a:rPr>
              <a:t>11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Advantages</a:t>
            </a:r>
            <a:r>
              <a:rPr spc="-10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spc="-25" dirty="0"/>
              <a:t>FSK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8338" y="600583"/>
            <a:ext cx="8261350" cy="5020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561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7561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Simple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Implementation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(Easy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Modulation</a:t>
            </a:r>
            <a:r>
              <a:rPr sz="2400" b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Demodulation)</a:t>
            </a:r>
            <a:endParaRPr sz="2400" dirty="0">
              <a:latin typeface="Calibri"/>
              <a:cs typeface="Calibri"/>
            </a:endParaRPr>
          </a:p>
          <a:p>
            <a:pPr marL="475615" indent="-456565">
              <a:lnSpc>
                <a:spcPct val="100000"/>
              </a:lnSpc>
              <a:buFont typeface="Wingdings"/>
              <a:buChar char=""/>
              <a:tabLst>
                <a:tab pos="47561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Better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Noise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Immunity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compared</a:t>
            </a:r>
            <a:r>
              <a:rPr sz="2400" b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ASK</a:t>
            </a:r>
            <a:endParaRPr sz="2400" dirty="0">
              <a:latin typeface="Calibri"/>
              <a:cs typeface="Calibri"/>
            </a:endParaRPr>
          </a:p>
          <a:p>
            <a:pPr marL="475615" indent="-456565">
              <a:lnSpc>
                <a:spcPct val="100000"/>
              </a:lnSpc>
              <a:buFont typeface="Wingdings"/>
              <a:buChar char=""/>
              <a:tabLst>
                <a:tab pos="47561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Reliable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low</a:t>
            </a:r>
            <a:r>
              <a:rPr sz="2400" b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Data</a:t>
            </a:r>
            <a:r>
              <a:rPr sz="2400" b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Rate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Applications</a:t>
            </a:r>
            <a:endParaRPr sz="2400" dirty="0">
              <a:latin typeface="Calibri"/>
              <a:cs typeface="Calibri"/>
            </a:endParaRPr>
          </a:p>
          <a:p>
            <a:pPr marL="19050">
              <a:lnSpc>
                <a:spcPct val="100000"/>
              </a:lnSpc>
              <a:spcBef>
                <a:spcPts val="765"/>
              </a:spcBef>
            </a:pPr>
            <a:r>
              <a:rPr sz="3200" b="1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Disadvantages</a:t>
            </a:r>
            <a:r>
              <a:rPr sz="3200" b="1" u="sng" spc="-8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of</a:t>
            </a:r>
            <a:r>
              <a:rPr sz="3200" b="1" u="sng" spc="-9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2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FSK</a:t>
            </a:r>
            <a:endParaRPr sz="32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69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Required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Large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Bandwidth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compared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ASK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PSK</a:t>
            </a:r>
            <a:endParaRPr sz="24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Coherent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Detection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more</a:t>
            </a:r>
            <a:r>
              <a:rPr sz="2400" b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complex</a:t>
            </a:r>
            <a:endParaRPr sz="24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Not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good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high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Data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Rate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Transmission</a:t>
            </a:r>
            <a:endParaRPr sz="2400" dirty="0">
              <a:latin typeface="Calibri"/>
              <a:cs typeface="Calibri"/>
            </a:endParaRPr>
          </a:p>
          <a:p>
            <a:pPr marL="19050">
              <a:lnSpc>
                <a:spcPct val="100000"/>
              </a:lnSpc>
              <a:spcBef>
                <a:spcPts val="580"/>
              </a:spcBef>
            </a:pP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Applications</a:t>
            </a:r>
            <a:r>
              <a:rPr sz="3200" b="1" u="sng" spc="-10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of</a:t>
            </a:r>
            <a:r>
              <a:rPr sz="3200" b="1" u="sng" spc="-5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2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FSK</a:t>
            </a:r>
            <a:endParaRPr sz="3200" dirty="0">
              <a:latin typeface="Calibri"/>
              <a:cs typeface="Calibri"/>
            </a:endParaRPr>
          </a:p>
          <a:p>
            <a:pPr marL="475615" indent="-456565">
              <a:lnSpc>
                <a:spcPct val="100000"/>
              </a:lnSpc>
              <a:spcBef>
                <a:spcPts val="810"/>
              </a:spcBef>
              <a:buFont typeface="Wingdings"/>
              <a:buChar char=""/>
              <a:tabLst>
                <a:tab pos="47561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Early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Modems</a:t>
            </a:r>
            <a:endParaRPr sz="2400" dirty="0">
              <a:latin typeface="Calibri"/>
              <a:cs typeface="Calibri"/>
            </a:endParaRPr>
          </a:p>
          <a:p>
            <a:pPr marL="475615" indent="-456565">
              <a:lnSpc>
                <a:spcPct val="100000"/>
              </a:lnSpc>
              <a:buFont typeface="Wingdings"/>
              <a:buChar char=""/>
              <a:tabLst>
                <a:tab pos="47561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Low</a:t>
            </a:r>
            <a:r>
              <a:rPr sz="2400" b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Frequency</a:t>
            </a:r>
            <a:r>
              <a:rPr sz="2400" b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Wireless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Systems</a:t>
            </a:r>
            <a:endParaRPr sz="2400" dirty="0">
              <a:latin typeface="Calibri"/>
              <a:cs typeface="Calibri"/>
            </a:endParaRPr>
          </a:p>
          <a:p>
            <a:pPr marL="475615" indent="-456565">
              <a:lnSpc>
                <a:spcPct val="100000"/>
              </a:lnSpc>
              <a:buFont typeface="Wingdings"/>
              <a:buChar char=""/>
              <a:tabLst>
                <a:tab pos="47561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Bluetooth</a:t>
            </a:r>
            <a:r>
              <a:rPr sz="2400" b="1" spc="-1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(GFSK)</a:t>
            </a:r>
            <a:endParaRPr sz="2400" dirty="0">
              <a:latin typeface="Calibri"/>
              <a:cs typeface="Calibri"/>
            </a:endParaRPr>
          </a:p>
          <a:p>
            <a:pPr marL="475615" indent="-456565">
              <a:lnSpc>
                <a:spcPct val="100000"/>
              </a:lnSpc>
              <a:buFont typeface="Wingdings"/>
              <a:buChar char=""/>
              <a:tabLst>
                <a:tab pos="47561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Paging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Systems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2285" y="-62357"/>
            <a:ext cx="610870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u="none" spc="-375" dirty="0">
                <a:solidFill>
                  <a:srgbClr val="006600"/>
                </a:solidFill>
                <a:latin typeface="Arial"/>
                <a:cs typeface="Arial"/>
              </a:rPr>
              <a:t>Examples</a:t>
            </a:r>
            <a:r>
              <a:rPr sz="6600" u="none" spc="-18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170" dirty="0">
                <a:solidFill>
                  <a:srgbClr val="006600"/>
                </a:solidFill>
                <a:latin typeface="Arial"/>
                <a:cs typeface="Arial"/>
              </a:rPr>
              <a:t>of</a:t>
            </a:r>
            <a:r>
              <a:rPr sz="6600" u="none" spc="-27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869" dirty="0">
                <a:solidFill>
                  <a:srgbClr val="006600"/>
                </a:solidFill>
                <a:latin typeface="Arial"/>
                <a:cs typeface="Arial"/>
              </a:rPr>
              <a:t>FSK</a:t>
            </a:r>
            <a:endParaRPr sz="6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8292" y="898347"/>
            <a:ext cx="1195641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1.</a:t>
            </a:r>
            <a:r>
              <a:rPr sz="2400" b="1" spc="260" dirty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Example:</a:t>
            </a:r>
            <a:r>
              <a:rPr sz="24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We transmit data 3</a:t>
            </a: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bits</a:t>
            </a:r>
            <a:r>
              <a:rPr sz="2400" b="1" spc="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at</a:t>
            </a:r>
            <a:r>
              <a:rPr sz="2400" b="1" spc="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time</a:t>
            </a:r>
            <a:r>
              <a:rPr sz="2400" b="1" spc="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at a</a:t>
            </a:r>
            <a:r>
              <a:rPr sz="2400" b="1" spc="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 rate of 3</a:t>
            </a:r>
            <a:r>
              <a:rPr sz="2400" b="1" spc="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Mbps.</a:t>
            </a: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carrier frequency</a:t>
            </a:r>
            <a:r>
              <a:rPr sz="2400" b="1" spc="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is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10</a:t>
            </a:r>
            <a:r>
              <a:rPr sz="2400" b="1" spc="1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MHz.</a:t>
            </a:r>
            <a:r>
              <a:rPr sz="2400" b="1" spc="1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Calculate</a:t>
            </a:r>
            <a:r>
              <a:rPr sz="2400" b="1" spc="1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(a)</a:t>
            </a:r>
            <a:r>
              <a:rPr sz="2400" b="1" spc="1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1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number</a:t>
            </a:r>
            <a:r>
              <a:rPr sz="2400" b="1" spc="1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1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levels,</a:t>
            </a:r>
            <a:r>
              <a:rPr sz="2400" b="1" spc="1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(b)</a:t>
            </a:r>
            <a:r>
              <a:rPr sz="2400" b="1" spc="1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1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baud</a:t>
            </a:r>
            <a:r>
              <a:rPr sz="2400" b="1" spc="1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rate,</a:t>
            </a:r>
            <a:r>
              <a:rPr sz="2400" b="1" spc="1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1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(c)</a:t>
            </a:r>
            <a:r>
              <a:rPr sz="2400" b="1" spc="1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lang="en-US" sz="2400" b="1" dirty="0">
                <a:solidFill>
                  <a:srgbClr val="6F2F9F"/>
                </a:solidFill>
                <a:latin typeface="Calibri"/>
                <a:cs typeface="Calibri"/>
              </a:rPr>
              <a:t> minimum</a:t>
            </a:r>
            <a:r>
              <a:rPr sz="2400" b="1" spc="1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bandwidth</a:t>
            </a:r>
            <a:r>
              <a:rPr sz="2400" b="1" spc="1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for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FSK.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 rotWithShape="1">
          <a:blip r:embed="rId2" cstate="print"/>
          <a:srcRect t="31111"/>
          <a:stretch/>
        </p:blipFill>
        <p:spPr>
          <a:xfrm>
            <a:off x="0" y="2133600"/>
            <a:ext cx="12192000" cy="4724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743200" y="5105400"/>
            <a:ext cx="228600" cy="381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n>
                  <a:solidFill>
                    <a:schemeClr val="bg1"/>
                  </a:solidFill>
                </a:ln>
              </a:rPr>
              <a:t>M</a:t>
            </a:r>
            <a:endParaRPr lang="en-US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43000" y="3733800"/>
            <a:ext cx="228600" cy="381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n>
                  <a:solidFill>
                    <a:schemeClr val="bg1"/>
                  </a:solidFill>
                </a:ln>
              </a:rPr>
              <a:t>M</a:t>
            </a:r>
            <a:endParaRPr lang="en-US" b="1" dirty="0">
              <a:ln>
                <a:solidFill>
                  <a:schemeClr val="bg1"/>
                </a:solidFill>
              </a:ln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543800" y="1143000"/>
            <a:ext cx="7620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435858"/>
            <a:ext cx="6067425" cy="2570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11201400" y="1295400"/>
            <a:ext cx="809625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943600" y="4006800"/>
            <a:ext cx="4038600" cy="869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2"/>
              <p:cNvSpPr txBox="1">
                <a:spLocks/>
              </p:cNvSpPr>
              <p:nvPr/>
            </p:nvSpPr>
            <p:spPr>
              <a:xfrm>
                <a:off x="158292" y="55879"/>
                <a:ext cx="11957685" cy="6929654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>
                <a:lvl1pPr>
                  <a:defRPr sz="3200" b="1" i="0" u="sng">
                    <a:solidFill>
                      <a:srgbClr val="843B0B"/>
                    </a:solidFill>
                    <a:latin typeface="Calibri"/>
                    <a:ea typeface="+mj-ea"/>
                    <a:cs typeface="Calibri"/>
                  </a:defRPr>
                </a:lvl1pPr>
              </a:lstStyle>
              <a:p>
                <a:pPr marL="469900" marR="5080" indent="-457200" algn="l">
                  <a:spcBef>
                    <a:spcPts val="100"/>
                  </a:spcBef>
                  <a:buAutoNum type="arabicPeriod" startAt="2"/>
                </a:pPr>
                <a:r>
                  <a:rPr lang="en-US" sz="2400" u="none" dirty="0" smtClean="0">
                    <a:solidFill>
                      <a:srgbClr val="FF0000"/>
                    </a:solidFill>
                  </a:rPr>
                  <a:t>Example</a:t>
                </a:r>
                <a:r>
                  <a:rPr lang="en-US" sz="2400" u="none" dirty="0">
                    <a:solidFill>
                      <a:srgbClr val="FF0000"/>
                    </a:solidFill>
                  </a:rPr>
                  <a:t>:</a:t>
                </a:r>
                <a:r>
                  <a:rPr lang="en-US" sz="2400" u="none" spc="65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u="none" dirty="0">
                    <a:solidFill>
                      <a:srgbClr val="6F2F9F"/>
                    </a:solidFill>
                  </a:rPr>
                  <a:t>We</a:t>
                </a:r>
                <a:r>
                  <a:rPr lang="en-US" sz="2400" u="none" spc="75" dirty="0">
                    <a:solidFill>
                      <a:srgbClr val="6F2F9F"/>
                    </a:solidFill>
                  </a:rPr>
                  <a:t> </a:t>
                </a:r>
                <a:r>
                  <a:rPr lang="en-US" sz="2400" u="none" dirty="0">
                    <a:solidFill>
                      <a:srgbClr val="6F2F9F"/>
                    </a:solidFill>
                  </a:rPr>
                  <a:t>have</a:t>
                </a:r>
                <a:r>
                  <a:rPr lang="en-US" sz="2400" u="none" spc="75" dirty="0">
                    <a:solidFill>
                      <a:srgbClr val="6F2F9F"/>
                    </a:solidFill>
                  </a:rPr>
                  <a:t> </a:t>
                </a:r>
                <a:r>
                  <a:rPr lang="en-US" sz="2400" u="none" dirty="0">
                    <a:solidFill>
                      <a:srgbClr val="6F2F9F"/>
                    </a:solidFill>
                  </a:rPr>
                  <a:t>an</a:t>
                </a:r>
                <a:r>
                  <a:rPr lang="en-US" sz="2400" u="none" spc="65" dirty="0">
                    <a:solidFill>
                      <a:srgbClr val="6F2F9F"/>
                    </a:solidFill>
                  </a:rPr>
                  <a:t> </a:t>
                </a:r>
                <a:r>
                  <a:rPr lang="en-US" sz="2400" u="none" dirty="0">
                    <a:solidFill>
                      <a:srgbClr val="6F2F9F"/>
                    </a:solidFill>
                  </a:rPr>
                  <a:t>available</a:t>
                </a:r>
                <a:r>
                  <a:rPr lang="en-US" sz="2400" u="none" spc="70" dirty="0">
                    <a:solidFill>
                      <a:srgbClr val="6F2F9F"/>
                    </a:solidFill>
                  </a:rPr>
                  <a:t> </a:t>
                </a:r>
                <a:r>
                  <a:rPr lang="en-US" sz="2400" u="none" dirty="0">
                    <a:solidFill>
                      <a:srgbClr val="6F2F9F"/>
                    </a:solidFill>
                  </a:rPr>
                  <a:t>bandwidth</a:t>
                </a:r>
                <a:r>
                  <a:rPr lang="en-US" sz="2400" u="none" spc="65" dirty="0">
                    <a:solidFill>
                      <a:srgbClr val="6F2F9F"/>
                    </a:solidFill>
                  </a:rPr>
                  <a:t> </a:t>
                </a:r>
                <a:r>
                  <a:rPr lang="en-US" sz="2400" u="none" dirty="0">
                    <a:solidFill>
                      <a:srgbClr val="6F2F9F"/>
                    </a:solidFill>
                  </a:rPr>
                  <a:t>of</a:t>
                </a:r>
                <a:r>
                  <a:rPr lang="en-US" sz="2400" u="none" spc="70" dirty="0">
                    <a:solidFill>
                      <a:srgbClr val="6F2F9F"/>
                    </a:solidFill>
                  </a:rPr>
                  <a:t> </a:t>
                </a:r>
                <a:r>
                  <a:rPr lang="en-US" sz="2400" u="none" dirty="0">
                    <a:solidFill>
                      <a:srgbClr val="6F2F9F"/>
                    </a:solidFill>
                  </a:rPr>
                  <a:t>100</a:t>
                </a:r>
                <a:r>
                  <a:rPr lang="en-US" sz="2400" u="none" spc="70" dirty="0">
                    <a:solidFill>
                      <a:srgbClr val="6F2F9F"/>
                    </a:solidFill>
                  </a:rPr>
                  <a:t> </a:t>
                </a:r>
                <a:r>
                  <a:rPr lang="en-US" sz="2400" u="none" dirty="0">
                    <a:solidFill>
                      <a:srgbClr val="6F2F9F"/>
                    </a:solidFill>
                  </a:rPr>
                  <a:t>kHz,</a:t>
                </a:r>
                <a:r>
                  <a:rPr lang="en-US" sz="2400" u="none" spc="75" dirty="0">
                    <a:solidFill>
                      <a:srgbClr val="6F2F9F"/>
                    </a:solidFill>
                  </a:rPr>
                  <a:t> </a:t>
                </a:r>
                <a:r>
                  <a:rPr lang="en-US" sz="2400" u="none" dirty="0">
                    <a:solidFill>
                      <a:srgbClr val="6F2F9F"/>
                    </a:solidFill>
                  </a:rPr>
                  <a:t>spanning</a:t>
                </a:r>
                <a:r>
                  <a:rPr lang="en-US" sz="2400" u="none" spc="70" dirty="0">
                    <a:solidFill>
                      <a:srgbClr val="6F2F9F"/>
                    </a:solidFill>
                  </a:rPr>
                  <a:t> </a:t>
                </a:r>
                <a:r>
                  <a:rPr lang="en-US" sz="2400" u="none" dirty="0">
                    <a:solidFill>
                      <a:srgbClr val="6F2F9F"/>
                    </a:solidFill>
                  </a:rPr>
                  <a:t>from</a:t>
                </a:r>
                <a:r>
                  <a:rPr lang="en-US" sz="2400" u="none" spc="70" dirty="0">
                    <a:solidFill>
                      <a:srgbClr val="6F2F9F"/>
                    </a:solidFill>
                  </a:rPr>
                  <a:t> </a:t>
                </a:r>
                <a:r>
                  <a:rPr lang="en-US" sz="2400" u="none" dirty="0">
                    <a:solidFill>
                      <a:srgbClr val="6F2F9F"/>
                    </a:solidFill>
                  </a:rPr>
                  <a:t>200</a:t>
                </a:r>
                <a:r>
                  <a:rPr lang="en-US" sz="2400" u="none" spc="70" dirty="0">
                    <a:solidFill>
                      <a:srgbClr val="6F2F9F"/>
                    </a:solidFill>
                  </a:rPr>
                  <a:t> </a:t>
                </a:r>
                <a:r>
                  <a:rPr lang="en-US" sz="2400" u="none" dirty="0">
                    <a:solidFill>
                      <a:srgbClr val="6F2F9F"/>
                    </a:solidFill>
                  </a:rPr>
                  <a:t>kHz</a:t>
                </a:r>
                <a:r>
                  <a:rPr lang="en-US" sz="2400" u="none" spc="70" dirty="0">
                    <a:solidFill>
                      <a:srgbClr val="6F2F9F"/>
                    </a:solidFill>
                  </a:rPr>
                  <a:t> </a:t>
                </a:r>
                <a:r>
                  <a:rPr lang="en-US" sz="2400" u="none" dirty="0">
                    <a:solidFill>
                      <a:srgbClr val="6F2F9F"/>
                    </a:solidFill>
                  </a:rPr>
                  <a:t>to</a:t>
                </a:r>
                <a:r>
                  <a:rPr lang="en-US" sz="2400" u="none" spc="75" dirty="0">
                    <a:solidFill>
                      <a:srgbClr val="6F2F9F"/>
                    </a:solidFill>
                  </a:rPr>
                  <a:t> </a:t>
                </a:r>
                <a:r>
                  <a:rPr lang="en-US" sz="2400" u="none" dirty="0">
                    <a:solidFill>
                      <a:srgbClr val="6F2F9F"/>
                    </a:solidFill>
                  </a:rPr>
                  <a:t>300</a:t>
                </a:r>
                <a:r>
                  <a:rPr lang="en-US" sz="2400" u="none" spc="65" dirty="0">
                    <a:solidFill>
                      <a:srgbClr val="6F2F9F"/>
                    </a:solidFill>
                  </a:rPr>
                  <a:t> </a:t>
                </a:r>
                <a:r>
                  <a:rPr lang="en-US" sz="2400" u="none" spc="-20" dirty="0">
                    <a:solidFill>
                      <a:srgbClr val="6F2F9F"/>
                    </a:solidFill>
                  </a:rPr>
                  <a:t>kHz. </a:t>
                </a:r>
                <a:r>
                  <a:rPr lang="en-US" sz="2400" u="none" dirty="0">
                    <a:solidFill>
                      <a:srgbClr val="6F2F9F"/>
                    </a:solidFill>
                  </a:rPr>
                  <a:t>If</a:t>
                </a:r>
                <a:r>
                  <a:rPr lang="en-US" sz="2400" u="none" spc="375" dirty="0">
                    <a:solidFill>
                      <a:srgbClr val="6F2F9F"/>
                    </a:solidFill>
                  </a:rPr>
                  <a:t> </a:t>
                </a:r>
                <a:r>
                  <a:rPr lang="en-US" sz="2400" u="none" dirty="0">
                    <a:solidFill>
                      <a:srgbClr val="6F2F9F"/>
                    </a:solidFill>
                  </a:rPr>
                  <a:t>we</a:t>
                </a:r>
                <a:r>
                  <a:rPr lang="en-US" sz="2400" u="none" spc="380" dirty="0">
                    <a:solidFill>
                      <a:srgbClr val="6F2F9F"/>
                    </a:solidFill>
                  </a:rPr>
                  <a:t> </a:t>
                </a:r>
                <a:r>
                  <a:rPr lang="en-US" sz="2400" u="none" dirty="0">
                    <a:solidFill>
                      <a:srgbClr val="6F2F9F"/>
                    </a:solidFill>
                  </a:rPr>
                  <a:t>modulate</a:t>
                </a:r>
                <a:r>
                  <a:rPr lang="en-US" sz="2400" u="none" spc="380" dirty="0">
                    <a:solidFill>
                      <a:srgbClr val="6F2F9F"/>
                    </a:solidFill>
                  </a:rPr>
                  <a:t> </a:t>
                </a:r>
                <a:r>
                  <a:rPr lang="en-US" sz="2400" u="none" dirty="0">
                    <a:solidFill>
                      <a:srgbClr val="6F2F9F"/>
                    </a:solidFill>
                  </a:rPr>
                  <a:t>our</a:t>
                </a:r>
                <a:r>
                  <a:rPr lang="en-US" sz="2400" u="none" spc="380" dirty="0">
                    <a:solidFill>
                      <a:srgbClr val="6F2F9F"/>
                    </a:solidFill>
                  </a:rPr>
                  <a:t> </a:t>
                </a:r>
                <a:r>
                  <a:rPr lang="en-US" sz="2400" u="none" dirty="0">
                    <a:solidFill>
                      <a:srgbClr val="6F2F9F"/>
                    </a:solidFill>
                  </a:rPr>
                  <a:t>data</a:t>
                </a:r>
                <a:r>
                  <a:rPr lang="en-US" sz="2400" u="none" spc="380" dirty="0">
                    <a:solidFill>
                      <a:srgbClr val="6F2F9F"/>
                    </a:solidFill>
                  </a:rPr>
                  <a:t> </a:t>
                </a:r>
                <a:r>
                  <a:rPr lang="en-US" sz="2400" u="none" dirty="0">
                    <a:solidFill>
                      <a:srgbClr val="6F2F9F"/>
                    </a:solidFill>
                  </a:rPr>
                  <a:t>using</a:t>
                </a:r>
                <a:r>
                  <a:rPr lang="en-US" sz="2400" u="none" spc="375" dirty="0">
                    <a:solidFill>
                      <a:srgbClr val="6F2F9F"/>
                    </a:solidFill>
                  </a:rPr>
                  <a:t> </a:t>
                </a:r>
                <a:r>
                  <a:rPr lang="en-US" sz="2400" u="none" dirty="0">
                    <a:solidFill>
                      <a:srgbClr val="6F2F9F"/>
                    </a:solidFill>
                  </a:rPr>
                  <a:t>binary</a:t>
                </a:r>
                <a:r>
                  <a:rPr lang="en-US" sz="2400" u="none" spc="395" dirty="0">
                    <a:solidFill>
                      <a:srgbClr val="6F2F9F"/>
                    </a:solidFill>
                  </a:rPr>
                  <a:t> </a:t>
                </a:r>
                <a:r>
                  <a:rPr lang="en-US" sz="2400" u="none" dirty="0">
                    <a:solidFill>
                      <a:srgbClr val="6F2F9F"/>
                    </a:solidFill>
                  </a:rPr>
                  <a:t>FSK</a:t>
                </a:r>
                <a:r>
                  <a:rPr lang="en-US" sz="2400" u="none" spc="375" dirty="0">
                    <a:solidFill>
                      <a:srgbClr val="6F2F9F"/>
                    </a:solidFill>
                  </a:rPr>
                  <a:t> </a:t>
                </a:r>
                <a:r>
                  <a:rPr lang="en-US" sz="2400" u="none" dirty="0">
                    <a:solidFill>
                      <a:srgbClr val="6F2F9F"/>
                    </a:solidFill>
                  </a:rPr>
                  <a:t>with</a:t>
                </a:r>
                <a:r>
                  <a:rPr lang="en-US" sz="2400" u="none" spc="375" dirty="0">
                    <a:solidFill>
                      <a:srgbClr val="6F2F9F"/>
                    </a:solidFill>
                  </a:rPr>
                  <a:t> </a:t>
                </a:r>
                <a:r>
                  <a:rPr lang="en-US" sz="2400" u="none" dirty="0">
                    <a:solidFill>
                      <a:srgbClr val="6F2F9F"/>
                    </a:solidFill>
                  </a:rPr>
                  <a:t>a</a:t>
                </a:r>
                <a:r>
                  <a:rPr lang="en-US" sz="2400" u="none" spc="380" dirty="0">
                    <a:solidFill>
                      <a:srgbClr val="6F2F9F"/>
                    </a:solidFill>
                  </a:rPr>
                  <a:t> </a:t>
                </a:r>
                <a:r>
                  <a:rPr lang="en-US" sz="2400" u="none" spc="-10" dirty="0">
                    <a:solidFill>
                      <a:srgbClr val="6F2F9F"/>
                    </a:solidFill>
                  </a:rPr>
                  <a:t>roll-</a:t>
                </a:r>
                <a:r>
                  <a:rPr lang="en-US" sz="2400" u="none" dirty="0">
                    <a:solidFill>
                      <a:srgbClr val="6F2F9F"/>
                    </a:solidFill>
                  </a:rPr>
                  <a:t>off</a:t>
                </a:r>
                <a:r>
                  <a:rPr lang="en-US" sz="2400" u="none" spc="380" dirty="0">
                    <a:solidFill>
                      <a:srgbClr val="6F2F9F"/>
                    </a:solidFill>
                  </a:rPr>
                  <a:t> </a:t>
                </a:r>
                <a:r>
                  <a:rPr lang="en-US" sz="2400" u="none" dirty="0">
                    <a:solidFill>
                      <a:srgbClr val="6F2F9F"/>
                    </a:solidFill>
                  </a:rPr>
                  <a:t>factor</a:t>
                </a:r>
                <a:r>
                  <a:rPr lang="en-US" sz="2400" u="none" spc="380" dirty="0">
                    <a:solidFill>
                      <a:srgbClr val="6F2F9F"/>
                    </a:solidFill>
                  </a:rPr>
                  <a:t> </a:t>
                </a:r>
                <a:r>
                  <a:rPr lang="en-US" sz="2400" u="none" dirty="0" smtClean="0">
                    <a:solidFill>
                      <a:srgbClr val="6F2F9F"/>
                    </a:solidFill>
                  </a:rPr>
                  <a:t>1 and frequency deviation is 25kHz,</a:t>
                </a:r>
                <a:r>
                  <a:rPr lang="en-US" sz="2400" u="none" spc="385" dirty="0" smtClean="0">
                    <a:solidFill>
                      <a:srgbClr val="6F2F9F"/>
                    </a:solidFill>
                  </a:rPr>
                  <a:t> </a:t>
                </a:r>
                <a:r>
                  <a:rPr lang="en-US" sz="2400" u="none" dirty="0">
                    <a:solidFill>
                      <a:srgbClr val="6F2F9F"/>
                    </a:solidFill>
                  </a:rPr>
                  <a:t>what</a:t>
                </a:r>
                <a:r>
                  <a:rPr lang="en-US" sz="2400" u="none" spc="375" dirty="0">
                    <a:solidFill>
                      <a:srgbClr val="6F2F9F"/>
                    </a:solidFill>
                  </a:rPr>
                  <a:t> </a:t>
                </a:r>
                <a:r>
                  <a:rPr lang="en-US" sz="2400" u="none" dirty="0">
                    <a:solidFill>
                      <a:srgbClr val="6F2F9F"/>
                    </a:solidFill>
                  </a:rPr>
                  <a:t>should</a:t>
                </a:r>
                <a:r>
                  <a:rPr lang="en-US" sz="2400" u="none" spc="375" dirty="0">
                    <a:solidFill>
                      <a:srgbClr val="6F2F9F"/>
                    </a:solidFill>
                  </a:rPr>
                  <a:t> </a:t>
                </a:r>
                <a:r>
                  <a:rPr lang="en-US" sz="2400" u="none" dirty="0">
                    <a:solidFill>
                      <a:srgbClr val="6F2F9F"/>
                    </a:solidFill>
                  </a:rPr>
                  <a:t>be</a:t>
                </a:r>
                <a:r>
                  <a:rPr lang="en-US" sz="2400" u="none" spc="385" dirty="0">
                    <a:solidFill>
                      <a:srgbClr val="6F2F9F"/>
                    </a:solidFill>
                  </a:rPr>
                  <a:t> </a:t>
                </a:r>
                <a:r>
                  <a:rPr lang="en-US" sz="2400" u="none" spc="-25" dirty="0">
                    <a:solidFill>
                      <a:srgbClr val="6F2F9F"/>
                    </a:solidFill>
                  </a:rPr>
                  <a:t>the </a:t>
                </a:r>
                <a:r>
                  <a:rPr lang="en-US" sz="2400" u="none" dirty="0">
                    <a:solidFill>
                      <a:srgbClr val="6F2F9F"/>
                    </a:solidFill>
                  </a:rPr>
                  <a:t>carrier</a:t>
                </a:r>
                <a:r>
                  <a:rPr lang="en-US" sz="2400" u="none" spc="-75" dirty="0">
                    <a:solidFill>
                      <a:srgbClr val="6F2F9F"/>
                    </a:solidFill>
                  </a:rPr>
                  <a:t> </a:t>
                </a:r>
                <a:r>
                  <a:rPr lang="en-US" sz="2400" u="none" dirty="0">
                    <a:solidFill>
                      <a:srgbClr val="6F2F9F"/>
                    </a:solidFill>
                  </a:rPr>
                  <a:t>frequency</a:t>
                </a:r>
                <a:r>
                  <a:rPr lang="en-US" sz="2400" u="none" spc="-55" dirty="0">
                    <a:solidFill>
                      <a:srgbClr val="6F2F9F"/>
                    </a:solidFill>
                  </a:rPr>
                  <a:t> </a:t>
                </a:r>
                <a:r>
                  <a:rPr lang="en-US" sz="2400" u="none" dirty="0">
                    <a:solidFill>
                      <a:srgbClr val="6F2F9F"/>
                    </a:solidFill>
                  </a:rPr>
                  <a:t>and</a:t>
                </a:r>
                <a:r>
                  <a:rPr lang="en-US" sz="2400" u="none" spc="-55" dirty="0">
                    <a:solidFill>
                      <a:srgbClr val="6F2F9F"/>
                    </a:solidFill>
                  </a:rPr>
                  <a:t> </a:t>
                </a:r>
                <a:r>
                  <a:rPr lang="en-US" sz="2400" u="none" dirty="0">
                    <a:solidFill>
                      <a:srgbClr val="6F2F9F"/>
                    </a:solidFill>
                  </a:rPr>
                  <a:t>the</a:t>
                </a:r>
                <a:r>
                  <a:rPr lang="en-US" sz="2400" u="none" spc="-40" dirty="0">
                    <a:solidFill>
                      <a:srgbClr val="6F2F9F"/>
                    </a:solidFill>
                  </a:rPr>
                  <a:t> </a:t>
                </a:r>
                <a:r>
                  <a:rPr lang="en-US" sz="2400" u="none" dirty="0">
                    <a:solidFill>
                      <a:srgbClr val="6F2F9F"/>
                    </a:solidFill>
                  </a:rPr>
                  <a:t>bit</a:t>
                </a:r>
                <a:r>
                  <a:rPr lang="en-US" sz="2400" u="none" spc="-45" dirty="0">
                    <a:solidFill>
                      <a:srgbClr val="6F2F9F"/>
                    </a:solidFill>
                  </a:rPr>
                  <a:t> </a:t>
                </a:r>
                <a:r>
                  <a:rPr lang="en-US" sz="2400" u="none" spc="-10" dirty="0">
                    <a:solidFill>
                      <a:srgbClr val="6F2F9F"/>
                    </a:solidFill>
                  </a:rPr>
                  <a:t>rate</a:t>
                </a:r>
                <a:r>
                  <a:rPr lang="en-US" sz="2400" u="none" spc="-10" dirty="0" smtClean="0">
                    <a:solidFill>
                      <a:srgbClr val="6F2F9F"/>
                    </a:solidFill>
                  </a:rPr>
                  <a:t>?</a:t>
                </a:r>
                <a:br>
                  <a:rPr lang="en-US" sz="2400" u="none" spc="-10" dirty="0" smtClean="0">
                    <a:solidFill>
                      <a:srgbClr val="6F2F9F"/>
                    </a:solidFill>
                  </a:rPr>
                </a:br>
                <a:r>
                  <a:rPr lang="en-US" sz="2400" u="none" spc="-10" dirty="0" smtClean="0">
                    <a:solidFill>
                      <a:srgbClr val="6F2F9F"/>
                    </a:solidFill>
                  </a:rPr>
                  <a:t/>
                </a:r>
                <a:br>
                  <a:rPr lang="en-US" sz="2400" u="none" spc="-10" dirty="0" smtClean="0">
                    <a:solidFill>
                      <a:srgbClr val="6F2F9F"/>
                    </a:solidFill>
                  </a:rPr>
                </a:br>
                <a:r>
                  <a:rPr lang="en-US" sz="2400" u="none" spc="-10" dirty="0" smtClean="0">
                    <a:solidFill>
                      <a:srgbClr val="FF0000"/>
                    </a:solidFill>
                  </a:rPr>
                  <a:t>Solution:</a:t>
                </a:r>
                <a:r>
                  <a:rPr lang="en-US" sz="2400" u="none" spc="-10" dirty="0" smtClean="0">
                    <a:solidFill>
                      <a:srgbClr val="6F2F9F"/>
                    </a:solidFill>
                  </a:rPr>
                  <a:t/>
                </a:r>
                <a:br>
                  <a:rPr lang="en-US" sz="2400" u="none" spc="-10" dirty="0" smtClean="0">
                    <a:solidFill>
                      <a:srgbClr val="6F2F9F"/>
                    </a:solidFill>
                  </a:rPr>
                </a:br>
                <a:r>
                  <a:rPr lang="en-US" sz="2400" u="none" spc="-10" dirty="0" smtClean="0">
                    <a:solidFill>
                      <a:srgbClr val="6F2F9F"/>
                    </a:solidFill>
                  </a:rPr>
                  <a:t>For Binary FSK, n=1</a:t>
                </a:r>
                <a:br>
                  <a:rPr lang="en-US" sz="2400" u="none" spc="-10" dirty="0" smtClean="0">
                    <a:solidFill>
                      <a:srgbClr val="6F2F9F"/>
                    </a:solidFill>
                  </a:rPr>
                </a:br>
                <a:r>
                  <a:rPr lang="en-US" sz="2400" u="none" spc="-10" dirty="0" smtClean="0">
                    <a:solidFill>
                      <a:srgbClr val="6F2F9F"/>
                    </a:solidFill>
                  </a:rPr>
                  <a:t>Roll-off factor, </a:t>
                </a:r>
                <a14:m>
                  <m:oMath xmlns:m="http://schemas.openxmlformats.org/officeDocument/2006/math">
                    <m:r>
                      <a:rPr lang="en-US" sz="2400" u="none" spc="-10" smtClean="0">
                        <a:solidFill>
                          <a:srgbClr val="6F2F9F"/>
                        </a:solidFill>
                        <a:latin typeface="Cambria Math"/>
                      </a:rPr>
                      <m:t>𝛂</m:t>
                    </m:r>
                    <m:r>
                      <a:rPr lang="en-US" sz="2400" u="none" spc="-10" smtClean="0">
                        <a:solidFill>
                          <a:srgbClr val="6F2F9F"/>
                        </a:solidFill>
                        <a:latin typeface="Cambria Math"/>
                      </a:rPr>
                      <m:t>=</m:t>
                    </m:r>
                    <m:r>
                      <a:rPr lang="en-US" sz="2400" u="none" spc="-10" smtClean="0">
                        <a:solidFill>
                          <a:srgbClr val="6F2F9F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2400" u="none" spc="-10" dirty="0" smtClean="0">
                    <a:solidFill>
                      <a:srgbClr val="6F2F9F"/>
                    </a:solidFill>
                  </a:rPr>
                  <a:t/>
                </a:r>
                <a:br>
                  <a:rPr lang="en-US" sz="2400" u="none" spc="-10" dirty="0" smtClean="0">
                    <a:solidFill>
                      <a:srgbClr val="6F2F9F"/>
                    </a:solidFill>
                  </a:rPr>
                </a:br>
                <a:r>
                  <a:rPr lang="en-US" sz="2400" u="none" spc="-10" dirty="0" smtClean="0">
                    <a:solidFill>
                      <a:srgbClr val="6F2F9F"/>
                    </a:solidFill>
                  </a:rPr>
                  <a:t>BW=100kHz</a:t>
                </a:r>
                <a:br>
                  <a:rPr lang="en-US" sz="2400" u="none" spc="-10" dirty="0" smtClean="0">
                    <a:solidFill>
                      <a:srgbClr val="6F2F9F"/>
                    </a:solidFill>
                  </a:rPr>
                </a:br>
                <a:r>
                  <a:rPr lang="en-US" sz="2400" u="none" spc="-10" dirty="0" smtClean="0">
                    <a:solidFill>
                      <a:srgbClr val="6F2F9F"/>
                    </a:solidFill>
                  </a:rPr>
                  <a:t>Frequency Deviation, </a:t>
                </a:r>
                <a14:m>
                  <m:oMath xmlns:m="http://schemas.openxmlformats.org/officeDocument/2006/math">
                    <m:r>
                      <a:rPr lang="en-US" sz="2400" u="none" spc="-10" smtClean="0">
                        <a:solidFill>
                          <a:srgbClr val="6F2F9F"/>
                        </a:solidFill>
                        <a:latin typeface="Cambria Math"/>
                      </a:rPr>
                      <m:t>𝚫</m:t>
                    </m:r>
                    <m:r>
                      <a:rPr lang="en-US" sz="2400" u="none" spc="-10" smtClean="0">
                        <a:solidFill>
                          <a:srgbClr val="6F2F9F"/>
                        </a:solidFill>
                        <a:latin typeface="Cambria Math"/>
                      </a:rPr>
                      <m:t>𝐅</m:t>
                    </m:r>
                    <m:r>
                      <a:rPr lang="en-US" sz="2400" u="none" spc="-10" smtClean="0">
                        <a:solidFill>
                          <a:srgbClr val="6F2F9F"/>
                        </a:solidFill>
                        <a:latin typeface="Cambria Math"/>
                      </a:rPr>
                      <m:t>=</m:t>
                    </m:r>
                    <m:r>
                      <a:rPr lang="en-US" sz="2400" u="none" spc="-10" smtClean="0">
                        <a:solidFill>
                          <a:srgbClr val="6F2F9F"/>
                        </a:solidFill>
                        <a:latin typeface="Cambria Math"/>
                      </a:rPr>
                      <m:t>𝟐𝟓𝐤𝐇𝐳</m:t>
                    </m:r>
                  </m:oMath>
                </a14:m>
                <a:r>
                  <a:rPr lang="en-US" sz="2400" u="none" spc="-10" dirty="0" smtClean="0">
                    <a:solidFill>
                      <a:srgbClr val="6F2F9F"/>
                    </a:solidFill>
                  </a:rPr>
                  <a:t/>
                </a:r>
                <a:br>
                  <a:rPr lang="en-US" sz="2400" u="none" spc="-10" dirty="0" smtClean="0">
                    <a:solidFill>
                      <a:srgbClr val="6F2F9F"/>
                    </a:solidFill>
                  </a:rPr>
                </a:br>
                <a:r>
                  <a:rPr lang="en-US" sz="2400" u="none" spc="-10" dirty="0" smtClean="0">
                    <a:solidFill>
                      <a:srgbClr val="6F2F9F"/>
                    </a:solidFill>
                  </a:rPr>
                  <a:t/>
                </a:r>
                <a:br>
                  <a:rPr lang="en-US" sz="2400" u="none" spc="-10" dirty="0" smtClean="0">
                    <a:solidFill>
                      <a:srgbClr val="6F2F9F"/>
                    </a:solidFill>
                  </a:rPr>
                </a:br>
                <a:r>
                  <a:rPr lang="en-US" sz="2400" u="none" spc="-10" dirty="0" smtClean="0">
                    <a:solidFill>
                      <a:srgbClr val="6F2F9F"/>
                    </a:solidFill>
                  </a:rPr>
                  <a:t>For Binary FSK,</a:t>
                </a:r>
                <a:endParaRPr lang="en-US" sz="2400" u="none" spc="-10" dirty="0">
                  <a:solidFill>
                    <a:srgbClr val="6F2F9F"/>
                  </a:solidFill>
                </a:endParaRPr>
              </a:p>
              <a:p>
                <a:pPr marL="12700" marR="5080" algn="l">
                  <a:spcBef>
                    <a:spcPts val="100"/>
                  </a:spcBef>
                </a:pPr>
                <a:r>
                  <a:rPr lang="en-US" sz="2400" b="1" u="none" spc="-10" dirty="0" smtClean="0">
                    <a:solidFill>
                      <a:srgbClr val="6F2F9F"/>
                    </a:solidFill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sz="2400" b="1" i="0" u="none" spc="-10" smtClean="0">
                        <a:solidFill>
                          <a:srgbClr val="6F2F9F"/>
                        </a:solidFill>
                        <a:latin typeface="Cambria Math"/>
                      </a:rPr>
                      <m:t>𝐁𝐖</m:t>
                    </m:r>
                    <m:r>
                      <a:rPr lang="en-US" sz="2400" b="1" i="0" u="none" spc="-10" smtClean="0">
                        <a:solidFill>
                          <a:srgbClr val="6F2F9F"/>
                        </a:solidFill>
                        <a:latin typeface="Cambria Math"/>
                      </a:rPr>
                      <m:t>=</m:t>
                    </m:r>
                    <m:r>
                      <a:rPr lang="en-US" sz="2400" b="1" i="0" u="none" spc="-10" smtClean="0">
                        <a:solidFill>
                          <a:srgbClr val="6F2F9F"/>
                        </a:solidFill>
                        <a:latin typeface="Cambria Math"/>
                      </a:rPr>
                      <m:t>𝟐</m:t>
                    </m:r>
                    <m:r>
                      <a:rPr lang="en-US" sz="2400" b="1" i="0" u="none" spc="-10" smtClean="0">
                        <a:solidFill>
                          <a:srgbClr val="6F2F9F"/>
                        </a:solidFill>
                        <a:latin typeface="Cambria Math"/>
                      </a:rPr>
                      <m:t>𝚫</m:t>
                    </m:r>
                    <m:r>
                      <a:rPr lang="en-US" sz="2400" b="1" i="0" u="none" spc="-10" smtClean="0">
                        <a:solidFill>
                          <a:srgbClr val="6F2F9F"/>
                        </a:solidFill>
                        <a:latin typeface="Cambria Math"/>
                      </a:rPr>
                      <m:t>𝐅</m:t>
                    </m:r>
                    <m:r>
                      <a:rPr lang="en-US" sz="2400" b="1" i="0" u="none" spc="-10" smtClean="0">
                        <a:solidFill>
                          <a:srgbClr val="6F2F9F"/>
                        </a:solidFill>
                        <a:latin typeface="Cambria Math"/>
                      </a:rPr>
                      <m:t>+</m:t>
                    </m:r>
                    <m:d>
                      <m:dPr>
                        <m:ctrlPr>
                          <a:rPr lang="ar-AE" sz="2400" i="1" u="none" spc="-10" smtClean="0">
                            <a:solidFill>
                              <a:srgbClr val="6F2F9F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1" i="0" u="none" spc="-10" smtClean="0">
                            <a:solidFill>
                              <a:srgbClr val="6F2F9F"/>
                            </a:solidFill>
                            <a:latin typeface="Cambria Math"/>
                          </a:rPr>
                          <m:t>𝟏</m:t>
                        </m:r>
                        <m:r>
                          <a:rPr lang="en-US" sz="2400" b="1" i="0" u="none" spc="-10" smtClean="0">
                            <a:solidFill>
                              <a:srgbClr val="6F2F9F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2400" b="1" i="0" u="none" spc="-10" smtClean="0">
                            <a:solidFill>
                              <a:srgbClr val="6F2F9F"/>
                            </a:solidFill>
                            <a:latin typeface="Cambria Math"/>
                          </a:rPr>
                          <m:t>𝛂</m:t>
                        </m:r>
                      </m:e>
                    </m:d>
                    <m:r>
                      <a:rPr lang="en-US" sz="2400" b="1" i="0" u="none" spc="-10" smtClean="0">
                        <a:solidFill>
                          <a:srgbClr val="6F2F9F"/>
                        </a:solidFill>
                        <a:latin typeface="Cambria Math"/>
                      </a:rPr>
                      <m:t>𝐫</m:t>
                    </m:r>
                    <m:r>
                      <a:rPr lang="en-US" sz="2400" b="1" i="0" u="none" spc="-10" smtClean="0">
                        <a:solidFill>
                          <a:srgbClr val="6F2F9F"/>
                        </a:solidFill>
                        <a:latin typeface="Cambria Math"/>
                      </a:rPr>
                      <m:t> [</m:t>
                    </m:r>
                    <m:r>
                      <a:rPr lang="en-US" sz="2400" b="1" i="0" u="none" spc="-10" smtClean="0">
                        <a:solidFill>
                          <a:srgbClr val="6F2F9F"/>
                        </a:solidFill>
                        <a:latin typeface="Cambria Math"/>
                      </a:rPr>
                      <m:t>𝐇𝐞𝐫𝐞</m:t>
                    </m:r>
                    <m:r>
                      <a:rPr lang="en-US" sz="2400" b="1" i="0" u="none" spc="-10" smtClean="0">
                        <a:solidFill>
                          <a:srgbClr val="6F2F9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0" u="none" spc="-10" smtClean="0">
                        <a:solidFill>
                          <a:srgbClr val="6F2F9F"/>
                        </a:solidFill>
                        <a:latin typeface="Cambria Math"/>
                      </a:rPr>
                      <m:t>𝐫</m:t>
                    </m:r>
                    <m:r>
                      <a:rPr lang="en-US" sz="2400" b="1" i="0" u="none" spc="-10" smtClean="0">
                        <a:solidFill>
                          <a:srgbClr val="6F2F9F"/>
                        </a:solidFill>
                        <a:latin typeface="Cambria Math"/>
                      </a:rPr>
                      <m:t> </m:t>
                    </m:r>
                    <m:r>
                      <a:rPr lang="en-US" sz="2400" b="1" i="0" u="none" spc="-10" smtClean="0">
                        <a:solidFill>
                          <a:srgbClr val="6F2F9F"/>
                        </a:solidFill>
                        <a:latin typeface="Cambria Math"/>
                      </a:rPr>
                      <m:t>𝐢𝐬</m:t>
                    </m:r>
                    <m:r>
                      <a:rPr lang="en-US" sz="2400" b="1" i="0" u="none" spc="-10" smtClean="0">
                        <a:solidFill>
                          <a:srgbClr val="6F2F9F"/>
                        </a:solidFill>
                        <a:latin typeface="Cambria Math"/>
                      </a:rPr>
                      <m:t> </m:t>
                    </m:r>
                    <m:r>
                      <a:rPr lang="en-US" sz="2400" b="1" i="0" u="none" spc="-10" smtClean="0">
                        <a:solidFill>
                          <a:srgbClr val="6F2F9F"/>
                        </a:solidFill>
                        <a:latin typeface="Cambria Math"/>
                      </a:rPr>
                      <m:t>𝐁𝐚𝐮𝐝</m:t>
                    </m:r>
                    <m:r>
                      <a:rPr lang="en-US" sz="2400" b="1" i="0" u="none" spc="-10" smtClean="0">
                        <a:solidFill>
                          <a:srgbClr val="6F2F9F"/>
                        </a:solidFill>
                        <a:latin typeface="Cambria Math"/>
                      </a:rPr>
                      <m:t> </m:t>
                    </m:r>
                    <m:r>
                      <a:rPr lang="en-US" sz="2400" b="1" i="0" u="none" spc="-10" smtClean="0">
                        <a:solidFill>
                          <a:srgbClr val="6F2F9F"/>
                        </a:solidFill>
                        <a:latin typeface="Cambria Math"/>
                      </a:rPr>
                      <m:t>𝐑𝐚𝐭𝐞</m:t>
                    </m:r>
                    <m:r>
                      <a:rPr lang="en-US" sz="2400" b="1" i="0" u="none" spc="-10" smtClean="0">
                        <a:solidFill>
                          <a:srgbClr val="6F2F9F"/>
                        </a:solidFill>
                        <a:latin typeface="Cambria Math"/>
                      </a:rPr>
                      <m:t>]</m:t>
                    </m:r>
                  </m:oMath>
                </a14:m>
                <a:endParaRPr lang="en-US" sz="2400" dirty="0" smtClean="0"/>
              </a:p>
              <a:p>
                <a:pPr marL="12700" marR="5080" algn="l">
                  <a:spcBef>
                    <a:spcPts val="100"/>
                  </a:spcBef>
                </a:pPr>
                <a:r>
                  <a:rPr lang="en-US" sz="2400" u="none" dirty="0" smtClean="0"/>
                  <a:t>       </a:t>
                </a:r>
                <a14:m>
                  <m:oMath xmlns:m="http://schemas.openxmlformats.org/officeDocument/2006/math">
                    <m:r>
                      <a:rPr lang="en-US" sz="2400" b="1" i="1" u="none" smtClean="0">
                        <a:solidFill>
                          <a:srgbClr val="7030A0"/>
                        </a:solidFill>
                        <a:latin typeface="Cambria Math"/>
                      </a:rPr>
                      <m:t>⇒</m:t>
                    </m:r>
                    <m:r>
                      <a:rPr lang="en-US" sz="2400" b="1" i="1" u="none" smtClean="0">
                        <a:solidFill>
                          <a:srgbClr val="7030A0"/>
                        </a:solidFill>
                        <a:latin typeface="Cambria Math"/>
                      </a:rPr>
                      <m:t>𝟏𝟎𝟎</m:t>
                    </m:r>
                    <m:r>
                      <a:rPr lang="en-US" sz="2400" b="1" i="1" u="none" smtClean="0">
                        <a:solidFill>
                          <a:srgbClr val="7030A0"/>
                        </a:solidFill>
                        <a:latin typeface="Cambria Math"/>
                      </a:rPr>
                      <m:t>=</m:t>
                    </m:r>
                    <m:r>
                      <a:rPr lang="en-US" sz="2400" b="1" i="1" u="none" smtClean="0">
                        <a:solidFill>
                          <a:srgbClr val="7030A0"/>
                        </a:solidFill>
                        <a:latin typeface="Cambria Math"/>
                      </a:rPr>
                      <m:t>𝟐</m:t>
                    </m:r>
                    <m:r>
                      <a:rPr lang="en-US" sz="2400" b="1" i="1" u="none" smtClean="0">
                        <a:solidFill>
                          <a:srgbClr val="7030A0"/>
                        </a:solidFill>
                        <a:latin typeface="Cambria Math"/>
                      </a:rPr>
                      <m:t>×</m:t>
                    </m:r>
                    <m:r>
                      <a:rPr lang="en-US" sz="2400" b="1" i="1" u="none" smtClean="0">
                        <a:solidFill>
                          <a:srgbClr val="7030A0"/>
                        </a:solidFill>
                        <a:latin typeface="Cambria Math"/>
                      </a:rPr>
                      <m:t>𝟐𝟓</m:t>
                    </m:r>
                    <m:r>
                      <a:rPr lang="en-US" sz="2400" b="1" i="1" u="none" smtClean="0">
                        <a:solidFill>
                          <a:srgbClr val="7030A0"/>
                        </a:solidFill>
                        <a:latin typeface="Cambria Math"/>
                      </a:rPr>
                      <m:t>+</m:t>
                    </m:r>
                    <m:d>
                      <m:dPr>
                        <m:ctrlPr>
                          <a:rPr lang="en-US" sz="2400" b="1" i="1" u="none" smtClean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1" i="1" u="none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𝟏</m:t>
                        </m:r>
                        <m:r>
                          <a:rPr lang="en-US" sz="2400" b="1" i="1" u="none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2400" b="1" i="1" u="none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𝟏</m:t>
                        </m:r>
                      </m:e>
                    </m:d>
                    <m:r>
                      <a:rPr lang="en-US" sz="2400" b="1" i="1" u="none" smtClean="0">
                        <a:solidFill>
                          <a:srgbClr val="7030A0"/>
                        </a:solidFill>
                        <a:latin typeface="Cambria Math"/>
                      </a:rPr>
                      <m:t>×</m:t>
                    </m:r>
                    <m:r>
                      <a:rPr lang="en-US" sz="2400" b="1" i="1" u="none" smtClean="0">
                        <a:solidFill>
                          <a:srgbClr val="7030A0"/>
                        </a:solidFill>
                        <a:latin typeface="Cambria Math"/>
                      </a:rPr>
                      <m:t>𝒓</m:t>
                    </m:r>
                  </m:oMath>
                </a14:m>
                <a:r>
                  <a:rPr lang="en-US" sz="2400" dirty="0" smtClean="0"/>
                  <a:t> </a:t>
                </a:r>
              </a:p>
              <a:p>
                <a:pPr marL="12700" marR="5080" algn="l">
                  <a:spcBef>
                    <a:spcPts val="100"/>
                  </a:spcBef>
                </a:pPr>
                <a:r>
                  <a:rPr lang="en-US" sz="2400" u="none" dirty="0" smtClean="0">
                    <a:solidFill>
                      <a:srgbClr val="7030A0"/>
                    </a:solidFill>
                  </a:rPr>
                  <a:t>       </a:t>
                </a:r>
                <a14:m>
                  <m:oMath xmlns:m="http://schemas.openxmlformats.org/officeDocument/2006/math">
                    <m:r>
                      <a:rPr lang="en-US" sz="2400" i="0" u="none">
                        <a:solidFill>
                          <a:srgbClr val="7030A0"/>
                        </a:solidFill>
                        <a:latin typeface="Cambria Math"/>
                      </a:rPr>
                      <m:t>⇒</m:t>
                    </m:r>
                    <m:r>
                      <a:rPr lang="en-US" sz="2400" i="0" u="none">
                        <a:solidFill>
                          <a:srgbClr val="7030A0"/>
                        </a:solidFill>
                        <a:latin typeface="Cambria Math"/>
                      </a:rPr>
                      <m:t>𝐫</m:t>
                    </m:r>
                    <m:r>
                      <a:rPr lang="en-US" sz="2400" b="1" i="0" u="none" smtClean="0">
                        <a:solidFill>
                          <a:srgbClr val="7030A0"/>
                        </a:solidFill>
                        <a:latin typeface="Cambria Math"/>
                      </a:rPr>
                      <m:t>=</m:t>
                    </m:r>
                    <m:r>
                      <a:rPr lang="en-US" sz="2400" b="1" i="0" u="none" smtClean="0">
                        <a:solidFill>
                          <a:srgbClr val="7030A0"/>
                        </a:solidFill>
                        <a:latin typeface="Cambria Math"/>
                      </a:rPr>
                      <m:t>𝟐𝟓</m:t>
                    </m:r>
                    <m:r>
                      <a:rPr lang="en-US" sz="2400" b="1" i="0" u="none" smtClean="0">
                        <a:solidFill>
                          <a:srgbClr val="7030A0"/>
                        </a:solidFill>
                        <a:latin typeface="Cambria Math"/>
                      </a:rPr>
                      <m:t> </m:t>
                    </m:r>
                    <m:r>
                      <a:rPr lang="en-US" sz="2400" b="1" i="0" u="none" smtClean="0">
                        <a:solidFill>
                          <a:srgbClr val="7030A0"/>
                        </a:solidFill>
                        <a:latin typeface="Cambria Math"/>
                      </a:rPr>
                      <m:t>𝐤𝐛𝐚𝐮𝐝</m:t>
                    </m:r>
                  </m:oMath>
                </a14:m>
                <a:r>
                  <a:rPr lang="en-US" sz="2400" dirty="0"/>
                  <a:t> </a:t>
                </a:r>
                <a:endParaRPr lang="en-US" sz="2400" dirty="0" smtClean="0"/>
              </a:p>
              <a:p>
                <a:pPr marL="12700" marR="5080" algn="l">
                  <a:spcBef>
                    <a:spcPts val="100"/>
                  </a:spcBef>
                </a:pPr>
                <a:r>
                  <a:rPr lang="en-US" sz="2400" u="none" dirty="0" smtClean="0">
                    <a:solidFill>
                      <a:srgbClr val="7030A0"/>
                    </a:solidFill>
                  </a:rPr>
                  <a:t>so, Bit Rate, R=nr=1*25 kbps=25 kbps</a:t>
                </a:r>
                <a:endParaRPr lang="en-US" sz="2400" u="none" dirty="0">
                  <a:solidFill>
                    <a:srgbClr val="7030A0"/>
                  </a:solidFill>
                </a:endParaRPr>
              </a:p>
              <a:p>
                <a:pPr marL="12700" marR="5080" algn="l">
                  <a:spcBef>
                    <a:spcPts val="100"/>
                  </a:spcBef>
                </a:pPr>
                <a:r>
                  <a:rPr lang="en-US" sz="2400" u="none" dirty="0" smtClean="0">
                    <a:solidFill>
                      <a:srgbClr val="7030A0"/>
                    </a:solidFill>
                  </a:rPr>
                  <a:t>Carrier Frequency,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u="none" smtClean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1" i="0" u="none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𝐟</m:t>
                        </m:r>
                      </m:e>
                      <m:sub>
                        <m:r>
                          <a:rPr lang="en-US" sz="2400" b="1" i="0" u="none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𝐜𝟎</m:t>
                        </m:r>
                      </m:sub>
                    </m:sSub>
                    <m:r>
                      <a:rPr lang="en-US" sz="2400" b="1" i="0" u="none" smtClean="0">
                        <a:solidFill>
                          <a:srgbClr val="7030A0"/>
                        </a:solidFill>
                        <a:latin typeface="Cambria Math"/>
                      </a:rPr>
                      <m:t>=</m:t>
                    </m:r>
                    <m:r>
                      <a:rPr lang="en-US" sz="2400" b="1" i="0" u="none" smtClean="0">
                        <a:solidFill>
                          <a:srgbClr val="7030A0"/>
                        </a:solidFill>
                        <a:latin typeface="Cambria Math"/>
                      </a:rPr>
                      <m:t>𝟐𝟎𝟎</m:t>
                    </m:r>
                    <m:r>
                      <a:rPr lang="en-US" sz="2400" b="1" i="0" u="none" smtClean="0">
                        <a:solidFill>
                          <a:srgbClr val="7030A0"/>
                        </a:solidFill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US" sz="2400" b="1" i="1" u="none" smtClean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400" b="1" i="1" u="none" smtClean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400" b="1" i="0" u="none" smtClean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sz="2400" b="1" i="0" u="none" smtClean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+</m:t>
                            </m:r>
                            <m:r>
                              <a:rPr lang="en-US" sz="2400" b="1" i="0" u="none" smtClean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𝛂</m:t>
                            </m:r>
                          </m:e>
                        </m:d>
                        <m:r>
                          <a:rPr lang="en-US" sz="2400" b="1" i="0" u="none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𝐫</m:t>
                        </m:r>
                      </m:num>
                      <m:den>
                        <m:r>
                          <a:rPr lang="en-US" sz="2400" b="1" i="0" u="none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𝟐</m:t>
                        </m:r>
                      </m:den>
                    </m:f>
                    <m:r>
                      <a:rPr lang="en-US" sz="2400" b="1" i="0" u="none" smtClean="0">
                        <a:solidFill>
                          <a:srgbClr val="7030A0"/>
                        </a:solidFill>
                        <a:latin typeface="Cambria Math"/>
                      </a:rPr>
                      <m:t>=</m:t>
                    </m:r>
                    <m:r>
                      <a:rPr lang="en-US" sz="2400" b="1" i="0" u="none" smtClean="0">
                        <a:solidFill>
                          <a:srgbClr val="7030A0"/>
                        </a:solidFill>
                        <a:latin typeface="Cambria Math"/>
                      </a:rPr>
                      <m:t>𝟐𝟎𝟎</m:t>
                    </m:r>
                    <m:r>
                      <a:rPr lang="en-US" sz="2400" b="1" i="0" u="none" smtClean="0">
                        <a:solidFill>
                          <a:srgbClr val="7030A0"/>
                        </a:solidFill>
                        <a:latin typeface="Cambria Math"/>
                      </a:rPr>
                      <m:t>+</m:t>
                    </m:r>
                    <m:r>
                      <a:rPr lang="en-US" sz="2400" b="1" i="0" u="none" smtClean="0">
                        <a:solidFill>
                          <a:srgbClr val="7030A0"/>
                        </a:solidFill>
                        <a:latin typeface="Cambria Math"/>
                      </a:rPr>
                      <m:t>𝟐𝟓</m:t>
                    </m:r>
                    <m:r>
                      <a:rPr lang="en-US" sz="2400" b="1" i="0" u="none" smtClean="0">
                        <a:solidFill>
                          <a:srgbClr val="7030A0"/>
                        </a:solidFill>
                        <a:latin typeface="Cambria Math"/>
                      </a:rPr>
                      <m:t>=</m:t>
                    </m:r>
                    <m:r>
                      <a:rPr lang="en-US" sz="2400" b="1" i="0" u="none" smtClean="0">
                        <a:solidFill>
                          <a:srgbClr val="7030A0"/>
                        </a:solidFill>
                        <a:latin typeface="Cambria Math"/>
                      </a:rPr>
                      <m:t>𝟐𝟐𝟓</m:t>
                    </m:r>
                    <m:r>
                      <a:rPr lang="en-US" sz="2400" b="1" i="0" u="none" smtClean="0">
                        <a:solidFill>
                          <a:srgbClr val="7030A0"/>
                        </a:solidFill>
                        <a:latin typeface="Cambria Math"/>
                      </a:rPr>
                      <m:t> </m:t>
                    </m:r>
                    <m:r>
                      <a:rPr lang="en-US" sz="2400" b="1" i="0" u="none" smtClean="0">
                        <a:solidFill>
                          <a:srgbClr val="7030A0"/>
                        </a:solidFill>
                        <a:latin typeface="Cambria Math"/>
                      </a:rPr>
                      <m:t>𝐤𝐇𝐳</m:t>
                    </m:r>
                  </m:oMath>
                </a14:m>
                <a:endParaRPr lang="en-US" sz="2400" u="none" dirty="0">
                  <a:solidFill>
                    <a:srgbClr val="7030A0"/>
                  </a:solidFill>
                </a:endParaRPr>
              </a:p>
              <a:p>
                <a:pPr marL="12700" marR="5080" algn="l">
                  <a:spcBef>
                    <a:spcPts val="100"/>
                  </a:spcBef>
                </a:pPr>
                <a:r>
                  <a:rPr lang="en-US" sz="2400" u="none" dirty="0">
                    <a:solidFill>
                      <a:srgbClr val="7030A0"/>
                    </a:solidFill>
                  </a:rPr>
                  <a:t>Carrier Frequency,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u="none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u="none">
                            <a:solidFill>
                              <a:srgbClr val="7030A0"/>
                            </a:solidFill>
                            <a:latin typeface="Cambria Math"/>
                          </a:rPr>
                          <m:t>𝐟</m:t>
                        </m:r>
                      </m:e>
                      <m:sub>
                        <m:r>
                          <a:rPr lang="en-US" sz="2400" u="none">
                            <a:solidFill>
                              <a:srgbClr val="7030A0"/>
                            </a:solidFill>
                            <a:latin typeface="Cambria Math"/>
                          </a:rPr>
                          <m:t>𝐜</m:t>
                        </m:r>
                        <m:r>
                          <a:rPr lang="en-US" sz="2400" b="1" i="1" u="none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400" u="none">
                        <a:solidFill>
                          <a:srgbClr val="7030A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400" b="1" i="1" u="none" smtClean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1" i="0" u="none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𝐟</m:t>
                        </m:r>
                      </m:e>
                      <m:sub>
                        <m:r>
                          <a:rPr lang="en-US" sz="2400" b="1" i="0" u="none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𝐜𝟎</m:t>
                        </m:r>
                      </m:sub>
                    </m:sSub>
                    <m:r>
                      <a:rPr lang="en-US" sz="2400" b="1" i="0" u="none" smtClean="0">
                        <a:solidFill>
                          <a:srgbClr val="7030A0"/>
                        </a:solidFill>
                        <a:latin typeface="Cambria Math"/>
                      </a:rPr>
                      <m:t>+</m:t>
                    </m:r>
                    <m:r>
                      <a:rPr lang="en-US" sz="2400" b="1" i="0" u="none" smtClean="0">
                        <a:solidFill>
                          <a:srgbClr val="7030A0"/>
                        </a:solidFill>
                        <a:latin typeface="Cambria Math"/>
                      </a:rPr>
                      <m:t>𝟐</m:t>
                    </m:r>
                    <m:r>
                      <a:rPr lang="en-US" sz="2400" b="1" i="0" u="none" smtClean="0">
                        <a:solidFill>
                          <a:srgbClr val="7030A0"/>
                        </a:solidFill>
                        <a:latin typeface="Cambria Math"/>
                      </a:rPr>
                      <m:t>𝚫</m:t>
                    </m:r>
                    <m:r>
                      <a:rPr lang="en-US" sz="2400" b="1" i="0" u="none" smtClean="0">
                        <a:solidFill>
                          <a:srgbClr val="7030A0"/>
                        </a:solidFill>
                        <a:latin typeface="Cambria Math"/>
                      </a:rPr>
                      <m:t>𝐅</m:t>
                    </m:r>
                    <m:r>
                      <a:rPr lang="en-US" sz="2400" b="1" i="0" u="none" smtClean="0">
                        <a:solidFill>
                          <a:srgbClr val="7030A0"/>
                        </a:solidFill>
                        <a:latin typeface="Cambria Math"/>
                      </a:rPr>
                      <m:t>=</m:t>
                    </m:r>
                    <m:r>
                      <a:rPr lang="en-US" sz="2400" b="1" i="0" u="none" smtClean="0">
                        <a:solidFill>
                          <a:srgbClr val="7030A0"/>
                        </a:solidFill>
                        <a:latin typeface="Cambria Math"/>
                      </a:rPr>
                      <m:t>𝟐𝟐𝟓</m:t>
                    </m:r>
                    <m:r>
                      <a:rPr lang="en-US" sz="2400" b="1" i="0" u="none" smtClean="0">
                        <a:solidFill>
                          <a:srgbClr val="7030A0"/>
                        </a:solidFill>
                        <a:latin typeface="Cambria Math"/>
                      </a:rPr>
                      <m:t>+</m:t>
                    </m:r>
                    <m:r>
                      <a:rPr lang="en-US" sz="2400" b="1" i="0" u="none" smtClean="0">
                        <a:solidFill>
                          <a:srgbClr val="7030A0"/>
                        </a:solidFill>
                        <a:latin typeface="Cambria Math"/>
                      </a:rPr>
                      <m:t>𝟓𝟎</m:t>
                    </m:r>
                    <m:r>
                      <a:rPr lang="en-US" sz="2400" b="1" i="0" u="none" smtClean="0">
                        <a:solidFill>
                          <a:srgbClr val="7030A0"/>
                        </a:solidFill>
                        <a:latin typeface="Cambria Math"/>
                      </a:rPr>
                      <m:t>=</m:t>
                    </m:r>
                    <m:r>
                      <a:rPr lang="en-US" sz="2400" b="1" i="0" u="none" smtClean="0">
                        <a:solidFill>
                          <a:srgbClr val="7030A0"/>
                        </a:solidFill>
                        <a:latin typeface="Cambria Math"/>
                      </a:rPr>
                      <m:t>𝟐𝟕𝟓</m:t>
                    </m:r>
                    <m:r>
                      <a:rPr lang="en-US" sz="2400" b="1" i="0" u="none" smtClean="0">
                        <a:solidFill>
                          <a:srgbClr val="7030A0"/>
                        </a:solidFill>
                        <a:latin typeface="Cambria Math"/>
                      </a:rPr>
                      <m:t> </m:t>
                    </m:r>
                    <m:r>
                      <a:rPr lang="en-US" sz="2400" b="1" i="0" u="none" smtClean="0">
                        <a:solidFill>
                          <a:srgbClr val="7030A0"/>
                        </a:solidFill>
                        <a:latin typeface="Cambria Math"/>
                      </a:rPr>
                      <m:t>𝐤𝐇𝐳</m:t>
                    </m:r>
                  </m:oMath>
                </a14:m>
                <a:endParaRPr lang="en-US" sz="2400" u="none" dirty="0">
                  <a:solidFill>
                    <a:srgbClr val="7030A0"/>
                  </a:solidFill>
                </a:endParaRPr>
              </a:p>
              <a:p>
                <a:pPr marL="12700" marR="5080" algn="l">
                  <a:spcBef>
                    <a:spcPts val="100"/>
                  </a:spcBef>
                </a:pPr>
                <a:endParaRPr lang="en-US" sz="2400" dirty="0" smtClean="0"/>
              </a:p>
            </p:txBody>
          </p:sp>
        </mc:Choice>
        <mc:Fallback xmlns="">
          <p:sp>
            <p:nvSpPr>
              <p:cNvPr id="12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292" y="55879"/>
                <a:ext cx="11957685" cy="6929654"/>
              </a:xfrm>
              <a:prstGeom prst="rect">
                <a:avLst/>
              </a:prstGeom>
              <a:blipFill rotWithShape="1">
                <a:blip r:embed="rId3"/>
                <a:stretch>
                  <a:fillRect l="-1478" t="-1231" r="-1274" b="-16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142" y="-62357"/>
            <a:ext cx="9669145" cy="1419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8845">
              <a:lnSpc>
                <a:spcPts val="7525"/>
              </a:lnSpc>
              <a:spcBef>
                <a:spcPts val="100"/>
              </a:spcBef>
            </a:pPr>
            <a:r>
              <a:rPr sz="6600" u="none" dirty="0">
                <a:solidFill>
                  <a:srgbClr val="006600"/>
                </a:solidFill>
                <a:latin typeface="Arial"/>
                <a:cs typeface="Arial"/>
              </a:rPr>
              <a:t>M</a:t>
            </a:r>
            <a:r>
              <a:rPr lang="en-US" sz="6600" u="none" spc="-365" dirty="0">
                <a:solidFill>
                  <a:srgbClr val="006600"/>
                </a:solidFill>
                <a:latin typeface="Arial"/>
                <a:cs typeface="Arial"/>
              </a:rPr>
              <a:t>-</a:t>
            </a:r>
            <a:r>
              <a:rPr lang="en-US" sz="6600" u="none" spc="-365" dirty="0" err="1">
                <a:solidFill>
                  <a:srgbClr val="006600"/>
                </a:solidFill>
                <a:latin typeface="Arial"/>
                <a:cs typeface="Arial"/>
              </a:rPr>
              <a:t>a</a:t>
            </a:r>
            <a:r>
              <a:rPr sz="6600" u="none" dirty="0" err="1">
                <a:solidFill>
                  <a:srgbClr val="006600"/>
                </a:solidFill>
                <a:latin typeface="Arial"/>
                <a:cs typeface="Arial"/>
              </a:rPr>
              <a:t>ry</a:t>
            </a:r>
            <a:r>
              <a:rPr sz="6600" u="none" spc="-27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840" dirty="0">
                <a:solidFill>
                  <a:srgbClr val="006600"/>
                </a:solidFill>
                <a:latin typeface="Arial"/>
                <a:cs typeface="Arial"/>
              </a:rPr>
              <a:t>FSK</a:t>
            </a:r>
            <a:r>
              <a:rPr sz="6600" u="none" spc="-17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590" dirty="0">
                <a:solidFill>
                  <a:srgbClr val="006600"/>
                </a:solidFill>
                <a:latin typeface="Arial"/>
                <a:cs typeface="Arial"/>
              </a:rPr>
              <a:t>-</a:t>
            </a:r>
            <a:r>
              <a:rPr sz="6600" u="none" spc="-28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680" dirty="0">
                <a:solidFill>
                  <a:srgbClr val="006600"/>
                </a:solidFill>
                <a:latin typeface="Arial"/>
                <a:cs typeface="Arial"/>
              </a:rPr>
              <a:t>MFSK</a:t>
            </a:r>
            <a:endParaRPr sz="6600" dirty="0">
              <a:latin typeface="Arial"/>
              <a:cs typeface="Arial"/>
            </a:endParaRPr>
          </a:p>
          <a:p>
            <a:pPr marL="12700">
              <a:lnSpc>
                <a:spcPts val="3445"/>
              </a:lnSpc>
            </a:pPr>
            <a:r>
              <a:rPr dirty="0"/>
              <a:t>Basics</a:t>
            </a:r>
            <a:r>
              <a:rPr spc="-8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dirty="0"/>
              <a:t>Equation</a:t>
            </a:r>
            <a:r>
              <a:rPr spc="-7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0" dirty="0"/>
              <a:t>MFSK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Symbol</a:t>
            </a:r>
            <a:r>
              <a:rPr spc="-65" dirty="0"/>
              <a:t> </a:t>
            </a:r>
            <a:r>
              <a:rPr spc="-10" dirty="0"/>
              <a:t>Duration</a:t>
            </a:r>
            <a:r>
              <a:rPr spc="-9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spc="-20" dirty="0"/>
              <a:t>MFSK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4142" y="1658188"/>
            <a:ext cx="58159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Spacing</a:t>
            </a:r>
            <a:r>
              <a:rPr sz="3200" b="1" u="sng" spc="-8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between</a:t>
            </a:r>
            <a:r>
              <a:rPr sz="3200" b="1" u="sng" spc="-5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symbols</a:t>
            </a:r>
            <a:r>
              <a:rPr sz="3200" b="1" u="sng" spc="-7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in</a:t>
            </a:r>
            <a:r>
              <a:rPr sz="3200" b="1" u="sng" spc="-6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2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MFSK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3272" y="2563875"/>
            <a:ext cx="4552315" cy="3260090"/>
          </a:xfrm>
          <a:custGeom>
            <a:avLst/>
            <a:gdLst/>
            <a:ahLst/>
            <a:cxnLst/>
            <a:rect l="l" t="t" r="r" b="b"/>
            <a:pathLst>
              <a:path w="4552315" h="3260090">
                <a:moveTo>
                  <a:pt x="4552175" y="3216846"/>
                </a:moveTo>
                <a:lnTo>
                  <a:pt x="4523600" y="3202559"/>
                </a:lnTo>
                <a:lnTo>
                  <a:pt x="4466450" y="3173984"/>
                </a:lnTo>
                <a:lnTo>
                  <a:pt x="4466450" y="3202559"/>
                </a:lnTo>
                <a:lnTo>
                  <a:pt x="57150" y="3202559"/>
                </a:lnTo>
                <a:lnTo>
                  <a:pt x="57150" y="85725"/>
                </a:lnTo>
                <a:lnTo>
                  <a:pt x="85725" y="85725"/>
                </a:lnTo>
                <a:lnTo>
                  <a:pt x="78613" y="71501"/>
                </a:lnTo>
                <a:lnTo>
                  <a:pt x="42862" y="0"/>
                </a:lnTo>
                <a:lnTo>
                  <a:pt x="0" y="85725"/>
                </a:lnTo>
                <a:lnTo>
                  <a:pt x="28575" y="85725"/>
                </a:lnTo>
                <a:lnTo>
                  <a:pt x="28575" y="3216846"/>
                </a:lnTo>
                <a:lnTo>
                  <a:pt x="42862" y="3216846"/>
                </a:lnTo>
                <a:lnTo>
                  <a:pt x="42862" y="3231134"/>
                </a:lnTo>
                <a:lnTo>
                  <a:pt x="4466450" y="3231134"/>
                </a:lnTo>
                <a:lnTo>
                  <a:pt x="4466450" y="3259709"/>
                </a:lnTo>
                <a:lnTo>
                  <a:pt x="4523600" y="3231134"/>
                </a:lnTo>
                <a:lnTo>
                  <a:pt x="4552175" y="3216846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89550" y="5616650"/>
            <a:ext cx="217805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dirty="0" smtClean="0">
                <a:latin typeface="Calibri"/>
                <a:cs typeface="Calibri"/>
              </a:rPr>
              <a:t>Carrier</a:t>
            </a:r>
            <a:r>
              <a:rPr lang="en-US" sz="1800" b="1" dirty="0" smtClean="0">
                <a:latin typeface="Calibri"/>
                <a:cs typeface="Calibri"/>
              </a:rPr>
              <a:t> signal </a:t>
            </a:r>
            <a:r>
              <a:rPr lang="en-US" b="1" dirty="0" smtClean="0">
                <a:latin typeface="Calibri"/>
                <a:cs typeface="Calibri"/>
              </a:rPr>
              <a:t>with</a:t>
            </a:r>
            <a:r>
              <a:rPr sz="1800" b="1" spc="-40" dirty="0" smtClean="0">
                <a:latin typeface="Calibri"/>
                <a:cs typeface="Calibri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𝐟</a:t>
            </a:r>
            <a:r>
              <a:rPr sz="1950" spc="-37" baseline="-14957" dirty="0">
                <a:latin typeface="Cambria Math"/>
                <a:cs typeface="Cambria Math"/>
              </a:rPr>
              <a:t>𝟏</a:t>
            </a:r>
            <a:endParaRPr sz="1950" baseline="-14957" dirty="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9678" y="2583941"/>
            <a:ext cx="203972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dirty="0" smtClean="0">
                <a:latin typeface="Calibri"/>
                <a:cs typeface="Calibri"/>
              </a:rPr>
              <a:t>Carrier</a:t>
            </a:r>
            <a:r>
              <a:rPr lang="en-US" sz="1800" b="1" dirty="0" smtClean="0">
                <a:latin typeface="Calibri"/>
                <a:cs typeface="Calibri"/>
              </a:rPr>
              <a:t> signal with</a:t>
            </a:r>
            <a:r>
              <a:rPr sz="1800" b="1" spc="-40" dirty="0" smtClean="0">
                <a:latin typeface="Calibri"/>
                <a:cs typeface="Calibri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𝐟</a:t>
            </a:r>
            <a:r>
              <a:rPr sz="1950" spc="-37" baseline="-14957" dirty="0">
                <a:latin typeface="Cambria Math"/>
                <a:cs typeface="Cambria Math"/>
              </a:rPr>
              <a:t>𝟐</a:t>
            </a:r>
            <a:endParaRPr sz="1950" baseline="-14957" dirty="0">
              <a:latin typeface="Cambria Math"/>
              <a:cs typeface="Cambria Math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90600" y="1066800"/>
            <a:ext cx="2895600" cy="6675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751478" y="676870"/>
                <a:ext cx="531632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𝐓</m:t>
                          </m:r>
                        </m:e>
                        <m:sub>
                          <m:r>
                            <a:rPr lang="en-US" b="1" i="0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𝐬</m:t>
                          </m:r>
                        </m:sub>
                      </m:sSub>
                      <m:r>
                        <a:rPr lang="en-US" b="1" i="0" smtClean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  <m:r>
                        <a:rPr lang="en-US" b="1" i="0" smtClean="0">
                          <a:solidFill>
                            <a:srgbClr val="7030A0"/>
                          </a:solidFill>
                          <a:latin typeface="Cambria Math"/>
                        </a:rPr>
                        <m:t>𝐒𝐲𝐦𝐛𝐨𝐥</m:t>
                      </m:r>
                      <m:r>
                        <a:rPr lang="en-US" b="1" i="0" smtClean="0">
                          <a:solidFill>
                            <a:srgbClr val="7030A0"/>
                          </a:solidFill>
                          <a:latin typeface="Cambria Math"/>
                        </a:rPr>
                        <m:t> </m:t>
                      </m:r>
                      <m:r>
                        <a:rPr lang="en-US" b="1" i="0" smtClean="0">
                          <a:solidFill>
                            <a:srgbClr val="7030A0"/>
                          </a:solidFill>
                          <a:latin typeface="Cambria Math"/>
                        </a:rPr>
                        <m:t>𝐃𝐮𝐫𝐚𝐭𝐢𝐨𝐧</m:t>
                      </m:r>
                    </m:oMath>
                  </m:oMathPara>
                </a14:m>
                <a:endParaRPr lang="en-US" b="1" dirty="0" smtClean="0">
                  <a:solidFill>
                    <a:srgbClr val="7030A0"/>
                  </a:solidFill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𝐓</m:t>
                          </m:r>
                        </m:e>
                        <m:sub>
                          <m:r>
                            <a:rPr lang="en-US" b="1" i="0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𝐛</m:t>
                          </m:r>
                        </m:sub>
                      </m:sSub>
                      <m:r>
                        <a:rPr lang="en-US" b="1" i="0" smtClean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  <m:r>
                        <a:rPr lang="en-US" b="1" i="0" smtClean="0">
                          <a:solidFill>
                            <a:srgbClr val="7030A0"/>
                          </a:solidFill>
                          <a:latin typeface="Cambria Math"/>
                        </a:rPr>
                        <m:t>𝐁𝐢𝐭</m:t>
                      </m:r>
                      <m:r>
                        <a:rPr lang="en-US" b="1" i="0" smtClean="0">
                          <a:solidFill>
                            <a:srgbClr val="7030A0"/>
                          </a:solidFill>
                          <a:latin typeface="Cambria Math"/>
                        </a:rPr>
                        <m:t> </m:t>
                      </m:r>
                      <m:r>
                        <a:rPr lang="en-US" b="1" i="0" smtClean="0">
                          <a:solidFill>
                            <a:srgbClr val="7030A0"/>
                          </a:solidFill>
                          <a:latin typeface="Cambria Math"/>
                        </a:rPr>
                        <m:t>𝐃𝐮𝐫𝐚𝐭𝐢𝐨𝐧</m:t>
                      </m:r>
                    </m:oMath>
                  </m:oMathPara>
                </a14:m>
                <a:endParaRPr lang="en-US" b="1" dirty="0" smtClean="0">
                  <a:solidFill>
                    <a:srgbClr val="7030A0"/>
                  </a:solidFill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7030A0"/>
                          </a:solidFill>
                          <a:latin typeface="Cambria Math"/>
                        </a:rPr>
                        <m:t>𝐧</m:t>
                      </m:r>
                      <m:r>
                        <a:rPr lang="en-US" b="1" i="0" smtClean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  <m:r>
                        <a:rPr lang="en-US" b="1" i="0" smtClean="0">
                          <a:solidFill>
                            <a:srgbClr val="7030A0"/>
                          </a:solidFill>
                          <a:latin typeface="Cambria Math"/>
                        </a:rPr>
                        <m:t>𝐧𝐮𝐦𝐛𝐞𝐫</m:t>
                      </m:r>
                      <m:r>
                        <a:rPr lang="en-US" b="1" i="0" smtClean="0">
                          <a:solidFill>
                            <a:srgbClr val="7030A0"/>
                          </a:solidFill>
                          <a:latin typeface="Cambria Math"/>
                        </a:rPr>
                        <m:t> </m:t>
                      </m:r>
                      <m:r>
                        <a:rPr lang="en-US" b="1" i="0" smtClean="0">
                          <a:solidFill>
                            <a:srgbClr val="7030A0"/>
                          </a:solidFill>
                          <a:latin typeface="Cambria Math"/>
                        </a:rPr>
                        <m:t>𝐨𝐟</m:t>
                      </m:r>
                      <m:r>
                        <a:rPr lang="en-US" b="1" i="0" smtClean="0">
                          <a:solidFill>
                            <a:srgbClr val="7030A0"/>
                          </a:solidFill>
                          <a:latin typeface="Cambria Math"/>
                        </a:rPr>
                        <m:t> </m:t>
                      </m:r>
                      <m:r>
                        <a:rPr lang="en-US" b="1" i="0" smtClean="0">
                          <a:solidFill>
                            <a:srgbClr val="7030A0"/>
                          </a:solidFill>
                          <a:latin typeface="Cambria Math"/>
                        </a:rPr>
                        <m:t>𝐛𝐢𝐭𝐬</m:t>
                      </m:r>
                      <m:r>
                        <a:rPr lang="en-US" b="1" i="0" smtClean="0">
                          <a:solidFill>
                            <a:srgbClr val="7030A0"/>
                          </a:solidFill>
                          <a:latin typeface="Cambria Math"/>
                        </a:rPr>
                        <m:t> </m:t>
                      </m:r>
                      <m:r>
                        <a:rPr lang="en-US" b="1" i="0" smtClean="0">
                          <a:solidFill>
                            <a:srgbClr val="7030A0"/>
                          </a:solidFill>
                          <a:latin typeface="Cambria Math"/>
                        </a:rPr>
                        <m:t>𝐩𝐞𝐫</m:t>
                      </m:r>
                      <m:r>
                        <a:rPr lang="en-US" b="1" i="0" smtClean="0">
                          <a:solidFill>
                            <a:srgbClr val="7030A0"/>
                          </a:solidFill>
                          <a:latin typeface="Cambria Math"/>
                        </a:rPr>
                        <m:t> </m:t>
                      </m:r>
                      <m:r>
                        <a:rPr lang="en-US" b="1" i="0" smtClean="0">
                          <a:solidFill>
                            <a:srgbClr val="7030A0"/>
                          </a:solidFill>
                          <a:latin typeface="Cambria Math"/>
                        </a:rPr>
                        <m:t>𝐬𝐲𝐦𝐛𝐨𝐥</m:t>
                      </m:r>
                    </m:oMath>
                  </m:oMathPara>
                </a14:m>
                <a:endParaRPr lang="en-US" b="1" dirty="0" smtClean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1478" y="676870"/>
                <a:ext cx="5316322" cy="923330"/>
              </a:xfrm>
              <a:prstGeom prst="rect">
                <a:avLst/>
              </a:prstGeom>
              <a:blipFill rotWithShape="1">
                <a:blip r:embed="rId3"/>
                <a:stretch>
                  <a:fillRect t="-32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14400" y="1066800"/>
            <a:ext cx="2837078" cy="6675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8174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74142" y="0"/>
            <a:ext cx="35363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Frequencies</a:t>
            </a:r>
            <a:r>
              <a:rPr sz="3200" b="1" u="sng" spc="-7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of</a:t>
            </a:r>
            <a:r>
              <a:rPr sz="3200" b="1" u="sng" spc="-5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2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MFSK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 rotWithShape="1">
          <a:blip r:embed="rId3" cstate="print"/>
          <a:srcRect t="34933" b="33785"/>
          <a:stretch/>
        </p:blipFill>
        <p:spPr>
          <a:xfrm>
            <a:off x="0" y="64516"/>
            <a:ext cx="12192000" cy="21452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90600" y="1752600"/>
            <a:ext cx="44958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009900" y="1769471"/>
                <a:ext cx="49530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/>
                            </a:rPr>
                            <m:t>𝐟</m:t>
                          </m:r>
                        </m:e>
                        <m:sub>
                          <m:r>
                            <a:rPr lang="en-US" sz="2400" b="1" i="0" smtClean="0">
                              <a:latin typeface="Cambria Math"/>
                            </a:rPr>
                            <m:t>𝐢</m:t>
                          </m:r>
                        </m:sub>
                      </m:sSub>
                      <m:r>
                        <a:rPr lang="en-US" sz="2400" b="1" i="0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/>
                            </a:rPr>
                            <m:t>𝐟</m:t>
                          </m:r>
                        </m:e>
                        <m:sub>
                          <m:r>
                            <a:rPr lang="en-US" sz="2400" b="1" i="0" smtClean="0">
                              <a:latin typeface="Cambria Math"/>
                            </a:rPr>
                            <m:t>𝐜</m:t>
                          </m:r>
                        </m:sub>
                      </m:sSub>
                      <m:r>
                        <a:rPr lang="en-US" sz="2400" b="1" i="0" smtClean="0"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US" sz="24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latin typeface="Cambria Math"/>
                            </a:rPr>
                            <m:t>𝟐𝐢</m:t>
                          </m:r>
                          <m:r>
                            <a:rPr lang="en-US" sz="2400" b="1" i="0" smtClean="0">
                              <a:latin typeface="Cambria Math"/>
                            </a:rPr>
                            <m:t>−</m:t>
                          </m:r>
                          <m:r>
                            <a:rPr lang="en-US" sz="2400" b="1" i="0" smtClean="0">
                              <a:latin typeface="Cambria Math"/>
                            </a:rPr>
                            <m:t>𝐌</m:t>
                          </m:r>
                          <m:r>
                            <a:rPr lang="en-US" sz="2400" b="1" i="0" smtClean="0">
                              <a:latin typeface="Cambria Math"/>
                            </a:rPr>
                            <m:t>−</m:t>
                          </m:r>
                          <m:r>
                            <a:rPr lang="en-US" sz="2400" b="1" i="0" smtClean="0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sz="2400" b="1" i="0" smtClean="0">
                          <a:latin typeface="Cambria Math"/>
                        </a:rPr>
                        <m:t>𝚫</m:t>
                      </m:r>
                      <m:r>
                        <a:rPr lang="en-US" sz="2400" b="1" i="0" smtClean="0">
                          <a:latin typeface="Cambria Math"/>
                        </a:rPr>
                        <m:t>𝐟</m:t>
                      </m:r>
                    </m:oMath>
                  </m:oMathPara>
                </a14:m>
                <a:endParaRPr lang="en-US" sz="2400" b="1" dirty="0" smtClean="0"/>
              </a:p>
              <a:p>
                <a:endParaRPr lang="en-US" sz="2400" b="1" dirty="0" smtClean="0"/>
              </a:p>
              <a:p>
                <a:r>
                  <a:rPr lang="en-US" sz="2400" b="1" dirty="0" smtClean="0"/>
                  <a:t>Here,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/>
                            </a:rPr>
                            <m:t>𝐟</m:t>
                          </m:r>
                        </m:e>
                        <m:sub>
                          <m:r>
                            <a:rPr lang="en-US" sz="2400" b="1" i="0" smtClean="0">
                              <a:latin typeface="Cambria Math"/>
                            </a:rPr>
                            <m:t>𝐜</m:t>
                          </m:r>
                        </m:sub>
                      </m:sSub>
                      <m:r>
                        <a:rPr lang="en-US" sz="2400" b="1" i="0" smtClean="0">
                          <a:latin typeface="Cambria Math"/>
                        </a:rPr>
                        <m:t>=</m:t>
                      </m:r>
                      <m:r>
                        <a:rPr lang="en-US" sz="2400" b="1" i="0" smtClean="0">
                          <a:latin typeface="Cambria Math"/>
                        </a:rPr>
                        <m:t>𝐜𝐞𝐧𝐭𝐞𝐫</m:t>
                      </m:r>
                      <m:r>
                        <a:rPr lang="en-US" sz="2400" b="1" i="0" smtClean="0">
                          <a:latin typeface="Cambria Math"/>
                        </a:rPr>
                        <m:t> </m:t>
                      </m:r>
                      <m:r>
                        <a:rPr lang="en-US" sz="2400" b="1" i="0" smtClean="0">
                          <a:latin typeface="Cambria Math"/>
                        </a:rPr>
                        <m:t>𝐟𝐫𝐞𝐪𝐮𝐞𝐧𝐜𝐲</m:t>
                      </m:r>
                    </m:oMath>
                  </m:oMathPara>
                </a14:m>
                <a:endParaRPr lang="en-US" sz="2400" b="1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/>
                        </a:rPr>
                        <m:t>𝚫</m:t>
                      </m:r>
                      <m:r>
                        <a:rPr lang="en-US" sz="2400" b="1" i="0" smtClean="0">
                          <a:latin typeface="Cambria Math"/>
                        </a:rPr>
                        <m:t>𝐟</m:t>
                      </m:r>
                      <m:r>
                        <a:rPr lang="en-US" sz="2400" b="1" i="0" smtClean="0">
                          <a:latin typeface="Cambria Math"/>
                        </a:rPr>
                        <m:t>=</m:t>
                      </m:r>
                      <m:r>
                        <a:rPr lang="en-US" sz="2400" b="1" i="0" smtClean="0">
                          <a:latin typeface="Cambria Math"/>
                        </a:rPr>
                        <m:t>𝐟𝐫𝐞𝐪𝐮𝐞𝐧𝐜𝐲</m:t>
                      </m:r>
                      <m:r>
                        <a:rPr lang="en-US" sz="2400" b="1" i="0" smtClean="0">
                          <a:latin typeface="Cambria Math"/>
                        </a:rPr>
                        <m:t> </m:t>
                      </m:r>
                      <m:r>
                        <a:rPr lang="en-US" sz="2400" b="1" i="0" smtClean="0">
                          <a:latin typeface="Cambria Math"/>
                        </a:rPr>
                        <m:t>𝐝𝐞𝐯𝐢𝐚𝐭𝐢𝐨𝐧</m:t>
                      </m:r>
                    </m:oMath>
                  </m:oMathPara>
                </a14:m>
                <a:endParaRPr lang="en-US" sz="2400" b="1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/>
                        </a:rPr>
                        <m:t>𝐌</m:t>
                      </m:r>
                      <m:r>
                        <a:rPr lang="en-US" sz="2400" b="1" i="0" smtClean="0">
                          <a:latin typeface="Cambria Math"/>
                        </a:rPr>
                        <m:t>=</m:t>
                      </m:r>
                      <m:r>
                        <a:rPr lang="en-US" sz="2400" b="1" i="0" smtClean="0">
                          <a:latin typeface="Cambria Math"/>
                        </a:rPr>
                        <m:t>𝐍𝐮𝐦𝐛𝐞𝐫</m:t>
                      </m:r>
                      <m:r>
                        <a:rPr lang="en-US" sz="2400" b="1" i="0" smtClean="0">
                          <a:latin typeface="Cambria Math"/>
                        </a:rPr>
                        <m:t> </m:t>
                      </m:r>
                      <m:r>
                        <a:rPr lang="en-US" sz="2400" b="1" i="0" smtClean="0">
                          <a:latin typeface="Cambria Math"/>
                        </a:rPr>
                        <m:t>𝐨𝐟</m:t>
                      </m:r>
                      <m:r>
                        <a:rPr lang="en-US" sz="2400" b="1" i="0" smtClean="0">
                          <a:latin typeface="Cambria Math"/>
                        </a:rPr>
                        <m:t> </m:t>
                      </m:r>
                      <m:r>
                        <a:rPr lang="en-US" sz="2400" b="1" i="0" smtClean="0">
                          <a:latin typeface="Cambria Math"/>
                        </a:rPr>
                        <m:t>𝐬𝐲𝐦𝐛𝐨𝐥𝐬</m:t>
                      </m:r>
                      <m:r>
                        <a:rPr lang="en-US" sz="2400" b="1" i="0" smtClean="0">
                          <a:latin typeface="Cambria Math"/>
                        </a:rPr>
                        <m:t>/</m:t>
                      </m:r>
                      <m:r>
                        <a:rPr lang="en-US" sz="2400" b="1" i="0" smtClean="0">
                          <a:latin typeface="Cambria Math"/>
                        </a:rPr>
                        <m:t>𝐥𝐞𝐯𝐞𝐥𝐬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9900" y="1769471"/>
                <a:ext cx="4953000" cy="2308324"/>
              </a:xfrm>
              <a:prstGeom prst="rect">
                <a:avLst/>
              </a:prstGeom>
              <a:blipFill rotWithShape="1">
                <a:blip r:embed="rId4"/>
                <a:stretch>
                  <a:fillRect l="-1970" t="-1847" b="-5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2514600" y="1752600"/>
            <a:ext cx="43434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2830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4739" y="600583"/>
            <a:ext cx="1175702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 algn="just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9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2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20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4-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FSK</a:t>
            </a:r>
            <a:r>
              <a:rPr sz="2400" b="1" spc="2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system,</a:t>
            </a:r>
            <a:r>
              <a:rPr sz="2400" b="1" spc="2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2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 smtClean="0">
                <a:solidFill>
                  <a:srgbClr val="6F2F9F"/>
                </a:solidFill>
                <a:latin typeface="Calibri"/>
                <a:cs typeface="Calibri"/>
              </a:rPr>
              <a:t>c</a:t>
            </a:r>
            <a:r>
              <a:rPr lang="en-US" sz="2400" b="1" dirty="0" smtClean="0">
                <a:solidFill>
                  <a:srgbClr val="6F2F9F"/>
                </a:solidFill>
                <a:latin typeface="Calibri"/>
                <a:cs typeface="Calibri"/>
              </a:rPr>
              <a:t>enter</a:t>
            </a:r>
            <a:r>
              <a:rPr sz="2400" b="1" spc="210" dirty="0" smtClean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frequency</a:t>
            </a:r>
            <a:r>
              <a:rPr sz="2400" b="1" spc="2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20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250</a:t>
            </a:r>
            <a:r>
              <a:rPr sz="2400" b="1" spc="20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kHz</a:t>
            </a:r>
            <a:r>
              <a:rPr sz="2400" b="1" spc="2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2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2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frequency</a:t>
            </a:r>
            <a:r>
              <a:rPr sz="2400" b="1" spc="2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deviation</a:t>
            </a:r>
            <a:r>
              <a:rPr sz="2400" b="1" spc="2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20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25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kHz.</a:t>
            </a:r>
            <a:r>
              <a:rPr sz="2400" b="1" spc="80" dirty="0">
                <a:solidFill>
                  <a:srgbClr val="6F2F9F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Determine</a:t>
            </a:r>
            <a:r>
              <a:rPr sz="2400" b="1" spc="90" dirty="0">
                <a:solidFill>
                  <a:srgbClr val="6F2F9F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(a)</a:t>
            </a:r>
            <a:r>
              <a:rPr sz="2400" b="1" spc="85" dirty="0">
                <a:solidFill>
                  <a:srgbClr val="6F2F9F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90" dirty="0">
                <a:solidFill>
                  <a:srgbClr val="6F2F9F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number</a:t>
            </a:r>
            <a:r>
              <a:rPr sz="2400" b="1" spc="95" dirty="0">
                <a:solidFill>
                  <a:srgbClr val="6F2F9F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85" dirty="0">
                <a:solidFill>
                  <a:srgbClr val="6F2F9F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bits</a:t>
            </a:r>
            <a:r>
              <a:rPr sz="2400" b="1" spc="90" dirty="0">
                <a:solidFill>
                  <a:srgbClr val="6F2F9F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per</a:t>
            </a:r>
            <a:r>
              <a:rPr sz="2400" b="1" spc="85" dirty="0">
                <a:solidFill>
                  <a:srgbClr val="6F2F9F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symbol,</a:t>
            </a:r>
            <a:r>
              <a:rPr sz="2400" b="1" spc="85" dirty="0">
                <a:solidFill>
                  <a:srgbClr val="6F2F9F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80" dirty="0">
                <a:solidFill>
                  <a:srgbClr val="6F2F9F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(b)</a:t>
            </a:r>
            <a:r>
              <a:rPr sz="2400" b="1" spc="90" dirty="0">
                <a:solidFill>
                  <a:srgbClr val="6F2F9F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90" dirty="0">
                <a:solidFill>
                  <a:srgbClr val="6F2F9F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individual</a:t>
            </a:r>
            <a:r>
              <a:rPr sz="2400" b="1" spc="85" dirty="0">
                <a:solidFill>
                  <a:srgbClr val="6F2F9F"/>
                </a:solidFill>
                <a:latin typeface="Calibri"/>
                <a:cs typeface="Calibri"/>
              </a:rPr>
              <a:t> 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carrier frequencies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used.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8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spc="-20" dirty="0"/>
              <a:t>MFSK</a:t>
            </a:r>
          </a:p>
        </p:txBody>
      </p:sp>
      <p:pic>
        <p:nvPicPr>
          <p:cNvPr id="4" name="object 4"/>
          <p:cNvPicPr/>
          <p:nvPr/>
        </p:nvPicPr>
        <p:blipFill rotWithShape="1">
          <a:blip r:embed="rId2" cstate="print"/>
          <a:srcRect t="27333"/>
          <a:stretch/>
        </p:blipFill>
        <p:spPr>
          <a:xfrm>
            <a:off x="0" y="1874520"/>
            <a:ext cx="12192000" cy="4983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800600" y="2133600"/>
            <a:ext cx="42672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715000" y="1921871"/>
                <a:ext cx="4953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/>
                            </a:rPr>
                            <m:t>𝐟</m:t>
                          </m:r>
                        </m:e>
                        <m:sub>
                          <m:r>
                            <a:rPr lang="en-US" sz="2400" b="1" i="0" smtClean="0">
                              <a:latin typeface="Cambria Math"/>
                            </a:rPr>
                            <m:t>𝐢</m:t>
                          </m:r>
                        </m:sub>
                      </m:sSub>
                      <m:r>
                        <a:rPr lang="en-US" sz="2400" b="1" i="0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/>
                            </a:rPr>
                            <m:t>𝐟</m:t>
                          </m:r>
                        </m:e>
                        <m:sub>
                          <m:r>
                            <a:rPr lang="en-US" sz="2400" b="1" i="0" smtClean="0">
                              <a:latin typeface="Cambria Math"/>
                            </a:rPr>
                            <m:t>𝐜</m:t>
                          </m:r>
                        </m:sub>
                      </m:sSub>
                      <m:r>
                        <a:rPr lang="en-US" sz="2400" b="1" i="0" smtClean="0"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US" sz="24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latin typeface="Cambria Math"/>
                            </a:rPr>
                            <m:t>𝟐𝐢</m:t>
                          </m:r>
                          <m:r>
                            <a:rPr lang="en-US" sz="2400" b="1" i="0" smtClean="0">
                              <a:latin typeface="Cambria Math"/>
                            </a:rPr>
                            <m:t>−</m:t>
                          </m:r>
                          <m:r>
                            <a:rPr lang="en-US" sz="2400" b="1" i="0" smtClean="0">
                              <a:latin typeface="Cambria Math"/>
                            </a:rPr>
                            <m:t>𝐌</m:t>
                          </m:r>
                          <m:r>
                            <a:rPr lang="en-US" sz="2400" b="1" i="0" smtClean="0">
                              <a:latin typeface="Cambria Math"/>
                            </a:rPr>
                            <m:t>−</m:t>
                          </m:r>
                          <m:r>
                            <a:rPr lang="en-US" sz="2400" b="1" i="0" smtClean="0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sz="2400" b="1" i="0" smtClean="0">
                          <a:latin typeface="Cambria Math"/>
                        </a:rPr>
                        <m:t>𝚫</m:t>
                      </m:r>
                      <m:r>
                        <a:rPr lang="en-US" sz="2400" b="1" i="0" smtClean="0">
                          <a:latin typeface="Cambria Math"/>
                        </a:rPr>
                        <m:t>𝐟</m:t>
                      </m:r>
                    </m:oMath>
                  </m:oMathPara>
                </a14:m>
                <a:endParaRPr lang="en-US" sz="2400" b="1" dirty="0" smtClean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1921871"/>
                <a:ext cx="4953000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369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5219700" y="1905000"/>
            <a:ext cx="43434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2188" y="-62357"/>
            <a:ext cx="916686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u="none" spc="-390" dirty="0">
                <a:solidFill>
                  <a:srgbClr val="006600"/>
                </a:solidFill>
                <a:latin typeface="Arial"/>
                <a:cs typeface="Arial"/>
              </a:rPr>
              <a:t>Phase</a:t>
            </a:r>
            <a:r>
              <a:rPr sz="6600" u="none" spc="-18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325" dirty="0">
                <a:solidFill>
                  <a:srgbClr val="006600"/>
                </a:solidFill>
                <a:latin typeface="Arial"/>
                <a:cs typeface="Arial"/>
              </a:rPr>
              <a:t>Shift</a:t>
            </a:r>
            <a:r>
              <a:rPr sz="6600" u="none" spc="-17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260" dirty="0">
                <a:solidFill>
                  <a:srgbClr val="006600"/>
                </a:solidFill>
                <a:latin typeface="Arial"/>
                <a:cs typeface="Arial"/>
              </a:rPr>
              <a:t>Keying</a:t>
            </a:r>
            <a:r>
              <a:rPr sz="6600" u="none" spc="-19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590" dirty="0">
                <a:solidFill>
                  <a:srgbClr val="006600"/>
                </a:solidFill>
                <a:latin typeface="Arial"/>
                <a:cs typeface="Arial"/>
              </a:rPr>
              <a:t>-</a:t>
            </a:r>
            <a:r>
              <a:rPr sz="6600" u="none" spc="-18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800" dirty="0">
                <a:solidFill>
                  <a:srgbClr val="006600"/>
                </a:solidFill>
                <a:latin typeface="Arial"/>
                <a:cs typeface="Arial"/>
              </a:rPr>
              <a:t>PSK</a:t>
            </a:r>
            <a:endParaRPr sz="6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4142" y="749045"/>
            <a:ext cx="14478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Outlines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4739" y="1243710"/>
            <a:ext cx="4152265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Basics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PSK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Waveforms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BPSK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Bandwidth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PSK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Multilevel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PSK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Demodulation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PSK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Constellation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Diagram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PSK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Advantages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PSK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Disadvantages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PSK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Applications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PSK</a:t>
            </a:r>
            <a:endParaRPr sz="2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53171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Basics</a:t>
            </a:r>
            <a:r>
              <a:rPr spc="-45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spc="-25" dirty="0"/>
              <a:t>PSK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4739" y="575309"/>
            <a:ext cx="1175702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6350" indent="-457200" algn="just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9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PSK</a:t>
            </a:r>
            <a:r>
              <a:rPr sz="2400" b="1" spc="2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2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229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digital</a:t>
            </a:r>
            <a:r>
              <a:rPr sz="2400" b="1" spc="2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modulation</a:t>
            </a:r>
            <a:r>
              <a:rPr sz="2400" b="1" spc="229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technique</a:t>
            </a:r>
            <a:r>
              <a:rPr sz="2400" b="1" spc="2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that</a:t>
            </a:r>
            <a:r>
              <a:rPr sz="2400" b="1" spc="229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converts</a:t>
            </a:r>
            <a:r>
              <a:rPr sz="2400" b="1" spc="2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digital</a:t>
            </a:r>
            <a:r>
              <a:rPr sz="2400" b="1" spc="229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signals</a:t>
            </a:r>
            <a:r>
              <a:rPr sz="2400" b="1" spc="229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into</a:t>
            </a:r>
            <a:r>
              <a:rPr sz="2400" b="1" spc="2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Analog</a:t>
            </a:r>
            <a:r>
              <a:rPr sz="2400" b="1" spc="2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form</a:t>
            </a:r>
            <a:r>
              <a:rPr sz="2400" b="1" spc="2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by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varying</a:t>
            </a:r>
            <a:r>
              <a:rPr sz="2400" b="1" spc="125" dirty="0">
                <a:solidFill>
                  <a:srgbClr val="6F2F9F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145" dirty="0">
                <a:solidFill>
                  <a:srgbClr val="6F2F9F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carrier’s</a:t>
            </a:r>
            <a:r>
              <a:rPr sz="2400" b="1" spc="135" dirty="0">
                <a:solidFill>
                  <a:srgbClr val="6F2F9F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Phase,</a:t>
            </a:r>
            <a:r>
              <a:rPr sz="2400" b="1" spc="140" dirty="0">
                <a:solidFill>
                  <a:srgbClr val="6F2F9F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enabling</a:t>
            </a:r>
            <a:r>
              <a:rPr sz="2400" b="1" spc="135" dirty="0">
                <a:solidFill>
                  <a:srgbClr val="6F2F9F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efficient</a:t>
            </a:r>
            <a:r>
              <a:rPr sz="2400" b="1" spc="135" dirty="0">
                <a:solidFill>
                  <a:srgbClr val="6F2F9F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transmission</a:t>
            </a:r>
            <a:r>
              <a:rPr sz="2400" b="1" spc="135" dirty="0">
                <a:solidFill>
                  <a:srgbClr val="6F2F9F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over</a:t>
            </a:r>
            <a:r>
              <a:rPr sz="2400" b="1" spc="135" dirty="0">
                <a:solidFill>
                  <a:srgbClr val="6F2F9F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135" dirty="0">
                <a:solidFill>
                  <a:srgbClr val="6F2F9F"/>
                </a:solidFill>
                <a:latin typeface="Calibri"/>
                <a:cs typeface="Calibri"/>
              </a:rPr>
              <a:t> 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communication channel.</a:t>
            </a:r>
            <a:endParaRPr sz="2400" dirty="0">
              <a:latin typeface="Calibri"/>
              <a:cs typeface="Calibri"/>
            </a:endParaRPr>
          </a:p>
          <a:p>
            <a:pPr marL="469265" indent="-456565" algn="just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PSK,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Phase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Carrier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varies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according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Digital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Message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Signal.</a:t>
            </a:r>
            <a:endParaRPr sz="2400" dirty="0">
              <a:latin typeface="Calibri"/>
              <a:cs typeface="Calibri"/>
            </a:endParaRPr>
          </a:p>
          <a:p>
            <a:pPr marL="469265" indent="-456565" algn="just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Let’s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consider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Binary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PSK,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Binary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message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m(t),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which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combination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logic</a:t>
            </a:r>
            <a:endParaRPr sz="2400" dirty="0">
              <a:latin typeface="Calibri"/>
              <a:cs typeface="Calibri"/>
            </a:endParaRPr>
          </a:p>
          <a:p>
            <a:pPr marL="469900" algn="just">
              <a:lnSpc>
                <a:spcPct val="100000"/>
              </a:lnSpc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‘0’=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en-US" sz="2400" b="1" dirty="0">
                <a:solidFill>
                  <a:srgbClr val="6F2F9F"/>
                </a:solidFill>
                <a:latin typeface="Calibri"/>
                <a:cs typeface="Calibri"/>
              </a:rPr>
              <a:t>-</a:t>
            </a:r>
            <a:r>
              <a:rPr sz="2400" b="1" dirty="0" smtClean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2400" b="1" spc="-30" dirty="0" smtClean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logic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‘1’=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en-US" sz="2400" b="1" spc="-20" dirty="0">
                <a:solidFill>
                  <a:srgbClr val="6F2F9F"/>
                </a:solidFill>
                <a:latin typeface="Calibri"/>
                <a:cs typeface="Calibri"/>
              </a:rPr>
              <a:t>+</a:t>
            </a:r>
            <a:r>
              <a:rPr sz="2400" b="1" spc="-25" dirty="0" smtClean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9125" y="4106164"/>
            <a:ext cx="6076315" cy="2162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9580">
              <a:lnSpc>
                <a:spcPts val="1170"/>
              </a:lnSpc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Bipolar</a:t>
            </a:r>
            <a:endParaRPr sz="1800">
              <a:latin typeface="Calibri"/>
              <a:cs typeface="Calibri"/>
            </a:endParaRPr>
          </a:p>
          <a:p>
            <a:pPr marL="377190" algn="ctr">
              <a:lnSpc>
                <a:spcPts val="1620"/>
              </a:lnSpc>
              <a:tabLst>
                <a:tab pos="2353945" algn="l"/>
              </a:tabLst>
            </a:pPr>
            <a:r>
              <a:rPr sz="2700" b="1" spc="-37" baseline="-33950" dirty="0">
                <a:solidFill>
                  <a:srgbClr val="FFFFFF"/>
                </a:solidFill>
                <a:latin typeface="Calibri"/>
                <a:cs typeface="Calibri"/>
              </a:rPr>
              <a:t>NRZ</a:t>
            </a:r>
            <a:r>
              <a:rPr sz="2700" b="1" baseline="-339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0"/>
              </a:spcBef>
              <a:tabLst>
                <a:tab pos="1673860" algn="l"/>
                <a:tab pos="3705860" algn="l"/>
                <a:tab pos="5468620" algn="l"/>
              </a:tabLst>
            </a:pPr>
            <a:r>
              <a:rPr sz="1800" b="1" dirty="0">
                <a:latin typeface="Calibri"/>
                <a:cs typeface="Calibri"/>
              </a:rPr>
              <a:t>Binary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Data</a:t>
            </a:r>
            <a:r>
              <a:rPr sz="1800" b="1" dirty="0">
                <a:latin typeface="Calibri"/>
                <a:cs typeface="Calibri"/>
              </a:rPr>
              <a:t>	</a:t>
            </a:r>
            <a:r>
              <a:rPr sz="2700" b="1" spc="-15" baseline="-23148" dirty="0">
                <a:solidFill>
                  <a:srgbClr val="FFFFFF"/>
                </a:solidFill>
                <a:latin typeface="Calibri"/>
                <a:cs typeface="Calibri"/>
              </a:rPr>
              <a:t>Encoder</a:t>
            </a:r>
            <a:r>
              <a:rPr sz="2700" b="1" baseline="-23148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700" b="1" spc="-15" baseline="10802" dirty="0">
                <a:solidFill>
                  <a:srgbClr val="FFFFFF"/>
                </a:solidFill>
                <a:latin typeface="Calibri"/>
                <a:cs typeface="Calibri"/>
              </a:rPr>
              <a:t>Modulator</a:t>
            </a:r>
            <a:r>
              <a:rPr sz="2700" b="1" baseline="10802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800" spc="-20" dirty="0">
                <a:latin typeface="Cambria Math"/>
                <a:cs typeface="Cambria Math"/>
              </a:rPr>
              <a:t>𝚽</a:t>
            </a:r>
            <a:r>
              <a:rPr sz="1950" spc="-30" baseline="-14957" dirty="0">
                <a:latin typeface="Cambria Math"/>
                <a:cs typeface="Cambria Math"/>
              </a:rPr>
              <a:t>𝐁𝐏𝐒𝐊</a:t>
            </a:r>
            <a:endParaRPr sz="1950" baseline="-14957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1800">
              <a:latin typeface="Cambria Math"/>
              <a:cs typeface="Cambria Math"/>
            </a:endParaRPr>
          </a:p>
          <a:p>
            <a:pPr marL="2355215" algn="ctr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Carrier</a:t>
            </a:r>
            <a:endParaRPr sz="1800">
              <a:latin typeface="Calibri"/>
              <a:cs typeface="Calibri"/>
            </a:endParaRPr>
          </a:p>
          <a:p>
            <a:pPr marL="2355215" algn="ctr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Generator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33857" y="4048353"/>
            <a:ext cx="5862320" cy="2374265"/>
            <a:chOff x="333857" y="4048353"/>
            <a:chExt cx="5862320" cy="2374265"/>
          </a:xfrm>
        </p:grpSpPr>
        <p:sp>
          <p:nvSpPr>
            <p:cNvPr id="6" name="object 6"/>
            <p:cNvSpPr/>
            <p:nvPr/>
          </p:nvSpPr>
          <p:spPr>
            <a:xfrm>
              <a:off x="333857" y="4417441"/>
              <a:ext cx="1395095" cy="114300"/>
            </a:xfrm>
            <a:custGeom>
              <a:avLst/>
              <a:gdLst/>
              <a:ahLst/>
              <a:cxnLst/>
              <a:rect l="l" t="t" r="r" b="b"/>
              <a:pathLst>
                <a:path w="1395095" h="114300">
                  <a:moveTo>
                    <a:pt x="1280566" y="0"/>
                  </a:moveTo>
                  <a:lnTo>
                    <a:pt x="1280566" y="114299"/>
                  </a:lnTo>
                  <a:lnTo>
                    <a:pt x="1356766" y="76199"/>
                  </a:lnTo>
                  <a:lnTo>
                    <a:pt x="1299616" y="76199"/>
                  </a:lnTo>
                  <a:lnTo>
                    <a:pt x="1299616" y="38099"/>
                  </a:lnTo>
                  <a:lnTo>
                    <a:pt x="1356766" y="38099"/>
                  </a:lnTo>
                  <a:lnTo>
                    <a:pt x="1280566" y="0"/>
                  </a:lnTo>
                  <a:close/>
                </a:path>
                <a:path w="1395095" h="114300">
                  <a:moveTo>
                    <a:pt x="1280566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1280566" y="76199"/>
                  </a:lnTo>
                  <a:lnTo>
                    <a:pt x="1280566" y="38099"/>
                  </a:lnTo>
                  <a:close/>
                </a:path>
                <a:path w="1395095" h="114300">
                  <a:moveTo>
                    <a:pt x="1356766" y="38099"/>
                  </a:moveTo>
                  <a:lnTo>
                    <a:pt x="1299616" y="38099"/>
                  </a:lnTo>
                  <a:lnTo>
                    <a:pt x="1299616" y="76199"/>
                  </a:lnTo>
                  <a:lnTo>
                    <a:pt x="1356766" y="76199"/>
                  </a:lnTo>
                  <a:lnTo>
                    <a:pt x="1394866" y="57149"/>
                  </a:lnTo>
                  <a:lnTo>
                    <a:pt x="1356766" y="38099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8724" y="4062641"/>
              <a:ext cx="1301877" cy="82381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728724" y="4062641"/>
              <a:ext cx="1302385" cy="824230"/>
            </a:xfrm>
            <a:custGeom>
              <a:avLst/>
              <a:gdLst/>
              <a:ahLst/>
              <a:cxnLst/>
              <a:rect l="l" t="t" r="r" b="b"/>
              <a:pathLst>
                <a:path w="1302385" h="824229">
                  <a:moveTo>
                    <a:pt x="0" y="823810"/>
                  </a:moveTo>
                  <a:lnTo>
                    <a:pt x="1301877" y="823810"/>
                  </a:lnTo>
                  <a:lnTo>
                    <a:pt x="1301877" y="0"/>
                  </a:lnTo>
                  <a:lnTo>
                    <a:pt x="0" y="0"/>
                  </a:lnTo>
                  <a:lnTo>
                    <a:pt x="0" y="82381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30474" y="4417060"/>
              <a:ext cx="853440" cy="114300"/>
            </a:xfrm>
            <a:custGeom>
              <a:avLst/>
              <a:gdLst/>
              <a:ahLst/>
              <a:cxnLst/>
              <a:rect l="l" t="t" r="r" b="b"/>
              <a:pathLst>
                <a:path w="853439" h="114300">
                  <a:moveTo>
                    <a:pt x="739266" y="0"/>
                  </a:moveTo>
                  <a:lnTo>
                    <a:pt x="739147" y="35813"/>
                  </a:lnTo>
                  <a:lnTo>
                    <a:pt x="739139" y="38226"/>
                  </a:lnTo>
                  <a:lnTo>
                    <a:pt x="739012" y="76326"/>
                  </a:lnTo>
                  <a:lnTo>
                    <a:pt x="738885" y="114299"/>
                  </a:lnTo>
                  <a:lnTo>
                    <a:pt x="815511" y="76326"/>
                  </a:lnTo>
                  <a:lnTo>
                    <a:pt x="758062" y="76326"/>
                  </a:lnTo>
                  <a:lnTo>
                    <a:pt x="758189" y="38226"/>
                  </a:lnTo>
                  <a:lnTo>
                    <a:pt x="815130" y="38226"/>
                  </a:lnTo>
                  <a:lnTo>
                    <a:pt x="739266" y="0"/>
                  </a:lnTo>
                  <a:close/>
                </a:path>
                <a:path w="853439" h="114300">
                  <a:moveTo>
                    <a:pt x="126" y="35813"/>
                  </a:moveTo>
                  <a:lnTo>
                    <a:pt x="0" y="73913"/>
                  </a:lnTo>
                  <a:lnTo>
                    <a:pt x="758063" y="76326"/>
                  </a:lnTo>
                  <a:lnTo>
                    <a:pt x="739012" y="76326"/>
                  </a:lnTo>
                  <a:lnTo>
                    <a:pt x="739139" y="38226"/>
                  </a:lnTo>
                  <a:lnTo>
                    <a:pt x="758189" y="38226"/>
                  </a:lnTo>
                  <a:lnTo>
                    <a:pt x="126" y="35813"/>
                  </a:lnTo>
                  <a:close/>
                </a:path>
                <a:path w="853439" h="114300">
                  <a:moveTo>
                    <a:pt x="815130" y="38226"/>
                  </a:moveTo>
                  <a:lnTo>
                    <a:pt x="758189" y="38226"/>
                  </a:lnTo>
                  <a:lnTo>
                    <a:pt x="758062" y="76326"/>
                  </a:lnTo>
                  <a:lnTo>
                    <a:pt x="815511" y="76326"/>
                  </a:lnTo>
                  <a:lnTo>
                    <a:pt x="853439" y="57530"/>
                  </a:lnTo>
                  <a:lnTo>
                    <a:pt x="815130" y="38226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3914" y="4062641"/>
              <a:ext cx="1301877" cy="82381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883914" y="4062641"/>
              <a:ext cx="1302385" cy="824230"/>
            </a:xfrm>
            <a:custGeom>
              <a:avLst/>
              <a:gdLst/>
              <a:ahLst/>
              <a:cxnLst/>
              <a:rect l="l" t="t" r="r" b="b"/>
              <a:pathLst>
                <a:path w="1302385" h="824229">
                  <a:moveTo>
                    <a:pt x="0" y="823810"/>
                  </a:moveTo>
                  <a:lnTo>
                    <a:pt x="1301877" y="823810"/>
                  </a:lnTo>
                  <a:lnTo>
                    <a:pt x="1301877" y="0"/>
                  </a:lnTo>
                  <a:lnTo>
                    <a:pt x="0" y="0"/>
                  </a:lnTo>
                  <a:lnTo>
                    <a:pt x="0" y="82381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85664" y="4417441"/>
              <a:ext cx="1010285" cy="114300"/>
            </a:xfrm>
            <a:custGeom>
              <a:avLst/>
              <a:gdLst/>
              <a:ahLst/>
              <a:cxnLst/>
              <a:rect l="l" t="t" r="r" b="b"/>
              <a:pathLst>
                <a:path w="1010285" h="114300">
                  <a:moveTo>
                    <a:pt x="895604" y="0"/>
                  </a:moveTo>
                  <a:lnTo>
                    <a:pt x="895604" y="114299"/>
                  </a:lnTo>
                  <a:lnTo>
                    <a:pt x="971804" y="76199"/>
                  </a:lnTo>
                  <a:lnTo>
                    <a:pt x="914654" y="76199"/>
                  </a:lnTo>
                  <a:lnTo>
                    <a:pt x="914654" y="38099"/>
                  </a:lnTo>
                  <a:lnTo>
                    <a:pt x="971804" y="38099"/>
                  </a:lnTo>
                  <a:lnTo>
                    <a:pt x="895604" y="0"/>
                  </a:lnTo>
                  <a:close/>
                </a:path>
                <a:path w="1010285" h="114300">
                  <a:moveTo>
                    <a:pt x="895604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895604" y="76199"/>
                  </a:lnTo>
                  <a:lnTo>
                    <a:pt x="895604" y="38099"/>
                  </a:lnTo>
                  <a:close/>
                </a:path>
                <a:path w="1010285" h="114300">
                  <a:moveTo>
                    <a:pt x="971804" y="38099"/>
                  </a:moveTo>
                  <a:lnTo>
                    <a:pt x="914654" y="38099"/>
                  </a:lnTo>
                  <a:lnTo>
                    <a:pt x="914654" y="76199"/>
                  </a:lnTo>
                  <a:lnTo>
                    <a:pt x="971804" y="76199"/>
                  </a:lnTo>
                  <a:lnTo>
                    <a:pt x="1009904" y="57149"/>
                  </a:lnTo>
                  <a:lnTo>
                    <a:pt x="971804" y="38099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3914" y="5584380"/>
              <a:ext cx="1301877" cy="82381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883914" y="5584380"/>
              <a:ext cx="1302385" cy="824230"/>
            </a:xfrm>
            <a:custGeom>
              <a:avLst/>
              <a:gdLst/>
              <a:ahLst/>
              <a:cxnLst/>
              <a:rect l="l" t="t" r="r" b="b"/>
              <a:pathLst>
                <a:path w="1302385" h="824229">
                  <a:moveTo>
                    <a:pt x="0" y="823810"/>
                  </a:moveTo>
                  <a:lnTo>
                    <a:pt x="1301877" y="823810"/>
                  </a:lnTo>
                  <a:lnTo>
                    <a:pt x="1301877" y="0"/>
                  </a:lnTo>
                  <a:lnTo>
                    <a:pt x="0" y="0"/>
                  </a:lnTo>
                  <a:lnTo>
                    <a:pt x="0" y="82381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333857" y="3893489"/>
            <a:ext cx="6122035" cy="2557145"/>
            <a:chOff x="333857" y="3893489"/>
            <a:chExt cx="6122035" cy="2557145"/>
          </a:xfrm>
        </p:grpSpPr>
        <p:sp>
          <p:nvSpPr>
            <p:cNvPr id="16" name="object 16"/>
            <p:cNvSpPr/>
            <p:nvPr/>
          </p:nvSpPr>
          <p:spPr>
            <a:xfrm>
              <a:off x="4477639" y="4886452"/>
              <a:ext cx="114300" cy="697865"/>
            </a:xfrm>
            <a:custGeom>
              <a:avLst/>
              <a:gdLst/>
              <a:ahLst/>
              <a:cxnLst/>
              <a:rect l="l" t="t" r="r" b="b"/>
              <a:pathLst>
                <a:path w="114300" h="697864">
                  <a:moveTo>
                    <a:pt x="76200" y="95250"/>
                  </a:moveTo>
                  <a:lnTo>
                    <a:pt x="38100" y="95250"/>
                  </a:lnTo>
                  <a:lnTo>
                    <a:pt x="38100" y="697865"/>
                  </a:lnTo>
                  <a:lnTo>
                    <a:pt x="76200" y="697865"/>
                  </a:lnTo>
                  <a:lnTo>
                    <a:pt x="76200" y="95250"/>
                  </a:lnTo>
                  <a:close/>
                </a:path>
                <a:path w="114300" h="697864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697864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857" y="3893489"/>
              <a:ext cx="6122035" cy="2556637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37006" y="2943758"/>
            <a:ext cx="5845810" cy="739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26589">
              <a:lnSpc>
                <a:spcPts val="2570"/>
              </a:lnSpc>
              <a:tabLst>
                <a:tab pos="4030345" algn="l"/>
              </a:tabLst>
            </a:pPr>
            <a:r>
              <a:rPr sz="3600" baseline="4629" dirty="0">
                <a:latin typeface="Cambria Math"/>
                <a:cs typeface="Cambria Math"/>
              </a:rPr>
              <a:t>𝐀</a:t>
            </a:r>
            <a:r>
              <a:rPr sz="3600" spc="-202" baseline="4629" dirty="0">
                <a:latin typeface="Cambria Math"/>
                <a:cs typeface="Cambria Math"/>
              </a:rPr>
              <a:t> </a:t>
            </a:r>
            <a:r>
              <a:rPr sz="3600" baseline="4629" dirty="0">
                <a:latin typeface="Cambria Math"/>
                <a:cs typeface="Cambria Math"/>
              </a:rPr>
              <a:t>𝐜𝐨𝐬</a:t>
            </a:r>
            <a:r>
              <a:rPr sz="3600" spc="397" baseline="4629" dirty="0">
                <a:latin typeface="Cambria Math"/>
                <a:cs typeface="Cambria Math"/>
              </a:rPr>
              <a:t> </a:t>
            </a:r>
            <a:r>
              <a:rPr sz="3600" spc="-37" baseline="4629" dirty="0">
                <a:latin typeface="Cambria Math"/>
                <a:cs typeface="Cambria Math"/>
              </a:rPr>
              <a:t>𝛚</a:t>
            </a:r>
            <a:r>
              <a:rPr sz="2625" spc="-37" baseline="-7936" dirty="0">
                <a:latin typeface="Cambria Math"/>
                <a:cs typeface="Cambria Math"/>
              </a:rPr>
              <a:t>𝐂</a:t>
            </a:r>
            <a:r>
              <a:rPr sz="3600" spc="-37" baseline="4629" dirty="0">
                <a:latin typeface="Cambria Math"/>
                <a:cs typeface="Cambria Math"/>
              </a:rPr>
              <a:t>𝐭</a:t>
            </a:r>
            <a:r>
              <a:rPr sz="3600" baseline="4629" dirty="0">
                <a:latin typeface="Cambria Math"/>
                <a:cs typeface="Cambria Math"/>
              </a:rPr>
              <a:t>	</a:t>
            </a:r>
            <a:r>
              <a:rPr sz="2400" dirty="0">
                <a:latin typeface="Cambria Math"/>
                <a:cs typeface="Cambria Math"/>
              </a:rPr>
              <a:t>𝐅𝐨𝐫</a:t>
            </a:r>
            <a:r>
              <a:rPr sz="2400" spc="-5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𝐋𝐨𝐠𝐢𝐜</a:t>
            </a:r>
            <a:r>
              <a:rPr sz="2400" spc="-4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"𝟎"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ts val="1950"/>
              </a:lnSpc>
              <a:spcBef>
                <a:spcPts val="95"/>
              </a:spcBef>
              <a:tabLst>
                <a:tab pos="3262629" algn="l"/>
                <a:tab pos="4030345" algn="l"/>
              </a:tabLst>
            </a:pPr>
            <a:r>
              <a:rPr sz="3600" baseline="37037" dirty="0">
                <a:latin typeface="Cambria Math"/>
                <a:cs typeface="Cambria Math"/>
              </a:rPr>
              <a:t>⟹</a:t>
            </a:r>
            <a:r>
              <a:rPr sz="3600" spc="135" baseline="37037" dirty="0">
                <a:latin typeface="Cambria Math"/>
                <a:cs typeface="Cambria Math"/>
              </a:rPr>
              <a:t> </a:t>
            </a:r>
            <a:r>
              <a:rPr sz="3600" baseline="37037" dirty="0">
                <a:latin typeface="Cambria Math"/>
                <a:cs typeface="Cambria Math"/>
              </a:rPr>
              <a:t>𝚽</a:t>
            </a:r>
            <a:r>
              <a:rPr sz="2625" baseline="36507" dirty="0">
                <a:latin typeface="Cambria Math"/>
                <a:cs typeface="Cambria Math"/>
              </a:rPr>
              <a:t>𝐁𝐏𝐒𝐊</a:t>
            </a:r>
            <a:r>
              <a:rPr sz="2625" spc="509" baseline="36507" dirty="0">
                <a:latin typeface="Cambria Math"/>
                <a:cs typeface="Cambria Math"/>
              </a:rPr>
              <a:t> </a:t>
            </a:r>
            <a:r>
              <a:rPr sz="3600" baseline="37037" dirty="0">
                <a:latin typeface="Cambria Math"/>
                <a:cs typeface="Cambria Math"/>
              </a:rPr>
              <a:t>=</a:t>
            </a:r>
            <a:r>
              <a:rPr sz="3600" spc="142" baseline="37037" dirty="0">
                <a:latin typeface="Cambria Math"/>
                <a:cs typeface="Cambria Math"/>
              </a:rPr>
              <a:t> </a:t>
            </a:r>
            <a:r>
              <a:rPr sz="3600" spc="-615" baseline="37037" dirty="0">
                <a:latin typeface="Cambria Math"/>
                <a:cs typeface="Cambria Math"/>
              </a:rPr>
              <a:t>ቊ</a:t>
            </a:r>
            <a:r>
              <a:rPr sz="3600" spc="-615" baseline="2314" dirty="0">
                <a:latin typeface="Cambria Math"/>
                <a:cs typeface="Cambria Math"/>
              </a:rPr>
              <a:t>−𝐀</a:t>
            </a:r>
            <a:r>
              <a:rPr sz="3600" spc="-217" baseline="2314" dirty="0">
                <a:latin typeface="Cambria Math"/>
                <a:cs typeface="Cambria Math"/>
              </a:rPr>
              <a:t> </a:t>
            </a:r>
            <a:r>
              <a:rPr sz="3600" baseline="2314" dirty="0">
                <a:latin typeface="Cambria Math"/>
                <a:cs typeface="Cambria Math"/>
              </a:rPr>
              <a:t>𝐜𝐨𝐬</a:t>
            </a:r>
            <a:r>
              <a:rPr sz="3600" spc="419" baseline="2314" dirty="0">
                <a:latin typeface="Cambria Math"/>
                <a:cs typeface="Cambria Math"/>
              </a:rPr>
              <a:t> </a:t>
            </a:r>
            <a:r>
              <a:rPr sz="3600" spc="-75" baseline="2314" dirty="0">
                <a:latin typeface="Cambria Math"/>
                <a:cs typeface="Cambria Math"/>
              </a:rPr>
              <a:t>𝛚</a:t>
            </a:r>
            <a:r>
              <a:rPr sz="3600" baseline="2314" dirty="0">
                <a:latin typeface="Cambria Math"/>
                <a:cs typeface="Cambria Math"/>
              </a:rPr>
              <a:t>	</a:t>
            </a:r>
            <a:r>
              <a:rPr sz="3600" spc="-75" baseline="2314" dirty="0">
                <a:latin typeface="Cambria Math"/>
                <a:cs typeface="Cambria Math"/>
              </a:rPr>
              <a:t>𝐭</a:t>
            </a:r>
            <a:r>
              <a:rPr sz="3600" baseline="2314" dirty="0">
                <a:latin typeface="Cambria Math"/>
                <a:cs typeface="Cambria Math"/>
              </a:rPr>
              <a:t>	</a:t>
            </a:r>
            <a:r>
              <a:rPr sz="2400" dirty="0">
                <a:latin typeface="Cambria Math"/>
                <a:cs typeface="Cambria Math"/>
              </a:rPr>
              <a:t>𝐅𝐨𝐫</a:t>
            </a:r>
            <a:r>
              <a:rPr sz="2400" spc="-5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𝐋𝐨𝐠𝐢𝐜</a:t>
            </a:r>
            <a:r>
              <a:rPr sz="2400" spc="-4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"𝟏"</a:t>
            </a:r>
            <a:endParaRPr sz="2400">
              <a:latin typeface="Cambria Math"/>
              <a:cs typeface="Cambria Math"/>
            </a:endParaRPr>
          </a:p>
          <a:p>
            <a:pPr marL="525145" algn="ctr">
              <a:lnSpc>
                <a:spcPts val="1170"/>
              </a:lnSpc>
            </a:pPr>
            <a:r>
              <a:rPr sz="1750" spc="-50" dirty="0">
                <a:latin typeface="Cambria Math"/>
                <a:cs typeface="Cambria Math"/>
              </a:rPr>
              <a:t>𝐂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424174" y="2952368"/>
            <a:ext cx="764540" cy="675005"/>
          </a:xfrm>
          <a:custGeom>
            <a:avLst/>
            <a:gdLst/>
            <a:ahLst/>
            <a:cxnLst/>
            <a:rect l="l" t="t" r="r" b="b"/>
            <a:pathLst>
              <a:path w="764539" h="675004">
                <a:moveTo>
                  <a:pt x="66294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4480"/>
                </a:lnTo>
                <a:lnTo>
                  <a:pt x="66294" y="284480"/>
                </a:lnTo>
                <a:lnTo>
                  <a:pt x="66294" y="271780"/>
                </a:lnTo>
                <a:lnTo>
                  <a:pt x="24638" y="271780"/>
                </a:lnTo>
                <a:lnTo>
                  <a:pt x="24638" y="11430"/>
                </a:lnTo>
                <a:lnTo>
                  <a:pt x="66294" y="11430"/>
                </a:lnTo>
                <a:lnTo>
                  <a:pt x="66294" y="0"/>
                </a:lnTo>
                <a:close/>
              </a:path>
              <a:path w="764539" h="675004">
                <a:moveTo>
                  <a:pt x="180594" y="390144"/>
                </a:moveTo>
                <a:lnTo>
                  <a:pt x="114300" y="390144"/>
                </a:lnTo>
                <a:lnTo>
                  <a:pt x="114300" y="401574"/>
                </a:lnTo>
                <a:lnTo>
                  <a:pt x="114300" y="661924"/>
                </a:lnTo>
                <a:lnTo>
                  <a:pt x="114300" y="674624"/>
                </a:lnTo>
                <a:lnTo>
                  <a:pt x="180594" y="674624"/>
                </a:lnTo>
                <a:lnTo>
                  <a:pt x="180594" y="661924"/>
                </a:lnTo>
                <a:lnTo>
                  <a:pt x="138938" y="661924"/>
                </a:lnTo>
                <a:lnTo>
                  <a:pt x="138938" y="401574"/>
                </a:lnTo>
                <a:lnTo>
                  <a:pt x="180594" y="401574"/>
                </a:lnTo>
                <a:lnTo>
                  <a:pt x="180594" y="390144"/>
                </a:lnTo>
                <a:close/>
              </a:path>
              <a:path w="764539" h="675004">
                <a:moveTo>
                  <a:pt x="649859" y="0"/>
                </a:moveTo>
                <a:lnTo>
                  <a:pt x="583565" y="0"/>
                </a:lnTo>
                <a:lnTo>
                  <a:pt x="583565" y="11430"/>
                </a:lnTo>
                <a:lnTo>
                  <a:pt x="625221" y="11430"/>
                </a:lnTo>
                <a:lnTo>
                  <a:pt x="625221" y="271780"/>
                </a:lnTo>
                <a:lnTo>
                  <a:pt x="583565" y="271780"/>
                </a:lnTo>
                <a:lnTo>
                  <a:pt x="583565" y="284480"/>
                </a:lnTo>
                <a:lnTo>
                  <a:pt x="649859" y="284480"/>
                </a:lnTo>
                <a:lnTo>
                  <a:pt x="649859" y="271780"/>
                </a:lnTo>
                <a:lnTo>
                  <a:pt x="649859" y="11430"/>
                </a:lnTo>
                <a:lnTo>
                  <a:pt x="649859" y="0"/>
                </a:lnTo>
                <a:close/>
              </a:path>
              <a:path w="764539" h="675004">
                <a:moveTo>
                  <a:pt x="764159" y="390144"/>
                </a:moveTo>
                <a:lnTo>
                  <a:pt x="697865" y="390144"/>
                </a:lnTo>
                <a:lnTo>
                  <a:pt x="697865" y="401574"/>
                </a:lnTo>
                <a:lnTo>
                  <a:pt x="739521" y="401574"/>
                </a:lnTo>
                <a:lnTo>
                  <a:pt x="739521" y="661924"/>
                </a:lnTo>
                <a:lnTo>
                  <a:pt x="697865" y="661924"/>
                </a:lnTo>
                <a:lnTo>
                  <a:pt x="697865" y="674624"/>
                </a:lnTo>
                <a:lnTo>
                  <a:pt x="764159" y="674624"/>
                </a:lnTo>
                <a:lnTo>
                  <a:pt x="764159" y="661924"/>
                </a:lnTo>
                <a:lnTo>
                  <a:pt x="764159" y="401574"/>
                </a:lnTo>
                <a:lnTo>
                  <a:pt x="764159" y="3901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0836" y="2890672"/>
            <a:ext cx="5867273" cy="863574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7841615" y="2942239"/>
            <a:ext cx="1317625" cy="702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400" dirty="0">
                <a:latin typeface="Cambria Math"/>
                <a:cs typeface="Cambria Math"/>
              </a:rPr>
              <a:t>𝛟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𝟎</a:t>
            </a:r>
            <a:r>
              <a:rPr sz="2625" spc="-37" baseline="28571" dirty="0">
                <a:latin typeface="Cambria Math"/>
                <a:cs typeface="Cambria Math"/>
              </a:rPr>
              <a:t>𝟎</a:t>
            </a:r>
            <a:endParaRPr sz="2625" baseline="28571">
              <a:latin typeface="Cambria Math"/>
              <a:cs typeface="Cambria Math"/>
            </a:endParaRPr>
          </a:p>
          <a:p>
            <a:pPr marL="1270">
              <a:lnSpc>
                <a:spcPts val="2820"/>
              </a:lnSpc>
            </a:pPr>
            <a:r>
              <a:rPr sz="2400" dirty="0">
                <a:latin typeface="Cambria Math"/>
                <a:cs typeface="Cambria Math"/>
              </a:rPr>
              <a:t>𝛟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20" dirty="0">
                <a:latin typeface="Cambria Math"/>
                <a:cs typeface="Cambria Math"/>
              </a:rPr>
              <a:t>𝟏𝟖𝟎</a:t>
            </a:r>
            <a:r>
              <a:rPr sz="2625" spc="-30" baseline="28571" dirty="0">
                <a:latin typeface="Cambria Math"/>
                <a:cs typeface="Cambria Math"/>
              </a:rPr>
              <a:t>𝟎</a:t>
            </a:r>
            <a:endParaRPr sz="2625" baseline="28571">
              <a:latin typeface="Cambria Math"/>
              <a:cs typeface="Cambria Math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919594" y="2888183"/>
            <a:ext cx="2331085" cy="815340"/>
            <a:chOff x="6919594" y="2888183"/>
            <a:chExt cx="2331085" cy="815340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79030" y="3064637"/>
              <a:ext cx="633095" cy="17056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979030" y="3064637"/>
              <a:ext cx="633095" cy="170815"/>
            </a:xfrm>
            <a:custGeom>
              <a:avLst/>
              <a:gdLst/>
              <a:ahLst/>
              <a:cxnLst/>
              <a:rect l="l" t="t" r="r" b="b"/>
              <a:pathLst>
                <a:path w="633095" h="170814">
                  <a:moveTo>
                    <a:pt x="0" y="42672"/>
                  </a:moveTo>
                  <a:lnTo>
                    <a:pt x="547751" y="42672"/>
                  </a:lnTo>
                  <a:lnTo>
                    <a:pt x="547751" y="0"/>
                  </a:lnTo>
                  <a:lnTo>
                    <a:pt x="633095" y="85344"/>
                  </a:lnTo>
                  <a:lnTo>
                    <a:pt x="547751" y="170561"/>
                  </a:lnTo>
                  <a:lnTo>
                    <a:pt x="547751" y="127889"/>
                  </a:lnTo>
                  <a:lnTo>
                    <a:pt x="0" y="127889"/>
                  </a:lnTo>
                  <a:lnTo>
                    <a:pt x="0" y="42672"/>
                  </a:lnTo>
                  <a:close/>
                </a:path>
              </a:pathLst>
            </a:custGeom>
            <a:ln w="6349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79030" y="3415156"/>
              <a:ext cx="633095" cy="170561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979030" y="3415156"/>
              <a:ext cx="633095" cy="170815"/>
            </a:xfrm>
            <a:custGeom>
              <a:avLst/>
              <a:gdLst/>
              <a:ahLst/>
              <a:cxnLst/>
              <a:rect l="l" t="t" r="r" b="b"/>
              <a:pathLst>
                <a:path w="633095" h="170814">
                  <a:moveTo>
                    <a:pt x="0" y="42672"/>
                  </a:moveTo>
                  <a:lnTo>
                    <a:pt x="547751" y="42672"/>
                  </a:lnTo>
                  <a:lnTo>
                    <a:pt x="547751" y="0"/>
                  </a:lnTo>
                  <a:lnTo>
                    <a:pt x="633095" y="85344"/>
                  </a:lnTo>
                  <a:lnTo>
                    <a:pt x="547751" y="170561"/>
                  </a:lnTo>
                  <a:lnTo>
                    <a:pt x="547751" y="127889"/>
                  </a:lnTo>
                  <a:lnTo>
                    <a:pt x="0" y="127889"/>
                  </a:lnTo>
                  <a:lnTo>
                    <a:pt x="0" y="42672"/>
                  </a:lnTo>
                  <a:close/>
                </a:path>
              </a:pathLst>
            </a:custGeom>
            <a:ln w="6349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19594" y="2888183"/>
              <a:ext cx="2331085" cy="815263"/>
            </a:xfrm>
            <a:prstGeom prst="rect">
              <a:avLst/>
            </a:prstGeom>
          </p:spPr>
        </p:pic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324225"/>
            <a:ext cx="1371600" cy="40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971800"/>
            <a:ext cx="20193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31964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Waveforms</a:t>
            </a:r>
            <a:r>
              <a:rPr spc="-80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spc="-25" dirty="0"/>
              <a:t>PSK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28650"/>
            <a:ext cx="12192000" cy="593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1338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100"/>
              </a:spcBef>
            </a:pPr>
            <a:r>
              <a:rPr dirty="0"/>
              <a:t>Bandwidth</a:t>
            </a:r>
            <a:r>
              <a:rPr spc="-5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25" dirty="0"/>
              <a:t>PSK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638" y="776731"/>
            <a:ext cx="6287135" cy="2628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b="1" spc="-10" dirty="0">
                <a:latin typeface="Calibri"/>
                <a:cs typeface="Calibri"/>
              </a:rPr>
              <a:t>Amplitude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60"/>
              </a:spcBef>
            </a:pPr>
            <a:endParaRPr sz="1800">
              <a:latin typeface="Calibri"/>
              <a:cs typeface="Calibri"/>
            </a:endParaRPr>
          </a:p>
          <a:p>
            <a:pPr marL="1539875">
              <a:lnSpc>
                <a:spcPts val="1335"/>
              </a:lnSpc>
              <a:tabLst>
                <a:tab pos="3053080" algn="l"/>
              </a:tabLst>
            </a:pPr>
            <a:r>
              <a:rPr sz="2700" baseline="1543" dirty="0">
                <a:latin typeface="Cambria Math"/>
                <a:cs typeface="Cambria Math"/>
              </a:rPr>
              <a:t>𝐅</a:t>
            </a:r>
            <a:r>
              <a:rPr sz="1950" baseline="-14957" dirty="0">
                <a:latin typeface="Cambria Math"/>
                <a:cs typeface="Cambria Math"/>
              </a:rPr>
              <a:t>𝐂</a:t>
            </a:r>
            <a:r>
              <a:rPr sz="1950" spc="135" baseline="-14957" dirty="0">
                <a:latin typeface="Cambria Math"/>
                <a:cs typeface="Cambria Math"/>
              </a:rPr>
              <a:t> </a:t>
            </a:r>
            <a:r>
              <a:rPr sz="2700" baseline="1543" dirty="0">
                <a:latin typeface="Cambria Math"/>
                <a:cs typeface="Cambria Math"/>
              </a:rPr>
              <a:t>−</a:t>
            </a:r>
            <a:r>
              <a:rPr sz="2700" spc="-97" baseline="1543" dirty="0">
                <a:latin typeface="Cambria Math"/>
                <a:cs typeface="Cambria Math"/>
              </a:rPr>
              <a:t> </a:t>
            </a:r>
            <a:r>
              <a:rPr sz="2700" spc="-37" baseline="1543" dirty="0">
                <a:latin typeface="Cambria Math"/>
                <a:cs typeface="Cambria Math"/>
              </a:rPr>
              <a:t>𝐅</a:t>
            </a:r>
            <a:r>
              <a:rPr sz="1950" spc="-37" baseline="-14957" dirty="0">
                <a:latin typeface="Cambria Math"/>
                <a:cs typeface="Cambria Math"/>
              </a:rPr>
              <a:t>𝐛</a:t>
            </a:r>
            <a:r>
              <a:rPr sz="1950" baseline="-14957" dirty="0">
                <a:latin typeface="Cambria Math"/>
                <a:cs typeface="Cambria Math"/>
              </a:rPr>
              <a:t>	</a:t>
            </a:r>
            <a:r>
              <a:rPr sz="1800" dirty="0">
                <a:latin typeface="Cambria Math"/>
                <a:cs typeface="Cambria Math"/>
              </a:rPr>
              <a:t>𝐅</a:t>
            </a:r>
            <a:r>
              <a:rPr sz="1950" baseline="-14957" dirty="0">
                <a:latin typeface="Cambria Math"/>
                <a:cs typeface="Cambria Math"/>
              </a:rPr>
              <a:t>𝐂</a:t>
            </a:r>
            <a:r>
              <a:rPr sz="1950" spc="135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-7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𝐅</a:t>
            </a:r>
            <a:r>
              <a:rPr sz="1950" spc="-37" baseline="-14957" dirty="0">
                <a:latin typeface="Cambria Math"/>
                <a:cs typeface="Cambria Math"/>
              </a:rPr>
              <a:t>𝐛</a:t>
            </a:r>
            <a:endParaRPr sz="1950" baseline="-14957">
              <a:latin typeface="Cambria Math"/>
              <a:cs typeface="Cambria Math"/>
            </a:endParaRPr>
          </a:p>
          <a:p>
            <a:pPr marL="2474595">
              <a:lnSpc>
                <a:spcPts val="1335"/>
              </a:lnSpc>
              <a:tabLst>
                <a:tab pos="5300980" algn="l"/>
              </a:tabLst>
            </a:pPr>
            <a:r>
              <a:rPr sz="2700" spc="-37" baseline="-23148" dirty="0">
                <a:latin typeface="Cambria Math"/>
                <a:cs typeface="Cambria Math"/>
              </a:rPr>
              <a:t>𝐅</a:t>
            </a:r>
            <a:r>
              <a:rPr sz="1950" spc="-37" baseline="-49145" dirty="0">
                <a:latin typeface="Cambria Math"/>
                <a:cs typeface="Cambria Math"/>
              </a:rPr>
              <a:t>𝐂</a:t>
            </a:r>
            <a:r>
              <a:rPr sz="1950" baseline="-49145" dirty="0">
                <a:latin typeface="Cambria Math"/>
                <a:cs typeface="Cambria Math"/>
              </a:rPr>
              <a:t>	</a:t>
            </a:r>
            <a:r>
              <a:rPr sz="1800" b="1" spc="-10" dirty="0">
                <a:latin typeface="Calibri"/>
                <a:cs typeface="Calibri"/>
              </a:rPr>
              <a:t>Frequency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6893" y="821308"/>
            <a:ext cx="6373495" cy="2512060"/>
            <a:chOff x="236893" y="821308"/>
            <a:chExt cx="6373495" cy="2512060"/>
          </a:xfrm>
        </p:grpSpPr>
        <p:sp>
          <p:nvSpPr>
            <p:cNvPr id="5" name="object 5"/>
            <p:cNvSpPr/>
            <p:nvPr/>
          </p:nvSpPr>
          <p:spPr>
            <a:xfrm>
              <a:off x="236893" y="821308"/>
              <a:ext cx="6373495" cy="2512060"/>
            </a:xfrm>
            <a:custGeom>
              <a:avLst/>
              <a:gdLst/>
              <a:ahLst/>
              <a:cxnLst/>
              <a:rect l="l" t="t" r="r" b="b"/>
              <a:pathLst>
                <a:path w="6373495" h="2512060">
                  <a:moveTo>
                    <a:pt x="6373330" y="2109216"/>
                  </a:moveTo>
                  <a:lnTo>
                    <a:pt x="6335230" y="2090166"/>
                  </a:lnTo>
                  <a:lnTo>
                    <a:pt x="6259030" y="2052066"/>
                  </a:lnTo>
                  <a:lnTo>
                    <a:pt x="6259030" y="2090166"/>
                  </a:lnTo>
                  <a:lnTo>
                    <a:pt x="445770" y="2090166"/>
                  </a:lnTo>
                  <a:lnTo>
                    <a:pt x="445770" y="114300"/>
                  </a:lnTo>
                  <a:lnTo>
                    <a:pt x="483870" y="114300"/>
                  </a:lnTo>
                  <a:lnTo>
                    <a:pt x="474345" y="95250"/>
                  </a:lnTo>
                  <a:lnTo>
                    <a:pt x="426720" y="0"/>
                  </a:lnTo>
                  <a:lnTo>
                    <a:pt x="369570" y="114300"/>
                  </a:lnTo>
                  <a:lnTo>
                    <a:pt x="407670" y="114300"/>
                  </a:lnTo>
                  <a:lnTo>
                    <a:pt x="407670" y="2090166"/>
                  </a:lnTo>
                  <a:lnTo>
                    <a:pt x="0" y="2090166"/>
                  </a:lnTo>
                  <a:lnTo>
                    <a:pt x="0" y="2128266"/>
                  </a:lnTo>
                  <a:lnTo>
                    <a:pt x="407670" y="2128266"/>
                  </a:lnTo>
                  <a:lnTo>
                    <a:pt x="407670" y="2511552"/>
                  </a:lnTo>
                  <a:lnTo>
                    <a:pt x="445770" y="2511552"/>
                  </a:lnTo>
                  <a:lnTo>
                    <a:pt x="445770" y="2128266"/>
                  </a:lnTo>
                  <a:lnTo>
                    <a:pt x="6259030" y="2128266"/>
                  </a:lnTo>
                  <a:lnTo>
                    <a:pt x="6259030" y="2166366"/>
                  </a:lnTo>
                  <a:lnTo>
                    <a:pt x="6335230" y="2128266"/>
                  </a:lnTo>
                  <a:lnTo>
                    <a:pt x="6373330" y="2109216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05938" y="1526539"/>
              <a:ext cx="1148080" cy="1390650"/>
            </a:xfrm>
            <a:custGeom>
              <a:avLst/>
              <a:gdLst/>
              <a:ahLst/>
              <a:cxnLst/>
              <a:rect l="l" t="t" r="r" b="b"/>
              <a:pathLst>
                <a:path w="1148079" h="1390650">
                  <a:moveTo>
                    <a:pt x="0" y="1385951"/>
                  </a:moveTo>
                  <a:lnTo>
                    <a:pt x="18490" y="1320964"/>
                  </a:lnTo>
                  <a:lnTo>
                    <a:pt x="36979" y="1256105"/>
                  </a:lnTo>
                  <a:lnTo>
                    <a:pt x="55466" y="1191501"/>
                  </a:lnTo>
                  <a:lnTo>
                    <a:pt x="73949" y="1127279"/>
                  </a:lnTo>
                  <a:lnTo>
                    <a:pt x="92429" y="1063566"/>
                  </a:lnTo>
                  <a:lnTo>
                    <a:pt x="110903" y="1000489"/>
                  </a:lnTo>
                  <a:lnTo>
                    <a:pt x="129370" y="938176"/>
                  </a:lnTo>
                  <a:lnTo>
                    <a:pt x="147829" y="876752"/>
                  </a:lnTo>
                  <a:lnTo>
                    <a:pt x="166280" y="816346"/>
                  </a:lnTo>
                  <a:lnTo>
                    <a:pt x="184721" y="757083"/>
                  </a:lnTo>
                  <a:lnTo>
                    <a:pt x="203152" y="699093"/>
                  </a:lnTo>
                  <a:lnTo>
                    <a:pt x="221570" y="642500"/>
                  </a:lnTo>
                  <a:lnTo>
                    <a:pt x="239975" y="587434"/>
                  </a:lnTo>
                  <a:lnTo>
                    <a:pt x="258365" y="534019"/>
                  </a:lnTo>
                  <a:lnTo>
                    <a:pt x="276741" y="482385"/>
                  </a:lnTo>
                  <a:lnTo>
                    <a:pt x="295100" y="432657"/>
                  </a:lnTo>
                  <a:lnTo>
                    <a:pt x="313441" y="384963"/>
                  </a:lnTo>
                  <a:lnTo>
                    <a:pt x="331764" y="339429"/>
                  </a:lnTo>
                  <a:lnTo>
                    <a:pt x="350068" y="296183"/>
                  </a:lnTo>
                  <a:lnTo>
                    <a:pt x="368350" y="255353"/>
                  </a:lnTo>
                  <a:lnTo>
                    <a:pt x="386611" y="217064"/>
                  </a:lnTo>
                  <a:lnTo>
                    <a:pt x="404849" y="181445"/>
                  </a:lnTo>
                  <a:lnTo>
                    <a:pt x="441251" y="118721"/>
                  </a:lnTo>
                  <a:lnTo>
                    <a:pt x="477548" y="68198"/>
                  </a:lnTo>
                  <a:lnTo>
                    <a:pt x="513732" y="30892"/>
                  </a:lnTo>
                  <a:lnTo>
                    <a:pt x="549793" y="7821"/>
                  </a:lnTo>
                  <a:lnTo>
                    <a:pt x="585724" y="0"/>
                  </a:lnTo>
                  <a:lnTo>
                    <a:pt x="603637" y="2095"/>
                  </a:lnTo>
                  <a:lnTo>
                    <a:pt x="639367" y="17975"/>
                  </a:lnTo>
                  <a:lnTo>
                    <a:pt x="674971" y="48594"/>
                  </a:lnTo>
                  <a:lnTo>
                    <a:pt x="710460" y="92937"/>
                  </a:lnTo>
                  <a:lnTo>
                    <a:pt x="745842" y="149987"/>
                  </a:lnTo>
                  <a:lnTo>
                    <a:pt x="781124" y="218727"/>
                  </a:lnTo>
                  <a:lnTo>
                    <a:pt x="798730" y="257163"/>
                  </a:lnTo>
                  <a:lnTo>
                    <a:pt x="816315" y="298141"/>
                  </a:lnTo>
                  <a:lnTo>
                    <a:pt x="833879" y="341534"/>
                  </a:lnTo>
                  <a:lnTo>
                    <a:pt x="851423" y="387214"/>
                  </a:lnTo>
                  <a:lnTo>
                    <a:pt x="868949" y="435054"/>
                  </a:lnTo>
                  <a:lnTo>
                    <a:pt x="886458" y="484928"/>
                  </a:lnTo>
                  <a:lnTo>
                    <a:pt x="903950" y="536707"/>
                  </a:lnTo>
                  <a:lnTo>
                    <a:pt x="921427" y="590267"/>
                  </a:lnTo>
                  <a:lnTo>
                    <a:pt x="938889" y="645478"/>
                  </a:lnTo>
                  <a:lnTo>
                    <a:pt x="956338" y="702215"/>
                  </a:lnTo>
                  <a:lnTo>
                    <a:pt x="973775" y="760350"/>
                  </a:lnTo>
                  <a:lnTo>
                    <a:pt x="991200" y="819756"/>
                  </a:lnTo>
                  <a:lnTo>
                    <a:pt x="1008616" y="880306"/>
                  </a:lnTo>
                  <a:lnTo>
                    <a:pt x="1026022" y="941873"/>
                  </a:lnTo>
                  <a:lnTo>
                    <a:pt x="1043420" y="1004330"/>
                  </a:lnTo>
                  <a:lnTo>
                    <a:pt x="1060811" y="1067550"/>
                  </a:lnTo>
                  <a:lnTo>
                    <a:pt x="1078197" y="1131407"/>
                  </a:lnTo>
                  <a:lnTo>
                    <a:pt x="1095577" y="1195772"/>
                  </a:lnTo>
                  <a:lnTo>
                    <a:pt x="1112953" y="1260518"/>
                  </a:lnTo>
                  <a:lnTo>
                    <a:pt x="1130327" y="1325520"/>
                  </a:lnTo>
                  <a:lnTo>
                    <a:pt x="1147699" y="1390650"/>
                  </a:lnTo>
                </a:path>
              </a:pathLst>
            </a:custGeom>
            <a:ln w="28575">
              <a:solidFill>
                <a:srgbClr val="7E5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88741" y="1252727"/>
              <a:ext cx="0" cy="1807210"/>
            </a:xfrm>
            <a:custGeom>
              <a:avLst/>
              <a:gdLst/>
              <a:ahLst/>
              <a:cxnLst/>
              <a:rect l="l" t="t" r="r" b="b"/>
              <a:pathLst>
                <a:path h="1807210">
                  <a:moveTo>
                    <a:pt x="0" y="0"/>
                  </a:moveTo>
                  <a:lnTo>
                    <a:pt x="0" y="1806956"/>
                  </a:lnTo>
                </a:path>
              </a:pathLst>
            </a:custGeom>
            <a:ln w="1905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707516"/>
            <a:ext cx="7073010" cy="266331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6419" y="3733800"/>
            <a:ext cx="5106149" cy="11145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46419" y="5257800"/>
                <a:ext cx="5163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/>
                      </a:rPr>
                      <m:t>𝐁</m:t>
                    </m:r>
                    <m:sSub>
                      <m:sSubPr>
                        <m:ctrlPr>
                          <a:rPr lang="en-US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/>
                          </a:rPr>
                          <m:t>𝐖</m:t>
                        </m:r>
                      </m:e>
                      <m:sub>
                        <m:r>
                          <a:rPr lang="en-US" b="1" i="0" smtClean="0">
                            <a:latin typeface="Cambria Math"/>
                          </a:rPr>
                          <m:t>𝐦𝐢𝐧</m:t>
                        </m:r>
                      </m:sub>
                    </m:sSub>
                    <m:r>
                      <a:rPr lang="en-US" b="1" i="0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/>
                          </a:rPr>
                          <m:t>𝟏</m:t>
                        </m:r>
                        <m:r>
                          <a:rPr lang="en-US" b="1" i="0" smtClean="0">
                            <a:latin typeface="Cambria Math"/>
                          </a:rPr>
                          <m:t>+</m:t>
                        </m:r>
                        <m:r>
                          <a:rPr lang="en-US" b="1" i="0" smtClean="0">
                            <a:latin typeface="Cambria Math"/>
                          </a:rPr>
                          <m:t>𝟎</m:t>
                        </m:r>
                      </m:e>
                    </m:d>
                    <m:r>
                      <a:rPr lang="en-US" b="1" i="0" smtClean="0">
                        <a:latin typeface="Cambria Math"/>
                      </a:rPr>
                      <m:t>𝐫</m:t>
                    </m:r>
                    <m:r>
                      <a:rPr lang="en-US" b="1" i="0" smtClean="0">
                        <a:latin typeface="Cambria Math"/>
                      </a:rPr>
                      <m:t>=</m:t>
                    </m:r>
                    <m:r>
                      <a:rPr lang="en-US" b="1" i="0" smtClean="0">
                        <a:latin typeface="Cambria Math"/>
                      </a:rPr>
                      <m:t>𝐫</m:t>
                    </m:r>
                    <m:r>
                      <a:rPr lang="en-US" b="1" i="0" smtClean="0">
                        <a:latin typeface="Cambria Math"/>
                      </a:rPr>
                      <m:t> [</m:t>
                    </m:r>
                    <m:r>
                      <a:rPr lang="en-US" b="1" i="0" smtClean="0">
                        <a:latin typeface="Cambria Math"/>
                      </a:rPr>
                      <m:t>𝐚𝐬</m:t>
                    </m:r>
                    <m:r>
                      <a:rPr lang="en-US" b="1" i="0" smtClean="0">
                        <a:latin typeface="Cambria Math"/>
                      </a:rPr>
                      <m:t> </m:t>
                    </m:r>
                    <m:r>
                      <a:rPr lang="en-US" b="1" i="0" smtClean="0">
                        <a:latin typeface="Cambria Math"/>
                      </a:rPr>
                      <m:t>𝛂</m:t>
                    </m:r>
                    <m:r>
                      <a:rPr lang="en-US" b="1" i="0" smtClean="0">
                        <a:latin typeface="Cambria Math"/>
                      </a:rPr>
                      <m:t>=</m:t>
                    </m:r>
                    <m:r>
                      <a:rPr lang="en-US" b="1" i="0" smtClean="0">
                        <a:latin typeface="Cambria Math"/>
                      </a:rPr>
                      <m:t>𝟎</m:t>
                    </m:r>
                    <m:r>
                      <a:rPr lang="en-US" b="1" i="0" smtClean="0">
                        <a:latin typeface="Cambria Math"/>
                      </a:rPr>
                      <m:t> </m:t>
                    </m:r>
                    <m:r>
                      <a:rPr lang="en-US" b="1" i="0" smtClean="0">
                        <a:latin typeface="Cambria Math"/>
                      </a:rPr>
                      <m:t>𝐝𝐮𝐫𝐢𝐧𝐠</m:t>
                    </m:r>
                    <m:r>
                      <a:rPr lang="en-US" b="1" i="0" smtClean="0">
                        <a:latin typeface="Cambria Math"/>
                      </a:rPr>
                      <m:t> </m:t>
                    </m:r>
                    <m:r>
                      <a:rPr lang="en-US" b="1" i="0" smtClean="0">
                        <a:latin typeface="Cambria Math"/>
                      </a:rPr>
                      <m:t>𝐁</m:t>
                    </m:r>
                    <m:sSub>
                      <m:sSubPr>
                        <m:ctrlPr>
                          <a:rPr lang="en-US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/>
                          </a:rPr>
                          <m:t>𝐖</m:t>
                        </m:r>
                      </m:e>
                      <m:sub>
                        <m:r>
                          <a:rPr lang="en-US" b="1" i="0" smtClean="0">
                            <a:latin typeface="Cambria Math"/>
                          </a:rPr>
                          <m:t>𝐦𝐢𝐧</m:t>
                        </m:r>
                      </m:sub>
                    </m:sSub>
                  </m:oMath>
                </a14:m>
                <a:r>
                  <a:rPr lang="en-US" b="1" dirty="0" smtClean="0"/>
                  <a:t>]</a:t>
                </a:r>
                <a:endParaRPr lang="en-US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19" y="5257800"/>
                <a:ext cx="5163781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/>
          <p:cNvCxnSpPr/>
          <p:nvPr/>
        </p:nvCxnSpPr>
        <p:spPr>
          <a:xfrm>
            <a:off x="5562600" y="3393834"/>
            <a:ext cx="0" cy="334693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715000" y="3352800"/>
                <a:ext cx="6400800" cy="30523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b="1" dirty="0" smtClean="0"/>
                  <a:t>Nyquist interval</a:t>
                </a:r>
                <a:r>
                  <a:rPr lang="en-US" dirty="0" smtClean="0"/>
                  <a:t>: the </a:t>
                </a:r>
                <a:r>
                  <a:rPr lang="en-US" b="1" dirty="0" smtClean="0"/>
                  <a:t>minimum time gap between two consecutive symbols </a:t>
                </a:r>
                <a:r>
                  <a:rPr lang="en-US" dirty="0" smtClean="0"/>
                  <a:t>so that they don’t interfere with each other.</a:t>
                </a:r>
              </a:p>
              <a:p>
                <a:pPr algn="just"/>
                <a:r>
                  <a:rPr lang="en-US" dirty="0" smtClean="0"/>
                  <a:t>Formula: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𝑠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2000" b="0" i="0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000" b="0" i="0" smtClean="0">
                            <a:latin typeface="Cambria Math"/>
                          </a:rPr>
                          <m:t>2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/>
                              </a:rPr>
                              <m:t>b</m:t>
                            </m:r>
                          </m:sub>
                        </m:sSub>
                      </m:den>
                    </m:f>
                    <m:r>
                      <a:rPr lang="en-US" sz="2000" b="0" i="0" smtClean="0">
                        <a:latin typeface="Cambria Math"/>
                      </a:rPr>
                      <m:t> </m:t>
                    </m:r>
                  </m:oMath>
                </a14:m>
                <a:endParaRPr lang="en-US" sz="2000" b="0" i="0" dirty="0" smtClean="0">
                  <a:latin typeface="Cambria Math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0" smtClean="0">
                          <a:latin typeface="Cambria Math"/>
                        </a:rPr>
                        <m:t>[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/>
                            </a:rPr>
                            <m:t>b</m:t>
                          </m:r>
                        </m:sub>
                      </m:sSub>
                      <m:r>
                        <a:rPr lang="en-US" sz="1600" b="0" i="0" smtClean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/>
                        </a:rPr>
                        <m:t>Highest</m:t>
                      </m:r>
                      <m:r>
                        <a:rPr lang="en-US" sz="1600" b="0" i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/>
                        </a:rPr>
                        <m:t>baseband</m:t>
                      </m:r>
                      <m:r>
                        <a:rPr lang="en-US" sz="1600" b="0" i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/>
                        </a:rPr>
                        <m:t>Frequency</m:t>
                      </m:r>
                      <m:r>
                        <a:rPr lang="en-US" sz="1600" b="0" i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/>
                        </a:rPr>
                        <m:t>or</m:t>
                      </m:r>
                      <m:r>
                        <a:rPr lang="en-US" sz="1600" b="0" i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/>
                        </a:rPr>
                        <m:t>baseband</m:t>
                      </m:r>
                      <m:r>
                        <a:rPr lang="en-US" sz="1600" b="0" i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/>
                        </a:rPr>
                        <m:t>signa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/>
                            </a:rPr>
                            <m:t>l</m:t>
                          </m:r>
                        </m:e>
                        <m:sup>
                          <m:r>
                            <a:rPr lang="en-US" sz="1600" b="0" i="0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600" b="0" i="0" smtClean="0">
                          <a:latin typeface="Cambria Math"/>
                        </a:rPr>
                        <m:t>s</m:t>
                      </m:r>
                      <m:r>
                        <a:rPr lang="en-US" sz="1600" b="0" i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/>
                        </a:rPr>
                        <m:t>BW</m:t>
                      </m:r>
                      <m:r>
                        <a:rPr lang="en-US" sz="1600" b="0" i="0" smtClean="0"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en-US" sz="2000" dirty="0" smtClean="0"/>
              </a:p>
              <a:p>
                <a:pPr algn="just"/>
                <a:endParaRPr lang="en-US" sz="2000" dirty="0"/>
              </a:p>
              <a:p>
                <a:pPr algn="just"/>
                <a:r>
                  <a:rPr lang="en-US" sz="2000" dirty="0" smtClean="0"/>
                  <a:t>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latin typeface="Cambria Math"/>
                          </a:rPr>
                          <m:t>𝐅</m:t>
                        </m:r>
                      </m:e>
                      <m:sub>
                        <m:r>
                          <a:rPr lang="en-US" sz="2000" b="1" i="0" smtClean="0">
                            <a:latin typeface="Cambria Math"/>
                          </a:rPr>
                          <m:t>𝐛</m:t>
                        </m:r>
                      </m:sub>
                    </m:sSub>
                    <m:r>
                      <a:rPr lang="en-US" sz="2000" b="1" i="0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000" b="1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2000" b="1" i="0" smtClean="0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sz="2000" b="1" i="0" smtClean="0">
                            <a:latin typeface="Cambria Math"/>
                          </a:rPr>
                          <m:t>𝟐</m:t>
                        </m:r>
                        <m:sSub>
                          <m:sSubPr>
                            <m:ctrlPr>
                              <a:rPr lang="en-US" sz="2000" b="1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b="1" i="0" smtClean="0">
                                <a:latin typeface="Cambria Math"/>
                              </a:rPr>
                              <m:t>𝐓</m:t>
                            </m:r>
                          </m:e>
                          <m:sub>
                            <m:r>
                              <a:rPr lang="en-US" sz="2000" b="1" i="0" smtClean="0">
                                <a:latin typeface="Cambria Math"/>
                              </a:rPr>
                              <m:t>𝐬</m:t>
                            </m:r>
                          </m:sub>
                        </m:sSub>
                      </m:den>
                    </m:f>
                    <m:r>
                      <a:rPr lang="en-US" sz="2000" b="1" i="0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000" b="1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2000" b="1" i="0" smtClean="0">
                            <a:latin typeface="Cambria Math"/>
                          </a:rPr>
                          <m:t>𝐫</m:t>
                        </m:r>
                      </m:num>
                      <m:den>
                        <m:r>
                          <a:rPr lang="en-US" sz="2000" b="1" i="0" smtClean="0">
                            <a:latin typeface="Cambria Math"/>
                          </a:rPr>
                          <m:t>𝟐</m:t>
                        </m:r>
                      </m:den>
                    </m:f>
                    <m:r>
                      <a:rPr lang="en-US" sz="2000" b="1" i="0" smtClean="0">
                        <a:latin typeface="Cambria Math"/>
                      </a:rPr>
                      <m:t>[</m:t>
                    </m:r>
                    <m:r>
                      <a:rPr lang="en-US" sz="2000" b="1" i="0" smtClean="0">
                        <a:latin typeface="Cambria Math"/>
                      </a:rPr>
                      <m:t>𝐇𝐞𝐫𝐞</m:t>
                    </m:r>
                    <m:r>
                      <a:rPr lang="en-US" sz="2000" b="1" i="0" smtClean="0">
                        <a:latin typeface="Cambria Math"/>
                      </a:rPr>
                      <m:t>, </m:t>
                    </m:r>
                    <m:r>
                      <a:rPr lang="en-US" sz="2000" b="1" i="0" smtClean="0">
                        <a:latin typeface="Cambria Math"/>
                      </a:rPr>
                      <m:t>𝐫</m:t>
                    </m:r>
                    <m:r>
                      <a:rPr lang="en-US" sz="2000" b="1" i="0" smtClean="0">
                        <a:latin typeface="Cambria Math"/>
                      </a:rPr>
                      <m:t> </m:t>
                    </m:r>
                    <m:r>
                      <a:rPr lang="en-US" sz="2000" b="1" i="0" smtClean="0">
                        <a:latin typeface="Cambria Math"/>
                      </a:rPr>
                      <m:t>𝐢𝐬</m:t>
                    </m:r>
                    <m:r>
                      <a:rPr lang="en-US" sz="2000" b="1" i="0" smtClean="0">
                        <a:latin typeface="Cambria Math"/>
                      </a:rPr>
                      <m:t> </m:t>
                    </m:r>
                    <m:r>
                      <a:rPr lang="en-US" sz="2000" b="1" i="0" smtClean="0">
                        <a:latin typeface="Cambria Math"/>
                      </a:rPr>
                      <m:t>𝐛𝐚𝐮𝐝</m:t>
                    </m:r>
                    <m:r>
                      <a:rPr lang="en-US" sz="2000" b="1" i="0" smtClean="0">
                        <a:latin typeface="Cambria Math"/>
                      </a:rPr>
                      <m:t> </m:t>
                    </m:r>
                    <m:r>
                      <a:rPr lang="en-US" sz="2000" b="1" i="0" smtClean="0">
                        <a:latin typeface="Cambria Math"/>
                      </a:rPr>
                      <m:t>𝐫𝐚𝐭𝐞</m:t>
                    </m:r>
                    <m:r>
                      <a:rPr lang="en-US" sz="2000" b="1" i="0" smtClean="0">
                        <a:latin typeface="Cambria Math"/>
                      </a:rPr>
                      <m:t>]</m:t>
                    </m:r>
                  </m:oMath>
                </a14:m>
                <a:endParaRPr lang="en-US" sz="2000" b="1" dirty="0" smtClean="0"/>
              </a:p>
              <a:p>
                <a:pPr algn="just"/>
                <a:r>
                  <a:rPr lang="en-US" sz="2000" b="1" dirty="0" smtClean="0"/>
                  <a:t>BW of </a:t>
                </a:r>
                <a:r>
                  <a:rPr lang="en-US" sz="2000" b="1" dirty="0" err="1" smtClean="0"/>
                  <a:t>bandpass</a:t>
                </a:r>
                <a:r>
                  <a:rPr lang="en-US" sz="2000" b="1" dirty="0" smtClean="0"/>
                  <a:t> signal = 2 *baseband signal</a:t>
                </a:r>
              </a:p>
              <a:p>
                <a:pPr algn="just"/>
                <a:r>
                  <a:rPr lang="en-US" sz="2000" b="1" dirty="0" smtClean="0"/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/>
                      </a:rPr>
                      <m:t>B</m:t>
                    </m:r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/>
                          </a:rPr>
                          <m:t>min</m:t>
                        </m:r>
                      </m:sub>
                    </m:sSub>
                    <m:r>
                      <a:rPr lang="en-US" sz="2000" b="0" i="0" smtClean="0">
                        <a:latin typeface="Cambria Math"/>
                      </a:rPr>
                      <m:t>=2</m:t>
                    </m:r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/>
                          </a:rPr>
                          <m:t>b</m:t>
                        </m:r>
                      </m:sub>
                    </m:sSub>
                    <m:r>
                      <a:rPr lang="en-US" sz="2000" b="0" i="0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/>
                      </a:rPr>
                      <m:t>r</m:t>
                    </m:r>
                    <m:r>
                      <a:rPr lang="en-US" sz="2000" b="0" i="0" smtClean="0">
                        <a:latin typeface="Cambria Math"/>
                      </a:rPr>
                      <m:t> [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/>
                      </a:rPr>
                      <m:t>ignoring</m:t>
                    </m:r>
                    <m:r>
                      <a:rPr lang="en-US" sz="2000" b="0" i="0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/>
                      </a:rPr>
                      <m:t>roll</m:t>
                    </m:r>
                    <m:r>
                      <a:rPr lang="en-US" sz="2000" b="0" i="0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/>
                      </a:rPr>
                      <m:t>of</m:t>
                    </m:r>
                    <m:r>
                      <a:rPr lang="en-US" sz="2000" b="0" i="0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/>
                      </a:rPr>
                      <m:t>factor</m:t>
                    </m:r>
                    <m:r>
                      <a:rPr lang="en-US" sz="2000" b="0" i="0" smtClean="0">
                        <a:latin typeface="Cambria Math"/>
                      </a:rPr>
                      <m:t>]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3352800"/>
                <a:ext cx="6400800" cy="3052374"/>
              </a:xfrm>
              <a:prstGeom prst="rect">
                <a:avLst/>
              </a:prstGeom>
              <a:blipFill rotWithShape="1">
                <a:blip r:embed="rId5"/>
                <a:stretch>
                  <a:fillRect l="-1048" t="-998" r="-1714" b="-2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31125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100"/>
              </a:spcBef>
            </a:pPr>
            <a:r>
              <a:rPr dirty="0"/>
              <a:t>Multilevel</a:t>
            </a:r>
            <a:r>
              <a:rPr spc="-100" dirty="0"/>
              <a:t> </a:t>
            </a:r>
            <a:r>
              <a:rPr spc="-25" dirty="0"/>
              <a:t>PSK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066800" y="1295400"/>
            <a:ext cx="381000" cy="381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n>
                  <a:solidFill>
                    <a:schemeClr val="bg1"/>
                  </a:solidFill>
                </a:ln>
              </a:rPr>
              <a:t>M</a:t>
            </a:r>
            <a:endParaRPr lang="en-US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6800" y="2819400"/>
            <a:ext cx="381000" cy="381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n>
                  <a:solidFill>
                    <a:schemeClr val="bg1"/>
                  </a:solidFill>
                </a:ln>
              </a:rPr>
              <a:t>M</a:t>
            </a:r>
            <a:endParaRPr lang="en-US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90600" y="4495800"/>
            <a:ext cx="381000" cy="381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n>
                  <a:solidFill>
                    <a:schemeClr val="bg1"/>
                  </a:solidFill>
                </a:ln>
              </a:rPr>
              <a:t>M</a:t>
            </a:r>
            <a:endParaRPr lang="en-US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4615694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100"/>
              </a:spcBef>
            </a:pPr>
            <a:r>
              <a:rPr dirty="0"/>
              <a:t>Demodulation</a:t>
            </a:r>
            <a:r>
              <a:rPr spc="-8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spc="-25" dirty="0"/>
              <a:t>PSK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7923" y="849248"/>
            <a:ext cx="1127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BPSK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Signal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7583" y="923163"/>
            <a:ext cx="2225675" cy="1279525"/>
            <a:chOff x="377583" y="923163"/>
            <a:chExt cx="2225675" cy="1279525"/>
          </a:xfrm>
        </p:grpSpPr>
        <p:sp>
          <p:nvSpPr>
            <p:cNvPr id="5" name="object 5"/>
            <p:cNvSpPr/>
            <p:nvPr/>
          </p:nvSpPr>
          <p:spPr>
            <a:xfrm>
              <a:off x="377583" y="1161669"/>
              <a:ext cx="1628139" cy="114300"/>
            </a:xfrm>
            <a:custGeom>
              <a:avLst/>
              <a:gdLst/>
              <a:ahLst/>
              <a:cxnLst/>
              <a:rect l="l" t="t" r="r" b="b"/>
              <a:pathLst>
                <a:path w="1628139" h="114300">
                  <a:moveTo>
                    <a:pt x="1513319" y="0"/>
                  </a:moveTo>
                  <a:lnTo>
                    <a:pt x="1513319" y="114300"/>
                  </a:lnTo>
                  <a:lnTo>
                    <a:pt x="1589519" y="76200"/>
                  </a:lnTo>
                  <a:lnTo>
                    <a:pt x="1532369" y="76200"/>
                  </a:lnTo>
                  <a:lnTo>
                    <a:pt x="1532369" y="38100"/>
                  </a:lnTo>
                  <a:lnTo>
                    <a:pt x="1589519" y="38100"/>
                  </a:lnTo>
                  <a:lnTo>
                    <a:pt x="1513319" y="0"/>
                  </a:lnTo>
                  <a:close/>
                </a:path>
                <a:path w="1628139" h="114300">
                  <a:moveTo>
                    <a:pt x="1513319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513319" y="76200"/>
                  </a:lnTo>
                  <a:lnTo>
                    <a:pt x="1513319" y="38100"/>
                  </a:lnTo>
                  <a:close/>
                </a:path>
                <a:path w="1628139" h="114300">
                  <a:moveTo>
                    <a:pt x="1589519" y="38100"/>
                  </a:moveTo>
                  <a:lnTo>
                    <a:pt x="1532369" y="38100"/>
                  </a:lnTo>
                  <a:lnTo>
                    <a:pt x="1532369" y="76200"/>
                  </a:lnTo>
                  <a:lnTo>
                    <a:pt x="1589519" y="76200"/>
                  </a:lnTo>
                  <a:lnTo>
                    <a:pt x="1627619" y="57150"/>
                  </a:lnTo>
                  <a:lnTo>
                    <a:pt x="1589519" y="381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5202" y="926338"/>
              <a:ext cx="594360" cy="58483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005202" y="926338"/>
              <a:ext cx="594360" cy="584835"/>
            </a:xfrm>
            <a:custGeom>
              <a:avLst/>
              <a:gdLst/>
              <a:ahLst/>
              <a:cxnLst/>
              <a:rect l="l" t="t" r="r" b="b"/>
              <a:pathLst>
                <a:path w="594360" h="584835">
                  <a:moveTo>
                    <a:pt x="0" y="292480"/>
                  </a:moveTo>
                  <a:lnTo>
                    <a:pt x="3890" y="245036"/>
                  </a:lnTo>
                  <a:lnTo>
                    <a:pt x="15154" y="200030"/>
                  </a:lnTo>
                  <a:lnTo>
                    <a:pt x="33179" y="158064"/>
                  </a:lnTo>
                  <a:lnTo>
                    <a:pt x="57351" y="119740"/>
                  </a:lnTo>
                  <a:lnTo>
                    <a:pt x="87058" y="85661"/>
                  </a:lnTo>
                  <a:lnTo>
                    <a:pt x="121688" y="56428"/>
                  </a:lnTo>
                  <a:lnTo>
                    <a:pt x="160628" y="32644"/>
                  </a:lnTo>
                  <a:lnTo>
                    <a:pt x="203265" y="14909"/>
                  </a:lnTo>
                  <a:lnTo>
                    <a:pt x="248986" y="3827"/>
                  </a:lnTo>
                  <a:lnTo>
                    <a:pt x="297180" y="0"/>
                  </a:lnTo>
                  <a:lnTo>
                    <a:pt x="345373" y="3827"/>
                  </a:lnTo>
                  <a:lnTo>
                    <a:pt x="391094" y="14909"/>
                  </a:lnTo>
                  <a:lnTo>
                    <a:pt x="433731" y="32644"/>
                  </a:lnTo>
                  <a:lnTo>
                    <a:pt x="472671" y="56428"/>
                  </a:lnTo>
                  <a:lnTo>
                    <a:pt x="507301" y="85661"/>
                  </a:lnTo>
                  <a:lnTo>
                    <a:pt x="537008" y="119740"/>
                  </a:lnTo>
                  <a:lnTo>
                    <a:pt x="561180" y="158064"/>
                  </a:lnTo>
                  <a:lnTo>
                    <a:pt x="579205" y="200030"/>
                  </a:lnTo>
                  <a:lnTo>
                    <a:pt x="590469" y="245036"/>
                  </a:lnTo>
                  <a:lnTo>
                    <a:pt x="594360" y="292480"/>
                  </a:lnTo>
                  <a:lnTo>
                    <a:pt x="590469" y="339891"/>
                  </a:lnTo>
                  <a:lnTo>
                    <a:pt x="579205" y="384869"/>
                  </a:lnTo>
                  <a:lnTo>
                    <a:pt x="561180" y="426814"/>
                  </a:lnTo>
                  <a:lnTo>
                    <a:pt x="537008" y="465121"/>
                  </a:lnTo>
                  <a:lnTo>
                    <a:pt x="507301" y="499189"/>
                  </a:lnTo>
                  <a:lnTo>
                    <a:pt x="472671" y="528414"/>
                  </a:lnTo>
                  <a:lnTo>
                    <a:pt x="433731" y="552194"/>
                  </a:lnTo>
                  <a:lnTo>
                    <a:pt x="391094" y="569926"/>
                  </a:lnTo>
                  <a:lnTo>
                    <a:pt x="345373" y="581007"/>
                  </a:lnTo>
                  <a:lnTo>
                    <a:pt x="297180" y="584834"/>
                  </a:lnTo>
                  <a:lnTo>
                    <a:pt x="248986" y="581007"/>
                  </a:lnTo>
                  <a:lnTo>
                    <a:pt x="203265" y="569926"/>
                  </a:lnTo>
                  <a:lnTo>
                    <a:pt x="160628" y="552194"/>
                  </a:lnTo>
                  <a:lnTo>
                    <a:pt x="121688" y="528414"/>
                  </a:lnTo>
                  <a:lnTo>
                    <a:pt x="87058" y="499189"/>
                  </a:lnTo>
                  <a:lnTo>
                    <a:pt x="57351" y="465121"/>
                  </a:lnTo>
                  <a:lnTo>
                    <a:pt x="33179" y="426814"/>
                  </a:lnTo>
                  <a:lnTo>
                    <a:pt x="15154" y="384869"/>
                  </a:lnTo>
                  <a:lnTo>
                    <a:pt x="3890" y="339891"/>
                  </a:lnTo>
                  <a:lnTo>
                    <a:pt x="0" y="292480"/>
                  </a:lnTo>
                  <a:close/>
                </a:path>
              </a:pathLst>
            </a:custGeom>
            <a:ln w="635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092198" y="1012063"/>
              <a:ext cx="420370" cy="414020"/>
            </a:xfrm>
            <a:custGeom>
              <a:avLst/>
              <a:gdLst/>
              <a:ahLst/>
              <a:cxnLst/>
              <a:rect l="l" t="t" r="r" b="b"/>
              <a:pathLst>
                <a:path w="420369" h="414019">
                  <a:moveTo>
                    <a:pt x="0" y="0"/>
                  </a:moveTo>
                  <a:lnTo>
                    <a:pt x="420370" y="413512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092198" y="1012063"/>
              <a:ext cx="420370" cy="414020"/>
            </a:xfrm>
            <a:custGeom>
              <a:avLst/>
              <a:gdLst/>
              <a:ahLst/>
              <a:cxnLst/>
              <a:rect l="l" t="t" r="r" b="b"/>
              <a:pathLst>
                <a:path w="420369" h="414019">
                  <a:moveTo>
                    <a:pt x="420369" y="0"/>
                  </a:moveTo>
                  <a:lnTo>
                    <a:pt x="0" y="413512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45233" y="1511173"/>
              <a:ext cx="114300" cy="691515"/>
            </a:xfrm>
            <a:custGeom>
              <a:avLst/>
              <a:gdLst/>
              <a:ahLst/>
              <a:cxnLst/>
              <a:rect l="l" t="t" r="r" b="b"/>
              <a:pathLst>
                <a:path w="114300" h="691514">
                  <a:moveTo>
                    <a:pt x="76200" y="95249"/>
                  </a:moveTo>
                  <a:lnTo>
                    <a:pt x="38100" y="95249"/>
                  </a:lnTo>
                  <a:lnTo>
                    <a:pt x="38100" y="691514"/>
                  </a:lnTo>
                  <a:lnTo>
                    <a:pt x="76200" y="691514"/>
                  </a:lnTo>
                  <a:lnTo>
                    <a:pt x="76200" y="95249"/>
                  </a:lnTo>
                  <a:close/>
                </a:path>
                <a:path w="114300" h="691514">
                  <a:moveTo>
                    <a:pt x="57150" y="0"/>
                  </a:moveTo>
                  <a:lnTo>
                    <a:pt x="0" y="114299"/>
                  </a:lnTo>
                  <a:lnTo>
                    <a:pt x="38100" y="114299"/>
                  </a:lnTo>
                  <a:lnTo>
                    <a:pt x="38100" y="95249"/>
                  </a:lnTo>
                  <a:lnTo>
                    <a:pt x="104775" y="95249"/>
                  </a:lnTo>
                  <a:lnTo>
                    <a:pt x="57150" y="0"/>
                  </a:lnTo>
                  <a:close/>
                </a:path>
                <a:path w="114300" h="691514">
                  <a:moveTo>
                    <a:pt x="104775" y="95249"/>
                  </a:moveTo>
                  <a:lnTo>
                    <a:pt x="76200" y="95249"/>
                  </a:lnTo>
                  <a:lnTo>
                    <a:pt x="76200" y="114299"/>
                  </a:lnTo>
                  <a:lnTo>
                    <a:pt x="114300" y="114299"/>
                  </a:lnTo>
                  <a:lnTo>
                    <a:pt x="104775" y="95249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626235" y="2169414"/>
            <a:ext cx="1288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Carrier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Signal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599563" y="811339"/>
            <a:ext cx="2649220" cy="815340"/>
            <a:chOff x="2599563" y="811339"/>
            <a:chExt cx="2649220" cy="815340"/>
          </a:xfrm>
        </p:grpSpPr>
        <p:sp>
          <p:nvSpPr>
            <p:cNvPr id="13" name="object 13"/>
            <p:cNvSpPr/>
            <p:nvPr/>
          </p:nvSpPr>
          <p:spPr>
            <a:xfrm>
              <a:off x="2599563" y="1161668"/>
              <a:ext cx="1442085" cy="114300"/>
            </a:xfrm>
            <a:custGeom>
              <a:avLst/>
              <a:gdLst/>
              <a:ahLst/>
              <a:cxnLst/>
              <a:rect l="l" t="t" r="r" b="b"/>
              <a:pathLst>
                <a:path w="1442085" h="114300">
                  <a:moveTo>
                    <a:pt x="1327785" y="0"/>
                  </a:moveTo>
                  <a:lnTo>
                    <a:pt x="1327785" y="114300"/>
                  </a:lnTo>
                  <a:lnTo>
                    <a:pt x="1403985" y="76200"/>
                  </a:lnTo>
                  <a:lnTo>
                    <a:pt x="1346835" y="76200"/>
                  </a:lnTo>
                  <a:lnTo>
                    <a:pt x="1346835" y="38100"/>
                  </a:lnTo>
                  <a:lnTo>
                    <a:pt x="1403985" y="38100"/>
                  </a:lnTo>
                  <a:lnTo>
                    <a:pt x="1327785" y="0"/>
                  </a:lnTo>
                  <a:close/>
                </a:path>
                <a:path w="1442085" h="114300">
                  <a:moveTo>
                    <a:pt x="1327785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327785" y="76200"/>
                  </a:lnTo>
                  <a:lnTo>
                    <a:pt x="1327785" y="38100"/>
                  </a:lnTo>
                  <a:close/>
                </a:path>
                <a:path w="1442085" h="114300">
                  <a:moveTo>
                    <a:pt x="1403985" y="38100"/>
                  </a:moveTo>
                  <a:lnTo>
                    <a:pt x="1346835" y="38100"/>
                  </a:lnTo>
                  <a:lnTo>
                    <a:pt x="1346835" y="76200"/>
                  </a:lnTo>
                  <a:lnTo>
                    <a:pt x="1403985" y="76200"/>
                  </a:lnTo>
                  <a:lnTo>
                    <a:pt x="1442085" y="57150"/>
                  </a:lnTo>
                  <a:lnTo>
                    <a:pt x="1403985" y="381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41648" y="811339"/>
              <a:ext cx="1207008" cy="814768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041647" y="811339"/>
            <a:ext cx="1207135" cy="815340"/>
          </a:xfrm>
          <a:prstGeom prst="rect">
            <a:avLst/>
          </a:prstGeom>
          <a:ln w="6350">
            <a:solidFill>
              <a:srgbClr val="A4A4A4"/>
            </a:solidFill>
          </a:ln>
        </p:spPr>
        <p:txBody>
          <a:bodyPr vert="horz" wrap="square" lIns="0" tIns="205104" rIns="0" bIns="0" rtlCol="0">
            <a:spAutoFit/>
          </a:bodyPr>
          <a:lstStyle/>
          <a:p>
            <a:pPr marL="387350">
              <a:lnSpc>
                <a:spcPct val="100000"/>
              </a:lnSpc>
              <a:spcBef>
                <a:spcPts val="1614"/>
              </a:spcBef>
            </a:pPr>
            <a:r>
              <a:rPr sz="2400" b="1" spc="-25" dirty="0">
                <a:latin typeface="Calibri"/>
                <a:cs typeface="Calibri"/>
              </a:rPr>
              <a:t>LPF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248655" y="1161669"/>
            <a:ext cx="1826260" cy="114300"/>
          </a:xfrm>
          <a:custGeom>
            <a:avLst/>
            <a:gdLst/>
            <a:ahLst/>
            <a:cxnLst/>
            <a:rect l="l" t="t" r="r" b="b"/>
            <a:pathLst>
              <a:path w="1826259" h="114300">
                <a:moveTo>
                  <a:pt x="1711833" y="0"/>
                </a:moveTo>
                <a:lnTo>
                  <a:pt x="1711833" y="114300"/>
                </a:lnTo>
                <a:lnTo>
                  <a:pt x="1788033" y="76200"/>
                </a:lnTo>
                <a:lnTo>
                  <a:pt x="1730883" y="76200"/>
                </a:lnTo>
                <a:lnTo>
                  <a:pt x="1730883" y="38100"/>
                </a:lnTo>
                <a:lnTo>
                  <a:pt x="1788033" y="38100"/>
                </a:lnTo>
                <a:lnTo>
                  <a:pt x="1711833" y="0"/>
                </a:lnTo>
                <a:close/>
              </a:path>
              <a:path w="1826259" h="114300">
                <a:moveTo>
                  <a:pt x="171183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711833" y="76200"/>
                </a:lnTo>
                <a:lnTo>
                  <a:pt x="1711833" y="38100"/>
                </a:lnTo>
                <a:close/>
              </a:path>
              <a:path w="1826259" h="114300">
                <a:moveTo>
                  <a:pt x="1788033" y="38100"/>
                </a:moveTo>
                <a:lnTo>
                  <a:pt x="1730883" y="38100"/>
                </a:lnTo>
                <a:lnTo>
                  <a:pt x="1730883" y="76200"/>
                </a:lnTo>
                <a:lnTo>
                  <a:pt x="1788033" y="76200"/>
                </a:lnTo>
                <a:lnTo>
                  <a:pt x="1826133" y="57150"/>
                </a:lnTo>
                <a:lnTo>
                  <a:pt x="1788033" y="3810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394197" y="849248"/>
            <a:ext cx="1471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Message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Signal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74789" y="811339"/>
            <a:ext cx="1758314" cy="814768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7074789" y="811339"/>
            <a:ext cx="1758314" cy="815340"/>
          </a:xfrm>
          <a:prstGeom prst="rect">
            <a:avLst/>
          </a:prstGeom>
          <a:ln w="6350">
            <a:solidFill>
              <a:srgbClr val="A4A4A4"/>
            </a:solidFill>
          </a:ln>
        </p:spPr>
        <p:txBody>
          <a:bodyPr vert="horz" wrap="square" lIns="0" tIns="205104" rIns="0" bIns="0" rtlCol="0">
            <a:spAutoFit/>
          </a:bodyPr>
          <a:lstStyle/>
          <a:p>
            <a:pPr marL="122555">
              <a:lnSpc>
                <a:spcPct val="100000"/>
              </a:lnSpc>
              <a:spcBef>
                <a:spcPts val="1614"/>
              </a:spcBef>
            </a:pPr>
            <a:r>
              <a:rPr sz="2400" b="1" spc="-10" dirty="0">
                <a:latin typeface="Calibri"/>
                <a:cs typeface="Calibri"/>
              </a:rPr>
              <a:t>Comparator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833104" y="1161669"/>
            <a:ext cx="1765300" cy="114300"/>
          </a:xfrm>
          <a:custGeom>
            <a:avLst/>
            <a:gdLst/>
            <a:ahLst/>
            <a:cxnLst/>
            <a:rect l="l" t="t" r="r" b="b"/>
            <a:pathLst>
              <a:path w="1765300" h="114300">
                <a:moveTo>
                  <a:pt x="1650492" y="0"/>
                </a:moveTo>
                <a:lnTo>
                  <a:pt x="1650492" y="114300"/>
                </a:lnTo>
                <a:lnTo>
                  <a:pt x="1726692" y="76200"/>
                </a:lnTo>
                <a:lnTo>
                  <a:pt x="1669542" y="76200"/>
                </a:lnTo>
                <a:lnTo>
                  <a:pt x="1669542" y="38100"/>
                </a:lnTo>
                <a:lnTo>
                  <a:pt x="1726692" y="38100"/>
                </a:lnTo>
                <a:lnTo>
                  <a:pt x="1650492" y="0"/>
                </a:lnTo>
                <a:close/>
              </a:path>
              <a:path w="1765300" h="114300">
                <a:moveTo>
                  <a:pt x="165049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650492" y="76200"/>
                </a:lnTo>
                <a:lnTo>
                  <a:pt x="1650492" y="38100"/>
                </a:lnTo>
                <a:close/>
              </a:path>
              <a:path w="1765300" h="114300">
                <a:moveTo>
                  <a:pt x="1726692" y="38100"/>
                </a:moveTo>
                <a:lnTo>
                  <a:pt x="1669542" y="38100"/>
                </a:lnTo>
                <a:lnTo>
                  <a:pt x="1669542" y="76200"/>
                </a:lnTo>
                <a:lnTo>
                  <a:pt x="1726692" y="76200"/>
                </a:lnTo>
                <a:lnTo>
                  <a:pt x="1764792" y="57150"/>
                </a:lnTo>
                <a:lnTo>
                  <a:pt x="1726692" y="3810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9255632" y="829436"/>
            <a:ext cx="1133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Digital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1369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Constellation</a:t>
            </a:r>
            <a:r>
              <a:rPr spc="-85" dirty="0"/>
              <a:t> </a:t>
            </a:r>
            <a:r>
              <a:rPr dirty="0"/>
              <a:t>Diagram</a:t>
            </a:r>
            <a:r>
              <a:rPr spc="-8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5" dirty="0"/>
              <a:t>PSK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11366" y="997458"/>
            <a:ext cx="5410200" cy="4300220"/>
            <a:chOff x="211366" y="997458"/>
            <a:chExt cx="5410200" cy="4300220"/>
          </a:xfrm>
        </p:grpSpPr>
        <p:sp>
          <p:nvSpPr>
            <p:cNvPr id="4" name="object 4"/>
            <p:cNvSpPr/>
            <p:nvPr/>
          </p:nvSpPr>
          <p:spPr>
            <a:xfrm>
              <a:off x="211366" y="997457"/>
              <a:ext cx="5410200" cy="4300220"/>
            </a:xfrm>
            <a:custGeom>
              <a:avLst/>
              <a:gdLst/>
              <a:ahLst/>
              <a:cxnLst/>
              <a:rect l="l" t="t" r="r" b="b"/>
              <a:pathLst>
                <a:path w="5410200" h="4300220">
                  <a:moveTo>
                    <a:pt x="5409781" y="2191131"/>
                  </a:moveTo>
                  <a:lnTo>
                    <a:pt x="5371681" y="2172081"/>
                  </a:lnTo>
                  <a:lnTo>
                    <a:pt x="5295481" y="2133981"/>
                  </a:lnTo>
                  <a:lnTo>
                    <a:pt x="5295481" y="2172081"/>
                  </a:lnTo>
                  <a:lnTo>
                    <a:pt x="2723985" y="2172081"/>
                  </a:lnTo>
                  <a:lnTo>
                    <a:pt x="2723985" y="114312"/>
                  </a:lnTo>
                  <a:lnTo>
                    <a:pt x="2762085" y="114312"/>
                  </a:lnTo>
                  <a:lnTo>
                    <a:pt x="2752496" y="95123"/>
                  </a:lnTo>
                  <a:lnTo>
                    <a:pt x="2704935" y="0"/>
                  </a:lnTo>
                  <a:lnTo>
                    <a:pt x="2647772" y="114312"/>
                  </a:lnTo>
                  <a:lnTo>
                    <a:pt x="2685885" y="114312"/>
                  </a:lnTo>
                  <a:lnTo>
                    <a:pt x="2685885" y="2172081"/>
                  </a:lnTo>
                  <a:lnTo>
                    <a:pt x="0" y="2172081"/>
                  </a:lnTo>
                  <a:lnTo>
                    <a:pt x="0" y="2210181"/>
                  </a:lnTo>
                  <a:lnTo>
                    <a:pt x="2685885" y="2210181"/>
                  </a:lnTo>
                  <a:lnTo>
                    <a:pt x="2685885" y="4300220"/>
                  </a:lnTo>
                  <a:lnTo>
                    <a:pt x="2723985" y="4300220"/>
                  </a:lnTo>
                  <a:lnTo>
                    <a:pt x="2723985" y="2210181"/>
                  </a:lnTo>
                  <a:lnTo>
                    <a:pt x="5295481" y="2210181"/>
                  </a:lnTo>
                  <a:lnTo>
                    <a:pt x="5295481" y="2248281"/>
                  </a:lnTo>
                  <a:lnTo>
                    <a:pt x="5371681" y="2210181"/>
                  </a:lnTo>
                  <a:lnTo>
                    <a:pt x="5409781" y="2191131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6058" y="3077463"/>
              <a:ext cx="288378" cy="28511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76058" y="3077463"/>
              <a:ext cx="288925" cy="285115"/>
            </a:xfrm>
            <a:custGeom>
              <a:avLst/>
              <a:gdLst/>
              <a:ahLst/>
              <a:cxnLst/>
              <a:rect l="l" t="t" r="r" b="b"/>
              <a:pathLst>
                <a:path w="288925" h="285114">
                  <a:moveTo>
                    <a:pt x="0" y="69723"/>
                  </a:moveTo>
                  <a:lnTo>
                    <a:pt x="68122" y="0"/>
                  </a:lnTo>
                  <a:lnTo>
                    <a:pt x="144233" y="74422"/>
                  </a:lnTo>
                  <a:lnTo>
                    <a:pt x="220306" y="0"/>
                  </a:lnTo>
                  <a:lnTo>
                    <a:pt x="288378" y="69723"/>
                  </a:lnTo>
                  <a:lnTo>
                    <a:pt x="213956" y="142494"/>
                  </a:lnTo>
                  <a:lnTo>
                    <a:pt x="288378" y="215392"/>
                  </a:lnTo>
                  <a:lnTo>
                    <a:pt x="220306" y="285115"/>
                  </a:lnTo>
                  <a:lnTo>
                    <a:pt x="144233" y="210693"/>
                  </a:lnTo>
                  <a:lnTo>
                    <a:pt x="68122" y="285115"/>
                  </a:lnTo>
                  <a:lnTo>
                    <a:pt x="0" y="215392"/>
                  </a:lnTo>
                  <a:lnTo>
                    <a:pt x="74485" y="142494"/>
                  </a:lnTo>
                  <a:lnTo>
                    <a:pt x="0" y="69723"/>
                  </a:lnTo>
                  <a:close/>
                </a:path>
              </a:pathLst>
            </a:custGeom>
            <a:ln w="19050">
              <a:solidFill>
                <a:srgbClr val="843B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700521" y="2800045"/>
            <a:ext cx="10731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I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27426" y="747471"/>
            <a:ext cx="2349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Q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057010" y="622173"/>
            <a:ext cx="0" cy="6236335"/>
          </a:xfrm>
          <a:custGeom>
            <a:avLst/>
            <a:gdLst/>
            <a:ahLst/>
            <a:cxnLst/>
            <a:rect l="l" t="t" r="r" b="b"/>
            <a:pathLst>
              <a:path h="6236334">
                <a:moveTo>
                  <a:pt x="0" y="6235827"/>
                </a:moveTo>
                <a:lnTo>
                  <a:pt x="0" y="0"/>
                </a:lnTo>
              </a:path>
            </a:pathLst>
          </a:custGeom>
          <a:ln w="19050">
            <a:solidFill>
              <a:srgbClr val="4471C4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265045" y="5396890"/>
            <a:ext cx="12674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Binary</a:t>
            </a:r>
            <a:r>
              <a:rPr sz="2200"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b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PSK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69273" y="5396890"/>
            <a:ext cx="6864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8-</a:t>
            </a:r>
            <a:r>
              <a:rPr sz="2200" b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PSK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9272" y="3346196"/>
            <a:ext cx="17468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Symbol</a:t>
            </a:r>
            <a:r>
              <a:rPr sz="1800" b="1" spc="-50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for</a:t>
            </a:r>
            <a:r>
              <a:rPr sz="1800" b="1" spc="-35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Logic</a:t>
            </a:r>
            <a:r>
              <a:rPr sz="1800" b="1" spc="-35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843B0B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Phase</a:t>
            </a:r>
            <a:r>
              <a:rPr sz="1800" b="1" spc="-40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843B0B"/>
                </a:solidFill>
                <a:latin typeface="Calibri"/>
                <a:cs typeface="Calibri"/>
              </a:rPr>
              <a:t>180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444491" y="3036570"/>
            <a:ext cx="307340" cy="304165"/>
            <a:chOff x="4444491" y="3036570"/>
            <a:chExt cx="307340" cy="30416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54016" y="3046095"/>
              <a:ext cx="288289" cy="28498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454016" y="3046095"/>
              <a:ext cx="288290" cy="285115"/>
            </a:xfrm>
            <a:custGeom>
              <a:avLst/>
              <a:gdLst/>
              <a:ahLst/>
              <a:cxnLst/>
              <a:rect l="l" t="t" r="r" b="b"/>
              <a:pathLst>
                <a:path w="288289" h="285114">
                  <a:moveTo>
                    <a:pt x="0" y="69723"/>
                  </a:moveTo>
                  <a:lnTo>
                    <a:pt x="68072" y="0"/>
                  </a:lnTo>
                  <a:lnTo>
                    <a:pt x="144145" y="74295"/>
                  </a:lnTo>
                  <a:lnTo>
                    <a:pt x="220218" y="0"/>
                  </a:lnTo>
                  <a:lnTo>
                    <a:pt x="288290" y="69723"/>
                  </a:lnTo>
                  <a:lnTo>
                    <a:pt x="213868" y="142494"/>
                  </a:lnTo>
                  <a:lnTo>
                    <a:pt x="288290" y="215265"/>
                  </a:lnTo>
                  <a:lnTo>
                    <a:pt x="220218" y="284988"/>
                  </a:lnTo>
                  <a:lnTo>
                    <a:pt x="144145" y="210693"/>
                  </a:lnTo>
                  <a:lnTo>
                    <a:pt x="68072" y="284988"/>
                  </a:lnTo>
                  <a:lnTo>
                    <a:pt x="0" y="215265"/>
                  </a:lnTo>
                  <a:lnTo>
                    <a:pt x="74422" y="142494"/>
                  </a:lnTo>
                  <a:lnTo>
                    <a:pt x="0" y="69723"/>
                  </a:lnTo>
                  <a:close/>
                </a:path>
              </a:pathLst>
            </a:custGeom>
            <a:ln w="19049">
              <a:solidFill>
                <a:srgbClr val="843B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629914" y="3358641"/>
            <a:ext cx="17468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Symbol</a:t>
            </a:r>
            <a:r>
              <a:rPr sz="1800" b="1" spc="-50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for</a:t>
            </a:r>
            <a:r>
              <a:rPr sz="1800" b="1" spc="-35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Logic</a:t>
            </a:r>
            <a:r>
              <a:rPr sz="1800" b="1" spc="-35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843B0B"/>
                </a:solidFill>
                <a:latin typeface="Calibri"/>
                <a:cs typeface="Calibri"/>
              </a:rPr>
              <a:t>1 </a:t>
            </a: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Phase</a:t>
            </a:r>
            <a:r>
              <a:rPr sz="1800" b="1" spc="-45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843B0B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309995" y="1028827"/>
            <a:ext cx="5410200" cy="4300855"/>
            <a:chOff x="6309995" y="1028827"/>
            <a:chExt cx="5410200" cy="4300855"/>
          </a:xfrm>
        </p:grpSpPr>
        <p:sp>
          <p:nvSpPr>
            <p:cNvPr id="18" name="object 18"/>
            <p:cNvSpPr/>
            <p:nvPr/>
          </p:nvSpPr>
          <p:spPr>
            <a:xfrm>
              <a:off x="6309995" y="1028826"/>
              <a:ext cx="5410200" cy="4300855"/>
            </a:xfrm>
            <a:custGeom>
              <a:avLst/>
              <a:gdLst/>
              <a:ahLst/>
              <a:cxnLst/>
              <a:rect l="l" t="t" r="r" b="b"/>
              <a:pathLst>
                <a:path w="5410200" h="4300855">
                  <a:moveTo>
                    <a:pt x="5409819" y="2191131"/>
                  </a:moveTo>
                  <a:lnTo>
                    <a:pt x="5371719" y="2172081"/>
                  </a:lnTo>
                  <a:lnTo>
                    <a:pt x="5295519" y="2133981"/>
                  </a:lnTo>
                  <a:lnTo>
                    <a:pt x="5295519" y="2172081"/>
                  </a:lnTo>
                  <a:lnTo>
                    <a:pt x="2723896" y="2172081"/>
                  </a:lnTo>
                  <a:lnTo>
                    <a:pt x="2723896" y="114300"/>
                  </a:lnTo>
                  <a:lnTo>
                    <a:pt x="2761996" y="114300"/>
                  </a:lnTo>
                  <a:lnTo>
                    <a:pt x="2752471" y="95250"/>
                  </a:lnTo>
                  <a:lnTo>
                    <a:pt x="2704846" y="0"/>
                  </a:lnTo>
                  <a:lnTo>
                    <a:pt x="2647696" y="114300"/>
                  </a:lnTo>
                  <a:lnTo>
                    <a:pt x="2685796" y="114300"/>
                  </a:lnTo>
                  <a:lnTo>
                    <a:pt x="2685796" y="2172081"/>
                  </a:lnTo>
                  <a:lnTo>
                    <a:pt x="0" y="2172081"/>
                  </a:lnTo>
                  <a:lnTo>
                    <a:pt x="0" y="2210181"/>
                  </a:lnTo>
                  <a:lnTo>
                    <a:pt x="2685796" y="2210181"/>
                  </a:lnTo>
                  <a:lnTo>
                    <a:pt x="2685796" y="4300347"/>
                  </a:lnTo>
                  <a:lnTo>
                    <a:pt x="2723896" y="4300347"/>
                  </a:lnTo>
                  <a:lnTo>
                    <a:pt x="2723896" y="2210181"/>
                  </a:lnTo>
                  <a:lnTo>
                    <a:pt x="5295519" y="2210181"/>
                  </a:lnTo>
                  <a:lnTo>
                    <a:pt x="5295519" y="2248281"/>
                  </a:lnTo>
                  <a:lnTo>
                    <a:pt x="5371719" y="2210181"/>
                  </a:lnTo>
                  <a:lnTo>
                    <a:pt x="5409819" y="2191131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184771" y="1506728"/>
              <a:ext cx="3662679" cy="3334385"/>
            </a:xfrm>
            <a:custGeom>
              <a:avLst/>
              <a:gdLst/>
              <a:ahLst/>
              <a:cxnLst/>
              <a:rect l="l" t="t" r="r" b="b"/>
              <a:pathLst>
                <a:path w="3662679" h="3334385">
                  <a:moveTo>
                    <a:pt x="0" y="1667129"/>
                  </a:moveTo>
                  <a:lnTo>
                    <a:pt x="680" y="1621239"/>
                  </a:lnTo>
                  <a:lnTo>
                    <a:pt x="2709" y="1575656"/>
                  </a:lnTo>
                  <a:lnTo>
                    <a:pt x="6070" y="1530395"/>
                  </a:lnTo>
                  <a:lnTo>
                    <a:pt x="10745" y="1485473"/>
                  </a:lnTo>
                  <a:lnTo>
                    <a:pt x="16717" y="1440905"/>
                  </a:lnTo>
                  <a:lnTo>
                    <a:pt x="23968" y="1396707"/>
                  </a:lnTo>
                  <a:lnTo>
                    <a:pt x="32481" y="1352894"/>
                  </a:lnTo>
                  <a:lnTo>
                    <a:pt x="42238" y="1309484"/>
                  </a:lnTo>
                  <a:lnTo>
                    <a:pt x="53222" y="1266492"/>
                  </a:lnTo>
                  <a:lnTo>
                    <a:pt x="65416" y="1223933"/>
                  </a:lnTo>
                  <a:lnTo>
                    <a:pt x="78801" y="1181823"/>
                  </a:lnTo>
                  <a:lnTo>
                    <a:pt x="93361" y="1140179"/>
                  </a:lnTo>
                  <a:lnTo>
                    <a:pt x="109078" y="1099016"/>
                  </a:lnTo>
                  <a:lnTo>
                    <a:pt x="125934" y="1058351"/>
                  </a:lnTo>
                  <a:lnTo>
                    <a:pt x="143912" y="1018198"/>
                  </a:lnTo>
                  <a:lnTo>
                    <a:pt x="162995" y="978575"/>
                  </a:lnTo>
                  <a:lnTo>
                    <a:pt x="183166" y="939496"/>
                  </a:lnTo>
                  <a:lnTo>
                    <a:pt x="204406" y="900978"/>
                  </a:lnTo>
                  <a:lnTo>
                    <a:pt x="226698" y="863037"/>
                  </a:lnTo>
                  <a:lnTo>
                    <a:pt x="250025" y="825688"/>
                  </a:lnTo>
                  <a:lnTo>
                    <a:pt x="274369" y="788947"/>
                  </a:lnTo>
                  <a:lnTo>
                    <a:pt x="299713" y="752831"/>
                  </a:lnTo>
                  <a:lnTo>
                    <a:pt x="326040" y="717355"/>
                  </a:lnTo>
                  <a:lnTo>
                    <a:pt x="353332" y="682535"/>
                  </a:lnTo>
                  <a:lnTo>
                    <a:pt x="381571" y="648387"/>
                  </a:lnTo>
                  <a:lnTo>
                    <a:pt x="410740" y="614927"/>
                  </a:lnTo>
                  <a:lnTo>
                    <a:pt x="440822" y="582171"/>
                  </a:lnTo>
                  <a:lnTo>
                    <a:pt x="471799" y="550134"/>
                  </a:lnTo>
                  <a:lnTo>
                    <a:pt x="503653" y="518833"/>
                  </a:lnTo>
                  <a:lnTo>
                    <a:pt x="536368" y="488283"/>
                  </a:lnTo>
                  <a:lnTo>
                    <a:pt x="569926" y="458500"/>
                  </a:lnTo>
                  <a:lnTo>
                    <a:pt x="604308" y="429501"/>
                  </a:lnTo>
                  <a:lnTo>
                    <a:pt x="639499" y="401301"/>
                  </a:lnTo>
                  <a:lnTo>
                    <a:pt x="675480" y="373915"/>
                  </a:lnTo>
                  <a:lnTo>
                    <a:pt x="712234" y="347361"/>
                  </a:lnTo>
                  <a:lnTo>
                    <a:pt x="749743" y="321653"/>
                  </a:lnTo>
                  <a:lnTo>
                    <a:pt x="787991" y="296808"/>
                  </a:lnTo>
                  <a:lnTo>
                    <a:pt x="826959" y="272841"/>
                  </a:lnTo>
                  <a:lnTo>
                    <a:pt x="866630" y="249769"/>
                  </a:lnTo>
                  <a:lnTo>
                    <a:pt x="906986" y="227607"/>
                  </a:lnTo>
                  <a:lnTo>
                    <a:pt x="948011" y="206371"/>
                  </a:lnTo>
                  <a:lnTo>
                    <a:pt x="989687" y="186078"/>
                  </a:lnTo>
                  <a:lnTo>
                    <a:pt x="1031995" y="166742"/>
                  </a:lnTo>
                  <a:lnTo>
                    <a:pt x="1074920" y="148380"/>
                  </a:lnTo>
                  <a:lnTo>
                    <a:pt x="1118443" y="131008"/>
                  </a:lnTo>
                  <a:lnTo>
                    <a:pt x="1162547" y="114641"/>
                  </a:lnTo>
                  <a:lnTo>
                    <a:pt x="1207214" y="99296"/>
                  </a:lnTo>
                  <a:lnTo>
                    <a:pt x="1252427" y="84989"/>
                  </a:lnTo>
                  <a:lnTo>
                    <a:pt x="1298168" y="71735"/>
                  </a:lnTo>
                  <a:lnTo>
                    <a:pt x="1344421" y="59550"/>
                  </a:lnTo>
                  <a:lnTo>
                    <a:pt x="1391167" y="48450"/>
                  </a:lnTo>
                  <a:lnTo>
                    <a:pt x="1438389" y="38451"/>
                  </a:lnTo>
                  <a:lnTo>
                    <a:pt x="1486070" y="29568"/>
                  </a:lnTo>
                  <a:lnTo>
                    <a:pt x="1534192" y="21819"/>
                  </a:lnTo>
                  <a:lnTo>
                    <a:pt x="1582738" y="15218"/>
                  </a:lnTo>
                  <a:lnTo>
                    <a:pt x="1631690" y="9782"/>
                  </a:lnTo>
                  <a:lnTo>
                    <a:pt x="1681031" y="5526"/>
                  </a:lnTo>
                  <a:lnTo>
                    <a:pt x="1730744" y="2466"/>
                  </a:lnTo>
                  <a:lnTo>
                    <a:pt x="1780810" y="619"/>
                  </a:lnTo>
                  <a:lnTo>
                    <a:pt x="1831213" y="0"/>
                  </a:lnTo>
                  <a:lnTo>
                    <a:pt x="1881621" y="619"/>
                  </a:lnTo>
                  <a:lnTo>
                    <a:pt x="1931694" y="2466"/>
                  </a:lnTo>
                  <a:lnTo>
                    <a:pt x="1981412" y="5526"/>
                  </a:lnTo>
                  <a:lnTo>
                    <a:pt x="2030758" y="9782"/>
                  </a:lnTo>
                  <a:lnTo>
                    <a:pt x="2079716" y="15218"/>
                  </a:lnTo>
                  <a:lnTo>
                    <a:pt x="2128267" y="21819"/>
                  </a:lnTo>
                  <a:lnTo>
                    <a:pt x="2176394" y="29568"/>
                  </a:lnTo>
                  <a:lnTo>
                    <a:pt x="2224080" y="38451"/>
                  </a:lnTo>
                  <a:lnTo>
                    <a:pt x="2271307" y="48450"/>
                  </a:lnTo>
                  <a:lnTo>
                    <a:pt x="2318058" y="59550"/>
                  </a:lnTo>
                  <a:lnTo>
                    <a:pt x="2364315" y="71735"/>
                  </a:lnTo>
                  <a:lnTo>
                    <a:pt x="2410060" y="84989"/>
                  </a:lnTo>
                  <a:lnTo>
                    <a:pt x="2455277" y="99296"/>
                  </a:lnTo>
                  <a:lnTo>
                    <a:pt x="2499948" y="114641"/>
                  </a:lnTo>
                  <a:lnTo>
                    <a:pt x="2544056" y="131008"/>
                  </a:lnTo>
                  <a:lnTo>
                    <a:pt x="2587582" y="148380"/>
                  </a:lnTo>
                  <a:lnTo>
                    <a:pt x="2630510" y="166742"/>
                  </a:lnTo>
                  <a:lnTo>
                    <a:pt x="2672822" y="186078"/>
                  </a:lnTo>
                  <a:lnTo>
                    <a:pt x="2714500" y="206371"/>
                  </a:lnTo>
                  <a:lnTo>
                    <a:pt x="2755528" y="227607"/>
                  </a:lnTo>
                  <a:lnTo>
                    <a:pt x="2795887" y="249769"/>
                  </a:lnTo>
                  <a:lnTo>
                    <a:pt x="2835561" y="272841"/>
                  </a:lnTo>
                  <a:lnTo>
                    <a:pt x="2874531" y="296808"/>
                  </a:lnTo>
                  <a:lnTo>
                    <a:pt x="2912781" y="321653"/>
                  </a:lnTo>
                  <a:lnTo>
                    <a:pt x="2950293" y="347361"/>
                  </a:lnTo>
                  <a:lnTo>
                    <a:pt x="2987049" y="373915"/>
                  </a:lnTo>
                  <a:lnTo>
                    <a:pt x="3023032" y="401301"/>
                  </a:lnTo>
                  <a:lnTo>
                    <a:pt x="3058224" y="429501"/>
                  </a:lnTo>
                  <a:lnTo>
                    <a:pt x="3092609" y="458500"/>
                  </a:lnTo>
                  <a:lnTo>
                    <a:pt x="3126168" y="488283"/>
                  </a:lnTo>
                  <a:lnTo>
                    <a:pt x="3158884" y="518833"/>
                  </a:lnTo>
                  <a:lnTo>
                    <a:pt x="3190740" y="550134"/>
                  </a:lnTo>
                  <a:lnTo>
                    <a:pt x="3221719" y="582171"/>
                  </a:lnTo>
                  <a:lnTo>
                    <a:pt x="3251802" y="614927"/>
                  </a:lnTo>
                  <a:lnTo>
                    <a:pt x="3280972" y="648387"/>
                  </a:lnTo>
                  <a:lnTo>
                    <a:pt x="3309212" y="682535"/>
                  </a:lnTo>
                  <a:lnTo>
                    <a:pt x="3336505" y="717355"/>
                  </a:lnTo>
                  <a:lnTo>
                    <a:pt x="3362832" y="752831"/>
                  </a:lnTo>
                  <a:lnTo>
                    <a:pt x="3388177" y="788947"/>
                  </a:lnTo>
                  <a:lnTo>
                    <a:pt x="3412522" y="825688"/>
                  </a:lnTo>
                  <a:lnTo>
                    <a:pt x="3435850" y="863037"/>
                  </a:lnTo>
                  <a:lnTo>
                    <a:pt x="3458143" y="900978"/>
                  </a:lnTo>
                  <a:lnTo>
                    <a:pt x="3479383" y="939496"/>
                  </a:lnTo>
                  <a:lnTo>
                    <a:pt x="3499554" y="978575"/>
                  </a:lnTo>
                  <a:lnTo>
                    <a:pt x="3518638" y="1018198"/>
                  </a:lnTo>
                  <a:lnTo>
                    <a:pt x="3536616" y="1058351"/>
                  </a:lnTo>
                  <a:lnTo>
                    <a:pt x="3553473" y="1099016"/>
                  </a:lnTo>
                  <a:lnTo>
                    <a:pt x="3569190" y="1140179"/>
                  </a:lnTo>
                  <a:lnTo>
                    <a:pt x="3583750" y="1181823"/>
                  </a:lnTo>
                  <a:lnTo>
                    <a:pt x="3597136" y="1223933"/>
                  </a:lnTo>
                  <a:lnTo>
                    <a:pt x="3609329" y="1266492"/>
                  </a:lnTo>
                  <a:lnTo>
                    <a:pt x="3620313" y="1309484"/>
                  </a:lnTo>
                  <a:lnTo>
                    <a:pt x="3630071" y="1352894"/>
                  </a:lnTo>
                  <a:lnTo>
                    <a:pt x="3638584" y="1396707"/>
                  </a:lnTo>
                  <a:lnTo>
                    <a:pt x="3645835" y="1440905"/>
                  </a:lnTo>
                  <a:lnTo>
                    <a:pt x="3651807" y="1485473"/>
                  </a:lnTo>
                  <a:lnTo>
                    <a:pt x="3656482" y="1530395"/>
                  </a:lnTo>
                  <a:lnTo>
                    <a:pt x="3659843" y="1575656"/>
                  </a:lnTo>
                  <a:lnTo>
                    <a:pt x="3661872" y="1621239"/>
                  </a:lnTo>
                  <a:lnTo>
                    <a:pt x="3662553" y="1667129"/>
                  </a:lnTo>
                  <a:lnTo>
                    <a:pt x="3661872" y="1713018"/>
                  </a:lnTo>
                  <a:lnTo>
                    <a:pt x="3659843" y="1758601"/>
                  </a:lnTo>
                  <a:lnTo>
                    <a:pt x="3656482" y="1803862"/>
                  </a:lnTo>
                  <a:lnTo>
                    <a:pt x="3651807" y="1848784"/>
                  </a:lnTo>
                  <a:lnTo>
                    <a:pt x="3645835" y="1893352"/>
                  </a:lnTo>
                  <a:lnTo>
                    <a:pt x="3638584" y="1937550"/>
                  </a:lnTo>
                  <a:lnTo>
                    <a:pt x="3630071" y="1981363"/>
                  </a:lnTo>
                  <a:lnTo>
                    <a:pt x="3620313" y="2024773"/>
                  </a:lnTo>
                  <a:lnTo>
                    <a:pt x="3609329" y="2067765"/>
                  </a:lnTo>
                  <a:lnTo>
                    <a:pt x="3597136" y="2110324"/>
                  </a:lnTo>
                  <a:lnTo>
                    <a:pt x="3583750" y="2152434"/>
                  </a:lnTo>
                  <a:lnTo>
                    <a:pt x="3569190" y="2194078"/>
                  </a:lnTo>
                  <a:lnTo>
                    <a:pt x="3553473" y="2235241"/>
                  </a:lnTo>
                  <a:lnTo>
                    <a:pt x="3536616" y="2275906"/>
                  </a:lnTo>
                  <a:lnTo>
                    <a:pt x="3518638" y="2316059"/>
                  </a:lnTo>
                  <a:lnTo>
                    <a:pt x="3499554" y="2355682"/>
                  </a:lnTo>
                  <a:lnTo>
                    <a:pt x="3479383" y="2394761"/>
                  </a:lnTo>
                  <a:lnTo>
                    <a:pt x="3458143" y="2433279"/>
                  </a:lnTo>
                  <a:lnTo>
                    <a:pt x="3435850" y="2471220"/>
                  </a:lnTo>
                  <a:lnTo>
                    <a:pt x="3412522" y="2508569"/>
                  </a:lnTo>
                  <a:lnTo>
                    <a:pt x="3388177" y="2545310"/>
                  </a:lnTo>
                  <a:lnTo>
                    <a:pt x="3362832" y="2581426"/>
                  </a:lnTo>
                  <a:lnTo>
                    <a:pt x="3336505" y="2616902"/>
                  </a:lnTo>
                  <a:lnTo>
                    <a:pt x="3309212" y="2651722"/>
                  </a:lnTo>
                  <a:lnTo>
                    <a:pt x="3280972" y="2685870"/>
                  </a:lnTo>
                  <a:lnTo>
                    <a:pt x="3251802" y="2719330"/>
                  </a:lnTo>
                  <a:lnTo>
                    <a:pt x="3221719" y="2752086"/>
                  </a:lnTo>
                  <a:lnTo>
                    <a:pt x="3190740" y="2784123"/>
                  </a:lnTo>
                  <a:lnTo>
                    <a:pt x="3158884" y="2815424"/>
                  </a:lnTo>
                  <a:lnTo>
                    <a:pt x="3126168" y="2845974"/>
                  </a:lnTo>
                  <a:lnTo>
                    <a:pt x="3092609" y="2875757"/>
                  </a:lnTo>
                  <a:lnTo>
                    <a:pt x="3058224" y="2904756"/>
                  </a:lnTo>
                  <a:lnTo>
                    <a:pt x="3023032" y="2932956"/>
                  </a:lnTo>
                  <a:lnTo>
                    <a:pt x="2987049" y="2960342"/>
                  </a:lnTo>
                  <a:lnTo>
                    <a:pt x="2950293" y="2986896"/>
                  </a:lnTo>
                  <a:lnTo>
                    <a:pt x="2912781" y="3012604"/>
                  </a:lnTo>
                  <a:lnTo>
                    <a:pt x="2874531" y="3037449"/>
                  </a:lnTo>
                  <a:lnTo>
                    <a:pt x="2835561" y="3061416"/>
                  </a:lnTo>
                  <a:lnTo>
                    <a:pt x="2795887" y="3084488"/>
                  </a:lnTo>
                  <a:lnTo>
                    <a:pt x="2755528" y="3106650"/>
                  </a:lnTo>
                  <a:lnTo>
                    <a:pt x="2714500" y="3127886"/>
                  </a:lnTo>
                  <a:lnTo>
                    <a:pt x="2672822" y="3148179"/>
                  </a:lnTo>
                  <a:lnTo>
                    <a:pt x="2630510" y="3167515"/>
                  </a:lnTo>
                  <a:lnTo>
                    <a:pt x="2587582" y="3185877"/>
                  </a:lnTo>
                  <a:lnTo>
                    <a:pt x="2544056" y="3203249"/>
                  </a:lnTo>
                  <a:lnTo>
                    <a:pt x="2499948" y="3219616"/>
                  </a:lnTo>
                  <a:lnTo>
                    <a:pt x="2455277" y="3234961"/>
                  </a:lnTo>
                  <a:lnTo>
                    <a:pt x="2410060" y="3249268"/>
                  </a:lnTo>
                  <a:lnTo>
                    <a:pt x="2364315" y="3262522"/>
                  </a:lnTo>
                  <a:lnTo>
                    <a:pt x="2318058" y="3274707"/>
                  </a:lnTo>
                  <a:lnTo>
                    <a:pt x="2271307" y="3285807"/>
                  </a:lnTo>
                  <a:lnTo>
                    <a:pt x="2224080" y="3295806"/>
                  </a:lnTo>
                  <a:lnTo>
                    <a:pt x="2176394" y="3304689"/>
                  </a:lnTo>
                  <a:lnTo>
                    <a:pt x="2128267" y="3312438"/>
                  </a:lnTo>
                  <a:lnTo>
                    <a:pt x="2079716" y="3319039"/>
                  </a:lnTo>
                  <a:lnTo>
                    <a:pt x="2030758" y="3324475"/>
                  </a:lnTo>
                  <a:lnTo>
                    <a:pt x="1981412" y="3328731"/>
                  </a:lnTo>
                  <a:lnTo>
                    <a:pt x="1931694" y="3331791"/>
                  </a:lnTo>
                  <a:lnTo>
                    <a:pt x="1881621" y="3333638"/>
                  </a:lnTo>
                  <a:lnTo>
                    <a:pt x="1831213" y="3334258"/>
                  </a:lnTo>
                  <a:lnTo>
                    <a:pt x="1780810" y="3333638"/>
                  </a:lnTo>
                  <a:lnTo>
                    <a:pt x="1730744" y="3331791"/>
                  </a:lnTo>
                  <a:lnTo>
                    <a:pt x="1681031" y="3328731"/>
                  </a:lnTo>
                  <a:lnTo>
                    <a:pt x="1631690" y="3324475"/>
                  </a:lnTo>
                  <a:lnTo>
                    <a:pt x="1582738" y="3319039"/>
                  </a:lnTo>
                  <a:lnTo>
                    <a:pt x="1534192" y="3312438"/>
                  </a:lnTo>
                  <a:lnTo>
                    <a:pt x="1486070" y="3304689"/>
                  </a:lnTo>
                  <a:lnTo>
                    <a:pt x="1438389" y="3295806"/>
                  </a:lnTo>
                  <a:lnTo>
                    <a:pt x="1391167" y="3285807"/>
                  </a:lnTo>
                  <a:lnTo>
                    <a:pt x="1344421" y="3274707"/>
                  </a:lnTo>
                  <a:lnTo>
                    <a:pt x="1298168" y="3262522"/>
                  </a:lnTo>
                  <a:lnTo>
                    <a:pt x="1252427" y="3249268"/>
                  </a:lnTo>
                  <a:lnTo>
                    <a:pt x="1207214" y="3234961"/>
                  </a:lnTo>
                  <a:lnTo>
                    <a:pt x="1162547" y="3219616"/>
                  </a:lnTo>
                  <a:lnTo>
                    <a:pt x="1118443" y="3203249"/>
                  </a:lnTo>
                  <a:lnTo>
                    <a:pt x="1074920" y="3185877"/>
                  </a:lnTo>
                  <a:lnTo>
                    <a:pt x="1031995" y="3167515"/>
                  </a:lnTo>
                  <a:lnTo>
                    <a:pt x="989687" y="3148179"/>
                  </a:lnTo>
                  <a:lnTo>
                    <a:pt x="948011" y="3127886"/>
                  </a:lnTo>
                  <a:lnTo>
                    <a:pt x="906986" y="3106650"/>
                  </a:lnTo>
                  <a:lnTo>
                    <a:pt x="866630" y="3084488"/>
                  </a:lnTo>
                  <a:lnTo>
                    <a:pt x="826959" y="3061416"/>
                  </a:lnTo>
                  <a:lnTo>
                    <a:pt x="787991" y="3037449"/>
                  </a:lnTo>
                  <a:lnTo>
                    <a:pt x="749743" y="3012604"/>
                  </a:lnTo>
                  <a:lnTo>
                    <a:pt x="712234" y="2986896"/>
                  </a:lnTo>
                  <a:lnTo>
                    <a:pt x="675480" y="2960342"/>
                  </a:lnTo>
                  <a:lnTo>
                    <a:pt x="639499" y="2932956"/>
                  </a:lnTo>
                  <a:lnTo>
                    <a:pt x="604308" y="2904756"/>
                  </a:lnTo>
                  <a:lnTo>
                    <a:pt x="569926" y="2875757"/>
                  </a:lnTo>
                  <a:lnTo>
                    <a:pt x="536368" y="2845974"/>
                  </a:lnTo>
                  <a:lnTo>
                    <a:pt x="503653" y="2815424"/>
                  </a:lnTo>
                  <a:lnTo>
                    <a:pt x="471799" y="2784123"/>
                  </a:lnTo>
                  <a:lnTo>
                    <a:pt x="440822" y="2752086"/>
                  </a:lnTo>
                  <a:lnTo>
                    <a:pt x="410740" y="2719330"/>
                  </a:lnTo>
                  <a:lnTo>
                    <a:pt x="381571" y="2685870"/>
                  </a:lnTo>
                  <a:lnTo>
                    <a:pt x="353332" y="2651722"/>
                  </a:lnTo>
                  <a:lnTo>
                    <a:pt x="326040" y="2616902"/>
                  </a:lnTo>
                  <a:lnTo>
                    <a:pt x="299713" y="2581426"/>
                  </a:lnTo>
                  <a:lnTo>
                    <a:pt x="274369" y="2545310"/>
                  </a:lnTo>
                  <a:lnTo>
                    <a:pt x="250025" y="2508569"/>
                  </a:lnTo>
                  <a:lnTo>
                    <a:pt x="226698" y="2471220"/>
                  </a:lnTo>
                  <a:lnTo>
                    <a:pt x="204406" y="2433279"/>
                  </a:lnTo>
                  <a:lnTo>
                    <a:pt x="183166" y="2394761"/>
                  </a:lnTo>
                  <a:lnTo>
                    <a:pt x="162995" y="2355682"/>
                  </a:lnTo>
                  <a:lnTo>
                    <a:pt x="143912" y="2316059"/>
                  </a:lnTo>
                  <a:lnTo>
                    <a:pt x="125934" y="2275906"/>
                  </a:lnTo>
                  <a:lnTo>
                    <a:pt x="109078" y="2235241"/>
                  </a:lnTo>
                  <a:lnTo>
                    <a:pt x="93361" y="2194078"/>
                  </a:lnTo>
                  <a:lnTo>
                    <a:pt x="78801" y="2152434"/>
                  </a:lnTo>
                  <a:lnTo>
                    <a:pt x="65416" y="2110324"/>
                  </a:lnTo>
                  <a:lnTo>
                    <a:pt x="53222" y="2067765"/>
                  </a:lnTo>
                  <a:lnTo>
                    <a:pt x="42238" y="2024773"/>
                  </a:lnTo>
                  <a:lnTo>
                    <a:pt x="32481" y="1981363"/>
                  </a:lnTo>
                  <a:lnTo>
                    <a:pt x="23968" y="1937550"/>
                  </a:lnTo>
                  <a:lnTo>
                    <a:pt x="16717" y="1893352"/>
                  </a:lnTo>
                  <a:lnTo>
                    <a:pt x="10745" y="1848784"/>
                  </a:lnTo>
                  <a:lnTo>
                    <a:pt x="6070" y="1803862"/>
                  </a:lnTo>
                  <a:lnTo>
                    <a:pt x="2709" y="1758601"/>
                  </a:lnTo>
                  <a:lnTo>
                    <a:pt x="680" y="1713018"/>
                  </a:lnTo>
                  <a:lnTo>
                    <a:pt x="0" y="1667129"/>
                  </a:lnTo>
                  <a:close/>
                </a:path>
              </a:pathLst>
            </a:custGeom>
            <a:ln w="28575">
              <a:solidFill>
                <a:srgbClr val="162C51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70696" y="1364234"/>
              <a:ext cx="288417" cy="28498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870696" y="1364234"/>
              <a:ext cx="288925" cy="285115"/>
            </a:xfrm>
            <a:custGeom>
              <a:avLst/>
              <a:gdLst/>
              <a:ahLst/>
              <a:cxnLst/>
              <a:rect l="l" t="t" r="r" b="b"/>
              <a:pathLst>
                <a:path w="288925" h="285114">
                  <a:moveTo>
                    <a:pt x="0" y="69723"/>
                  </a:moveTo>
                  <a:lnTo>
                    <a:pt x="68072" y="0"/>
                  </a:lnTo>
                  <a:lnTo>
                    <a:pt x="144145" y="74422"/>
                  </a:lnTo>
                  <a:lnTo>
                    <a:pt x="220218" y="0"/>
                  </a:lnTo>
                  <a:lnTo>
                    <a:pt x="288417" y="69723"/>
                  </a:lnTo>
                  <a:lnTo>
                    <a:pt x="213868" y="142494"/>
                  </a:lnTo>
                  <a:lnTo>
                    <a:pt x="288417" y="215265"/>
                  </a:lnTo>
                  <a:lnTo>
                    <a:pt x="220218" y="284988"/>
                  </a:lnTo>
                  <a:lnTo>
                    <a:pt x="144145" y="210693"/>
                  </a:lnTo>
                  <a:lnTo>
                    <a:pt x="68072" y="284988"/>
                  </a:lnTo>
                  <a:lnTo>
                    <a:pt x="0" y="215265"/>
                  </a:lnTo>
                  <a:lnTo>
                    <a:pt x="74422" y="142494"/>
                  </a:lnTo>
                  <a:lnTo>
                    <a:pt x="0" y="69723"/>
                  </a:lnTo>
                  <a:close/>
                </a:path>
              </a:pathLst>
            </a:custGeom>
            <a:ln w="19050">
              <a:solidFill>
                <a:srgbClr val="843B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38213" y="3077463"/>
              <a:ext cx="288417" cy="28511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038213" y="3077463"/>
              <a:ext cx="288925" cy="285115"/>
            </a:xfrm>
            <a:custGeom>
              <a:avLst/>
              <a:gdLst/>
              <a:ahLst/>
              <a:cxnLst/>
              <a:rect l="l" t="t" r="r" b="b"/>
              <a:pathLst>
                <a:path w="288925" h="285114">
                  <a:moveTo>
                    <a:pt x="0" y="69723"/>
                  </a:moveTo>
                  <a:lnTo>
                    <a:pt x="68199" y="0"/>
                  </a:lnTo>
                  <a:lnTo>
                    <a:pt x="144272" y="74422"/>
                  </a:lnTo>
                  <a:lnTo>
                    <a:pt x="220345" y="0"/>
                  </a:lnTo>
                  <a:lnTo>
                    <a:pt x="288417" y="69723"/>
                  </a:lnTo>
                  <a:lnTo>
                    <a:pt x="213995" y="142494"/>
                  </a:lnTo>
                  <a:lnTo>
                    <a:pt x="288417" y="215392"/>
                  </a:lnTo>
                  <a:lnTo>
                    <a:pt x="220345" y="285115"/>
                  </a:lnTo>
                  <a:lnTo>
                    <a:pt x="144272" y="210693"/>
                  </a:lnTo>
                  <a:lnTo>
                    <a:pt x="68199" y="285115"/>
                  </a:lnTo>
                  <a:lnTo>
                    <a:pt x="0" y="215392"/>
                  </a:lnTo>
                  <a:lnTo>
                    <a:pt x="74549" y="142494"/>
                  </a:lnTo>
                  <a:lnTo>
                    <a:pt x="0" y="69723"/>
                  </a:lnTo>
                  <a:close/>
                </a:path>
              </a:pathLst>
            </a:custGeom>
            <a:ln w="19050">
              <a:solidFill>
                <a:srgbClr val="843B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81110" y="4698492"/>
              <a:ext cx="288417" cy="28498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8881110" y="4698492"/>
              <a:ext cx="288925" cy="285115"/>
            </a:xfrm>
            <a:custGeom>
              <a:avLst/>
              <a:gdLst/>
              <a:ahLst/>
              <a:cxnLst/>
              <a:rect l="l" t="t" r="r" b="b"/>
              <a:pathLst>
                <a:path w="288925" h="285114">
                  <a:moveTo>
                    <a:pt x="0" y="69595"/>
                  </a:moveTo>
                  <a:lnTo>
                    <a:pt x="68199" y="0"/>
                  </a:lnTo>
                  <a:lnTo>
                    <a:pt x="144272" y="74294"/>
                  </a:lnTo>
                  <a:lnTo>
                    <a:pt x="220345" y="0"/>
                  </a:lnTo>
                  <a:lnTo>
                    <a:pt x="288417" y="69595"/>
                  </a:lnTo>
                  <a:lnTo>
                    <a:pt x="213995" y="142493"/>
                  </a:lnTo>
                  <a:lnTo>
                    <a:pt x="288417" y="215264"/>
                  </a:lnTo>
                  <a:lnTo>
                    <a:pt x="220345" y="284987"/>
                  </a:lnTo>
                  <a:lnTo>
                    <a:pt x="144272" y="210565"/>
                  </a:lnTo>
                  <a:lnTo>
                    <a:pt x="68199" y="284987"/>
                  </a:lnTo>
                  <a:lnTo>
                    <a:pt x="0" y="215264"/>
                  </a:lnTo>
                  <a:lnTo>
                    <a:pt x="74549" y="142493"/>
                  </a:lnTo>
                  <a:lnTo>
                    <a:pt x="0" y="69595"/>
                  </a:lnTo>
                  <a:close/>
                </a:path>
              </a:pathLst>
            </a:custGeom>
            <a:ln w="19050">
              <a:solidFill>
                <a:srgbClr val="843B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703052" y="3083687"/>
              <a:ext cx="288417" cy="28498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0703052" y="3083687"/>
              <a:ext cx="288925" cy="285115"/>
            </a:xfrm>
            <a:custGeom>
              <a:avLst/>
              <a:gdLst/>
              <a:ahLst/>
              <a:cxnLst/>
              <a:rect l="l" t="t" r="r" b="b"/>
              <a:pathLst>
                <a:path w="288925" h="285114">
                  <a:moveTo>
                    <a:pt x="0" y="69596"/>
                  </a:moveTo>
                  <a:lnTo>
                    <a:pt x="68199" y="0"/>
                  </a:lnTo>
                  <a:lnTo>
                    <a:pt x="144272" y="74295"/>
                  </a:lnTo>
                  <a:lnTo>
                    <a:pt x="220345" y="0"/>
                  </a:lnTo>
                  <a:lnTo>
                    <a:pt x="288417" y="69596"/>
                  </a:lnTo>
                  <a:lnTo>
                    <a:pt x="213995" y="142494"/>
                  </a:lnTo>
                  <a:lnTo>
                    <a:pt x="288417" y="215265"/>
                  </a:lnTo>
                  <a:lnTo>
                    <a:pt x="220345" y="284988"/>
                  </a:lnTo>
                  <a:lnTo>
                    <a:pt x="144272" y="210566"/>
                  </a:lnTo>
                  <a:lnTo>
                    <a:pt x="68199" y="284988"/>
                  </a:lnTo>
                  <a:lnTo>
                    <a:pt x="0" y="215265"/>
                  </a:lnTo>
                  <a:lnTo>
                    <a:pt x="74549" y="142494"/>
                  </a:lnTo>
                  <a:lnTo>
                    <a:pt x="0" y="69596"/>
                  </a:lnTo>
                  <a:close/>
                </a:path>
              </a:pathLst>
            </a:custGeom>
            <a:ln w="19050">
              <a:solidFill>
                <a:srgbClr val="843B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36637" y="4262628"/>
              <a:ext cx="288290" cy="284988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7636637" y="4262628"/>
              <a:ext cx="288290" cy="285115"/>
            </a:xfrm>
            <a:custGeom>
              <a:avLst/>
              <a:gdLst/>
              <a:ahLst/>
              <a:cxnLst/>
              <a:rect l="l" t="t" r="r" b="b"/>
              <a:pathLst>
                <a:path w="288290" h="285114">
                  <a:moveTo>
                    <a:pt x="0" y="69723"/>
                  </a:moveTo>
                  <a:lnTo>
                    <a:pt x="68072" y="0"/>
                  </a:lnTo>
                  <a:lnTo>
                    <a:pt x="144145" y="74295"/>
                  </a:lnTo>
                  <a:lnTo>
                    <a:pt x="220218" y="0"/>
                  </a:lnTo>
                  <a:lnTo>
                    <a:pt x="288290" y="69723"/>
                  </a:lnTo>
                  <a:lnTo>
                    <a:pt x="213868" y="142494"/>
                  </a:lnTo>
                  <a:lnTo>
                    <a:pt x="288290" y="215265"/>
                  </a:lnTo>
                  <a:lnTo>
                    <a:pt x="220218" y="284988"/>
                  </a:lnTo>
                  <a:lnTo>
                    <a:pt x="144145" y="210566"/>
                  </a:lnTo>
                  <a:lnTo>
                    <a:pt x="68072" y="284988"/>
                  </a:lnTo>
                  <a:lnTo>
                    <a:pt x="0" y="215265"/>
                  </a:lnTo>
                  <a:lnTo>
                    <a:pt x="74422" y="142494"/>
                  </a:lnTo>
                  <a:lnTo>
                    <a:pt x="0" y="69723"/>
                  </a:lnTo>
                  <a:close/>
                </a:path>
              </a:pathLst>
            </a:custGeom>
            <a:ln w="19049">
              <a:solidFill>
                <a:srgbClr val="843B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156571" y="1787779"/>
              <a:ext cx="288417" cy="284988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0156571" y="1787779"/>
              <a:ext cx="288925" cy="285115"/>
            </a:xfrm>
            <a:custGeom>
              <a:avLst/>
              <a:gdLst/>
              <a:ahLst/>
              <a:cxnLst/>
              <a:rect l="l" t="t" r="r" b="b"/>
              <a:pathLst>
                <a:path w="288925" h="285114">
                  <a:moveTo>
                    <a:pt x="0" y="69723"/>
                  </a:moveTo>
                  <a:lnTo>
                    <a:pt x="68199" y="0"/>
                  </a:lnTo>
                  <a:lnTo>
                    <a:pt x="144272" y="74422"/>
                  </a:lnTo>
                  <a:lnTo>
                    <a:pt x="220345" y="0"/>
                  </a:lnTo>
                  <a:lnTo>
                    <a:pt x="288417" y="69723"/>
                  </a:lnTo>
                  <a:lnTo>
                    <a:pt x="213995" y="142494"/>
                  </a:lnTo>
                  <a:lnTo>
                    <a:pt x="288417" y="215392"/>
                  </a:lnTo>
                  <a:lnTo>
                    <a:pt x="220345" y="284988"/>
                  </a:lnTo>
                  <a:lnTo>
                    <a:pt x="144272" y="210693"/>
                  </a:lnTo>
                  <a:lnTo>
                    <a:pt x="68199" y="284988"/>
                  </a:lnTo>
                  <a:lnTo>
                    <a:pt x="0" y="215392"/>
                  </a:lnTo>
                  <a:lnTo>
                    <a:pt x="74549" y="142494"/>
                  </a:lnTo>
                  <a:lnTo>
                    <a:pt x="0" y="69723"/>
                  </a:lnTo>
                  <a:close/>
                </a:path>
              </a:pathLst>
            </a:custGeom>
            <a:ln w="19050">
              <a:solidFill>
                <a:srgbClr val="843B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210419" y="4232909"/>
              <a:ext cx="288417" cy="284988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0210419" y="4232909"/>
              <a:ext cx="288925" cy="285115"/>
            </a:xfrm>
            <a:custGeom>
              <a:avLst/>
              <a:gdLst/>
              <a:ahLst/>
              <a:cxnLst/>
              <a:rect l="l" t="t" r="r" b="b"/>
              <a:pathLst>
                <a:path w="288925" h="285114">
                  <a:moveTo>
                    <a:pt x="0" y="69723"/>
                  </a:moveTo>
                  <a:lnTo>
                    <a:pt x="68072" y="0"/>
                  </a:lnTo>
                  <a:lnTo>
                    <a:pt x="144145" y="74422"/>
                  </a:lnTo>
                  <a:lnTo>
                    <a:pt x="220218" y="0"/>
                  </a:lnTo>
                  <a:lnTo>
                    <a:pt x="288417" y="69723"/>
                  </a:lnTo>
                  <a:lnTo>
                    <a:pt x="213868" y="142494"/>
                  </a:lnTo>
                  <a:lnTo>
                    <a:pt x="288417" y="215392"/>
                  </a:lnTo>
                  <a:lnTo>
                    <a:pt x="220218" y="284988"/>
                  </a:lnTo>
                  <a:lnTo>
                    <a:pt x="144145" y="210693"/>
                  </a:lnTo>
                  <a:lnTo>
                    <a:pt x="68072" y="284988"/>
                  </a:lnTo>
                  <a:lnTo>
                    <a:pt x="0" y="215392"/>
                  </a:lnTo>
                  <a:lnTo>
                    <a:pt x="74422" y="142494"/>
                  </a:lnTo>
                  <a:lnTo>
                    <a:pt x="0" y="69723"/>
                  </a:lnTo>
                  <a:close/>
                </a:path>
              </a:pathLst>
            </a:custGeom>
            <a:ln w="19050">
              <a:solidFill>
                <a:srgbClr val="843B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636637" y="1778889"/>
              <a:ext cx="288290" cy="28498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7636637" y="1778889"/>
              <a:ext cx="288290" cy="285115"/>
            </a:xfrm>
            <a:custGeom>
              <a:avLst/>
              <a:gdLst/>
              <a:ahLst/>
              <a:cxnLst/>
              <a:rect l="l" t="t" r="r" b="b"/>
              <a:pathLst>
                <a:path w="288290" h="285114">
                  <a:moveTo>
                    <a:pt x="0" y="69596"/>
                  </a:moveTo>
                  <a:lnTo>
                    <a:pt x="68072" y="0"/>
                  </a:lnTo>
                  <a:lnTo>
                    <a:pt x="144145" y="74295"/>
                  </a:lnTo>
                  <a:lnTo>
                    <a:pt x="220218" y="0"/>
                  </a:lnTo>
                  <a:lnTo>
                    <a:pt x="288290" y="69596"/>
                  </a:lnTo>
                  <a:lnTo>
                    <a:pt x="213868" y="142494"/>
                  </a:lnTo>
                  <a:lnTo>
                    <a:pt x="288290" y="215265"/>
                  </a:lnTo>
                  <a:lnTo>
                    <a:pt x="220218" y="284988"/>
                  </a:lnTo>
                  <a:lnTo>
                    <a:pt x="144145" y="210566"/>
                  </a:lnTo>
                  <a:lnTo>
                    <a:pt x="68072" y="284988"/>
                  </a:lnTo>
                  <a:lnTo>
                    <a:pt x="0" y="215265"/>
                  </a:lnTo>
                  <a:lnTo>
                    <a:pt x="74422" y="142494"/>
                  </a:lnTo>
                  <a:lnTo>
                    <a:pt x="0" y="69596"/>
                  </a:lnTo>
                  <a:close/>
                </a:path>
              </a:pathLst>
            </a:custGeom>
            <a:ln w="19050">
              <a:solidFill>
                <a:srgbClr val="843B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1799823" y="2831414"/>
            <a:ext cx="10731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I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126728" y="779526"/>
            <a:ext cx="234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Q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060051" y="3373373"/>
            <a:ext cx="1321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000</a:t>
            </a:r>
            <a:r>
              <a:rPr sz="1800" b="1" spc="-25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=</a:t>
            </a:r>
            <a:r>
              <a:rPr sz="1800" b="1" spc="-10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Phase</a:t>
            </a:r>
            <a:r>
              <a:rPr sz="1800" b="1" spc="-40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843B0B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060051" y="2105659"/>
            <a:ext cx="1437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001</a:t>
            </a:r>
            <a:r>
              <a:rPr sz="1800" b="1" spc="-25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=</a:t>
            </a:r>
            <a:r>
              <a:rPr sz="1800" b="1" spc="-10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Phase</a:t>
            </a:r>
            <a:r>
              <a:rPr sz="1800" b="1" spc="-40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843B0B"/>
                </a:solidFill>
                <a:latin typeface="Calibri"/>
                <a:cs typeface="Calibri"/>
              </a:rPr>
              <a:t>45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465057" y="1630121"/>
            <a:ext cx="14382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010</a:t>
            </a:r>
            <a:r>
              <a:rPr sz="1800" b="1" spc="-15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= Phase</a:t>
            </a:r>
            <a:r>
              <a:rPr sz="1800" b="1" spc="-30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843B0B"/>
                </a:solidFill>
                <a:latin typeface="Calibri"/>
                <a:cs typeface="Calibri"/>
              </a:rPr>
              <a:t>90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113778" y="2073605"/>
            <a:ext cx="15538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011</a:t>
            </a:r>
            <a:r>
              <a:rPr sz="1800" b="1" spc="-15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= Phase</a:t>
            </a:r>
            <a:r>
              <a:rPr sz="1800" b="1" spc="-30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843B0B"/>
                </a:solidFill>
                <a:latin typeface="Calibri"/>
                <a:cs typeface="Calibri"/>
              </a:rPr>
              <a:t>135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709409" y="3358641"/>
            <a:ext cx="1553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100</a:t>
            </a:r>
            <a:r>
              <a:rPr sz="1800" b="1" spc="-25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=</a:t>
            </a:r>
            <a:r>
              <a:rPr sz="1800" b="1" spc="-10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Phase</a:t>
            </a:r>
            <a:r>
              <a:rPr sz="1800" b="1" spc="-40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843B0B"/>
                </a:solidFill>
                <a:latin typeface="Calibri"/>
                <a:cs typeface="Calibri"/>
              </a:rPr>
              <a:t>180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050151" y="3769486"/>
            <a:ext cx="4138295" cy="88011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  <a:tabLst>
                <a:tab pos="2597150" algn="l"/>
              </a:tabLst>
            </a:pP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101</a:t>
            </a:r>
            <a:r>
              <a:rPr sz="1800" b="1" spc="-25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=</a:t>
            </a:r>
            <a:r>
              <a:rPr sz="1800" b="1" spc="-10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Phase</a:t>
            </a:r>
            <a:r>
              <a:rPr sz="1800" b="1" spc="-40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843B0B"/>
                </a:solidFill>
                <a:latin typeface="Calibri"/>
                <a:cs typeface="Calibri"/>
              </a:rPr>
              <a:t>225</a:t>
            </a: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	111</a:t>
            </a:r>
            <a:r>
              <a:rPr sz="1800" b="1" spc="-25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=</a:t>
            </a:r>
            <a:r>
              <a:rPr sz="1800" b="1" spc="-10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Phase</a:t>
            </a:r>
            <a:r>
              <a:rPr sz="1800" b="1" spc="-40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843B0B"/>
                </a:solidFill>
                <a:latin typeface="Calibri"/>
                <a:cs typeface="Calibri"/>
              </a:rPr>
              <a:t>315</a:t>
            </a:r>
            <a:endParaRPr sz="1800">
              <a:latin typeface="Calibri"/>
              <a:cs typeface="Calibri"/>
            </a:endParaRPr>
          </a:p>
          <a:p>
            <a:pPr marL="1203325">
              <a:lnSpc>
                <a:spcPct val="100000"/>
              </a:lnSpc>
              <a:spcBef>
                <a:spcPts val="1205"/>
              </a:spcBef>
            </a:pP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110</a:t>
            </a:r>
            <a:r>
              <a:rPr sz="1800" b="1" spc="-25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=</a:t>
            </a:r>
            <a:r>
              <a:rPr sz="1800" b="1" spc="-10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843B0B"/>
                </a:solidFill>
                <a:latin typeface="Calibri"/>
                <a:cs typeface="Calibri"/>
              </a:rPr>
              <a:t>Phase</a:t>
            </a:r>
            <a:r>
              <a:rPr sz="1800" b="1" spc="-40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843B0B"/>
                </a:solidFill>
                <a:latin typeface="Calibri"/>
                <a:cs typeface="Calibri"/>
              </a:rPr>
              <a:t>270</a:t>
            </a:r>
            <a:endParaRPr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85261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Advantages</a:t>
            </a:r>
            <a:r>
              <a:rPr spc="-10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spc="-25" dirty="0"/>
              <a:t>PSK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8338" y="600583"/>
            <a:ext cx="5245100" cy="54322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561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7561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Better</a:t>
            </a:r>
            <a:r>
              <a:rPr sz="2400" b="1" spc="-1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Power</a:t>
            </a:r>
            <a:r>
              <a:rPr sz="2400" b="1" spc="-1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Efficiency</a:t>
            </a:r>
            <a:endParaRPr sz="2400" dirty="0">
              <a:latin typeface="Calibri"/>
              <a:cs typeface="Calibri"/>
            </a:endParaRPr>
          </a:p>
          <a:p>
            <a:pPr marL="475615" indent="-456565">
              <a:lnSpc>
                <a:spcPct val="100000"/>
              </a:lnSpc>
              <a:buFont typeface="Wingdings"/>
              <a:buChar char=""/>
              <a:tabLst>
                <a:tab pos="47561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Better</a:t>
            </a:r>
            <a:r>
              <a:rPr sz="2400" b="1" spc="-10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Bandwidth</a:t>
            </a:r>
            <a:r>
              <a:rPr sz="2400" b="1" spc="-1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Efficiency</a:t>
            </a:r>
            <a:endParaRPr sz="2400" dirty="0">
              <a:latin typeface="Calibri"/>
              <a:cs typeface="Calibri"/>
            </a:endParaRPr>
          </a:p>
          <a:p>
            <a:pPr marL="475615" indent="-456565">
              <a:lnSpc>
                <a:spcPct val="100000"/>
              </a:lnSpc>
              <a:buFont typeface="Wingdings"/>
              <a:buChar char=""/>
              <a:tabLst>
                <a:tab pos="47561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Constant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Envelope</a:t>
            </a:r>
            <a:endParaRPr sz="2400" dirty="0">
              <a:latin typeface="Calibri"/>
              <a:cs typeface="Calibri"/>
            </a:endParaRPr>
          </a:p>
          <a:p>
            <a:pPr marL="19050">
              <a:lnSpc>
                <a:spcPct val="100000"/>
              </a:lnSpc>
              <a:spcBef>
                <a:spcPts val="765"/>
              </a:spcBef>
            </a:pPr>
            <a:r>
              <a:rPr sz="3200" b="1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Disadvantages</a:t>
            </a:r>
            <a:r>
              <a:rPr sz="3200" b="1" u="sng" spc="-8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of</a:t>
            </a:r>
            <a:r>
              <a:rPr sz="3200" b="1" u="sng" spc="-9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2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PSK</a:t>
            </a:r>
            <a:endParaRPr sz="32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69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Phase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synchronisation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required.</a:t>
            </a:r>
            <a:endParaRPr sz="24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Sensitive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Phase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Noise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Doppler.</a:t>
            </a:r>
            <a:endParaRPr sz="24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Higher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Noise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with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Multipath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Fading</a:t>
            </a:r>
            <a:r>
              <a:rPr sz="2400" b="1" spc="-10" dirty="0" smtClean="0">
                <a:solidFill>
                  <a:srgbClr val="6F2F9F"/>
                </a:solidFill>
                <a:latin typeface="Calibri"/>
                <a:cs typeface="Calibri"/>
              </a:rPr>
              <a:t>.</a:t>
            </a:r>
            <a:endParaRPr lang="en-US" sz="2400" b="1" spc="-10" dirty="0" smtClean="0">
              <a:solidFill>
                <a:srgbClr val="6F2F9F"/>
              </a:solidFill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lang="en-US" sz="2400" b="1" spc="-10" dirty="0" smtClean="0">
                <a:solidFill>
                  <a:srgbClr val="6F2F9F"/>
                </a:solidFill>
                <a:latin typeface="Calibri"/>
                <a:cs typeface="Calibri"/>
              </a:rPr>
              <a:t>Envelope detection is not possible.</a:t>
            </a:r>
            <a:endParaRPr sz="2400" dirty="0">
              <a:latin typeface="Calibri"/>
              <a:cs typeface="Calibri"/>
            </a:endParaRPr>
          </a:p>
          <a:p>
            <a:pPr marL="19050">
              <a:lnSpc>
                <a:spcPct val="100000"/>
              </a:lnSpc>
              <a:spcBef>
                <a:spcPts val="580"/>
              </a:spcBef>
            </a:pP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Applications</a:t>
            </a:r>
            <a:r>
              <a:rPr sz="3200" b="1" u="sng" spc="-10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of</a:t>
            </a:r>
            <a:r>
              <a:rPr sz="3200" b="1" u="sng" spc="-5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2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PSK</a:t>
            </a:r>
            <a:endParaRPr sz="3200" dirty="0">
              <a:latin typeface="Calibri"/>
              <a:cs typeface="Calibri"/>
            </a:endParaRPr>
          </a:p>
          <a:p>
            <a:pPr marL="475615" indent="-456565">
              <a:lnSpc>
                <a:spcPct val="100000"/>
              </a:lnSpc>
              <a:spcBef>
                <a:spcPts val="810"/>
              </a:spcBef>
              <a:buFont typeface="Wingdings"/>
              <a:buChar char=""/>
              <a:tabLst>
                <a:tab pos="47561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Wi-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Fi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{Uses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BPSK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QPSK}</a:t>
            </a:r>
            <a:endParaRPr sz="2400" dirty="0">
              <a:latin typeface="Calibri"/>
              <a:cs typeface="Calibri"/>
            </a:endParaRPr>
          </a:p>
          <a:p>
            <a:pPr marL="475615" indent="-456565">
              <a:lnSpc>
                <a:spcPct val="100000"/>
              </a:lnSpc>
              <a:buFont typeface="Wingdings"/>
              <a:buChar char=""/>
              <a:tabLst>
                <a:tab pos="47561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Cellular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{LTE/5G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uses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QPSK}</a:t>
            </a:r>
            <a:endParaRPr sz="2400" dirty="0">
              <a:latin typeface="Calibri"/>
              <a:cs typeface="Calibri"/>
            </a:endParaRPr>
          </a:p>
          <a:p>
            <a:pPr marL="475615" indent="-456565">
              <a:lnSpc>
                <a:spcPct val="100000"/>
              </a:lnSpc>
              <a:buFont typeface="Wingdings"/>
              <a:buChar char=""/>
              <a:tabLst>
                <a:tab pos="47561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Satellite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{DVB-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S2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uses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8-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PSK}</a:t>
            </a:r>
            <a:endParaRPr sz="2400" dirty="0">
              <a:latin typeface="Calibri"/>
              <a:cs typeface="Calibri"/>
            </a:endParaRPr>
          </a:p>
          <a:p>
            <a:pPr marL="475615" indent="-456565">
              <a:lnSpc>
                <a:spcPct val="100000"/>
              </a:lnSpc>
              <a:buFont typeface="Wingdings"/>
              <a:buChar char=""/>
              <a:tabLst>
                <a:tab pos="47561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Short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Range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IoT</a:t>
            </a: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36627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897" y="-25527"/>
            <a:ext cx="1164907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u="none" spc="-45" dirty="0">
                <a:solidFill>
                  <a:srgbClr val="006600"/>
                </a:solidFill>
                <a:latin typeface="Arial"/>
                <a:cs typeface="Arial"/>
              </a:rPr>
              <a:t>Differential</a:t>
            </a:r>
            <a:r>
              <a:rPr sz="5600" u="none" spc="-27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5600" u="none" spc="-330" dirty="0">
                <a:solidFill>
                  <a:srgbClr val="006600"/>
                </a:solidFill>
                <a:latin typeface="Arial"/>
                <a:cs typeface="Arial"/>
              </a:rPr>
              <a:t>Phase</a:t>
            </a:r>
            <a:r>
              <a:rPr sz="5600" u="none" spc="-18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5600" u="none" spc="-275" dirty="0">
                <a:solidFill>
                  <a:srgbClr val="006600"/>
                </a:solidFill>
                <a:latin typeface="Arial"/>
                <a:cs typeface="Arial"/>
              </a:rPr>
              <a:t>Shift</a:t>
            </a:r>
            <a:r>
              <a:rPr sz="5600" u="none" spc="-15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5600" u="none" spc="-220" dirty="0">
                <a:solidFill>
                  <a:srgbClr val="006600"/>
                </a:solidFill>
                <a:latin typeface="Arial"/>
                <a:cs typeface="Arial"/>
              </a:rPr>
              <a:t>Keying</a:t>
            </a:r>
            <a:r>
              <a:rPr sz="5600" u="none" spc="-17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5600" u="none" spc="-535" dirty="0">
                <a:solidFill>
                  <a:srgbClr val="006600"/>
                </a:solidFill>
                <a:latin typeface="Arial"/>
                <a:cs typeface="Arial"/>
              </a:rPr>
              <a:t>DPSK</a:t>
            </a:r>
            <a:endParaRPr sz="5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4142" y="749045"/>
            <a:ext cx="3422650" cy="30810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Outlines</a:t>
            </a:r>
            <a:endParaRPr sz="32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spcBef>
                <a:spcPts val="50"/>
              </a:spcBef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Basics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DPSK</a:t>
            </a:r>
            <a:endParaRPr sz="24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DPSK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Transmitter</a:t>
            </a:r>
            <a:endParaRPr sz="24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DPSK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Waveforms</a:t>
            </a:r>
            <a:endParaRPr sz="24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DPSK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Receiver</a:t>
            </a:r>
            <a:endParaRPr sz="24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buFont typeface="Wingdings"/>
              <a:buChar char=""/>
              <a:tabLst>
                <a:tab pos="52006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Advantages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DPSK</a:t>
            </a:r>
            <a:endParaRPr sz="24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buFont typeface="Wingdings"/>
              <a:buChar char=""/>
              <a:tabLst>
                <a:tab pos="520065" algn="l"/>
              </a:tabLst>
            </a:pP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Disadvantages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DPSK</a:t>
            </a:r>
            <a:endParaRPr sz="24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Applications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DPSK</a:t>
            </a:r>
            <a:endParaRPr sz="2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8605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Basics</a:t>
            </a:r>
            <a:r>
              <a:rPr spc="-45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spc="-20" dirty="0"/>
              <a:t>DPSK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4739" y="575309"/>
            <a:ext cx="1175385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DPSK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(Differential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Phase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Shift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Keying)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type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Phase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Shift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Keying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(PSK)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modulation.</a:t>
            </a:r>
            <a:endParaRPr sz="2400" dirty="0">
              <a:latin typeface="Calibri"/>
              <a:cs typeface="Calibri"/>
            </a:endParaRPr>
          </a:p>
          <a:p>
            <a:pPr marL="469900" marR="5080" indent="-457200">
              <a:lnSpc>
                <a:spcPct val="100000"/>
              </a:lnSpc>
              <a:buFont typeface="Wingdings"/>
              <a:buChar char=""/>
              <a:tabLst>
                <a:tab pos="469900" algn="l"/>
                <a:tab pos="1443355" algn="l"/>
                <a:tab pos="2729865" algn="l"/>
                <a:tab pos="3450590" algn="l"/>
                <a:tab pos="4284345" algn="l"/>
                <a:tab pos="5499100" algn="l"/>
                <a:tab pos="6233795" algn="l"/>
                <a:tab pos="7157720" algn="l"/>
                <a:tab pos="7654290" algn="l"/>
                <a:tab pos="8247380" algn="l"/>
                <a:tab pos="9169400" algn="l"/>
                <a:tab pos="10623550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Unlike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standard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PSK,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DPSK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encodes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data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based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on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phase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difference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between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successive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bits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instead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absolute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phase.</a:t>
            </a:r>
            <a:endParaRPr sz="24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Non-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coherent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detection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PSK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 smtClean="0">
                <a:solidFill>
                  <a:srgbClr val="6F2F9F"/>
                </a:solidFill>
                <a:latin typeface="Calibri"/>
                <a:cs typeface="Calibri"/>
              </a:rPr>
              <a:t>difficult</a:t>
            </a:r>
            <a:r>
              <a:rPr sz="2400" b="1" spc="-10" dirty="0" smtClean="0">
                <a:solidFill>
                  <a:srgbClr val="6F2F9F"/>
                </a:solidFill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Non-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coherent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detection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DPSK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reduces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cost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circuits.</a:t>
            </a: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448861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DPSK</a:t>
            </a:r>
            <a:r>
              <a:rPr spc="-15" dirty="0"/>
              <a:t> </a:t>
            </a:r>
            <a:r>
              <a:rPr spc="-25" dirty="0"/>
              <a:t>Transmitter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665846" y="1174241"/>
            <a:ext cx="2225675" cy="1279525"/>
            <a:chOff x="7665846" y="1174241"/>
            <a:chExt cx="2225675" cy="1279525"/>
          </a:xfrm>
        </p:grpSpPr>
        <p:sp>
          <p:nvSpPr>
            <p:cNvPr id="4" name="object 4"/>
            <p:cNvSpPr/>
            <p:nvPr/>
          </p:nvSpPr>
          <p:spPr>
            <a:xfrm>
              <a:off x="7665846" y="1412620"/>
              <a:ext cx="1628139" cy="114300"/>
            </a:xfrm>
            <a:custGeom>
              <a:avLst/>
              <a:gdLst/>
              <a:ahLst/>
              <a:cxnLst/>
              <a:rect l="l" t="t" r="r" b="b"/>
              <a:pathLst>
                <a:path w="1628140" h="114300">
                  <a:moveTo>
                    <a:pt x="1513332" y="0"/>
                  </a:moveTo>
                  <a:lnTo>
                    <a:pt x="1513332" y="114300"/>
                  </a:lnTo>
                  <a:lnTo>
                    <a:pt x="1589532" y="76200"/>
                  </a:lnTo>
                  <a:lnTo>
                    <a:pt x="1532382" y="76200"/>
                  </a:lnTo>
                  <a:lnTo>
                    <a:pt x="1532382" y="38100"/>
                  </a:lnTo>
                  <a:lnTo>
                    <a:pt x="1589532" y="38100"/>
                  </a:lnTo>
                  <a:lnTo>
                    <a:pt x="1513332" y="0"/>
                  </a:lnTo>
                  <a:close/>
                </a:path>
                <a:path w="1628140" h="114300">
                  <a:moveTo>
                    <a:pt x="1513332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513332" y="76200"/>
                  </a:lnTo>
                  <a:lnTo>
                    <a:pt x="1513332" y="38100"/>
                  </a:lnTo>
                  <a:close/>
                </a:path>
                <a:path w="1628140" h="114300">
                  <a:moveTo>
                    <a:pt x="1589532" y="38100"/>
                  </a:moveTo>
                  <a:lnTo>
                    <a:pt x="1532382" y="38100"/>
                  </a:lnTo>
                  <a:lnTo>
                    <a:pt x="1532382" y="76200"/>
                  </a:lnTo>
                  <a:lnTo>
                    <a:pt x="1589532" y="76200"/>
                  </a:lnTo>
                  <a:lnTo>
                    <a:pt x="1627632" y="57150"/>
                  </a:lnTo>
                  <a:lnTo>
                    <a:pt x="1589532" y="381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93478" y="1177416"/>
              <a:ext cx="594359" cy="58470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93478" y="1177416"/>
              <a:ext cx="594360" cy="584835"/>
            </a:xfrm>
            <a:custGeom>
              <a:avLst/>
              <a:gdLst/>
              <a:ahLst/>
              <a:cxnLst/>
              <a:rect l="l" t="t" r="r" b="b"/>
              <a:pathLst>
                <a:path w="594359" h="584835">
                  <a:moveTo>
                    <a:pt x="0" y="292353"/>
                  </a:moveTo>
                  <a:lnTo>
                    <a:pt x="3890" y="244943"/>
                  </a:lnTo>
                  <a:lnTo>
                    <a:pt x="15154" y="199965"/>
                  </a:lnTo>
                  <a:lnTo>
                    <a:pt x="33179" y="158020"/>
                  </a:lnTo>
                  <a:lnTo>
                    <a:pt x="57351" y="119713"/>
                  </a:lnTo>
                  <a:lnTo>
                    <a:pt x="87058" y="85645"/>
                  </a:lnTo>
                  <a:lnTo>
                    <a:pt x="121688" y="56420"/>
                  </a:lnTo>
                  <a:lnTo>
                    <a:pt x="160628" y="32640"/>
                  </a:lnTo>
                  <a:lnTo>
                    <a:pt x="203265" y="14908"/>
                  </a:lnTo>
                  <a:lnTo>
                    <a:pt x="248986" y="3827"/>
                  </a:lnTo>
                  <a:lnTo>
                    <a:pt x="297180" y="0"/>
                  </a:lnTo>
                  <a:lnTo>
                    <a:pt x="345404" y="3827"/>
                  </a:lnTo>
                  <a:lnTo>
                    <a:pt x="391143" y="14908"/>
                  </a:lnTo>
                  <a:lnTo>
                    <a:pt x="433787" y="32640"/>
                  </a:lnTo>
                  <a:lnTo>
                    <a:pt x="472726" y="56420"/>
                  </a:lnTo>
                  <a:lnTo>
                    <a:pt x="507349" y="85645"/>
                  </a:lnTo>
                  <a:lnTo>
                    <a:pt x="537045" y="119713"/>
                  </a:lnTo>
                  <a:lnTo>
                    <a:pt x="561204" y="158020"/>
                  </a:lnTo>
                  <a:lnTo>
                    <a:pt x="579217" y="199965"/>
                  </a:lnTo>
                  <a:lnTo>
                    <a:pt x="590472" y="244943"/>
                  </a:lnTo>
                  <a:lnTo>
                    <a:pt x="594360" y="292353"/>
                  </a:lnTo>
                  <a:lnTo>
                    <a:pt x="590472" y="339795"/>
                  </a:lnTo>
                  <a:lnTo>
                    <a:pt x="579217" y="384791"/>
                  </a:lnTo>
                  <a:lnTo>
                    <a:pt x="561204" y="426743"/>
                  </a:lnTo>
                  <a:lnTo>
                    <a:pt x="537045" y="465049"/>
                  </a:lnTo>
                  <a:lnTo>
                    <a:pt x="507349" y="499109"/>
                  </a:lnTo>
                  <a:lnTo>
                    <a:pt x="472726" y="528324"/>
                  </a:lnTo>
                  <a:lnTo>
                    <a:pt x="433787" y="552091"/>
                  </a:lnTo>
                  <a:lnTo>
                    <a:pt x="391143" y="569811"/>
                  </a:lnTo>
                  <a:lnTo>
                    <a:pt x="345404" y="580883"/>
                  </a:lnTo>
                  <a:lnTo>
                    <a:pt x="297180" y="584707"/>
                  </a:lnTo>
                  <a:lnTo>
                    <a:pt x="248986" y="580883"/>
                  </a:lnTo>
                  <a:lnTo>
                    <a:pt x="203265" y="569811"/>
                  </a:lnTo>
                  <a:lnTo>
                    <a:pt x="160628" y="552091"/>
                  </a:lnTo>
                  <a:lnTo>
                    <a:pt x="121688" y="528324"/>
                  </a:lnTo>
                  <a:lnTo>
                    <a:pt x="87058" y="499109"/>
                  </a:lnTo>
                  <a:lnTo>
                    <a:pt x="57351" y="465049"/>
                  </a:lnTo>
                  <a:lnTo>
                    <a:pt x="33179" y="426743"/>
                  </a:lnTo>
                  <a:lnTo>
                    <a:pt x="15154" y="384791"/>
                  </a:lnTo>
                  <a:lnTo>
                    <a:pt x="3890" y="339795"/>
                  </a:lnTo>
                  <a:lnTo>
                    <a:pt x="0" y="292353"/>
                  </a:lnTo>
                  <a:close/>
                </a:path>
              </a:pathLst>
            </a:custGeom>
            <a:ln w="6349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80600" y="1263014"/>
              <a:ext cx="420370" cy="414020"/>
            </a:xfrm>
            <a:custGeom>
              <a:avLst/>
              <a:gdLst/>
              <a:ahLst/>
              <a:cxnLst/>
              <a:rect l="l" t="t" r="r" b="b"/>
              <a:pathLst>
                <a:path w="420370" h="414019">
                  <a:moveTo>
                    <a:pt x="0" y="0"/>
                  </a:moveTo>
                  <a:lnTo>
                    <a:pt x="420243" y="413512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380600" y="1263014"/>
              <a:ext cx="420370" cy="414020"/>
            </a:xfrm>
            <a:custGeom>
              <a:avLst/>
              <a:gdLst/>
              <a:ahLst/>
              <a:cxnLst/>
              <a:rect l="l" t="t" r="r" b="b"/>
              <a:pathLst>
                <a:path w="420370" h="414019">
                  <a:moveTo>
                    <a:pt x="420243" y="0"/>
                  </a:moveTo>
                  <a:lnTo>
                    <a:pt x="0" y="413512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533508" y="1762125"/>
              <a:ext cx="114300" cy="692150"/>
            </a:xfrm>
            <a:custGeom>
              <a:avLst/>
              <a:gdLst/>
              <a:ahLst/>
              <a:cxnLst/>
              <a:rect l="l" t="t" r="r" b="b"/>
              <a:pathLst>
                <a:path w="114300" h="692150">
                  <a:moveTo>
                    <a:pt x="76200" y="95249"/>
                  </a:moveTo>
                  <a:lnTo>
                    <a:pt x="38100" y="95249"/>
                  </a:lnTo>
                  <a:lnTo>
                    <a:pt x="38100" y="691641"/>
                  </a:lnTo>
                  <a:lnTo>
                    <a:pt x="76200" y="691641"/>
                  </a:lnTo>
                  <a:lnTo>
                    <a:pt x="76200" y="95249"/>
                  </a:lnTo>
                  <a:close/>
                </a:path>
                <a:path w="114300" h="692150">
                  <a:moveTo>
                    <a:pt x="57150" y="0"/>
                  </a:moveTo>
                  <a:lnTo>
                    <a:pt x="0" y="114299"/>
                  </a:lnTo>
                  <a:lnTo>
                    <a:pt x="38100" y="114299"/>
                  </a:lnTo>
                  <a:lnTo>
                    <a:pt x="38100" y="95249"/>
                  </a:lnTo>
                  <a:lnTo>
                    <a:pt x="104775" y="95249"/>
                  </a:lnTo>
                  <a:lnTo>
                    <a:pt x="57150" y="0"/>
                  </a:lnTo>
                  <a:close/>
                </a:path>
                <a:path w="114300" h="692150">
                  <a:moveTo>
                    <a:pt x="104775" y="95249"/>
                  </a:moveTo>
                  <a:lnTo>
                    <a:pt x="76200" y="95249"/>
                  </a:lnTo>
                  <a:lnTo>
                    <a:pt x="76200" y="114299"/>
                  </a:lnTo>
                  <a:lnTo>
                    <a:pt x="114300" y="114299"/>
                  </a:lnTo>
                  <a:lnTo>
                    <a:pt x="104775" y="95249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915527" y="2420492"/>
            <a:ext cx="1288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Carrier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Signal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236334" y="900468"/>
            <a:ext cx="5093970" cy="1138555"/>
            <a:chOff x="6236334" y="900468"/>
            <a:chExt cx="5093970" cy="1138555"/>
          </a:xfrm>
        </p:grpSpPr>
        <p:sp>
          <p:nvSpPr>
            <p:cNvPr id="12" name="object 12"/>
            <p:cNvSpPr/>
            <p:nvPr/>
          </p:nvSpPr>
          <p:spPr>
            <a:xfrm>
              <a:off x="9887838" y="1412620"/>
              <a:ext cx="1442085" cy="114300"/>
            </a:xfrm>
            <a:custGeom>
              <a:avLst/>
              <a:gdLst/>
              <a:ahLst/>
              <a:cxnLst/>
              <a:rect l="l" t="t" r="r" b="b"/>
              <a:pathLst>
                <a:path w="1442084" h="114300">
                  <a:moveTo>
                    <a:pt x="1327785" y="0"/>
                  </a:moveTo>
                  <a:lnTo>
                    <a:pt x="1327785" y="114300"/>
                  </a:lnTo>
                  <a:lnTo>
                    <a:pt x="1403985" y="76200"/>
                  </a:lnTo>
                  <a:lnTo>
                    <a:pt x="1346835" y="76200"/>
                  </a:lnTo>
                  <a:lnTo>
                    <a:pt x="1346835" y="38100"/>
                  </a:lnTo>
                  <a:lnTo>
                    <a:pt x="1403985" y="38100"/>
                  </a:lnTo>
                  <a:lnTo>
                    <a:pt x="1327785" y="0"/>
                  </a:lnTo>
                  <a:close/>
                </a:path>
                <a:path w="1442084" h="114300">
                  <a:moveTo>
                    <a:pt x="1327785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327785" y="76200"/>
                  </a:lnTo>
                  <a:lnTo>
                    <a:pt x="1327785" y="38100"/>
                  </a:lnTo>
                  <a:close/>
                </a:path>
                <a:path w="1442084" h="114300">
                  <a:moveTo>
                    <a:pt x="1403985" y="38100"/>
                  </a:moveTo>
                  <a:lnTo>
                    <a:pt x="1346835" y="38100"/>
                  </a:lnTo>
                  <a:lnTo>
                    <a:pt x="1346835" y="76200"/>
                  </a:lnTo>
                  <a:lnTo>
                    <a:pt x="1403985" y="76200"/>
                  </a:lnTo>
                  <a:lnTo>
                    <a:pt x="1442085" y="57150"/>
                  </a:lnTo>
                  <a:lnTo>
                    <a:pt x="1403985" y="381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36334" y="900468"/>
              <a:ext cx="1429512" cy="1138516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236334" y="900468"/>
            <a:ext cx="1430020" cy="1138555"/>
          </a:xfrm>
          <a:prstGeom prst="rect">
            <a:avLst/>
          </a:prstGeom>
          <a:ln w="6350">
            <a:solidFill>
              <a:srgbClr val="A4A4A4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L="261620" marR="254635" algn="ctr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latin typeface="Calibri"/>
                <a:cs typeface="Calibri"/>
              </a:rPr>
              <a:t>Bipolar </a:t>
            </a:r>
            <a:r>
              <a:rPr sz="2400" b="1" spc="-25" dirty="0">
                <a:latin typeface="Calibri"/>
                <a:cs typeface="Calibri"/>
              </a:rPr>
              <a:t>NRZ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latin typeface="Calibri"/>
                <a:cs typeface="Calibri"/>
              </a:rPr>
              <a:t>Encoder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316100" y="1031618"/>
            <a:ext cx="4949190" cy="2200275"/>
            <a:chOff x="1316100" y="1031618"/>
            <a:chExt cx="4949190" cy="2200275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37434" y="1031618"/>
              <a:ext cx="1838579" cy="88594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783075" y="1469770"/>
              <a:ext cx="2453640" cy="0"/>
            </a:xfrm>
            <a:custGeom>
              <a:avLst/>
              <a:gdLst/>
              <a:ahLst/>
              <a:cxnLst/>
              <a:rect l="l" t="t" r="r" b="b"/>
              <a:pathLst>
                <a:path w="2453640">
                  <a:moveTo>
                    <a:pt x="0" y="0"/>
                  </a:moveTo>
                  <a:lnTo>
                    <a:pt x="2453259" y="0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44675" y="1253616"/>
              <a:ext cx="1413510" cy="0"/>
            </a:xfrm>
            <a:custGeom>
              <a:avLst/>
              <a:gdLst/>
              <a:ahLst/>
              <a:cxnLst/>
              <a:rect l="l" t="t" r="r" b="b"/>
              <a:pathLst>
                <a:path w="1413510">
                  <a:moveTo>
                    <a:pt x="0" y="0"/>
                  </a:moveTo>
                  <a:lnTo>
                    <a:pt x="1413383" y="0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19348" y="2299004"/>
              <a:ext cx="1114717" cy="932764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2919348" y="2299004"/>
            <a:ext cx="1115060" cy="932815"/>
          </a:xfrm>
          <a:prstGeom prst="rect">
            <a:avLst/>
          </a:prstGeom>
          <a:ln w="6350">
            <a:solidFill>
              <a:srgbClr val="A4A4A4"/>
            </a:solidFill>
          </a:ln>
        </p:spPr>
        <p:txBody>
          <a:bodyPr vert="horz" wrap="square" lIns="0" tIns="81280" rIns="0" bIns="0" rtlCol="0">
            <a:spAutoFit/>
          </a:bodyPr>
          <a:lstStyle/>
          <a:p>
            <a:pPr marL="400050" marR="194310" indent="-198120">
              <a:lnSpc>
                <a:spcPct val="100000"/>
              </a:lnSpc>
              <a:spcBef>
                <a:spcPts val="640"/>
              </a:spcBef>
            </a:pPr>
            <a:r>
              <a:rPr sz="2400" b="1" spc="-25" dirty="0">
                <a:latin typeface="Calibri"/>
                <a:cs typeface="Calibri"/>
              </a:rPr>
              <a:t>Delay Tb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319401" y="1441196"/>
            <a:ext cx="2586355" cy="1353185"/>
            <a:chOff x="2319401" y="1441196"/>
            <a:chExt cx="2586355" cy="1353185"/>
          </a:xfrm>
        </p:grpSpPr>
        <p:sp>
          <p:nvSpPr>
            <p:cNvPr id="22" name="object 22"/>
            <p:cNvSpPr/>
            <p:nvPr/>
          </p:nvSpPr>
          <p:spPr>
            <a:xfrm>
              <a:off x="4034155" y="1469771"/>
              <a:ext cx="842644" cy="1296035"/>
            </a:xfrm>
            <a:custGeom>
              <a:avLst/>
              <a:gdLst/>
              <a:ahLst/>
              <a:cxnLst/>
              <a:rect l="l" t="t" r="r" b="b"/>
              <a:pathLst>
                <a:path w="842645" h="1296035">
                  <a:moveTo>
                    <a:pt x="0" y="1295653"/>
                  </a:moveTo>
                  <a:lnTo>
                    <a:pt x="842644" y="1295653"/>
                  </a:lnTo>
                  <a:lnTo>
                    <a:pt x="842644" y="0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347976" y="1676527"/>
              <a:ext cx="571500" cy="1089025"/>
            </a:xfrm>
            <a:custGeom>
              <a:avLst/>
              <a:gdLst/>
              <a:ahLst/>
              <a:cxnLst/>
              <a:rect l="l" t="t" r="r" b="b"/>
              <a:pathLst>
                <a:path w="571500" h="1089025">
                  <a:moveTo>
                    <a:pt x="0" y="0"/>
                  </a:moveTo>
                  <a:lnTo>
                    <a:pt x="0" y="1088898"/>
                  </a:lnTo>
                  <a:lnTo>
                    <a:pt x="571373" y="1088898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91439" y="1267714"/>
            <a:ext cx="1250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Binary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Signal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4739" y="3534282"/>
            <a:ext cx="579374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900" algn="l"/>
                <a:tab pos="1341120" algn="l"/>
                <a:tab pos="3011805" algn="l"/>
                <a:tab pos="3415665" algn="l"/>
                <a:tab pos="4476750" algn="l"/>
                <a:tab pos="4949190" algn="l"/>
                <a:tab pos="5307330" algn="l"/>
              </a:tabLst>
            </a:pP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DPSK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Transmitter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similar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PSK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Transmitter.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Here,</a:t>
            </a:r>
            <a:r>
              <a:rPr sz="2400" b="1" spc="2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2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binary</a:t>
            </a:r>
            <a:r>
              <a:rPr sz="2400" b="1" spc="2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spc="2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2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XORed</a:t>
            </a:r>
            <a:r>
              <a:rPr sz="2400" b="1" spc="2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with</a:t>
            </a:r>
            <a:r>
              <a:rPr sz="2400" b="1" spc="2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its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1939" y="4631817"/>
            <a:ext cx="53346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112520" algn="l"/>
                <a:tab pos="2292350" algn="l"/>
                <a:tab pos="3383915" algn="l"/>
                <a:tab pos="4491990" algn="l"/>
              </a:tabLst>
            </a:pP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one-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bit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delayed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Output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version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before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being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applied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PSK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modulator.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6945630" y="3885565"/>
          <a:ext cx="4323079" cy="1852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8760"/>
                <a:gridCol w="1559560"/>
                <a:gridCol w="1254759"/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Input</a:t>
                      </a:r>
                      <a:r>
                        <a:rPr sz="18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Input</a:t>
                      </a:r>
                      <a:r>
                        <a:rPr sz="18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Output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</a:tr>
            </a:tbl>
          </a:graphicData>
        </a:graphic>
      </p:graphicFrame>
      <p:sp>
        <p:nvSpPr>
          <p:cNvPr id="28" name="object 28"/>
          <p:cNvSpPr txBox="1"/>
          <p:nvPr/>
        </p:nvSpPr>
        <p:spPr>
          <a:xfrm>
            <a:off x="8494521" y="3444367"/>
            <a:ext cx="12261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XOR</a:t>
            </a:r>
            <a:r>
              <a:rPr sz="2400" b="1" spc="-11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Gate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386441" y="1490853"/>
            <a:ext cx="1141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DPSK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Signal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0" name="object 3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1524000" y="1677034"/>
            <a:ext cx="609600" cy="5440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1600200" y="1409880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/>
                            </a:rPr>
                            <m:t>𝐛</m:t>
                          </m:r>
                        </m:e>
                        <m:sub>
                          <m:r>
                            <a:rPr lang="en-US" sz="2400" b="1" i="0" smtClean="0">
                              <a:latin typeface="Cambria Math"/>
                            </a:rPr>
                            <m:t>𝐤</m:t>
                          </m:r>
                          <m:r>
                            <a:rPr lang="en-US" sz="2400" b="1" i="0" smtClean="0">
                              <a:latin typeface="Cambria Math"/>
                            </a:rPr>
                            <m:t>−</m:t>
                          </m:r>
                          <m:r>
                            <a:rPr lang="en-US" sz="2400" b="1" i="0" smtClean="0"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1409880"/>
                <a:ext cx="685800" cy="461665"/>
              </a:xfrm>
              <a:prstGeom prst="rect">
                <a:avLst/>
              </a:prstGeom>
              <a:blipFill rotWithShape="1">
                <a:blip r:embed="rId7"/>
                <a:stretch>
                  <a:fillRect l="-3571" t="-9211" r="-44643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15507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DPSK</a:t>
            </a:r>
            <a:r>
              <a:rPr spc="-15" dirty="0"/>
              <a:t> </a:t>
            </a:r>
            <a:r>
              <a:rPr spc="-20" dirty="0"/>
              <a:t>waveforms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4739" y="575309"/>
            <a:ext cx="984059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First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Input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First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Output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bit.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If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next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input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logic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“1”,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then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change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polarity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Output.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If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next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input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logic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“0”,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then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do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not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change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polarity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Output.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8742" y="2099945"/>
            <a:ext cx="11748770" cy="3673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  <a:tabLst>
                <a:tab pos="1299210" algn="l"/>
                <a:tab pos="2200275" algn="l"/>
                <a:tab pos="3258185" algn="l"/>
                <a:tab pos="4210685" algn="l"/>
                <a:tab pos="5215255" algn="l"/>
                <a:tab pos="6221730" algn="l"/>
                <a:tab pos="7174865" algn="l"/>
                <a:tab pos="8128000" algn="l"/>
                <a:tab pos="9142730" algn="l"/>
                <a:tab pos="10095230" algn="l"/>
                <a:tab pos="10473055" algn="l"/>
              </a:tabLst>
            </a:pPr>
            <a:r>
              <a:rPr sz="2700" b="1" spc="-15" baseline="-27777" dirty="0">
                <a:solidFill>
                  <a:srgbClr val="385622"/>
                </a:solidFill>
                <a:latin typeface="Calibri"/>
                <a:cs typeface="Calibri"/>
              </a:rPr>
              <a:t>Amplitude</a:t>
            </a:r>
            <a:r>
              <a:rPr sz="2700" b="1" baseline="-27777" dirty="0">
                <a:solidFill>
                  <a:srgbClr val="385622"/>
                </a:solidFill>
                <a:latin typeface="Calibri"/>
                <a:cs typeface="Calibri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	=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Digital</a:t>
            </a:r>
            <a:r>
              <a:rPr sz="18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  <a:p>
            <a:pPr marL="450850">
              <a:lnSpc>
                <a:spcPct val="100000"/>
              </a:lnSpc>
              <a:spcBef>
                <a:spcPts val="1410"/>
              </a:spcBef>
            </a:pPr>
            <a:r>
              <a:rPr sz="1800" spc="-25" dirty="0">
                <a:latin typeface="Cambria Math"/>
                <a:cs typeface="Cambria Math"/>
              </a:rPr>
              <a:t>+𝐀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800">
              <a:latin typeface="Cambria Math"/>
              <a:cs typeface="Cambria Math"/>
            </a:endParaRPr>
          </a:p>
          <a:p>
            <a:pPr marL="581025">
              <a:lnSpc>
                <a:spcPct val="100000"/>
              </a:lnSpc>
              <a:tabLst>
                <a:tab pos="10820400" algn="l"/>
              </a:tabLst>
            </a:pPr>
            <a:r>
              <a:rPr sz="2700" spc="-75" baseline="-38580" dirty="0">
                <a:latin typeface="Cambria Math"/>
                <a:cs typeface="Cambria Math"/>
              </a:rPr>
              <a:t>𝟎</a:t>
            </a:r>
            <a:r>
              <a:rPr sz="2700" baseline="-38580" dirty="0">
                <a:latin typeface="Cambria Math"/>
                <a:cs typeface="Cambria Math"/>
              </a:rPr>
              <a:t>	</a:t>
            </a:r>
            <a:r>
              <a:rPr sz="1800" b="1" spc="-20" dirty="0">
                <a:solidFill>
                  <a:srgbClr val="385622"/>
                </a:solidFill>
                <a:latin typeface="Calibri"/>
                <a:cs typeface="Calibri"/>
              </a:rPr>
              <a:t>Time</a:t>
            </a:r>
            <a:endParaRPr sz="1800">
              <a:latin typeface="Calibri"/>
              <a:cs typeface="Calibri"/>
            </a:endParaRPr>
          </a:p>
          <a:p>
            <a:pPr marL="1891664">
              <a:lnSpc>
                <a:spcPct val="100000"/>
              </a:lnSpc>
              <a:spcBef>
                <a:spcPts val="430"/>
              </a:spcBef>
              <a:tabLst>
                <a:tab pos="2850515" algn="l"/>
                <a:tab pos="3839845" algn="l"/>
                <a:tab pos="4803775" algn="l"/>
                <a:tab pos="5807710" algn="l"/>
                <a:tab pos="6811009" algn="l"/>
                <a:tab pos="7799070" algn="l"/>
                <a:tab pos="8775700" algn="l"/>
                <a:tab pos="9721215" algn="l"/>
                <a:tab pos="10673080" algn="l"/>
              </a:tabLst>
            </a:pPr>
            <a:r>
              <a:rPr sz="2700" spc="-37" baseline="4629" dirty="0">
                <a:latin typeface="Cambria Math"/>
                <a:cs typeface="Cambria Math"/>
              </a:rPr>
              <a:t>𝐓</a:t>
            </a:r>
            <a:r>
              <a:rPr sz="1950" spc="-37" baseline="-8547" dirty="0">
                <a:latin typeface="Cambria Math"/>
                <a:cs typeface="Cambria Math"/>
              </a:rPr>
              <a:t>𝐛</a:t>
            </a:r>
            <a:r>
              <a:rPr sz="1950" baseline="-8547" dirty="0">
                <a:latin typeface="Cambria Math"/>
                <a:cs typeface="Cambria Math"/>
              </a:rPr>
              <a:t>	</a:t>
            </a:r>
            <a:r>
              <a:rPr sz="2700" spc="-37" baseline="4629" dirty="0">
                <a:latin typeface="Cambria Math"/>
                <a:cs typeface="Cambria Math"/>
              </a:rPr>
              <a:t>𝟐𝐓</a:t>
            </a:r>
            <a:r>
              <a:rPr sz="1950" spc="-37" baseline="-8547" dirty="0">
                <a:latin typeface="Cambria Math"/>
                <a:cs typeface="Cambria Math"/>
              </a:rPr>
              <a:t>𝐛</a:t>
            </a:r>
            <a:r>
              <a:rPr sz="1950" baseline="-8547" dirty="0">
                <a:latin typeface="Cambria Math"/>
                <a:cs typeface="Cambria Math"/>
              </a:rPr>
              <a:t>	</a:t>
            </a:r>
            <a:r>
              <a:rPr sz="1800" spc="-25" dirty="0">
                <a:latin typeface="Cambria Math"/>
                <a:cs typeface="Cambria Math"/>
              </a:rPr>
              <a:t>𝟑𝐓</a:t>
            </a:r>
            <a:r>
              <a:rPr sz="1950" spc="-37" baseline="-14957" dirty="0">
                <a:latin typeface="Cambria Math"/>
                <a:cs typeface="Cambria Math"/>
              </a:rPr>
              <a:t>𝐛</a:t>
            </a:r>
            <a:r>
              <a:rPr sz="1950" baseline="-14957" dirty="0">
                <a:latin typeface="Cambria Math"/>
                <a:cs typeface="Cambria Math"/>
              </a:rPr>
              <a:t>	</a:t>
            </a:r>
            <a:r>
              <a:rPr sz="1800" spc="-25" dirty="0">
                <a:latin typeface="Cambria Math"/>
                <a:cs typeface="Cambria Math"/>
              </a:rPr>
              <a:t>𝟒𝐓</a:t>
            </a:r>
            <a:r>
              <a:rPr sz="1950" spc="-37" baseline="-14957" dirty="0">
                <a:latin typeface="Cambria Math"/>
                <a:cs typeface="Cambria Math"/>
              </a:rPr>
              <a:t>𝐛</a:t>
            </a:r>
            <a:r>
              <a:rPr sz="1950" baseline="-14957" dirty="0">
                <a:latin typeface="Cambria Math"/>
                <a:cs typeface="Cambria Math"/>
              </a:rPr>
              <a:t>	</a:t>
            </a:r>
            <a:r>
              <a:rPr sz="1800" spc="-25" dirty="0">
                <a:latin typeface="Cambria Math"/>
                <a:cs typeface="Cambria Math"/>
              </a:rPr>
              <a:t>𝟓𝐓</a:t>
            </a:r>
            <a:r>
              <a:rPr sz="1950" spc="-37" baseline="-14957" dirty="0">
                <a:latin typeface="Cambria Math"/>
                <a:cs typeface="Cambria Math"/>
              </a:rPr>
              <a:t>𝐛</a:t>
            </a:r>
            <a:r>
              <a:rPr sz="1950" baseline="-14957" dirty="0">
                <a:latin typeface="Cambria Math"/>
                <a:cs typeface="Cambria Math"/>
              </a:rPr>
              <a:t>	</a:t>
            </a:r>
            <a:r>
              <a:rPr sz="1800" spc="-25" dirty="0">
                <a:latin typeface="Cambria Math"/>
                <a:cs typeface="Cambria Math"/>
              </a:rPr>
              <a:t>𝟔𝐓</a:t>
            </a:r>
            <a:r>
              <a:rPr sz="1950" spc="-37" baseline="-14957" dirty="0">
                <a:latin typeface="Cambria Math"/>
                <a:cs typeface="Cambria Math"/>
              </a:rPr>
              <a:t>𝐛</a:t>
            </a:r>
            <a:r>
              <a:rPr sz="1950" baseline="-14957" dirty="0">
                <a:latin typeface="Cambria Math"/>
                <a:cs typeface="Cambria Math"/>
              </a:rPr>
              <a:t>	</a:t>
            </a:r>
            <a:r>
              <a:rPr sz="1800" spc="-25" dirty="0">
                <a:latin typeface="Cambria Math"/>
                <a:cs typeface="Cambria Math"/>
              </a:rPr>
              <a:t>𝟕𝐓</a:t>
            </a:r>
            <a:r>
              <a:rPr sz="1950" spc="-37" baseline="-14957" dirty="0">
                <a:latin typeface="Cambria Math"/>
                <a:cs typeface="Cambria Math"/>
              </a:rPr>
              <a:t>𝐛</a:t>
            </a:r>
            <a:r>
              <a:rPr sz="1950" baseline="-14957" dirty="0">
                <a:latin typeface="Cambria Math"/>
                <a:cs typeface="Cambria Math"/>
              </a:rPr>
              <a:t>	</a:t>
            </a:r>
            <a:r>
              <a:rPr sz="2700" spc="-37" baseline="4629" dirty="0">
                <a:latin typeface="Cambria Math"/>
                <a:cs typeface="Cambria Math"/>
              </a:rPr>
              <a:t>𝟖𝐓</a:t>
            </a:r>
            <a:r>
              <a:rPr sz="1950" spc="-37" baseline="-8547" dirty="0">
                <a:latin typeface="Cambria Math"/>
                <a:cs typeface="Cambria Math"/>
              </a:rPr>
              <a:t>𝐛</a:t>
            </a:r>
            <a:r>
              <a:rPr sz="1950" baseline="-8547" dirty="0">
                <a:latin typeface="Cambria Math"/>
                <a:cs typeface="Cambria Math"/>
              </a:rPr>
              <a:t>	</a:t>
            </a:r>
            <a:r>
              <a:rPr sz="2700" spc="-37" baseline="4629" dirty="0">
                <a:latin typeface="Cambria Math"/>
                <a:cs typeface="Cambria Math"/>
              </a:rPr>
              <a:t>𝟗𝐓</a:t>
            </a:r>
            <a:r>
              <a:rPr sz="1950" spc="-37" baseline="-8547" dirty="0">
                <a:latin typeface="Cambria Math"/>
                <a:cs typeface="Cambria Math"/>
              </a:rPr>
              <a:t>𝐛</a:t>
            </a:r>
            <a:r>
              <a:rPr sz="1950" baseline="-8547" dirty="0">
                <a:latin typeface="Cambria Math"/>
                <a:cs typeface="Cambria Math"/>
              </a:rPr>
              <a:t>	</a:t>
            </a:r>
            <a:r>
              <a:rPr sz="1800" spc="-20" dirty="0">
                <a:latin typeface="Cambria Math"/>
                <a:cs typeface="Cambria Math"/>
              </a:rPr>
              <a:t>𝟏𝟎𝐓</a:t>
            </a:r>
            <a:r>
              <a:rPr sz="1950" spc="-30" baseline="-14957" dirty="0">
                <a:latin typeface="Cambria Math"/>
                <a:cs typeface="Cambria Math"/>
              </a:rPr>
              <a:t>𝐛</a:t>
            </a:r>
            <a:endParaRPr sz="1950" baseline="-14957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tabLst>
                <a:tab pos="4920615" algn="l"/>
              </a:tabLst>
            </a:pPr>
            <a:r>
              <a:rPr sz="2700" b="1" spc="-15" baseline="16975" dirty="0">
                <a:solidFill>
                  <a:srgbClr val="385622"/>
                </a:solidFill>
                <a:latin typeface="Calibri"/>
                <a:cs typeface="Calibri"/>
              </a:rPr>
              <a:t>Amplitude</a:t>
            </a:r>
            <a:r>
              <a:rPr sz="2700" b="1" baseline="16975" dirty="0">
                <a:solidFill>
                  <a:srgbClr val="385622"/>
                </a:solidFill>
                <a:latin typeface="Calibri"/>
                <a:cs typeface="Calibri"/>
              </a:rPr>
              <a:t>	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DPSK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2400">
              <a:latin typeface="Calibri"/>
              <a:cs typeface="Calibri"/>
            </a:endParaRPr>
          </a:p>
          <a:p>
            <a:pPr marR="448945" algn="r">
              <a:lnSpc>
                <a:spcPct val="100000"/>
              </a:lnSpc>
            </a:pPr>
            <a:r>
              <a:rPr sz="1800" b="1" spc="-20" dirty="0">
                <a:solidFill>
                  <a:srgbClr val="385622"/>
                </a:solidFill>
                <a:latin typeface="Calibri"/>
                <a:cs typeface="Calibri"/>
              </a:rPr>
              <a:t>Time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77468" y="2296667"/>
            <a:ext cx="10921365" cy="4575810"/>
            <a:chOff x="977468" y="2296667"/>
            <a:chExt cx="10921365" cy="4575810"/>
          </a:xfrm>
        </p:grpSpPr>
        <p:sp>
          <p:nvSpPr>
            <p:cNvPr id="6" name="object 6"/>
            <p:cNvSpPr/>
            <p:nvPr/>
          </p:nvSpPr>
          <p:spPr>
            <a:xfrm>
              <a:off x="977480" y="2424048"/>
              <a:ext cx="10334625" cy="1443355"/>
            </a:xfrm>
            <a:custGeom>
              <a:avLst/>
              <a:gdLst/>
              <a:ahLst/>
              <a:cxnLst/>
              <a:rect l="l" t="t" r="r" b="b"/>
              <a:pathLst>
                <a:path w="10334625" h="1443354">
                  <a:moveTo>
                    <a:pt x="10334282" y="1289939"/>
                  </a:moveTo>
                  <a:lnTo>
                    <a:pt x="10305618" y="1275588"/>
                  </a:lnTo>
                  <a:lnTo>
                    <a:pt x="10248557" y="1247013"/>
                  </a:lnTo>
                  <a:lnTo>
                    <a:pt x="10248557" y="1275588"/>
                  </a:lnTo>
                  <a:lnTo>
                    <a:pt x="57137" y="1275588"/>
                  </a:lnTo>
                  <a:lnTo>
                    <a:pt x="57137" y="85725"/>
                  </a:lnTo>
                  <a:lnTo>
                    <a:pt x="85725" y="85725"/>
                  </a:lnTo>
                  <a:lnTo>
                    <a:pt x="78613" y="71501"/>
                  </a:lnTo>
                  <a:lnTo>
                    <a:pt x="42862" y="0"/>
                  </a:lnTo>
                  <a:lnTo>
                    <a:pt x="0" y="85725"/>
                  </a:lnTo>
                  <a:lnTo>
                    <a:pt x="28562" y="85725"/>
                  </a:lnTo>
                  <a:lnTo>
                    <a:pt x="28562" y="1443355"/>
                  </a:lnTo>
                  <a:lnTo>
                    <a:pt x="57137" y="1443355"/>
                  </a:lnTo>
                  <a:lnTo>
                    <a:pt x="57137" y="1304163"/>
                  </a:lnTo>
                  <a:lnTo>
                    <a:pt x="10248557" y="1304163"/>
                  </a:lnTo>
                  <a:lnTo>
                    <a:pt x="10248557" y="1332738"/>
                  </a:lnTo>
                  <a:lnTo>
                    <a:pt x="10305783" y="1304163"/>
                  </a:lnTo>
                  <a:lnTo>
                    <a:pt x="10334282" y="1289939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91209" y="2296667"/>
              <a:ext cx="10607040" cy="15240"/>
            </a:xfrm>
            <a:custGeom>
              <a:avLst/>
              <a:gdLst/>
              <a:ahLst/>
              <a:cxnLst/>
              <a:rect l="l" t="t" r="r" b="b"/>
              <a:pathLst>
                <a:path w="10607040" h="15239">
                  <a:moveTo>
                    <a:pt x="106070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0607040" y="15240"/>
                  </a:lnTo>
                  <a:lnTo>
                    <a:pt x="106070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0330" y="2639186"/>
              <a:ext cx="959485" cy="0"/>
            </a:xfrm>
            <a:custGeom>
              <a:avLst/>
              <a:gdLst/>
              <a:ahLst/>
              <a:cxnLst/>
              <a:rect l="l" t="t" r="r" b="b"/>
              <a:pathLst>
                <a:path w="959485">
                  <a:moveTo>
                    <a:pt x="0" y="0"/>
                  </a:moveTo>
                  <a:lnTo>
                    <a:pt x="959218" y="0"/>
                  </a:lnTo>
                </a:path>
              </a:pathLst>
            </a:custGeom>
            <a:ln w="38100">
              <a:solidFill>
                <a:srgbClr val="7E5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25824" y="2639186"/>
              <a:ext cx="1957705" cy="0"/>
            </a:xfrm>
            <a:custGeom>
              <a:avLst/>
              <a:gdLst/>
              <a:ahLst/>
              <a:cxnLst/>
              <a:rect l="l" t="t" r="r" b="b"/>
              <a:pathLst>
                <a:path w="1957704">
                  <a:moveTo>
                    <a:pt x="0" y="0"/>
                  </a:moveTo>
                  <a:lnTo>
                    <a:pt x="1957577" y="0"/>
                  </a:lnTo>
                </a:path>
              </a:pathLst>
            </a:custGeom>
            <a:ln w="38100">
              <a:solidFill>
                <a:srgbClr val="7E5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23278" y="2639186"/>
              <a:ext cx="959485" cy="0"/>
            </a:xfrm>
            <a:custGeom>
              <a:avLst/>
              <a:gdLst/>
              <a:ahLst/>
              <a:cxnLst/>
              <a:rect l="l" t="t" r="r" b="b"/>
              <a:pathLst>
                <a:path w="959484">
                  <a:moveTo>
                    <a:pt x="0" y="0"/>
                  </a:moveTo>
                  <a:lnTo>
                    <a:pt x="959231" y="0"/>
                  </a:lnTo>
                </a:path>
              </a:pathLst>
            </a:custGeom>
            <a:ln w="38100">
              <a:solidFill>
                <a:srgbClr val="7E5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846566" y="2639186"/>
              <a:ext cx="959485" cy="0"/>
            </a:xfrm>
            <a:custGeom>
              <a:avLst/>
              <a:gdLst/>
              <a:ahLst/>
              <a:cxnLst/>
              <a:rect l="l" t="t" r="r" b="b"/>
              <a:pathLst>
                <a:path w="959484">
                  <a:moveTo>
                    <a:pt x="0" y="0"/>
                  </a:moveTo>
                  <a:lnTo>
                    <a:pt x="959231" y="0"/>
                  </a:lnTo>
                </a:path>
              </a:pathLst>
            </a:custGeom>
            <a:ln w="38100">
              <a:solidFill>
                <a:srgbClr val="7E5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89455" y="3715003"/>
              <a:ext cx="959485" cy="0"/>
            </a:xfrm>
            <a:custGeom>
              <a:avLst/>
              <a:gdLst/>
              <a:ahLst/>
              <a:cxnLst/>
              <a:rect l="l" t="t" r="r" b="b"/>
              <a:pathLst>
                <a:path w="959485">
                  <a:moveTo>
                    <a:pt x="0" y="0"/>
                  </a:moveTo>
                  <a:lnTo>
                    <a:pt x="959231" y="0"/>
                  </a:lnTo>
                </a:path>
              </a:pathLst>
            </a:custGeom>
            <a:ln w="38100">
              <a:solidFill>
                <a:srgbClr val="7E5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93308" y="3715003"/>
              <a:ext cx="1008380" cy="0"/>
            </a:xfrm>
            <a:custGeom>
              <a:avLst/>
              <a:gdLst/>
              <a:ahLst/>
              <a:cxnLst/>
              <a:rect l="l" t="t" r="r" b="b"/>
              <a:pathLst>
                <a:path w="1008379">
                  <a:moveTo>
                    <a:pt x="0" y="0"/>
                  </a:moveTo>
                  <a:lnTo>
                    <a:pt x="1007872" y="0"/>
                  </a:lnTo>
                </a:path>
              </a:pathLst>
            </a:custGeom>
            <a:ln w="38100">
              <a:solidFill>
                <a:srgbClr val="7E5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892415" y="3715003"/>
              <a:ext cx="959485" cy="0"/>
            </a:xfrm>
            <a:custGeom>
              <a:avLst/>
              <a:gdLst/>
              <a:ahLst/>
              <a:cxnLst/>
              <a:rect l="l" t="t" r="r" b="b"/>
              <a:pathLst>
                <a:path w="959484">
                  <a:moveTo>
                    <a:pt x="0" y="0"/>
                  </a:moveTo>
                  <a:lnTo>
                    <a:pt x="959231" y="0"/>
                  </a:lnTo>
                </a:path>
              </a:pathLst>
            </a:custGeom>
            <a:ln w="38100">
              <a:solidFill>
                <a:srgbClr val="7E5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815576" y="3715003"/>
              <a:ext cx="959485" cy="0"/>
            </a:xfrm>
            <a:custGeom>
              <a:avLst/>
              <a:gdLst/>
              <a:ahLst/>
              <a:cxnLst/>
              <a:rect l="l" t="t" r="r" b="b"/>
              <a:pathLst>
                <a:path w="959484">
                  <a:moveTo>
                    <a:pt x="0" y="0"/>
                  </a:moveTo>
                  <a:lnTo>
                    <a:pt x="959231" y="0"/>
                  </a:lnTo>
                </a:path>
              </a:pathLst>
            </a:custGeom>
            <a:ln w="38100">
              <a:solidFill>
                <a:srgbClr val="7E5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70659" y="2634741"/>
              <a:ext cx="0" cy="1075690"/>
            </a:xfrm>
            <a:custGeom>
              <a:avLst/>
              <a:gdLst/>
              <a:ahLst/>
              <a:cxnLst/>
              <a:rect l="l" t="t" r="r" b="b"/>
              <a:pathLst>
                <a:path h="1075689">
                  <a:moveTo>
                    <a:pt x="0" y="0"/>
                  </a:moveTo>
                  <a:lnTo>
                    <a:pt x="0" y="1075690"/>
                  </a:lnTo>
                </a:path>
              </a:pathLst>
            </a:custGeom>
            <a:ln w="38100">
              <a:solidFill>
                <a:srgbClr val="7E5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831211" y="3710558"/>
              <a:ext cx="1111885" cy="4445"/>
            </a:xfrm>
            <a:custGeom>
              <a:avLst/>
              <a:gdLst/>
              <a:ahLst/>
              <a:cxnLst/>
              <a:rect l="l" t="t" r="r" b="b"/>
              <a:pathLst>
                <a:path w="1111885" h="4445">
                  <a:moveTo>
                    <a:pt x="0" y="0"/>
                  </a:moveTo>
                  <a:lnTo>
                    <a:pt x="1111377" y="4445"/>
                  </a:lnTo>
                </a:path>
              </a:pathLst>
            </a:custGeom>
            <a:ln w="38099">
              <a:solidFill>
                <a:srgbClr val="7E5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930014" y="2616834"/>
              <a:ext cx="0" cy="1075690"/>
            </a:xfrm>
            <a:custGeom>
              <a:avLst/>
              <a:gdLst/>
              <a:ahLst/>
              <a:cxnLst/>
              <a:rect l="l" t="t" r="r" b="b"/>
              <a:pathLst>
                <a:path h="1075689">
                  <a:moveTo>
                    <a:pt x="0" y="0"/>
                  </a:moveTo>
                  <a:lnTo>
                    <a:pt x="0" y="1075690"/>
                  </a:lnTo>
                </a:path>
              </a:pathLst>
            </a:custGeom>
            <a:ln w="38100">
              <a:solidFill>
                <a:srgbClr val="7E5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92419" y="2634741"/>
              <a:ext cx="0" cy="1075690"/>
            </a:xfrm>
            <a:custGeom>
              <a:avLst/>
              <a:gdLst/>
              <a:ahLst/>
              <a:cxnLst/>
              <a:rect l="l" t="t" r="r" b="b"/>
              <a:pathLst>
                <a:path h="1075689">
                  <a:moveTo>
                    <a:pt x="0" y="0"/>
                  </a:moveTo>
                  <a:lnTo>
                    <a:pt x="0" y="1075690"/>
                  </a:lnTo>
                </a:path>
              </a:pathLst>
            </a:custGeom>
            <a:ln w="38100">
              <a:solidFill>
                <a:srgbClr val="7E5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914388" y="2634741"/>
              <a:ext cx="0" cy="1075690"/>
            </a:xfrm>
            <a:custGeom>
              <a:avLst/>
              <a:gdLst/>
              <a:ahLst/>
              <a:cxnLst/>
              <a:rect l="l" t="t" r="r" b="b"/>
              <a:pathLst>
                <a:path h="1075689">
                  <a:moveTo>
                    <a:pt x="0" y="0"/>
                  </a:moveTo>
                  <a:lnTo>
                    <a:pt x="0" y="1075690"/>
                  </a:lnTo>
                </a:path>
              </a:pathLst>
            </a:custGeom>
            <a:ln w="38100">
              <a:solidFill>
                <a:srgbClr val="7E5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878318" y="2644520"/>
              <a:ext cx="0" cy="1076325"/>
            </a:xfrm>
            <a:custGeom>
              <a:avLst/>
              <a:gdLst/>
              <a:ahLst/>
              <a:cxnLst/>
              <a:rect l="l" t="t" r="r" b="b"/>
              <a:pathLst>
                <a:path h="1076325">
                  <a:moveTo>
                    <a:pt x="0" y="0"/>
                  </a:moveTo>
                  <a:lnTo>
                    <a:pt x="0" y="1075817"/>
                  </a:lnTo>
                </a:path>
              </a:pathLst>
            </a:custGeom>
            <a:ln w="38100">
              <a:solidFill>
                <a:srgbClr val="7E5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846566" y="2634741"/>
              <a:ext cx="0" cy="1075690"/>
            </a:xfrm>
            <a:custGeom>
              <a:avLst/>
              <a:gdLst/>
              <a:ahLst/>
              <a:cxnLst/>
              <a:rect l="l" t="t" r="r" b="b"/>
              <a:pathLst>
                <a:path h="1075689">
                  <a:moveTo>
                    <a:pt x="0" y="0"/>
                  </a:moveTo>
                  <a:lnTo>
                    <a:pt x="0" y="1075690"/>
                  </a:lnTo>
                </a:path>
              </a:pathLst>
            </a:custGeom>
            <a:ln w="38100">
              <a:solidFill>
                <a:srgbClr val="7E5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805796" y="2643631"/>
              <a:ext cx="0" cy="1076325"/>
            </a:xfrm>
            <a:custGeom>
              <a:avLst/>
              <a:gdLst/>
              <a:ahLst/>
              <a:cxnLst/>
              <a:rect l="l" t="t" r="r" b="b"/>
              <a:pathLst>
                <a:path h="1076325">
                  <a:moveTo>
                    <a:pt x="0" y="0"/>
                  </a:moveTo>
                  <a:lnTo>
                    <a:pt x="0" y="1075817"/>
                  </a:lnTo>
                </a:path>
              </a:pathLst>
            </a:custGeom>
            <a:ln w="38100">
              <a:solidFill>
                <a:srgbClr val="7E5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940177" y="2510536"/>
              <a:ext cx="0" cy="4347845"/>
            </a:xfrm>
            <a:custGeom>
              <a:avLst/>
              <a:gdLst/>
              <a:ahLst/>
              <a:cxnLst/>
              <a:rect l="l" t="t" r="r" b="b"/>
              <a:pathLst>
                <a:path h="4347845">
                  <a:moveTo>
                    <a:pt x="0" y="0"/>
                  </a:moveTo>
                  <a:lnTo>
                    <a:pt x="0" y="4347464"/>
                  </a:lnTo>
                </a:path>
              </a:pathLst>
            </a:custGeom>
            <a:ln w="28575">
              <a:solidFill>
                <a:srgbClr val="F4B083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970659" y="2518918"/>
              <a:ext cx="0" cy="4339590"/>
            </a:xfrm>
            <a:custGeom>
              <a:avLst/>
              <a:gdLst/>
              <a:ahLst/>
              <a:cxnLst/>
              <a:rect l="l" t="t" r="r" b="b"/>
              <a:pathLst>
                <a:path h="4339590">
                  <a:moveTo>
                    <a:pt x="0" y="0"/>
                  </a:moveTo>
                  <a:lnTo>
                    <a:pt x="0" y="4339082"/>
                  </a:lnTo>
                </a:path>
              </a:pathLst>
            </a:custGeom>
            <a:ln w="28575">
              <a:solidFill>
                <a:srgbClr val="F4B083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904613" y="2518918"/>
              <a:ext cx="0" cy="4339590"/>
            </a:xfrm>
            <a:custGeom>
              <a:avLst/>
              <a:gdLst/>
              <a:ahLst/>
              <a:cxnLst/>
              <a:rect l="l" t="t" r="r" b="b"/>
              <a:pathLst>
                <a:path h="4339590">
                  <a:moveTo>
                    <a:pt x="0" y="0"/>
                  </a:moveTo>
                  <a:lnTo>
                    <a:pt x="0" y="4339082"/>
                  </a:lnTo>
                </a:path>
              </a:pathLst>
            </a:custGeom>
            <a:ln w="28575">
              <a:solidFill>
                <a:srgbClr val="F4B083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934968" y="2527173"/>
              <a:ext cx="0" cy="4331335"/>
            </a:xfrm>
            <a:custGeom>
              <a:avLst/>
              <a:gdLst/>
              <a:ahLst/>
              <a:cxnLst/>
              <a:rect l="l" t="t" r="r" b="b"/>
              <a:pathLst>
                <a:path h="4331334">
                  <a:moveTo>
                    <a:pt x="0" y="0"/>
                  </a:moveTo>
                  <a:lnTo>
                    <a:pt x="0" y="4330827"/>
                  </a:lnTo>
                </a:path>
              </a:pathLst>
            </a:custGeom>
            <a:ln w="28575">
              <a:solidFill>
                <a:srgbClr val="F4B083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909942" y="2424049"/>
              <a:ext cx="0" cy="4434205"/>
            </a:xfrm>
            <a:custGeom>
              <a:avLst/>
              <a:gdLst/>
              <a:ahLst/>
              <a:cxnLst/>
              <a:rect l="l" t="t" r="r" b="b"/>
              <a:pathLst>
                <a:path h="4434205">
                  <a:moveTo>
                    <a:pt x="0" y="0"/>
                  </a:moveTo>
                  <a:lnTo>
                    <a:pt x="0" y="4433951"/>
                  </a:lnTo>
                </a:path>
              </a:pathLst>
            </a:custGeom>
            <a:ln w="28575">
              <a:solidFill>
                <a:srgbClr val="F4B083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903848" y="2432430"/>
              <a:ext cx="0" cy="4425950"/>
            </a:xfrm>
            <a:custGeom>
              <a:avLst/>
              <a:gdLst/>
              <a:ahLst/>
              <a:cxnLst/>
              <a:rect l="l" t="t" r="r" b="b"/>
              <a:pathLst>
                <a:path h="4425950">
                  <a:moveTo>
                    <a:pt x="0" y="0"/>
                  </a:moveTo>
                  <a:lnTo>
                    <a:pt x="0" y="4425569"/>
                  </a:lnTo>
                </a:path>
              </a:pathLst>
            </a:custGeom>
            <a:ln w="28575">
              <a:solidFill>
                <a:srgbClr val="F4B083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837803" y="2432430"/>
              <a:ext cx="0" cy="4425950"/>
            </a:xfrm>
            <a:custGeom>
              <a:avLst/>
              <a:gdLst/>
              <a:ahLst/>
              <a:cxnLst/>
              <a:rect l="l" t="t" r="r" b="b"/>
              <a:pathLst>
                <a:path h="4425950">
                  <a:moveTo>
                    <a:pt x="0" y="0"/>
                  </a:moveTo>
                  <a:lnTo>
                    <a:pt x="0" y="4425569"/>
                  </a:lnTo>
                </a:path>
              </a:pathLst>
            </a:custGeom>
            <a:ln w="28575">
              <a:solidFill>
                <a:srgbClr val="F4B083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868158" y="2440686"/>
              <a:ext cx="0" cy="4417695"/>
            </a:xfrm>
            <a:custGeom>
              <a:avLst/>
              <a:gdLst/>
              <a:ahLst/>
              <a:cxnLst/>
              <a:rect l="l" t="t" r="r" b="b"/>
              <a:pathLst>
                <a:path h="4417695">
                  <a:moveTo>
                    <a:pt x="0" y="0"/>
                  </a:moveTo>
                  <a:lnTo>
                    <a:pt x="0" y="4417314"/>
                  </a:lnTo>
                </a:path>
              </a:pathLst>
            </a:custGeom>
            <a:ln w="28575">
              <a:solidFill>
                <a:srgbClr val="F4B083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0774807" y="2484247"/>
              <a:ext cx="0" cy="4373880"/>
            </a:xfrm>
            <a:custGeom>
              <a:avLst/>
              <a:gdLst/>
              <a:ahLst/>
              <a:cxnLst/>
              <a:rect l="l" t="t" r="r" b="b"/>
              <a:pathLst>
                <a:path h="4373880">
                  <a:moveTo>
                    <a:pt x="0" y="0"/>
                  </a:moveTo>
                  <a:lnTo>
                    <a:pt x="0" y="4373752"/>
                  </a:lnTo>
                </a:path>
              </a:pathLst>
            </a:custGeom>
            <a:ln w="28575">
              <a:solidFill>
                <a:srgbClr val="F4B083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805161" y="2492629"/>
              <a:ext cx="0" cy="4365625"/>
            </a:xfrm>
            <a:custGeom>
              <a:avLst/>
              <a:gdLst/>
              <a:ahLst/>
              <a:cxnLst/>
              <a:rect l="l" t="t" r="r" b="b"/>
              <a:pathLst>
                <a:path h="4365625">
                  <a:moveTo>
                    <a:pt x="0" y="0"/>
                  </a:moveTo>
                  <a:lnTo>
                    <a:pt x="0" y="4365371"/>
                  </a:lnTo>
                </a:path>
              </a:pathLst>
            </a:custGeom>
            <a:ln w="28575">
              <a:solidFill>
                <a:srgbClr val="F4B083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77468" y="4527295"/>
              <a:ext cx="10334625" cy="1443355"/>
            </a:xfrm>
            <a:custGeom>
              <a:avLst/>
              <a:gdLst/>
              <a:ahLst/>
              <a:cxnLst/>
              <a:rect l="l" t="t" r="r" b="b"/>
              <a:pathLst>
                <a:path w="10334625" h="1443354">
                  <a:moveTo>
                    <a:pt x="10334295" y="1289913"/>
                  </a:moveTo>
                  <a:lnTo>
                    <a:pt x="10305720" y="1275626"/>
                  </a:lnTo>
                  <a:lnTo>
                    <a:pt x="10248570" y="1247051"/>
                  </a:lnTo>
                  <a:lnTo>
                    <a:pt x="10248570" y="1275626"/>
                  </a:lnTo>
                  <a:lnTo>
                    <a:pt x="57150" y="1275626"/>
                  </a:lnTo>
                  <a:lnTo>
                    <a:pt x="57150" y="85725"/>
                  </a:lnTo>
                  <a:lnTo>
                    <a:pt x="85725" y="85725"/>
                  </a:lnTo>
                  <a:lnTo>
                    <a:pt x="78549" y="71374"/>
                  </a:lnTo>
                  <a:lnTo>
                    <a:pt x="42862" y="0"/>
                  </a:lnTo>
                  <a:lnTo>
                    <a:pt x="0" y="85725"/>
                  </a:lnTo>
                  <a:lnTo>
                    <a:pt x="28575" y="85725"/>
                  </a:lnTo>
                  <a:lnTo>
                    <a:pt x="28575" y="1443304"/>
                  </a:lnTo>
                  <a:lnTo>
                    <a:pt x="57150" y="1443304"/>
                  </a:lnTo>
                  <a:lnTo>
                    <a:pt x="57150" y="1304201"/>
                  </a:lnTo>
                  <a:lnTo>
                    <a:pt x="10248570" y="1304201"/>
                  </a:lnTo>
                  <a:lnTo>
                    <a:pt x="10248570" y="1332776"/>
                  </a:lnTo>
                  <a:lnTo>
                    <a:pt x="10305720" y="1304201"/>
                  </a:lnTo>
                  <a:lnTo>
                    <a:pt x="10334295" y="1289913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6" name="object 3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85010"/>
            <a:ext cx="12192000" cy="487299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5029200" y="4527295"/>
            <a:ext cx="1565529" cy="3495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5337683" y="4535042"/>
                <a:ext cx="8107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/>
                            </a:rPr>
                            <m:t>𝐛</m:t>
                          </m:r>
                        </m:e>
                        <m:sub>
                          <m:r>
                            <a:rPr lang="en-US" b="1" i="0" smtClean="0">
                              <a:latin typeface="Cambria Math"/>
                            </a:rPr>
                            <m:t>𝐤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7683" y="4535042"/>
                <a:ext cx="810792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3" name="object 37"/>
          <p:cNvPicPr/>
          <p:nvPr/>
        </p:nvPicPr>
        <p:blipFill rotWithShape="1">
          <a:blip r:embed="rId4" cstate="print"/>
          <a:srcRect t="68429"/>
          <a:stretch/>
        </p:blipFill>
        <p:spPr>
          <a:xfrm>
            <a:off x="0" y="4845240"/>
            <a:ext cx="12192000" cy="2165160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0663" y="0"/>
            <a:ext cx="3014663" cy="1357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883332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DPSK</a:t>
            </a:r>
            <a:r>
              <a:rPr spc="-25" dirty="0"/>
              <a:t> </a:t>
            </a:r>
            <a:r>
              <a:rPr spc="-10" dirty="0"/>
              <a:t>Receiver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4644" y="799846"/>
            <a:ext cx="525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Calibri"/>
                <a:cs typeface="Calibri"/>
              </a:rPr>
              <a:t>DPSK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1116" y="1074165"/>
            <a:ext cx="591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Signal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6839" y="1104861"/>
            <a:ext cx="971041" cy="7008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886839" y="1104861"/>
            <a:ext cx="971550" cy="701040"/>
          </a:xfrm>
          <a:prstGeom prst="rect">
            <a:avLst/>
          </a:prstGeom>
          <a:ln w="6350">
            <a:solidFill>
              <a:srgbClr val="A4A4A4"/>
            </a:solidFill>
          </a:ln>
        </p:spPr>
        <p:txBody>
          <a:bodyPr vert="horz" wrap="square" lIns="0" tIns="147955" rIns="0" bIns="0" rtlCol="0">
            <a:spAutoFit/>
          </a:bodyPr>
          <a:lstStyle/>
          <a:p>
            <a:pPr marL="248920">
              <a:lnSpc>
                <a:spcPct val="100000"/>
              </a:lnSpc>
              <a:spcBef>
                <a:spcPts val="1165"/>
              </a:spcBef>
            </a:pPr>
            <a:r>
              <a:rPr sz="2400" b="1" spc="-25" dirty="0">
                <a:latin typeface="Calibri"/>
                <a:cs typeface="Calibri"/>
              </a:rPr>
              <a:t>BPF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81316" y="1157986"/>
            <a:ext cx="4594860" cy="1802764"/>
            <a:chOff x="681316" y="1157986"/>
            <a:chExt cx="4594860" cy="1802764"/>
          </a:xfrm>
        </p:grpSpPr>
        <p:sp>
          <p:nvSpPr>
            <p:cNvPr id="8" name="object 8"/>
            <p:cNvSpPr/>
            <p:nvPr/>
          </p:nvSpPr>
          <p:spPr>
            <a:xfrm>
              <a:off x="681316" y="1396491"/>
              <a:ext cx="3997325" cy="116205"/>
            </a:xfrm>
            <a:custGeom>
              <a:avLst/>
              <a:gdLst/>
              <a:ahLst/>
              <a:cxnLst/>
              <a:rect l="l" t="t" r="r" b="b"/>
              <a:pathLst>
                <a:path w="3997325" h="116205">
                  <a:moveTo>
                    <a:pt x="1205522" y="58801"/>
                  </a:moveTo>
                  <a:lnTo>
                    <a:pt x="1167422" y="39751"/>
                  </a:lnTo>
                  <a:lnTo>
                    <a:pt x="1091222" y="1651"/>
                  </a:lnTo>
                  <a:lnTo>
                    <a:pt x="1091222" y="39751"/>
                  </a:lnTo>
                  <a:lnTo>
                    <a:pt x="0" y="39751"/>
                  </a:lnTo>
                  <a:lnTo>
                    <a:pt x="0" y="77851"/>
                  </a:lnTo>
                  <a:lnTo>
                    <a:pt x="1091222" y="77851"/>
                  </a:lnTo>
                  <a:lnTo>
                    <a:pt x="1091222" y="115951"/>
                  </a:lnTo>
                  <a:lnTo>
                    <a:pt x="1167422" y="77851"/>
                  </a:lnTo>
                  <a:lnTo>
                    <a:pt x="1205522" y="58801"/>
                  </a:lnTo>
                  <a:close/>
                </a:path>
                <a:path w="3997325" h="116205">
                  <a:moveTo>
                    <a:pt x="3996855" y="57023"/>
                  </a:moveTo>
                  <a:lnTo>
                    <a:pt x="3958907" y="38125"/>
                  </a:lnTo>
                  <a:lnTo>
                    <a:pt x="3882428" y="0"/>
                  </a:lnTo>
                  <a:lnTo>
                    <a:pt x="3882466" y="38125"/>
                  </a:lnTo>
                  <a:lnTo>
                    <a:pt x="2176564" y="39751"/>
                  </a:lnTo>
                  <a:lnTo>
                    <a:pt x="2176564" y="77851"/>
                  </a:lnTo>
                  <a:lnTo>
                    <a:pt x="3882504" y="76225"/>
                  </a:lnTo>
                  <a:lnTo>
                    <a:pt x="3882555" y="114300"/>
                  </a:lnTo>
                  <a:lnTo>
                    <a:pt x="3958539" y="76225"/>
                  </a:lnTo>
                  <a:lnTo>
                    <a:pt x="3996855" y="57023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78172" y="1161161"/>
              <a:ext cx="594360" cy="58470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678172" y="1161161"/>
              <a:ext cx="594360" cy="584835"/>
            </a:xfrm>
            <a:custGeom>
              <a:avLst/>
              <a:gdLst/>
              <a:ahLst/>
              <a:cxnLst/>
              <a:rect l="l" t="t" r="r" b="b"/>
              <a:pathLst>
                <a:path w="594360" h="584835">
                  <a:moveTo>
                    <a:pt x="0" y="292353"/>
                  </a:moveTo>
                  <a:lnTo>
                    <a:pt x="3887" y="244943"/>
                  </a:lnTo>
                  <a:lnTo>
                    <a:pt x="15142" y="199965"/>
                  </a:lnTo>
                  <a:lnTo>
                    <a:pt x="33155" y="158020"/>
                  </a:lnTo>
                  <a:lnTo>
                    <a:pt x="57314" y="119713"/>
                  </a:lnTo>
                  <a:lnTo>
                    <a:pt x="87010" y="85645"/>
                  </a:lnTo>
                  <a:lnTo>
                    <a:pt x="121633" y="56420"/>
                  </a:lnTo>
                  <a:lnTo>
                    <a:pt x="160572" y="32640"/>
                  </a:lnTo>
                  <a:lnTo>
                    <a:pt x="203216" y="14908"/>
                  </a:lnTo>
                  <a:lnTo>
                    <a:pt x="248955" y="3827"/>
                  </a:lnTo>
                  <a:lnTo>
                    <a:pt x="297180" y="0"/>
                  </a:lnTo>
                  <a:lnTo>
                    <a:pt x="345373" y="3827"/>
                  </a:lnTo>
                  <a:lnTo>
                    <a:pt x="391094" y="14908"/>
                  </a:lnTo>
                  <a:lnTo>
                    <a:pt x="433731" y="32640"/>
                  </a:lnTo>
                  <a:lnTo>
                    <a:pt x="472671" y="56420"/>
                  </a:lnTo>
                  <a:lnTo>
                    <a:pt x="507301" y="85645"/>
                  </a:lnTo>
                  <a:lnTo>
                    <a:pt x="537008" y="119713"/>
                  </a:lnTo>
                  <a:lnTo>
                    <a:pt x="561180" y="158020"/>
                  </a:lnTo>
                  <a:lnTo>
                    <a:pt x="579205" y="199965"/>
                  </a:lnTo>
                  <a:lnTo>
                    <a:pt x="590469" y="244943"/>
                  </a:lnTo>
                  <a:lnTo>
                    <a:pt x="594360" y="292353"/>
                  </a:lnTo>
                  <a:lnTo>
                    <a:pt x="590469" y="339795"/>
                  </a:lnTo>
                  <a:lnTo>
                    <a:pt x="579205" y="384791"/>
                  </a:lnTo>
                  <a:lnTo>
                    <a:pt x="561180" y="426743"/>
                  </a:lnTo>
                  <a:lnTo>
                    <a:pt x="537008" y="465049"/>
                  </a:lnTo>
                  <a:lnTo>
                    <a:pt x="507301" y="499109"/>
                  </a:lnTo>
                  <a:lnTo>
                    <a:pt x="472671" y="528324"/>
                  </a:lnTo>
                  <a:lnTo>
                    <a:pt x="433731" y="552091"/>
                  </a:lnTo>
                  <a:lnTo>
                    <a:pt x="391094" y="569811"/>
                  </a:lnTo>
                  <a:lnTo>
                    <a:pt x="345373" y="580883"/>
                  </a:lnTo>
                  <a:lnTo>
                    <a:pt x="297180" y="584707"/>
                  </a:lnTo>
                  <a:lnTo>
                    <a:pt x="248955" y="580883"/>
                  </a:lnTo>
                  <a:lnTo>
                    <a:pt x="203216" y="569811"/>
                  </a:lnTo>
                  <a:lnTo>
                    <a:pt x="160572" y="552091"/>
                  </a:lnTo>
                  <a:lnTo>
                    <a:pt x="121633" y="528324"/>
                  </a:lnTo>
                  <a:lnTo>
                    <a:pt x="87010" y="499109"/>
                  </a:lnTo>
                  <a:lnTo>
                    <a:pt x="57314" y="465049"/>
                  </a:lnTo>
                  <a:lnTo>
                    <a:pt x="33155" y="426743"/>
                  </a:lnTo>
                  <a:lnTo>
                    <a:pt x="15142" y="384791"/>
                  </a:lnTo>
                  <a:lnTo>
                    <a:pt x="3887" y="339795"/>
                  </a:lnTo>
                  <a:lnTo>
                    <a:pt x="0" y="292353"/>
                  </a:lnTo>
                  <a:close/>
                </a:path>
              </a:pathLst>
            </a:custGeom>
            <a:ln w="6349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765166" y="1246759"/>
              <a:ext cx="420370" cy="414020"/>
            </a:xfrm>
            <a:custGeom>
              <a:avLst/>
              <a:gdLst/>
              <a:ahLst/>
              <a:cxnLst/>
              <a:rect l="l" t="t" r="r" b="b"/>
              <a:pathLst>
                <a:path w="420370" h="414019">
                  <a:moveTo>
                    <a:pt x="0" y="0"/>
                  </a:moveTo>
                  <a:lnTo>
                    <a:pt x="420243" y="413512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765166" y="1246759"/>
              <a:ext cx="420370" cy="414020"/>
            </a:xfrm>
            <a:custGeom>
              <a:avLst/>
              <a:gdLst/>
              <a:ahLst/>
              <a:cxnLst/>
              <a:rect l="l" t="t" r="r" b="b"/>
              <a:pathLst>
                <a:path w="420370" h="414019">
                  <a:moveTo>
                    <a:pt x="420242" y="0"/>
                  </a:moveTo>
                  <a:lnTo>
                    <a:pt x="0" y="413512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63314" y="2098281"/>
              <a:ext cx="1016215" cy="86221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663315" y="2098281"/>
            <a:ext cx="1016635" cy="862330"/>
          </a:xfrm>
          <a:prstGeom prst="rect">
            <a:avLst/>
          </a:prstGeom>
          <a:ln w="6350">
            <a:solidFill>
              <a:srgbClr val="A4A4A4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351155" marR="144145" indent="-198120">
              <a:lnSpc>
                <a:spcPct val="100000"/>
              </a:lnSpc>
              <a:spcBef>
                <a:spcPts val="360"/>
              </a:spcBef>
            </a:pPr>
            <a:r>
              <a:rPr sz="2400" b="1" spc="-20" dirty="0">
                <a:latin typeface="Calibri"/>
                <a:cs typeface="Calibri"/>
              </a:rPr>
              <a:t>Delay </a:t>
            </a:r>
            <a:r>
              <a:rPr sz="2400" b="1" spc="-25" dirty="0">
                <a:latin typeface="Calibri"/>
                <a:cs typeface="Calibri"/>
              </a:rPr>
              <a:t>Tb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313176" y="1046924"/>
            <a:ext cx="3793490" cy="1539875"/>
            <a:chOff x="3313176" y="1046924"/>
            <a:chExt cx="3793490" cy="1539875"/>
          </a:xfrm>
        </p:grpSpPr>
        <p:sp>
          <p:nvSpPr>
            <p:cNvPr id="16" name="object 16"/>
            <p:cNvSpPr/>
            <p:nvPr/>
          </p:nvSpPr>
          <p:spPr>
            <a:xfrm>
              <a:off x="3313176" y="1453514"/>
              <a:ext cx="1719580" cy="1133475"/>
            </a:xfrm>
            <a:custGeom>
              <a:avLst/>
              <a:gdLst/>
              <a:ahLst/>
              <a:cxnLst/>
              <a:rect l="l" t="t" r="r" b="b"/>
              <a:pathLst>
                <a:path w="1719579" h="1133475">
                  <a:moveTo>
                    <a:pt x="350139" y="1075817"/>
                  </a:moveTo>
                  <a:lnTo>
                    <a:pt x="312039" y="1056767"/>
                  </a:lnTo>
                  <a:lnTo>
                    <a:pt x="235839" y="1018667"/>
                  </a:lnTo>
                  <a:lnTo>
                    <a:pt x="235839" y="1056767"/>
                  </a:lnTo>
                  <a:lnTo>
                    <a:pt x="38100" y="1056767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094867"/>
                  </a:lnTo>
                  <a:lnTo>
                    <a:pt x="235839" y="1094867"/>
                  </a:lnTo>
                  <a:lnTo>
                    <a:pt x="235839" y="1132967"/>
                  </a:lnTo>
                  <a:lnTo>
                    <a:pt x="312039" y="1094867"/>
                  </a:lnTo>
                  <a:lnTo>
                    <a:pt x="350139" y="1075817"/>
                  </a:lnTo>
                  <a:close/>
                </a:path>
                <a:path w="1719579" h="1133475">
                  <a:moveTo>
                    <a:pt x="1719326" y="406654"/>
                  </a:moveTo>
                  <a:lnTo>
                    <a:pt x="1709801" y="387604"/>
                  </a:lnTo>
                  <a:lnTo>
                    <a:pt x="1662176" y="292354"/>
                  </a:lnTo>
                  <a:lnTo>
                    <a:pt x="1605026" y="406654"/>
                  </a:lnTo>
                  <a:lnTo>
                    <a:pt x="1643126" y="406654"/>
                  </a:lnTo>
                  <a:lnTo>
                    <a:pt x="1643126" y="1056767"/>
                  </a:lnTo>
                  <a:lnTo>
                    <a:pt x="1366393" y="1056767"/>
                  </a:lnTo>
                  <a:lnTo>
                    <a:pt x="1366393" y="1094867"/>
                  </a:lnTo>
                  <a:lnTo>
                    <a:pt x="1681226" y="1094867"/>
                  </a:lnTo>
                  <a:lnTo>
                    <a:pt x="1681226" y="1075817"/>
                  </a:lnTo>
                  <a:lnTo>
                    <a:pt x="1681226" y="1056767"/>
                  </a:lnTo>
                  <a:lnTo>
                    <a:pt x="1681226" y="406654"/>
                  </a:lnTo>
                  <a:lnTo>
                    <a:pt x="1719326" y="406654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99150" y="1046924"/>
              <a:ext cx="1207007" cy="814768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5899150" y="1046924"/>
            <a:ext cx="1207135" cy="815340"/>
          </a:xfrm>
          <a:prstGeom prst="rect">
            <a:avLst/>
          </a:prstGeom>
          <a:ln w="6350">
            <a:solidFill>
              <a:srgbClr val="A4A4A4"/>
            </a:solidFill>
          </a:ln>
        </p:spPr>
        <p:txBody>
          <a:bodyPr vert="horz" wrap="square" lIns="0" tIns="205104" rIns="0" bIns="0" rtlCol="0">
            <a:spAutoFit/>
          </a:bodyPr>
          <a:lstStyle/>
          <a:p>
            <a:pPr marL="387985">
              <a:lnSpc>
                <a:spcPct val="100000"/>
              </a:lnSpc>
              <a:spcBef>
                <a:spcPts val="1614"/>
              </a:spcBef>
            </a:pPr>
            <a:r>
              <a:rPr sz="2400" b="1" spc="-25" dirty="0">
                <a:latin typeface="Calibri"/>
                <a:cs typeface="Calibri"/>
              </a:rPr>
              <a:t>LPF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106157" y="1397253"/>
            <a:ext cx="1414145" cy="114300"/>
          </a:xfrm>
          <a:custGeom>
            <a:avLst/>
            <a:gdLst/>
            <a:ahLst/>
            <a:cxnLst/>
            <a:rect l="l" t="t" r="r" b="b"/>
            <a:pathLst>
              <a:path w="1414145" h="114300">
                <a:moveTo>
                  <a:pt x="1299464" y="0"/>
                </a:moveTo>
                <a:lnTo>
                  <a:pt x="1299464" y="114300"/>
                </a:lnTo>
                <a:lnTo>
                  <a:pt x="1375664" y="76200"/>
                </a:lnTo>
                <a:lnTo>
                  <a:pt x="1318514" y="76200"/>
                </a:lnTo>
                <a:lnTo>
                  <a:pt x="1318514" y="38100"/>
                </a:lnTo>
                <a:lnTo>
                  <a:pt x="1375664" y="38100"/>
                </a:lnTo>
                <a:lnTo>
                  <a:pt x="1299464" y="0"/>
                </a:lnTo>
                <a:close/>
              </a:path>
              <a:path w="1414145" h="114300">
                <a:moveTo>
                  <a:pt x="1299464" y="38099"/>
                </a:moveTo>
                <a:lnTo>
                  <a:pt x="0" y="38100"/>
                </a:lnTo>
                <a:lnTo>
                  <a:pt x="0" y="76200"/>
                </a:lnTo>
                <a:lnTo>
                  <a:pt x="1299464" y="76200"/>
                </a:lnTo>
                <a:lnTo>
                  <a:pt x="1299464" y="38099"/>
                </a:lnTo>
                <a:close/>
              </a:path>
              <a:path w="1414145" h="114300">
                <a:moveTo>
                  <a:pt x="1375664" y="38100"/>
                </a:moveTo>
                <a:lnTo>
                  <a:pt x="1318514" y="38100"/>
                </a:lnTo>
                <a:lnTo>
                  <a:pt x="1318514" y="76200"/>
                </a:lnTo>
                <a:lnTo>
                  <a:pt x="1375664" y="76200"/>
                </a:lnTo>
                <a:lnTo>
                  <a:pt x="1413764" y="57150"/>
                </a:lnTo>
                <a:lnTo>
                  <a:pt x="1375664" y="3810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305293" y="722198"/>
            <a:ext cx="8572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Message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latin typeface="Calibri"/>
                <a:cs typeface="Calibri"/>
              </a:rPr>
              <a:t>Signal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519921" y="1046924"/>
            <a:ext cx="1758314" cy="814768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8519921" y="1046924"/>
            <a:ext cx="1758314" cy="815340"/>
          </a:xfrm>
          <a:prstGeom prst="rect">
            <a:avLst/>
          </a:prstGeom>
          <a:ln w="6350">
            <a:solidFill>
              <a:srgbClr val="A4A4A4"/>
            </a:solidFill>
          </a:ln>
        </p:spPr>
        <p:txBody>
          <a:bodyPr vert="horz" wrap="square" lIns="0" tIns="205104" rIns="0" bIns="0" rtlCol="0">
            <a:spAutoFit/>
          </a:bodyPr>
          <a:lstStyle/>
          <a:p>
            <a:pPr marL="123189">
              <a:lnSpc>
                <a:spcPct val="100000"/>
              </a:lnSpc>
              <a:spcBef>
                <a:spcPts val="1614"/>
              </a:spcBef>
            </a:pPr>
            <a:r>
              <a:rPr sz="2400" b="1" spc="-10" dirty="0">
                <a:latin typeface="Calibri"/>
                <a:cs typeface="Calibri"/>
              </a:rPr>
              <a:t>Comparator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0278236" y="1396491"/>
            <a:ext cx="1008380" cy="114300"/>
          </a:xfrm>
          <a:custGeom>
            <a:avLst/>
            <a:gdLst/>
            <a:ahLst/>
            <a:cxnLst/>
            <a:rect l="l" t="t" r="r" b="b"/>
            <a:pathLst>
              <a:path w="1008379" h="114300">
                <a:moveTo>
                  <a:pt x="893953" y="0"/>
                </a:moveTo>
                <a:lnTo>
                  <a:pt x="893995" y="38115"/>
                </a:lnTo>
                <a:lnTo>
                  <a:pt x="894080" y="114300"/>
                </a:lnTo>
                <a:lnTo>
                  <a:pt x="970079" y="76215"/>
                </a:lnTo>
                <a:lnTo>
                  <a:pt x="913130" y="76215"/>
                </a:lnTo>
                <a:lnTo>
                  <a:pt x="913005" y="38862"/>
                </a:lnTo>
                <a:lnTo>
                  <a:pt x="913003" y="38115"/>
                </a:lnTo>
                <a:lnTo>
                  <a:pt x="970439" y="38115"/>
                </a:lnTo>
                <a:lnTo>
                  <a:pt x="893953" y="0"/>
                </a:lnTo>
                <a:close/>
              </a:path>
              <a:path w="1008379" h="114300">
                <a:moveTo>
                  <a:pt x="893995" y="38115"/>
                </a:moveTo>
                <a:lnTo>
                  <a:pt x="0" y="38862"/>
                </a:lnTo>
                <a:lnTo>
                  <a:pt x="0" y="76962"/>
                </a:lnTo>
                <a:lnTo>
                  <a:pt x="894037" y="76215"/>
                </a:lnTo>
                <a:lnTo>
                  <a:pt x="893995" y="38115"/>
                </a:lnTo>
                <a:close/>
              </a:path>
              <a:path w="1008379" h="114300">
                <a:moveTo>
                  <a:pt x="970439" y="38115"/>
                </a:moveTo>
                <a:lnTo>
                  <a:pt x="913003" y="38115"/>
                </a:lnTo>
                <a:lnTo>
                  <a:pt x="913005" y="38862"/>
                </a:lnTo>
                <a:lnTo>
                  <a:pt x="913130" y="76215"/>
                </a:lnTo>
                <a:lnTo>
                  <a:pt x="970079" y="76215"/>
                </a:lnTo>
                <a:lnTo>
                  <a:pt x="1008380" y="57023"/>
                </a:lnTo>
                <a:lnTo>
                  <a:pt x="970439" y="38115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0532744" y="741045"/>
            <a:ext cx="6381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" marR="5080" indent="-8255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Digital </a:t>
            </a:r>
            <a:r>
              <a:rPr sz="1800" b="1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6" name="object 26"/>
            <p:cNvSpPr/>
            <p:nvPr/>
          </p:nvSpPr>
          <p:spPr>
            <a:xfrm>
              <a:off x="5272404" y="1397000"/>
              <a:ext cx="626745" cy="114300"/>
            </a:xfrm>
            <a:custGeom>
              <a:avLst/>
              <a:gdLst/>
              <a:ahLst/>
              <a:cxnLst/>
              <a:rect l="l" t="t" r="r" b="b"/>
              <a:pathLst>
                <a:path w="626745" h="114300">
                  <a:moveTo>
                    <a:pt x="512571" y="0"/>
                  </a:moveTo>
                  <a:lnTo>
                    <a:pt x="512444" y="114299"/>
                  </a:lnTo>
                  <a:lnTo>
                    <a:pt x="588730" y="76326"/>
                  </a:lnTo>
                  <a:lnTo>
                    <a:pt x="531494" y="76326"/>
                  </a:lnTo>
                  <a:lnTo>
                    <a:pt x="531494" y="38226"/>
                  </a:lnTo>
                  <a:lnTo>
                    <a:pt x="588603" y="38226"/>
                  </a:lnTo>
                  <a:lnTo>
                    <a:pt x="512571" y="0"/>
                  </a:lnTo>
                  <a:close/>
                </a:path>
                <a:path w="626745" h="114300">
                  <a:moveTo>
                    <a:pt x="126" y="37464"/>
                  </a:moveTo>
                  <a:lnTo>
                    <a:pt x="0" y="75564"/>
                  </a:lnTo>
                  <a:lnTo>
                    <a:pt x="531495" y="76326"/>
                  </a:lnTo>
                  <a:lnTo>
                    <a:pt x="512487" y="76326"/>
                  </a:lnTo>
                  <a:lnTo>
                    <a:pt x="512529" y="38226"/>
                  </a:lnTo>
                  <a:lnTo>
                    <a:pt x="531495" y="38226"/>
                  </a:lnTo>
                  <a:lnTo>
                    <a:pt x="126" y="37464"/>
                  </a:lnTo>
                  <a:close/>
                </a:path>
                <a:path w="626745" h="114300">
                  <a:moveTo>
                    <a:pt x="588603" y="38226"/>
                  </a:moveTo>
                  <a:lnTo>
                    <a:pt x="531494" y="38226"/>
                  </a:lnTo>
                  <a:lnTo>
                    <a:pt x="531494" y="76326"/>
                  </a:lnTo>
                  <a:lnTo>
                    <a:pt x="588730" y="76326"/>
                  </a:lnTo>
                  <a:lnTo>
                    <a:pt x="626744" y="57403"/>
                  </a:lnTo>
                  <a:lnTo>
                    <a:pt x="588603" y="38226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28" name="Rectangle 27"/>
          <p:cNvSpPr/>
          <p:nvPr/>
        </p:nvSpPr>
        <p:spPr>
          <a:xfrm>
            <a:off x="8162543" y="5715000"/>
            <a:ext cx="1514857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8525636" y="5943600"/>
            <a:ext cx="14565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+mn-lt"/>
              </a:rPr>
              <a:t>Logic ‘0’</a:t>
            </a:r>
            <a:endParaRPr lang="en-US" sz="2800" b="1" dirty="0">
              <a:latin typeface="+mn-lt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382000" y="5867400"/>
            <a:ext cx="1524000" cy="5994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1837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81800" y="3810000"/>
            <a:ext cx="1447800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925436" y="4201180"/>
            <a:ext cx="14565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+mn-lt"/>
              </a:rPr>
              <a:t>Logic ‘1’</a:t>
            </a:r>
            <a:endParaRPr lang="en-US" sz="2800" b="1" dirty="0"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781800" y="4124980"/>
            <a:ext cx="1524000" cy="5994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6370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Advantages</a:t>
            </a:r>
            <a:r>
              <a:rPr spc="-10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spc="-20" dirty="0"/>
              <a:t>DPSK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8338" y="600583"/>
            <a:ext cx="10965815" cy="5020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561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7561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No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Need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Coherent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Reference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Carrier</a:t>
            </a:r>
            <a:endParaRPr sz="2400" dirty="0">
              <a:latin typeface="Calibri"/>
              <a:cs typeface="Calibri"/>
            </a:endParaRPr>
          </a:p>
          <a:p>
            <a:pPr marL="475615" indent="-456565">
              <a:lnSpc>
                <a:spcPct val="100000"/>
              </a:lnSpc>
              <a:buFont typeface="Wingdings"/>
              <a:buChar char=""/>
              <a:tabLst>
                <a:tab pos="47561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More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robust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Phase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Noise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compared</a:t>
            </a:r>
            <a:r>
              <a:rPr sz="2400" b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Standard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PSK</a:t>
            </a:r>
            <a:endParaRPr sz="2400" dirty="0">
              <a:latin typeface="Calibri"/>
              <a:cs typeface="Calibri"/>
            </a:endParaRPr>
          </a:p>
          <a:p>
            <a:pPr marL="475615" indent="-456565">
              <a:lnSpc>
                <a:spcPct val="100000"/>
              </a:lnSpc>
              <a:buFont typeface="Wingdings"/>
              <a:buChar char=""/>
              <a:tabLst>
                <a:tab pos="47561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Better</a:t>
            </a:r>
            <a:r>
              <a:rPr sz="2400" b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Synchronisation</a:t>
            </a:r>
            <a:r>
              <a:rPr sz="2400" b="1" spc="-10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Properties</a:t>
            </a:r>
            <a:endParaRPr sz="2400" dirty="0">
              <a:latin typeface="Calibri"/>
              <a:cs typeface="Calibri"/>
            </a:endParaRPr>
          </a:p>
          <a:p>
            <a:pPr marL="19050">
              <a:lnSpc>
                <a:spcPct val="100000"/>
              </a:lnSpc>
              <a:spcBef>
                <a:spcPts val="765"/>
              </a:spcBef>
            </a:pPr>
            <a:r>
              <a:rPr sz="3200" b="1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Disadvantages</a:t>
            </a:r>
            <a:r>
              <a:rPr sz="3200" b="1" u="sng" spc="-8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of</a:t>
            </a:r>
            <a:r>
              <a:rPr sz="3200" b="1" u="sng" spc="-9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2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DPSK</a:t>
            </a:r>
            <a:endParaRPr sz="32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69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 smtClean="0">
                <a:solidFill>
                  <a:srgbClr val="6F2F9F"/>
                </a:solidFill>
                <a:latin typeface="Calibri"/>
                <a:cs typeface="Calibri"/>
              </a:rPr>
              <a:t>Poor</a:t>
            </a:r>
            <a:r>
              <a:rPr sz="2400" b="1" spc="-90" dirty="0" smtClean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Performance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compared</a:t>
            </a:r>
            <a:r>
              <a:rPr sz="2400" b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Standard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PSK</a:t>
            </a:r>
            <a:endParaRPr sz="24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Error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Propagation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{if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one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wrongly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detected,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next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may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also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affected}</a:t>
            </a:r>
            <a:endParaRPr sz="24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More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susceptible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Noise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Interference</a:t>
            </a:r>
            <a:endParaRPr sz="2400" dirty="0">
              <a:latin typeface="Calibri"/>
              <a:cs typeface="Calibri"/>
            </a:endParaRPr>
          </a:p>
          <a:p>
            <a:pPr marL="19050">
              <a:lnSpc>
                <a:spcPct val="100000"/>
              </a:lnSpc>
              <a:spcBef>
                <a:spcPts val="580"/>
              </a:spcBef>
            </a:pP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Applications</a:t>
            </a:r>
            <a:r>
              <a:rPr sz="3200" b="1" u="sng" spc="-10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of</a:t>
            </a:r>
            <a:r>
              <a:rPr sz="3200" b="1" u="sng" spc="-5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2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DPSK</a:t>
            </a:r>
            <a:endParaRPr sz="3200" dirty="0">
              <a:latin typeface="Calibri"/>
              <a:cs typeface="Calibri"/>
            </a:endParaRPr>
          </a:p>
          <a:p>
            <a:pPr marL="475615" indent="-456565">
              <a:lnSpc>
                <a:spcPct val="100000"/>
              </a:lnSpc>
              <a:spcBef>
                <a:spcPts val="810"/>
              </a:spcBef>
              <a:buFont typeface="Wingdings"/>
              <a:buChar char=""/>
              <a:tabLst>
                <a:tab pos="47561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Wireless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LAN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Bluetooth</a:t>
            </a:r>
            <a:endParaRPr sz="2400" dirty="0">
              <a:latin typeface="Calibri"/>
              <a:cs typeface="Calibri"/>
            </a:endParaRPr>
          </a:p>
          <a:p>
            <a:pPr marL="475615" indent="-456565">
              <a:lnSpc>
                <a:spcPct val="100000"/>
              </a:lnSpc>
              <a:buFont typeface="Wingdings"/>
              <a:buChar char=""/>
              <a:tabLst>
                <a:tab pos="47561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Optical</a:t>
            </a:r>
            <a:r>
              <a:rPr sz="2400" b="1" spc="-1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Communication</a:t>
            </a:r>
            <a:endParaRPr sz="2400" dirty="0">
              <a:latin typeface="Calibri"/>
              <a:cs typeface="Calibri"/>
            </a:endParaRPr>
          </a:p>
          <a:p>
            <a:pPr marL="475615" indent="-456565">
              <a:lnSpc>
                <a:spcPct val="100000"/>
              </a:lnSpc>
              <a:buFont typeface="Wingdings"/>
              <a:buChar char=""/>
              <a:tabLst>
                <a:tab pos="47561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Satellite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Space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Communication</a:t>
            </a:r>
            <a:r>
              <a:rPr sz="2400" b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{Here,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Coherent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detection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difficult}</a:t>
            </a:r>
            <a:endParaRPr sz="2400" dirty="0">
              <a:latin typeface="Calibri"/>
              <a:cs typeface="Calibri"/>
            </a:endParaRPr>
          </a:p>
          <a:p>
            <a:pPr marL="475615" indent="-456565">
              <a:lnSpc>
                <a:spcPct val="100000"/>
              </a:lnSpc>
              <a:buFont typeface="Wingdings"/>
              <a:buChar char=""/>
              <a:tabLst>
                <a:tab pos="47561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Short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Range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RF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Systems</a:t>
            </a: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619225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993" y="144907"/>
            <a:ext cx="1163320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u="none" spc="-475" dirty="0">
                <a:solidFill>
                  <a:srgbClr val="006600"/>
                </a:solidFill>
                <a:latin typeface="Arial"/>
                <a:cs typeface="Arial"/>
              </a:rPr>
              <a:t>BPSK</a:t>
            </a:r>
            <a:r>
              <a:rPr sz="4500" u="none" spc="-10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4500" u="none" spc="-185" dirty="0" smtClean="0">
                <a:solidFill>
                  <a:srgbClr val="006600"/>
                </a:solidFill>
                <a:latin typeface="Arial"/>
                <a:cs typeface="Arial"/>
              </a:rPr>
              <a:t>{</a:t>
            </a:r>
            <a:r>
              <a:rPr sz="4500" u="none" spc="-254" dirty="0" err="1" smtClean="0">
                <a:solidFill>
                  <a:srgbClr val="006600"/>
                </a:solidFill>
                <a:latin typeface="Arial"/>
                <a:cs typeface="Arial"/>
              </a:rPr>
              <a:t>Singal</a:t>
            </a:r>
            <a:r>
              <a:rPr sz="4500" u="none" spc="-114" dirty="0" smtClean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4500" u="none" spc="-400" dirty="0">
                <a:solidFill>
                  <a:srgbClr val="006600"/>
                </a:solidFill>
                <a:latin typeface="Arial"/>
                <a:cs typeface="Arial"/>
              </a:rPr>
              <a:t>Space</a:t>
            </a:r>
            <a:r>
              <a:rPr sz="4500" u="none" spc="-10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4500" u="none" spc="-10" dirty="0">
                <a:solidFill>
                  <a:srgbClr val="006600"/>
                </a:solidFill>
                <a:latin typeface="Arial"/>
                <a:cs typeface="Arial"/>
              </a:rPr>
              <a:t>Diagram}</a:t>
            </a:r>
            <a:endParaRPr sz="4500" dirty="0">
              <a:latin typeface="Arial"/>
              <a:cs typeface="Arial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248" y="1219200"/>
            <a:ext cx="10210799" cy="4920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84207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732" y="797261"/>
            <a:ext cx="10398868" cy="4993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30676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0"/>
            <a:ext cx="7848600" cy="3944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984625"/>
            <a:ext cx="8172739" cy="2568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447938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BPSK</a:t>
            </a:r>
            <a:r>
              <a:rPr spc="-25" dirty="0"/>
              <a:t> </a:t>
            </a:r>
            <a:r>
              <a:rPr spc="-10" dirty="0"/>
              <a:t>{Constellation</a:t>
            </a:r>
            <a:r>
              <a:rPr spc="-70" dirty="0"/>
              <a:t> </a:t>
            </a:r>
            <a:r>
              <a:rPr dirty="0"/>
              <a:t>Diagram</a:t>
            </a:r>
            <a:r>
              <a:rPr spc="-65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Signal</a:t>
            </a:r>
            <a:r>
              <a:rPr spc="-45" dirty="0"/>
              <a:t> </a:t>
            </a:r>
            <a:r>
              <a:rPr dirty="0"/>
              <a:t>Space</a:t>
            </a:r>
            <a:r>
              <a:rPr spc="-50" dirty="0"/>
              <a:t> </a:t>
            </a:r>
            <a:r>
              <a:rPr spc="-10" dirty="0"/>
              <a:t>Diagram}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609600"/>
            <a:ext cx="10591800" cy="2846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9" name="object 3"/>
          <p:cNvGrpSpPr/>
          <p:nvPr/>
        </p:nvGrpSpPr>
        <p:grpSpPr>
          <a:xfrm>
            <a:off x="0" y="3616960"/>
            <a:ext cx="12192000" cy="2555240"/>
            <a:chOff x="0" y="1425447"/>
            <a:chExt cx="12192000" cy="2555240"/>
          </a:xfrm>
        </p:grpSpPr>
        <p:sp>
          <p:nvSpPr>
            <p:cNvPr id="10" name="object 4"/>
            <p:cNvSpPr/>
            <p:nvPr/>
          </p:nvSpPr>
          <p:spPr>
            <a:xfrm>
              <a:off x="986116" y="2730880"/>
              <a:ext cx="7996555" cy="114300"/>
            </a:xfrm>
            <a:custGeom>
              <a:avLst/>
              <a:gdLst/>
              <a:ahLst/>
              <a:cxnLst/>
              <a:rect l="l" t="t" r="r" b="b"/>
              <a:pathLst>
                <a:path w="7996555" h="114300">
                  <a:moveTo>
                    <a:pt x="7882166" y="0"/>
                  </a:moveTo>
                  <a:lnTo>
                    <a:pt x="7882166" y="114300"/>
                  </a:lnTo>
                  <a:lnTo>
                    <a:pt x="7958366" y="76200"/>
                  </a:lnTo>
                  <a:lnTo>
                    <a:pt x="7901343" y="76200"/>
                  </a:lnTo>
                  <a:lnTo>
                    <a:pt x="7901343" y="38100"/>
                  </a:lnTo>
                  <a:lnTo>
                    <a:pt x="7958366" y="38100"/>
                  </a:lnTo>
                  <a:lnTo>
                    <a:pt x="7882166" y="0"/>
                  </a:lnTo>
                  <a:close/>
                </a:path>
                <a:path w="7996555" h="114300">
                  <a:moveTo>
                    <a:pt x="7882166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7882166" y="76200"/>
                  </a:lnTo>
                  <a:lnTo>
                    <a:pt x="7882166" y="38100"/>
                  </a:lnTo>
                  <a:close/>
                </a:path>
                <a:path w="7996555" h="114300">
                  <a:moveTo>
                    <a:pt x="7958366" y="38100"/>
                  </a:moveTo>
                  <a:lnTo>
                    <a:pt x="7901343" y="38100"/>
                  </a:lnTo>
                  <a:lnTo>
                    <a:pt x="7901343" y="76200"/>
                  </a:lnTo>
                  <a:lnTo>
                    <a:pt x="7958366" y="76200"/>
                  </a:lnTo>
                  <a:lnTo>
                    <a:pt x="7996466" y="57150"/>
                  </a:lnTo>
                  <a:lnTo>
                    <a:pt x="7958366" y="381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5"/>
            <p:cNvSpPr/>
            <p:nvPr/>
          </p:nvSpPr>
          <p:spPr>
            <a:xfrm>
              <a:off x="4661661" y="1425447"/>
              <a:ext cx="0" cy="2555240"/>
            </a:xfrm>
            <a:custGeom>
              <a:avLst/>
              <a:gdLst/>
              <a:ahLst/>
              <a:cxnLst/>
              <a:rect l="l" t="t" r="r" b="b"/>
              <a:pathLst>
                <a:path h="2555240">
                  <a:moveTo>
                    <a:pt x="0" y="0"/>
                  </a:moveTo>
                  <a:lnTo>
                    <a:pt x="0" y="2554859"/>
                  </a:lnTo>
                </a:path>
              </a:pathLst>
            </a:custGeom>
            <a:ln w="19050">
              <a:solidFill>
                <a:srgbClr val="BE9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6"/>
            <p:cNvPicPr/>
            <p:nvPr/>
          </p:nvPicPr>
          <p:blipFill rotWithShape="1">
            <a:blip r:embed="rId3" cstate="print"/>
            <a:srcRect t="21733" b="41956"/>
            <a:stretch/>
          </p:blipFill>
          <p:spPr>
            <a:xfrm>
              <a:off x="0" y="1490472"/>
              <a:ext cx="12192000" cy="24902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35123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4236" y="994181"/>
            <a:ext cx="6076315" cy="2162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9580">
              <a:lnSpc>
                <a:spcPts val="1175"/>
              </a:lnSpc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Bipolar</a:t>
            </a:r>
            <a:endParaRPr sz="1800">
              <a:latin typeface="Calibri"/>
              <a:cs typeface="Calibri"/>
            </a:endParaRPr>
          </a:p>
          <a:p>
            <a:pPr marL="378460" algn="ctr">
              <a:lnSpc>
                <a:spcPts val="1620"/>
              </a:lnSpc>
              <a:tabLst>
                <a:tab pos="2355215" algn="l"/>
              </a:tabLst>
            </a:pPr>
            <a:r>
              <a:rPr sz="2700" b="1" spc="-37" baseline="-33950" dirty="0">
                <a:solidFill>
                  <a:srgbClr val="FFFFFF"/>
                </a:solidFill>
                <a:latin typeface="Calibri"/>
                <a:cs typeface="Calibri"/>
              </a:rPr>
              <a:t>NRZ</a:t>
            </a:r>
            <a:r>
              <a:rPr sz="2700" b="1" baseline="-339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0"/>
              </a:spcBef>
              <a:tabLst>
                <a:tab pos="1673860" algn="l"/>
                <a:tab pos="3705225" algn="l"/>
                <a:tab pos="5467985" algn="l"/>
              </a:tabLst>
            </a:pPr>
            <a:r>
              <a:rPr sz="1800" b="1" dirty="0">
                <a:latin typeface="Calibri"/>
                <a:cs typeface="Calibri"/>
              </a:rPr>
              <a:t>Binary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Data</a:t>
            </a:r>
            <a:r>
              <a:rPr sz="1800" b="1" dirty="0">
                <a:latin typeface="Calibri"/>
                <a:cs typeface="Calibri"/>
              </a:rPr>
              <a:t>	</a:t>
            </a:r>
            <a:r>
              <a:rPr sz="2700" b="1" spc="-15" baseline="-23148" dirty="0">
                <a:solidFill>
                  <a:srgbClr val="FFFFFF"/>
                </a:solidFill>
                <a:latin typeface="Calibri"/>
                <a:cs typeface="Calibri"/>
              </a:rPr>
              <a:t>Encoder</a:t>
            </a:r>
            <a:r>
              <a:rPr sz="2700" b="1" baseline="-23148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700" b="1" spc="-15" baseline="10802" dirty="0">
                <a:solidFill>
                  <a:srgbClr val="FFFFFF"/>
                </a:solidFill>
                <a:latin typeface="Calibri"/>
                <a:cs typeface="Calibri"/>
              </a:rPr>
              <a:t>Modulator</a:t>
            </a:r>
            <a:r>
              <a:rPr sz="2700" b="1" baseline="10802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800" spc="-10" dirty="0">
                <a:latin typeface="Cambria Math"/>
                <a:cs typeface="Cambria Math"/>
              </a:rPr>
              <a:t>𝚽</a:t>
            </a:r>
            <a:r>
              <a:rPr sz="1950" spc="-15" baseline="-14957" dirty="0">
                <a:latin typeface="Cambria Math"/>
                <a:cs typeface="Cambria Math"/>
              </a:rPr>
              <a:t>𝐁𝐏𝐒𝐊</a:t>
            </a:r>
            <a:endParaRPr sz="1950" baseline="-14957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1800">
              <a:latin typeface="Cambria Math"/>
              <a:cs typeface="Cambria Math"/>
            </a:endParaRPr>
          </a:p>
          <a:p>
            <a:pPr marL="3731260" marR="1368425" indent="160020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Carrier Generator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78675" y="937615"/>
            <a:ext cx="5862320" cy="852805"/>
            <a:chOff x="378675" y="937615"/>
            <a:chExt cx="5862320" cy="852805"/>
          </a:xfrm>
        </p:grpSpPr>
        <p:sp>
          <p:nvSpPr>
            <p:cNvPr id="4" name="object 4"/>
            <p:cNvSpPr/>
            <p:nvPr/>
          </p:nvSpPr>
          <p:spPr>
            <a:xfrm>
              <a:off x="378675" y="1306703"/>
              <a:ext cx="1395095" cy="114300"/>
            </a:xfrm>
            <a:custGeom>
              <a:avLst/>
              <a:gdLst/>
              <a:ahLst/>
              <a:cxnLst/>
              <a:rect l="l" t="t" r="r" b="b"/>
              <a:pathLst>
                <a:path w="1395095" h="114300">
                  <a:moveTo>
                    <a:pt x="1280579" y="0"/>
                  </a:moveTo>
                  <a:lnTo>
                    <a:pt x="1280579" y="114300"/>
                  </a:lnTo>
                  <a:lnTo>
                    <a:pt x="1356779" y="76200"/>
                  </a:lnTo>
                  <a:lnTo>
                    <a:pt x="1299629" y="76200"/>
                  </a:lnTo>
                  <a:lnTo>
                    <a:pt x="1299629" y="38100"/>
                  </a:lnTo>
                  <a:lnTo>
                    <a:pt x="1356779" y="38100"/>
                  </a:lnTo>
                  <a:lnTo>
                    <a:pt x="1280579" y="0"/>
                  </a:lnTo>
                  <a:close/>
                </a:path>
                <a:path w="1395095" h="114300">
                  <a:moveTo>
                    <a:pt x="1280579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280579" y="76200"/>
                  </a:lnTo>
                  <a:lnTo>
                    <a:pt x="1280579" y="38100"/>
                  </a:lnTo>
                  <a:close/>
                </a:path>
                <a:path w="1395095" h="114300">
                  <a:moveTo>
                    <a:pt x="1356779" y="38100"/>
                  </a:moveTo>
                  <a:lnTo>
                    <a:pt x="1299629" y="38100"/>
                  </a:lnTo>
                  <a:lnTo>
                    <a:pt x="1299629" y="76200"/>
                  </a:lnTo>
                  <a:lnTo>
                    <a:pt x="1356779" y="76200"/>
                  </a:lnTo>
                  <a:lnTo>
                    <a:pt x="1394879" y="57150"/>
                  </a:lnTo>
                  <a:lnTo>
                    <a:pt x="1356779" y="381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3554" y="951903"/>
              <a:ext cx="1301877" cy="82381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73554" y="951903"/>
              <a:ext cx="1302385" cy="824230"/>
            </a:xfrm>
            <a:custGeom>
              <a:avLst/>
              <a:gdLst/>
              <a:ahLst/>
              <a:cxnLst/>
              <a:rect l="l" t="t" r="r" b="b"/>
              <a:pathLst>
                <a:path w="1302385" h="824230">
                  <a:moveTo>
                    <a:pt x="0" y="823810"/>
                  </a:moveTo>
                  <a:lnTo>
                    <a:pt x="1301877" y="823810"/>
                  </a:lnTo>
                  <a:lnTo>
                    <a:pt x="1301877" y="0"/>
                  </a:lnTo>
                  <a:lnTo>
                    <a:pt x="0" y="0"/>
                  </a:lnTo>
                  <a:lnTo>
                    <a:pt x="0" y="823810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5304" y="1306322"/>
              <a:ext cx="853440" cy="114300"/>
            </a:xfrm>
            <a:custGeom>
              <a:avLst/>
              <a:gdLst/>
              <a:ahLst/>
              <a:cxnLst/>
              <a:rect l="l" t="t" r="r" b="b"/>
              <a:pathLst>
                <a:path w="853439" h="114300">
                  <a:moveTo>
                    <a:pt x="739266" y="0"/>
                  </a:moveTo>
                  <a:lnTo>
                    <a:pt x="739147" y="35813"/>
                  </a:lnTo>
                  <a:lnTo>
                    <a:pt x="739139" y="38099"/>
                  </a:lnTo>
                  <a:lnTo>
                    <a:pt x="739012" y="76199"/>
                  </a:lnTo>
                  <a:lnTo>
                    <a:pt x="738885" y="114299"/>
                  </a:lnTo>
                  <a:lnTo>
                    <a:pt x="815767" y="76199"/>
                  </a:lnTo>
                  <a:lnTo>
                    <a:pt x="758062" y="76199"/>
                  </a:lnTo>
                  <a:lnTo>
                    <a:pt x="758189" y="38099"/>
                  </a:lnTo>
                  <a:lnTo>
                    <a:pt x="814878" y="38099"/>
                  </a:lnTo>
                  <a:lnTo>
                    <a:pt x="739266" y="0"/>
                  </a:lnTo>
                  <a:close/>
                </a:path>
                <a:path w="853439" h="114300">
                  <a:moveTo>
                    <a:pt x="126" y="35813"/>
                  </a:moveTo>
                  <a:lnTo>
                    <a:pt x="0" y="73913"/>
                  </a:lnTo>
                  <a:lnTo>
                    <a:pt x="758062" y="76199"/>
                  </a:lnTo>
                  <a:lnTo>
                    <a:pt x="739012" y="76199"/>
                  </a:lnTo>
                  <a:lnTo>
                    <a:pt x="739139" y="38099"/>
                  </a:lnTo>
                  <a:lnTo>
                    <a:pt x="758189" y="38099"/>
                  </a:lnTo>
                  <a:lnTo>
                    <a:pt x="126" y="35813"/>
                  </a:lnTo>
                  <a:close/>
                </a:path>
                <a:path w="853439" h="114300">
                  <a:moveTo>
                    <a:pt x="814878" y="38099"/>
                  </a:moveTo>
                  <a:lnTo>
                    <a:pt x="758189" y="38099"/>
                  </a:lnTo>
                  <a:lnTo>
                    <a:pt x="758062" y="76199"/>
                  </a:lnTo>
                  <a:lnTo>
                    <a:pt x="815767" y="76199"/>
                  </a:lnTo>
                  <a:lnTo>
                    <a:pt x="853439" y="57530"/>
                  </a:lnTo>
                  <a:lnTo>
                    <a:pt x="814878" y="38099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28744" y="951903"/>
              <a:ext cx="1301877" cy="82381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928744" y="951903"/>
              <a:ext cx="1302385" cy="824230"/>
            </a:xfrm>
            <a:custGeom>
              <a:avLst/>
              <a:gdLst/>
              <a:ahLst/>
              <a:cxnLst/>
              <a:rect l="l" t="t" r="r" b="b"/>
              <a:pathLst>
                <a:path w="1302385" h="824230">
                  <a:moveTo>
                    <a:pt x="0" y="823810"/>
                  </a:moveTo>
                  <a:lnTo>
                    <a:pt x="1301877" y="823810"/>
                  </a:lnTo>
                  <a:lnTo>
                    <a:pt x="1301877" y="0"/>
                  </a:lnTo>
                  <a:lnTo>
                    <a:pt x="0" y="0"/>
                  </a:lnTo>
                  <a:lnTo>
                    <a:pt x="0" y="82381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30494" y="1306703"/>
              <a:ext cx="1010285" cy="114300"/>
            </a:xfrm>
            <a:custGeom>
              <a:avLst/>
              <a:gdLst/>
              <a:ahLst/>
              <a:cxnLst/>
              <a:rect l="l" t="t" r="r" b="b"/>
              <a:pathLst>
                <a:path w="1010285" h="114300">
                  <a:moveTo>
                    <a:pt x="895604" y="0"/>
                  </a:moveTo>
                  <a:lnTo>
                    <a:pt x="895604" y="114300"/>
                  </a:lnTo>
                  <a:lnTo>
                    <a:pt x="971804" y="76200"/>
                  </a:lnTo>
                  <a:lnTo>
                    <a:pt x="914654" y="76200"/>
                  </a:lnTo>
                  <a:lnTo>
                    <a:pt x="914654" y="38100"/>
                  </a:lnTo>
                  <a:lnTo>
                    <a:pt x="971804" y="38100"/>
                  </a:lnTo>
                  <a:lnTo>
                    <a:pt x="895604" y="0"/>
                  </a:lnTo>
                  <a:close/>
                </a:path>
                <a:path w="1010285" h="114300">
                  <a:moveTo>
                    <a:pt x="895604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895604" y="76200"/>
                  </a:lnTo>
                  <a:lnTo>
                    <a:pt x="895604" y="38100"/>
                  </a:lnTo>
                  <a:close/>
                </a:path>
                <a:path w="1010285" h="114300">
                  <a:moveTo>
                    <a:pt x="971804" y="38100"/>
                  </a:moveTo>
                  <a:lnTo>
                    <a:pt x="914654" y="38100"/>
                  </a:lnTo>
                  <a:lnTo>
                    <a:pt x="914654" y="76200"/>
                  </a:lnTo>
                  <a:lnTo>
                    <a:pt x="971804" y="76200"/>
                  </a:lnTo>
                  <a:lnTo>
                    <a:pt x="1009904" y="57150"/>
                  </a:lnTo>
                  <a:lnTo>
                    <a:pt x="971804" y="381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3914457" y="2459329"/>
            <a:ext cx="1330960" cy="852805"/>
            <a:chOff x="3914457" y="2459329"/>
            <a:chExt cx="1330960" cy="85280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28745" y="2473617"/>
              <a:ext cx="1301877" cy="82381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928745" y="2473617"/>
              <a:ext cx="1302385" cy="824230"/>
            </a:xfrm>
            <a:custGeom>
              <a:avLst/>
              <a:gdLst/>
              <a:ahLst/>
              <a:cxnLst/>
              <a:rect l="l" t="t" r="r" b="b"/>
              <a:pathLst>
                <a:path w="1302385" h="824229">
                  <a:moveTo>
                    <a:pt x="0" y="823810"/>
                  </a:moveTo>
                  <a:lnTo>
                    <a:pt x="1301877" y="823810"/>
                  </a:lnTo>
                  <a:lnTo>
                    <a:pt x="1301877" y="0"/>
                  </a:lnTo>
                  <a:lnTo>
                    <a:pt x="0" y="0"/>
                  </a:lnTo>
                  <a:lnTo>
                    <a:pt x="0" y="82381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78675" y="782701"/>
            <a:ext cx="6122035" cy="2557145"/>
            <a:chOff x="378675" y="782701"/>
            <a:chExt cx="6122035" cy="2557145"/>
          </a:xfrm>
        </p:grpSpPr>
        <p:sp>
          <p:nvSpPr>
            <p:cNvPr id="15" name="object 15"/>
            <p:cNvSpPr/>
            <p:nvPr/>
          </p:nvSpPr>
          <p:spPr>
            <a:xfrm>
              <a:off x="4522469" y="1775714"/>
              <a:ext cx="114300" cy="697865"/>
            </a:xfrm>
            <a:custGeom>
              <a:avLst/>
              <a:gdLst/>
              <a:ahLst/>
              <a:cxnLst/>
              <a:rect l="l" t="t" r="r" b="b"/>
              <a:pathLst>
                <a:path w="114300" h="697864">
                  <a:moveTo>
                    <a:pt x="76200" y="95249"/>
                  </a:moveTo>
                  <a:lnTo>
                    <a:pt x="38100" y="95249"/>
                  </a:lnTo>
                  <a:lnTo>
                    <a:pt x="38100" y="697864"/>
                  </a:lnTo>
                  <a:lnTo>
                    <a:pt x="76200" y="697864"/>
                  </a:lnTo>
                  <a:lnTo>
                    <a:pt x="76200" y="95249"/>
                  </a:lnTo>
                  <a:close/>
                </a:path>
                <a:path w="114300" h="697864">
                  <a:moveTo>
                    <a:pt x="57150" y="0"/>
                  </a:moveTo>
                  <a:lnTo>
                    <a:pt x="0" y="114299"/>
                  </a:lnTo>
                  <a:lnTo>
                    <a:pt x="38100" y="114299"/>
                  </a:lnTo>
                  <a:lnTo>
                    <a:pt x="38100" y="95249"/>
                  </a:lnTo>
                  <a:lnTo>
                    <a:pt x="104775" y="95249"/>
                  </a:lnTo>
                  <a:lnTo>
                    <a:pt x="57150" y="0"/>
                  </a:lnTo>
                  <a:close/>
                </a:path>
                <a:path w="114300" h="697864">
                  <a:moveTo>
                    <a:pt x="104775" y="95249"/>
                  </a:moveTo>
                  <a:lnTo>
                    <a:pt x="76200" y="95249"/>
                  </a:lnTo>
                  <a:lnTo>
                    <a:pt x="76200" y="114299"/>
                  </a:lnTo>
                  <a:lnTo>
                    <a:pt x="114300" y="114299"/>
                  </a:lnTo>
                  <a:lnTo>
                    <a:pt x="104775" y="95249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8675" y="782701"/>
              <a:ext cx="6122035" cy="2556637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BPSK</a:t>
            </a:r>
            <a:r>
              <a:rPr spc="-10" dirty="0"/>
              <a:t> </a:t>
            </a:r>
            <a:r>
              <a:rPr spc="-30" dirty="0"/>
              <a:t>Transmitter</a:t>
            </a:r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500710" y="1306322"/>
            <a:ext cx="1957490" cy="674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8997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8885" y="50368"/>
            <a:ext cx="7175500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600" u="none" spc="-640" dirty="0">
                <a:solidFill>
                  <a:srgbClr val="006600"/>
                </a:solidFill>
                <a:latin typeface="Arial"/>
                <a:cs typeface="Arial"/>
              </a:rPr>
              <a:t>BASK</a:t>
            </a:r>
            <a:r>
              <a:rPr sz="5600" u="none" spc="-16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5600" u="none" spc="-620" dirty="0">
                <a:solidFill>
                  <a:srgbClr val="006600"/>
                </a:solidFill>
                <a:latin typeface="Arial"/>
                <a:cs typeface="Arial"/>
              </a:rPr>
              <a:t>Vs</a:t>
            </a:r>
            <a:r>
              <a:rPr sz="5600" u="none" spc="-19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5600" u="none" spc="-670" dirty="0">
                <a:solidFill>
                  <a:srgbClr val="006600"/>
                </a:solidFill>
                <a:latin typeface="Arial"/>
                <a:cs typeface="Arial"/>
              </a:rPr>
              <a:t>BFSK</a:t>
            </a:r>
            <a:r>
              <a:rPr sz="5600" u="none" spc="-15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5600" u="none" spc="-620" dirty="0">
                <a:solidFill>
                  <a:srgbClr val="006600"/>
                </a:solidFill>
                <a:latin typeface="Arial"/>
                <a:cs typeface="Arial"/>
              </a:rPr>
              <a:t>Vs</a:t>
            </a:r>
            <a:r>
              <a:rPr sz="5600" u="none" spc="-15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5600" u="none" spc="-645" dirty="0">
                <a:solidFill>
                  <a:srgbClr val="006600"/>
                </a:solidFill>
                <a:latin typeface="Arial"/>
                <a:cs typeface="Arial"/>
              </a:rPr>
              <a:t>BPSK</a:t>
            </a:r>
            <a:endParaRPr sz="5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54718" y="2815335"/>
            <a:ext cx="157226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b="1" dirty="0">
                <a:latin typeface="Calibri"/>
                <a:cs typeface="Calibri"/>
              </a:rPr>
              <a:t>Moderate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/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High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765536"/>
              </p:ext>
            </p:extLst>
          </p:nvPr>
        </p:nvGraphicFramePr>
        <p:xfrm>
          <a:off x="169227" y="949833"/>
          <a:ext cx="11821794" cy="57892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2610"/>
                <a:gridCol w="3392804"/>
                <a:gridCol w="3277235"/>
                <a:gridCol w="3319145"/>
              </a:tblGrid>
              <a:tr h="365125">
                <a:tc>
                  <a:txBody>
                    <a:bodyPr/>
                    <a:lstStyle/>
                    <a:p>
                      <a:pPr marL="37465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Parameters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66C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BASK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66C62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BFSK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66C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BPSK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66C62"/>
                    </a:solidFill>
                  </a:tcPr>
                </a:tc>
              </a:tr>
              <a:tr h="642620">
                <a:tc>
                  <a:txBody>
                    <a:bodyPr/>
                    <a:lstStyle/>
                    <a:p>
                      <a:pPr marL="90805" marR="3530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Modulation Characteristics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77190" indent="-285750">
                        <a:lnSpc>
                          <a:spcPct val="100000"/>
                        </a:lnSpc>
                        <a:spcBef>
                          <a:spcPts val="265"/>
                        </a:spcBef>
                        <a:buFont typeface="Wingdings"/>
                        <a:buChar char=""/>
                        <a:tabLst>
                          <a:tab pos="377190" algn="l"/>
                        </a:tabLst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Carrier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Amplitude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Varied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77825" indent="-285750">
                        <a:lnSpc>
                          <a:spcPct val="100000"/>
                        </a:lnSpc>
                        <a:spcBef>
                          <a:spcPts val="265"/>
                        </a:spcBef>
                        <a:buFont typeface="Wingdings"/>
                        <a:buChar char=""/>
                        <a:tabLst>
                          <a:tab pos="377825" algn="l"/>
                        </a:tabLst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Carrier</a:t>
                      </a:r>
                      <a:r>
                        <a:rPr sz="18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Frequency</a:t>
                      </a:r>
                      <a:r>
                        <a:rPr sz="18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Varied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77825" indent="-285750">
                        <a:lnSpc>
                          <a:spcPct val="100000"/>
                        </a:lnSpc>
                        <a:spcBef>
                          <a:spcPts val="265"/>
                        </a:spcBef>
                        <a:buFont typeface="Wingdings"/>
                        <a:buChar char=""/>
                        <a:tabLst>
                          <a:tab pos="377825" algn="l"/>
                        </a:tabLst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Carrier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Phase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Varied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 smtClean="0">
                          <a:latin typeface="Calibri"/>
                          <a:cs typeface="Calibri"/>
                        </a:rPr>
                        <a:t>Bandwidth</a:t>
                      </a:r>
                      <a:r>
                        <a:rPr lang="en-US" sz="1800" b="1" spc="-10" dirty="0" smtClean="0">
                          <a:latin typeface="Calibri"/>
                          <a:cs typeface="Calibri"/>
                        </a:rPr>
                        <a:t> (Min)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74650" indent="-285750">
                        <a:lnSpc>
                          <a:spcPct val="100000"/>
                        </a:lnSpc>
                        <a:spcBef>
                          <a:spcPts val="244"/>
                        </a:spcBef>
                        <a:buFont typeface="Wingdings"/>
                        <a:buChar char=""/>
                        <a:tabLst>
                          <a:tab pos="374650" algn="l"/>
                        </a:tabLst>
                      </a:pPr>
                      <a:r>
                        <a:rPr sz="1800" b="1" spc="-25" dirty="0" smtClean="0">
                          <a:latin typeface="Calibri"/>
                          <a:cs typeface="Calibri"/>
                        </a:rPr>
                        <a:t>2F</a:t>
                      </a:r>
                      <a:r>
                        <a:rPr sz="1100" b="1" spc="-25" dirty="0" smtClean="0">
                          <a:latin typeface="Calibri"/>
                          <a:cs typeface="Calibri"/>
                        </a:rPr>
                        <a:t>b</a:t>
                      </a:r>
                      <a:r>
                        <a:rPr lang="en-US" sz="1100" b="1" spc="-2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100" b="1" spc="-25" baseline="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b="1" spc="-25" baseline="0" dirty="0" smtClean="0">
                          <a:latin typeface="Calibri"/>
                          <a:cs typeface="Calibri"/>
                        </a:rPr>
                        <a:t>[</a:t>
                      </a:r>
                      <a:r>
                        <a:rPr lang="en-US" sz="1800" b="1" spc="-25" baseline="0" dirty="0" err="1" smtClean="0"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100" b="1" spc="-25" baseline="0" dirty="0" err="1" smtClean="0">
                          <a:latin typeface="Calibri"/>
                          <a:cs typeface="Calibri"/>
                        </a:rPr>
                        <a:t>b</a:t>
                      </a:r>
                      <a:r>
                        <a:rPr lang="en-US" sz="1100" b="1" spc="-25" baseline="0" dirty="0" smtClean="0">
                          <a:latin typeface="Calibri"/>
                          <a:cs typeface="Calibri"/>
                        </a:rPr>
                        <a:t>  </a:t>
                      </a:r>
                      <a:r>
                        <a:rPr lang="en-US" sz="1800" b="1" spc="-25" baseline="0" dirty="0" smtClean="0">
                          <a:latin typeface="Calibri"/>
                          <a:cs typeface="Calibri"/>
                        </a:rPr>
                        <a:t>is the BW of baseband signal]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77825" indent="-285750">
                        <a:lnSpc>
                          <a:spcPct val="100000"/>
                        </a:lnSpc>
                        <a:spcBef>
                          <a:spcPts val="244"/>
                        </a:spcBef>
                        <a:buFont typeface="Wingdings"/>
                        <a:buChar char=""/>
                        <a:tabLst>
                          <a:tab pos="377825" algn="l"/>
                        </a:tabLst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4F</a:t>
                      </a:r>
                      <a:r>
                        <a:rPr sz="1100" b="1" spc="-25" dirty="0">
                          <a:latin typeface="Calibri"/>
                          <a:cs typeface="Calibri"/>
                        </a:rPr>
                        <a:t>b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75920" indent="-285750">
                        <a:lnSpc>
                          <a:spcPct val="100000"/>
                        </a:lnSpc>
                        <a:spcBef>
                          <a:spcPts val="244"/>
                        </a:spcBef>
                        <a:buFont typeface="Wingdings"/>
                        <a:buChar char=""/>
                        <a:tabLst>
                          <a:tab pos="375920" algn="l"/>
                        </a:tabLst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2F</a:t>
                      </a:r>
                      <a:r>
                        <a:rPr sz="1100" b="1" spc="-25" dirty="0">
                          <a:latin typeface="Calibri"/>
                          <a:cs typeface="Calibri"/>
                        </a:rPr>
                        <a:t>b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Noise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Immunity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74650" indent="-285750">
                        <a:lnSpc>
                          <a:spcPct val="100000"/>
                        </a:lnSpc>
                        <a:spcBef>
                          <a:spcPts val="240"/>
                        </a:spcBef>
                        <a:buFont typeface="Wingdings"/>
                        <a:buChar char=""/>
                        <a:tabLst>
                          <a:tab pos="374650" algn="l"/>
                        </a:tabLst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Low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77825" indent="-285750">
                        <a:lnSpc>
                          <a:spcPct val="100000"/>
                        </a:lnSpc>
                        <a:spcBef>
                          <a:spcPts val="240"/>
                        </a:spcBef>
                        <a:buFont typeface="Wingdings"/>
                        <a:buChar char=""/>
                        <a:tabLst>
                          <a:tab pos="377825" algn="l"/>
                        </a:tabLst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High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75920" indent="-285750">
                        <a:lnSpc>
                          <a:spcPct val="100000"/>
                        </a:lnSpc>
                        <a:spcBef>
                          <a:spcPts val="240"/>
                        </a:spcBef>
                        <a:buFont typeface="Wingdings"/>
                        <a:buChar char=""/>
                        <a:tabLst>
                          <a:tab pos="375920" algn="l"/>
                        </a:tabLst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Moderate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High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Error</a:t>
                      </a:r>
                      <a:r>
                        <a:rPr sz="18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Probability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74650" indent="-285750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Wingdings"/>
                        <a:buChar char=""/>
                        <a:tabLst>
                          <a:tab pos="374650" algn="l"/>
                        </a:tabLst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High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79095" indent="-285750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Wingdings"/>
                        <a:buChar char=""/>
                        <a:tabLst>
                          <a:tab pos="379095" algn="l"/>
                        </a:tabLst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Low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9017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4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800" spc="-50" dirty="0" smtClean="0">
                          <a:latin typeface="Wingdings"/>
                          <a:cs typeface="Wingdings"/>
                        </a:rPr>
                        <a:t></a:t>
                      </a:r>
                      <a:r>
                        <a:rPr lang="en-US" sz="1800" spc="-50" baseline="0" dirty="0" smtClean="0">
                          <a:latin typeface="Wingdings"/>
                          <a:cs typeface="Wingdings"/>
                        </a:rPr>
                        <a:t> </a:t>
                      </a:r>
                      <a:r>
                        <a:rPr lang="en-US" sz="1800" b="1" spc="-10" dirty="0" smtClean="0">
                          <a:latin typeface="+mn-lt"/>
                          <a:cs typeface="Calibri"/>
                        </a:rPr>
                        <a:t>Moderate</a:t>
                      </a:r>
                      <a:r>
                        <a:rPr lang="en-US" sz="1800" b="1" spc="-25" dirty="0" smtClean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800" b="1" dirty="0" smtClean="0">
                          <a:latin typeface="+mn-lt"/>
                          <a:cs typeface="Calibri"/>
                        </a:rPr>
                        <a:t>/</a:t>
                      </a:r>
                      <a:r>
                        <a:rPr lang="en-US" sz="1800" b="1" spc="-35" dirty="0" smtClean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800" b="1" spc="-20" dirty="0" smtClean="0">
                          <a:latin typeface="+mn-lt"/>
                          <a:cs typeface="Calibri"/>
                        </a:rPr>
                        <a:t>Low</a:t>
                      </a:r>
                      <a:endParaRPr lang="en-US" sz="1800" dirty="0" smtClean="0">
                        <a:latin typeface="+mn-lt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Complexity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74650" indent="-285750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Wingdings"/>
                        <a:buChar char=""/>
                        <a:tabLst>
                          <a:tab pos="374650" algn="l"/>
                        </a:tabLst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Simple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79095" indent="-285750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Wingdings"/>
                        <a:buChar char=""/>
                        <a:tabLst>
                          <a:tab pos="379095" algn="l"/>
                        </a:tabLst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Moderate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75920" indent="-285750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Wingdings"/>
                        <a:buChar char=""/>
                        <a:tabLst>
                          <a:tab pos="375920" algn="l"/>
                        </a:tabLst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High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Bit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rate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74650" indent="-285750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Wingdings"/>
                        <a:buChar char=""/>
                        <a:tabLst>
                          <a:tab pos="374650" algn="l"/>
                        </a:tabLst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Suitable</a:t>
                      </a:r>
                      <a:r>
                        <a:rPr sz="18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Low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Bitrate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79095" indent="-285750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Wingdings"/>
                        <a:buChar char=""/>
                        <a:tabLst>
                          <a:tab pos="379095" algn="l"/>
                        </a:tabLst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Suitable</a:t>
                      </a:r>
                      <a:r>
                        <a:rPr sz="18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Moderate</a:t>
                      </a:r>
                      <a:r>
                        <a:rPr sz="18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Bitrate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75920" indent="-285750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Wingdings"/>
                        <a:buChar char=""/>
                        <a:tabLst>
                          <a:tab pos="375920" algn="l"/>
                        </a:tabLst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Suitable</a:t>
                      </a:r>
                      <a:r>
                        <a:rPr sz="18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High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Bitrate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</a:tr>
              <a:tr h="363855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Detection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74650" indent="-285750">
                        <a:lnSpc>
                          <a:spcPct val="100000"/>
                        </a:lnSpc>
                        <a:spcBef>
                          <a:spcPts val="229"/>
                        </a:spcBef>
                        <a:buFont typeface="Wingdings"/>
                        <a:buChar char=""/>
                        <a:tabLst>
                          <a:tab pos="374650" algn="l"/>
                        </a:tabLst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Envelope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82270" indent="-285750">
                        <a:lnSpc>
                          <a:spcPct val="100000"/>
                        </a:lnSpc>
                        <a:spcBef>
                          <a:spcPts val="229"/>
                        </a:spcBef>
                        <a:buFont typeface="Wingdings"/>
                        <a:buChar char=""/>
                        <a:tabLst>
                          <a:tab pos="382270" algn="l"/>
                        </a:tabLst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Envelope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Coherent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75920" indent="-285750">
                        <a:lnSpc>
                          <a:spcPct val="100000"/>
                        </a:lnSpc>
                        <a:spcBef>
                          <a:spcPts val="229"/>
                        </a:spcBef>
                        <a:buFont typeface="Wingdings"/>
                        <a:buChar char=""/>
                        <a:tabLst>
                          <a:tab pos="375920" algn="l"/>
                        </a:tabLst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Coherent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Power</a:t>
                      </a:r>
                      <a:r>
                        <a:rPr sz="1800" b="1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Efficiency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74650" indent="-285750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Wingdings"/>
                        <a:buChar char=""/>
                        <a:tabLst>
                          <a:tab pos="374650" algn="l"/>
                        </a:tabLst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Poor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82270" indent="-285750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Wingdings"/>
                        <a:buChar char=""/>
                        <a:tabLst>
                          <a:tab pos="382270" algn="l"/>
                        </a:tabLst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Moderate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75920" indent="-285750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Wingdings"/>
                        <a:buChar char=""/>
                        <a:tabLst>
                          <a:tab pos="375920" algn="l"/>
                        </a:tabLst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Excellent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Synchronization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74650" indent="-285750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Wingdings"/>
                        <a:buChar char=""/>
                        <a:tabLst>
                          <a:tab pos="374650" algn="l"/>
                        </a:tabLst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Low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Requirement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82270" indent="-285750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Wingdings"/>
                        <a:buChar char=""/>
                        <a:tabLst>
                          <a:tab pos="382270" algn="l"/>
                        </a:tabLst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Moderate</a:t>
                      </a:r>
                      <a:r>
                        <a:rPr sz="1800" b="1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Requirement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75920" indent="-285750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Wingdings"/>
                        <a:buChar char=""/>
                        <a:tabLst>
                          <a:tab pos="375920" algn="l"/>
                        </a:tabLst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High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 Requirement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</a:tr>
              <a:tr h="639445">
                <a:tc>
                  <a:txBody>
                    <a:bodyPr/>
                    <a:lstStyle/>
                    <a:p>
                      <a:pPr marL="88900" marR="60325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Phase Ambiguities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74650" indent="-285750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Wingdings"/>
                        <a:buChar char=""/>
                        <a:tabLst>
                          <a:tab pos="374650" algn="l"/>
                        </a:tabLst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None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82270" indent="-285750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Wingdings"/>
                        <a:buChar char=""/>
                        <a:tabLst>
                          <a:tab pos="382270" algn="l"/>
                        </a:tabLst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None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75920" indent="-285750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Wingdings"/>
                        <a:buChar char=""/>
                        <a:tabLst>
                          <a:tab pos="375920" algn="l"/>
                        </a:tabLst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Possible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Latency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74650" indent="-285750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Wingdings"/>
                        <a:buChar char=""/>
                        <a:tabLst>
                          <a:tab pos="374650" algn="l"/>
                        </a:tabLst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Low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84175" indent="-285750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Wingdings"/>
                        <a:buChar char=""/>
                        <a:tabLst>
                          <a:tab pos="384175" algn="l"/>
                        </a:tabLst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Moderate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75920" indent="-285750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Wingdings"/>
                        <a:buChar char=""/>
                        <a:tabLst>
                          <a:tab pos="375920" algn="l"/>
                        </a:tabLst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High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Applications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74650" indent="-285750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Wingdings"/>
                        <a:buChar char=""/>
                        <a:tabLst>
                          <a:tab pos="374650" algn="l"/>
                        </a:tabLst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RFID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Short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Range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84175" indent="-285750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Wingdings"/>
                        <a:buChar char=""/>
                        <a:tabLst>
                          <a:tab pos="384175" algn="l"/>
                        </a:tabLst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Modems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Low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rate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75285" marR="647065" indent="-285750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Wingdings"/>
                        <a:buChar char=""/>
                        <a:tabLst>
                          <a:tab pos="376555" algn="l"/>
                        </a:tabLst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Wi-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Fi,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Satellite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Long 	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Range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4438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3589</TotalTime>
  <Words>1752</Words>
  <Application>Microsoft Office PowerPoint</Application>
  <PresentationFormat>Custom</PresentationFormat>
  <Paragraphs>433</Paragraphs>
  <Slides>49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0" baseType="lpstr">
      <vt:lpstr>Office Theme</vt:lpstr>
      <vt:lpstr>Digital Modulation</vt:lpstr>
      <vt:lpstr>Amplitude Shift Keying - ASK</vt:lpstr>
      <vt:lpstr>Basics of ASK</vt:lpstr>
      <vt:lpstr>Waveforms of ASK</vt:lpstr>
      <vt:lpstr>Bandwidth of ASK</vt:lpstr>
      <vt:lpstr>Demodulation of ASK</vt:lpstr>
      <vt:lpstr>Constellation Diagram of ASK</vt:lpstr>
      <vt:lpstr>Advantages of ASK</vt:lpstr>
      <vt:lpstr>Signal Space Diagram of ASK</vt:lpstr>
      <vt:lpstr>PowerPoint Presentation</vt:lpstr>
      <vt:lpstr>PowerPoint Presentation</vt:lpstr>
      <vt:lpstr>Example of ASK</vt:lpstr>
      <vt:lpstr>PowerPoint Presentation</vt:lpstr>
      <vt:lpstr>Frequency Shift Keying - FSK</vt:lpstr>
      <vt:lpstr>Basics of FSK</vt:lpstr>
      <vt:lpstr>Waveforms of FSK</vt:lpstr>
      <vt:lpstr>BFSK Signal Basics</vt:lpstr>
      <vt:lpstr>Bandwidth of BFSK</vt:lpstr>
      <vt:lpstr>Multi-Level FSK</vt:lpstr>
      <vt:lpstr>FSK Demodulation Synchronous (Coherent) FSK Demodulation</vt:lpstr>
      <vt:lpstr>Constellation Diagram of FSK</vt:lpstr>
      <vt:lpstr>Advantages of FSK</vt:lpstr>
      <vt:lpstr>Examples of FSK</vt:lpstr>
      <vt:lpstr>PowerPoint Presentation</vt:lpstr>
      <vt:lpstr>M-ary FSK - MFSK Basics and Equation of MFSK</vt:lpstr>
      <vt:lpstr>Symbol Duration of MFSK</vt:lpstr>
      <vt:lpstr>PowerPoint Presentation</vt:lpstr>
      <vt:lpstr>Example of MFSK</vt:lpstr>
      <vt:lpstr>Phase Shift Keying - PSK</vt:lpstr>
      <vt:lpstr>Basics of PSK</vt:lpstr>
      <vt:lpstr>Waveforms of PSK</vt:lpstr>
      <vt:lpstr>Bandwidth of PSK</vt:lpstr>
      <vt:lpstr>Multilevel PSK</vt:lpstr>
      <vt:lpstr>Demodulation of PSK</vt:lpstr>
      <vt:lpstr>Constellation Diagram of PSK</vt:lpstr>
      <vt:lpstr>Advantages of PSK</vt:lpstr>
      <vt:lpstr>Differential Phase Shift Keying DPSK</vt:lpstr>
      <vt:lpstr>Basics of DPSK</vt:lpstr>
      <vt:lpstr>DPSK Transmitter</vt:lpstr>
      <vt:lpstr>DPSK waveforms</vt:lpstr>
      <vt:lpstr>DPSK Receiver</vt:lpstr>
      <vt:lpstr>PowerPoint Presentation</vt:lpstr>
      <vt:lpstr>Advantages of DPSK</vt:lpstr>
      <vt:lpstr>BPSK {Singal Space Diagram}</vt:lpstr>
      <vt:lpstr>PowerPoint Presentation</vt:lpstr>
      <vt:lpstr>PowerPoint Presentation</vt:lpstr>
      <vt:lpstr>BPSK {Constellation Diagram or Signal Space Diagram}</vt:lpstr>
      <vt:lpstr>BPSK Transmitter</vt:lpstr>
      <vt:lpstr>BASK Vs BFSK Vs BPSK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Amplitude Shift Keying - ASK</dc:title>
  <cp:lastModifiedBy>CSE1</cp:lastModifiedBy>
  <cp:revision>57</cp:revision>
  <dcterms:created xsi:type="dcterms:W3CDTF">2026-04-02T09:05:11Z</dcterms:created>
  <dcterms:modified xsi:type="dcterms:W3CDTF">2026-04-08T15:22:55Z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2026-04-02T00:00:00Z</vt:filetime>
  </property>
  <property fmtid="{D5CDD505-2E9C-101B-9397-08002B2CF9AE}" pid="3" name="LastSaved">
    <vt:filetime>2026-04-02T00:00:00Z</vt:filetime>
  </property>
  <property fmtid="{D5CDD505-2E9C-101B-9397-08002B2CF9AE}" pid="4" name="Producer">
    <vt:lpwstr>3-Heights™ PDF Merge Split Shell 6.12.1.11 (http://www.pdf-tools.com)</vt:lpwstr>
  </property>
</Properties>
</file>