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9"/>
  </p:notesMasterIdLst>
  <p:sldIdLst>
    <p:sldId id="326" r:id="rId2"/>
    <p:sldId id="256" r:id="rId3"/>
    <p:sldId id="257" r:id="rId4"/>
    <p:sldId id="258" r:id="rId5"/>
    <p:sldId id="350" r:id="rId6"/>
    <p:sldId id="349" r:id="rId7"/>
    <p:sldId id="351" r:id="rId8"/>
    <p:sldId id="355" r:id="rId9"/>
    <p:sldId id="352" r:id="rId10"/>
    <p:sldId id="353" r:id="rId11"/>
    <p:sldId id="354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356" r:id="rId23"/>
    <p:sldId id="357" r:id="rId24"/>
    <p:sldId id="358" r:id="rId25"/>
    <p:sldId id="359" r:id="rId26"/>
    <p:sldId id="360" r:id="rId27"/>
    <p:sldId id="361" r:id="rId28"/>
    <p:sldId id="362" r:id="rId29"/>
    <p:sldId id="363" r:id="rId30"/>
    <p:sldId id="364" r:id="rId31"/>
    <p:sldId id="365" r:id="rId32"/>
    <p:sldId id="368" r:id="rId33"/>
    <p:sldId id="367" r:id="rId34"/>
    <p:sldId id="370" r:id="rId35"/>
    <p:sldId id="371" r:id="rId36"/>
    <p:sldId id="372" r:id="rId37"/>
    <p:sldId id="373" r:id="rId3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9DB213-5D2A-53AF-58C9-CDA7E08C3777}" v="3" dt="2026-03-29T12:45:45.17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754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fat Rahman" userId="S::rrahman007@iat.buet.ac.bd::a7a4f428-10fc-429d-9279-8f19a83b42da" providerId="AD" clId="Web-{EC9DB213-5D2A-53AF-58C9-CDA7E08C3777}"/>
    <pc:docChg chg="delSld">
      <pc:chgData name="Rifat Rahman" userId="S::rrahman007@iat.buet.ac.bd::a7a4f428-10fc-429d-9279-8f19a83b42da" providerId="AD" clId="Web-{EC9DB213-5D2A-53AF-58C9-CDA7E08C3777}" dt="2026-03-29T12:45:45.172" v="2"/>
      <pc:docMkLst>
        <pc:docMk/>
      </pc:docMkLst>
      <pc:sldChg chg="del">
        <pc:chgData name="Rifat Rahman" userId="S::rrahman007@iat.buet.ac.bd::a7a4f428-10fc-429d-9279-8f19a83b42da" providerId="AD" clId="Web-{EC9DB213-5D2A-53AF-58C9-CDA7E08C3777}" dt="2026-03-29T12:45:45.172" v="2"/>
        <pc:sldMkLst>
          <pc:docMk/>
          <pc:sldMk cId="0" sldId="269"/>
        </pc:sldMkLst>
      </pc:sldChg>
      <pc:sldChg chg="del">
        <pc:chgData name="Rifat Rahman" userId="S::rrahman007@iat.buet.ac.bd::a7a4f428-10fc-429d-9279-8f19a83b42da" providerId="AD" clId="Web-{EC9DB213-5D2A-53AF-58C9-CDA7E08C3777}" dt="2026-03-29T12:45:45.172" v="1"/>
        <pc:sldMkLst>
          <pc:docMk/>
          <pc:sldMk cId="0" sldId="270"/>
        </pc:sldMkLst>
      </pc:sldChg>
      <pc:sldChg chg="del">
        <pc:chgData name="Rifat Rahman" userId="S::rrahman007@iat.buet.ac.bd::a7a4f428-10fc-429d-9279-8f19a83b42da" providerId="AD" clId="Web-{EC9DB213-5D2A-53AF-58C9-CDA7E08C3777}" dt="2026-03-29T12:45:45.172" v="0"/>
        <pc:sldMkLst>
          <pc:docMk/>
          <pc:sldMk cId="0" sldId="2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A8D851-CCD0-4B79-820F-5404D817A6AC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98419A-A072-4F05-9D78-18EF5D60CF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513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8419A-A072-4F05-9D78-18EF5D60CF8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651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8419A-A072-4F05-9D78-18EF5D60CF8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3267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8419A-A072-4F05-9D78-18EF5D60CF8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6345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8419A-A072-4F05-9D78-18EF5D60CF8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2769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8419A-A072-4F05-9D78-18EF5D60CF8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8771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8419A-A072-4F05-9D78-18EF5D60CF8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7177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6F2F9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6F2F9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34263" y="75056"/>
            <a:ext cx="6974840" cy="1718945"/>
          </a:xfrm>
          <a:custGeom>
            <a:avLst/>
            <a:gdLst/>
            <a:ahLst/>
            <a:cxnLst/>
            <a:rect l="l" t="t" r="r" b="b"/>
            <a:pathLst>
              <a:path w="6974840" h="1718945">
                <a:moveTo>
                  <a:pt x="6974535" y="963041"/>
                </a:moveTo>
                <a:lnTo>
                  <a:pt x="6936435" y="943991"/>
                </a:lnTo>
                <a:lnTo>
                  <a:pt x="6860235" y="905891"/>
                </a:lnTo>
                <a:lnTo>
                  <a:pt x="6860235" y="943991"/>
                </a:lnTo>
                <a:lnTo>
                  <a:pt x="421665" y="943991"/>
                </a:lnTo>
                <a:lnTo>
                  <a:pt x="420827" y="114427"/>
                </a:lnTo>
                <a:lnTo>
                  <a:pt x="459003" y="114427"/>
                </a:lnTo>
                <a:lnTo>
                  <a:pt x="449389" y="95250"/>
                </a:lnTo>
                <a:lnTo>
                  <a:pt x="401662" y="0"/>
                </a:lnTo>
                <a:lnTo>
                  <a:pt x="344639" y="114427"/>
                </a:lnTo>
                <a:lnTo>
                  <a:pt x="382727" y="114427"/>
                </a:lnTo>
                <a:lnTo>
                  <a:pt x="383565" y="943991"/>
                </a:lnTo>
                <a:lnTo>
                  <a:pt x="0" y="943991"/>
                </a:lnTo>
                <a:lnTo>
                  <a:pt x="0" y="982091"/>
                </a:lnTo>
                <a:lnTo>
                  <a:pt x="383603" y="982091"/>
                </a:lnTo>
                <a:lnTo>
                  <a:pt x="384352" y="1718437"/>
                </a:lnTo>
                <a:lnTo>
                  <a:pt x="422452" y="1718437"/>
                </a:lnTo>
                <a:lnTo>
                  <a:pt x="421703" y="982091"/>
                </a:lnTo>
                <a:lnTo>
                  <a:pt x="6860235" y="982091"/>
                </a:lnTo>
                <a:lnTo>
                  <a:pt x="6860235" y="1020191"/>
                </a:lnTo>
                <a:lnTo>
                  <a:pt x="6936435" y="982091"/>
                </a:lnTo>
                <a:lnTo>
                  <a:pt x="6974535" y="963041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6F2F9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6F2F9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4142" y="74167"/>
            <a:ext cx="11615420" cy="497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6F2F9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4142" y="1271269"/>
            <a:ext cx="11211356" cy="44785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rrahman007.buet.ac.bd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openxmlformats.org/officeDocument/2006/relationships/image" Target="../media/image300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png"/><Relationship Id="rId3" Type="http://schemas.openxmlformats.org/officeDocument/2006/relationships/image" Target="../media/image200.png"/><Relationship Id="rId7" Type="http://schemas.openxmlformats.org/officeDocument/2006/relationships/image" Target="../media/image3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10" Type="http://schemas.openxmlformats.org/officeDocument/2006/relationships/image" Target="../media/image270.png"/><Relationship Id="rId4" Type="http://schemas.openxmlformats.org/officeDocument/2006/relationships/image" Target="../media/image32.png"/><Relationship Id="rId9" Type="http://schemas.openxmlformats.org/officeDocument/2006/relationships/image" Target="../media/image26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17" Type="http://schemas.openxmlformats.org/officeDocument/2006/relationships/image" Target="../media/image50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5" Type="http://schemas.openxmlformats.org/officeDocument/2006/relationships/image" Target="../media/image4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4" Type="http://schemas.openxmlformats.org/officeDocument/2006/relationships/image" Target="../media/image4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53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52.png"/><Relationship Id="rId5" Type="http://schemas.openxmlformats.org/officeDocument/2006/relationships/image" Target="../media/image39.png"/><Relationship Id="rId10" Type="http://schemas.openxmlformats.org/officeDocument/2006/relationships/image" Target="../media/image51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27.png"/><Relationship Id="rId7" Type="http://schemas.openxmlformats.org/officeDocument/2006/relationships/image" Target="../media/image5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31.png"/><Relationship Id="rId7" Type="http://schemas.openxmlformats.org/officeDocument/2006/relationships/image" Target="../media/image63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6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67.png"/><Relationship Id="rId5" Type="http://schemas.openxmlformats.org/officeDocument/2006/relationships/image" Target="../media/image38.png"/><Relationship Id="rId10" Type="http://schemas.openxmlformats.org/officeDocument/2006/relationships/image" Target="../media/image66.png"/><Relationship Id="rId4" Type="http://schemas.openxmlformats.org/officeDocument/2006/relationships/image" Target="../media/image37.png"/><Relationship Id="rId9" Type="http://schemas.openxmlformats.org/officeDocument/2006/relationships/image" Target="../media/image6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37.png"/><Relationship Id="rId7" Type="http://schemas.openxmlformats.org/officeDocument/2006/relationships/image" Target="../media/image42.png"/><Relationship Id="rId12" Type="http://schemas.openxmlformats.org/officeDocument/2006/relationships/image" Target="../media/image72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11" Type="http://schemas.openxmlformats.org/officeDocument/2006/relationships/image" Target="../media/image71.png"/><Relationship Id="rId5" Type="http://schemas.openxmlformats.org/officeDocument/2006/relationships/image" Target="../media/image39.png"/><Relationship Id="rId10" Type="http://schemas.openxmlformats.org/officeDocument/2006/relationships/image" Target="../media/image70.png"/><Relationship Id="rId4" Type="http://schemas.openxmlformats.org/officeDocument/2006/relationships/image" Target="../media/image38.png"/><Relationship Id="rId9" Type="http://schemas.openxmlformats.org/officeDocument/2006/relationships/image" Target="../media/image6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9.png"/><Relationship Id="rId5" Type="http://schemas.openxmlformats.org/officeDocument/2006/relationships/image" Target="../media/image76.png"/><Relationship Id="rId4" Type="http://schemas.openxmlformats.org/officeDocument/2006/relationships/image" Target="../media/image8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1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96.png"/><Relationship Id="rId3" Type="http://schemas.openxmlformats.org/officeDocument/2006/relationships/image" Target="../media/image37.png"/><Relationship Id="rId7" Type="http://schemas.openxmlformats.org/officeDocument/2006/relationships/image" Target="../media/image42.png"/><Relationship Id="rId12" Type="http://schemas.openxmlformats.org/officeDocument/2006/relationships/image" Target="../media/image95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11" Type="http://schemas.openxmlformats.org/officeDocument/2006/relationships/image" Target="../media/image94.png"/><Relationship Id="rId5" Type="http://schemas.openxmlformats.org/officeDocument/2006/relationships/image" Target="../media/image39.png"/><Relationship Id="rId15" Type="http://schemas.openxmlformats.org/officeDocument/2006/relationships/image" Target="../media/image98.png"/><Relationship Id="rId10" Type="http://schemas.openxmlformats.org/officeDocument/2006/relationships/image" Target="../media/image93.png"/><Relationship Id="rId4" Type="http://schemas.openxmlformats.org/officeDocument/2006/relationships/image" Target="../media/image38.png"/><Relationship Id="rId9" Type="http://schemas.openxmlformats.org/officeDocument/2006/relationships/image" Target="../media/image92.png"/><Relationship Id="rId14" Type="http://schemas.openxmlformats.org/officeDocument/2006/relationships/image" Target="../media/image97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31.png"/><Relationship Id="rId7" Type="http://schemas.openxmlformats.org/officeDocument/2006/relationships/image" Target="../media/image10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10" Type="http://schemas.openxmlformats.org/officeDocument/2006/relationships/image" Target="../media/image61.png"/><Relationship Id="rId4" Type="http://schemas.openxmlformats.org/officeDocument/2006/relationships/image" Target="../media/image99.png"/><Relationship Id="rId9" Type="http://schemas.openxmlformats.org/officeDocument/2006/relationships/image" Target="../media/image6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221" y="1559560"/>
            <a:ext cx="11800205" cy="677108"/>
          </a:xfrm>
        </p:spPr>
        <p:txBody>
          <a:bodyPr/>
          <a:lstStyle/>
          <a:p>
            <a:pPr algn="ctr"/>
            <a:r>
              <a:rPr lang="en-US" sz="4400" dirty="0"/>
              <a:t>A</a:t>
            </a:r>
            <a:r>
              <a:rPr lang="en-US" sz="4400" u="none" dirty="0"/>
              <a:t>ngle Modulation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>
          <a:xfrm>
            <a:off x="1828800" y="3352800"/>
            <a:ext cx="8534400" cy="2492990"/>
          </a:xfrm>
        </p:spPr>
        <p:txBody>
          <a:bodyPr/>
          <a:lstStyle/>
          <a:p>
            <a:pPr algn="ctr"/>
            <a:r>
              <a:rPr lang="en-US" b="1" dirty="0"/>
              <a:t>Prepared by</a:t>
            </a:r>
          </a:p>
          <a:p>
            <a:pPr algn="ctr"/>
            <a:r>
              <a:rPr lang="en-US" dirty="0"/>
              <a:t>Rifat Rahman</a:t>
            </a:r>
          </a:p>
          <a:p>
            <a:pPr algn="ctr"/>
            <a:r>
              <a:rPr lang="en-US" dirty="0"/>
              <a:t>Assistant Professor</a:t>
            </a:r>
          </a:p>
          <a:p>
            <a:pPr algn="ctr"/>
            <a:r>
              <a:rPr lang="en-US" dirty="0"/>
              <a:t>Institute of Appropriate Technology, BUET</a:t>
            </a:r>
          </a:p>
          <a:p>
            <a:pPr algn="ctr"/>
            <a:r>
              <a:rPr lang="en-US" dirty="0">
                <a:hlinkClick r:id="rId2"/>
              </a:rPr>
              <a:t>https://rrahman007.buet.ac.bd</a:t>
            </a:r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and</a:t>
            </a:r>
          </a:p>
          <a:p>
            <a:pPr algn="ctr"/>
            <a:r>
              <a:rPr lang="en-US" dirty="0"/>
              <a:t>Prof. Hitesh </a:t>
            </a:r>
            <a:r>
              <a:rPr lang="en-US" dirty="0" err="1"/>
              <a:t>Dholakiya</a:t>
            </a:r>
            <a:endParaRPr lang="en-US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4214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44748" y="-45643"/>
            <a:ext cx="6304915" cy="971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200" dirty="0">
                <a:solidFill>
                  <a:srgbClr val="006600"/>
                </a:solidFill>
                <a:latin typeface="Trebuchet MS"/>
                <a:cs typeface="Trebuchet MS"/>
              </a:rPr>
              <a:t>Angle</a:t>
            </a:r>
            <a:r>
              <a:rPr sz="6200" spc="-350" dirty="0">
                <a:solidFill>
                  <a:srgbClr val="006600"/>
                </a:solidFill>
                <a:latin typeface="Trebuchet MS"/>
                <a:cs typeface="Trebuchet MS"/>
              </a:rPr>
              <a:t> </a:t>
            </a:r>
            <a:r>
              <a:rPr sz="6200" spc="-20" dirty="0">
                <a:solidFill>
                  <a:srgbClr val="006600"/>
                </a:solidFill>
                <a:latin typeface="Trebuchet MS"/>
                <a:cs typeface="Trebuchet MS"/>
              </a:rPr>
              <a:t>Modulation</a:t>
            </a:r>
            <a:endParaRPr sz="6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4142" y="782101"/>
            <a:ext cx="4770120" cy="1750695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3200" b="1" u="sng" spc="-1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Outlines</a:t>
            </a:r>
            <a:endParaRPr sz="3200">
              <a:latin typeface="Calibri"/>
              <a:cs typeface="Calibri"/>
            </a:endParaRPr>
          </a:p>
          <a:p>
            <a:pPr marL="520065" indent="-457200">
              <a:lnSpc>
                <a:spcPct val="100000"/>
              </a:lnSpc>
              <a:spcBef>
                <a:spcPts val="470"/>
              </a:spcBef>
              <a:buFont typeface="Wingdings"/>
              <a:buChar char=""/>
              <a:tabLst>
                <a:tab pos="5200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Basics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Angle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Modulation</a:t>
            </a:r>
            <a:endParaRPr sz="2400">
              <a:latin typeface="Calibri"/>
              <a:cs typeface="Calibri"/>
            </a:endParaRPr>
          </a:p>
          <a:p>
            <a:pPr marL="520065" indent="-457200">
              <a:lnSpc>
                <a:spcPct val="100000"/>
              </a:lnSpc>
              <a:buFont typeface="Wingdings"/>
              <a:buChar char=""/>
              <a:tabLst>
                <a:tab pos="520065" algn="l"/>
              </a:tabLst>
            </a:pP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Advantages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Angle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Modulation</a:t>
            </a:r>
            <a:endParaRPr sz="2400">
              <a:latin typeface="Calibri"/>
              <a:cs typeface="Calibri"/>
            </a:endParaRPr>
          </a:p>
          <a:p>
            <a:pPr marL="520065" indent="-457200">
              <a:lnSpc>
                <a:spcPct val="100000"/>
              </a:lnSpc>
              <a:buFont typeface="Wingdings"/>
              <a:buChar char=""/>
              <a:tabLst>
                <a:tab pos="520065" algn="l"/>
              </a:tabLst>
            </a:pP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Applications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Angle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Modulation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Basics</a:t>
            </a:r>
            <a:r>
              <a:rPr sz="3200" u="sng" spc="-5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of</a:t>
            </a:r>
            <a:r>
              <a:rPr sz="3200" u="sng" spc="-2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Angle</a:t>
            </a:r>
            <a:r>
              <a:rPr sz="3200" u="sng" spc="-5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spc="-1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Modulation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4046" y="3638041"/>
            <a:ext cx="236092" cy="21170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2586482" y="3638041"/>
            <a:ext cx="962025" cy="212090"/>
          </a:xfrm>
          <a:custGeom>
            <a:avLst/>
            <a:gdLst/>
            <a:ahLst/>
            <a:cxnLst/>
            <a:rect l="l" t="t" r="r" b="b"/>
            <a:pathLst>
              <a:path w="962025" h="212089">
                <a:moveTo>
                  <a:pt x="893952" y="0"/>
                </a:moveTo>
                <a:lnTo>
                  <a:pt x="890904" y="8635"/>
                </a:lnTo>
                <a:lnTo>
                  <a:pt x="903190" y="13946"/>
                </a:lnTo>
                <a:lnTo>
                  <a:pt x="913749" y="21304"/>
                </a:lnTo>
                <a:lnTo>
                  <a:pt x="935140" y="55429"/>
                </a:lnTo>
                <a:lnTo>
                  <a:pt x="942212" y="104774"/>
                </a:lnTo>
                <a:lnTo>
                  <a:pt x="941427" y="123443"/>
                </a:lnTo>
                <a:lnTo>
                  <a:pt x="929639" y="169163"/>
                </a:lnTo>
                <a:lnTo>
                  <a:pt x="903333" y="197792"/>
                </a:lnTo>
                <a:lnTo>
                  <a:pt x="891285" y="203199"/>
                </a:lnTo>
                <a:lnTo>
                  <a:pt x="893952" y="211708"/>
                </a:lnTo>
                <a:lnTo>
                  <a:pt x="934422" y="187705"/>
                </a:lnTo>
                <a:lnTo>
                  <a:pt x="957151" y="143335"/>
                </a:lnTo>
                <a:lnTo>
                  <a:pt x="961516" y="105917"/>
                </a:lnTo>
                <a:lnTo>
                  <a:pt x="960432" y="86723"/>
                </a:lnTo>
                <a:lnTo>
                  <a:pt x="960421" y="86536"/>
                </a:lnTo>
                <a:lnTo>
                  <a:pt x="943990" y="37083"/>
                </a:lnTo>
                <a:lnTo>
                  <a:pt x="909308" y="5544"/>
                </a:lnTo>
                <a:lnTo>
                  <a:pt x="893952" y="0"/>
                </a:lnTo>
                <a:close/>
              </a:path>
              <a:path w="962025" h="212089">
                <a:moveTo>
                  <a:pt x="67563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64" y="104774"/>
                </a:lnTo>
                <a:lnTo>
                  <a:pt x="0" y="105917"/>
                </a:lnTo>
                <a:lnTo>
                  <a:pt x="985" y="123443"/>
                </a:lnTo>
                <a:lnTo>
                  <a:pt x="1093" y="125370"/>
                </a:lnTo>
                <a:lnTo>
                  <a:pt x="4365" y="143335"/>
                </a:lnTo>
                <a:lnTo>
                  <a:pt x="27094" y="187705"/>
                </a:lnTo>
                <a:lnTo>
                  <a:pt x="67563" y="211708"/>
                </a:lnTo>
                <a:lnTo>
                  <a:pt x="70230" y="203199"/>
                </a:lnTo>
                <a:lnTo>
                  <a:pt x="58183" y="197792"/>
                </a:lnTo>
                <a:lnTo>
                  <a:pt x="47767" y="190325"/>
                </a:lnTo>
                <a:lnTo>
                  <a:pt x="26376" y="155638"/>
                </a:lnTo>
                <a:lnTo>
                  <a:pt x="19352" y="105917"/>
                </a:lnTo>
                <a:lnTo>
                  <a:pt x="19303" y="104774"/>
                </a:lnTo>
                <a:lnTo>
                  <a:pt x="26376" y="55429"/>
                </a:lnTo>
                <a:lnTo>
                  <a:pt x="47863" y="21304"/>
                </a:lnTo>
                <a:lnTo>
                  <a:pt x="70611" y="8635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608576" y="3346703"/>
            <a:ext cx="0" cy="676910"/>
          </a:xfrm>
          <a:custGeom>
            <a:avLst/>
            <a:gdLst/>
            <a:ahLst/>
            <a:cxnLst/>
            <a:rect l="l" t="t" r="r" b="b"/>
            <a:pathLst>
              <a:path h="676910">
                <a:moveTo>
                  <a:pt x="0" y="0"/>
                </a:moveTo>
                <a:lnTo>
                  <a:pt x="0" y="676656"/>
                </a:lnTo>
              </a:path>
            </a:pathLst>
          </a:custGeom>
          <a:ln w="28575">
            <a:solidFill>
              <a:srgbClr val="4471C4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54166" y="3638041"/>
            <a:ext cx="236092" cy="211708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6853555" y="3638041"/>
            <a:ext cx="1149350" cy="212090"/>
            <a:chOff x="6853555" y="3638041"/>
            <a:chExt cx="1149350" cy="212090"/>
          </a:xfrm>
        </p:grpSpPr>
        <p:sp>
          <p:nvSpPr>
            <p:cNvPr id="8" name="object 8"/>
            <p:cNvSpPr/>
            <p:nvPr/>
          </p:nvSpPr>
          <p:spPr>
            <a:xfrm>
              <a:off x="6853555" y="3638041"/>
              <a:ext cx="1149350" cy="212090"/>
            </a:xfrm>
            <a:custGeom>
              <a:avLst/>
              <a:gdLst/>
              <a:ahLst/>
              <a:cxnLst/>
              <a:rect l="l" t="t" r="r" b="b"/>
              <a:pathLst>
                <a:path w="1149350" h="212089">
                  <a:moveTo>
                    <a:pt x="1081404" y="0"/>
                  </a:moveTo>
                  <a:lnTo>
                    <a:pt x="1078356" y="8635"/>
                  </a:lnTo>
                  <a:lnTo>
                    <a:pt x="1090642" y="13946"/>
                  </a:lnTo>
                  <a:lnTo>
                    <a:pt x="1101201" y="21304"/>
                  </a:lnTo>
                  <a:lnTo>
                    <a:pt x="1122592" y="55429"/>
                  </a:lnTo>
                  <a:lnTo>
                    <a:pt x="1129664" y="104774"/>
                  </a:lnTo>
                  <a:lnTo>
                    <a:pt x="1128879" y="123443"/>
                  </a:lnTo>
                  <a:lnTo>
                    <a:pt x="1117091" y="169163"/>
                  </a:lnTo>
                  <a:lnTo>
                    <a:pt x="1090785" y="197792"/>
                  </a:lnTo>
                  <a:lnTo>
                    <a:pt x="1078737" y="203199"/>
                  </a:lnTo>
                  <a:lnTo>
                    <a:pt x="1081404" y="211708"/>
                  </a:lnTo>
                  <a:lnTo>
                    <a:pt x="1121874" y="187705"/>
                  </a:lnTo>
                  <a:lnTo>
                    <a:pt x="1144603" y="143335"/>
                  </a:lnTo>
                  <a:lnTo>
                    <a:pt x="1148968" y="105917"/>
                  </a:lnTo>
                  <a:lnTo>
                    <a:pt x="1147884" y="86723"/>
                  </a:lnTo>
                  <a:lnTo>
                    <a:pt x="1147873" y="86536"/>
                  </a:lnTo>
                  <a:lnTo>
                    <a:pt x="1131442" y="37083"/>
                  </a:lnTo>
                  <a:lnTo>
                    <a:pt x="1096742" y="5544"/>
                  </a:lnTo>
                  <a:lnTo>
                    <a:pt x="1081404" y="0"/>
                  </a:lnTo>
                  <a:close/>
                </a:path>
                <a:path w="1149350" h="212089">
                  <a:moveTo>
                    <a:pt x="67563" y="0"/>
                  </a:moveTo>
                  <a:lnTo>
                    <a:pt x="27166" y="24110"/>
                  </a:lnTo>
                  <a:lnTo>
                    <a:pt x="4381" y="68595"/>
                  </a:lnTo>
                  <a:lnTo>
                    <a:pt x="64" y="104774"/>
                  </a:lnTo>
                  <a:lnTo>
                    <a:pt x="0" y="105917"/>
                  </a:lnTo>
                  <a:lnTo>
                    <a:pt x="985" y="123443"/>
                  </a:lnTo>
                  <a:lnTo>
                    <a:pt x="1093" y="125370"/>
                  </a:lnTo>
                  <a:lnTo>
                    <a:pt x="4365" y="143335"/>
                  </a:lnTo>
                  <a:lnTo>
                    <a:pt x="27094" y="187705"/>
                  </a:lnTo>
                  <a:lnTo>
                    <a:pt x="67563" y="211708"/>
                  </a:lnTo>
                  <a:lnTo>
                    <a:pt x="70230" y="203199"/>
                  </a:lnTo>
                  <a:lnTo>
                    <a:pt x="58183" y="197792"/>
                  </a:lnTo>
                  <a:lnTo>
                    <a:pt x="47767" y="190325"/>
                  </a:lnTo>
                  <a:lnTo>
                    <a:pt x="26376" y="155638"/>
                  </a:lnTo>
                  <a:lnTo>
                    <a:pt x="19352" y="105917"/>
                  </a:lnTo>
                  <a:lnTo>
                    <a:pt x="19303" y="104774"/>
                  </a:lnTo>
                  <a:lnTo>
                    <a:pt x="26376" y="55429"/>
                  </a:lnTo>
                  <a:lnTo>
                    <a:pt x="47815" y="21304"/>
                  </a:lnTo>
                  <a:lnTo>
                    <a:pt x="70611" y="8635"/>
                  </a:lnTo>
                  <a:lnTo>
                    <a:pt x="675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32447" y="3638041"/>
              <a:ext cx="236093" cy="211708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81827" y="3912361"/>
            <a:ext cx="236092" cy="21170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837546" y="3912361"/>
            <a:ext cx="236093" cy="21170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84046" y="5460110"/>
            <a:ext cx="236092" cy="211747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2586482" y="5460110"/>
            <a:ext cx="962025" cy="212090"/>
          </a:xfrm>
          <a:custGeom>
            <a:avLst/>
            <a:gdLst/>
            <a:ahLst/>
            <a:cxnLst/>
            <a:rect l="l" t="t" r="r" b="b"/>
            <a:pathLst>
              <a:path w="962025" h="212089">
                <a:moveTo>
                  <a:pt x="893952" y="0"/>
                </a:moveTo>
                <a:lnTo>
                  <a:pt x="890904" y="8636"/>
                </a:lnTo>
                <a:lnTo>
                  <a:pt x="903190" y="13946"/>
                </a:lnTo>
                <a:lnTo>
                  <a:pt x="913749" y="21304"/>
                </a:lnTo>
                <a:lnTo>
                  <a:pt x="935140" y="55429"/>
                </a:lnTo>
                <a:lnTo>
                  <a:pt x="942212" y="104775"/>
                </a:lnTo>
                <a:lnTo>
                  <a:pt x="941427" y="123473"/>
                </a:lnTo>
                <a:lnTo>
                  <a:pt x="929639" y="169214"/>
                </a:lnTo>
                <a:lnTo>
                  <a:pt x="903333" y="197805"/>
                </a:lnTo>
                <a:lnTo>
                  <a:pt x="891285" y="203149"/>
                </a:lnTo>
                <a:lnTo>
                  <a:pt x="893952" y="211747"/>
                </a:lnTo>
                <a:lnTo>
                  <a:pt x="934422" y="187710"/>
                </a:lnTo>
                <a:lnTo>
                  <a:pt x="957151" y="143333"/>
                </a:lnTo>
                <a:lnTo>
                  <a:pt x="961516" y="105918"/>
                </a:lnTo>
                <a:lnTo>
                  <a:pt x="960432" y="86723"/>
                </a:lnTo>
                <a:lnTo>
                  <a:pt x="960421" y="86536"/>
                </a:lnTo>
                <a:lnTo>
                  <a:pt x="943990" y="37084"/>
                </a:lnTo>
                <a:lnTo>
                  <a:pt x="909308" y="5544"/>
                </a:lnTo>
                <a:lnTo>
                  <a:pt x="893952" y="0"/>
                </a:lnTo>
                <a:close/>
              </a:path>
              <a:path w="962025" h="212089">
                <a:moveTo>
                  <a:pt x="67563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64" y="104775"/>
                </a:lnTo>
                <a:lnTo>
                  <a:pt x="0" y="105918"/>
                </a:lnTo>
                <a:lnTo>
                  <a:pt x="9804" y="159787"/>
                </a:lnTo>
                <a:lnTo>
                  <a:pt x="38671" y="198200"/>
                </a:lnTo>
                <a:lnTo>
                  <a:pt x="67563" y="211747"/>
                </a:lnTo>
                <a:lnTo>
                  <a:pt x="70230" y="203149"/>
                </a:lnTo>
                <a:lnTo>
                  <a:pt x="58183" y="197805"/>
                </a:lnTo>
                <a:lnTo>
                  <a:pt x="47767" y="190368"/>
                </a:lnTo>
                <a:lnTo>
                  <a:pt x="26376" y="155688"/>
                </a:lnTo>
                <a:lnTo>
                  <a:pt x="19352" y="105918"/>
                </a:lnTo>
                <a:lnTo>
                  <a:pt x="19303" y="104775"/>
                </a:lnTo>
                <a:lnTo>
                  <a:pt x="20089" y="86723"/>
                </a:lnTo>
                <a:lnTo>
                  <a:pt x="31876" y="42164"/>
                </a:lnTo>
                <a:lnTo>
                  <a:pt x="58398" y="13946"/>
                </a:lnTo>
                <a:lnTo>
                  <a:pt x="70611" y="8636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58011" y="5390489"/>
            <a:ext cx="266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847090" algn="l"/>
              </a:tabLst>
            </a:pPr>
            <a:r>
              <a:rPr sz="1800" dirty="0">
                <a:latin typeface="Cambria Math"/>
                <a:cs typeface="Cambria Math"/>
              </a:rPr>
              <a:t>⟹</a:t>
            </a:r>
            <a:r>
              <a:rPr sz="1800" spc="9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𝐂</a:t>
            </a:r>
            <a:r>
              <a:rPr sz="1800" spc="32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=</a:t>
            </a:r>
            <a:r>
              <a:rPr sz="1800" spc="85" dirty="0">
                <a:latin typeface="Cambria Math"/>
                <a:cs typeface="Cambria Math"/>
              </a:rPr>
              <a:t> </a:t>
            </a:r>
            <a:r>
              <a:rPr sz="1800" spc="-20" dirty="0">
                <a:latin typeface="Cambria Math"/>
                <a:cs typeface="Cambria Math"/>
              </a:rPr>
              <a:t>𝐕</a:t>
            </a:r>
            <a:r>
              <a:rPr sz="1950" spc="-30" baseline="-14957" dirty="0">
                <a:latin typeface="Cambria Math"/>
                <a:cs typeface="Cambria Math"/>
              </a:rPr>
              <a:t>𝐂</a:t>
            </a:r>
            <a:r>
              <a:rPr sz="1950" spc="89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𝐜𝐨𝐬</a:t>
            </a:r>
            <a:r>
              <a:rPr sz="1800" spc="32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𝛚</a:t>
            </a:r>
            <a:r>
              <a:rPr sz="1950" baseline="-14957" dirty="0">
                <a:latin typeface="Cambria Math"/>
                <a:cs typeface="Cambria Math"/>
              </a:rPr>
              <a:t>𝐜</a:t>
            </a:r>
            <a:r>
              <a:rPr sz="1800" dirty="0">
                <a:latin typeface="Cambria Math"/>
                <a:cs typeface="Cambria Math"/>
              </a:rPr>
              <a:t>𝐭</a:t>
            </a:r>
            <a:r>
              <a:rPr sz="1800" spc="-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+</a:t>
            </a:r>
            <a:r>
              <a:rPr sz="1800" spc="-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𝛟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608576" y="5168772"/>
            <a:ext cx="0" cy="676910"/>
          </a:xfrm>
          <a:custGeom>
            <a:avLst/>
            <a:gdLst/>
            <a:ahLst/>
            <a:cxnLst/>
            <a:rect l="l" t="t" r="r" b="b"/>
            <a:pathLst>
              <a:path h="676910">
                <a:moveTo>
                  <a:pt x="0" y="0"/>
                </a:moveTo>
                <a:lnTo>
                  <a:pt x="0" y="676656"/>
                </a:lnTo>
              </a:path>
            </a:pathLst>
          </a:custGeom>
          <a:ln w="28575">
            <a:solidFill>
              <a:srgbClr val="4471C4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86639" y="584708"/>
            <a:ext cx="11831320" cy="4839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0" marR="43180" indent="-45720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508000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In</a:t>
            </a:r>
            <a:r>
              <a:rPr sz="2400" b="1" spc="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Angle</a:t>
            </a:r>
            <a:r>
              <a:rPr sz="2400" b="1" spc="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Modulation,</a:t>
            </a:r>
            <a:r>
              <a:rPr sz="2400" b="1" spc="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Frequency</a:t>
            </a:r>
            <a:r>
              <a:rPr sz="2400" b="1" spc="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or</a:t>
            </a:r>
            <a:r>
              <a:rPr sz="2400" b="1" spc="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Phase</a:t>
            </a:r>
            <a:r>
              <a:rPr sz="2400" b="1" spc="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Carrier</a:t>
            </a:r>
            <a:r>
              <a:rPr sz="2400" b="1" spc="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Signal</a:t>
            </a:r>
            <a:r>
              <a:rPr sz="2400" b="1" spc="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Changes</a:t>
            </a:r>
            <a:r>
              <a:rPr sz="2400" b="1" spc="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with</a:t>
            </a:r>
            <a:r>
              <a:rPr sz="2400" b="1" spc="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respect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to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Modulating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Signal.</a:t>
            </a:r>
            <a:endParaRPr sz="2400" dirty="0">
              <a:latin typeface="Calibri"/>
              <a:cs typeface="Calibri"/>
            </a:endParaRPr>
          </a:p>
          <a:p>
            <a:pPr marL="507365" indent="-456565">
              <a:lnSpc>
                <a:spcPct val="100000"/>
              </a:lnSpc>
              <a:buFont typeface="Wingdings"/>
              <a:buChar char=""/>
              <a:tabLst>
                <a:tab pos="5073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There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are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Two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Types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Angle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Modulation.</a:t>
            </a:r>
            <a:endParaRPr sz="2400" dirty="0">
              <a:latin typeface="Calibri"/>
              <a:cs typeface="Calibri"/>
            </a:endParaRPr>
          </a:p>
          <a:p>
            <a:pPr marL="964565" lvl="1" indent="-456565">
              <a:lnSpc>
                <a:spcPct val="100000"/>
              </a:lnSpc>
              <a:buFont typeface="Wingdings"/>
              <a:buChar char=""/>
              <a:tabLst>
                <a:tab pos="964565" algn="l"/>
              </a:tabLst>
            </a:pPr>
            <a:r>
              <a:rPr sz="2400" b="1" dirty="0">
                <a:solidFill>
                  <a:srgbClr val="1F4E79"/>
                </a:solidFill>
                <a:latin typeface="Calibri"/>
                <a:cs typeface="Calibri"/>
              </a:rPr>
              <a:t>Frequency</a:t>
            </a:r>
            <a:r>
              <a:rPr sz="2400" b="1" spc="-13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1F4E79"/>
                </a:solidFill>
                <a:latin typeface="Calibri"/>
                <a:cs typeface="Calibri"/>
              </a:rPr>
              <a:t>Modulation</a:t>
            </a:r>
            <a:endParaRPr sz="2400" dirty="0">
              <a:latin typeface="Calibri"/>
              <a:cs typeface="Calibri"/>
            </a:endParaRPr>
          </a:p>
          <a:p>
            <a:pPr marL="964565" lvl="1" indent="-456565">
              <a:lnSpc>
                <a:spcPct val="100000"/>
              </a:lnSpc>
              <a:buFont typeface="Wingdings"/>
              <a:buChar char=""/>
              <a:tabLst>
                <a:tab pos="964565" algn="l"/>
              </a:tabLst>
            </a:pPr>
            <a:r>
              <a:rPr sz="2400" b="1" dirty="0">
                <a:solidFill>
                  <a:srgbClr val="1F4E79"/>
                </a:solidFill>
                <a:latin typeface="Calibri"/>
                <a:cs typeface="Calibri"/>
              </a:rPr>
              <a:t>Phase</a:t>
            </a:r>
            <a:r>
              <a:rPr sz="2400" b="1" spc="-3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1F4E79"/>
                </a:solidFill>
                <a:latin typeface="Calibri"/>
                <a:cs typeface="Calibri"/>
              </a:rPr>
              <a:t>Modulation</a:t>
            </a:r>
            <a:endParaRPr sz="2400" dirty="0">
              <a:latin typeface="Calibri"/>
              <a:cs typeface="Calibri"/>
            </a:endParaRPr>
          </a:p>
          <a:p>
            <a:pPr marL="507365" indent="-456565">
              <a:lnSpc>
                <a:spcPct val="100000"/>
              </a:lnSpc>
              <a:buFont typeface="Wingdings"/>
              <a:buChar char=""/>
              <a:tabLst>
                <a:tab pos="5073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In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Frequency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Modulation,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Frequency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Carrier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Signal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changes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with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respect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to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endParaRPr sz="2400" dirty="0">
              <a:latin typeface="Calibri"/>
              <a:cs typeface="Calibri"/>
            </a:endParaRPr>
          </a:p>
          <a:p>
            <a:pPr marL="508000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Modulating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Signal.</a:t>
            </a:r>
            <a:endParaRPr sz="2400" dirty="0">
              <a:latin typeface="Calibri"/>
              <a:cs typeface="Calibri"/>
            </a:endParaRPr>
          </a:p>
          <a:p>
            <a:pPr marL="995044" indent="-285750">
              <a:lnSpc>
                <a:spcPts val="2130"/>
              </a:lnSpc>
              <a:spcBef>
                <a:spcPts val="1225"/>
              </a:spcBef>
              <a:buFont typeface="Wingdings"/>
              <a:buChar char=""/>
              <a:tabLst>
                <a:tab pos="995044" algn="l"/>
                <a:tab pos="4742180" algn="l"/>
              </a:tabLst>
            </a:pPr>
            <a:r>
              <a:rPr sz="1800" dirty="0">
                <a:latin typeface="Cambria Math"/>
                <a:cs typeface="Cambria Math"/>
              </a:rPr>
              <a:t>Let</a:t>
            </a:r>
            <a:r>
              <a:rPr sz="1800" spc="-5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the</a:t>
            </a:r>
            <a:r>
              <a:rPr sz="1800" spc="-55" dirty="0">
                <a:latin typeface="Cambria Math"/>
                <a:cs typeface="Cambria Math"/>
              </a:rPr>
              <a:t> </a:t>
            </a:r>
            <a:r>
              <a:rPr sz="1800" spc="-20" dirty="0">
                <a:latin typeface="Cambria Math"/>
                <a:cs typeface="Cambria Math"/>
              </a:rPr>
              <a:t>Carrier</a:t>
            </a:r>
            <a:r>
              <a:rPr sz="1800" spc="-65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Signal</a:t>
            </a:r>
            <a:r>
              <a:rPr sz="1800" spc="-6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is</a:t>
            </a:r>
            <a:r>
              <a:rPr sz="1800" spc="-4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given</a:t>
            </a:r>
            <a:r>
              <a:rPr sz="1800" spc="-6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by: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dirty="0">
                <a:latin typeface="Wingdings"/>
                <a:cs typeface="Wingdings"/>
              </a:rPr>
              <a:t></a:t>
            </a:r>
            <a:r>
              <a:rPr sz="1800" spc="2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Then,</a:t>
            </a:r>
            <a:r>
              <a:rPr sz="1800" spc="-5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the</a:t>
            </a:r>
            <a:r>
              <a:rPr sz="1800" spc="-45" dirty="0">
                <a:latin typeface="Cambria Math"/>
                <a:cs typeface="Cambria Math"/>
              </a:rPr>
              <a:t> </a:t>
            </a:r>
            <a:r>
              <a:rPr sz="1800" spc="-30" dirty="0">
                <a:latin typeface="Cambria Math"/>
                <a:cs typeface="Cambria Math"/>
              </a:rPr>
              <a:t>Frequency</a:t>
            </a:r>
            <a:r>
              <a:rPr sz="1800" spc="-5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Modulated</a:t>
            </a:r>
            <a:r>
              <a:rPr sz="1800" spc="-60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Signal</a:t>
            </a:r>
            <a:r>
              <a:rPr sz="1800" spc="-5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is</a:t>
            </a:r>
            <a:r>
              <a:rPr sz="1800" spc="-25" dirty="0">
                <a:latin typeface="Cambria Math"/>
                <a:cs typeface="Cambria Math"/>
              </a:rPr>
              <a:t> </a:t>
            </a:r>
            <a:r>
              <a:rPr sz="1800" spc="-20" dirty="0">
                <a:latin typeface="Cambria Math"/>
                <a:cs typeface="Cambria Math"/>
              </a:rPr>
              <a:t>given</a:t>
            </a:r>
            <a:r>
              <a:rPr sz="1800" spc="-5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by:</a:t>
            </a:r>
            <a:endParaRPr sz="1800" dirty="0">
              <a:latin typeface="Cambria Math"/>
              <a:cs typeface="Cambria Math"/>
            </a:endParaRPr>
          </a:p>
          <a:p>
            <a:pPr marL="709295">
              <a:lnSpc>
                <a:spcPts val="2130"/>
              </a:lnSpc>
              <a:tabLst>
                <a:tab pos="1518285" algn="l"/>
                <a:tab pos="4742180" algn="l"/>
                <a:tab pos="5786120" algn="l"/>
              </a:tabLst>
            </a:pPr>
            <a:r>
              <a:rPr sz="1800" dirty="0">
                <a:latin typeface="Cambria Math"/>
                <a:cs typeface="Cambria Math"/>
              </a:rPr>
              <a:t>⟹</a:t>
            </a:r>
            <a:r>
              <a:rPr sz="1800" spc="9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𝐂</a:t>
            </a:r>
            <a:r>
              <a:rPr sz="1800" spc="32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=</a:t>
            </a:r>
            <a:r>
              <a:rPr sz="1800" spc="85" dirty="0">
                <a:latin typeface="Cambria Math"/>
                <a:cs typeface="Cambria Math"/>
              </a:rPr>
              <a:t> </a:t>
            </a:r>
            <a:r>
              <a:rPr sz="1800" spc="-20" dirty="0">
                <a:latin typeface="Cambria Math"/>
                <a:cs typeface="Cambria Math"/>
              </a:rPr>
              <a:t>𝐕</a:t>
            </a:r>
            <a:r>
              <a:rPr sz="1950" spc="-30" baseline="-14957" dirty="0">
                <a:latin typeface="Cambria Math"/>
                <a:cs typeface="Cambria Math"/>
              </a:rPr>
              <a:t>𝐂</a:t>
            </a:r>
            <a:r>
              <a:rPr sz="1950" spc="89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𝐜𝐨𝐬</a:t>
            </a:r>
            <a:r>
              <a:rPr sz="1800" spc="32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𝛚</a:t>
            </a:r>
            <a:r>
              <a:rPr sz="1950" baseline="-14957" dirty="0">
                <a:latin typeface="Cambria Math"/>
                <a:cs typeface="Cambria Math"/>
              </a:rPr>
              <a:t>𝐜</a:t>
            </a:r>
            <a:r>
              <a:rPr sz="1800" dirty="0">
                <a:latin typeface="Cambria Math"/>
                <a:cs typeface="Cambria Math"/>
              </a:rPr>
              <a:t>𝐭</a:t>
            </a:r>
            <a:r>
              <a:rPr sz="1800" spc="-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+</a:t>
            </a:r>
            <a:r>
              <a:rPr sz="1800" spc="-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𝛟</a:t>
            </a:r>
            <a:r>
              <a:rPr sz="1800" dirty="0">
                <a:latin typeface="Cambria Math"/>
                <a:cs typeface="Cambria Math"/>
              </a:rPr>
              <a:t>	⟹</a:t>
            </a:r>
            <a:r>
              <a:rPr sz="1800" spc="4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𝐘</a:t>
            </a:r>
            <a:r>
              <a:rPr sz="1950" baseline="-14957" dirty="0">
                <a:latin typeface="Cambria Math"/>
                <a:cs typeface="Cambria Math"/>
              </a:rPr>
              <a:t>𝐅𝐌</a:t>
            </a:r>
            <a:r>
              <a:rPr sz="1950" spc="652" baseline="-14957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=</a:t>
            </a:r>
            <a:r>
              <a:rPr sz="1800" spc="90" dirty="0">
                <a:latin typeface="Cambria Math"/>
                <a:cs typeface="Cambria Math"/>
              </a:rPr>
              <a:t> </a:t>
            </a:r>
            <a:r>
              <a:rPr sz="1800" spc="-20" dirty="0">
                <a:latin typeface="Cambria Math"/>
                <a:cs typeface="Cambria Math"/>
              </a:rPr>
              <a:t>𝐕</a:t>
            </a:r>
            <a:r>
              <a:rPr sz="1950" spc="-30" baseline="-14957" dirty="0">
                <a:latin typeface="Cambria Math"/>
                <a:cs typeface="Cambria Math"/>
              </a:rPr>
              <a:t>𝐂</a:t>
            </a:r>
            <a:r>
              <a:rPr sz="1950" spc="89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𝐜𝐨𝐬</a:t>
            </a:r>
            <a:r>
              <a:rPr sz="1800" spc="30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𝛚</a:t>
            </a:r>
            <a:r>
              <a:rPr sz="1800" spc="32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𝐭</a:t>
            </a:r>
            <a:r>
              <a:rPr sz="1800" spc="33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𝐭</a:t>
            </a:r>
            <a:r>
              <a:rPr sz="1800" spc="-1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+</a:t>
            </a:r>
            <a:r>
              <a:rPr sz="1800" spc="-1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𝛟</a:t>
            </a:r>
            <a:endParaRPr sz="1800" dirty="0">
              <a:latin typeface="Cambria Math"/>
              <a:cs typeface="Cambria Math"/>
            </a:endParaRPr>
          </a:p>
          <a:p>
            <a:pPr marL="5027930" lvl="1" indent="-285750">
              <a:lnSpc>
                <a:spcPct val="100000"/>
              </a:lnSpc>
              <a:buFont typeface="Wingdings"/>
              <a:buChar char=""/>
              <a:tabLst>
                <a:tab pos="5027930" algn="l"/>
                <a:tab pos="6106160" algn="l"/>
              </a:tabLst>
            </a:pPr>
            <a:r>
              <a:rPr sz="1800" b="1" dirty="0">
                <a:latin typeface="Calibri"/>
                <a:cs typeface="Calibri"/>
              </a:rPr>
              <a:t>Here,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dirty="0">
                <a:latin typeface="Cambria Math"/>
                <a:cs typeface="Cambria Math"/>
              </a:rPr>
              <a:t>𝛚</a:t>
            </a:r>
            <a:r>
              <a:rPr sz="1800" spc="330" dirty="0">
                <a:latin typeface="Cambria Math"/>
                <a:cs typeface="Cambria Math"/>
              </a:rPr>
              <a:t> </a:t>
            </a:r>
            <a:r>
              <a:rPr sz="1800" spc="-60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b="1" dirty="0">
                <a:latin typeface="Calibri"/>
                <a:cs typeface="Calibri"/>
              </a:rPr>
              <a:t>is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function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of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the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Message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Signal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dirty="0">
                <a:latin typeface="Cambria Math"/>
                <a:cs typeface="Cambria Math"/>
              </a:rPr>
              <a:t>𝐦</a:t>
            </a:r>
            <a:r>
              <a:rPr sz="1800" spc="34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𝐭</a:t>
            </a:r>
            <a:r>
              <a:rPr sz="1800" spc="340" dirty="0">
                <a:latin typeface="Cambria Math"/>
                <a:cs typeface="Cambria Math"/>
              </a:rPr>
              <a:t> </a:t>
            </a:r>
            <a:r>
              <a:rPr sz="1800" b="1" spc="-50" dirty="0">
                <a:latin typeface="Calibri"/>
                <a:cs typeface="Calibri"/>
              </a:rPr>
              <a:t>.</a:t>
            </a:r>
            <a:endParaRPr sz="1800" dirty="0">
              <a:latin typeface="Calibri"/>
              <a:cs typeface="Calibri"/>
            </a:endParaRPr>
          </a:p>
          <a:p>
            <a:pPr marL="508000" marR="45720" indent="-457200">
              <a:lnSpc>
                <a:spcPct val="100000"/>
              </a:lnSpc>
              <a:spcBef>
                <a:spcPts val="994"/>
              </a:spcBef>
              <a:buFont typeface="Wingdings"/>
              <a:buChar char=""/>
              <a:tabLst>
                <a:tab pos="508000" algn="l"/>
                <a:tab pos="906780" algn="l"/>
                <a:tab pos="1813560" algn="l"/>
                <a:tab pos="3536315" algn="l"/>
                <a:tab pos="4113529" algn="l"/>
                <a:tab pos="5022215" algn="l"/>
                <a:tab pos="5438140" algn="l"/>
                <a:tab pos="6015990" algn="l"/>
                <a:tab pos="7037070" algn="l"/>
                <a:tab pos="7943850" algn="l"/>
                <a:tab pos="9120505" algn="l"/>
                <a:tab pos="9846310" algn="l"/>
                <a:tab pos="10932795" algn="l"/>
                <a:tab pos="11355070" algn="l"/>
              </a:tabLst>
            </a:pP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In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Phase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Modulation,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Phase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Carrier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Signal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changes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with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respect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to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the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Modulating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Signal.</a:t>
            </a:r>
            <a:endParaRPr sz="2400" dirty="0">
              <a:latin typeface="Calibri"/>
              <a:cs typeface="Calibri"/>
            </a:endParaRPr>
          </a:p>
          <a:p>
            <a:pPr marL="995044" lvl="1" indent="-285750">
              <a:lnSpc>
                <a:spcPct val="100000"/>
              </a:lnSpc>
              <a:spcBef>
                <a:spcPts val="1175"/>
              </a:spcBef>
              <a:buFont typeface="Wingdings"/>
              <a:buChar char=""/>
              <a:tabLst>
                <a:tab pos="995044" algn="l"/>
                <a:tab pos="4742180" algn="l"/>
              </a:tabLst>
            </a:pPr>
            <a:r>
              <a:rPr sz="1800" dirty="0">
                <a:latin typeface="Cambria Math"/>
                <a:cs typeface="Cambria Math"/>
              </a:rPr>
              <a:t>Let</a:t>
            </a:r>
            <a:r>
              <a:rPr sz="1800" spc="-5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the</a:t>
            </a:r>
            <a:r>
              <a:rPr sz="1800" spc="-55" dirty="0">
                <a:latin typeface="Cambria Math"/>
                <a:cs typeface="Cambria Math"/>
              </a:rPr>
              <a:t> </a:t>
            </a:r>
            <a:r>
              <a:rPr sz="1800" spc="-20" dirty="0">
                <a:latin typeface="Cambria Math"/>
                <a:cs typeface="Cambria Math"/>
              </a:rPr>
              <a:t>Carrier</a:t>
            </a:r>
            <a:r>
              <a:rPr sz="1800" spc="-65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Signal</a:t>
            </a:r>
            <a:r>
              <a:rPr sz="1800" spc="-6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is</a:t>
            </a:r>
            <a:r>
              <a:rPr sz="1800" spc="-4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given</a:t>
            </a:r>
            <a:r>
              <a:rPr sz="1800" spc="-6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by: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dirty="0">
                <a:latin typeface="Wingdings"/>
                <a:cs typeface="Wingdings"/>
              </a:rPr>
              <a:t></a:t>
            </a:r>
            <a:r>
              <a:rPr sz="1800" spc="21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Then,</a:t>
            </a:r>
            <a:r>
              <a:rPr sz="1800" spc="-5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the</a:t>
            </a:r>
            <a:r>
              <a:rPr sz="1800" spc="-50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Phase</a:t>
            </a:r>
            <a:r>
              <a:rPr sz="1800" spc="-55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Modulated</a:t>
            </a:r>
            <a:r>
              <a:rPr sz="1800" spc="-60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Signal</a:t>
            </a:r>
            <a:r>
              <a:rPr sz="1800" spc="-6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is</a:t>
            </a:r>
            <a:r>
              <a:rPr sz="1800" spc="-2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given</a:t>
            </a:r>
            <a:r>
              <a:rPr sz="1800" spc="-55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by:</a:t>
            </a:r>
            <a:endParaRPr sz="1800" dirty="0">
              <a:latin typeface="Cambria Math"/>
              <a:cs typeface="Cambria Math"/>
            </a:endParaRPr>
          </a:p>
        </p:txBody>
      </p:sp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654166" y="5481446"/>
            <a:ext cx="236092" cy="211747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6853555" y="5448553"/>
            <a:ext cx="1256030" cy="276225"/>
            <a:chOff x="6853555" y="5448553"/>
            <a:chExt cx="1256030" cy="276225"/>
          </a:xfrm>
        </p:grpSpPr>
        <p:sp>
          <p:nvSpPr>
            <p:cNvPr id="19" name="object 19"/>
            <p:cNvSpPr/>
            <p:nvPr/>
          </p:nvSpPr>
          <p:spPr>
            <a:xfrm>
              <a:off x="6853555" y="5448553"/>
              <a:ext cx="1256030" cy="276225"/>
            </a:xfrm>
            <a:custGeom>
              <a:avLst/>
              <a:gdLst/>
              <a:ahLst/>
              <a:cxnLst/>
              <a:rect l="l" t="t" r="r" b="b"/>
              <a:pathLst>
                <a:path w="1256029" h="276225">
                  <a:moveTo>
                    <a:pt x="1183258" y="0"/>
                  </a:moveTo>
                  <a:lnTo>
                    <a:pt x="1180464" y="9144"/>
                  </a:lnTo>
                  <a:lnTo>
                    <a:pt x="1193159" y="15694"/>
                  </a:lnTo>
                  <a:lnTo>
                    <a:pt x="1204198" y="25257"/>
                  </a:lnTo>
                  <a:lnTo>
                    <a:pt x="1227453" y="71542"/>
                  </a:lnTo>
                  <a:lnTo>
                    <a:pt x="1234449" y="113885"/>
                  </a:lnTo>
                  <a:lnTo>
                    <a:pt x="1235324" y="138049"/>
                  </a:lnTo>
                  <a:lnTo>
                    <a:pt x="1234449" y="162361"/>
                  </a:lnTo>
                  <a:lnTo>
                    <a:pt x="1227453" y="204623"/>
                  </a:lnTo>
                  <a:lnTo>
                    <a:pt x="1204198" y="250810"/>
                  </a:lnTo>
                  <a:lnTo>
                    <a:pt x="1180464" y="266954"/>
                  </a:lnTo>
                  <a:lnTo>
                    <a:pt x="1183258" y="276110"/>
                  </a:lnTo>
                  <a:lnTo>
                    <a:pt x="1226550" y="245987"/>
                  </a:lnTo>
                  <a:lnTo>
                    <a:pt x="1245221" y="208647"/>
                  </a:lnTo>
                  <a:lnTo>
                    <a:pt x="1254607" y="163337"/>
                  </a:lnTo>
                  <a:lnTo>
                    <a:pt x="1255770" y="138176"/>
                  </a:lnTo>
                  <a:lnTo>
                    <a:pt x="1254660" y="113885"/>
                  </a:lnTo>
                  <a:lnTo>
                    <a:pt x="1245221" y="67397"/>
                  </a:lnTo>
                  <a:lnTo>
                    <a:pt x="1226550" y="30057"/>
                  </a:lnTo>
                  <a:lnTo>
                    <a:pt x="1199689" y="6383"/>
                  </a:lnTo>
                  <a:lnTo>
                    <a:pt x="1183258" y="0"/>
                  </a:lnTo>
                  <a:close/>
                </a:path>
                <a:path w="1256029" h="276225">
                  <a:moveTo>
                    <a:pt x="72516" y="0"/>
                  </a:moveTo>
                  <a:lnTo>
                    <a:pt x="29350" y="30057"/>
                  </a:lnTo>
                  <a:lnTo>
                    <a:pt x="10662" y="67397"/>
                  </a:lnTo>
                  <a:lnTo>
                    <a:pt x="1188" y="112736"/>
                  </a:lnTo>
                  <a:lnTo>
                    <a:pt x="0" y="138049"/>
                  </a:lnTo>
                  <a:lnTo>
                    <a:pt x="1142" y="162361"/>
                  </a:lnTo>
                  <a:lnTo>
                    <a:pt x="1188" y="163337"/>
                  </a:lnTo>
                  <a:lnTo>
                    <a:pt x="10662" y="208647"/>
                  </a:lnTo>
                  <a:lnTo>
                    <a:pt x="29350" y="245987"/>
                  </a:lnTo>
                  <a:lnTo>
                    <a:pt x="72516" y="276110"/>
                  </a:lnTo>
                  <a:lnTo>
                    <a:pt x="75310" y="266954"/>
                  </a:lnTo>
                  <a:lnTo>
                    <a:pt x="62670" y="260379"/>
                  </a:lnTo>
                  <a:lnTo>
                    <a:pt x="51625" y="250810"/>
                  </a:lnTo>
                  <a:lnTo>
                    <a:pt x="28342" y="204623"/>
                  </a:lnTo>
                  <a:lnTo>
                    <a:pt x="21547" y="163337"/>
                  </a:lnTo>
                  <a:lnTo>
                    <a:pt x="20573" y="138176"/>
                  </a:lnTo>
                  <a:lnTo>
                    <a:pt x="21433" y="113885"/>
                  </a:lnTo>
                  <a:lnTo>
                    <a:pt x="28342" y="71542"/>
                  </a:lnTo>
                  <a:lnTo>
                    <a:pt x="51625" y="25257"/>
                  </a:lnTo>
                  <a:lnTo>
                    <a:pt x="75310" y="9144"/>
                  </a:lnTo>
                  <a:lnTo>
                    <a:pt x="725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769479" y="5481446"/>
              <a:ext cx="236093" cy="211747"/>
            </a:xfrm>
            <a:prstGeom prst="rect">
              <a:avLst/>
            </a:prstGeom>
          </p:spPr>
        </p:pic>
      </p:grpSp>
      <p:pic>
        <p:nvPicPr>
          <p:cNvPr id="21" name="object 2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974207" y="5769483"/>
            <a:ext cx="236092" cy="211747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829927" y="5769483"/>
            <a:ext cx="236093" cy="211747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4865751" y="5411825"/>
            <a:ext cx="5320665" cy="588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  <a:tabLst>
                <a:tab pos="1106805" algn="l"/>
              </a:tabLst>
            </a:pPr>
            <a:r>
              <a:rPr sz="1800" dirty="0">
                <a:latin typeface="Cambria Math"/>
                <a:cs typeface="Cambria Math"/>
              </a:rPr>
              <a:t>⟹</a:t>
            </a:r>
            <a:r>
              <a:rPr sz="1800" spc="4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𝐘</a:t>
            </a:r>
            <a:r>
              <a:rPr lang="en-US" sz="1950" b="1" baseline="-14957" dirty="0">
                <a:latin typeface="Cambria Math"/>
                <a:cs typeface="Cambria Math"/>
              </a:rPr>
              <a:t>P</a:t>
            </a:r>
            <a:r>
              <a:rPr sz="1950" baseline="-14957" dirty="0">
                <a:latin typeface="Cambria Math"/>
                <a:cs typeface="Cambria Math"/>
              </a:rPr>
              <a:t>𝐌</a:t>
            </a:r>
            <a:r>
              <a:rPr sz="1950" spc="652" baseline="-14957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=</a:t>
            </a:r>
            <a:r>
              <a:rPr sz="1800" spc="95" dirty="0">
                <a:latin typeface="Cambria Math"/>
                <a:cs typeface="Cambria Math"/>
              </a:rPr>
              <a:t> </a:t>
            </a:r>
            <a:r>
              <a:rPr sz="1800" spc="-20" dirty="0">
                <a:latin typeface="Cambria Math"/>
                <a:cs typeface="Cambria Math"/>
              </a:rPr>
              <a:t>𝐕</a:t>
            </a:r>
            <a:r>
              <a:rPr sz="1950" spc="-30" baseline="-14957" dirty="0">
                <a:latin typeface="Cambria Math"/>
                <a:cs typeface="Cambria Math"/>
              </a:rPr>
              <a:t>𝐂</a:t>
            </a:r>
            <a:r>
              <a:rPr sz="1950" spc="97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𝐜𝐨𝐬</a:t>
            </a:r>
            <a:r>
              <a:rPr sz="1800" spc="38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𝛚</a:t>
            </a:r>
            <a:r>
              <a:rPr sz="1950" baseline="-14957" dirty="0">
                <a:latin typeface="Cambria Math"/>
                <a:cs typeface="Cambria Math"/>
              </a:rPr>
              <a:t>𝐜</a:t>
            </a:r>
            <a:r>
              <a:rPr sz="1800" dirty="0">
                <a:latin typeface="Cambria Math"/>
                <a:cs typeface="Cambria Math"/>
              </a:rPr>
              <a:t>𝐭</a:t>
            </a:r>
            <a:r>
              <a:rPr sz="1800" spc="-1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+</a:t>
            </a:r>
            <a:r>
              <a:rPr sz="1800" spc="-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𝛟</a:t>
            </a:r>
            <a:r>
              <a:rPr sz="1800" spc="33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𝐭</a:t>
            </a:r>
            <a:endParaRPr sz="1800" dirty="0">
              <a:latin typeface="Cambria Math"/>
              <a:cs typeface="Cambria Math"/>
            </a:endParaRPr>
          </a:p>
          <a:p>
            <a:pPr marL="349250" indent="-28575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349250" algn="l"/>
                <a:tab pos="1419225" algn="l"/>
              </a:tabLst>
            </a:pPr>
            <a:r>
              <a:rPr sz="1800" b="1" dirty="0">
                <a:latin typeface="Calibri"/>
                <a:cs typeface="Calibri"/>
              </a:rPr>
              <a:t>Here,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dirty="0">
                <a:latin typeface="Cambria Math"/>
                <a:cs typeface="Cambria Math"/>
              </a:rPr>
              <a:t>𝛟</a:t>
            </a:r>
            <a:r>
              <a:rPr sz="1800" spc="31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b="1" dirty="0">
                <a:latin typeface="Calibri"/>
                <a:cs typeface="Calibri"/>
              </a:rPr>
              <a:t>is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function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of the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Message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Signal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dirty="0">
                <a:latin typeface="Cambria Math"/>
                <a:cs typeface="Cambria Math"/>
              </a:rPr>
              <a:t>𝐦</a:t>
            </a:r>
            <a:r>
              <a:rPr sz="1800" spc="34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𝐭</a:t>
            </a:r>
            <a:r>
              <a:rPr sz="1800" spc="335" dirty="0">
                <a:latin typeface="Cambria Math"/>
                <a:cs typeface="Cambria Math"/>
              </a:rPr>
              <a:t> </a:t>
            </a:r>
            <a:r>
              <a:rPr sz="1800" b="1" spc="-50" dirty="0">
                <a:latin typeface="Calibri"/>
                <a:cs typeface="Calibri"/>
              </a:rPr>
              <a:t>.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340" y="584708"/>
            <a:ext cx="11878260" cy="64710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5565" algn="just">
              <a:lnSpc>
                <a:spcPct val="100000"/>
              </a:lnSpc>
              <a:spcBef>
                <a:spcPts val="100"/>
              </a:spcBef>
              <a:tabLst>
                <a:tab pos="417830" algn="l"/>
              </a:tabLst>
            </a:pPr>
            <a:r>
              <a:rPr lang="en-US" sz="2400" dirty="0">
                <a:solidFill>
                  <a:srgbClr val="6F2F9F"/>
                </a:solidFill>
                <a:latin typeface="Calibri"/>
                <a:cs typeface="Calibri"/>
              </a:rPr>
              <a:t>1.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Improved</a:t>
            </a:r>
            <a:r>
              <a:rPr sz="2400" b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noise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immunity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F2F9F"/>
                </a:solidFill>
                <a:latin typeface="Calibri"/>
                <a:cs typeface="Calibri"/>
              </a:rPr>
              <a:t>compared</a:t>
            </a:r>
            <a:r>
              <a:rPr sz="2400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F2F9F"/>
                </a:solidFill>
                <a:latin typeface="Calibri"/>
                <a:cs typeface="Calibri"/>
              </a:rPr>
              <a:t>to</a:t>
            </a:r>
            <a:r>
              <a:rPr sz="2400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F2F9F"/>
                </a:solidFill>
                <a:latin typeface="Calibri"/>
                <a:cs typeface="Calibri"/>
              </a:rPr>
              <a:t>amplitude</a:t>
            </a:r>
            <a:r>
              <a:rPr sz="2400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F2F9F"/>
                </a:solidFill>
                <a:latin typeface="Calibri"/>
                <a:cs typeface="Calibri"/>
              </a:rPr>
              <a:t>modulation.</a:t>
            </a:r>
            <a:endParaRPr lang="en-US" sz="2400" spc="-10" dirty="0">
              <a:solidFill>
                <a:srgbClr val="6F2F9F"/>
              </a:solidFill>
              <a:latin typeface="Calibri"/>
              <a:cs typeface="Calibri"/>
            </a:endParaRPr>
          </a:p>
          <a:p>
            <a:pPr marL="418465" indent="-342900" algn="just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§"/>
              <a:tabLst>
                <a:tab pos="417830" algn="l"/>
              </a:tabLst>
            </a:pPr>
            <a:r>
              <a:rPr lang="en-US" sz="2400" spc="-10" dirty="0">
                <a:solidFill>
                  <a:srgbClr val="FF0000"/>
                </a:solidFill>
                <a:latin typeface="Calibri"/>
                <a:cs typeface="Calibri"/>
              </a:rPr>
              <a:t>Most</a:t>
            </a:r>
            <a:r>
              <a:rPr lang="en-US" sz="2400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lang="en-US" sz="2400" spc="-10" dirty="0">
                <a:solidFill>
                  <a:srgbClr val="FF0000"/>
                </a:solidFill>
                <a:latin typeface="Calibri"/>
                <a:cs typeface="Calibri"/>
              </a:rPr>
              <a:t>noise in communication channels affects the </a:t>
            </a:r>
            <a:r>
              <a:rPr lang="en-US" sz="2400" b="1" spc="-10" dirty="0">
                <a:solidFill>
                  <a:srgbClr val="FF0000"/>
                </a:solidFill>
                <a:latin typeface="Calibri"/>
                <a:cs typeface="Calibri"/>
              </a:rPr>
              <a:t>amplitude</a:t>
            </a:r>
            <a:r>
              <a:rPr lang="en-US" sz="2400" spc="-10" dirty="0">
                <a:solidFill>
                  <a:srgbClr val="FF0000"/>
                </a:solidFill>
                <a:latin typeface="Calibri"/>
                <a:cs typeface="Calibri"/>
              </a:rPr>
              <a:t> of signals.</a:t>
            </a:r>
          </a:p>
          <a:p>
            <a:pPr marL="418465" indent="-342900" algn="just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§"/>
              <a:tabLst>
                <a:tab pos="417830" algn="l"/>
              </a:tabLst>
            </a:pPr>
            <a:r>
              <a:rPr lang="en-US" sz="2400" spc="-10" dirty="0">
                <a:solidFill>
                  <a:srgbClr val="6F2F9F"/>
                </a:solidFill>
                <a:latin typeface="Calibri"/>
                <a:cs typeface="Calibri"/>
              </a:rPr>
              <a:t>In </a:t>
            </a:r>
            <a:r>
              <a:rPr lang="en-US" sz="2400" b="1" spc="-10" dirty="0">
                <a:solidFill>
                  <a:srgbClr val="6F2F9F"/>
                </a:solidFill>
                <a:latin typeface="Calibri"/>
                <a:cs typeface="Calibri"/>
              </a:rPr>
              <a:t>angle modulation</a:t>
            </a:r>
            <a:r>
              <a:rPr lang="en-US" sz="2400" spc="-10" dirty="0">
                <a:solidFill>
                  <a:srgbClr val="6F2F9F"/>
                </a:solidFill>
                <a:latin typeface="Calibri"/>
                <a:cs typeface="Calibri"/>
              </a:rPr>
              <a:t>, </a:t>
            </a:r>
            <a:r>
              <a:rPr lang="en-US" sz="2400" b="1" spc="-10" dirty="0">
                <a:solidFill>
                  <a:srgbClr val="6F2F9F"/>
                </a:solidFill>
                <a:latin typeface="Calibri"/>
                <a:cs typeface="Calibri"/>
              </a:rPr>
              <a:t>the amplitude of the carrier does not contain information</a:t>
            </a:r>
            <a:r>
              <a:rPr lang="en-US" sz="2400" spc="-10" dirty="0">
                <a:solidFill>
                  <a:srgbClr val="6F2F9F"/>
                </a:solidFill>
                <a:latin typeface="Calibri"/>
                <a:cs typeface="Calibri"/>
              </a:rPr>
              <a:t>. The information is stored in:</a:t>
            </a:r>
          </a:p>
          <a:p>
            <a:pPr marL="75565" lvl="6" algn="just">
              <a:spcBef>
                <a:spcPts val="100"/>
              </a:spcBef>
              <a:tabLst>
                <a:tab pos="417830" algn="l"/>
              </a:tabLst>
            </a:pPr>
            <a:r>
              <a:rPr lang="en-US" sz="2400" spc="-10" dirty="0">
                <a:solidFill>
                  <a:srgbClr val="6F2F9F"/>
                </a:solidFill>
                <a:latin typeface="Calibri"/>
                <a:cs typeface="Calibri"/>
              </a:rPr>
              <a:t>		- Frequency (FM)</a:t>
            </a:r>
          </a:p>
          <a:p>
            <a:pPr marL="75565" lvl="6" algn="just">
              <a:spcBef>
                <a:spcPts val="100"/>
              </a:spcBef>
              <a:tabLst>
                <a:tab pos="417830" algn="l"/>
              </a:tabLst>
            </a:pPr>
            <a:r>
              <a:rPr lang="en-US" sz="2400" spc="-10" dirty="0">
                <a:solidFill>
                  <a:srgbClr val="6F2F9F"/>
                </a:solidFill>
                <a:latin typeface="Calibri"/>
                <a:cs typeface="Calibri"/>
              </a:rPr>
              <a:t>		- Phase (PM)</a:t>
            </a:r>
          </a:p>
          <a:p>
            <a:pPr marL="418465" lvl="3" indent="-342900" algn="just">
              <a:spcBef>
                <a:spcPts val="100"/>
              </a:spcBef>
              <a:buFont typeface="Wingdings" panose="05000000000000000000" pitchFamily="2" charset="2"/>
              <a:buChar char="§"/>
              <a:tabLst>
                <a:tab pos="417830" algn="l"/>
              </a:tabLst>
            </a:pPr>
            <a:r>
              <a:rPr lang="en-US" sz="2400" spc="-10" dirty="0">
                <a:solidFill>
                  <a:srgbClr val="6F2F9F"/>
                </a:solidFill>
                <a:latin typeface="Calibri"/>
                <a:cs typeface="Calibri"/>
              </a:rPr>
              <a:t>So even if noise changes the amplitude, the information remains unaffected.</a:t>
            </a:r>
          </a:p>
          <a:p>
            <a:pPr marL="75565" lvl="5">
              <a:spcBef>
                <a:spcPts val="100"/>
              </a:spcBef>
              <a:tabLst>
                <a:tab pos="417830" algn="l"/>
              </a:tabLst>
            </a:pPr>
            <a:endParaRPr lang="en-US" sz="2400" spc="-10" dirty="0">
              <a:solidFill>
                <a:srgbClr val="6F2F9F"/>
              </a:solidFill>
              <a:latin typeface="Calibri"/>
              <a:cs typeface="Calibri"/>
            </a:endParaRPr>
          </a:p>
          <a:p>
            <a:pPr marL="75565" lvl="5">
              <a:spcBef>
                <a:spcPts val="100"/>
              </a:spcBef>
              <a:tabLst>
                <a:tab pos="417830" algn="l"/>
              </a:tabLst>
            </a:pPr>
            <a:r>
              <a:rPr lang="en-US" sz="2400" spc="-10" dirty="0">
                <a:solidFill>
                  <a:srgbClr val="6F2F9F"/>
                </a:solidFill>
                <a:latin typeface="Calibri"/>
                <a:cs typeface="Calibri"/>
              </a:rPr>
              <a:t>2. </a:t>
            </a:r>
            <a:r>
              <a:rPr lang="en-US" sz="2400" b="1" spc="-10" dirty="0">
                <a:solidFill>
                  <a:srgbClr val="6F2F9F"/>
                </a:solidFill>
                <a:latin typeface="Calibri"/>
                <a:cs typeface="Calibri"/>
              </a:rPr>
              <a:t>Constant</a:t>
            </a:r>
            <a:r>
              <a:rPr lang="en-US"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lang="en-US" sz="2400" b="1" dirty="0">
                <a:solidFill>
                  <a:srgbClr val="6F2F9F"/>
                </a:solidFill>
                <a:latin typeface="Calibri"/>
                <a:cs typeface="Calibri"/>
              </a:rPr>
              <a:t>amplitude</a:t>
            </a:r>
            <a:r>
              <a:rPr lang="en-US"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6F2F9F"/>
                </a:solidFill>
                <a:latin typeface="Calibri"/>
                <a:cs typeface="Calibri"/>
              </a:rPr>
              <a:t>reduces</a:t>
            </a:r>
            <a:r>
              <a:rPr lang="en-US" sz="2400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6F2F9F"/>
                </a:solidFill>
                <a:latin typeface="Calibri"/>
                <a:cs typeface="Calibri"/>
              </a:rPr>
              <a:t>power</a:t>
            </a:r>
            <a:r>
              <a:rPr lang="en-US" sz="2400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6F2F9F"/>
                </a:solidFill>
                <a:latin typeface="Calibri"/>
                <a:cs typeface="Calibri"/>
              </a:rPr>
              <a:t>loss</a:t>
            </a:r>
            <a:r>
              <a:rPr lang="en-US" sz="2400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6F2F9F"/>
                </a:solidFill>
                <a:latin typeface="Calibri"/>
                <a:cs typeface="Calibri"/>
              </a:rPr>
              <a:t>due</a:t>
            </a:r>
            <a:r>
              <a:rPr lang="en-US" sz="2400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6F2F9F"/>
                </a:solidFill>
                <a:latin typeface="Calibri"/>
                <a:cs typeface="Calibri"/>
              </a:rPr>
              <a:t>to</a:t>
            </a:r>
            <a:r>
              <a:rPr lang="en-US" sz="2400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lang="en-US" sz="2400" spc="-20" dirty="0">
                <a:solidFill>
                  <a:srgbClr val="6F2F9F"/>
                </a:solidFill>
                <a:latin typeface="Calibri"/>
                <a:cs typeface="Calibri"/>
              </a:rPr>
              <a:t>non-</a:t>
            </a:r>
            <a:r>
              <a:rPr lang="en-US" sz="2400" dirty="0">
                <a:solidFill>
                  <a:srgbClr val="6F2F9F"/>
                </a:solidFill>
                <a:latin typeface="Calibri"/>
                <a:cs typeface="Calibri"/>
              </a:rPr>
              <a:t>linearities</a:t>
            </a:r>
            <a:r>
              <a:rPr lang="en-US" sz="2400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6F2F9F"/>
                </a:solidFill>
                <a:latin typeface="Calibri"/>
                <a:cs typeface="Calibri"/>
              </a:rPr>
              <a:t>in</a:t>
            </a:r>
            <a:r>
              <a:rPr lang="en-US" sz="2400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lang="en-US" sz="2400" spc="-10" dirty="0">
                <a:solidFill>
                  <a:srgbClr val="6F2F9F"/>
                </a:solidFill>
                <a:latin typeface="Calibri"/>
                <a:cs typeface="Calibri"/>
              </a:rPr>
              <a:t>amplifiers.</a:t>
            </a:r>
            <a:endParaRPr lang="en-US" sz="2400" dirty="0">
              <a:latin typeface="Calibri"/>
              <a:cs typeface="Calibri"/>
            </a:endParaRPr>
          </a:p>
          <a:p>
            <a:pPr marL="418465" lvl="5" indent="-342900">
              <a:spcBef>
                <a:spcPts val="100"/>
              </a:spcBef>
              <a:buFont typeface="Wingdings" panose="05000000000000000000" pitchFamily="2" charset="2"/>
              <a:buChar char="§"/>
              <a:tabLst>
                <a:tab pos="417830" algn="l"/>
              </a:tabLst>
            </a:pPr>
            <a:r>
              <a:rPr lang="en-US" sz="2400" spc="-10" dirty="0">
                <a:solidFill>
                  <a:srgbClr val="6F2F9F"/>
                </a:solidFill>
                <a:latin typeface="Calibri"/>
                <a:cs typeface="Calibri"/>
              </a:rPr>
              <a:t>In </a:t>
            </a:r>
            <a:r>
              <a:rPr lang="en-US" sz="2400" b="1" spc="-10" dirty="0">
                <a:solidFill>
                  <a:srgbClr val="6F2F9F"/>
                </a:solidFill>
                <a:latin typeface="Calibri"/>
                <a:cs typeface="Calibri"/>
              </a:rPr>
              <a:t>angle modulation</a:t>
            </a:r>
            <a:r>
              <a:rPr lang="en-US" sz="2400" spc="-10" dirty="0">
                <a:solidFill>
                  <a:srgbClr val="6F2F9F"/>
                </a:solidFill>
                <a:latin typeface="Calibri"/>
                <a:cs typeface="Calibri"/>
              </a:rPr>
              <a:t>, the carrier amplitude is </a:t>
            </a:r>
            <a:r>
              <a:rPr lang="en-US" sz="2400" b="1" spc="-10" dirty="0">
                <a:solidFill>
                  <a:srgbClr val="6F2F9F"/>
                </a:solidFill>
                <a:latin typeface="Calibri"/>
                <a:cs typeface="Calibri"/>
              </a:rPr>
              <a:t>constant</a:t>
            </a:r>
            <a:r>
              <a:rPr lang="en-US" sz="2400" spc="-10" dirty="0">
                <a:solidFill>
                  <a:srgbClr val="6F2F9F"/>
                </a:solidFill>
                <a:latin typeface="Calibri"/>
                <a:cs typeface="Calibri"/>
              </a:rPr>
              <a:t>.</a:t>
            </a:r>
          </a:p>
          <a:p>
            <a:pPr marL="418465" lvl="5" indent="-342900">
              <a:spcBef>
                <a:spcPts val="100"/>
              </a:spcBef>
              <a:buFont typeface="Wingdings" panose="05000000000000000000" pitchFamily="2" charset="2"/>
              <a:buChar char="§"/>
              <a:tabLst>
                <a:tab pos="417830" algn="l"/>
              </a:tabLst>
            </a:pPr>
            <a:r>
              <a:rPr lang="en-US" sz="2400" spc="-10" dirty="0">
                <a:solidFill>
                  <a:srgbClr val="6F2F9F"/>
                </a:solidFill>
                <a:latin typeface="Calibri"/>
                <a:cs typeface="Calibri"/>
              </a:rPr>
              <a:t>Because the amplitude does not change:</a:t>
            </a:r>
          </a:p>
          <a:p>
            <a:pPr marL="75565" lvl="8">
              <a:spcBef>
                <a:spcPts val="100"/>
              </a:spcBef>
              <a:tabLst>
                <a:tab pos="417830" algn="l"/>
              </a:tabLst>
            </a:pPr>
            <a:r>
              <a:rPr lang="en-US" sz="2400" spc="-10" dirty="0">
                <a:solidFill>
                  <a:srgbClr val="6F2F9F"/>
                </a:solidFill>
                <a:latin typeface="Calibri"/>
                <a:cs typeface="Calibri"/>
              </a:rPr>
              <a:t>		- Amplifiers can operate in </a:t>
            </a:r>
            <a:r>
              <a:rPr lang="en-US" sz="2400" b="1" spc="-10" dirty="0">
                <a:solidFill>
                  <a:srgbClr val="6F2F9F"/>
                </a:solidFill>
                <a:latin typeface="Calibri"/>
                <a:cs typeface="Calibri"/>
              </a:rPr>
              <a:t>non-linear modes (reduce power loss)</a:t>
            </a:r>
          </a:p>
          <a:p>
            <a:pPr marL="75565" lvl="8">
              <a:spcBef>
                <a:spcPts val="100"/>
              </a:spcBef>
              <a:tabLst>
                <a:tab pos="417830" algn="l"/>
              </a:tabLst>
            </a:pPr>
            <a:r>
              <a:rPr lang="en-US" sz="2400" b="1" spc="-10" dirty="0">
                <a:solidFill>
                  <a:srgbClr val="6F2F9F"/>
                </a:solidFill>
                <a:latin typeface="Calibri"/>
                <a:cs typeface="Calibri"/>
              </a:rPr>
              <a:t>		</a:t>
            </a:r>
            <a:r>
              <a:rPr lang="en-US" sz="2400" spc="-10" dirty="0">
                <a:solidFill>
                  <a:srgbClr val="6F2F9F"/>
                </a:solidFill>
                <a:latin typeface="Calibri"/>
                <a:cs typeface="Calibri"/>
              </a:rPr>
              <a:t>- High efficiency amplifiers can be used</a:t>
            </a:r>
          </a:p>
          <a:p>
            <a:pPr marL="418465" lvl="8" indent="-342900">
              <a:spcBef>
                <a:spcPts val="100"/>
              </a:spcBef>
              <a:buFont typeface="Wingdings" panose="05000000000000000000" pitchFamily="2" charset="2"/>
              <a:buChar char="§"/>
              <a:tabLst>
                <a:tab pos="417830" algn="l"/>
              </a:tabLst>
            </a:pPr>
            <a:r>
              <a:rPr lang="en-US" sz="2400" spc="-10" dirty="0">
                <a:solidFill>
                  <a:srgbClr val="6F2F9F"/>
                </a:solidFill>
                <a:latin typeface="Calibri"/>
                <a:cs typeface="Calibri"/>
              </a:rPr>
              <a:t>In contrast, in </a:t>
            </a:r>
            <a:r>
              <a:rPr lang="en-US" sz="2400" b="1" spc="-10" dirty="0">
                <a:solidFill>
                  <a:srgbClr val="6F2F9F"/>
                </a:solidFill>
                <a:latin typeface="Calibri"/>
                <a:cs typeface="Calibri"/>
              </a:rPr>
              <a:t>AM</a:t>
            </a:r>
            <a:r>
              <a:rPr lang="en-US" sz="2400" spc="-10" dirty="0">
                <a:solidFill>
                  <a:srgbClr val="6F2F9F"/>
                </a:solidFill>
                <a:latin typeface="Calibri"/>
                <a:cs typeface="Calibri"/>
              </a:rPr>
              <a:t> the amplitude varies.</a:t>
            </a:r>
          </a:p>
          <a:p>
            <a:pPr marL="418465" lvl="8" indent="-342900">
              <a:spcBef>
                <a:spcPts val="100"/>
              </a:spcBef>
              <a:buFont typeface="Wingdings" panose="05000000000000000000" pitchFamily="2" charset="2"/>
              <a:buChar char="§"/>
              <a:tabLst>
                <a:tab pos="417830" algn="l"/>
              </a:tabLst>
            </a:pPr>
            <a:r>
              <a:rPr lang="en-US" sz="2400" spc="-10" dirty="0">
                <a:solidFill>
                  <a:srgbClr val="6F2F9F"/>
                </a:solidFill>
                <a:latin typeface="Calibri"/>
                <a:cs typeface="Calibri"/>
              </a:rPr>
              <a:t>If a nonlinear amplifier is used with AM, </a:t>
            </a:r>
            <a:r>
              <a:rPr lang="en-US" sz="2400" b="1" spc="-10" dirty="0">
                <a:solidFill>
                  <a:srgbClr val="6F2F9F"/>
                </a:solidFill>
                <a:latin typeface="Calibri"/>
                <a:cs typeface="Calibri"/>
              </a:rPr>
              <a:t>distortion occurs </a:t>
            </a:r>
            <a:r>
              <a:rPr lang="en-US" sz="2400" spc="-10" dirty="0">
                <a:solidFill>
                  <a:srgbClr val="6F2F9F"/>
                </a:solidFill>
                <a:latin typeface="Calibri"/>
                <a:cs typeface="Calibri"/>
              </a:rPr>
              <a:t>because the amplitude contains information.</a:t>
            </a:r>
          </a:p>
          <a:p>
            <a:pPr marL="75565" lvl="5">
              <a:spcBef>
                <a:spcPts val="100"/>
              </a:spcBef>
              <a:tabLst>
                <a:tab pos="417830" algn="l"/>
              </a:tabLst>
            </a:pPr>
            <a:endParaRPr lang="en-US" sz="2400" spc="-10" dirty="0">
              <a:solidFill>
                <a:srgbClr val="6F2F9F"/>
              </a:solidFill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4142" y="74167"/>
            <a:ext cx="1161542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z="3200" spc="-1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Advantages</a:t>
            </a:r>
            <a:r>
              <a:rPr sz="3200" spc="-9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of</a:t>
            </a:r>
            <a:r>
              <a:rPr sz="3200" spc="-5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Angle</a:t>
            </a:r>
            <a:r>
              <a:rPr sz="3200" spc="-6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spc="-1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Modulation</a:t>
            </a:r>
            <a:endParaRPr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340" y="584708"/>
            <a:ext cx="11878260" cy="648382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5565" algn="just">
              <a:spcBef>
                <a:spcPts val="100"/>
              </a:spcBef>
              <a:tabLst>
                <a:tab pos="417830" algn="l"/>
              </a:tabLst>
            </a:pPr>
            <a:r>
              <a:rPr lang="en-US" sz="2400" dirty="0">
                <a:solidFill>
                  <a:srgbClr val="6F2F9F"/>
                </a:solidFill>
                <a:latin typeface="Calibri"/>
                <a:cs typeface="Calibri"/>
              </a:rPr>
              <a:t>3. </a:t>
            </a:r>
            <a:r>
              <a:rPr lang="en-US" sz="2400" b="1" spc="-10" dirty="0">
                <a:solidFill>
                  <a:srgbClr val="6F2F9F"/>
                </a:solidFill>
                <a:latin typeface="Calibri"/>
                <a:cs typeface="Calibri"/>
              </a:rPr>
              <a:t>Better</a:t>
            </a:r>
            <a:r>
              <a:rPr lang="en-US"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lang="en-US" sz="2400" b="1" dirty="0">
                <a:solidFill>
                  <a:srgbClr val="6F2F9F"/>
                </a:solidFill>
                <a:latin typeface="Calibri"/>
                <a:cs typeface="Calibri"/>
              </a:rPr>
              <a:t>signal</a:t>
            </a:r>
            <a:r>
              <a:rPr lang="en-US"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lang="en-US" sz="2400" b="1" spc="-10" dirty="0">
                <a:solidFill>
                  <a:srgbClr val="6F2F9F"/>
                </a:solidFill>
                <a:latin typeface="Calibri"/>
                <a:cs typeface="Calibri"/>
              </a:rPr>
              <a:t>quality,</a:t>
            </a:r>
            <a:r>
              <a:rPr lang="en-US"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6F2F9F"/>
                </a:solidFill>
                <a:latin typeface="Calibri"/>
                <a:cs typeface="Calibri"/>
              </a:rPr>
              <a:t>especially</a:t>
            </a:r>
            <a:r>
              <a:rPr lang="en-US" sz="2400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6F2F9F"/>
                </a:solidFill>
                <a:latin typeface="Calibri"/>
                <a:cs typeface="Calibri"/>
              </a:rPr>
              <a:t>for</a:t>
            </a:r>
            <a:r>
              <a:rPr lang="en-US" sz="2400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6F2F9F"/>
                </a:solidFill>
                <a:latin typeface="Calibri"/>
                <a:cs typeface="Calibri"/>
              </a:rPr>
              <a:t>FM</a:t>
            </a:r>
            <a:r>
              <a:rPr lang="en-US" sz="2400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6F2F9F"/>
                </a:solidFill>
                <a:latin typeface="Calibri"/>
                <a:cs typeface="Calibri"/>
              </a:rPr>
              <a:t>radio</a:t>
            </a:r>
            <a:r>
              <a:rPr lang="en-US" sz="2400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6F2F9F"/>
                </a:solidFill>
                <a:latin typeface="Calibri"/>
                <a:cs typeface="Calibri"/>
              </a:rPr>
              <a:t>(less</a:t>
            </a:r>
            <a:r>
              <a:rPr lang="en-US" sz="2400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lang="en-US" sz="2400" spc="-10" dirty="0">
                <a:solidFill>
                  <a:srgbClr val="6F2F9F"/>
                </a:solidFill>
                <a:latin typeface="Calibri"/>
                <a:cs typeface="Calibri"/>
              </a:rPr>
              <a:t>distortion)</a:t>
            </a:r>
            <a:r>
              <a:rPr sz="2400" spc="-10" dirty="0">
                <a:solidFill>
                  <a:srgbClr val="6F2F9F"/>
                </a:solidFill>
                <a:latin typeface="Calibri"/>
                <a:cs typeface="Calibri"/>
              </a:rPr>
              <a:t>.</a:t>
            </a:r>
            <a:endParaRPr lang="en-US" sz="2400" spc="-10" dirty="0">
              <a:solidFill>
                <a:srgbClr val="6F2F9F"/>
              </a:solidFill>
              <a:latin typeface="Calibri"/>
              <a:cs typeface="Calibri"/>
            </a:endParaRPr>
          </a:p>
          <a:p>
            <a:pPr marL="418465" indent="-342900" algn="just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§"/>
              <a:tabLst>
                <a:tab pos="417830" algn="l"/>
              </a:tabLst>
            </a:pPr>
            <a:r>
              <a:rPr lang="en-US" sz="2400" b="1" spc="-10" dirty="0">
                <a:solidFill>
                  <a:srgbClr val="6F2F9F"/>
                </a:solidFill>
                <a:latin typeface="Calibri"/>
                <a:cs typeface="Calibri"/>
              </a:rPr>
              <a:t>[Capture Effect] </a:t>
            </a:r>
            <a:r>
              <a:rPr lang="en-US" sz="2400" spc="-10" dirty="0">
                <a:solidFill>
                  <a:srgbClr val="6F2F9F"/>
                </a:solidFill>
                <a:latin typeface="Calibri"/>
                <a:cs typeface="Calibri"/>
              </a:rPr>
              <a:t>If two FM signals arrive at the receiver:</a:t>
            </a:r>
          </a:p>
          <a:p>
            <a:pPr marL="75565" algn="just">
              <a:lnSpc>
                <a:spcPct val="100000"/>
              </a:lnSpc>
              <a:spcBef>
                <a:spcPts val="100"/>
              </a:spcBef>
              <a:tabLst>
                <a:tab pos="417830" algn="l"/>
              </a:tabLst>
            </a:pPr>
            <a:r>
              <a:rPr lang="en-US" sz="2400" spc="-10" dirty="0">
                <a:solidFill>
                  <a:srgbClr val="6F2F9F"/>
                </a:solidFill>
                <a:latin typeface="Calibri"/>
                <a:cs typeface="Calibri"/>
              </a:rPr>
              <a:t>		- </a:t>
            </a:r>
            <a:r>
              <a:rPr lang="en-US" sz="2400" b="1" spc="-10" dirty="0">
                <a:solidFill>
                  <a:srgbClr val="6F2F9F"/>
                </a:solidFill>
                <a:latin typeface="Calibri"/>
                <a:cs typeface="Calibri"/>
              </a:rPr>
              <a:t>The stronger signal (</a:t>
            </a:r>
            <a:r>
              <a:rPr lang="en-US" sz="2400" b="1" spc="-10" dirty="0">
                <a:solidFill>
                  <a:srgbClr val="FF0000"/>
                </a:solidFill>
                <a:latin typeface="Calibri"/>
                <a:cs typeface="Calibri"/>
              </a:rPr>
              <a:t>determined by the received signal power</a:t>
            </a:r>
            <a:r>
              <a:rPr lang="en-US" sz="2400" b="1" spc="-10" dirty="0">
                <a:solidFill>
                  <a:srgbClr val="6F2F9F"/>
                </a:solidFill>
                <a:latin typeface="Calibri"/>
                <a:cs typeface="Calibri"/>
              </a:rPr>
              <a:t>) dominates</a:t>
            </a:r>
          </a:p>
          <a:p>
            <a:pPr marL="75565" algn="just">
              <a:lnSpc>
                <a:spcPct val="100000"/>
              </a:lnSpc>
              <a:spcBef>
                <a:spcPts val="100"/>
              </a:spcBef>
              <a:tabLst>
                <a:tab pos="417830" algn="l"/>
              </a:tabLst>
            </a:pPr>
            <a:r>
              <a:rPr lang="en-US" sz="2400" spc="-10" dirty="0">
                <a:solidFill>
                  <a:srgbClr val="6F2F9F"/>
                </a:solidFill>
                <a:latin typeface="Calibri"/>
                <a:cs typeface="Calibri"/>
              </a:rPr>
              <a:t>		- The weaker signal is suppressed </a:t>
            </a:r>
          </a:p>
          <a:p>
            <a:pPr marL="418465" indent="-342900" algn="just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§"/>
              <a:tabLst>
                <a:tab pos="417830" algn="l"/>
              </a:tabLst>
            </a:pPr>
            <a:r>
              <a:rPr lang="en-US" sz="2400" b="1" spc="-10" dirty="0">
                <a:solidFill>
                  <a:srgbClr val="6F2F9F"/>
                </a:solidFill>
                <a:latin typeface="Calibri"/>
                <a:cs typeface="Calibri"/>
              </a:rPr>
              <a:t>AM</a:t>
            </a:r>
            <a:r>
              <a:rPr lang="en-US" sz="2400" spc="-10" dirty="0">
                <a:solidFill>
                  <a:srgbClr val="6F2F9F"/>
                </a:solidFill>
                <a:latin typeface="Calibri"/>
                <a:cs typeface="Calibri"/>
              </a:rPr>
              <a:t> receivers mix both signals, </a:t>
            </a:r>
            <a:r>
              <a:rPr lang="en-US" sz="2400" b="1" spc="-10" dirty="0">
                <a:solidFill>
                  <a:srgbClr val="6F2F9F"/>
                </a:solidFill>
                <a:latin typeface="Calibri"/>
                <a:cs typeface="Calibri"/>
              </a:rPr>
              <a:t>causing distortion</a:t>
            </a:r>
            <a:r>
              <a:rPr lang="en-US" sz="2400" spc="-10" dirty="0">
                <a:solidFill>
                  <a:srgbClr val="6F2F9F"/>
                </a:solidFill>
                <a:latin typeface="Calibri"/>
                <a:cs typeface="Calibri"/>
              </a:rPr>
              <a:t>.</a:t>
            </a:r>
          </a:p>
          <a:p>
            <a:pPr marL="75565" algn="just">
              <a:lnSpc>
                <a:spcPct val="100000"/>
              </a:lnSpc>
              <a:spcBef>
                <a:spcPts val="100"/>
              </a:spcBef>
              <a:tabLst>
                <a:tab pos="417830" algn="l"/>
              </a:tabLst>
            </a:pPr>
            <a:endParaRPr lang="en-US" sz="2400" spc="-10" dirty="0">
              <a:solidFill>
                <a:srgbClr val="6F2F9F"/>
              </a:solidFill>
              <a:latin typeface="Calibri"/>
              <a:cs typeface="Calibri"/>
            </a:endParaRPr>
          </a:p>
          <a:p>
            <a:pPr marL="75565" lvl="5">
              <a:spcBef>
                <a:spcPts val="100"/>
              </a:spcBef>
              <a:tabLst>
                <a:tab pos="417830" algn="l"/>
              </a:tabLst>
            </a:pPr>
            <a:r>
              <a:rPr lang="en-US" sz="2400" spc="-10" dirty="0">
                <a:solidFill>
                  <a:srgbClr val="6F2F9F"/>
                </a:solidFill>
                <a:latin typeface="Calibri"/>
                <a:cs typeface="Calibri"/>
              </a:rPr>
              <a:t>4. </a:t>
            </a:r>
            <a:r>
              <a:rPr lang="en-US" sz="2400" b="1" dirty="0">
                <a:solidFill>
                  <a:srgbClr val="6F2F9F"/>
                </a:solidFill>
                <a:latin typeface="Calibri"/>
                <a:cs typeface="Calibri"/>
              </a:rPr>
              <a:t>Higher</a:t>
            </a:r>
            <a:r>
              <a:rPr lang="en-US"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lang="en-US" sz="2400" b="1" dirty="0">
                <a:solidFill>
                  <a:srgbClr val="6F2F9F"/>
                </a:solidFill>
                <a:latin typeface="Calibri"/>
                <a:cs typeface="Calibri"/>
              </a:rPr>
              <a:t>efficiency</a:t>
            </a:r>
            <a:r>
              <a:rPr lang="en-US"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6F2F9F"/>
                </a:solidFill>
                <a:latin typeface="Calibri"/>
                <a:cs typeface="Calibri"/>
              </a:rPr>
              <a:t>in</a:t>
            </a:r>
            <a:r>
              <a:rPr lang="en-US" sz="2400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6F2F9F"/>
                </a:solidFill>
                <a:latin typeface="Calibri"/>
                <a:cs typeface="Calibri"/>
              </a:rPr>
              <a:t>bandwidth</a:t>
            </a:r>
            <a:r>
              <a:rPr lang="en-US" sz="2400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6F2F9F"/>
                </a:solidFill>
                <a:latin typeface="Calibri"/>
                <a:cs typeface="Calibri"/>
              </a:rPr>
              <a:t>use</a:t>
            </a:r>
            <a:r>
              <a:rPr lang="en-US" sz="2400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6F2F9F"/>
                </a:solidFill>
                <a:latin typeface="Calibri"/>
                <a:cs typeface="Calibri"/>
              </a:rPr>
              <a:t>with</a:t>
            </a:r>
            <a:r>
              <a:rPr lang="en-US" sz="2400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6F2F9F"/>
                </a:solidFill>
                <a:latin typeface="Calibri"/>
                <a:cs typeface="Calibri"/>
              </a:rPr>
              <a:t>proper</a:t>
            </a:r>
            <a:r>
              <a:rPr lang="en-US" sz="2400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lang="en-US" sz="2400" spc="-10" dirty="0">
                <a:solidFill>
                  <a:srgbClr val="6F2F9F"/>
                </a:solidFill>
                <a:latin typeface="Calibri"/>
                <a:cs typeface="Calibri"/>
              </a:rPr>
              <a:t>techniques</a:t>
            </a:r>
            <a:r>
              <a:rPr lang="en-US" sz="2400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6F2F9F"/>
                </a:solidFill>
                <a:latin typeface="Calibri"/>
                <a:cs typeface="Calibri"/>
              </a:rPr>
              <a:t>(e.g.,</a:t>
            </a:r>
            <a:r>
              <a:rPr lang="en-US" sz="2400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lang="en-US" sz="2400" spc="-10" dirty="0">
                <a:solidFill>
                  <a:srgbClr val="6F2F9F"/>
                </a:solidFill>
                <a:latin typeface="Calibri"/>
                <a:cs typeface="Calibri"/>
              </a:rPr>
              <a:t>narrowband</a:t>
            </a:r>
            <a:r>
              <a:rPr lang="en-US" sz="2400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lang="en-US" sz="2400" spc="-20" dirty="0">
                <a:solidFill>
                  <a:srgbClr val="6F2F9F"/>
                </a:solidFill>
                <a:latin typeface="Calibri"/>
                <a:cs typeface="Calibri"/>
              </a:rPr>
              <a:t>FM)</a:t>
            </a:r>
            <a:r>
              <a:rPr lang="en-US" sz="2400" spc="-10" dirty="0">
                <a:solidFill>
                  <a:srgbClr val="6F2F9F"/>
                </a:solidFill>
                <a:latin typeface="Calibri"/>
                <a:cs typeface="Calibri"/>
              </a:rPr>
              <a:t>.</a:t>
            </a:r>
            <a:endParaRPr lang="en-US" sz="2400" dirty="0">
              <a:latin typeface="Calibri"/>
              <a:cs typeface="Calibri"/>
            </a:endParaRPr>
          </a:p>
          <a:p>
            <a:pPr marL="418465" lvl="5" indent="-342900">
              <a:spcBef>
                <a:spcPts val="100"/>
              </a:spcBef>
              <a:buFont typeface="Wingdings" panose="05000000000000000000" pitchFamily="2" charset="2"/>
              <a:buChar char="§"/>
              <a:tabLst>
                <a:tab pos="417830" algn="l"/>
              </a:tabLst>
            </a:pPr>
            <a:r>
              <a:rPr lang="en-US" sz="2400" spc="-10" dirty="0">
                <a:solidFill>
                  <a:srgbClr val="6F2F9F"/>
                </a:solidFill>
                <a:latin typeface="Calibri"/>
                <a:cs typeface="Calibri"/>
              </a:rPr>
              <a:t>Narrowband FM reduces bandwidth significantly.</a:t>
            </a:r>
          </a:p>
          <a:p>
            <a:pPr marL="418465" lvl="5" indent="-342900">
              <a:spcBef>
                <a:spcPts val="100"/>
              </a:spcBef>
              <a:buFont typeface="Wingdings" panose="05000000000000000000" pitchFamily="2" charset="2"/>
              <a:buChar char="§"/>
              <a:tabLst>
                <a:tab pos="417830" algn="l"/>
              </a:tabLst>
            </a:pPr>
            <a:endParaRPr lang="en-US" sz="2400" spc="-10" dirty="0">
              <a:solidFill>
                <a:srgbClr val="6F2F9F"/>
              </a:solidFill>
              <a:latin typeface="Calibri"/>
              <a:cs typeface="Calibri"/>
            </a:endParaRPr>
          </a:p>
          <a:p>
            <a:pPr marL="75565" lvl="5">
              <a:spcBef>
                <a:spcPts val="100"/>
              </a:spcBef>
              <a:tabLst>
                <a:tab pos="417830" algn="l"/>
              </a:tabLst>
            </a:pPr>
            <a:r>
              <a:rPr lang="en-US" sz="2400" spc="-10" dirty="0">
                <a:solidFill>
                  <a:srgbClr val="6F2F9F"/>
                </a:solidFill>
                <a:latin typeface="Calibri"/>
                <a:cs typeface="Calibri"/>
              </a:rPr>
              <a:t>5. </a:t>
            </a:r>
            <a:r>
              <a:rPr lang="en-US" sz="2400" b="1" dirty="0">
                <a:solidFill>
                  <a:srgbClr val="6F2F9F"/>
                </a:solidFill>
                <a:latin typeface="Calibri"/>
                <a:cs typeface="Calibri"/>
              </a:rPr>
              <a:t>Less</a:t>
            </a:r>
            <a:r>
              <a:rPr lang="en-US"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lang="en-US" sz="2400" b="1" dirty="0">
                <a:solidFill>
                  <a:srgbClr val="6F2F9F"/>
                </a:solidFill>
                <a:latin typeface="Calibri"/>
                <a:cs typeface="Calibri"/>
              </a:rPr>
              <a:t>susceptible</a:t>
            </a:r>
            <a:r>
              <a:rPr lang="en-US"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lang="en-US" sz="2400" b="1" dirty="0">
                <a:solidFill>
                  <a:srgbClr val="6F2F9F"/>
                </a:solidFill>
                <a:latin typeface="Calibri"/>
                <a:cs typeface="Calibri"/>
              </a:rPr>
              <a:t>to</a:t>
            </a:r>
            <a:r>
              <a:rPr lang="en-US"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lang="en-US" sz="2400" b="1" dirty="0">
                <a:solidFill>
                  <a:srgbClr val="6F2F9F"/>
                </a:solidFill>
                <a:latin typeface="Calibri"/>
                <a:cs typeface="Calibri"/>
              </a:rPr>
              <a:t>signal</a:t>
            </a:r>
            <a:r>
              <a:rPr lang="en-US"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lang="en-US" sz="2400" b="1" dirty="0">
                <a:solidFill>
                  <a:srgbClr val="6F2F9F"/>
                </a:solidFill>
                <a:latin typeface="Calibri"/>
                <a:cs typeface="Calibri"/>
              </a:rPr>
              <a:t>fading</a:t>
            </a:r>
            <a:r>
              <a:rPr lang="en-US"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6F2F9F"/>
                </a:solidFill>
                <a:latin typeface="Calibri"/>
                <a:cs typeface="Calibri"/>
              </a:rPr>
              <a:t>and</a:t>
            </a:r>
            <a:r>
              <a:rPr lang="en-US" sz="2400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6F2F9F"/>
                </a:solidFill>
                <a:latin typeface="Calibri"/>
                <a:cs typeface="Calibri"/>
              </a:rPr>
              <a:t>amplitude</a:t>
            </a:r>
            <a:r>
              <a:rPr lang="en-US" sz="2400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lang="en-US" sz="2400" spc="-10" dirty="0">
                <a:solidFill>
                  <a:srgbClr val="6F2F9F"/>
                </a:solidFill>
                <a:latin typeface="Calibri"/>
                <a:cs typeface="Calibri"/>
              </a:rPr>
              <a:t>variations.</a:t>
            </a:r>
            <a:endParaRPr lang="en-US" sz="2400" dirty="0">
              <a:latin typeface="Calibri"/>
              <a:cs typeface="Calibri"/>
            </a:endParaRPr>
          </a:p>
          <a:p>
            <a:pPr marL="418465" lvl="5" indent="-342900">
              <a:spcBef>
                <a:spcPts val="100"/>
              </a:spcBef>
              <a:buFont typeface="Wingdings" panose="05000000000000000000" pitchFamily="2" charset="2"/>
              <a:buChar char="§"/>
              <a:tabLst>
                <a:tab pos="417830" algn="l"/>
              </a:tabLst>
            </a:pPr>
            <a:r>
              <a:rPr lang="en-US" sz="2400" spc="-10" dirty="0">
                <a:solidFill>
                  <a:srgbClr val="6F2F9F"/>
                </a:solidFill>
                <a:latin typeface="Calibri"/>
                <a:cs typeface="Calibri"/>
              </a:rPr>
              <a:t>Fading occurs when signal amplitude fluctuates due to:</a:t>
            </a:r>
          </a:p>
          <a:p>
            <a:pPr marL="75565" lvl="5">
              <a:spcBef>
                <a:spcPts val="100"/>
              </a:spcBef>
              <a:tabLst>
                <a:tab pos="417830" algn="l"/>
              </a:tabLst>
            </a:pPr>
            <a:r>
              <a:rPr lang="en-US" sz="2400" spc="-10" dirty="0">
                <a:solidFill>
                  <a:srgbClr val="6F2F9F"/>
                </a:solidFill>
                <a:latin typeface="Calibri"/>
                <a:cs typeface="Calibri"/>
              </a:rPr>
              <a:t>		- </a:t>
            </a:r>
            <a:r>
              <a:rPr lang="en-US" sz="2000" spc="-10" dirty="0">
                <a:solidFill>
                  <a:srgbClr val="6F2F9F"/>
                </a:solidFill>
                <a:latin typeface="Calibri"/>
                <a:cs typeface="Calibri"/>
              </a:rPr>
              <a:t>multipath propagation</a:t>
            </a:r>
          </a:p>
          <a:p>
            <a:pPr marL="75565" lvl="5">
              <a:spcBef>
                <a:spcPts val="100"/>
              </a:spcBef>
              <a:tabLst>
                <a:tab pos="417830" algn="l"/>
              </a:tabLst>
            </a:pPr>
            <a:r>
              <a:rPr lang="en-US" sz="2000" spc="-10" dirty="0">
                <a:solidFill>
                  <a:srgbClr val="6F2F9F"/>
                </a:solidFill>
                <a:latin typeface="Calibri"/>
                <a:cs typeface="Calibri"/>
              </a:rPr>
              <a:t>		- obstacles</a:t>
            </a:r>
          </a:p>
          <a:p>
            <a:pPr marL="75565" lvl="5">
              <a:spcBef>
                <a:spcPts val="100"/>
              </a:spcBef>
              <a:tabLst>
                <a:tab pos="417830" algn="l"/>
              </a:tabLst>
            </a:pPr>
            <a:r>
              <a:rPr lang="en-US" sz="2000" spc="-10" dirty="0">
                <a:solidFill>
                  <a:srgbClr val="6F2F9F"/>
                </a:solidFill>
                <a:latin typeface="Calibri"/>
                <a:cs typeface="Calibri"/>
              </a:rPr>
              <a:t>		- atmospheric conditions</a:t>
            </a:r>
          </a:p>
          <a:p>
            <a:pPr marL="418465" lvl="5" indent="-342900">
              <a:spcBef>
                <a:spcPts val="100"/>
              </a:spcBef>
              <a:buFont typeface="Wingdings" panose="05000000000000000000" pitchFamily="2" charset="2"/>
              <a:buChar char="§"/>
              <a:tabLst>
                <a:tab pos="417830" algn="l"/>
              </a:tabLst>
            </a:pPr>
            <a:r>
              <a:rPr lang="en-US" sz="2400" spc="-10" dirty="0">
                <a:solidFill>
                  <a:srgbClr val="6F2F9F"/>
                </a:solidFill>
                <a:latin typeface="Calibri"/>
                <a:cs typeface="Calibri"/>
              </a:rPr>
              <a:t>In AM, fading directly affects the message</a:t>
            </a:r>
          </a:p>
          <a:p>
            <a:pPr marL="418465" lvl="5" indent="-342900">
              <a:spcBef>
                <a:spcPts val="100"/>
              </a:spcBef>
              <a:buFont typeface="Wingdings" panose="05000000000000000000" pitchFamily="2" charset="2"/>
              <a:buChar char="§"/>
              <a:tabLst>
                <a:tab pos="417830" algn="l"/>
              </a:tabLst>
            </a:pPr>
            <a:r>
              <a:rPr lang="en-US" sz="2400" spc="-10" dirty="0">
                <a:solidFill>
                  <a:srgbClr val="6F2F9F"/>
                </a:solidFill>
                <a:latin typeface="Calibri"/>
                <a:cs typeface="Calibri"/>
              </a:rPr>
              <a:t>In angle modulation, Amplitude variations are ignored by the receiver using limiters (A limiter circuit removes amplitude fluctuations before demodulation).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4142" y="74167"/>
            <a:ext cx="1161542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z="3200" spc="-1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Advantages</a:t>
            </a:r>
            <a:r>
              <a:rPr sz="3200" spc="-9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of</a:t>
            </a:r>
            <a:r>
              <a:rPr sz="3200" spc="-5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Angle</a:t>
            </a:r>
            <a:r>
              <a:rPr sz="3200" spc="-6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spc="-1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Modulation</a:t>
            </a:r>
            <a:endParaRPr sz="3200" dirty="0"/>
          </a:p>
        </p:txBody>
      </p:sp>
    </p:spTree>
    <p:extLst>
      <p:ext uri="{BB962C8B-B14F-4D97-AF65-F5344CB8AC3E}">
        <p14:creationId xmlns:p14="http://schemas.microsoft.com/office/powerpoint/2010/main" val="3744515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340" y="807517"/>
            <a:ext cx="10619105" cy="18594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5765" indent="-342265">
              <a:lnSpc>
                <a:spcPct val="100000"/>
              </a:lnSpc>
              <a:spcBef>
                <a:spcPts val="470"/>
              </a:spcBef>
              <a:buFont typeface="Wingdings"/>
              <a:buChar char=""/>
              <a:tabLst>
                <a:tab pos="4057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FM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radio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broadcasting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F2F9F"/>
                </a:solidFill>
                <a:latin typeface="Calibri"/>
                <a:cs typeface="Calibri"/>
              </a:rPr>
              <a:t>(88</a:t>
            </a:r>
            <a:r>
              <a:rPr sz="2400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F2F9F"/>
                </a:solidFill>
                <a:latin typeface="Calibri"/>
                <a:cs typeface="Calibri"/>
              </a:rPr>
              <a:t>–</a:t>
            </a:r>
            <a:r>
              <a:rPr sz="2400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F2F9F"/>
                </a:solidFill>
                <a:latin typeface="Calibri"/>
                <a:cs typeface="Calibri"/>
              </a:rPr>
              <a:t>108</a:t>
            </a:r>
            <a:r>
              <a:rPr sz="2400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F2F9F"/>
                </a:solidFill>
                <a:latin typeface="Calibri"/>
                <a:cs typeface="Calibri"/>
              </a:rPr>
              <a:t>MHz):</a:t>
            </a:r>
            <a:r>
              <a:rPr sz="2400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F2F9F"/>
                </a:solidFill>
                <a:latin typeface="Calibri"/>
                <a:cs typeface="Calibri"/>
              </a:rPr>
              <a:t>High</a:t>
            </a:r>
            <a:r>
              <a:rPr sz="2400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F2F9F"/>
                </a:solidFill>
                <a:latin typeface="Calibri"/>
                <a:cs typeface="Calibri"/>
              </a:rPr>
              <a:t>fidelity</a:t>
            </a:r>
            <a:r>
              <a:rPr sz="2400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F2F9F"/>
                </a:solidFill>
                <a:latin typeface="Calibri"/>
                <a:cs typeface="Calibri"/>
              </a:rPr>
              <a:t>audio</a:t>
            </a:r>
            <a:r>
              <a:rPr sz="2400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F2F9F"/>
                </a:solidFill>
                <a:latin typeface="Calibri"/>
                <a:cs typeface="Calibri"/>
              </a:rPr>
              <a:t>transmission.</a:t>
            </a:r>
            <a:endParaRPr sz="2400" dirty="0">
              <a:latin typeface="Calibri"/>
              <a:cs typeface="Calibri"/>
            </a:endParaRPr>
          </a:p>
          <a:p>
            <a:pPr marL="405765" indent="-342265">
              <a:lnSpc>
                <a:spcPct val="100000"/>
              </a:lnSpc>
              <a:buFont typeface="Wingdings"/>
              <a:buChar char=""/>
              <a:tabLst>
                <a:tab pos="405765" algn="l"/>
              </a:tabLst>
            </a:pP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Two-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way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radio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communications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F2F9F"/>
                </a:solidFill>
                <a:latin typeface="Calibri"/>
                <a:cs typeface="Calibri"/>
              </a:rPr>
              <a:t>(police,</a:t>
            </a:r>
            <a:r>
              <a:rPr sz="2400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F2F9F"/>
                </a:solidFill>
                <a:latin typeface="Calibri"/>
                <a:cs typeface="Calibri"/>
              </a:rPr>
              <a:t>fire,</a:t>
            </a:r>
            <a:r>
              <a:rPr sz="2400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F2F9F"/>
                </a:solidFill>
                <a:latin typeface="Calibri"/>
                <a:cs typeface="Calibri"/>
              </a:rPr>
              <a:t>emergency</a:t>
            </a:r>
            <a:r>
              <a:rPr sz="2400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F2F9F"/>
                </a:solidFill>
                <a:latin typeface="Calibri"/>
                <a:cs typeface="Calibri"/>
              </a:rPr>
              <a:t>services).</a:t>
            </a:r>
            <a:endParaRPr sz="2400" dirty="0">
              <a:latin typeface="Calibri"/>
              <a:cs typeface="Calibri"/>
            </a:endParaRPr>
          </a:p>
          <a:p>
            <a:pPr marL="405765" indent="-342265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405765" algn="l"/>
              </a:tabLst>
            </a:pP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Television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sound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transmission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F2F9F"/>
                </a:solidFill>
                <a:latin typeface="Calibri"/>
                <a:cs typeface="Calibri"/>
              </a:rPr>
              <a:t>(Analog</a:t>
            </a:r>
            <a:r>
              <a:rPr sz="2400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6F2F9F"/>
                </a:solidFill>
                <a:latin typeface="Calibri"/>
                <a:cs typeface="Calibri"/>
              </a:rPr>
              <a:t>TV).</a:t>
            </a:r>
            <a:endParaRPr sz="2400" dirty="0">
              <a:latin typeface="Calibri"/>
              <a:cs typeface="Calibri"/>
            </a:endParaRPr>
          </a:p>
          <a:p>
            <a:pPr marL="405765" indent="-342265">
              <a:lnSpc>
                <a:spcPct val="100000"/>
              </a:lnSpc>
              <a:buFont typeface="Wingdings"/>
              <a:buChar char=""/>
              <a:tabLst>
                <a:tab pos="405765" algn="l"/>
              </a:tabLst>
            </a:pP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Satellite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and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space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communication</a:t>
            </a:r>
            <a:r>
              <a:rPr sz="2400" dirty="0">
                <a:solidFill>
                  <a:srgbClr val="6F2F9F"/>
                </a:solidFill>
                <a:latin typeface="Calibri"/>
                <a:cs typeface="Calibri"/>
              </a:rPr>
              <a:t>:</a:t>
            </a:r>
            <a:r>
              <a:rPr sz="2400" spc="-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F2F9F"/>
                </a:solidFill>
                <a:latin typeface="Calibri"/>
                <a:cs typeface="Calibri"/>
              </a:rPr>
              <a:t>Used</a:t>
            </a:r>
            <a:r>
              <a:rPr sz="2400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F2F9F"/>
                </a:solidFill>
                <a:latin typeface="Calibri"/>
                <a:cs typeface="Calibri"/>
              </a:rPr>
              <a:t>due</a:t>
            </a:r>
            <a:r>
              <a:rPr sz="2400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F2F9F"/>
                </a:solidFill>
                <a:latin typeface="Calibri"/>
                <a:cs typeface="Calibri"/>
              </a:rPr>
              <a:t>to</a:t>
            </a:r>
            <a:r>
              <a:rPr sz="2400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F2F9F"/>
                </a:solidFill>
                <a:latin typeface="Calibri"/>
                <a:cs typeface="Calibri"/>
              </a:rPr>
              <a:t>robustness</a:t>
            </a:r>
            <a:r>
              <a:rPr sz="2400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F2F9F"/>
                </a:solidFill>
                <a:latin typeface="Calibri"/>
                <a:cs typeface="Calibri"/>
              </a:rPr>
              <a:t>against</a:t>
            </a:r>
            <a:r>
              <a:rPr sz="2400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F2F9F"/>
                </a:solidFill>
                <a:latin typeface="Calibri"/>
                <a:cs typeface="Calibri"/>
              </a:rPr>
              <a:t>noise.</a:t>
            </a:r>
            <a:endParaRPr sz="2400" dirty="0">
              <a:latin typeface="Calibri"/>
              <a:cs typeface="Calibri"/>
            </a:endParaRPr>
          </a:p>
          <a:p>
            <a:pPr marL="405765" indent="-342265">
              <a:lnSpc>
                <a:spcPct val="100000"/>
              </a:lnSpc>
              <a:buFont typeface="Wingdings"/>
              <a:buChar char=""/>
              <a:tabLst>
                <a:tab pos="4057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Radar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and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telemetry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systems</a:t>
            </a:r>
            <a:r>
              <a:rPr sz="2400" spc="-10" dirty="0">
                <a:solidFill>
                  <a:srgbClr val="6F2F9F"/>
                </a:solidFill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4142" y="74167"/>
            <a:ext cx="1161542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825"/>
              </a:spcBef>
            </a:pPr>
            <a:r>
              <a:rPr lang="en-US" sz="3200" b="1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Applications</a:t>
            </a:r>
            <a:r>
              <a:rPr lang="en-US" sz="3200" b="1" spc="-6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lang="en-US" sz="3200" b="1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of</a:t>
            </a:r>
            <a:r>
              <a:rPr lang="en-US" sz="3200" b="1" spc="-1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lang="en-US" sz="3200" b="1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Angle</a:t>
            </a:r>
            <a:r>
              <a:rPr lang="en-US" sz="3200" b="1" spc="-4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lang="en-US" sz="3200" b="1" spc="-1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Modulation</a:t>
            </a:r>
            <a:endParaRPr lang="en-US" sz="32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1805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340" y="807517"/>
            <a:ext cx="11878260" cy="15542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5765" indent="-342265" algn="just">
              <a:lnSpc>
                <a:spcPct val="100000"/>
              </a:lnSpc>
              <a:spcBef>
                <a:spcPts val="470"/>
              </a:spcBef>
              <a:buFont typeface="Wingdings"/>
              <a:buChar char=""/>
              <a:tabLst>
                <a:tab pos="405765" algn="l"/>
              </a:tabLst>
            </a:pPr>
            <a:r>
              <a:rPr lang="en-US" sz="2400" dirty="0">
                <a:solidFill>
                  <a:srgbClr val="6F2F9F"/>
                </a:solidFill>
                <a:latin typeface="Calibri"/>
                <a:cs typeface="Calibri"/>
              </a:rPr>
              <a:t>Instantaneous angular frequency is the rate of change of the instantaneous phase (angle) of a signal with respect to time.</a:t>
            </a:r>
          </a:p>
          <a:p>
            <a:pPr marL="405765" indent="-342265" algn="just">
              <a:lnSpc>
                <a:spcPct val="100000"/>
              </a:lnSpc>
              <a:spcBef>
                <a:spcPts val="470"/>
              </a:spcBef>
              <a:buFont typeface="Wingdings"/>
              <a:buChar char=""/>
              <a:tabLst>
                <a:tab pos="405765" algn="l"/>
              </a:tabLst>
            </a:pPr>
            <a:r>
              <a:rPr lang="en-US" sz="2400" dirty="0">
                <a:solidFill>
                  <a:srgbClr val="6F2F9F"/>
                </a:solidFill>
                <a:latin typeface="Calibri"/>
                <a:cs typeface="Calibri"/>
              </a:rPr>
              <a:t>In other words, it tells us how fast the phase of a signal is changing at a particular instant. It represents the instantaneous rotational speed of the signal's phasor in radians per second.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4142" y="74167"/>
            <a:ext cx="1161542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825"/>
              </a:spcBef>
            </a:pPr>
            <a:r>
              <a:rPr lang="en-US" sz="3200" b="1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Instantaneous Angular Frequency</a:t>
            </a:r>
            <a:endParaRPr lang="en-US" sz="3200" dirty="0">
              <a:latin typeface="Calibri"/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17AE17-4055-4701-82C0-83E6A4A15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40" y="2700959"/>
            <a:ext cx="7238786" cy="26899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8F09F0-FB92-40B3-B3E9-BA414E809F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1001" y="3253698"/>
            <a:ext cx="2392980" cy="55630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72966D0-C199-4703-B366-1942842BF5AB}"/>
              </a:ext>
            </a:extLst>
          </p:cNvPr>
          <p:cNvSpPr/>
          <p:nvPr/>
        </p:nvSpPr>
        <p:spPr>
          <a:xfrm>
            <a:off x="4343400" y="2895600"/>
            <a:ext cx="2895600" cy="1295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C055DA8-3EE5-463B-A24D-4D86D772FE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435" y="2700958"/>
            <a:ext cx="6769100" cy="3090241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9711C7F-5672-4814-AE93-9A7494E044E8}"/>
              </a:ext>
            </a:extLst>
          </p:cNvPr>
          <p:cNvCxnSpPr/>
          <p:nvPr/>
        </p:nvCxnSpPr>
        <p:spPr>
          <a:xfrm>
            <a:off x="4343400" y="2700958"/>
            <a:ext cx="0" cy="354744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8047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4142" y="74167"/>
            <a:ext cx="1161542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825"/>
              </a:spcBef>
            </a:pPr>
            <a:r>
              <a:rPr lang="en-US" sz="3200" b="1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General Carrier Signal</a:t>
            </a:r>
            <a:endParaRPr lang="en-US" sz="3200" dirty="0">
              <a:latin typeface="Calibri"/>
              <a:cs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5EF1C8-F717-454A-9C0B-C1DB4AEE4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90600"/>
            <a:ext cx="11064206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054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4142" y="74167"/>
            <a:ext cx="1161542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825"/>
              </a:spcBef>
            </a:pPr>
            <a:r>
              <a:rPr lang="en-US" sz="3200" b="1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Derivation of Phase Modulation (PM)</a:t>
            </a:r>
            <a:endParaRPr lang="en-US" sz="3200" dirty="0">
              <a:latin typeface="Calibri"/>
              <a:cs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AA1789-C16A-4F27-B553-84A08D000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066800"/>
            <a:ext cx="6850143" cy="287294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45C90FE-B29D-44B2-81ED-3BA8FE9F60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4191000"/>
            <a:ext cx="6782860" cy="224923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8B93016-8195-4DA5-BB2C-D33F5B5541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7558" y="1371600"/>
            <a:ext cx="5273063" cy="4883668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54573E5-C84D-4D8F-A62C-CA1B201C4AC5}"/>
              </a:ext>
            </a:extLst>
          </p:cNvPr>
          <p:cNvCxnSpPr>
            <a:cxnSpLocks/>
          </p:cNvCxnSpPr>
          <p:nvPr/>
        </p:nvCxnSpPr>
        <p:spPr>
          <a:xfrm>
            <a:off x="6781800" y="914400"/>
            <a:ext cx="0" cy="5867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42548E5C-AB2F-453B-A02C-0336CD58A1C5}"/>
              </a:ext>
            </a:extLst>
          </p:cNvPr>
          <p:cNvSpPr/>
          <p:nvPr/>
        </p:nvSpPr>
        <p:spPr>
          <a:xfrm>
            <a:off x="6858000" y="3048000"/>
            <a:ext cx="3132057" cy="60960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340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4142" y="74167"/>
            <a:ext cx="1161542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825"/>
              </a:spcBef>
            </a:pPr>
            <a:r>
              <a:rPr lang="en-US" sz="3200" b="1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Derivation of Frequency Modulation (FM)</a:t>
            </a:r>
            <a:endParaRPr lang="en-US" sz="3200" dirty="0">
              <a:latin typeface="Calibri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75CC3F-4E17-446E-AD9F-F8F2E81AC3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42" y="914400"/>
            <a:ext cx="5925671" cy="2743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F65112-26DE-483D-A804-15C39BC76A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142" y="3991924"/>
            <a:ext cx="5921858" cy="2605617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3B0B4BC-2561-462E-8597-F682E8871ABA}"/>
              </a:ext>
            </a:extLst>
          </p:cNvPr>
          <p:cNvCxnSpPr>
            <a:cxnSpLocks/>
          </p:cNvCxnSpPr>
          <p:nvPr/>
        </p:nvCxnSpPr>
        <p:spPr>
          <a:xfrm>
            <a:off x="6096000" y="914400"/>
            <a:ext cx="0" cy="55626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59116770-8024-476C-BD39-D9909D2FC99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8831"/>
          <a:stretch/>
        </p:blipFill>
        <p:spPr>
          <a:xfrm>
            <a:off x="6172200" y="885825"/>
            <a:ext cx="5847816" cy="19335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44CBF3C-22C5-402B-91CA-292EF7C0437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9543"/>
          <a:stretch/>
        </p:blipFill>
        <p:spPr>
          <a:xfrm>
            <a:off x="6211687" y="3181274"/>
            <a:ext cx="5739939" cy="1466926"/>
          </a:xfrm>
          <a:prstGeom prst="rect">
            <a:avLst/>
          </a:prstGeom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6999" y="3325812"/>
            <a:ext cx="1846806" cy="219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032235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4142" y="74167"/>
            <a:ext cx="1161542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825"/>
              </a:spcBef>
            </a:pPr>
            <a:r>
              <a:rPr lang="en-US" sz="3200" b="1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Important Concept</a:t>
            </a:r>
            <a:endParaRPr lang="en-US" sz="3200" dirty="0">
              <a:latin typeface="Calibri"/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10CEEC-3703-43FB-A055-C8B93F35E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634" y="1752600"/>
            <a:ext cx="8744731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729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41601" y="-45643"/>
            <a:ext cx="7910830" cy="971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200" spc="-250" dirty="0">
                <a:solidFill>
                  <a:srgbClr val="006600"/>
                </a:solidFill>
                <a:latin typeface="Trebuchet MS"/>
                <a:cs typeface="Trebuchet MS"/>
              </a:rPr>
              <a:t>Frequency</a:t>
            </a:r>
            <a:r>
              <a:rPr sz="6200" spc="-315" dirty="0">
                <a:solidFill>
                  <a:srgbClr val="006600"/>
                </a:solidFill>
                <a:latin typeface="Trebuchet MS"/>
                <a:cs typeface="Trebuchet MS"/>
              </a:rPr>
              <a:t> </a:t>
            </a:r>
            <a:r>
              <a:rPr sz="6200" spc="-10" dirty="0">
                <a:solidFill>
                  <a:srgbClr val="006600"/>
                </a:solidFill>
                <a:latin typeface="Trebuchet MS"/>
                <a:cs typeface="Trebuchet MS"/>
              </a:rPr>
              <a:t>Modulation</a:t>
            </a:r>
            <a:endParaRPr sz="6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4142" y="782101"/>
            <a:ext cx="5480050" cy="2116455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3200" b="1" u="sng" spc="-1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Outlines</a:t>
            </a:r>
            <a:endParaRPr sz="3200">
              <a:latin typeface="Calibri"/>
              <a:cs typeface="Calibri"/>
            </a:endParaRPr>
          </a:p>
          <a:p>
            <a:pPr marL="520065" indent="-457200">
              <a:lnSpc>
                <a:spcPct val="100000"/>
              </a:lnSpc>
              <a:spcBef>
                <a:spcPts val="470"/>
              </a:spcBef>
              <a:buFont typeface="Wingdings"/>
              <a:buChar char=""/>
              <a:tabLst>
                <a:tab pos="5200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Basics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Frequency</a:t>
            </a:r>
            <a:r>
              <a:rPr sz="2400" b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Modulation</a:t>
            </a:r>
            <a:endParaRPr sz="2400">
              <a:latin typeface="Calibri"/>
              <a:cs typeface="Calibri"/>
            </a:endParaRPr>
          </a:p>
          <a:p>
            <a:pPr marL="520065" indent="-457200">
              <a:lnSpc>
                <a:spcPct val="100000"/>
              </a:lnSpc>
              <a:buFont typeface="Wingdings"/>
              <a:buChar char=""/>
              <a:tabLst>
                <a:tab pos="5200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Block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Diagram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Frequency</a:t>
            </a:r>
            <a:r>
              <a:rPr sz="2400" b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Modulator</a:t>
            </a:r>
            <a:endParaRPr sz="2400">
              <a:latin typeface="Calibri"/>
              <a:cs typeface="Calibri"/>
            </a:endParaRPr>
          </a:p>
          <a:p>
            <a:pPr marL="520065" indent="-457200">
              <a:lnSpc>
                <a:spcPct val="100000"/>
              </a:lnSpc>
              <a:buFont typeface="Wingdings"/>
              <a:buChar char=""/>
              <a:tabLst>
                <a:tab pos="520065" algn="l"/>
              </a:tabLst>
            </a:pP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Waveforms</a:t>
            </a:r>
            <a:r>
              <a:rPr sz="2400" b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Frequency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Modulator</a:t>
            </a:r>
            <a:endParaRPr sz="2400">
              <a:latin typeface="Calibri"/>
              <a:cs typeface="Calibri"/>
            </a:endParaRPr>
          </a:p>
          <a:p>
            <a:pPr marL="520065" indent="-457200">
              <a:lnSpc>
                <a:spcPct val="100000"/>
              </a:lnSpc>
              <a:buFont typeface="Wingdings"/>
              <a:buChar char=""/>
              <a:tabLst>
                <a:tab pos="5200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Square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Wave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Frequency</a:t>
            </a:r>
            <a:r>
              <a:rPr sz="2400" b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Modulation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Basics</a:t>
            </a:r>
            <a:r>
              <a:rPr sz="3200" u="sng" spc="-8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of</a:t>
            </a:r>
            <a:r>
              <a:rPr sz="3200" u="sng" spc="-5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Frequency</a:t>
            </a:r>
            <a:r>
              <a:rPr sz="3200" u="sng" spc="-6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spc="-1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Modulation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41245" y="1858391"/>
            <a:ext cx="236093" cy="21170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3043682" y="1858391"/>
            <a:ext cx="510540" cy="212090"/>
          </a:xfrm>
          <a:custGeom>
            <a:avLst/>
            <a:gdLst/>
            <a:ahLst/>
            <a:cxnLst/>
            <a:rect l="l" t="t" r="r" b="b"/>
            <a:pathLst>
              <a:path w="510539" h="212089">
                <a:moveTo>
                  <a:pt x="442849" y="0"/>
                </a:moveTo>
                <a:lnTo>
                  <a:pt x="439801" y="8509"/>
                </a:lnTo>
                <a:lnTo>
                  <a:pt x="452086" y="13892"/>
                </a:lnTo>
                <a:lnTo>
                  <a:pt x="462645" y="21288"/>
                </a:lnTo>
                <a:lnTo>
                  <a:pt x="484036" y="55429"/>
                </a:lnTo>
                <a:lnTo>
                  <a:pt x="490288" y="86483"/>
                </a:lnTo>
                <a:lnTo>
                  <a:pt x="490323" y="86723"/>
                </a:lnTo>
                <a:lnTo>
                  <a:pt x="491109" y="104775"/>
                </a:lnTo>
                <a:lnTo>
                  <a:pt x="490323" y="123444"/>
                </a:lnTo>
                <a:lnTo>
                  <a:pt x="487965" y="140398"/>
                </a:lnTo>
                <a:lnTo>
                  <a:pt x="471418" y="180784"/>
                </a:lnTo>
                <a:lnTo>
                  <a:pt x="440182" y="203073"/>
                </a:lnTo>
                <a:lnTo>
                  <a:pt x="442849" y="211709"/>
                </a:lnTo>
                <a:lnTo>
                  <a:pt x="483318" y="187706"/>
                </a:lnTo>
                <a:lnTo>
                  <a:pt x="506047" y="143335"/>
                </a:lnTo>
                <a:lnTo>
                  <a:pt x="510413" y="105918"/>
                </a:lnTo>
                <a:lnTo>
                  <a:pt x="509331" y="86723"/>
                </a:lnTo>
                <a:lnTo>
                  <a:pt x="509317" y="86483"/>
                </a:lnTo>
                <a:lnTo>
                  <a:pt x="492887" y="37084"/>
                </a:lnTo>
                <a:lnTo>
                  <a:pt x="458204" y="5526"/>
                </a:lnTo>
                <a:lnTo>
                  <a:pt x="442849" y="0"/>
                </a:lnTo>
                <a:close/>
              </a:path>
              <a:path w="510539" h="212089">
                <a:moveTo>
                  <a:pt x="67564" y="0"/>
                </a:moveTo>
                <a:lnTo>
                  <a:pt x="27166" y="24056"/>
                </a:lnTo>
                <a:lnTo>
                  <a:pt x="4381" y="68548"/>
                </a:lnTo>
                <a:lnTo>
                  <a:pt x="64" y="104775"/>
                </a:lnTo>
                <a:lnTo>
                  <a:pt x="0" y="105918"/>
                </a:lnTo>
                <a:lnTo>
                  <a:pt x="985" y="123444"/>
                </a:lnTo>
                <a:lnTo>
                  <a:pt x="1093" y="125370"/>
                </a:lnTo>
                <a:lnTo>
                  <a:pt x="4365" y="143335"/>
                </a:lnTo>
                <a:lnTo>
                  <a:pt x="27094" y="187706"/>
                </a:lnTo>
                <a:lnTo>
                  <a:pt x="67564" y="211709"/>
                </a:lnTo>
                <a:lnTo>
                  <a:pt x="70231" y="203073"/>
                </a:lnTo>
                <a:lnTo>
                  <a:pt x="58183" y="197738"/>
                </a:lnTo>
                <a:lnTo>
                  <a:pt x="47767" y="190309"/>
                </a:lnTo>
                <a:lnTo>
                  <a:pt x="26376" y="155638"/>
                </a:lnTo>
                <a:lnTo>
                  <a:pt x="19352" y="105918"/>
                </a:lnTo>
                <a:lnTo>
                  <a:pt x="19304" y="104775"/>
                </a:lnTo>
                <a:lnTo>
                  <a:pt x="20089" y="86723"/>
                </a:lnTo>
                <a:lnTo>
                  <a:pt x="31877" y="42164"/>
                </a:lnTo>
                <a:lnTo>
                  <a:pt x="58398" y="13892"/>
                </a:lnTo>
                <a:lnTo>
                  <a:pt x="70612" y="8509"/>
                </a:lnTo>
                <a:lnTo>
                  <a:pt x="675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626483" y="1526921"/>
            <a:ext cx="0" cy="866775"/>
          </a:xfrm>
          <a:custGeom>
            <a:avLst/>
            <a:gdLst/>
            <a:ahLst/>
            <a:cxnLst/>
            <a:rect l="l" t="t" r="r" b="b"/>
            <a:pathLst>
              <a:path h="866775">
                <a:moveTo>
                  <a:pt x="0" y="0"/>
                </a:moveTo>
                <a:lnTo>
                  <a:pt x="0" y="866647"/>
                </a:lnTo>
              </a:path>
            </a:pathLst>
          </a:custGeom>
          <a:ln w="28575">
            <a:solidFill>
              <a:srgbClr val="4471C4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11366" y="1858391"/>
            <a:ext cx="236092" cy="211709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7310755" y="1858391"/>
            <a:ext cx="697865" cy="212090"/>
            <a:chOff x="7310755" y="1858391"/>
            <a:chExt cx="697865" cy="212090"/>
          </a:xfrm>
        </p:grpSpPr>
        <p:sp>
          <p:nvSpPr>
            <p:cNvPr id="8" name="object 8"/>
            <p:cNvSpPr/>
            <p:nvPr/>
          </p:nvSpPr>
          <p:spPr>
            <a:xfrm>
              <a:off x="7310755" y="1858391"/>
              <a:ext cx="697865" cy="212090"/>
            </a:xfrm>
            <a:custGeom>
              <a:avLst/>
              <a:gdLst/>
              <a:ahLst/>
              <a:cxnLst/>
              <a:rect l="l" t="t" r="r" b="b"/>
              <a:pathLst>
                <a:path w="697865" h="212089">
                  <a:moveTo>
                    <a:pt x="630301" y="0"/>
                  </a:moveTo>
                  <a:lnTo>
                    <a:pt x="627252" y="8509"/>
                  </a:lnTo>
                  <a:lnTo>
                    <a:pt x="639538" y="13892"/>
                  </a:lnTo>
                  <a:lnTo>
                    <a:pt x="650097" y="21288"/>
                  </a:lnTo>
                  <a:lnTo>
                    <a:pt x="671488" y="55429"/>
                  </a:lnTo>
                  <a:lnTo>
                    <a:pt x="677740" y="86483"/>
                  </a:lnTo>
                  <a:lnTo>
                    <a:pt x="677775" y="86723"/>
                  </a:lnTo>
                  <a:lnTo>
                    <a:pt x="678560" y="104775"/>
                  </a:lnTo>
                  <a:lnTo>
                    <a:pt x="677775" y="123444"/>
                  </a:lnTo>
                  <a:lnTo>
                    <a:pt x="675417" y="140398"/>
                  </a:lnTo>
                  <a:lnTo>
                    <a:pt x="658870" y="180784"/>
                  </a:lnTo>
                  <a:lnTo>
                    <a:pt x="627633" y="203073"/>
                  </a:lnTo>
                  <a:lnTo>
                    <a:pt x="630301" y="211709"/>
                  </a:lnTo>
                  <a:lnTo>
                    <a:pt x="670770" y="187706"/>
                  </a:lnTo>
                  <a:lnTo>
                    <a:pt x="693499" y="143335"/>
                  </a:lnTo>
                  <a:lnTo>
                    <a:pt x="697865" y="105918"/>
                  </a:lnTo>
                  <a:lnTo>
                    <a:pt x="696783" y="86723"/>
                  </a:lnTo>
                  <a:lnTo>
                    <a:pt x="696769" y="86483"/>
                  </a:lnTo>
                  <a:lnTo>
                    <a:pt x="680338" y="37084"/>
                  </a:lnTo>
                  <a:lnTo>
                    <a:pt x="645638" y="5526"/>
                  </a:lnTo>
                  <a:lnTo>
                    <a:pt x="630301" y="0"/>
                  </a:lnTo>
                  <a:close/>
                </a:path>
                <a:path w="697865" h="212089">
                  <a:moveTo>
                    <a:pt x="67563" y="0"/>
                  </a:moveTo>
                  <a:lnTo>
                    <a:pt x="27166" y="24056"/>
                  </a:lnTo>
                  <a:lnTo>
                    <a:pt x="4381" y="68548"/>
                  </a:lnTo>
                  <a:lnTo>
                    <a:pt x="64" y="104775"/>
                  </a:lnTo>
                  <a:lnTo>
                    <a:pt x="0" y="105918"/>
                  </a:lnTo>
                  <a:lnTo>
                    <a:pt x="985" y="123444"/>
                  </a:lnTo>
                  <a:lnTo>
                    <a:pt x="1093" y="125370"/>
                  </a:lnTo>
                  <a:lnTo>
                    <a:pt x="4365" y="143335"/>
                  </a:lnTo>
                  <a:lnTo>
                    <a:pt x="27094" y="187706"/>
                  </a:lnTo>
                  <a:lnTo>
                    <a:pt x="67563" y="211709"/>
                  </a:lnTo>
                  <a:lnTo>
                    <a:pt x="70230" y="203073"/>
                  </a:lnTo>
                  <a:lnTo>
                    <a:pt x="58183" y="197738"/>
                  </a:lnTo>
                  <a:lnTo>
                    <a:pt x="47767" y="190309"/>
                  </a:lnTo>
                  <a:lnTo>
                    <a:pt x="26376" y="155638"/>
                  </a:lnTo>
                  <a:lnTo>
                    <a:pt x="19352" y="105918"/>
                  </a:lnTo>
                  <a:lnTo>
                    <a:pt x="19303" y="104775"/>
                  </a:lnTo>
                  <a:lnTo>
                    <a:pt x="20089" y="86723"/>
                  </a:lnTo>
                  <a:lnTo>
                    <a:pt x="31876" y="42164"/>
                  </a:lnTo>
                  <a:lnTo>
                    <a:pt x="58344" y="13892"/>
                  </a:lnTo>
                  <a:lnTo>
                    <a:pt x="70611" y="8509"/>
                  </a:lnTo>
                  <a:lnTo>
                    <a:pt x="675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89647" y="1858391"/>
              <a:ext cx="236093" cy="211709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8973445" y="1825370"/>
            <a:ext cx="579120" cy="276225"/>
            <a:chOff x="8973445" y="1825370"/>
            <a:chExt cx="579120" cy="276225"/>
          </a:xfrm>
        </p:grpSpPr>
        <p:sp>
          <p:nvSpPr>
            <p:cNvPr id="11" name="object 11"/>
            <p:cNvSpPr/>
            <p:nvPr/>
          </p:nvSpPr>
          <p:spPr>
            <a:xfrm>
              <a:off x="8973445" y="1825370"/>
              <a:ext cx="579120" cy="276225"/>
            </a:xfrm>
            <a:custGeom>
              <a:avLst/>
              <a:gdLst/>
              <a:ahLst/>
              <a:cxnLst/>
              <a:rect l="l" t="t" r="r" b="b"/>
              <a:pathLst>
                <a:path w="579120" h="276225">
                  <a:moveTo>
                    <a:pt x="506597" y="0"/>
                  </a:moveTo>
                  <a:lnTo>
                    <a:pt x="503803" y="9271"/>
                  </a:lnTo>
                  <a:lnTo>
                    <a:pt x="516497" y="15819"/>
                  </a:lnTo>
                  <a:lnTo>
                    <a:pt x="527536" y="25368"/>
                  </a:lnTo>
                  <a:lnTo>
                    <a:pt x="550791" y="71616"/>
                  </a:lnTo>
                  <a:lnTo>
                    <a:pt x="557787" y="114010"/>
                  </a:lnTo>
                  <a:lnTo>
                    <a:pt x="558667" y="138303"/>
                  </a:lnTo>
                  <a:lnTo>
                    <a:pt x="557787" y="162446"/>
                  </a:lnTo>
                  <a:lnTo>
                    <a:pt x="550791" y="204686"/>
                  </a:lnTo>
                  <a:lnTo>
                    <a:pt x="527536" y="250872"/>
                  </a:lnTo>
                  <a:lnTo>
                    <a:pt x="503803" y="267081"/>
                  </a:lnTo>
                  <a:lnTo>
                    <a:pt x="506597" y="276225"/>
                  </a:lnTo>
                  <a:lnTo>
                    <a:pt x="549888" y="246060"/>
                  </a:lnTo>
                  <a:lnTo>
                    <a:pt x="568559" y="208702"/>
                  </a:lnTo>
                  <a:lnTo>
                    <a:pt x="577945" y="163415"/>
                  </a:lnTo>
                  <a:lnTo>
                    <a:pt x="579108" y="138303"/>
                  </a:lnTo>
                  <a:lnTo>
                    <a:pt x="577998" y="114010"/>
                  </a:lnTo>
                  <a:lnTo>
                    <a:pt x="568559" y="67524"/>
                  </a:lnTo>
                  <a:lnTo>
                    <a:pt x="549888" y="30164"/>
                  </a:lnTo>
                  <a:lnTo>
                    <a:pt x="523027" y="6403"/>
                  </a:lnTo>
                  <a:lnTo>
                    <a:pt x="506597" y="0"/>
                  </a:lnTo>
                  <a:close/>
                </a:path>
                <a:path w="579120" h="276225">
                  <a:moveTo>
                    <a:pt x="72511" y="0"/>
                  </a:moveTo>
                  <a:lnTo>
                    <a:pt x="29344" y="30164"/>
                  </a:lnTo>
                  <a:lnTo>
                    <a:pt x="10656" y="67524"/>
                  </a:lnTo>
                  <a:lnTo>
                    <a:pt x="1182" y="112863"/>
                  </a:lnTo>
                  <a:lnTo>
                    <a:pt x="0" y="138303"/>
                  </a:lnTo>
                  <a:lnTo>
                    <a:pt x="1137" y="162446"/>
                  </a:lnTo>
                  <a:lnTo>
                    <a:pt x="1182" y="163415"/>
                  </a:lnTo>
                  <a:lnTo>
                    <a:pt x="10656" y="208702"/>
                  </a:lnTo>
                  <a:lnTo>
                    <a:pt x="29344" y="246060"/>
                  </a:lnTo>
                  <a:lnTo>
                    <a:pt x="72511" y="276225"/>
                  </a:lnTo>
                  <a:lnTo>
                    <a:pt x="75305" y="267081"/>
                  </a:lnTo>
                  <a:lnTo>
                    <a:pt x="62664" y="260459"/>
                  </a:lnTo>
                  <a:lnTo>
                    <a:pt x="51619" y="250872"/>
                  </a:lnTo>
                  <a:lnTo>
                    <a:pt x="28336" y="204686"/>
                  </a:lnTo>
                  <a:lnTo>
                    <a:pt x="21540" y="163415"/>
                  </a:lnTo>
                  <a:lnTo>
                    <a:pt x="20568" y="138303"/>
                  </a:lnTo>
                  <a:lnTo>
                    <a:pt x="21427" y="114010"/>
                  </a:lnTo>
                  <a:lnTo>
                    <a:pt x="28336" y="71616"/>
                  </a:lnTo>
                  <a:lnTo>
                    <a:pt x="51619" y="25368"/>
                  </a:lnTo>
                  <a:lnTo>
                    <a:pt x="75305" y="9271"/>
                  </a:lnTo>
                  <a:lnTo>
                    <a:pt x="725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212707" y="1858390"/>
              <a:ext cx="236093" cy="211709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981827" y="2175382"/>
            <a:ext cx="236092" cy="21170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858127" y="2175382"/>
            <a:ext cx="236093" cy="21170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712322" y="2175382"/>
            <a:ext cx="236093" cy="211709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99339" y="584708"/>
            <a:ext cx="11530965" cy="2980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5300" marR="30480" indent="-45720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95300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In</a:t>
            </a:r>
            <a:r>
              <a:rPr sz="2400" b="1" spc="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Frequency</a:t>
            </a:r>
            <a:r>
              <a:rPr sz="2400" b="1" spc="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Modulation,</a:t>
            </a:r>
            <a:r>
              <a:rPr sz="2400" b="1" spc="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Frequency</a:t>
            </a:r>
            <a:r>
              <a:rPr sz="2400" b="1" spc="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Carrier</a:t>
            </a:r>
            <a:r>
              <a:rPr sz="2400" b="1" spc="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Signal</a:t>
            </a:r>
            <a:r>
              <a:rPr sz="2400" b="1" spc="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changes</a:t>
            </a:r>
            <a:r>
              <a:rPr sz="2400" b="1" spc="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with</a:t>
            </a:r>
            <a:r>
              <a:rPr sz="2400" b="1" spc="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respect</a:t>
            </a:r>
            <a:r>
              <a:rPr sz="2400" b="1" spc="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to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Modulating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Signal.</a:t>
            </a:r>
            <a:endParaRPr sz="2400" dirty="0">
              <a:latin typeface="Calibri"/>
              <a:cs typeface="Calibri"/>
            </a:endParaRPr>
          </a:p>
          <a:p>
            <a:pPr marL="982980" lvl="1" indent="-286385">
              <a:lnSpc>
                <a:spcPct val="100000"/>
              </a:lnSpc>
              <a:spcBef>
                <a:spcPts val="1205"/>
              </a:spcBef>
              <a:buFont typeface="Wingdings"/>
              <a:buChar char=""/>
              <a:tabLst>
                <a:tab pos="982980" algn="l"/>
                <a:tab pos="4729480" algn="l"/>
              </a:tabLst>
            </a:pPr>
            <a:r>
              <a:rPr sz="1800" dirty="0">
                <a:latin typeface="Cambria Math"/>
                <a:cs typeface="Cambria Math"/>
              </a:rPr>
              <a:t>Let</a:t>
            </a:r>
            <a:r>
              <a:rPr sz="1800" spc="-5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the</a:t>
            </a:r>
            <a:r>
              <a:rPr sz="1800" spc="-45" dirty="0">
                <a:latin typeface="Cambria Math"/>
                <a:cs typeface="Cambria Math"/>
              </a:rPr>
              <a:t> </a:t>
            </a:r>
            <a:r>
              <a:rPr sz="1800" spc="-20" dirty="0">
                <a:latin typeface="Cambria Math"/>
                <a:cs typeface="Cambria Math"/>
              </a:rPr>
              <a:t>Carrier</a:t>
            </a:r>
            <a:r>
              <a:rPr sz="1800" spc="-60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Signal</a:t>
            </a:r>
            <a:r>
              <a:rPr sz="1800" spc="-6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is</a:t>
            </a:r>
            <a:r>
              <a:rPr sz="1800" spc="-4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given</a:t>
            </a:r>
            <a:r>
              <a:rPr sz="1800" spc="-55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by: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dirty="0">
                <a:latin typeface="Wingdings"/>
                <a:cs typeface="Wingdings"/>
              </a:rPr>
              <a:t></a:t>
            </a:r>
            <a:r>
              <a:rPr sz="1800" spc="20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Then,</a:t>
            </a:r>
            <a:r>
              <a:rPr sz="1800" spc="-5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the</a:t>
            </a:r>
            <a:r>
              <a:rPr sz="1800" spc="-40" dirty="0">
                <a:latin typeface="Cambria Math"/>
                <a:cs typeface="Cambria Math"/>
              </a:rPr>
              <a:t> </a:t>
            </a:r>
            <a:r>
              <a:rPr sz="1800" spc="-30" dirty="0">
                <a:latin typeface="Cambria Math"/>
                <a:cs typeface="Cambria Math"/>
              </a:rPr>
              <a:t>Frequency</a:t>
            </a:r>
            <a:r>
              <a:rPr sz="1800" spc="-55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Modulated</a:t>
            </a:r>
            <a:r>
              <a:rPr sz="1800" spc="-60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Signal</a:t>
            </a:r>
            <a:r>
              <a:rPr sz="1800" spc="-5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is</a:t>
            </a:r>
            <a:r>
              <a:rPr sz="1800" spc="-25" dirty="0">
                <a:latin typeface="Cambria Math"/>
                <a:cs typeface="Cambria Math"/>
              </a:rPr>
              <a:t> given</a:t>
            </a:r>
            <a:r>
              <a:rPr sz="1800" spc="-55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by:</a:t>
            </a:r>
            <a:endParaRPr sz="1800" dirty="0">
              <a:latin typeface="Cambria Math"/>
              <a:cs typeface="Cambria Math"/>
            </a:endParaRPr>
          </a:p>
          <a:p>
            <a:pPr marL="1153795">
              <a:lnSpc>
                <a:spcPct val="100000"/>
              </a:lnSpc>
              <a:spcBef>
                <a:spcPts val="350"/>
              </a:spcBef>
              <a:tabLst>
                <a:tab pos="1962785" algn="l"/>
                <a:tab pos="5186680" algn="l"/>
                <a:tab pos="6230620" algn="l"/>
                <a:tab pos="7893684" algn="l"/>
              </a:tabLst>
            </a:pPr>
            <a:r>
              <a:rPr sz="1800" dirty="0">
                <a:latin typeface="Cambria Math"/>
                <a:cs typeface="Cambria Math"/>
              </a:rPr>
              <a:t>⟹</a:t>
            </a:r>
            <a:r>
              <a:rPr sz="1800" spc="9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𝐂</a:t>
            </a:r>
            <a:r>
              <a:rPr sz="1800" spc="32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=</a:t>
            </a:r>
            <a:r>
              <a:rPr sz="1800" spc="60" dirty="0">
                <a:latin typeface="Cambria Math"/>
                <a:cs typeface="Cambria Math"/>
              </a:rPr>
              <a:t> </a:t>
            </a:r>
            <a:r>
              <a:rPr sz="1800" spc="-20" dirty="0">
                <a:latin typeface="Cambria Math"/>
                <a:cs typeface="Cambria Math"/>
              </a:rPr>
              <a:t>𝐕</a:t>
            </a:r>
            <a:r>
              <a:rPr sz="1950" spc="-30" baseline="-14957" dirty="0">
                <a:latin typeface="Cambria Math"/>
                <a:cs typeface="Cambria Math"/>
              </a:rPr>
              <a:t>𝐂</a:t>
            </a:r>
            <a:r>
              <a:rPr sz="1950" spc="67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𝐜𝐨𝐬</a:t>
            </a:r>
            <a:r>
              <a:rPr sz="1800" spc="295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𝛚</a:t>
            </a:r>
            <a:r>
              <a:rPr sz="1950" spc="-37" baseline="-14957" dirty="0">
                <a:latin typeface="Cambria Math"/>
                <a:cs typeface="Cambria Math"/>
              </a:rPr>
              <a:t>𝐜</a:t>
            </a:r>
            <a:r>
              <a:rPr sz="1800" spc="-25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⟹</a:t>
            </a:r>
            <a:r>
              <a:rPr sz="1800" spc="4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𝐘</a:t>
            </a:r>
            <a:r>
              <a:rPr sz="1950" baseline="-14957" dirty="0">
                <a:latin typeface="Cambria Math"/>
                <a:cs typeface="Cambria Math"/>
              </a:rPr>
              <a:t>𝐅𝐌</a:t>
            </a:r>
            <a:r>
              <a:rPr sz="1950" spc="652" baseline="-14957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=</a:t>
            </a:r>
            <a:r>
              <a:rPr sz="1800" spc="85" dirty="0">
                <a:latin typeface="Cambria Math"/>
                <a:cs typeface="Cambria Math"/>
              </a:rPr>
              <a:t> </a:t>
            </a:r>
            <a:r>
              <a:rPr sz="1800" spc="-20" dirty="0">
                <a:latin typeface="Cambria Math"/>
                <a:cs typeface="Cambria Math"/>
              </a:rPr>
              <a:t>𝐕</a:t>
            </a:r>
            <a:r>
              <a:rPr sz="1950" spc="-30" baseline="-14957" dirty="0">
                <a:latin typeface="Cambria Math"/>
                <a:cs typeface="Cambria Math"/>
              </a:rPr>
              <a:t>𝐂</a:t>
            </a:r>
            <a:r>
              <a:rPr sz="1950" spc="89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𝐜𝐨𝐬</a:t>
            </a:r>
            <a:r>
              <a:rPr sz="1800" spc="30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𝛚</a:t>
            </a:r>
            <a:r>
              <a:rPr sz="1800" spc="32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𝐭</a:t>
            </a:r>
            <a:r>
              <a:rPr sz="1800" spc="32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=</a:t>
            </a:r>
            <a:r>
              <a:rPr sz="1800" spc="80" dirty="0">
                <a:latin typeface="Cambria Math"/>
                <a:cs typeface="Cambria Math"/>
              </a:rPr>
              <a:t> </a:t>
            </a:r>
            <a:r>
              <a:rPr sz="1800" spc="-20" dirty="0">
                <a:latin typeface="Cambria Math"/>
                <a:cs typeface="Cambria Math"/>
              </a:rPr>
              <a:t>𝐕</a:t>
            </a:r>
            <a:r>
              <a:rPr sz="1950" spc="-30" baseline="-14957" dirty="0">
                <a:latin typeface="Cambria Math"/>
                <a:cs typeface="Cambria Math"/>
              </a:rPr>
              <a:t>𝐂</a:t>
            </a:r>
            <a:r>
              <a:rPr sz="1950" spc="82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𝐜𝐨𝐬</a:t>
            </a:r>
            <a:r>
              <a:rPr sz="1800" spc="35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𝛉</a:t>
            </a:r>
            <a:r>
              <a:rPr sz="1800" spc="31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𝐭</a:t>
            </a:r>
            <a:endParaRPr sz="1800" dirty="0">
              <a:latin typeface="Cambria Math"/>
              <a:cs typeface="Cambria Math"/>
            </a:endParaRPr>
          </a:p>
          <a:p>
            <a:pPr marL="5015230" lvl="2" indent="-285750">
              <a:lnSpc>
                <a:spcPct val="100000"/>
              </a:lnSpc>
              <a:spcBef>
                <a:spcPts val="335"/>
              </a:spcBef>
              <a:buFont typeface="Wingdings"/>
              <a:buChar char=""/>
              <a:tabLst>
                <a:tab pos="5015230" algn="l"/>
                <a:tab pos="6093460" algn="l"/>
                <a:tab pos="6968490" algn="l"/>
              </a:tabLst>
            </a:pPr>
            <a:r>
              <a:rPr sz="1800" b="1" dirty="0">
                <a:latin typeface="Calibri"/>
                <a:cs typeface="Calibri"/>
              </a:rPr>
              <a:t>Here,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dirty="0">
                <a:latin typeface="Cambria Math"/>
                <a:cs typeface="Cambria Math"/>
              </a:rPr>
              <a:t>𝛚</a:t>
            </a:r>
            <a:r>
              <a:rPr sz="1800" spc="330" dirty="0">
                <a:latin typeface="Cambria Math"/>
                <a:cs typeface="Cambria Math"/>
              </a:rPr>
              <a:t> </a:t>
            </a:r>
            <a:r>
              <a:rPr sz="1800" spc="-60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b="1" dirty="0">
                <a:latin typeface="Calibri"/>
                <a:cs typeface="Calibri"/>
              </a:rPr>
              <a:t>and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dirty="0">
                <a:latin typeface="Cambria Math"/>
                <a:cs typeface="Cambria Math"/>
              </a:rPr>
              <a:t>𝛉</a:t>
            </a:r>
            <a:r>
              <a:rPr sz="1800" spc="34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b="1" dirty="0">
                <a:latin typeface="Calibri"/>
                <a:cs typeface="Calibri"/>
              </a:rPr>
              <a:t>is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function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of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the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Message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Signal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dirty="0">
                <a:latin typeface="Cambria Math"/>
                <a:cs typeface="Cambria Math"/>
              </a:rPr>
              <a:t>𝐦</a:t>
            </a:r>
            <a:r>
              <a:rPr sz="1800" spc="33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𝐭</a:t>
            </a:r>
            <a:r>
              <a:rPr sz="1800" spc="340" dirty="0">
                <a:latin typeface="Cambria Math"/>
                <a:cs typeface="Cambria Math"/>
              </a:rPr>
              <a:t> </a:t>
            </a:r>
            <a:r>
              <a:rPr sz="1800" b="1" spc="-50" dirty="0">
                <a:latin typeface="Calibri"/>
                <a:cs typeface="Calibri"/>
              </a:rPr>
              <a:t>.</a:t>
            </a:r>
            <a:endParaRPr sz="1800" dirty="0">
              <a:latin typeface="Calibri"/>
              <a:cs typeface="Calibri"/>
            </a:endParaRPr>
          </a:p>
          <a:p>
            <a:pPr marL="495300" marR="25400" indent="-457200">
              <a:lnSpc>
                <a:spcPct val="100000"/>
              </a:lnSpc>
              <a:spcBef>
                <a:spcPts val="1200"/>
              </a:spcBef>
              <a:buFont typeface="Wingdings"/>
              <a:buChar char=""/>
              <a:tabLst>
                <a:tab pos="495300" algn="l"/>
                <a:tab pos="1941195" algn="l"/>
                <a:tab pos="3561715" algn="l"/>
                <a:tab pos="3890645" algn="l"/>
                <a:tab pos="4173854" algn="l"/>
                <a:tab pos="4834255" algn="l"/>
                <a:tab pos="5227320" algn="l"/>
                <a:tab pos="5782310" algn="l"/>
                <a:tab pos="6635750" algn="l"/>
                <a:tab pos="8335009" algn="l"/>
                <a:tab pos="8935720" algn="l"/>
                <a:tab pos="9789160" algn="l"/>
                <a:tab pos="10182860" algn="l"/>
              </a:tabLst>
            </a:pP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Frequency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Modulation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part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Angle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Modulation,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Angle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Frequency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Modulation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given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by:</a:t>
            </a:r>
            <a:endParaRPr sz="2400" dirty="0">
              <a:latin typeface="Calibri"/>
              <a:cs typeface="Calibri"/>
            </a:endParaRPr>
          </a:p>
          <a:p>
            <a:pPr marL="3509010">
              <a:lnSpc>
                <a:spcPct val="100000"/>
              </a:lnSpc>
              <a:spcBef>
                <a:spcPts val="615"/>
              </a:spcBef>
            </a:pPr>
            <a:endParaRPr sz="1300" dirty="0">
              <a:latin typeface="Cambria Math"/>
              <a:cs typeface="Cambria Math"/>
            </a:endParaRPr>
          </a:p>
        </p:txBody>
      </p:sp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842770" y="3716654"/>
            <a:ext cx="236093" cy="211708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340866" y="3646678"/>
            <a:ext cx="676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⟹</a:t>
            </a:r>
            <a:r>
              <a:rPr sz="1800" spc="9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𝛉</a:t>
            </a:r>
            <a:r>
              <a:rPr sz="1800" spc="32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𝐭</a:t>
            </a:r>
            <a:endParaRPr sz="1800">
              <a:latin typeface="Cambria Math"/>
              <a:cs typeface="Cambria Math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20"/>
              <p:cNvSpPr txBox="1"/>
              <p:nvPr/>
            </p:nvSpPr>
            <p:spPr>
              <a:xfrm>
                <a:off x="2115820" y="3429000"/>
                <a:ext cx="2837180" cy="846578"/>
              </a:xfrm>
              <a:prstGeom prst="rect">
                <a:avLst/>
              </a:prstGeom>
            </p:spPr>
            <p:txBody>
              <a:bodyPr vert="horz" wrap="square" lIns="0" tIns="15811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1245"/>
                  </a:spcBef>
                </a:pPr>
                <a:r>
                  <a:rPr lang="en-US" sz="1800" dirty="0">
                    <a:latin typeface="Cambria Math"/>
                    <a:cs typeface="Cambria Math"/>
                  </a:rPr>
                  <a:t>=</a:t>
                </a:r>
                <a:r>
                  <a:rPr lang="en-US" sz="1800" spc="114" dirty="0">
                    <a:latin typeface="Cambria Math"/>
                    <a:cs typeface="Cambria Math"/>
                  </a:rPr>
                  <a:t> </a:t>
                </a:r>
                <a:r>
                  <a:rPr lang="en-US" sz="1800" dirty="0">
                    <a:latin typeface="Cambria Math"/>
                    <a:cs typeface="Cambria Math"/>
                  </a:rPr>
                  <a:t>𝛚</a:t>
                </a:r>
                <a:r>
                  <a:rPr lang="en-US" sz="1950" baseline="-14957" dirty="0">
                    <a:latin typeface="Cambria Math"/>
                    <a:cs typeface="Cambria Math"/>
                  </a:rPr>
                  <a:t>𝐜</a:t>
                </a:r>
                <a:r>
                  <a:rPr lang="en-US" sz="1800" dirty="0">
                    <a:latin typeface="Cambria Math"/>
                    <a:cs typeface="Cambria Math"/>
                  </a:rPr>
                  <a:t>𝐭</a:t>
                </a:r>
                <a:r>
                  <a:rPr lang="en-US" sz="1800" spc="20" dirty="0">
                    <a:latin typeface="Cambria Math"/>
                    <a:cs typeface="Cambria Math"/>
                  </a:rPr>
                  <a:t> </a:t>
                </a:r>
                <a:r>
                  <a:rPr lang="en-US" sz="1800" dirty="0">
                    <a:latin typeface="Cambria Math"/>
                    <a:cs typeface="Cambria Math"/>
                  </a:rPr>
                  <a:t>+</a:t>
                </a:r>
                <a:r>
                  <a:rPr lang="en-US" sz="1800" spc="15" dirty="0">
                    <a:latin typeface="Cambria Math"/>
                    <a:cs typeface="Cambria Math"/>
                  </a:rPr>
                  <a:t> </a:t>
                </a:r>
                <a:r>
                  <a:rPr lang="en-US" sz="1800" dirty="0">
                    <a:latin typeface="Cambria Math"/>
                    <a:cs typeface="Cambria Math"/>
                  </a:rPr>
                  <a:t>𝟐𝛑𝐤</a:t>
                </a:r>
                <a:r>
                  <a:rPr lang="en-US" sz="1950" baseline="-14957" dirty="0">
                    <a:latin typeface="Cambria Math"/>
                    <a:cs typeface="Cambria Math"/>
                  </a:rPr>
                  <a:t>𝐅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grow m:val="on"/>
                        <m:ctrlPr>
                          <a:rPr lang="ar-AE" sz="1800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800" b="1" i="0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  <m:sup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p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  <m:d>
                          <m:dPr>
                            <m:ctrlPr>
                              <a:rPr lang="ar-AE" sz="1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800" b="1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𝜶</m:t>
                            </m:r>
                          </m:e>
                        </m:d>
                        <m:r>
                          <a:rPr lang="ar-AE" sz="18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en-US" sz="1800" b="1" i="1" smtClean="0">
                            <a:latin typeface="Cambria Math"/>
                          </a:rPr>
                          <m:t>𝜶</m:t>
                        </m:r>
                      </m:e>
                    </m:nary>
                  </m:oMath>
                </a14:m>
                <a:endParaRPr lang="ar-AE" sz="1800" b="1" dirty="0">
                  <a:latin typeface="Cambria Math"/>
                  <a:cs typeface="Cambria Math"/>
                </a:endParaRPr>
              </a:p>
              <a:p>
                <a:pPr marL="609600" algn="ctr">
                  <a:lnSpc>
                    <a:spcPct val="100000"/>
                  </a:lnSpc>
                  <a:spcBef>
                    <a:spcPts val="860"/>
                  </a:spcBef>
                </a:pPr>
                <a:endParaRPr sz="1300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20" name="object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5820" y="3429000"/>
                <a:ext cx="2837180" cy="846578"/>
              </a:xfrm>
              <a:prstGeom prst="rect">
                <a:avLst/>
              </a:prstGeom>
              <a:blipFill rotWithShape="1">
                <a:blip r:embed="rId10"/>
                <a:stretch>
                  <a:fillRect l="-3648" t="-45652" b="-6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object 21"/>
          <p:cNvSpPr txBox="1"/>
          <p:nvPr/>
        </p:nvSpPr>
        <p:spPr>
          <a:xfrm>
            <a:off x="199339" y="4281627"/>
            <a:ext cx="590740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4665" indent="-4565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94665" algn="l"/>
              </a:tabLst>
            </a:pPr>
            <a:r>
              <a:rPr sz="2400" spc="45" dirty="0">
                <a:solidFill>
                  <a:srgbClr val="6F2F9F"/>
                </a:solidFill>
                <a:latin typeface="Cambria Math"/>
                <a:cs typeface="Cambria Math"/>
              </a:rPr>
              <a:t>𝐤</a:t>
            </a:r>
            <a:r>
              <a:rPr sz="2625" spc="67" baseline="-15873" dirty="0">
                <a:solidFill>
                  <a:srgbClr val="6F2F9F"/>
                </a:solidFill>
                <a:latin typeface="Cambria Math"/>
                <a:cs typeface="Cambria Math"/>
              </a:rPr>
              <a:t>𝐅</a:t>
            </a:r>
            <a:r>
              <a:rPr sz="2625" spc="300" baseline="-15873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frequency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Sensitivity,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Unit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Hz/Volt.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25035" y="676275"/>
            <a:ext cx="315595" cy="282575"/>
          </a:xfrm>
          <a:custGeom>
            <a:avLst/>
            <a:gdLst/>
            <a:ahLst/>
            <a:cxnLst/>
            <a:rect l="l" t="t" r="r" b="b"/>
            <a:pathLst>
              <a:path w="315595" h="282575">
                <a:moveTo>
                  <a:pt x="225171" y="0"/>
                </a:moveTo>
                <a:lnTo>
                  <a:pt x="221107" y="11430"/>
                </a:lnTo>
                <a:lnTo>
                  <a:pt x="237470" y="18577"/>
                </a:lnTo>
                <a:lnTo>
                  <a:pt x="251523" y="28416"/>
                </a:lnTo>
                <a:lnTo>
                  <a:pt x="280056" y="73908"/>
                </a:lnTo>
                <a:lnTo>
                  <a:pt x="288339" y="115341"/>
                </a:lnTo>
                <a:lnTo>
                  <a:pt x="288387" y="115679"/>
                </a:lnTo>
                <a:lnTo>
                  <a:pt x="288385" y="164689"/>
                </a:lnTo>
                <a:lnTo>
                  <a:pt x="280003" y="207603"/>
                </a:lnTo>
                <a:lnTo>
                  <a:pt x="251523" y="253857"/>
                </a:lnTo>
                <a:lnTo>
                  <a:pt x="221615" y="270891"/>
                </a:lnTo>
                <a:lnTo>
                  <a:pt x="225171" y="282321"/>
                </a:lnTo>
                <a:lnTo>
                  <a:pt x="263667" y="264302"/>
                </a:lnTo>
                <a:lnTo>
                  <a:pt x="291973" y="233045"/>
                </a:lnTo>
                <a:lnTo>
                  <a:pt x="309403" y="191134"/>
                </a:lnTo>
                <a:lnTo>
                  <a:pt x="315214" y="141224"/>
                </a:lnTo>
                <a:lnTo>
                  <a:pt x="313778" y="115679"/>
                </a:lnTo>
                <a:lnTo>
                  <a:pt x="313759" y="115341"/>
                </a:lnTo>
                <a:lnTo>
                  <a:pt x="302087" y="69482"/>
                </a:lnTo>
                <a:lnTo>
                  <a:pt x="278963" y="32146"/>
                </a:lnTo>
                <a:lnTo>
                  <a:pt x="245625" y="7381"/>
                </a:lnTo>
                <a:lnTo>
                  <a:pt x="225171" y="0"/>
                </a:lnTo>
                <a:close/>
              </a:path>
              <a:path w="315595" h="282575">
                <a:moveTo>
                  <a:pt x="90043" y="0"/>
                </a:moveTo>
                <a:lnTo>
                  <a:pt x="51593" y="18097"/>
                </a:lnTo>
                <a:lnTo>
                  <a:pt x="23241" y="49530"/>
                </a:lnTo>
                <a:lnTo>
                  <a:pt x="5810" y="91424"/>
                </a:lnTo>
                <a:lnTo>
                  <a:pt x="78" y="139827"/>
                </a:lnTo>
                <a:lnTo>
                  <a:pt x="0" y="141224"/>
                </a:lnTo>
                <a:lnTo>
                  <a:pt x="1450" y="167179"/>
                </a:lnTo>
                <a:lnTo>
                  <a:pt x="13019" y="213090"/>
                </a:lnTo>
                <a:lnTo>
                  <a:pt x="36018" y="250334"/>
                </a:lnTo>
                <a:lnTo>
                  <a:pt x="69494" y="274960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475" y="263773"/>
                </a:lnTo>
                <a:lnTo>
                  <a:pt x="63579" y="253857"/>
                </a:lnTo>
                <a:lnTo>
                  <a:pt x="35083" y="207603"/>
                </a:lnTo>
                <a:lnTo>
                  <a:pt x="26701" y="164689"/>
                </a:lnTo>
                <a:lnTo>
                  <a:pt x="25712" y="141224"/>
                </a:lnTo>
                <a:lnTo>
                  <a:pt x="25654" y="139827"/>
                </a:lnTo>
                <a:lnTo>
                  <a:pt x="29845" y="93710"/>
                </a:lnTo>
                <a:lnTo>
                  <a:pt x="42418" y="56261"/>
                </a:lnTo>
                <a:lnTo>
                  <a:pt x="77690" y="18577"/>
                </a:lnTo>
                <a:lnTo>
                  <a:pt x="93980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Block</a:t>
            </a:r>
            <a:r>
              <a:rPr sz="3200" u="sng" spc="-8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Diagram</a:t>
            </a:r>
            <a:r>
              <a:rPr sz="3200" u="sng" spc="-10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of</a:t>
            </a:r>
            <a:r>
              <a:rPr sz="3200" u="sng" spc="-6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Frequency</a:t>
            </a:r>
            <a:r>
              <a:rPr sz="3200" u="sng" spc="-8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spc="-1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Modulator</a:t>
            </a:r>
            <a:endParaRPr sz="3200"/>
          </a:p>
        </p:txBody>
      </p:sp>
      <p:grpSp>
        <p:nvGrpSpPr>
          <p:cNvPr id="4" name="object 4"/>
          <p:cNvGrpSpPr/>
          <p:nvPr/>
        </p:nvGrpSpPr>
        <p:grpSpPr>
          <a:xfrm>
            <a:off x="539965" y="4648200"/>
            <a:ext cx="5764530" cy="1474470"/>
            <a:chOff x="539965" y="4648200"/>
            <a:chExt cx="5764530" cy="1474470"/>
          </a:xfrm>
        </p:grpSpPr>
        <p:sp>
          <p:nvSpPr>
            <p:cNvPr id="5" name="object 5"/>
            <p:cNvSpPr/>
            <p:nvPr/>
          </p:nvSpPr>
          <p:spPr>
            <a:xfrm>
              <a:off x="679780" y="4934965"/>
              <a:ext cx="5624830" cy="1187450"/>
            </a:xfrm>
            <a:custGeom>
              <a:avLst/>
              <a:gdLst/>
              <a:ahLst/>
              <a:cxnLst/>
              <a:rect l="l" t="t" r="r" b="b"/>
              <a:pathLst>
                <a:path w="5624830" h="1187450">
                  <a:moveTo>
                    <a:pt x="1491665" y="57150"/>
                  </a:moveTo>
                  <a:lnTo>
                    <a:pt x="1453565" y="38100"/>
                  </a:lnTo>
                  <a:lnTo>
                    <a:pt x="1377365" y="0"/>
                  </a:lnTo>
                  <a:lnTo>
                    <a:pt x="1377365" y="38100"/>
                  </a:lnTo>
                  <a:lnTo>
                    <a:pt x="0" y="38100"/>
                  </a:lnTo>
                  <a:lnTo>
                    <a:pt x="0" y="76200"/>
                  </a:lnTo>
                  <a:lnTo>
                    <a:pt x="1377365" y="76200"/>
                  </a:lnTo>
                  <a:lnTo>
                    <a:pt x="1377365" y="114300"/>
                  </a:lnTo>
                  <a:lnTo>
                    <a:pt x="1453565" y="76200"/>
                  </a:lnTo>
                  <a:lnTo>
                    <a:pt x="1491665" y="57150"/>
                  </a:lnTo>
                  <a:close/>
                </a:path>
                <a:path w="5624830" h="1187450">
                  <a:moveTo>
                    <a:pt x="5624246" y="592328"/>
                  </a:moveTo>
                  <a:lnTo>
                    <a:pt x="5614721" y="573278"/>
                  </a:lnTo>
                  <a:lnTo>
                    <a:pt x="5567096" y="478028"/>
                  </a:lnTo>
                  <a:lnTo>
                    <a:pt x="5509946" y="592328"/>
                  </a:lnTo>
                  <a:lnTo>
                    <a:pt x="5548046" y="592328"/>
                  </a:lnTo>
                  <a:lnTo>
                    <a:pt x="5548046" y="1187272"/>
                  </a:lnTo>
                  <a:lnTo>
                    <a:pt x="5586146" y="1187272"/>
                  </a:lnTo>
                  <a:lnTo>
                    <a:pt x="5586146" y="592328"/>
                  </a:lnTo>
                  <a:lnTo>
                    <a:pt x="5624246" y="592328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9965" y="4648200"/>
              <a:ext cx="315595" cy="282575"/>
            </a:xfrm>
            <a:custGeom>
              <a:avLst/>
              <a:gdLst/>
              <a:ahLst/>
              <a:cxnLst/>
              <a:rect l="l" t="t" r="r" b="b"/>
              <a:pathLst>
                <a:path w="315594" h="282575">
                  <a:moveTo>
                    <a:pt x="225196" y="0"/>
                  </a:moveTo>
                  <a:lnTo>
                    <a:pt x="221170" y="11557"/>
                  </a:lnTo>
                  <a:lnTo>
                    <a:pt x="237515" y="18631"/>
                  </a:lnTo>
                  <a:lnTo>
                    <a:pt x="251572" y="28432"/>
                  </a:lnTo>
                  <a:lnTo>
                    <a:pt x="280112" y="73925"/>
                  </a:lnTo>
                  <a:lnTo>
                    <a:pt x="288389" y="115359"/>
                  </a:lnTo>
                  <a:lnTo>
                    <a:pt x="288442" y="115732"/>
                  </a:lnTo>
                  <a:lnTo>
                    <a:pt x="288438" y="164707"/>
                  </a:lnTo>
                  <a:lnTo>
                    <a:pt x="280070" y="207656"/>
                  </a:lnTo>
                  <a:lnTo>
                    <a:pt x="251591" y="253857"/>
                  </a:lnTo>
                  <a:lnTo>
                    <a:pt x="221627" y="270891"/>
                  </a:lnTo>
                  <a:lnTo>
                    <a:pt x="225196" y="282321"/>
                  </a:lnTo>
                  <a:lnTo>
                    <a:pt x="263705" y="264302"/>
                  </a:lnTo>
                  <a:lnTo>
                    <a:pt x="292023" y="233045"/>
                  </a:lnTo>
                  <a:lnTo>
                    <a:pt x="309432" y="191134"/>
                  </a:lnTo>
                  <a:lnTo>
                    <a:pt x="315239" y="141224"/>
                  </a:lnTo>
                  <a:lnTo>
                    <a:pt x="313803" y="115732"/>
                  </a:lnTo>
                  <a:lnTo>
                    <a:pt x="302134" y="69536"/>
                  </a:lnTo>
                  <a:lnTo>
                    <a:pt x="279038" y="32164"/>
                  </a:lnTo>
                  <a:lnTo>
                    <a:pt x="245663" y="7435"/>
                  </a:lnTo>
                  <a:lnTo>
                    <a:pt x="225196" y="0"/>
                  </a:lnTo>
                  <a:close/>
                </a:path>
                <a:path w="315594" h="282575">
                  <a:moveTo>
                    <a:pt x="90030" y="0"/>
                  </a:moveTo>
                  <a:lnTo>
                    <a:pt x="51617" y="18145"/>
                  </a:lnTo>
                  <a:lnTo>
                    <a:pt x="23291" y="49530"/>
                  </a:lnTo>
                  <a:lnTo>
                    <a:pt x="5821" y="91471"/>
                  </a:lnTo>
                  <a:lnTo>
                    <a:pt x="78" y="139827"/>
                  </a:lnTo>
                  <a:lnTo>
                    <a:pt x="0" y="141224"/>
                  </a:lnTo>
                  <a:lnTo>
                    <a:pt x="5802" y="191134"/>
                  </a:lnTo>
                  <a:lnTo>
                    <a:pt x="23215" y="233045"/>
                  </a:lnTo>
                  <a:lnTo>
                    <a:pt x="51522" y="264302"/>
                  </a:lnTo>
                  <a:lnTo>
                    <a:pt x="90030" y="282321"/>
                  </a:lnTo>
                  <a:lnTo>
                    <a:pt x="93611" y="270891"/>
                  </a:lnTo>
                  <a:lnTo>
                    <a:pt x="77521" y="263773"/>
                  </a:lnTo>
                  <a:lnTo>
                    <a:pt x="63636" y="253857"/>
                  </a:lnTo>
                  <a:lnTo>
                    <a:pt x="35156" y="207656"/>
                  </a:lnTo>
                  <a:lnTo>
                    <a:pt x="26788" y="164707"/>
                  </a:lnTo>
                  <a:lnTo>
                    <a:pt x="25742" y="139827"/>
                  </a:lnTo>
                  <a:lnTo>
                    <a:pt x="26788" y="115732"/>
                  </a:lnTo>
                  <a:lnTo>
                    <a:pt x="35156" y="73925"/>
                  </a:lnTo>
                  <a:lnTo>
                    <a:pt x="63749" y="28432"/>
                  </a:lnTo>
                  <a:lnTo>
                    <a:pt x="94056" y="11557"/>
                  </a:lnTo>
                  <a:lnTo>
                    <a:pt x="900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24739" y="4558741"/>
            <a:ext cx="1493520" cy="1122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𝐦</a:t>
            </a:r>
            <a:r>
              <a:rPr sz="2400" spc="434" dirty="0">
                <a:latin typeface="Cambria Math"/>
                <a:cs typeface="Cambria Math"/>
              </a:rPr>
              <a:t> </a:t>
            </a:r>
            <a:r>
              <a:rPr sz="2400" spc="-60" dirty="0">
                <a:latin typeface="Cambria Math"/>
                <a:cs typeface="Cambria Math"/>
              </a:rPr>
              <a:t>𝐭 </a:t>
            </a:r>
            <a:r>
              <a:rPr sz="2400" b="1" spc="-10" dirty="0">
                <a:latin typeface="Calibri"/>
                <a:cs typeface="Calibri"/>
              </a:rPr>
              <a:t>Modulating Signal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71445" y="4573295"/>
            <a:ext cx="2100072" cy="8417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10"/>
              <p:cNvSpPr txBox="1"/>
              <p:nvPr/>
            </p:nvSpPr>
            <p:spPr>
              <a:xfrm>
                <a:off x="2171445" y="4572000"/>
                <a:ext cx="2100580" cy="631648"/>
              </a:xfrm>
              <a:prstGeom prst="rect">
                <a:avLst/>
              </a:prstGeom>
              <a:ln w="6350">
                <a:solidFill>
                  <a:srgbClr val="6FAC46"/>
                </a:solidFill>
              </a:ln>
            </p:spPr>
            <p:txBody>
              <a:bodyPr vert="horz" wrap="square" lIns="0" tIns="203200" rIns="0" bIns="0" rtlCol="0">
                <a:spAutoFit/>
              </a:bodyPr>
              <a:lstStyle/>
              <a:p>
                <a:pPr marL="116205">
                  <a:lnSpc>
                    <a:spcPct val="100000"/>
                  </a:lnSpc>
                  <a:spcBef>
                    <a:spcPts val="1600"/>
                  </a:spcBef>
                </a:pPr>
                <a:r>
                  <a:rPr sz="2400" b="1" spc="-20" dirty="0">
                    <a:latin typeface="Calibri"/>
                    <a:cs typeface="Calibri"/>
                  </a:rPr>
                  <a:t>Integrator</a:t>
                </a:r>
                <a:r>
                  <a:rPr sz="2400" b="1" spc="-3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grow m:val="on"/>
                        <m:subHide m:val="on"/>
                        <m:supHide m:val="on"/>
                        <m:ctrlPr>
                          <a:rPr lang="en-US" sz="2400" b="1" i="1" spc="-25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sz="2400" b="1" i="0" spc="-25" smtClean="0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en-US" sz="2400" b="1" i="1" spc="-25" smtClean="0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nary>
                  </m:oMath>
                </a14:m>
                <a:endParaRPr sz="2400" b="1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10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1445" y="4572000"/>
                <a:ext cx="2100580" cy="631648"/>
              </a:xfrm>
              <a:prstGeom prst="rect">
                <a:avLst/>
              </a:prstGeom>
              <a:blipFill>
                <a:blip r:embed="rId3"/>
                <a:stretch>
                  <a:fillRect l="-3179" t="-90476" r="-29769" b="-170476"/>
                </a:stretch>
              </a:blipFill>
              <a:ln w="6350">
                <a:solidFill>
                  <a:srgbClr val="6FAC4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object 11"/>
          <p:cNvGrpSpPr/>
          <p:nvPr/>
        </p:nvGrpSpPr>
        <p:grpSpPr>
          <a:xfrm>
            <a:off x="4271390" y="4571263"/>
            <a:ext cx="3025775" cy="842010"/>
            <a:chOff x="4271390" y="4571263"/>
            <a:chExt cx="3025775" cy="842010"/>
          </a:xfrm>
        </p:grpSpPr>
        <p:sp>
          <p:nvSpPr>
            <p:cNvPr id="12" name="object 12"/>
            <p:cNvSpPr/>
            <p:nvPr/>
          </p:nvSpPr>
          <p:spPr>
            <a:xfrm>
              <a:off x="4271390" y="4935219"/>
              <a:ext cx="931544" cy="114300"/>
            </a:xfrm>
            <a:custGeom>
              <a:avLst/>
              <a:gdLst/>
              <a:ahLst/>
              <a:cxnLst/>
              <a:rect l="l" t="t" r="r" b="b"/>
              <a:pathLst>
                <a:path w="931545" h="114300">
                  <a:moveTo>
                    <a:pt x="816990" y="0"/>
                  </a:moveTo>
                  <a:lnTo>
                    <a:pt x="817075" y="38140"/>
                  </a:lnTo>
                  <a:lnTo>
                    <a:pt x="817160" y="76240"/>
                  </a:lnTo>
                  <a:lnTo>
                    <a:pt x="817244" y="114299"/>
                  </a:lnTo>
                  <a:lnTo>
                    <a:pt x="892943" y="76240"/>
                  </a:lnTo>
                  <a:lnTo>
                    <a:pt x="836167" y="76240"/>
                  </a:lnTo>
                  <a:lnTo>
                    <a:pt x="836167" y="38140"/>
                  </a:lnTo>
                  <a:lnTo>
                    <a:pt x="893697" y="38140"/>
                  </a:lnTo>
                  <a:lnTo>
                    <a:pt x="816990" y="0"/>
                  </a:lnTo>
                  <a:close/>
                </a:path>
                <a:path w="931545" h="114300">
                  <a:moveTo>
                    <a:pt x="817075" y="38140"/>
                  </a:moveTo>
                  <a:lnTo>
                    <a:pt x="0" y="39877"/>
                  </a:lnTo>
                  <a:lnTo>
                    <a:pt x="126" y="77977"/>
                  </a:lnTo>
                  <a:lnTo>
                    <a:pt x="817160" y="76240"/>
                  </a:lnTo>
                  <a:lnTo>
                    <a:pt x="817075" y="38140"/>
                  </a:lnTo>
                  <a:close/>
                </a:path>
                <a:path w="931545" h="114300">
                  <a:moveTo>
                    <a:pt x="893697" y="38140"/>
                  </a:moveTo>
                  <a:lnTo>
                    <a:pt x="836167" y="38140"/>
                  </a:lnTo>
                  <a:lnTo>
                    <a:pt x="836167" y="76240"/>
                  </a:lnTo>
                  <a:lnTo>
                    <a:pt x="892943" y="76240"/>
                  </a:lnTo>
                  <a:lnTo>
                    <a:pt x="931417" y="56895"/>
                  </a:lnTo>
                  <a:lnTo>
                    <a:pt x="893697" y="3814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96839" y="4571263"/>
              <a:ext cx="2100071" cy="84173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5196840" y="4571263"/>
            <a:ext cx="2100580" cy="842010"/>
          </a:xfrm>
          <a:prstGeom prst="rect">
            <a:avLst/>
          </a:prstGeom>
          <a:ln w="6350">
            <a:solidFill>
              <a:srgbClr val="6FAC46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372745" marR="364490" indent="301625">
              <a:lnSpc>
                <a:spcPct val="100000"/>
              </a:lnSpc>
              <a:spcBef>
                <a:spcPts val="285"/>
              </a:spcBef>
            </a:pPr>
            <a:r>
              <a:rPr sz="2400" b="1" spc="-10" dirty="0">
                <a:latin typeface="Calibri"/>
                <a:cs typeface="Calibri"/>
              </a:rPr>
              <a:t>Phase Modulator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296911" y="4933188"/>
            <a:ext cx="931544" cy="114300"/>
          </a:xfrm>
          <a:custGeom>
            <a:avLst/>
            <a:gdLst/>
            <a:ahLst/>
            <a:cxnLst/>
            <a:rect l="l" t="t" r="r" b="b"/>
            <a:pathLst>
              <a:path w="931545" h="114300">
                <a:moveTo>
                  <a:pt x="816991" y="0"/>
                </a:moveTo>
                <a:lnTo>
                  <a:pt x="817075" y="38140"/>
                </a:lnTo>
                <a:lnTo>
                  <a:pt x="817160" y="76240"/>
                </a:lnTo>
                <a:lnTo>
                  <a:pt x="817244" y="114299"/>
                </a:lnTo>
                <a:lnTo>
                  <a:pt x="892943" y="76240"/>
                </a:lnTo>
                <a:lnTo>
                  <a:pt x="836168" y="76240"/>
                </a:lnTo>
                <a:lnTo>
                  <a:pt x="836168" y="38140"/>
                </a:lnTo>
                <a:lnTo>
                  <a:pt x="893697" y="38140"/>
                </a:lnTo>
                <a:lnTo>
                  <a:pt x="816991" y="0"/>
                </a:lnTo>
                <a:close/>
              </a:path>
              <a:path w="931545" h="114300">
                <a:moveTo>
                  <a:pt x="817075" y="38140"/>
                </a:moveTo>
                <a:lnTo>
                  <a:pt x="0" y="39877"/>
                </a:lnTo>
                <a:lnTo>
                  <a:pt x="0" y="77977"/>
                </a:lnTo>
                <a:lnTo>
                  <a:pt x="817160" y="76240"/>
                </a:lnTo>
                <a:lnTo>
                  <a:pt x="817075" y="38140"/>
                </a:lnTo>
                <a:close/>
              </a:path>
              <a:path w="931545" h="114300">
                <a:moveTo>
                  <a:pt x="893697" y="38140"/>
                </a:moveTo>
                <a:lnTo>
                  <a:pt x="836168" y="38140"/>
                </a:lnTo>
                <a:lnTo>
                  <a:pt x="836168" y="76240"/>
                </a:lnTo>
                <a:lnTo>
                  <a:pt x="892943" y="76240"/>
                </a:lnTo>
                <a:lnTo>
                  <a:pt x="931418" y="56895"/>
                </a:lnTo>
                <a:lnTo>
                  <a:pt x="893697" y="3814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786243" y="4577333"/>
            <a:ext cx="73279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latin typeface="Calibri"/>
                <a:cs typeface="Calibri"/>
              </a:rPr>
              <a:t>F.M.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spc="-30" dirty="0">
                <a:latin typeface="Calibri"/>
                <a:cs typeface="Calibri"/>
              </a:rPr>
              <a:t>Wave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558153" y="5630519"/>
            <a:ext cx="1711325" cy="212090"/>
            <a:chOff x="6558153" y="5630519"/>
            <a:chExt cx="1711325" cy="212090"/>
          </a:xfrm>
        </p:grpSpPr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58153" y="5630519"/>
              <a:ext cx="236093" cy="211747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7759065" y="5630519"/>
              <a:ext cx="510540" cy="212090"/>
            </a:xfrm>
            <a:custGeom>
              <a:avLst/>
              <a:gdLst/>
              <a:ahLst/>
              <a:cxnLst/>
              <a:rect l="l" t="t" r="r" b="b"/>
              <a:pathLst>
                <a:path w="510540" h="212089">
                  <a:moveTo>
                    <a:pt x="442849" y="0"/>
                  </a:moveTo>
                  <a:lnTo>
                    <a:pt x="439801" y="8597"/>
                  </a:lnTo>
                  <a:lnTo>
                    <a:pt x="452068" y="13917"/>
                  </a:lnTo>
                  <a:lnTo>
                    <a:pt x="462597" y="21282"/>
                  </a:lnTo>
                  <a:lnTo>
                    <a:pt x="484016" y="55414"/>
                  </a:lnTo>
                  <a:lnTo>
                    <a:pt x="490982" y="104813"/>
                  </a:lnTo>
                  <a:lnTo>
                    <a:pt x="490198" y="123491"/>
                  </a:lnTo>
                  <a:lnTo>
                    <a:pt x="478536" y="169227"/>
                  </a:lnTo>
                  <a:lnTo>
                    <a:pt x="452229" y="197813"/>
                  </a:lnTo>
                  <a:lnTo>
                    <a:pt x="440182" y="203161"/>
                  </a:lnTo>
                  <a:lnTo>
                    <a:pt x="442849" y="211747"/>
                  </a:lnTo>
                  <a:lnTo>
                    <a:pt x="483246" y="187715"/>
                  </a:lnTo>
                  <a:lnTo>
                    <a:pt x="506031" y="143341"/>
                  </a:lnTo>
                  <a:lnTo>
                    <a:pt x="510413" y="105930"/>
                  </a:lnTo>
                  <a:lnTo>
                    <a:pt x="509330" y="86751"/>
                  </a:lnTo>
                  <a:lnTo>
                    <a:pt x="509317" y="86521"/>
                  </a:lnTo>
                  <a:lnTo>
                    <a:pt x="492887" y="37122"/>
                  </a:lnTo>
                  <a:lnTo>
                    <a:pt x="458186" y="5548"/>
                  </a:lnTo>
                  <a:lnTo>
                    <a:pt x="442849" y="0"/>
                  </a:lnTo>
                  <a:close/>
                </a:path>
                <a:path w="510540" h="212089">
                  <a:moveTo>
                    <a:pt x="67564" y="0"/>
                  </a:moveTo>
                  <a:lnTo>
                    <a:pt x="27094" y="24108"/>
                  </a:lnTo>
                  <a:lnTo>
                    <a:pt x="4365" y="68583"/>
                  </a:lnTo>
                  <a:lnTo>
                    <a:pt x="0" y="105930"/>
                  </a:lnTo>
                  <a:lnTo>
                    <a:pt x="986" y="123491"/>
                  </a:lnTo>
                  <a:lnTo>
                    <a:pt x="1093" y="125385"/>
                  </a:lnTo>
                  <a:lnTo>
                    <a:pt x="17399" y="174751"/>
                  </a:lnTo>
                  <a:lnTo>
                    <a:pt x="52135" y="206213"/>
                  </a:lnTo>
                  <a:lnTo>
                    <a:pt x="67564" y="211747"/>
                  </a:lnTo>
                  <a:lnTo>
                    <a:pt x="70231" y="203161"/>
                  </a:lnTo>
                  <a:lnTo>
                    <a:pt x="58130" y="197813"/>
                  </a:lnTo>
                  <a:lnTo>
                    <a:pt x="47720" y="190376"/>
                  </a:lnTo>
                  <a:lnTo>
                    <a:pt x="26376" y="155699"/>
                  </a:lnTo>
                  <a:lnTo>
                    <a:pt x="19351" y="105930"/>
                  </a:lnTo>
                  <a:lnTo>
                    <a:pt x="19304" y="104813"/>
                  </a:lnTo>
                  <a:lnTo>
                    <a:pt x="26376" y="55414"/>
                  </a:lnTo>
                  <a:lnTo>
                    <a:pt x="47799" y="21282"/>
                  </a:lnTo>
                  <a:lnTo>
                    <a:pt x="70485" y="8597"/>
                  </a:lnTo>
                  <a:lnTo>
                    <a:pt x="675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748528" y="5560567"/>
            <a:ext cx="2498725" cy="911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4685">
              <a:lnSpc>
                <a:spcPct val="100000"/>
              </a:lnSpc>
              <a:spcBef>
                <a:spcPts val="100"/>
              </a:spcBef>
              <a:tabLst>
                <a:tab pos="1129665" algn="l"/>
              </a:tabLst>
            </a:pPr>
            <a:r>
              <a:rPr sz="1800" dirty="0">
                <a:latin typeface="Cambria Math"/>
                <a:cs typeface="Cambria Math"/>
              </a:rPr>
              <a:t>𝐂</a:t>
            </a:r>
            <a:r>
              <a:rPr sz="1800" spc="34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=</a:t>
            </a:r>
            <a:r>
              <a:rPr sz="1800" spc="60" dirty="0">
                <a:latin typeface="Cambria Math"/>
                <a:cs typeface="Cambria Math"/>
              </a:rPr>
              <a:t> </a:t>
            </a:r>
            <a:r>
              <a:rPr sz="1800" spc="-20" dirty="0">
                <a:latin typeface="Cambria Math"/>
                <a:cs typeface="Cambria Math"/>
              </a:rPr>
              <a:t>𝐕</a:t>
            </a:r>
            <a:r>
              <a:rPr sz="1950" spc="-30" baseline="-14957" dirty="0">
                <a:latin typeface="Cambria Math"/>
                <a:cs typeface="Cambria Math"/>
              </a:rPr>
              <a:t>𝐂</a:t>
            </a:r>
            <a:r>
              <a:rPr sz="1950" spc="82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𝐜𝐨𝐬</a:t>
            </a:r>
            <a:r>
              <a:rPr sz="1800" spc="28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𝛚</a:t>
            </a:r>
            <a:r>
              <a:rPr sz="1950" spc="-37" baseline="-14957" dirty="0">
                <a:latin typeface="Cambria Math"/>
                <a:cs typeface="Cambria Math"/>
              </a:rPr>
              <a:t>𝐜</a:t>
            </a:r>
            <a:r>
              <a:rPr sz="1800" spc="-25" dirty="0">
                <a:latin typeface="Cambria Math"/>
                <a:cs typeface="Cambria Math"/>
              </a:rPr>
              <a:t>𝐭</a:t>
            </a:r>
            <a:endParaRPr sz="1800" dirty="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1940"/>
              </a:spcBef>
            </a:pPr>
            <a:r>
              <a:rPr lang="en-US" sz="2400" b="1" dirty="0">
                <a:latin typeface="Calibri"/>
                <a:cs typeface="Calibri"/>
              </a:rPr>
              <a:t>C(t) </a:t>
            </a:r>
            <a:r>
              <a:rPr sz="2400" b="1" dirty="0">
                <a:latin typeface="Calibri"/>
                <a:cs typeface="Calibri"/>
              </a:rPr>
              <a:t>Carrier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Signal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24739" y="586232"/>
            <a:ext cx="1142555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ts val="2875"/>
              </a:lnSpc>
              <a:spcBef>
                <a:spcPts val="100"/>
              </a:spcBef>
              <a:buFont typeface="Wingdings"/>
              <a:buChar char=""/>
              <a:tabLst>
                <a:tab pos="469265" algn="l"/>
                <a:tab pos="441134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First,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Message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Signal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𝐦</a:t>
            </a:r>
            <a:r>
              <a:rPr sz="2400" spc="360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6F2F9F"/>
                </a:solidFill>
                <a:latin typeface="Cambria Math"/>
                <a:cs typeface="Cambria Math"/>
              </a:rPr>
              <a:t>𝐭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	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given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to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Integrator.</a:t>
            </a:r>
            <a:endParaRPr sz="2400" dirty="0">
              <a:latin typeface="Calibri"/>
              <a:cs typeface="Calibri"/>
            </a:endParaRPr>
          </a:p>
          <a:p>
            <a:pPr marL="469265" indent="-456565">
              <a:lnSpc>
                <a:spcPts val="2875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Then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Integrated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Message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Signal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and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Carrier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Signal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given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to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Phase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Modulator.</a:t>
            </a:r>
            <a:endParaRPr sz="24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Phase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Modulator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generates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Frequency</a:t>
            </a:r>
            <a:r>
              <a:rPr sz="2400" b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Modulated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wave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and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its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Angle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given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by:</a:t>
            </a:r>
            <a:endParaRPr sz="2400" dirty="0">
              <a:latin typeface="Calibri"/>
              <a:cs typeface="Calibri"/>
            </a:endParaRPr>
          </a:p>
          <a:p>
            <a:pPr marL="3371850">
              <a:lnSpc>
                <a:spcPct val="100000"/>
              </a:lnSpc>
              <a:spcBef>
                <a:spcPts val="605"/>
              </a:spcBef>
            </a:pPr>
            <a:endParaRPr sz="1300" dirty="0">
              <a:latin typeface="Cambria Math"/>
              <a:cs typeface="Cambria Math"/>
            </a:endParaRPr>
          </a:p>
        </p:txBody>
      </p:sp>
      <p:pic>
        <p:nvPicPr>
          <p:cNvPr id="25" name="object 2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31136" y="2134489"/>
            <a:ext cx="236093" cy="211836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1229055" y="2064258"/>
            <a:ext cx="6769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⟹</a:t>
            </a:r>
            <a:r>
              <a:rPr sz="1800" spc="9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𝛉</a:t>
            </a:r>
            <a:r>
              <a:rPr sz="1800" spc="32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𝐭</a:t>
            </a:r>
            <a:endParaRPr sz="1800">
              <a:latin typeface="Cambria Math"/>
              <a:cs typeface="Cambria Math"/>
            </a:endParaRPr>
          </a:p>
        </p:txBody>
      </p:sp>
      <p:pic>
        <p:nvPicPr>
          <p:cNvPr id="29" name="object 2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978660" y="3838955"/>
            <a:ext cx="236093" cy="211708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1189532" y="3768979"/>
            <a:ext cx="20212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  <a:tabLst>
                <a:tab pos="1107440" algn="l"/>
              </a:tabLst>
            </a:pPr>
            <a:r>
              <a:rPr sz="1800" dirty="0">
                <a:latin typeface="Cambria Math"/>
                <a:cs typeface="Cambria Math"/>
              </a:rPr>
              <a:t>⟹</a:t>
            </a:r>
            <a:r>
              <a:rPr sz="1800" spc="4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𝐘</a:t>
            </a:r>
            <a:r>
              <a:rPr sz="1950" baseline="-14957" dirty="0">
                <a:latin typeface="Cambria Math"/>
                <a:cs typeface="Cambria Math"/>
              </a:rPr>
              <a:t>𝐅𝐌</a:t>
            </a:r>
            <a:r>
              <a:rPr sz="1950" spc="660" baseline="-14957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=</a:t>
            </a:r>
            <a:r>
              <a:rPr sz="1800" spc="40" dirty="0">
                <a:latin typeface="Cambria Math"/>
                <a:cs typeface="Cambria Math"/>
              </a:rPr>
              <a:t> </a:t>
            </a:r>
            <a:r>
              <a:rPr sz="1800" spc="-20" dirty="0">
                <a:latin typeface="Cambria Math"/>
                <a:cs typeface="Cambria Math"/>
              </a:rPr>
              <a:t>𝐕</a:t>
            </a:r>
            <a:r>
              <a:rPr sz="1950" spc="-30" baseline="-14957" dirty="0">
                <a:latin typeface="Cambria Math"/>
                <a:cs typeface="Cambria Math"/>
              </a:rPr>
              <a:t>𝐂</a:t>
            </a:r>
            <a:r>
              <a:rPr sz="1950" spc="30" baseline="-14957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𝐜𝐨𝐬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213607" y="3519042"/>
            <a:ext cx="2420620" cy="850265"/>
          </a:xfrm>
          <a:custGeom>
            <a:avLst/>
            <a:gdLst/>
            <a:ahLst/>
            <a:cxnLst/>
            <a:rect l="l" t="t" r="r" b="b"/>
            <a:pathLst>
              <a:path w="2420620" h="850264">
                <a:moveTo>
                  <a:pt x="2297049" y="0"/>
                </a:moveTo>
                <a:lnTo>
                  <a:pt x="2289429" y="7746"/>
                </a:lnTo>
                <a:lnTo>
                  <a:pt x="2313979" y="44134"/>
                </a:lnTo>
                <a:lnTo>
                  <a:pt x="2335434" y="86058"/>
                </a:lnTo>
                <a:lnTo>
                  <a:pt x="2353794" y="133530"/>
                </a:lnTo>
                <a:lnTo>
                  <a:pt x="2369058" y="186563"/>
                </a:lnTo>
                <a:lnTo>
                  <a:pt x="2378871" y="231733"/>
                </a:lnTo>
                <a:lnTo>
                  <a:pt x="2386514" y="278086"/>
                </a:lnTo>
                <a:lnTo>
                  <a:pt x="2391982" y="325615"/>
                </a:lnTo>
                <a:lnTo>
                  <a:pt x="2395266" y="374315"/>
                </a:lnTo>
                <a:lnTo>
                  <a:pt x="2396360" y="424306"/>
                </a:lnTo>
                <a:lnTo>
                  <a:pt x="2395266" y="472977"/>
                </a:lnTo>
                <a:lnTo>
                  <a:pt x="2391982" y="521067"/>
                </a:lnTo>
                <a:lnTo>
                  <a:pt x="2386514" y="568444"/>
                </a:lnTo>
                <a:lnTo>
                  <a:pt x="2378871" y="615102"/>
                </a:lnTo>
                <a:lnTo>
                  <a:pt x="2369058" y="661035"/>
                </a:lnTo>
                <a:lnTo>
                  <a:pt x="2353794" y="715087"/>
                </a:lnTo>
                <a:lnTo>
                  <a:pt x="2335434" y="763317"/>
                </a:lnTo>
                <a:lnTo>
                  <a:pt x="2313979" y="805713"/>
                </a:lnTo>
                <a:lnTo>
                  <a:pt x="2289429" y="842263"/>
                </a:lnTo>
                <a:lnTo>
                  <a:pt x="2297049" y="849757"/>
                </a:lnTo>
                <a:lnTo>
                  <a:pt x="2323961" y="813873"/>
                </a:lnTo>
                <a:lnTo>
                  <a:pt x="2347944" y="771763"/>
                </a:lnTo>
                <a:lnTo>
                  <a:pt x="2369022" y="723437"/>
                </a:lnTo>
                <a:lnTo>
                  <a:pt x="2387219" y="668909"/>
                </a:lnTo>
                <a:lnTo>
                  <a:pt x="2399227" y="622244"/>
                </a:lnTo>
                <a:lnTo>
                  <a:pt x="2408577" y="574451"/>
                </a:lnTo>
                <a:lnTo>
                  <a:pt x="2415263" y="525531"/>
                </a:lnTo>
                <a:lnTo>
                  <a:pt x="2419279" y="475482"/>
                </a:lnTo>
                <a:lnTo>
                  <a:pt x="2420620" y="424306"/>
                </a:lnTo>
                <a:lnTo>
                  <a:pt x="2419334" y="374315"/>
                </a:lnTo>
                <a:lnTo>
                  <a:pt x="2419279" y="372186"/>
                </a:lnTo>
                <a:lnTo>
                  <a:pt x="2415263" y="321589"/>
                </a:lnTo>
                <a:lnTo>
                  <a:pt x="2408577" y="272516"/>
                </a:lnTo>
                <a:lnTo>
                  <a:pt x="2399227" y="224967"/>
                </a:lnTo>
                <a:lnTo>
                  <a:pt x="2387219" y="178943"/>
                </a:lnTo>
                <a:lnTo>
                  <a:pt x="2369022" y="125337"/>
                </a:lnTo>
                <a:lnTo>
                  <a:pt x="2347944" y="77660"/>
                </a:lnTo>
                <a:lnTo>
                  <a:pt x="2323961" y="35889"/>
                </a:lnTo>
                <a:lnTo>
                  <a:pt x="2297049" y="0"/>
                </a:lnTo>
                <a:close/>
              </a:path>
              <a:path w="2420620" h="850264">
                <a:moveTo>
                  <a:pt x="123571" y="0"/>
                </a:moveTo>
                <a:lnTo>
                  <a:pt x="96641" y="35889"/>
                </a:lnTo>
                <a:lnTo>
                  <a:pt x="72628" y="77660"/>
                </a:lnTo>
                <a:lnTo>
                  <a:pt x="51544" y="125337"/>
                </a:lnTo>
                <a:lnTo>
                  <a:pt x="33400" y="178943"/>
                </a:lnTo>
                <a:lnTo>
                  <a:pt x="21392" y="224967"/>
                </a:lnTo>
                <a:lnTo>
                  <a:pt x="12042" y="272516"/>
                </a:lnTo>
                <a:lnTo>
                  <a:pt x="5356" y="321589"/>
                </a:lnTo>
                <a:lnTo>
                  <a:pt x="1340" y="372186"/>
                </a:lnTo>
                <a:lnTo>
                  <a:pt x="0" y="424306"/>
                </a:lnTo>
                <a:lnTo>
                  <a:pt x="1274" y="472977"/>
                </a:lnTo>
                <a:lnTo>
                  <a:pt x="1340" y="475482"/>
                </a:lnTo>
                <a:lnTo>
                  <a:pt x="5356" y="525531"/>
                </a:lnTo>
                <a:lnTo>
                  <a:pt x="12042" y="574451"/>
                </a:lnTo>
                <a:lnTo>
                  <a:pt x="21392" y="622244"/>
                </a:lnTo>
                <a:lnTo>
                  <a:pt x="33400" y="668909"/>
                </a:lnTo>
                <a:lnTo>
                  <a:pt x="51544" y="723437"/>
                </a:lnTo>
                <a:lnTo>
                  <a:pt x="72628" y="771763"/>
                </a:lnTo>
                <a:lnTo>
                  <a:pt x="96641" y="813873"/>
                </a:lnTo>
                <a:lnTo>
                  <a:pt x="123571" y="849757"/>
                </a:lnTo>
                <a:lnTo>
                  <a:pt x="131063" y="842263"/>
                </a:lnTo>
                <a:lnTo>
                  <a:pt x="106515" y="805713"/>
                </a:lnTo>
                <a:lnTo>
                  <a:pt x="85074" y="763317"/>
                </a:lnTo>
                <a:lnTo>
                  <a:pt x="66752" y="715087"/>
                </a:lnTo>
                <a:lnTo>
                  <a:pt x="51562" y="661035"/>
                </a:lnTo>
                <a:lnTo>
                  <a:pt x="41699" y="615102"/>
                </a:lnTo>
                <a:lnTo>
                  <a:pt x="34050" y="568444"/>
                </a:lnTo>
                <a:lnTo>
                  <a:pt x="28601" y="521067"/>
                </a:lnTo>
                <a:lnTo>
                  <a:pt x="25341" y="472977"/>
                </a:lnTo>
                <a:lnTo>
                  <a:pt x="24259" y="424306"/>
                </a:lnTo>
                <a:lnTo>
                  <a:pt x="25341" y="374315"/>
                </a:lnTo>
                <a:lnTo>
                  <a:pt x="28601" y="325615"/>
                </a:lnTo>
                <a:lnTo>
                  <a:pt x="34050" y="278086"/>
                </a:lnTo>
                <a:lnTo>
                  <a:pt x="41699" y="231733"/>
                </a:lnTo>
                <a:lnTo>
                  <a:pt x="51562" y="186563"/>
                </a:lnTo>
                <a:lnTo>
                  <a:pt x="66805" y="133530"/>
                </a:lnTo>
                <a:lnTo>
                  <a:pt x="85121" y="86058"/>
                </a:lnTo>
                <a:lnTo>
                  <a:pt x="106533" y="44134"/>
                </a:lnTo>
                <a:lnTo>
                  <a:pt x="131063" y="7747"/>
                </a:lnTo>
                <a:lnTo>
                  <a:pt x="12357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199339" y="2645503"/>
            <a:ext cx="6658609" cy="1042669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494665" indent="-456565">
              <a:lnSpc>
                <a:spcPct val="100000"/>
              </a:lnSpc>
              <a:spcBef>
                <a:spcPts val="430"/>
              </a:spcBef>
              <a:buFont typeface="Wingdings"/>
              <a:buChar char=""/>
              <a:tabLst>
                <a:tab pos="4946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Here,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𝐤</a:t>
            </a:r>
            <a:r>
              <a:rPr sz="2625" baseline="-15873" dirty="0">
                <a:solidFill>
                  <a:srgbClr val="6F2F9F"/>
                </a:solidFill>
                <a:latin typeface="Cambria Math"/>
                <a:cs typeface="Cambria Math"/>
              </a:rPr>
              <a:t>𝐅</a:t>
            </a:r>
            <a:r>
              <a:rPr sz="2625" spc="307" baseline="-15873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frequency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Sensitivity,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Unit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Hz/Volt.</a:t>
            </a:r>
            <a:endParaRPr sz="2400" dirty="0">
              <a:latin typeface="Calibri"/>
              <a:cs typeface="Calibri"/>
            </a:endParaRPr>
          </a:p>
          <a:p>
            <a:pPr marL="494665" indent="-456565">
              <a:lnSpc>
                <a:spcPct val="100000"/>
              </a:lnSpc>
              <a:spcBef>
                <a:spcPts val="340"/>
              </a:spcBef>
              <a:buFont typeface="Wingdings"/>
              <a:buChar char=""/>
              <a:tabLst>
                <a:tab pos="4946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Frequency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Modulated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Wave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given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by:</a:t>
            </a:r>
            <a:endParaRPr sz="2400" dirty="0">
              <a:latin typeface="Calibri"/>
              <a:cs typeface="Calibri"/>
            </a:endParaRPr>
          </a:p>
          <a:p>
            <a:pPr marR="2117090" algn="r">
              <a:lnSpc>
                <a:spcPct val="100000"/>
              </a:lnSpc>
              <a:spcBef>
                <a:spcPts val="10"/>
              </a:spcBef>
            </a:pPr>
            <a:endParaRPr sz="1300" dirty="0">
              <a:latin typeface="Cambria Math"/>
              <a:cs typeface="Cambria Math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bject 20">
                <a:extLst>
                  <a:ext uri="{FF2B5EF4-FFF2-40B4-BE49-F238E27FC236}">
                    <a16:creationId xmlns:a16="http://schemas.microsoft.com/office/drawing/2014/main" id="{1995A941-E15E-41BC-A824-27E3F143C8DD}"/>
                  </a:ext>
                </a:extLst>
              </p:cNvPr>
              <p:cNvSpPr txBox="1"/>
              <p:nvPr/>
            </p:nvSpPr>
            <p:spPr>
              <a:xfrm>
                <a:off x="1997074" y="1855755"/>
                <a:ext cx="2456180" cy="847924"/>
              </a:xfrm>
              <a:prstGeom prst="rect">
                <a:avLst/>
              </a:prstGeom>
            </p:spPr>
            <p:txBody>
              <a:bodyPr vert="horz" wrap="square" lIns="0" tIns="15811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1245"/>
                  </a:spcBef>
                </a:pPr>
                <a:r>
                  <a:rPr sz="1800" dirty="0">
                    <a:latin typeface="Cambria Math"/>
                    <a:cs typeface="Cambria Math"/>
                  </a:rPr>
                  <a:t>=</a:t>
                </a:r>
                <a:r>
                  <a:rPr sz="1800" spc="114" dirty="0">
                    <a:latin typeface="Cambria Math"/>
                    <a:cs typeface="Cambria Math"/>
                  </a:rPr>
                  <a:t> </a:t>
                </a:r>
                <a:r>
                  <a:rPr sz="1800" dirty="0">
                    <a:latin typeface="Cambria Math"/>
                    <a:cs typeface="Cambria Math"/>
                  </a:rPr>
                  <a:t>𝛚</a:t>
                </a:r>
                <a:r>
                  <a:rPr sz="1950" baseline="-14957" dirty="0">
                    <a:latin typeface="Cambria Math"/>
                    <a:cs typeface="Cambria Math"/>
                  </a:rPr>
                  <a:t>𝐜</a:t>
                </a:r>
                <a:r>
                  <a:rPr sz="1800" dirty="0">
                    <a:latin typeface="Cambria Math"/>
                    <a:cs typeface="Cambria Math"/>
                  </a:rPr>
                  <a:t>𝐭</a:t>
                </a:r>
                <a:r>
                  <a:rPr sz="1800" spc="20" dirty="0">
                    <a:latin typeface="Cambria Math"/>
                    <a:cs typeface="Cambria Math"/>
                  </a:rPr>
                  <a:t> </a:t>
                </a:r>
                <a:r>
                  <a:rPr sz="1800" dirty="0">
                    <a:latin typeface="Cambria Math"/>
                    <a:cs typeface="Cambria Math"/>
                  </a:rPr>
                  <a:t>+</a:t>
                </a:r>
                <a:r>
                  <a:rPr sz="1800" spc="15" dirty="0">
                    <a:latin typeface="Cambria Math"/>
                    <a:cs typeface="Cambria Math"/>
                  </a:rPr>
                  <a:t> </a:t>
                </a:r>
                <a:r>
                  <a:rPr sz="1800" dirty="0">
                    <a:latin typeface="Cambria Math"/>
                    <a:cs typeface="Cambria Math"/>
                  </a:rPr>
                  <a:t>𝟐𝛑𝐤</a:t>
                </a:r>
                <a:r>
                  <a:rPr sz="1950" baseline="-14957" dirty="0">
                    <a:latin typeface="Cambria Math"/>
                    <a:cs typeface="Cambria Math"/>
                  </a:rPr>
                  <a:t>𝐅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grow m:val="on"/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800" b="1" i="0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  <m:sup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p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  <m:d>
                          <m:dPr>
                            <m:ctrlPr>
                              <a:rPr lang="en-US" sz="1800" b="1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1" i="1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</m:d>
                        <m:r>
                          <a:rPr lang="en-US" sz="1800" b="1" i="0" smtClean="0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nary>
                  </m:oMath>
                </a14:m>
                <a:endParaRPr sz="1800" b="1" dirty="0">
                  <a:latin typeface="Cambria Math"/>
                  <a:cs typeface="Cambria Math"/>
                </a:endParaRPr>
              </a:p>
              <a:p>
                <a:pPr marL="609600" algn="ctr">
                  <a:lnSpc>
                    <a:spcPct val="100000"/>
                  </a:lnSpc>
                  <a:spcBef>
                    <a:spcPts val="860"/>
                  </a:spcBef>
                </a:pPr>
                <a:endParaRPr sz="1300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36" name="object 20">
                <a:extLst>
                  <a:ext uri="{FF2B5EF4-FFF2-40B4-BE49-F238E27FC236}">
                    <a16:creationId xmlns:a16="http://schemas.microsoft.com/office/drawing/2014/main" id="{1995A941-E15E-41BC-A824-27E3F143C8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7074" y="1855755"/>
                <a:ext cx="2456180" cy="847924"/>
              </a:xfrm>
              <a:prstGeom prst="rect">
                <a:avLst/>
              </a:prstGeom>
              <a:blipFill>
                <a:blip r:embed="rId8"/>
                <a:stretch>
                  <a:fillRect l="-4467" t="-44286" r="-2481" b="-6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bject 20">
                <a:extLst>
                  <a:ext uri="{FF2B5EF4-FFF2-40B4-BE49-F238E27FC236}">
                    <a16:creationId xmlns:a16="http://schemas.microsoft.com/office/drawing/2014/main" id="{3C06679B-E010-49AA-AC0C-F1514A361016}"/>
                  </a:ext>
                </a:extLst>
              </p:cNvPr>
              <p:cNvSpPr txBox="1"/>
              <p:nvPr/>
            </p:nvSpPr>
            <p:spPr>
              <a:xfrm>
                <a:off x="3239312" y="3563388"/>
                <a:ext cx="2456180" cy="847924"/>
              </a:xfrm>
              <a:prstGeom prst="rect">
                <a:avLst/>
              </a:prstGeom>
            </p:spPr>
            <p:txBody>
              <a:bodyPr vert="horz" wrap="square" lIns="0" tIns="15811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1245"/>
                  </a:spcBef>
                </a:pPr>
                <a:r>
                  <a:rPr sz="1800" dirty="0">
                    <a:latin typeface="Cambria Math"/>
                    <a:cs typeface="Cambria Math"/>
                  </a:rPr>
                  <a:t>𝛚</a:t>
                </a:r>
                <a:r>
                  <a:rPr sz="1950" baseline="-14957" dirty="0">
                    <a:latin typeface="Cambria Math"/>
                    <a:cs typeface="Cambria Math"/>
                  </a:rPr>
                  <a:t>𝐜</a:t>
                </a:r>
                <a:r>
                  <a:rPr sz="1800" dirty="0">
                    <a:latin typeface="Cambria Math"/>
                    <a:cs typeface="Cambria Math"/>
                  </a:rPr>
                  <a:t>𝐭</a:t>
                </a:r>
                <a:r>
                  <a:rPr sz="1800" spc="20" dirty="0">
                    <a:latin typeface="Cambria Math"/>
                    <a:cs typeface="Cambria Math"/>
                  </a:rPr>
                  <a:t> </a:t>
                </a:r>
                <a:r>
                  <a:rPr sz="1800" dirty="0">
                    <a:latin typeface="Cambria Math"/>
                    <a:cs typeface="Cambria Math"/>
                  </a:rPr>
                  <a:t>+</a:t>
                </a:r>
                <a:r>
                  <a:rPr sz="1800" spc="15" dirty="0">
                    <a:latin typeface="Cambria Math"/>
                    <a:cs typeface="Cambria Math"/>
                  </a:rPr>
                  <a:t> </a:t>
                </a:r>
                <a:r>
                  <a:rPr sz="1800" dirty="0">
                    <a:latin typeface="Cambria Math"/>
                    <a:cs typeface="Cambria Math"/>
                  </a:rPr>
                  <a:t>𝟐𝛑𝐤</a:t>
                </a:r>
                <a:r>
                  <a:rPr sz="1950" baseline="-14957" dirty="0">
                    <a:latin typeface="Cambria Math"/>
                    <a:cs typeface="Cambria Math"/>
                  </a:rPr>
                  <a:t>𝐅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grow m:val="on"/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800" b="1" i="0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  <m:sup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p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  <m:d>
                          <m:dPr>
                            <m:ctrlPr>
                              <a:rPr lang="en-US" sz="1800" b="1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1" i="1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</m:d>
                        <m:r>
                          <a:rPr lang="en-US" sz="1800" b="1" i="0" smtClean="0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nary>
                  </m:oMath>
                </a14:m>
                <a:endParaRPr sz="1800" b="1" dirty="0">
                  <a:latin typeface="Cambria Math"/>
                  <a:cs typeface="Cambria Math"/>
                </a:endParaRPr>
              </a:p>
              <a:p>
                <a:pPr marL="609600" algn="ctr">
                  <a:lnSpc>
                    <a:spcPct val="100000"/>
                  </a:lnSpc>
                  <a:spcBef>
                    <a:spcPts val="860"/>
                  </a:spcBef>
                </a:pPr>
                <a:endParaRPr sz="1300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37" name="object 20">
                <a:extLst>
                  <a:ext uri="{FF2B5EF4-FFF2-40B4-BE49-F238E27FC236}">
                    <a16:creationId xmlns:a16="http://schemas.microsoft.com/office/drawing/2014/main" id="{3C06679B-E010-49AA-AC0C-F1514A3610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9312" y="3563388"/>
                <a:ext cx="2456180" cy="847924"/>
              </a:xfrm>
              <a:prstGeom prst="rect">
                <a:avLst/>
              </a:prstGeom>
              <a:blipFill>
                <a:blip r:embed="rId9"/>
                <a:stretch>
                  <a:fillRect l="-4218" t="-45324" b="-618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F4FBA96-D4A1-473E-88A1-E5A1A6A10AFA}"/>
                  </a:ext>
                </a:extLst>
              </p:cNvPr>
              <p:cNvSpPr txBox="1"/>
              <p:nvPr/>
            </p:nvSpPr>
            <p:spPr>
              <a:xfrm>
                <a:off x="4074344" y="5219602"/>
                <a:ext cx="1367597" cy="9223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grow m:val="on"/>
                          <m:ctrlPr>
                            <a:rPr lang="en-US" sz="18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800" b="1" i="0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sz="18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p>
                        <m:e>
                          <m:r>
                            <a:rPr lang="en-US" sz="18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  <m:d>
                            <m:dPr>
                              <m:ctrlPr>
                                <a:rPr lang="en-US" sz="1800" b="1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1" i="1" smtClean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  <m:r>
                            <a:rPr lang="en-US" sz="1800" b="1" i="0" smtClean="0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en-US" sz="18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F4FBA96-D4A1-473E-88A1-E5A1A6A10A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4344" y="5219602"/>
                <a:ext cx="1367597" cy="92236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u="sng" spc="-2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Waveforms</a:t>
            </a:r>
            <a:r>
              <a:rPr sz="3200" u="sng" spc="-9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of</a:t>
            </a:r>
            <a:r>
              <a:rPr sz="3200" u="sng" spc="-8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Frequency</a:t>
            </a:r>
            <a:r>
              <a:rPr sz="3200" u="sng" spc="-9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spc="-1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Modulator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378764" y="740409"/>
            <a:ext cx="6974840" cy="1718945"/>
          </a:xfrm>
          <a:custGeom>
            <a:avLst/>
            <a:gdLst/>
            <a:ahLst/>
            <a:cxnLst/>
            <a:rect l="l" t="t" r="r" b="b"/>
            <a:pathLst>
              <a:path w="6974840" h="1718945">
                <a:moveTo>
                  <a:pt x="6974535" y="963041"/>
                </a:moveTo>
                <a:lnTo>
                  <a:pt x="6936435" y="943991"/>
                </a:lnTo>
                <a:lnTo>
                  <a:pt x="6860235" y="905891"/>
                </a:lnTo>
                <a:lnTo>
                  <a:pt x="6860235" y="943991"/>
                </a:lnTo>
                <a:lnTo>
                  <a:pt x="421665" y="943991"/>
                </a:lnTo>
                <a:lnTo>
                  <a:pt x="420827" y="114427"/>
                </a:lnTo>
                <a:lnTo>
                  <a:pt x="458990" y="114427"/>
                </a:lnTo>
                <a:lnTo>
                  <a:pt x="449440" y="95377"/>
                </a:lnTo>
                <a:lnTo>
                  <a:pt x="449376" y="95250"/>
                </a:lnTo>
                <a:lnTo>
                  <a:pt x="401662" y="0"/>
                </a:lnTo>
                <a:lnTo>
                  <a:pt x="344627" y="114427"/>
                </a:lnTo>
                <a:lnTo>
                  <a:pt x="382727" y="114427"/>
                </a:lnTo>
                <a:lnTo>
                  <a:pt x="383565" y="943991"/>
                </a:lnTo>
                <a:lnTo>
                  <a:pt x="0" y="943991"/>
                </a:lnTo>
                <a:lnTo>
                  <a:pt x="0" y="982091"/>
                </a:lnTo>
                <a:lnTo>
                  <a:pt x="383603" y="982091"/>
                </a:lnTo>
                <a:lnTo>
                  <a:pt x="384352" y="1718437"/>
                </a:lnTo>
                <a:lnTo>
                  <a:pt x="422452" y="1718437"/>
                </a:lnTo>
                <a:lnTo>
                  <a:pt x="421703" y="982091"/>
                </a:lnTo>
                <a:lnTo>
                  <a:pt x="6860235" y="982091"/>
                </a:lnTo>
                <a:lnTo>
                  <a:pt x="6860235" y="1020191"/>
                </a:lnTo>
                <a:lnTo>
                  <a:pt x="6936435" y="982091"/>
                </a:lnTo>
                <a:lnTo>
                  <a:pt x="6974535" y="963041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124447" y="1719198"/>
            <a:ext cx="1139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Time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</a:t>
            </a:r>
            <a:r>
              <a:rPr sz="1800" b="1" spc="-10" dirty="0">
                <a:latin typeface="Calibri"/>
                <a:cs typeface="Calibri"/>
              </a:rPr>
              <a:t> (Sec)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10450" y="1181520"/>
            <a:ext cx="4951718" cy="971550"/>
            <a:chOff x="710450" y="1181520"/>
            <a:chExt cx="4951718" cy="97155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3625" y="1637538"/>
              <a:ext cx="133616" cy="12674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0450" y="1634363"/>
              <a:ext cx="139966" cy="13309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104898" y="1181520"/>
              <a:ext cx="3557270" cy="971550"/>
            </a:xfrm>
            <a:custGeom>
              <a:avLst/>
              <a:gdLst/>
              <a:ahLst/>
              <a:cxnLst/>
              <a:rect l="l" t="t" r="r" b="b"/>
              <a:pathLst>
                <a:path w="3557270" h="971550">
                  <a:moveTo>
                    <a:pt x="0" y="504912"/>
                  </a:moveTo>
                  <a:lnTo>
                    <a:pt x="35536" y="469457"/>
                  </a:lnTo>
                  <a:lnTo>
                    <a:pt x="71123" y="434158"/>
                  </a:lnTo>
                  <a:lnTo>
                    <a:pt x="106812" y="399170"/>
                  </a:lnTo>
                  <a:lnTo>
                    <a:pt x="142652" y="364649"/>
                  </a:lnTo>
                  <a:lnTo>
                    <a:pt x="178695" y="330750"/>
                  </a:lnTo>
                  <a:lnTo>
                    <a:pt x="214991" y="297630"/>
                  </a:lnTo>
                  <a:lnTo>
                    <a:pt x="251590" y="265443"/>
                  </a:lnTo>
                  <a:lnTo>
                    <a:pt x="288544" y="234345"/>
                  </a:lnTo>
                  <a:lnTo>
                    <a:pt x="325902" y="204492"/>
                  </a:lnTo>
                  <a:lnTo>
                    <a:pt x="363716" y="176040"/>
                  </a:lnTo>
                  <a:lnTo>
                    <a:pt x="402035" y="149144"/>
                  </a:lnTo>
                  <a:lnTo>
                    <a:pt x="440912" y="123959"/>
                  </a:lnTo>
                  <a:lnTo>
                    <a:pt x="480395" y="100642"/>
                  </a:lnTo>
                  <a:lnTo>
                    <a:pt x="520537" y="79348"/>
                  </a:lnTo>
                  <a:lnTo>
                    <a:pt x="561387" y="60232"/>
                  </a:lnTo>
                  <a:lnTo>
                    <a:pt x="602995" y="43450"/>
                  </a:lnTo>
                  <a:lnTo>
                    <a:pt x="645414" y="29158"/>
                  </a:lnTo>
                  <a:lnTo>
                    <a:pt x="688693" y="17511"/>
                  </a:lnTo>
                  <a:lnTo>
                    <a:pt x="732882" y="8666"/>
                  </a:lnTo>
                  <a:lnTo>
                    <a:pt x="778033" y="2776"/>
                  </a:lnTo>
                  <a:lnTo>
                    <a:pt x="824196" y="0"/>
                  </a:lnTo>
                  <a:lnTo>
                    <a:pt x="871422" y="490"/>
                  </a:lnTo>
                  <a:lnTo>
                    <a:pt x="919761" y="4404"/>
                  </a:lnTo>
                  <a:lnTo>
                    <a:pt x="969263" y="11898"/>
                  </a:lnTo>
                  <a:lnTo>
                    <a:pt x="1037879" y="30621"/>
                  </a:lnTo>
                  <a:lnTo>
                    <a:pt x="1073475" y="44423"/>
                  </a:lnTo>
                  <a:lnTo>
                    <a:pt x="1109865" y="60945"/>
                  </a:lnTo>
                  <a:lnTo>
                    <a:pt x="1147001" y="80008"/>
                  </a:lnTo>
                  <a:lnTo>
                    <a:pt x="1184834" y="101434"/>
                  </a:lnTo>
                  <a:lnTo>
                    <a:pt x="1223317" y="125042"/>
                  </a:lnTo>
                  <a:lnTo>
                    <a:pt x="1262402" y="150653"/>
                  </a:lnTo>
                  <a:lnTo>
                    <a:pt x="1302039" y="178089"/>
                  </a:lnTo>
                  <a:lnTo>
                    <a:pt x="1342181" y="207169"/>
                  </a:lnTo>
                  <a:lnTo>
                    <a:pt x="1382780" y="237715"/>
                  </a:lnTo>
                  <a:lnTo>
                    <a:pt x="1423787" y="269548"/>
                  </a:lnTo>
                  <a:lnTo>
                    <a:pt x="1465154" y="302487"/>
                  </a:lnTo>
                  <a:lnTo>
                    <a:pt x="1506833" y="336354"/>
                  </a:lnTo>
                  <a:lnTo>
                    <a:pt x="1548775" y="370969"/>
                  </a:lnTo>
                  <a:lnTo>
                    <a:pt x="1590933" y="406153"/>
                  </a:lnTo>
                  <a:lnTo>
                    <a:pt x="1633258" y="441727"/>
                  </a:lnTo>
                  <a:lnTo>
                    <a:pt x="1675701" y="477511"/>
                  </a:lnTo>
                  <a:lnTo>
                    <a:pt x="1718215" y="513327"/>
                  </a:lnTo>
                  <a:lnTo>
                    <a:pt x="1760751" y="548994"/>
                  </a:lnTo>
                  <a:lnTo>
                    <a:pt x="1803262" y="584334"/>
                  </a:lnTo>
                  <a:lnTo>
                    <a:pt x="1845698" y="619168"/>
                  </a:lnTo>
                  <a:lnTo>
                    <a:pt x="1888012" y="653315"/>
                  </a:lnTo>
                  <a:lnTo>
                    <a:pt x="1930155" y="686597"/>
                  </a:lnTo>
                  <a:lnTo>
                    <a:pt x="1972079" y="718834"/>
                  </a:lnTo>
                  <a:lnTo>
                    <a:pt x="2013736" y="749848"/>
                  </a:lnTo>
                  <a:lnTo>
                    <a:pt x="2055078" y="779458"/>
                  </a:lnTo>
                  <a:lnTo>
                    <a:pt x="2096056" y="807485"/>
                  </a:lnTo>
                  <a:lnTo>
                    <a:pt x="2136622" y="833751"/>
                  </a:lnTo>
                  <a:lnTo>
                    <a:pt x="2176728" y="858076"/>
                  </a:lnTo>
                  <a:lnTo>
                    <a:pt x="2216325" y="880281"/>
                  </a:lnTo>
                  <a:lnTo>
                    <a:pt x="2255366" y="900185"/>
                  </a:lnTo>
                  <a:lnTo>
                    <a:pt x="2293802" y="917611"/>
                  </a:lnTo>
                  <a:lnTo>
                    <a:pt x="2331585" y="932379"/>
                  </a:lnTo>
                  <a:lnTo>
                    <a:pt x="2368667" y="944309"/>
                  </a:lnTo>
                  <a:lnTo>
                    <a:pt x="2454452" y="961909"/>
                  </a:lnTo>
                  <a:lnTo>
                    <a:pt x="2503302" y="967707"/>
                  </a:lnTo>
                  <a:lnTo>
                    <a:pt x="2551570" y="970733"/>
                  </a:lnTo>
                  <a:lnTo>
                    <a:pt x="2599282" y="971101"/>
                  </a:lnTo>
                  <a:lnTo>
                    <a:pt x="2646462" y="968928"/>
                  </a:lnTo>
                  <a:lnTo>
                    <a:pt x="2693134" y="964328"/>
                  </a:lnTo>
                  <a:lnTo>
                    <a:pt x="2739322" y="957419"/>
                  </a:lnTo>
                  <a:lnTo>
                    <a:pt x="2785051" y="948314"/>
                  </a:lnTo>
                  <a:lnTo>
                    <a:pt x="2830344" y="937129"/>
                  </a:lnTo>
                  <a:lnTo>
                    <a:pt x="2875226" y="923981"/>
                  </a:lnTo>
                  <a:lnTo>
                    <a:pt x="2919720" y="908985"/>
                  </a:lnTo>
                  <a:lnTo>
                    <a:pt x="2963852" y="892256"/>
                  </a:lnTo>
                  <a:lnTo>
                    <a:pt x="3007645" y="873910"/>
                  </a:lnTo>
                  <a:lnTo>
                    <a:pt x="3051124" y="854063"/>
                  </a:lnTo>
                  <a:lnTo>
                    <a:pt x="3094312" y="832829"/>
                  </a:lnTo>
                  <a:lnTo>
                    <a:pt x="3137234" y="810326"/>
                  </a:lnTo>
                  <a:lnTo>
                    <a:pt x="3179915" y="786668"/>
                  </a:lnTo>
                  <a:lnTo>
                    <a:pt x="3222377" y="761970"/>
                  </a:lnTo>
                  <a:lnTo>
                    <a:pt x="3264646" y="736349"/>
                  </a:lnTo>
                  <a:lnTo>
                    <a:pt x="3306746" y="709920"/>
                  </a:lnTo>
                  <a:lnTo>
                    <a:pt x="3348700" y="682799"/>
                  </a:lnTo>
                  <a:lnTo>
                    <a:pt x="3390534" y="655101"/>
                  </a:lnTo>
                  <a:lnTo>
                    <a:pt x="3432271" y="626942"/>
                  </a:lnTo>
                  <a:lnTo>
                    <a:pt x="3473935" y="598437"/>
                  </a:lnTo>
                  <a:lnTo>
                    <a:pt x="3515551" y="569702"/>
                  </a:lnTo>
                  <a:lnTo>
                    <a:pt x="3557142" y="540853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914400" y="719073"/>
            <a:ext cx="754379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789805" algn="l"/>
              </a:tabLst>
            </a:pPr>
            <a:r>
              <a:rPr sz="1800" b="1" spc="-10" dirty="0">
                <a:latin typeface="Calibri"/>
                <a:cs typeface="Calibri"/>
              </a:rPr>
              <a:t>Amplitude</a:t>
            </a:r>
            <a:r>
              <a:rPr sz="1800" b="1" dirty="0">
                <a:latin typeface="Calibri"/>
                <a:cs typeface="Calibri"/>
              </a:rPr>
              <a:t>	</a:t>
            </a:r>
            <a:r>
              <a:rPr sz="1800" b="1" dirty="0">
                <a:solidFill>
                  <a:srgbClr val="7E5F00"/>
                </a:solidFill>
                <a:latin typeface="Calibri"/>
                <a:cs typeface="Calibri"/>
              </a:rPr>
              <a:t>Message</a:t>
            </a:r>
            <a:r>
              <a:rPr sz="1800" b="1" spc="-35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7E5F00"/>
                </a:solidFill>
                <a:latin typeface="Calibri"/>
                <a:cs typeface="Calibri"/>
              </a:rPr>
              <a:t>Signal</a:t>
            </a:r>
            <a:r>
              <a:rPr sz="1800" b="1" spc="-25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lang="en-US" sz="1800" b="1" spc="-25" dirty="0">
                <a:solidFill>
                  <a:srgbClr val="7E5F00"/>
                </a:solidFill>
                <a:latin typeface="Calibri"/>
                <a:cs typeface="Calibri"/>
              </a:rPr>
              <a:t>m</a:t>
            </a:r>
            <a:r>
              <a:rPr lang="en-US" b="1" spc="330" dirty="0">
                <a:solidFill>
                  <a:srgbClr val="7E5F00"/>
                </a:solidFill>
                <a:latin typeface="Cambria Math"/>
                <a:cs typeface="Calibri"/>
              </a:rPr>
              <a:t>(t)</a:t>
            </a:r>
            <a:endParaRPr sz="1800" dirty="0">
              <a:latin typeface="Cambria Math"/>
              <a:cs typeface="Cambria Math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78764" y="1666684"/>
            <a:ext cx="6974840" cy="2602865"/>
            <a:chOff x="378764" y="1666684"/>
            <a:chExt cx="6974840" cy="2602865"/>
          </a:xfrm>
        </p:grpSpPr>
        <p:sp>
          <p:nvSpPr>
            <p:cNvPr id="12" name="object 12"/>
            <p:cNvSpPr/>
            <p:nvPr/>
          </p:nvSpPr>
          <p:spPr>
            <a:xfrm>
              <a:off x="780427" y="1680972"/>
              <a:ext cx="1324610" cy="5715"/>
            </a:xfrm>
            <a:custGeom>
              <a:avLst/>
              <a:gdLst/>
              <a:ahLst/>
              <a:cxnLst/>
              <a:rect l="l" t="t" r="r" b="b"/>
              <a:pathLst>
                <a:path w="1324610" h="5714">
                  <a:moveTo>
                    <a:pt x="0" y="0"/>
                  </a:moveTo>
                  <a:lnTo>
                    <a:pt x="1324470" y="5461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78764" y="2550794"/>
              <a:ext cx="6974840" cy="1718945"/>
            </a:xfrm>
            <a:custGeom>
              <a:avLst/>
              <a:gdLst/>
              <a:ahLst/>
              <a:cxnLst/>
              <a:rect l="l" t="t" r="r" b="b"/>
              <a:pathLst>
                <a:path w="6974840" h="1718945">
                  <a:moveTo>
                    <a:pt x="6974535" y="963041"/>
                  </a:moveTo>
                  <a:lnTo>
                    <a:pt x="6936435" y="943991"/>
                  </a:lnTo>
                  <a:lnTo>
                    <a:pt x="6860235" y="905891"/>
                  </a:lnTo>
                  <a:lnTo>
                    <a:pt x="6860235" y="943991"/>
                  </a:lnTo>
                  <a:lnTo>
                    <a:pt x="421665" y="943991"/>
                  </a:lnTo>
                  <a:lnTo>
                    <a:pt x="420827" y="114300"/>
                  </a:lnTo>
                  <a:lnTo>
                    <a:pt x="458927" y="114300"/>
                  </a:lnTo>
                  <a:lnTo>
                    <a:pt x="449376" y="95250"/>
                  </a:lnTo>
                  <a:lnTo>
                    <a:pt x="401662" y="0"/>
                  </a:lnTo>
                  <a:lnTo>
                    <a:pt x="344627" y="114300"/>
                  </a:lnTo>
                  <a:lnTo>
                    <a:pt x="382727" y="114300"/>
                  </a:lnTo>
                  <a:lnTo>
                    <a:pt x="383565" y="943991"/>
                  </a:lnTo>
                  <a:lnTo>
                    <a:pt x="0" y="943991"/>
                  </a:lnTo>
                  <a:lnTo>
                    <a:pt x="0" y="982091"/>
                  </a:lnTo>
                  <a:lnTo>
                    <a:pt x="383603" y="982091"/>
                  </a:lnTo>
                  <a:lnTo>
                    <a:pt x="384352" y="1718437"/>
                  </a:lnTo>
                  <a:lnTo>
                    <a:pt x="422452" y="1718449"/>
                  </a:lnTo>
                  <a:lnTo>
                    <a:pt x="421703" y="982091"/>
                  </a:lnTo>
                  <a:lnTo>
                    <a:pt x="6860235" y="982091"/>
                  </a:lnTo>
                  <a:lnTo>
                    <a:pt x="6860235" y="1020191"/>
                  </a:lnTo>
                  <a:lnTo>
                    <a:pt x="6936435" y="982091"/>
                  </a:lnTo>
                  <a:lnTo>
                    <a:pt x="6974535" y="963041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124447" y="3529965"/>
            <a:ext cx="1139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Time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</a:t>
            </a:r>
            <a:r>
              <a:rPr sz="1800" b="1" spc="-10" dirty="0">
                <a:latin typeface="Calibri"/>
                <a:cs typeface="Calibri"/>
              </a:rPr>
              <a:t> (Sec)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26083" y="2528442"/>
            <a:ext cx="10261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Amplitude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10450" y="2539110"/>
            <a:ext cx="6740525" cy="1038860"/>
            <a:chOff x="710450" y="2539110"/>
            <a:chExt cx="6740525" cy="1038860"/>
          </a:xfrm>
        </p:grpSpPr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3625" y="3447795"/>
              <a:ext cx="133616" cy="12687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0450" y="3444620"/>
              <a:ext cx="139966" cy="133223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14615" y="2539110"/>
              <a:ext cx="236093" cy="211836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5748273" y="2469007"/>
            <a:ext cx="16414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7E5F00"/>
                </a:solidFill>
                <a:latin typeface="Calibri"/>
                <a:cs typeface="Calibri"/>
              </a:rPr>
              <a:t>Carrier</a:t>
            </a:r>
            <a:r>
              <a:rPr sz="1800" b="1" spc="-30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7E5F00"/>
                </a:solidFill>
                <a:latin typeface="Calibri"/>
                <a:cs typeface="Calibri"/>
              </a:rPr>
              <a:t>Signal</a:t>
            </a:r>
            <a:r>
              <a:rPr sz="1800" b="1" spc="-30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lang="en-US" sz="1800" b="1" spc="-30" dirty="0">
                <a:solidFill>
                  <a:srgbClr val="7E5F00"/>
                </a:solidFill>
                <a:latin typeface="Calibri"/>
                <a:cs typeface="Calibri"/>
              </a:rPr>
              <a:t>c</a:t>
            </a:r>
            <a:r>
              <a:rPr sz="1800" spc="350" dirty="0">
                <a:solidFill>
                  <a:srgbClr val="7E5F00"/>
                </a:solidFill>
                <a:latin typeface="Cambria Math"/>
                <a:cs typeface="Cambria Math"/>
              </a:rPr>
              <a:t> </a:t>
            </a:r>
            <a:r>
              <a:rPr sz="1800" spc="-60" dirty="0">
                <a:solidFill>
                  <a:srgbClr val="7E5F00"/>
                </a:solidFill>
                <a:latin typeface="Cambria Math"/>
                <a:cs typeface="Cambria Math"/>
              </a:rPr>
              <a:t>𝐭</a:t>
            </a:r>
            <a:endParaRPr sz="1800" dirty="0">
              <a:latin typeface="Cambria Math"/>
              <a:cs typeface="Cambria Math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70902" y="2967689"/>
            <a:ext cx="5695315" cy="1009650"/>
            <a:chOff x="770902" y="2967689"/>
            <a:chExt cx="5695315" cy="1009650"/>
          </a:xfrm>
        </p:grpSpPr>
        <p:sp>
          <p:nvSpPr>
            <p:cNvPr id="22" name="object 22"/>
            <p:cNvSpPr/>
            <p:nvPr/>
          </p:nvSpPr>
          <p:spPr>
            <a:xfrm>
              <a:off x="805827" y="2981977"/>
              <a:ext cx="400050" cy="970280"/>
            </a:xfrm>
            <a:custGeom>
              <a:avLst/>
              <a:gdLst/>
              <a:ahLst/>
              <a:cxnLst/>
              <a:rect l="l" t="t" r="r" b="b"/>
              <a:pathLst>
                <a:path w="400050" h="970279">
                  <a:moveTo>
                    <a:pt x="0" y="504172"/>
                  </a:moveTo>
                  <a:lnTo>
                    <a:pt x="7382" y="438806"/>
                  </a:lnTo>
                  <a:lnTo>
                    <a:pt x="14800" y="374422"/>
                  </a:lnTo>
                  <a:lnTo>
                    <a:pt x="22289" y="312001"/>
                  </a:lnTo>
                  <a:lnTo>
                    <a:pt x="29885" y="252521"/>
                  </a:lnTo>
                  <a:lnTo>
                    <a:pt x="37624" y="196960"/>
                  </a:lnTo>
                  <a:lnTo>
                    <a:pt x="45542" y="146297"/>
                  </a:lnTo>
                  <a:lnTo>
                    <a:pt x="53674" y="101512"/>
                  </a:lnTo>
                  <a:lnTo>
                    <a:pt x="62056" y="63583"/>
                  </a:lnTo>
                  <a:lnTo>
                    <a:pt x="79716" y="12207"/>
                  </a:lnTo>
                  <a:lnTo>
                    <a:pt x="98807" y="0"/>
                  </a:lnTo>
                  <a:lnTo>
                    <a:pt x="108978" y="11031"/>
                  </a:lnTo>
                  <a:lnTo>
                    <a:pt x="123920" y="56383"/>
                  </a:lnTo>
                  <a:lnTo>
                    <a:pt x="140081" y="138771"/>
                  </a:lnTo>
                  <a:lnTo>
                    <a:pt x="148527" y="190804"/>
                  </a:lnTo>
                  <a:lnTo>
                    <a:pt x="157167" y="248437"/>
                  </a:lnTo>
                  <a:lnTo>
                    <a:pt x="165965" y="310450"/>
                  </a:lnTo>
                  <a:lnTo>
                    <a:pt x="174883" y="375625"/>
                  </a:lnTo>
                  <a:lnTo>
                    <a:pt x="183885" y="442740"/>
                  </a:lnTo>
                  <a:lnTo>
                    <a:pt x="192933" y="510578"/>
                  </a:lnTo>
                  <a:lnTo>
                    <a:pt x="201992" y="577917"/>
                  </a:lnTo>
                  <a:lnTo>
                    <a:pt x="211024" y="643539"/>
                  </a:lnTo>
                  <a:lnTo>
                    <a:pt x="219992" y="706224"/>
                  </a:lnTo>
                  <a:lnTo>
                    <a:pt x="228859" y="764752"/>
                  </a:lnTo>
                  <a:lnTo>
                    <a:pt x="237589" y="817904"/>
                  </a:lnTo>
                  <a:lnTo>
                    <a:pt x="246144" y="864459"/>
                  </a:lnTo>
                  <a:lnTo>
                    <a:pt x="254488" y="903200"/>
                  </a:lnTo>
                  <a:lnTo>
                    <a:pt x="270395" y="952355"/>
                  </a:lnTo>
                  <a:lnTo>
                    <a:pt x="294017" y="969796"/>
                  </a:lnTo>
                  <a:lnTo>
                    <a:pt x="305398" y="960307"/>
                  </a:lnTo>
                  <a:lnTo>
                    <a:pt x="327440" y="910780"/>
                  </a:lnTo>
                  <a:lnTo>
                    <a:pt x="338156" y="873091"/>
                  </a:lnTo>
                  <a:lnTo>
                    <a:pt x="348706" y="828352"/>
                  </a:lnTo>
                  <a:lnTo>
                    <a:pt x="359117" y="777735"/>
                  </a:lnTo>
                  <a:lnTo>
                    <a:pt x="369418" y="722416"/>
                  </a:lnTo>
                  <a:lnTo>
                    <a:pt x="379636" y="663568"/>
                  </a:lnTo>
                  <a:lnTo>
                    <a:pt x="389799" y="602367"/>
                  </a:lnTo>
                  <a:lnTo>
                    <a:pt x="399935" y="539986"/>
                  </a:lnTo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205763" y="2981977"/>
              <a:ext cx="400050" cy="970280"/>
            </a:xfrm>
            <a:custGeom>
              <a:avLst/>
              <a:gdLst/>
              <a:ahLst/>
              <a:cxnLst/>
              <a:rect l="l" t="t" r="r" b="b"/>
              <a:pathLst>
                <a:path w="400050" h="970279">
                  <a:moveTo>
                    <a:pt x="0" y="504172"/>
                  </a:moveTo>
                  <a:lnTo>
                    <a:pt x="7382" y="438806"/>
                  </a:lnTo>
                  <a:lnTo>
                    <a:pt x="14800" y="374422"/>
                  </a:lnTo>
                  <a:lnTo>
                    <a:pt x="22288" y="312001"/>
                  </a:lnTo>
                  <a:lnTo>
                    <a:pt x="29884" y="252521"/>
                  </a:lnTo>
                  <a:lnTo>
                    <a:pt x="37622" y="196960"/>
                  </a:lnTo>
                  <a:lnTo>
                    <a:pt x="45538" y="146297"/>
                  </a:lnTo>
                  <a:lnTo>
                    <a:pt x="53668" y="101512"/>
                  </a:lnTo>
                  <a:lnTo>
                    <a:pt x="62048" y="63583"/>
                  </a:lnTo>
                  <a:lnTo>
                    <a:pt x="79698" y="12207"/>
                  </a:lnTo>
                  <a:lnTo>
                    <a:pt x="98777" y="0"/>
                  </a:lnTo>
                  <a:lnTo>
                    <a:pt x="108940" y="11031"/>
                  </a:lnTo>
                  <a:lnTo>
                    <a:pt x="123884" y="56383"/>
                  </a:lnTo>
                  <a:lnTo>
                    <a:pt x="140045" y="138771"/>
                  </a:lnTo>
                  <a:lnTo>
                    <a:pt x="148490" y="190804"/>
                  </a:lnTo>
                  <a:lnTo>
                    <a:pt x="157129" y="248437"/>
                  </a:lnTo>
                  <a:lnTo>
                    <a:pt x="165926" y="310450"/>
                  </a:lnTo>
                  <a:lnTo>
                    <a:pt x="174842" y="375625"/>
                  </a:lnTo>
                  <a:lnTo>
                    <a:pt x="183843" y="442740"/>
                  </a:lnTo>
                  <a:lnTo>
                    <a:pt x="192890" y="510578"/>
                  </a:lnTo>
                  <a:lnTo>
                    <a:pt x="201947" y="577917"/>
                  </a:lnTo>
                  <a:lnTo>
                    <a:pt x="210978" y="643539"/>
                  </a:lnTo>
                  <a:lnTo>
                    <a:pt x="219945" y="706224"/>
                  </a:lnTo>
                  <a:lnTo>
                    <a:pt x="228812" y="764752"/>
                  </a:lnTo>
                  <a:lnTo>
                    <a:pt x="237542" y="817904"/>
                  </a:lnTo>
                  <a:lnTo>
                    <a:pt x="246098" y="864459"/>
                  </a:lnTo>
                  <a:lnTo>
                    <a:pt x="254444" y="903200"/>
                  </a:lnTo>
                  <a:lnTo>
                    <a:pt x="270357" y="952355"/>
                  </a:lnTo>
                  <a:lnTo>
                    <a:pt x="293984" y="969796"/>
                  </a:lnTo>
                  <a:lnTo>
                    <a:pt x="305367" y="960307"/>
                  </a:lnTo>
                  <a:lnTo>
                    <a:pt x="327411" y="910780"/>
                  </a:lnTo>
                  <a:lnTo>
                    <a:pt x="338127" y="873091"/>
                  </a:lnTo>
                  <a:lnTo>
                    <a:pt x="348677" y="828352"/>
                  </a:lnTo>
                  <a:lnTo>
                    <a:pt x="359088" y="777735"/>
                  </a:lnTo>
                  <a:lnTo>
                    <a:pt x="369387" y="722416"/>
                  </a:lnTo>
                  <a:lnTo>
                    <a:pt x="379604" y="663568"/>
                  </a:lnTo>
                  <a:lnTo>
                    <a:pt x="389764" y="602367"/>
                  </a:lnTo>
                  <a:lnTo>
                    <a:pt x="399897" y="539986"/>
                  </a:lnTo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612900" y="2981977"/>
              <a:ext cx="400050" cy="970280"/>
            </a:xfrm>
            <a:custGeom>
              <a:avLst/>
              <a:gdLst/>
              <a:ahLst/>
              <a:cxnLst/>
              <a:rect l="l" t="t" r="r" b="b"/>
              <a:pathLst>
                <a:path w="400050" h="970279">
                  <a:moveTo>
                    <a:pt x="0" y="504172"/>
                  </a:moveTo>
                  <a:lnTo>
                    <a:pt x="7389" y="438806"/>
                  </a:lnTo>
                  <a:lnTo>
                    <a:pt x="14810" y="374422"/>
                  </a:lnTo>
                  <a:lnTo>
                    <a:pt x="22300" y="312001"/>
                  </a:lnTo>
                  <a:lnTo>
                    <a:pt x="29894" y="252521"/>
                  </a:lnTo>
                  <a:lnTo>
                    <a:pt x="37630" y="196960"/>
                  </a:lnTo>
                  <a:lnTo>
                    <a:pt x="45543" y="146297"/>
                  </a:lnTo>
                  <a:lnTo>
                    <a:pt x="53670" y="101512"/>
                  </a:lnTo>
                  <a:lnTo>
                    <a:pt x="62047" y="63583"/>
                  </a:lnTo>
                  <a:lnTo>
                    <a:pt x="79699" y="12207"/>
                  </a:lnTo>
                  <a:lnTo>
                    <a:pt x="98790" y="0"/>
                  </a:lnTo>
                  <a:lnTo>
                    <a:pt x="108966" y="11031"/>
                  </a:lnTo>
                  <a:lnTo>
                    <a:pt x="123910" y="56383"/>
                  </a:lnTo>
                  <a:lnTo>
                    <a:pt x="140071" y="138771"/>
                  </a:lnTo>
                  <a:lnTo>
                    <a:pt x="148516" y="190804"/>
                  </a:lnTo>
                  <a:lnTo>
                    <a:pt x="157155" y="248437"/>
                  </a:lnTo>
                  <a:lnTo>
                    <a:pt x="165951" y="310450"/>
                  </a:lnTo>
                  <a:lnTo>
                    <a:pt x="174868" y="375625"/>
                  </a:lnTo>
                  <a:lnTo>
                    <a:pt x="183868" y="442740"/>
                  </a:lnTo>
                  <a:lnTo>
                    <a:pt x="192915" y="510578"/>
                  </a:lnTo>
                  <a:lnTo>
                    <a:pt x="201973" y="577917"/>
                  </a:lnTo>
                  <a:lnTo>
                    <a:pt x="211003" y="643539"/>
                  </a:lnTo>
                  <a:lnTo>
                    <a:pt x="219971" y="706224"/>
                  </a:lnTo>
                  <a:lnTo>
                    <a:pt x="228838" y="764752"/>
                  </a:lnTo>
                  <a:lnTo>
                    <a:pt x="237568" y="817904"/>
                  </a:lnTo>
                  <a:lnTo>
                    <a:pt x="246124" y="864459"/>
                  </a:lnTo>
                  <a:lnTo>
                    <a:pt x="254470" y="903200"/>
                  </a:lnTo>
                  <a:lnTo>
                    <a:pt x="270383" y="952355"/>
                  </a:lnTo>
                  <a:lnTo>
                    <a:pt x="294010" y="969796"/>
                  </a:lnTo>
                  <a:lnTo>
                    <a:pt x="305393" y="960307"/>
                  </a:lnTo>
                  <a:lnTo>
                    <a:pt x="327437" y="910780"/>
                  </a:lnTo>
                  <a:lnTo>
                    <a:pt x="338153" y="873091"/>
                  </a:lnTo>
                  <a:lnTo>
                    <a:pt x="348702" y="828352"/>
                  </a:lnTo>
                  <a:lnTo>
                    <a:pt x="359113" y="777735"/>
                  </a:lnTo>
                  <a:lnTo>
                    <a:pt x="369413" y="722416"/>
                  </a:lnTo>
                  <a:lnTo>
                    <a:pt x="379629" y="663568"/>
                  </a:lnTo>
                  <a:lnTo>
                    <a:pt x="389790" y="602367"/>
                  </a:lnTo>
                  <a:lnTo>
                    <a:pt x="399923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012823" y="2981977"/>
              <a:ext cx="400050" cy="970280"/>
            </a:xfrm>
            <a:custGeom>
              <a:avLst/>
              <a:gdLst/>
              <a:ahLst/>
              <a:cxnLst/>
              <a:rect l="l" t="t" r="r" b="b"/>
              <a:pathLst>
                <a:path w="400050" h="970279">
                  <a:moveTo>
                    <a:pt x="0" y="504172"/>
                  </a:moveTo>
                  <a:lnTo>
                    <a:pt x="7391" y="438806"/>
                  </a:lnTo>
                  <a:lnTo>
                    <a:pt x="14818" y="374422"/>
                  </a:lnTo>
                  <a:lnTo>
                    <a:pt x="22315" y="312001"/>
                  </a:lnTo>
                  <a:lnTo>
                    <a:pt x="29919" y="252521"/>
                  </a:lnTo>
                  <a:lnTo>
                    <a:pt x="37664" y="196960"/>
                  </a:lnTo>
                  <a:lnTo>
                    <a:pt x="45586" y="146297"/>
                  </a:lnTo>
                  <a:lnTo>
                    <a:pt x="53721" y="101512"/>
                  </a:lnTo>
                  <a:lnTo>
                    <a:pt x="62103" y="63583"/>
                  </a:lnTo>
                  <a:lnTo>
                    <a:pt x="79751" y="12207"/>
                  </a:lnTo>
                  <a:lnTo>
                    <a:pt x="98815" y="0"/>
                  </a:lnTo>
                  <a:lnTo>
                    <a:pt x="108966" y="11031"/>
                  </a:lnTo>
                  <a:lnTo>
                    <a:pt x="123913" y="56383"/>
                  </a:lnTo>
                  <a:lnTo>
                    <a:pt x="140084" y="138771"/>
                  </a:lnTo>
                  <a:lnTo>
                    <a:pt x="148535" y="190804"/>
                  </a:lnTo>
                  <a:lnTo>
                    <a:pt x="157181" y="248437"/>
                  </a:lnTo>
                  <a:lnTo>
                    <a:pt x="165984" y="310450"/>
                  </a:lnTo>
                  <a:lnTo>
                    <a:pt x="174907" y="375625"/>
                  </a:lnTo>
                  <a:lnTo>
                    <a:pt x="183913" y="442740"/>
                  </a:lnTo>
                  <a:lnTo>
                    <a:pt x="192965" y="510578"/>
                  </a:lnTo>
                  <a:lnTo>
                    <a:pt x="202026" y="577917"/>
                  </a:lnTo>
                  <a:lnTo>
                    <a:pt x="211059" y="643539"/>
                  </a:lnTo>
                  <a:lnTo>
                    <a:pt x="220027" y="706224"/>
                  </a:lnTo>
                  <a:lnTo>
                    <a:pt x="228892" y="764752"/>
                  </a:lnTo>
                  <a:lnTo>
                    <a:pt x="237618" y="817904"/>
                  </a:lnTo>
                  <a:lnTo>
                    <a:pt x="246167" y="864459"/>
                  </a:lnTo>
                  <a:lnTo>
                    <a:pt x="254502" y="903200"/>
                  </a:lnTo>
                  <a:lnTo>
                    <a:pt x="270383" y="952355"/>
                  </a:lnTo>
                  <a:lnTo>
                    <a:pt x="294010" y="969796"/>
                  </a:lnTo>
                  <a:lnTo>
                    <a:pt x="305393" y="960307"/>
                  </a:lnTo>
                  <a:lnTo>
                    <a:pt x="327437" y="910780"/>
                  </a:lnTo>
                  <a:lnTo>
                    <a:pt x="338153" y="873091"/>
                  </a:lnTo>
                  <a:lnTo>
                    <a:pt x="348702" y="828352"/>
                  </a:lnTo>
                  <a:lnTo>
                    <a:pt x="359113" y="777735"/>
                  </a:lnTo>
                  <a:lnTo>
                    <a:pt x="369413" y="722416"/>
                  </a:lnTo>
                  <a:lnTo>
                    <a:pt x="379629" y="663568"/>
                  </a:lnTo>
                  <a:lnTo>
                    <a:pt x="389790" y="602367"/>
                  </a:lnTo>
                  <a:lnTo>
                    <a:pt x="399923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425446" y="2988327"/>
              <a:ext cx="400050" cy="970280"/>
            </a:xfrm>
            <a:custGeom>
              <a:avLst/>
              <a:gdLst/>
              <a:ahLst/>
              <a:cxnLst/>
              <a:rect l="l" t="t" r="r" b="b"/>
              <a:pathLst>
                <a:path w="400050" h="970279">
                  <a:moveTo>
                    <a:pt x="0" y="504172"/>
                  </a:moveTo>
                  <a:lnTo>
                    <a:pt x="7391" y="438806"/>
                  </a:lnTo>
                  <a:lnTo>
                    <a:pt x="14818" y="374422"/>
                  </a:lnTo>
                  <a:lnTo>
                    <a:pt x="22317" y="312001"/>
                  </a:lnTo>
                  <a:lnTo>
                    <a:pt x="29923" y="252521"/>
                  </a:lnTo>
                  <a:lnTo>
                    <a:pt x="37671" y="196960"/>
                  </a:lnTo>
                  <a:lnTo>
                    <a:pt x="45599" y="146297"/>
                  </a:lnTo>
                  <a:lnTo>
                    <a:pt x="53741" y="101512"/>
                  </a:lnTo>
                  <a:lnTo>
                    <a:pt x="62132" y="63583"/>
                  </a:lnTo>
                  <a:lnTo>
                    <a:pt x="79809" y="12207"/>
                  </a:lnTo>
                  <a:lnTo>
                    <a:pt x="98915" y="0"/>
                  </a:lnTo>
                  <a:lnTo>
                    <a:pt x="109093" y="11031"/>
                  </a:lnTo>
                  <a:lnTo>
                    <a:pt x="124004" y="56383"/>
                  </a:lnTo>
                  <a:lnTo>
                    <a:pt x="140148" y="138771"/>
                  </a:lnTo>
                  <a:lnTo>
                    <a:pt x="148588" y="190804"/>
                  </a:lnTo>
                  <a:lnTo>
                    <a:pt x="157225" y="248437"/>
                  </a:lnTo>
                  <a:lnTo>
                    <a:pt x="166022" y="310450"/>
                  </a:lnTo>
                  <a:lnTo>
                    <a:pt x="174941" y="375625"/>
                  </a:lnTo>
                  <a:lnTo>
                    <a:pt x="183945" y="442740"/>
                  </a:lnTo>
                  <a:lnTo>
                    <a:pt x="192997" y="510578"/>
                  </a:lnTo>
                  <a:lnTo>
                    <a:pt x="202061" y="577917"/>
                  </a:lnTo>
                  <a:lnTo>
                    <a:pt x="211098" y="643539"/>
                  </a:lnTo>
                  <a:lnTo>
                    <a:pt x="220072" y="706224"/>
                  </a:lnTo>
                  <a:lnTo>
                    <a:pt x="228945" y="764752"/>
                  </a:lnTo>
                  <a:lnTo>
                    <a:pt x="237681" y="817904"/>
                  </a:lnTo>
                  <a:lnTo>
                    <a:pt x="246243" y="864459"/>
                  </a:lnTo>
                  <a:lnTo>
                    <a:pt x="254593" y="903200"/>
                  </a:lnTo>
                  <a:lnTo>
                    <a:pt x="270510" y="952355"/>
                  </a:lnTo>
                  <a:lnTo>
                    <a:pt x="294084" y="969796"/>
                  </a:lnTo>
                  <a:lnTo>
                    <a:pt x="305448" y="960307"/>
                  </a:lnTo>
                  <a:lnTo>
                    <a:pt x="327471" y="910780"/>
                  </a:lnTo>
                  <a:lnTo>
                    <a:pt x="338185" y="873091"/>
                  </a:lnTo>
                  <a:lnTo>
                    <a:pt x="348737" y="828352"/>
                  </a:lnTo>
                  <a:lnTo>
                    <a:pt x="359156" y="777735"/>
                  </a:lnTo>
                  <a:lnTo>
                    <a:pt x="369468" y="722416"/>
                  </a:lnTo>
                  <a:lnTo>
                    <a:pt x="379703" y="663568"/>
                  </a:lnTo>
                  <a:lnTo>
                    <a:pt x="389888" y="602367"/>
                  </a:lnTo>
                  <a:lnTo>
                    <a:pt x="400050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825496" y="2988327"/>
              <a:ext cx="400050" cy="970280"/>
            </a:xfrm>
            <a:custGeom>
              <a:avLst/>
              <a:gdLst/>
              <a:ahLst/>
              <a:cxnLst/>
              <a:rect l="l" t="t" r="r" b="b"/>
              <a:pathLst>
                <a:path w="400050" h="970279">
                  <a:moveTo>
                    <a:pt x="0" y="504172"/>
                  </a:moveTo>
                  <a:lnTo>
                    <a:pt x="7364" y="438806"/>
                  </a:lnTo>
                  <a:lnTo>
                    <a:pt x="14768" y="374422"/>
                  </a:lnTo>
                  <a:lnTo>
                    <a:pt x="22248" y="312001"/>
                  </a:lnTo>
                  <a:lnTo>
                    <a:pt x="29838" y="252521"/>
                  </a:lnTo>
                  <a:lnTo>
                    <a:pt x="37574" y="196960"/>
                  </a:lnTo>
                  <a:lnTo>
                    <a:pt x="45492" y="146297"/>
                  </a:lnTo>
                  <a:lnTo>
                    <a:pt x="53626" y="101512"/>
                  </a:lnTo>
                  <a:lnTo>
                    <a:pt x="62012" y="63583"/>
                  </a:lnTo>
                  <a:lnTo>
                    <a:pt x="79683" y="12207"/>
                  </a:lnTo>
                  <a:lnTo>
                    <a:pt x="98788" y="0"/>
                  </a:lnTo>
                  <a:lnTo>
                    <a:pt x="108966" y="11031"/>
                  </a:lnTo>
                  <a:lnTo>
                    <a:pt x="123910" y="56383"/>
                  </a:lnTo>
                  <a:lnTo>
                    <a:pt x="140071" y="138771"/>
                  </a:lnTo>
                  <a:lnTo>
                    <a:pt x="148516" y="190804"/>
                  </a:lnTo>
                  <a:lnTo>
                    <a:pt x="157155" y="248437"/>
                  </a:lnTo>
                  <a:lnTo>
                    <a:pt x="165951" y="310450"/>
                  </a:lnTo>
                  <a:lnTo>
                    <a:pt x="174868" y="375625"/>
                  </a:lnTo>
                  <a:lnTo>
                    <a:pt x="183868" y="442740"/>
                  </a:lnTo>
                  <a:lnTo>
                    <a:pt x="192915" y="510578"/>
                  </a:lnTo>
                  <a:lnTo>
                    <a:pt x="201973" y="577917"/>
                  </a:lnTo>
                  <a:lnTo>
                    <a:pt x="211003" y="643539"/>
                  </a:lnTo>
                  <a:lnTo>
                    <a:pt x="219971" y="706224"/>
                  </a:lnTo>
                  <a:lnTo>
                    <a:pt x="228838" y="764752"/>
                  </a:lnTo>
                  <a:lnTo>
                    <a:pt x="237568" y="817904"/>
                  </a:lnTo>
                  <a:lnTo>
                    <a:pt x="246124" y="864459"/>
                  </a:lnTo>
                  <a:lnTo>
                    <a:pt x="254470" y="903200"/>
                  </a:lnTo>
                  <a:lnTo>
                    <a:pt x="270383" y="952355"/>
                  </a:lnTo>
                  <a:lnTo>
                    <a:pt x="293966" y="969796"/>
                  </a:lnTo>
                  <a:lnTo>
                    <a:pt x="305339" y="960307"/>
                  </a:lnTo>
                  <a:lnTo>
                    <a:pt x="327383" y="910780"/>
                  </a:lnTo>
                  <a:lnTo>
                    <a:pt x="338105" y="873091"/>
                  </a:lnTo>
                  <a:lnTo>
                    <a:pt x="348664" y="828352"/>
                  </a:lnTo>
                  <a:lnTo>
                    <a:pt x="359085" y="777735"/>
                  </a:lnTo>
                  <a:lnTo>
                    <a:pt x="369395" y="722416"/>
                  </a:lnTo>
                  <a:lnTo>
                    <a:pt x="379620" y="663568"/>
                  </a:lnTo>
                  <a:lnTo>
                    <a:pt x="389787" y="602367"/>
                  </a:lnTo>
                  <a:lnTo>
                    <a:pt x="399923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232658" y="2988327"/>
              <a:ext cx="400050" cy="970280"/>
            </a:xfrm>
            <a:custGeom>
              <a:avLst/>
              <a:gdLst/>
              <a:ahLst/>
              <a:cxnLst/>
              <a:rect l="l" t="t" r="r" b="b"/>
              <a:pathLst>
                <a:path w="400050" h="970279">
                  <a:moveTo>
                    <a:pt x="0" y="504172"/>
                  </a:moveTo>
                  <a:lnTo>
                    <a:pt x="7364" y="438806"/>
                  </a:lnTo>
                  <a:lnTo>
                    <a:pt x="14768" y="374422"/>
                  </a:lnTo>
                  <a:lnTo>
                    <a:pt x="22248" y="312001"/>
                  </a:lnTo>
                  <a:lnTo>
                    <a:pt x="29838" y="252521"/>
                  </a:lnTo>
                  <a:lnTo>
                    <a:pt x="37574" y="196960"/>
                  </a:lnTo>
                  <a:lnTo>
                    <a:pt x="45492" y="146297"/>
                  </a:lnTo>
                  <a:lnTo>
                    <a:pt x="53626" y="101512"/>
                  </a:lnTo>
                  <a:lnTo>
                    <a:pt x="62012" y="63583"/>
                  </a:lnTo>
                  <a:lnTo>
                    <a:pt x="79683" y="12207"/>
                  </a:lnTo>
                  <a:lnTo>
                    <a:pt x="98788" y="0"/>
                  </a:lnTo>
                  <a:lnTo>
                    <a:pt x="108966" y="11031"/>
                  </a:lnTo>
                  <a:lnTo>
                    <a:pt x="123910" y="56383"/>
                  </a:lnTo>
                  <a:lnTo>
                    <a:pt x="140071" y="138771"/>
                  </a:lnTo>
                  <a:lnTo>
                    <a:pt x="148516" y="190804"/>
                  </a:lnTo>
                  <a:lnTo>
                    <a:pt x="157155" y="248437"/>
                  </a:lnTo>
                  <a:lnTo>
                    <a:pt x="165951" y="310450"/>
                  </a:lnTo>
                  <a:lnTo>
                    <a:pt x="174868" y="375625"/>
                  </a:lnTo>
                  <a:lnTo>
                    <a:pt x="183868" y="442740"/>
                  </a:lnTo>
                  <a:lnTo>
                    <a:pt x="192915" y="510578"/>
                  </a:lnTo>
                  <a:lnTo>
                    <a:pt x="201973" y="577917"/>
                  </a:lnTo>
                  <a:lnTo>
                    <a:pt x="211003" y="643539"/>
                  </a:lnTo>
                  <a:lnTo>
                    <a:pt x="219971" y="706224"/>
                  </a:lnTo>
                  <a:lnTo>
                    <a:pt x="228838" y="764752"/>
                  </a:lnTo>
                  <a:lnTo>
                    <a:pt x="237568" y="817904"/>
                  </a:lnTo>
                  <a:lnTo>
                    <a:pt x="246124" y="864459"/>
                  </a:lnTo>
                  <a:lnTo>
                    <a:pt x="254470" y="903200"/>
                  </a:lnTo>
                  <a:lnTo>
                    <a:pt x="270383" y="952355"/>
                  </a:lnTo>
                  <a:lnTo>
                    <a:pt x="293966" y="969796"/>
                  </a:lnTo>
                  <a:lnTo>
                    <a:pt x="305339" y="960307"/>
                  </a:lnTo>
                  <a:lnTo>
                    <a:pt x="327383" y="910780"/>
                  </a:lnTo>
                  <a:lnTo>
                    <a:pt x="338105" y="873091"/>
                  </a:lnTo>
                  <a:lnTo>
                    <a:pt x="348664" y="828352"/>
                  </a:lnTo>
                  <a:lnTo>
                    <a:pt x="359085" y="777735"/>
                  </a:lnTo>
                  <a:lnTo>
                    <a:pt x="369395" y="722416"/>
                  </a:lnTo>
                  <a:lnTo>
                    <a:pt x="379620" y="663568"/>
                  </a:lnTo>
                  <a:lnTo>
                    <a:pt x="389787" y="602367"/>
                  </a:lnTo>
                  <a:lnTo>
                    <a:pt x="399923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632580" y="2988327"/>
              <a:ext cx="400050" cy="970280"/>
            </a:xfrm>
            <a:custGeom>
              <a:avLst/>
              <a:gdLst/>
              <a:ahLst/>
              <a:cxnLst/>
              <a:rect l="l" t="t" r="r" b="b"/>
              <a:pathLst>
                <a:path w="400050" h="970279">
                  <a:moveTo>
                    <a:pt x="0" y="504172"/>
                  </a:moveTo>
                  <a:lnTo>
                    <a:pt x="7364" y="438806"/>
                  </a:lnTo>
                  <a:lnTo>
                    <a:pt x="14768" y="374422"/>
                  </a:lnTo>
                  <a:lnTo>
                    <a:pt x="22248" y="312001"/>
                  </a:lnTo>
                  <a:lnTo>
                    <a:pt x="29838" y="252521"/>
                  </a:lnTo>
                  <a:lnTo>
                    <a:pt x="37574" y="196960"/>
                  </a:lnTo>
                  <a:lnTo>
                    <a:pt x="45492" y="146297"/>
                  </a:lnTo>
                  <a:lnTo>
                    <a:pt x="53626" y="101512"/>
                  </a:lnTo>
                  <a:lnTo>
                    <a:pt x="62012" y="63583"/>
                  </a:lnTo>
                  <a:lnTo>
                    <a:pt x="79683" y="12207"/>
                  </a:lnTo>
                  <a:lnTo>
                    <a:pt x="98788" y="0"/>
                  </a:lnTo>
                  <a:lnTo>
                    <a:pt x="108966" y="11031"/>
                  </a:lnTo>
                  <a:lnTo>
                    <a:pt x="123910" y="56383"/>
                  </a:lnTo>
                  <a:lnTo>
                    <a:pt x="140071" y="138771"/>
                  </a:lnTo>
                  <a:lnTo>
                    <a:pt x="148516" y="190804"/>
                  </a:lnTo>
                  <a:lnTo>
                    <a:pt x="157155" y="248437"/>
                  </a:lnTo>
                  <a:lnTo>
                    <a:pt x="165951" y="310450"/>
                  </a:lnTo>
                  <a:lnTo>
                    <a:pt x="174868" y="375625"/>
                  </a:lnTo>
                  <a:lnTo>
                    <a:pt x="183868" y="442740"/>
                  </a:lnTo>
                  <a:lnTo>
                    <a:pt x="192915" y="510578"/>
                  </a:lnTo>
                  <a:lnTo>
                    <a:pt x="201973" y="577917"/>
                  </a:lnTo>
                  <a:lnTo>
                    <a:pt x="211003" y="643539"/>
                  </a:lnTo>
                  <a:lnTo>
                    <a:pt x="219971" y="706224"/>
                  </a:lnTo>
                  <a:lnTo>
                    <a:pt x="228838" y="764752"/>
                  </a:lnTo>
                  <a:lnTo>
                    <a:pt x="237568" y="817904"/>
                  </a:lnTo>
                  <a:lnTo>
                    <a:pt x="246124" y="864459"/>
                  </a:lnTo>
                  <a:lnTo>
                    <a:pt x="254470" y="903200"/>
                  </a:lnTo>
                  <a:lnTo>
                    <a:pt x="270383" y="952355"/>
                  </a:lnTo>
                  <a:lnTo>
                    <a:pt x="294010" y="969796"/>
                  </a:lnTo>
                  <a:lnTo>
                    <a:pt x="305393" y="960307"/>
                  </a:lnTo>
                  <a:lnTo>
                    <a:pt x="327437" y="910780"/>
                  </a:lnTo>
                  <a:lnTo>
                    <a:pt x="338153" y="873091"/>
                  </a:lnTo>
                  <a:lnTo>
                    <a:pt x="348702" y="828352"/>
                  </a:lnTo>
                  <a:lnTo>
                    <a:pt x="359113" y="777735"/>
                  </a:lnTo>
                  <a:lnTo>
                    <a:pt x="369413" y="722416"/>
                  </a:lnTo>
                  <a:lnTo>
                    <a:pt x="379629" y="663568"/>
                  </a:lnTo>
                  <a:lnTo>
                    <a:pt x="389790" y="602367"/>
                  </a:lnTo>
                  <a:lnTo>
                    <a:pt x="399923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038854" y="2988327"/>
              <a:ext cx="400050" cy="970280"/>
            </a:xfrm>
            <a:custGeom>
              <a:avLst/>
              <a:gdLst/>
              <a:ahLst/>
              <a:cxnLst/>
              <a:rect l="l" t="t" r="r" b="b"/>
              <a:pathLst>
                <a:path w="400050" h="970279">
                  <a:moveTo>
                    <a:pt x="0" y="504172"/>
                  </a:moveTo>
                  <a:lnTo>
                    <a:pt x="7364" y="438806"/>
                  </a:lnTo>
                  <a:lnTo>
                    <a:pt x="14768" y="374422"/>
                  </a:lnTo>
                  <a:lnTo>
                    <a:pt x="22248" y="312001"/>
                  </a:lnTo>
                  <a:lnTo>
                    <a:pt x="29838" y="252521"/>
                  </a:lnTo>
                  <a:lnTo>
                    <a:pt x="37574" y="196960"/>
                  </a:lnTo>
                  <a:lnTo>
                    <a:pt x="45492" y="146297"/>
                  </a:lnTo>
                  <a:lnTo>
                    <a:pt x="53626" y="101512"/>
                  </a:lnTo>
                  <a:lnTo>
                    <a:pt x="62012" y="63583"/>
                  </a:lnTo>
                  <a:lnTo>
                    <a:pt x="79683" y="12207"/>
                  </a:lnTo>
                  <a:lnTo>
                    <a:pt x="98788" y="0"/>
                  </a:lnTo>
                  <a:lnTo>
                    <a:pt x="108966" y="11031"/>
                  </a:lnTo>
                  <a:lnTo>
                    <a:pt x="123910" y="56383"/>
                  </a:lnTo>
                  <a:lnTo>
                    <a:pt x="140071" y="138771"/>
                  </a:lnTo>
                  <a:lnTo>
                    <a:pt x="148516" y="190804"/>
                  </a:lnTo>
                  <a:lnTo>
                    <a:pt x="157155" y="248437"/>
                  </a:lnTo>
                  <a:lnTo>
                    <a:pt x="165951" y="310450"/>
                  </a:lnTo>
                  <a:lnTo>
                    <a:pt x="174868" y="375625"/>
                  </a:lnTo>
                  <a:lnTo>
                    <a:pt x="183868" y="442740"/>
                  </a:lnTo>
                  <a:lnTo>
                    <a:pt x="192915" y="510578"/>
                  </a:lnTo>
                  <a:lnTo>
                    <a:pt x="201973" y="577917"/>
                  </a:lnTo>
                  <a:lnTo>
                    <a:pt x="211003" y="643539"/>
                  </a:lnTo>
                  <a:lnTo>
                    <a:pt x="219971" y="706224"/>
                  </a:lnTo>
                  <a:lnTo>
                    <a:pt x="228838" y="764752"/>
                  </a:lnTo>
                  <a:lnTo>
                    <a:pt x="237568" y="817904"/>
                  </a:lnTo>
                  <a:lnTo>
                    <a:pt x="246124" y="864459"/>
                  </a:lnTo>
                  <a:lnTo>
                    <a:pt x="254470" y="903200"/>
                  </a:lnTo>
                  <a:lnTo>
                    <a:pt x="270383" y="952355"/>
                  </a:lnTo>
                  <a:lnTo>
                    <a:pt x="294010" y="969796"/>
                  </a:lnTo>
                  <a:lnTo>
                    <a:pt x="305393" y="960307"/>
                  </a:lnTo>
                  <a:lnTo>
                    <a:pt x="327437" y="910780"/>
                  </a:lnTo>
                  <a:lnTo>
                    <a:pt x="338153" y="873091"/>
                  </a:lnTo>
                  <a:lnTo>
                    <a:pt x="348702" y="828352"/>
                  </a:lnTo>
                  <a:lnTo>
                    <a:pt x="359113" y="777735"/>
                  </a:lnTo>
                  <a:lnTo>
                    <a:pt x="369413" y="722416"/>
                  </a:lnTo>
                  <a:lnTo>
                    <a:pt x="379629" y="663568"/>
                  </a:lnTo>
                  <a:lnTo>
                    <a:pt x="389790" y="602367"/>
                  </a:lnTo>
                  <a:lnTo>
                    <a:pt x="399923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438776" y="2988327"/>
              <a:ext cx="400050" cy="970280"/>
            </a:xfrm>
            <a:custGeom>
              <a:avLst/>
              <a:gdLst/>
              <a:ahLst/>
              <a:cxnLst/>
              <a:rect l="l" t="t" r="r" b="b"/>
              <a:pathLst>
                <a:path w="400050" h="970279">
                  <a:moveTo>
                    <a:pt x="0" y="504172"/>
                  </a:moveTo>
                  <a:lnTo>
                    <a:pt x="7364" y="438806"/>
                  </a:lnTo>
                  <a:lnTo>
                    <a:pt x="14768" y="374422"/>
                  </a:lnTo>
                  <a:lnTo>
                    <a:pt x="22248" y="312001"/>
                  </a:lnTo>
                  <a:lnTo>
                    <a:pt x="29838" y="252521"/>
                  </a:lnTo>
                  <a:lnTo>
                    <a:pt x="37574" y="196960"/>
                  </a:lnTo>
                  <a:lnTo>
                    <a:pt x="45492" y="146297"/>
                  </a:lnTo>
                  <a:lnTo>
                    <a:pt x="53626" y="101512"/>
                  </a:lnTo>
                  <a:lnTo>
                    <a:pt x="62012" y="63583"/>
                  </a:lnTo>
                  <a:lnTo>
                    <a:pt x="79683" y="12207"/>
                  </a:lnTo>
                  <a:lnTo>
                    <a:pt x="98788" y="0"/>
                  </a:lnTo>
                  <a:lnTo>
                    <a:pt x="108966" y="11031"/>
                  </a:lnTo>
                  <a:lnTo>
                    <a:pt x="123910" y="56383"/>
                  </a:lnTo>
                  <a:lnTo>
                    <a:pt x="140071" y="138771"/>
                  </a:lnTo>
                  <a:lnTo>
                    <a:pt x="148516" y="190804"/>
                  </a:lnTo>
                  <a:lnTo>
                    <a:pt x="157155" y="248437"/>
                  </a:lnTo>
                  <a:lnTo>
                    <a:pt x="165951" y="310450"/>
                  </a:lnTo>
                  <a:lnTo>
                    <a:pt x="174868" y="375625"/>
                  </a:lnTo>
                  <a:lnTo>
                    <a:pt x="183868" y="442740"/>
                  </a:lnTo>
                  <a:lnTo>
                    <a:pt x="192915" y="510578"/>
                  </a:lnTo>
                  <a:lnTo>
                    <a:pt x="201973" y="577917"/>
                  </a:lnTo>
                  <a:lnTo>
                    <a:pt x="211003" y="643539"/>
                  </a:lnTo>
                  <a:lnTo>
                    <a:pt x="219971" y="706224"/>
                  </a:lnTo>
                  <a:lnTo>
                    <a:pt x="228838" y="764752"/>
                  </a:lnTo>
                  <a:lnTo>
                    <a:pt x="237568" y="817904"/>
                  </a:lnTo>
                  <a:lnTo>
                    <a:pt x="246124" y="864459"/>
                  </a:lnTo>
                  <a:lnTo>
                    <a:pt x="254470" y="903200"/>
                  </a:lnTo>
                  <a:lnTo>
                    <a:pt x="270383" y="952355"/>
                  </a:lnTo>
                  <a:lnTo>
                    <a:pt x="294010" y="969796"/>
                  </a:lnTo>
                  <a:lnTo>
                    <a:pt x="305393" y="960307"/>
                  </a:lnTo>
                  <a:lnTo>
                    <a:pt x="327437" y="910780"/>
                  </a:lnTo>
                  <a:lnTo>
                    <a:pt x="338153" y="873091"/>
                  </a:lnTo>
                  <a:lnTo>
                    <a:pt x="348702" y="828352"/>
                  </a:lnTo>
                  <a:lnTo>
                    <a:pt x="359113" y="777735"/>
                  </a:lnTo>
                  <a:lnTo>
                    <a:pt x="369413" y="722416"/>
                  </a:lnTo>
                  <a:lnTo>
                    <a:pt x="379629" y="663568"/>
                  </a:lnTo>
                  <a:lnTo>
                    <a:pt x="389790" y="602367"/>
                  </a:lnTo>
                  <a:lnTo>
                    <a:pt x="399923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845938" y="2988327"/>
              <a:ext cx="400050" cy="970280"/>
            </a:xfrm>
            <a:custGeom>
              <a:avLst/>
              <a:gdLst/>
              <a:ahLst/>
              <a:cxnLst/>
              <a:rect l="l" t="t" r="r" b="b"/>
              <a:pathLst>
                <a:path w="400050" h="970279">
                  <a:moveTo>
                    <a:pt x="0" y="504172"/>
                  </a:moveTo>
                  <a:lnTo>
                    <a:pt x="7364" y="438806"/>
                  </a:lnTo>
                  <a:lnTo>
                    <a:pt x="14768" y="374422"/>
                  </a:lnTo>
                  <a:lnTo>
                    <a:pt x="22248" y="312001"/>
                  </a:lnTo>
                  <a:lnTo>
                    <a:pt x="29838" y="252521"/>
                  </a:lnTo>
                  <a:lnTo>
                    <a:pt x="37574" y="196960"/>
                  </a:lnTo>
                  <a:lnTo>
                    <a:pt x="45492" y="146297"/>
                  </a:lnTo>
                  <a:lnTo>
                    <a:pt x="53626" y="101512"/>
                  </a:lnTo>
                  <a:lnTo>
                    <a:pt x="62012" y="63583"/>
                  </a:lnTo>
                  <a:lnTo>
                    <a:pt x="79683" y="12207"/>
                  </a:lnTo>
                  <a:lnTo>
                    <a:pt x="98788" y="0"/>
                  </a:lnTo>
                  <a:lnTo>
                    <a:pt x="108966" y="11031"/>
                  </a:lnTo>
                  <a:lnTo>
                    <a:pt x="123910" y="56383"/>
                  </a:lnTo>
                  <a:lnTo>
                    <a:pt x="140071" y="138771"/>
                  </a:lnTo>
                  <a:lnTo>
                    <a:pt x="148516" y="190804"/>
                  </a:lnTo>
                  <a:lnTo>
                    <a:pt x="157155" y="248437"/>
                  </a:lnTo>
                  <a:lnTo>
                    <a:pt x="165951" y="310450"/>
                  </a:lnTo>
                  <a:lnTo>
                    <a:pt x="174868" y="375625"/>
                  </a:lnTo>
                  <a:lnTo>
                    <a:pt x="183868" y="442740"/>
                  </a:lnTo>
                  <a:lnTo>
                    <a:pt x="192915" y="510578"/>
                  </a:lnTo>
                  <a:lnTo>
                    <a:pt x="201973" y="577917"/>
                  </a:lnTo>
                  <a:lnTo>
                    <a:pt x="211003" y="643539"/>
                  </a:lnTo>
                  <a:lnTo>
                    <a:pt x="219971" y="706224"/>
                  </a:lnTo>
                  <a:lnTo>
                    <a:pt x="228838" y="764752"/>
                  </a:lnTo>
                  <a:lnTo>
                    <a:pt x="237568" y="817904"/>
                  </a:lnTo>
                  <a:lnTo>
                    <a:pt x="246124" y="864459"/>
                  </a:lnTo>
                  <a:lnTo>
                    <a:pt x="254470" y="903200"/>
                  </a:lnTo>
                  <a:lnTo>
                    <a:pt x="270383" y="952355"/>
                  </a:lnTo>
                  <a:lnTo>
                    <a:pt x="294010" y="969796"/>
                  </a:lnTo>
                  <a:lnTo>
                    <a:pt x="305393" y="960307"/>
                  </a:lnTo>
                  <a:lnTo>
                    <a:pt x="327437" y="910780"/>
                  </a:lnTo>
                  <a:lnTo>
                    <a:pt x="338153" y="873091"/>
                  </a:lnTo>
                  <a:lnTo>
                    <a:pt x="348702" y="828352"/>
                  </a:lnTo>
                  <a:lnTo>
                    <a:pt x="359113" y="777735"/>
                  </a:lnTo>
                  <a:lnTo>
                    <a:pt x="369413" y="722416"/>
                  </a:lnTo>
                  <a:lnTo>
                    <a:pt x="379629" y="663568"/>
                  </a:lnTo>
                  <a:lnTo>
                    <a:pt x="389790" y="602367"/>
                  </a:lnTo>
                  <a:lnTo>
                    <a:pt x="399923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245862" y="2988327"/>
              <a:ext cx="400050" cy="970280"/>
            </a:xfrm>
            <a:custGeom>
              <a:avLst/>
              <a:gdLst/>
              <a:ahLst/>
              <a:cxnLst/>
              <a:rect l="l" t="t" r="r" b="b"/>
              <a:pathLst>
                <a:path w="400050" h="970279">
                  <a:moveTo>
                    <a:pt x="0" y="504172"/>
                  </a:moveTo>
                  <a:lnTo>
                    <a:pt x="7389" y="438806"/>
                  </a:lnTo>
                  <a:lnTo>
                    <a:pt x="14810" y="374422"/>
                  </a:lnTo>
                  <a:lnTo>
                    <a:pt x="22300" y="312001"/>
                  </a:lnTo>
                  <a:lnTo>
                    <a:pt x="29894" y="252521"/>
                  </a:lnTo>
                  <a:lnTo>
                    <a:pt x="37630" y="196960"/>
                  </a:lnTo>
                  <a:lnTo>
                    <a:pt x="45543" y="146297"/>
                  </a:lnTo>
                  <a:lnTo>
                    <a:pt x="53670" y="101512"/>
                  </a:lnTo>
                  <a:lnTo>
                    <a:pt x="62047" y="63583"/>
                  </a:lnTo>
                  <a:lnTo>
                    <a:pt x="79699" y="12207"/>
                  </a:lnTo>
                  <a:lnTo>
                    <a:pt x="98790" y="0"/>
                  </a:lnTo>
                  <a:lnTo>
                    <a:pt x="108966" y="11031"/>
                  </a:lnTo>
                  <a:lnTo>
                    <a:pt x="123910" y="56383"/>
                  </a:lnTo>
                  <a:lnTo>
                    <a:pt x="140071" y="138771"/>
                  </a:lnTo>
                  <a:lnTo>
                    <a:pt x="148516" y="190804"/>
                  </a:lnTo>
                  <a:lnTo>
                    <a:pt x="157155" y="248437"/>
                  </a:lnTo>
                  <a:lnTo>
                    <a:pt x="165951" y="310450"/>
                  </a:lnTo>
                  <a:lnTo>
                    <a:pt x="174868" y="375625"/>
                  </a:lnTo>
                  <a:lnTo>
                    <a:pt x="183868" y="442740"/>
                  </a:lnTo>
                  <a:lnTo>
                    <a:pt x="192915" y="510578"/>
                  </a:lnTo>
                  <a:lnTo>
                    <a:pt x="201973" y="577917"/>
                  </a:lnTo>
                  <a:lnTo>
                    <a:pt x="211003" y="643539"/>
                  </a:lnTo>
                  <a:lnTo>
                    <a:pt x="219971" y="706224"/>
                  </a:lnTo>
                  <a:lnTo>
                    <a:pt x="228838" y="764752"/>
                  </a:lnTo>
                  <a:lnTo>
                    <a:pt x="237568" y="817904"/>
                  </a:lnTo>
                  <a:lnTo>
                    <a:pt x="246124" y="864459"/>
                  </a:lnTo>
                  <a:lnTo>
                    <a:pt x="254470" y="903200"/>
                  </a:lnTo>
                  <a:lnTo>
                    <a:pt x="270383" y="952355"/>
                  </a:lnTo>
                  <a:lnTo>
                    <a:pt x="294010" y="969796"/>
                  </a:lnTo>
                  <a:lnTo>
                    <a:pt x="305393" y="960307"/>
                  </a:lnTo>
                  <a:lnTo>
                    <a:pt x="327437" y="910780"/>
                  </a:lnTo>
                  <a:lnTo>
                    <a:pt x="338153" y="873091"/>
                  </a:lnTo>
                  <a:lnTo>
                    <a:pt x="348702" y="828352"/>
                  </a:lnTo>
                  <a:lnTo>
                    <a:pt x="359113" y="777735"/>
                  </a:lnTo>
                  <a:lnTo>
                    <a:pt x="369413" y="722416"/>
                  </a:lnTo>
                  <a:lnTo>
                    <a:pt x="379629" y="663568"/>
                  </a:lnTo>
                  <a:lnTo>
                    <a:pt x="389790" y="602367"/>
                  </a:lnTo>
                  <a:lnTo>
                    <a:pt x="399923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80427" y="2987294"/>
              <a:ext cx="5647690" cy="0"/>
            </a:xfrm>
            <a:custGeom>
              <a:avLst/>
              <a:gdLst/>
              <a:ahLst/>
              <a:cxnLst/>
              <a:rect l="l" t="t" r="r" b="b"/>
              <a:pathLst>
                <a:path w="5647690">
                  <a:moveTo>
                    <a:pt x="0" y="0"/>
                  </a:moveTo>
                  <a:lnTo>
                    <a:pt x="5647296" y="0"/>
                  </a:lnTo>
                </a:path>
              </a:pathLst>
            </a:custGeom>
            <a:ln w="19050">
              <a:solidFill>
                <a:srgbClr val="4471C4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08901" y="3967734"/>
              <a:ext cx="5647690" cy="0"/>
            </a:xfrm>
            <a:custGeom>
              <a:avLst/>
              <a:gdLst/>
              <a:ahLst/>
              <a:cxnLst/>
              <a:rect l="l" t="t" r="r" b="b"/>
              <a:pathLst>
                <a:path w="5647690">
                  <a:moveTo>
                    <a:pt x="0" y="0"/>
                  </a:moveTo>
                  <a:lnTo>
                    <a:pt x="5647270" y="0"/>
                  </a:lnTo>
                </a:path>
              </a:pathLst>
            </a:custGeom>
            <a:ln w="19050">
              <a:solidFill>
                <a:srgbClr val="4471C4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444703" y="2815793"/>
            <a:ext cx="3035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𝐕</a:t>
            </a:r>
            <a:r>
              <a:rPr sz="1950" spc="-37" baseline="-14957" dirty="0">
                <a:latin typeface="Cambria Math"/>
                <a:cs typeface="Cambria Math"/>
              </a:rPr>
              <a:t>𝐂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80415" y="3794252"/>
            <a:ext cx="4756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−𝐕</a:t>
            </a:r>
            <a:r>
              <a:rPr sz="1950" spc="-37" baseline="-14957" dirty="0">
                <a:latin typeface="Cambria Math"/>
                <a:cs typeface="Cambria Math"/>
              </a:rPr>
              <a:t>𝐂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372567" y="4422647"/>
            <a:ext cx="6974840" cy="1718945"/>
          </a:xfrm>
          <a:custGeom>
            <a:avLst/>
            <a:gdLst/>
            <a:ahLst/>
            <a:cxnLst/>
            <a:rect l="l" t="t" r="r" b="b"/>
            <a:pathLst>
              <a:path w="6974840" h="1718945">
                <a:moveTo>
                  <a:pt x="6974510" y="963041"/>
                </a:moveTo>
                <a:lnTo>
                  <a:pt x="6936410" y="943991"/>
                </a:lnTo>
                <a:lnTo>
                  <a:pt x="6860210" y="905891"/>
                </a:lnTo>
                <a:lnTo>
                  <a:pt x="6860210" y="943991"/>
                </a:lnTo>
                <a:lnTo>
                  <a:pt x="421665" y="943991"/>
                </a:lnTo>
                <a:lnTo>
                  <a:pt x="420827" y="114427"/>
                </a:lnTo>
                <a:lnTo>
                  <a:pt x="458990" y="114427"/>
                </a:lnTo>
                <a:lnTo>
                  <a:pt x="449376" y="95250"/>
                </a:lnTo>
                <a:lnTo>
                  <a:pt x="401662" y="0"/>
                </a:lnTo>
                <a:lnTo>
                  <a:pt x="344627" y="114427"/>
                </a:lnTo>
                <a:lnTo>
                  <a:pt x="382727" y="114427"/>
                </a:lnTo>
                <a:lnTo>
                  <a:pt x="383565" y="943991"/>
                </a:lnTo>
                <a:lnTo>
                  <a:pt x="0" y="943991"/>
                </a:lnTo>
                <a:lnTo>
                  <a:pt x="0" y="982091"/>
                </a:lnTo>
                <a:lnTo>
                  <a:pt x="383603" y="982091"/>
                </a:lnTo>
                <a:lnTo>
                  <a:pt x="384352" y="1718437"/>
                </a:lnTo>
                <a:lnTo>
                  <a:pt x="422452" y="1718449"/>
                </a:lnTo>
                <a:lnTo>
                  <a:pt x="421703" y="982091"/>
                </a:lnTo>
                <a:lnTo>
                  <a:pt x="6860210" y="982091"/>
                </a:lnTo>
                <a:lnTo>
                  <a:pt x="6860210" y="1020191"/>
                </a:lnTo>
                <a:lnTo>
                  <a:pt x="6936410" y="982091"/>
                </a:lnTo>
                <a:lnTo>
                  <a:pt x="6974510" y="963041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6118352" y="5401767"/>
            <a:ext cx="11398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Time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(Sec)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919988" y="4400550"/>
            <a:ext cx="10261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Amplitude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704253" y="4302759"/>
            <a:ext cx="6710045" cy="1147445"/>
            <a:chOff x="704253" y="4302759"/>
            <a:chExt cx="6710045" cy="1147445"/>
          </a:xfrm>
        </p:grpSpPr>
        <p:pic>
          <p:nvPicPr>
            <p:cNvPr id="42" name="object 4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07428" y="5319648"/>
              <a:ext cx="133616" cy="126872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04253" y="5316473"/>
              <a:ext cx="139966" cy="133222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178166" y="4302759"/>
              <a:ext cx="236093" cy="211709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5779642" y="4232909"/>
            <a:ext cx="15989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7E5F00"/>
                </a:solidFill>
                <a:latin typeface="Calibri"/>
                <a:cs typeface="Calibri"/>
              </a:rPr>
              <a:t>FM</a:t>
            </a:r>
            <a:r>
              <a:rPr sz="1800" b="1" spc="-45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7E5F00"/>
                </a:solidFill>
                <a:latin typeface="Calibri"/>
                <a:cs typeface="Calibri"/>
              </a:rPr>
              <a:t>Signal</a:t>
            </a:r>
            <a:r>
              <a:rPr sz="1800" b="1" spc="-60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5F00"/>
                </a:solidFill>
                <a:latin typeface="Cambria Math"/>
                <a:cs typeface="Cambria Math"/>
              </a:rPr>
              <a:t>𝐘</a:t>
            </a:r>
            <a:r>
              <a:rPr sz="1950" baseline="-14957" dirty="0">
                <a:solidFill>
                  <a:srgbClr val="7E5F00"/>
                </a:solidFill>
                <a:latin typeface="Cambria Math"/>
                <a:cs typeface="Cambria Math"/>
              </a:rPr>
              <a:t>𝐅𝐌</a:t>
            </a:r>
            <a:r>
              <a:rPr sz="1950" spc="652" baseline="-14957" dirty="0">
                <a:solidFill>
                  <a:srgbClr val="7E5F00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7E5F00"/>
                </a:solidFill>
                <a:latin typeface="Cambria Math"/>
                <a:cs typeface="Cambria Math"/>
              </a:rPr>
              <a:t>𝐭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743305" y="4869307"/>
            <a:ext cx="5695315" cy="999490"/>
            <a:chOff x="743305" y="4869307"/>
            <a:chExt cx="5695315" cy="999490"/>
          </a:xfrm>
        </p:grpSpPr>
        <p:sp>
          <p:nvSpPr>
            <p:cNvPr id="47" name="object 47"/>
            <p:cNvSpPr/>
            <p:nvPr/>
          </p:nvSpPr>
          <p:spPr>
            <a:xfrm>
              <a:off x="752830" y="4878832"/>
              <a:ext cx="5647690" cy="0"/>
            </a:xfrm>
            <a:custGeom>
              <a:avLst/>
              <a:gdLst/>
              <a:ahLst/>
              <a:cxnLst/>
              <a:rect l="l" t="t" r="r" b="b"/>
              <a:pathLst>
                <a:path w="5647690">
                  <a:moveTo>
                    <a:pt x="0" y="0"/>
                  </a:moveTo>
                  <a:lnTo>
                    <a:pt x="5647207" y="0"/>
                  </a:lnTo>
                </a:path>
              </a:pathLst>
            </a:custGeom>
            <a:ln w="19050">
              <a:solidFill>
                <a:srgbClr val="4471C4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81303" y="5859246"/>
              <a:ext cx="5647690" cy="0"/>
            </a:xfrm>
            <a:custGeom>
              <a:avLst/>
              <a:gdLst/>
              <a:ahLst/>
              <a:cxnLst/>
              <a:rect l="l" t="t" r="r" b="b"/>
              <a:pathLst>
                <a:path w="5647690">
                  <a:moveTo>
                    <a:pt x="0" y="0"/>
                  </a:moveTo>
                  <a:lnTo>
                    <a:pt x="5647309" y="0"/>
                  </a:lnTo>
                </a:path>
              </a:pathLst>
            </a:custGeom>
            <a:ln w="19050">
              <a:solidFill>
                <a:srgbClr val="4471C4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420623" y="4705350"/>
            <a:ext cx="3028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𝐕</a:t>
            </a:r>
            <a:r>
              <a:rPr sz="1950" spc="-37" baseline="-14957" dirty="0">
                <a:latin typeface="Cambria Math"/>
                <a:cs typeface="Cambria Math"/>
              </a:rPr>
              <a:t>𝐂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65175" y="5682792"/>
            <a:ext cx="4756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−𝐕</a:t>
            </a:r>
            <a:r>
              <a:rPr sz="1950" spc="-37" baseline="-14957" dirty="0">
                <a:latin typeface="Cambria Math"/>
                <a:cs typeface="Cambria Math"/>
              </a:rPr>
              <a:t>𝐂</a:t>
            </a:r>
            <a:endParaRPr sz="1950" baseline="-14957">
              <a:latin typeface="Cambria Math"/>
              <a:cs typeface="Cambria Math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788669" y="1638807"/>
            <a:ext cx="4873372" cy="4307840"/>
            <a:chOff x="788669" y="1638807"/>
            <a:chExt cx="4873372" cy="4307840"/>
          </a:xfrm>
        </p:grpSpPr>
        <p:sp>
          <p:nvSpPr>
            <p:cNvPr id="59" name="object 59"/>
            <p:cNvSpPr/>
            <p:nvPr/>
          </p:nvSpPr>
          <p:spPr>
            <a:xfrm>
              <a:off x="2104897" y="1638807"/>
              <a:ext cx="0" cy="4271010"/>
            </a:xfrm>
            <a:custGeom>
              <a:avLst/>
              <a:gdLst/>
              <a:ahLst/>
              <a:cxnLst/>
              <a:rect l="l" t="t" r="r" b="b"/>
              <a:pathLst>
                <a:path h="4271010">
                  <a:moveTo>
                    <a:pt x="0" y="0"/>
                  </a:moveTo>
                  <a:lnTo>
                    <a:pt x="0" y="4270527"/>
                  </a:lnTo>
                </a:path>
              </a:pathLst>
            </a:custGeom>
            <a:ln w="19050">
              <a:solidFill>
                <a:srgbClr val="4471C4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832478" y="1675637"/>
              <a:ext cx="0" cy="4271010"/>
            </a:xfrm>
            <a:custGeom>
              <a:avLst/>
              <a:gdLst/>
              <a:ahLst/>
              <a:cxnLst/>
              <a:rect l="l" t="t" r="r" b="b"/>
              <a:pathLst>
                <a:path h="4271010">
                  <a:moveTo>
                    <a:pt x="0" y="0"/>
                  </a:moveTo>
                  <a:lnTo>
                    <a:pt x="0" y="4270489"/>
                  </a:lnTo>
                </a:path>
              </a:pathLst>
            </a:custGeom>
            <a:ln w="19050">
              <a:solidFill>
                <a:srgbClr val="4471C4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662041" y="1667001"/>
              <a:ext cx="0" cy="4271010"/>
            </a:xfrm>
            <a:custGeom>
              <a:avLst/>
              <a:gdLst/>
              <a:ahLst/>
              <a:cxnLst/>
              <a:rect l="l" t="t" r="r" b="b"/>
              <a:pathLst>
                <a:path h="4271010">
                  <a:moveTo>
                    <a:pt x="0" y="0"/>
                  </a:moveTo>
                  <a:lnTo>
                    <a:pt x="0" y="4270590"/>
                  </a:lnTo>
                </a:path>
              </a:pathLst>
            </a:custGeom>
            <a:ln w="19050">
              <a:solidFill>
                <a:srgbClr val="4471C4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788669" y="4864600"/>
              <a:ext cx="400050" cy="970280"/>
            </a:xfrm>
            <a:custGeom>
              <a:avLst/>
              <a:gdLst/>
              <a:ahLst/>
              <a:cxnLst/>
              <a:rect l="l" t="t" r="r" b="b"/>
              <a:pathLst>
                <a:path w="400050" h="970279">
                  <a:moveTo>
                    <a:pt x="0" y="504070"/>
                  </a:moveTo>
                  <a:lnTo>
                    <a:pt x="7382" y="438729"/>
                  </a:lnTo>
                  <a:lnTo>
                    <a:pt x="14800" y="374363"/>
                  </a:lnTo>
                  <a:lnTo>
                    <a:pt x="22289" y="311953"/>
                  </a:lnTo>
                  <a:lnTo>
                    <a:pt x="29885" y="252479"/>
                  </a:lnTo>
                  <a:lnTo>
                    <a:pt x="37624" y="196920"/>
                  </a:lnTo>
                  <a:lnTo>
                    <a:pt x="45542" y="146259"/>
                  </a:lnTo>
                  <a:lnTo>
                    <a:pt x="53674" y="101473"/>
                  </a:lnTo>
                  <a:lnTo>
                    <a:pt x="62056" y="63545"/>
                  </a:lnTo>
                  <a:lnTo>
                    <a:pt x="79716" y="12178"/>
                  </a:lnTo>
                  <a:lnTo>
                    <a:pt x="98807" y="0"/>
                  </a:lnTo>
                  <a:lnTo>
                    <a:pt x="108978" y="11056"/>
                  </a:lnTo>
                  <a:lnTo>
                    <a:pt x="123920" y="56405"/>
                  </a:lnTo>
                  <a:lnTo>
                    <a:pt x="140081" y="138784"/>
                  </a:lnTo>
                  <a:lnTo>
                    <a:pt x="148527" y="190811"/>
                  </a:lnTo>
                  <a:lnTo>
                    <a:pt x="157167" y="248438"/>
                  </a:lnTo>
                  <a:lnTo>
                    <a:pt x="165965" y="310445"/>
                  </a:lnTo>
                  <a:lnTo>
                    <a:pt x="174883" y="375612"/>
                  </a:lnTo>
                  <a:lnTo>
                    <a:pt x="183885" y="442720"/>
                  </a:lnTo>
                  <a:lnTo>
                    <a:pt x="192933" y="510550"/>
                  </a:lnTo>
                  <a:lnTo>
                    <a:pt x="201992" y="577882"/>
                  </a:lnTo>
                  <a:lnTo>
                    <a:pt x="211024" y="643497"/>
                  </a:lnTo>
                  <a:lnTo>
                    <a:pt x="219992" y="706175"/>
                  </a:lnTo>
                  <a:lnTo>
                    <a:pt x="228859" y="764698"/>
                  </a:lnTo>
                  <a:lnTo>
                    <a:pt x="237589" y="817845"/>
                  </a:lnTo>
                  <a:lnTo>
                    <a:pt x="246144" y="864397"/>
                  </a:lnTo>
                  <a:lnTo>
                    <a:pt x="254488" y="903135"/>
                  </a:lnTo>
                  <a:lnTo>
                    <a:pt x="270395" y="952291"/>
                  </a:lnTo>
                  <a:lnTo>
                    <a:pt x="294013" y="969732"/>
                  </a:lnTo>
                  <a:lnTo>
                    <a:pt x="305393" y="960239"/>
                  </a:lnTo>
                  <a:lnTo>
                    <a:pt x="327435" y="910700"/>
                  </a:lnTo>
                  <a:lnTo>
                    <a:pt x="338151" y="873004"/>
                  </a:lnTo>
                  <a:lnTo>
                    <a:pt x="348702" y="828257"/>
                  </a:lnTo>
                  <a:lnTo>
                    <a:pt x="359115" y="777634"/>
                  </a:lnTo>
                  <a:lnTo>
                    <a:pt x="369417" y="722311"/>
                  </a:lnTo>
                  <a:lnTo>
                    <a:pt x="379635" y="663461"/>
                  </a:lnTo>
                  <a:lnTo>
                    <a:pt x="389799" y="602261"/>
                  </a:lnTo>
                  <a:lnTo>
                    <a:pt x="399935" y="539884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188605" y="4864600"/>
              <a:ext cx="400050" cy="970280"/>
            </a:xfrm>
            <a:custGeom>
              <a:avLst/>
              <a:gdLst/>
              <a:ahLst/>
              <a:cxnLst/>
              <a:rect l="l" t="t" r="r" b="b"/>
              <a:pathLst>
                <a:path w="400050" h="970279">
                  <a:moveTo>
                    <a:pt x="0" y="504070"/>
                  </a:moveTo>
                  <a:lnTo>
                    <a:pt x="7382" y="438729"/>
                  </a:lnTo>
                  <a:lnTo>
                    <a:pt x="14800" y="374363"/>
                  </a:lnTo>
                  <a:lnTo>
                    <a:pt x="22289" y="311953"/>
                  </a:lnTo>
                  <a:lnTo>
                    <a:pt x="29884" y="252479"/>
                  </a:lnTo>
                  <a:lnTo>
                    <a:pt x="37623" y="196920"/>
                  </a:lnTo>
                  <a:lnTo>
                    <a:pt x="45539" y="146259"/>
                  </a:lnTo>
                  <a:lnTo>
                    <a:pt x="53670" y="101473"/>
                  </a:lnTo>
                  <a:lnTo>
                    <a:pt x="62050" y="63545"/>
                  </a:lnTo>
                  <a:lnTo>
                    <a:pt x="79704" y="12178"/>
                  </a:lnTo>
                  <a:lnTo>
                    <a:pt x="98787" y="0"/>
                  </a:lnTo>
                  <a:lnTo>
                    <a:pt x="108953" y="11056"/>
                  </a:lnTo>
                  <a:lnTo>
                    <a:pt x="123897" y="56405"/>
                  </a:lnTo>
                  <a:lnTo>
                    <a:pt x="140058" y="138784"/>
                  </a:lnTo>
                  <a:lnTo>
                    <a:pt x="148503" y="190811"/>
                  </a:lnTo>
                  <a:lnTo>
                    <a:pt x="157142" y="248438"/>
                  </a:lnTo>
                  <a:lnTo>
                    <a:pt x="165938" y="310445"/>
                  </a:lnTo>
                  <a:lnTo>
                    <a:pt x="174855" y="375612"/>
                  </a:lnTo>
                  <a:lnTo>
                    <a:pt x="183855" y="442720"/>
                  </a:lnTo>
                  <a:lnTo>
                    <a:pt x="192903" y="510550"/>
                  </a:lnTo>
                  <a:lnTo>
                    <a:pt x="201960" y="577882"/>
                  </a:lnTo>
                  <a:lnTo>
                    <a:pt x="210991" y="643497"/>
                  </a:lnTo>
                  <a:lnTo>
                    <a:pt x="219958" y="706175"/>
                  </a:lnTo>
                  <a:lnTo>
                    <a:pt x="228825" y="764698"/>
                  </a:lnTo>
                  <a:lnTo>
                    <a:pt x="237555" y="817845"/>
                  </a:lnTo>
                  <a:lnTo>
                    <a:pt x="246111" y="864397"/>
                  </a:lnTo>
                  <a:lnTo>
                    <a:pt x="254457" y="903135"/>
                  </a:lnTo>
                  <a:lnTo>
                    <a:pt x="270370" y="952291"/>
                  </a:lnTo>
                  <a:lnTo>
                    <a:pt x="293997" y="969732"/>
                  </a:lnTo>
                  <a:lnTo>
                    <a:pt x="305380" y="960239"/>
                  </a:lnTo>
                  <a:lnTo>
                    <a:pt x="327424" y="910700"/>
                  </a:lnTo>
                  <a:lnTo>
                    <a:pt x="338140" y="873004"/>
                  </a:lnTo>
                  <a:lnTo>
                    <a:pt x="348690" y="828257"/>
                  </a:lnTo>
                  <a:lnTo>
                    <a:pt x="359100" y="777634"/>
                  </a:lnTo>
                  <a:lnTo>
                    <a:pt x="369400" y="722311"/>
                  </a:lnTo>
                  <a:lnTo>
                    <a:pt x="379616" y="663461"/>
                  </a:lnTo>
                  <a:lnTo>
                    <a:pt x="389777" y="602261"/>
                  </a:lnTo>
                  <a:lnTo>
                    <a:pt x="399910" y="539884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595755" y="4864600"/>
              <a:ext cx="400050" cy="970280"/>
            </a:xfrm>
            <a:custGeom>
              <a:avLst/>
              <a:gdLst/>
              <a:ahLst/>
              <a:cxnLst/>
              <a:rect l="l" t="t" r="r" b="b"/>
              <a:pathLst>
                <a:path w="400050" h="970279">
                  <a:moveTo>
                    <a:pt x="0" y="504070"/>
                  </a:moveTo>
                  <a:lnTo>
                    <a:pt x="7389" y="438729"/>
                  </a:lnTo>
                  <a:lnTo>
                    <a:pt x="14810" y="374363"/>
                  </a:lnTo>
                  <a:lnTo>
                    <a:pt x="22300" y="311953"/>
                  </a:lnTo>
                  <a:lnTo>
                    <a:pt x="29894" y="252479"/>
                  </a:lnTo>
                  <a:lnTo>
                    <a:pt x="37630" y="196920"/>
                  </a:lnTo>
                  <a:lnTo>
                    <a:pt x="45543" y="146259"/>
                  </a:lnTo>
                  <a:lnTo>
                    <a:pt x="53670" y="101473"/>
                  </a:lnTo>
                  <a:lnTo>
                    <a:pt x="62047" y="63545"/>
                  </a:lnTo>
                  <a:lnTo>
                    <a:pt x="79699" y="12178"/>
                  </a:lnTo>
                  <a:lnTo>
                    <a:pt x="98790" y="0"/>
                  </a:lnTo>
                  <a:lnTo>
                    <a:pt x="108966" y="11056"/>
                  </a:lnTo>
                  <a:lnTo>
                    <a:pt x="123910" y="56405"/>
                  </a:lnTo>
                  <a:lnTo>
                    <a:pt x="140071" y="138784"/>
                  </a:lnTo>
                  <a:lnTo>
                    <a:pt x="148516" y="190811"/>
                  </a:lnTo>
                  <a:lnTo>
                    <a:pt x="157155" y="248438"/>
                  </a:lnTo>
                  <a:lnTo>
                    <a:pt x="165951" y="310445"/>
                  </a:lnTo>
                  <a:lnTo>
                    <a:pt x="174868" y="375612"/>
                  </a:lnTo>
                  <a:lnTo>
                    <a:pt x="183868" y="442720"/>
                  </a:lnTo>
                  <a:lnTo>
                    <a:pt x="192915" y="510550"/>
                  </a:lnTo>
                  <a:lnTo>
                    <a:pt x="201973" y="577882"/>
                  </a:lnTo>
                  <a:lnTo>
                    <a:pt x="211003" y="643497"/>
                  </a:lnTo>
                  <a:lnTo>
                    <a:pt x="219971" y="706175"/>
                  </a:lnTo>
                  <a:lnTo>
                    <a:pt x="228838" y="764698"/>
                  </a:lnTo>
                  <a:lnTo>
                    <a:pt x="237568" y="817845"/>
                  </a:lnTo>
                  <a:lnTo>
                    <a:pt x="246124" y="864397"/>
                  </a:lnTo>
                  <a:lnTo>
                    <a:pt x="254470" y="903135"/>
                  </a:lnTo>
                  <a:lnTo>
                    <a:pt x="270383" y="952291"/>
                  </a:lnTo>
                  <a:lnTo>
                    <a:pt x="294010" y="969732"/>
                  </a:lnTo>
                  <a:lnTo>
                    <a:pt x="305393" y="960239"/>
                  </a:lnTo>
                  <a:lnTo>
                    <a:pt x="327437" y="910700"/>
                  </a:lnTo>
                  <a:lnTo>
                    <a:pt x="338153" y="873004"/>
                  </a:lnTo>
                  <a:lnTo>
                    <a:pt x="348702" y="828257"/>
                  </a:lnTo>
                  <a:lnTo>
                    <a:pt x="359113" y="777634"/>
                  </a:lnTo>
                  <a:lnTo>
                    <a:pt x="369413" y="722311"/>
                  </a:lnTo>
                  <a:lnTo>
                    <a:pt x="379629" y="663461"/>
                  </a:lnTo>
                  <a:lnTo>
                    <a:pt x="389790" y="602261"/>
                  </a:lnTo>
                  <a:lnTo>
                    <a:pt x="399923" y="539884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998217" y="4860307"/>
              <a:ext cx="309245" cy="970280"/>
            </a:xfrm>
            <a:custGeom>
              <a:avLst/>
              <a:gdLst/>
              <a:ahLst/>
              <a:cxnLst/>
              <a:rect l="l" t="t" r="r" b="b"/>
              <a:pathLst>
                <a:path w="309244" h="970279">
                  <a:moveTo>
                    <a:pt x="0" y="504045"/>
                  </a:moveTo>
                  <a:lnTo>
                    <a:pt x="5692" y="438706"/>
                  </a:lnTo>
                  <a:lnTo>
                    <a:pt x="11416" y="374345"/>
                  </a:lnTo>
                  <a:lnTo>
                    <a:pt x="17199" y="311943"/>
                  </a:lnTo>
                  <a:lnTo>
                    <a:pt x="23067" y="252479"/>
                  </a:lnTo>
                  <a:lnTo>
                    <a:pt x="29048" y="196930"/>
                  </a:lnTo>
                  <a:lnTo>
                    <a:pt x="35169" y="146277"/>
                  </a:lnTo>
                  <a:lnTo>
                    <a:pt x="41456" y="101499"/>
                  </a:lnTo>
                  <a:lnTo>
                    <a:pt x="47938" y="63575"/>
                  </a:lnTo>
                  <a:lnTo>
                    <a:pt x="61591" y="12205"/>
                  </a:lnTo>
                  <a:lnTo>
                    <a:pt x="76344" y="0"/>
                  </a:lnTo>
                  <a:lnTo>
                    <a:pt x="84201" y="11031"/>
                  </a:lnTo>
                  <a:lnTo>
                    <a:pt x="95774" y="56382"/>
                  </a:lnTo>
                  <a:lnTo>
                    <a:pt x="108285" y="138766"/>
                  </a:lnTo>
                  <a:lnTo>
                    <a:pt x="114821" y="190797"/>
                  </a:lnTo>
                  <a:lnTo>
                    <a:pt x="121507" y="248428"/>
                  </a:lnTo>
                  <a:lnTo>
                    <a:pt x="128313" y="310439"/>
                  </a:lnTo>
                  <a:lnTo>
                    <a:pt x="135211" y="375611"/>
                  </a:lnTo>
                  <a:lnTo>
                    <a:pt x="142173" y="442724"/>
                  </a:lnTo>
                  <a:lnTo>
                    <a:pt x="149170" y="510559"/>
                  </a:lnTo>
                  <a:lnTo>
                    <a:pt x="156174" y="577896"/>
                  </a:lnTo>
                  <a:lnTo>
                    <a:pt x="163156" y="643516"/>
                  </a:lnTo>
                  <a:lnTo>
                    <a:pt x="170089" y="706199"/>
                  </a:lnTo>
                  <a:lnTo>
                    <a:pt x="176943" y="764725"/>
                  </a:lnTo>
                  <a:lnTo>
                    <a:pt x="183690" y="817876"/>
                  </a:lnTo>
                  <a:lnTo>
                    <a:pt x="190302" y="864432"/>
                  </a:lnTo>
                  <a:lnTo>
                    <a:pt x="196750" y="903172"/>
                  </a:lnTo>
                  <a:lnTo>
                    <a:pt x="209042" y="952330"/>
                  </a:lnTo>
                  <a:lnTo>
                    <a:pt x="227338" y="969771"/>
                  </a:lnTo>
                  <a:lnTo>
                    <a:pt x="236146" y="960278"/>
                  </a:lnTo>
                  <a:lnTo>
                    <a:pt x="253193" y="910743"/>
                  </a:lnTo>
                  <a:lnTo>
                    <a:pt x="261477" y="873050"/>
                  </a:lnTo>
                  <a:lnTo>
                    <a:pt x="269631" y="828308"/>
                  </a:lnTo>
                  <a:lnTo>
                    <a:pt x="277678" y="777692"/>
                  </a:lnTo>
                  <a:lnTo>
                    <a:pt x="285640" y="722376"/>
                  </a:lnTo>
                  <a:lnTo>
                    <a:pt x="293541" y="663537"/>
                  </a:lnTo>
                  <a:lnTo>
                    <a:pt x="301401" y="602348"/>
                  </a:lnTo>
                  <a:lnTo>
                    <a:pt x="309245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2310256" y="4867648"/>
              <a:ext cx="263525" cy="970280"/>
            </a:xfrm>
            <a:custGeom>
              <a:avLst/>
              <a:gdLst/>
              <a:ahLst/>
              <a:cxnLst/>
              <a:rect l="l" t="t" r="r" b="b"/>
              <a:pathLst>
                <a:path w="263525" h="970279">
                  <a:moveTo>
                    <a:pt x="0" y="504070"/>
                  </a:moveTo>
                  <a:lnTo>
                    <a:pt x="4866" y="438729"/>
                  </a:lnTo>
                  <a:lnTo>
                    <a:pt x="9753" y="374363"/>
                  </a:lnTo>
                  <a:lnTo>
                    <a:pt x="14684" y="311953"/>
                  </a:lnTo>
                  <a:lnTo>
                    <a:pt x="19683" y="252479"/>
                  </a:lnTo>
                  <a:lnTo>
                    <a:pt x="24774" y="196920"/>
                  </a:lnTo>
                  <a:lnTo>
                    <a:pt x="29983" y="146259"/>
                  </a:lnTo>
                  <a:lnTo>
                    <a:pt x="35332" y="101473"/>
                  </a:lnTo>
                  <a:lnTo>
                    <a:pt x="40848" y="63545"/>
                  </a:lnTo>
                  <a:lnTo>
                    <a:pt x="52471" y="12178"/>
                  </a:lnTo>
                  <a:lnTo>
                    <a:pt x="65048" y="0"/>
                  </a:lnTo>
                  <a:lnTo>
                    <a:pt x="71755" y="11056"/>
                  </a:lnTo>
                  <a:lnTo>
                    <a:pt x="81601" y="56406"/>
                  </a:lnTo>
                  <a:lnTo>
                    <a:pt x="92244" y="138787"/>
                  </a:lnTo>
                  <a:lnTo>
                    <a:pt x="97803" y="190816"/>
                  </a:lnTo>
                  <a:lnTo>
                    <a:pt x="103490" y="248444"/>
                  </a:lnTo>
                  <a:lnTo>
                    <a:pt x="109280" y="310452"/>
                  </a:lnTo>
                  <a:lnTo>
                    <a:pt x="115148" y="375621"/>
                  </a:lnTo>
                  <a:lnTo>
                    <a:pt x="121072" y="442732"/>
                  </a:lnTo>
                  <a:lnTo>
                    <a:pt x="127026" y="510563"/>
                  </a:lnTo>
                  <a:lnTo>
                    <a:pt x="132988" y="577898"/>
                  </a:lnTo>
                  <a:lnTo>
                    <a:pt x="138933" y="643514"/>
                  </a:lnTo>
                  <a:lnTo>
                    <a:pt x="144836" y="706195"/>
                  </a:lnTo>
                  <a:lnTo>
                    <a:pt x="150675" y="764719"/>
                  </a:lnTo>
                  <a:lnTo>
                    <a:pt x="156425" y="817867"/>
                  </a:lnTo>
                  <a:lnTo>
                    <a:pt x="162061" y="864421"/>
                  </a:lnTo>
                  <a:lnTo>
                    <a:pt x="167561" y="903160"/>
                  </a:lnTo>
                  <a:lnTo>
                    <a:pt x="178054" y="952317"/>
                  </a:lnTo>
                  <a:lnTo>
                    <a:pt x="193582" y="969757"/>
                  </a:lnTo>
                  <a:lnTo>
                    <a:pt x="201066" y="960264"/>
                  </a:lnTo>
                  <a:lnTo>
                    <a:pt x="215564" y="910723"/>
                  </a:lnTo>
                  <a:lnTo>
                    <a:pt x="222615" y="873026"/>
                  </a:lnTo>
                  <a:lnTo>
                    <a:pt x="229556" y="828277"/>
                  </a:lnTo>
                  <a:lnTo>
                    <a:pt x="236408" y="777652"/>
                  </a:lnTo>
                  <a:lnTo>
                    <a:pt x="243187" y="722326"/>
                  </a:lnTo>
                  <a:lnTo>
                    <a:pt x="249911" y="663472"/>
                  </a:lnTo>
                  <a:lnTo>
                    <a:pt x="256600" y="602267"/>
                  </a:lnTo>
                  <a:lnTo>
                    <a:pt x="263271" y="539884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2577084" y="4870950"/>
              <a:ext cx="233045" cy="970280"/>
            </a:xfrm>
            <a:custGeom>
              <a:avLst/>
              <a:gdLst/>
              <a:ahLst/>
              <a:cxnLst/>
              <a:rect l="l" t="t" r="r" b="b"/>
              <a:pathLst>
                <a:path w="233044" h="970279">
                  <a:moveTo>
                    <a:pt x="0" y="504070"/>
                  </a:moveTo>
                  <a:lnTo>
                    <a:pt x="4309" y="438729"/>
                  </a:lnTo>
                  <a:lnTo>
                    <a:pt x="8636" y="374363"/>
                  </a:lnTo>
                  <a:lnTo>
                    <a:pt x="13001" y="311953"/>
                  </a:lnTo>
                  <a:lnTo>
                    <a:pt x="17426" y="252479"/>
                  </a:lnTo>
                  <a:lnTo>
                    <a:pt x="21932" y="196920"/>
                  </a:lnTo>
                  <a:lnTo>
                    <a:pt x="26542" y="146259"/>
                  </a:lnTo>
                  <a:lnTo>
                    <a:pt x="31276" y="101473"/>
                  </a:lnTo>
                  <a:lnTo>
                    <a:pt x="36156" y="63545"/>
                  </a:lnTo>
                  <a:lnTo>
                    <a:pt x="46440" y="12178"/>
                  </a:lnTo>
                  <a:lnTo>
                    <a:pt x="57567" y="0"/>
                  </a:lnTo>
                  <a:lnTo>
                    <a:pt x="63500" y="11056"/>
                  </a:lnTo>
                  <a:lnTo>
                    <a:pt x="72212" y="56405"/>
                  </a:lnTo>
                  <a:lnTo>
                    <a:pt x="81631" y="138786"/>
                  </a:lnTo>
                  <a:lnTo>
                    <a:pt x="86551" y="190814"/>
                  </a:lnTo>
                  <a:lnTo>
                    <a:pt x="91584" y="248441"/>
                  </a:lnTo>
                  <a:lnTo>
                    <a:pt x="96708" y="310449"/>
                  </a:lnTo>
                  <a:lnTo>
                    <a:pt x="101902" y="375617"/>
                  </a:lnTo>
                  <a:lnTo>
                    <a:pt x="107143" y="442726"/>
                  </a:lnTo>
                  <a:lnTo>
                    <a:pt x="112411" y="510557"/>
                  </a:lnTo>
                  <a:lnTo>
                    <a:pt x="117684" y="577890"/>
                  </a:lnTo>
                  <a:lnTo>
                    <a:pt x="122941" y="643506"/>
                  </a:lnTo>
                  <a:lnTo>
                    <a:pt x="128160" y="706185"/>
                  </a:lnTo>
                  <a:lnTo>
                    <a:pt x="133320" y="764708"/>
                  </a:lnTo>
                  <a:lnTo>
                    <a:pt x="138399" y="817856"/>
                  </a:lnTo>
                  <a:lnTo>
                    <a:pt x="143376" y="864409"/>
                  </a:lnTo>
                  <a:lnTo>
                    <a:pt x="148229" y="903148"/>
                  </a:lnTo>
                  <a:lnTo>
                    <a:pt x="157480" y="952304"/>
                  </a:lnTo>
                  <a:lnTo>
                    <a:pt x="171217" y="969745"/>
                  </a:lnTo>
                  <a:lnTo>
                    <a:pt x="177839" y="960251"/>
                  </a:lnTo>
                  <a:lnTo>
                    <a:pt x="190671" y="910711"/>
                  </a:lnTo>
                  <a:lnTo>
                    <a:pt x="196913" y="873015"/>
                  </a:lnTo>
                  <a:lnTo>
                    <a:pt x="203059" y="828267"/>
                  </a:lnTo>
                  <a:lnTo>
                    <a:pt x="209126" y="777643"/>
                  </a:lnTo>
                  <a:lnTo>
                    <a:pt x="215130" y="722318"/>
                  </a:lnTo>
                  <a:lnTo>
                    <a:pt x="221085" y="663467"/>
                  </a:lnTo>
                  <a:lnTo>
                    <a:pt x="227009" y="602264"/>
                  </a:lnTo>
                  <a:lnTo>
                    <a:pt x="232918" y="539884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2817749" y="4876182"/>
              <a:ext cx="202565" cy="970280"/>
            </a:xfrm>
            <a:custGeom>
              <a:avLst/>
              <a:gdLst/>
              <a:ahLst/>
              <a:cxnLst/>
              <a:rect l="l" t="t" r="r" b="b"/>
              <a:pathLst>
                <a:path w="202564" h="970279">
                  <a:moveTo>
                    <a:pt x="0" y="504172"/>
                  </a:moveTo>
                  <a:lnTo>
                    <a:pt x="3727" y="438806"/>
                  </a:lnTo>
                  <a:lnTo>
                    <a:pt x="7476" y="374422"/>
                  </a:lnTo>
                  <a:lnTo>
                    <a:pt x="11264" y="312001"/>
                  </a:lnTo>
                  <a:lnTo>
                    <a:pt x="15109" y="252521"/>
                  </a:lnTo>
                  <a:lnTo>
                    <a:pt x="19028" y="196960"/>
                  </a:lnTo>
                  <a:lnTo>
                    <a:pt x="23037" y="146297"/>
                  </a:lnTo>
                  <a:lnTo>
                    <a:pt x="27156" y="101512"/>
                  </a:lnTo>
                  <a:lnTo>
                    <a:pt x="31400" y="63583"/>
                  </a:lnTo>
                  <a:lnTo>
                    <a:pt x="40336" y="12207"/>
                  </a:lnTo>
                  <a:lnTo>
                    <a:pt x="49984" y="0"/>
                  </a:lnTo>
                  <a:lnTo>
                    <a:pt x="55118" y="11031"/>
                  </a:lnTo>
                  <a:lnTo>
                    <a:pt x="62692" y="56383"/>
                  </a:lnTo>
                  <a:lnTo>
                    <a:pt x="70877" y="138769"/>
                  </a:lnTo>
                  <a:lnTo>
                    <a:pt x="75153" y="190802"/>
                  </a:lnTo>
                  <a:lnTo>
                    <a:pt x="79526" y="248434"/>
                  </a:lnTo>
                  <a:lnTo>
                    <a:pt x="83978" y="310447"/>
                  </a:lnTo>
                  <a:lnTo>
                    <a:pt x="88489" y="375621"/>
                  </a:lnTo>
                  <a:lnTo>
                    <a:pt x="93042" y="442736"/>
                  </a:lnTo>
                  <a:lnTo>
                    <a:pt x="97619" y="510573"/>
                  </a:lnTo>
                  <a:lnTo>
                    <a:pt x="102199" y="577912"/>
                  </a:lnTo>
                  <a:lnTo>
                    <a:pt x="106766" y="643533"/>
                  </a:lnTo>
                  <a:lnTo>
                    <a:pt x="111300" y="706218"/>
                  </a:lnTo>
                  <a:lnTo>
                    <a:pt x="115783" y="764746"/>
                  </a:lnTo>
                  <a:lnTo>
                    <a:pt x="120196" y="817899"/>
                  </a:lnTo>
                  <a:lnTo>
                    <a:pt x="124520" y="864455"/>
                  </a:lnTo>
                  <a:lnTo>
                    <a:pt x="128738" y="903196"/>
                  </a:lnTo>
                  <a:lnTo>
                    <a:pt x="136779" y="952355"/>
                  </a:lnTo>
                  <a:lnTo>
                    <a:pt x="148768" y="969796"/>
                  </a:lnTo>
                  <a:lnTo>
                    <a:pt x="154539" y="960303"/>
                  </a:lnTo>
                  <a:lnTo>
                    <a:pt x="165706" y="910766"/>
                  </a:lnTo>
                  <a:lnTo>
                    <a:pt x="176474" y="828328"/>
                  </a:lnTo>
                  <a:lnTo>
                    <a:pt x="181746" y="777710"/>
                  </a:lnTo>
                  <a:lnTo>
                    <a:pt x="186963" y="722391"/>
                  </a:lnTo>
                  <a:lnTo>
                    <a:pt x="192141" y="663547"/>
                  </a:lnTo>
                  <a:lnTo>
                    <a:pt x="197294" y="602354"/>
                  </a:lnTo>
                  <a:lnTo>
                    <a:pt x="202438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3032124" y="4875293"/>
              <a:ext cx="233045" cy="970280"/>
            </a:xfrm>
            <a:custGeom>
              <a:avLst/>
              <a:gdLst/>
              <a:ahLst/>
              <a:cxnLst/>
              <a:rect l="l" t="t" r="r" b="b"/>
              <a:pathLst>
                <a:path w="233045" h="970279">
                  <a:moveTo>
                    <a:pt x="0" y="504172"/>
                  </a:moveTo>
                  <a:lnTo>
                    <a:pt x="4309" y="438806"/>
                  </a:lnTo>
                  <a:lnTo>
                    <a:pt x="8636" y="374422"/>
                  </a:lnTo>
                  <a:lnTo>
                    <a:pt x="13001" y="312001"/>
                  </a:lnTo>
                  <a:lnTo>
                    <a:pt x="17426" y="252521"/>
                  </a:lnTo>
                  <a:lnTo>
                    <a:pt x="21932" y="196960"/>
                  </a:lnTo>
                  <a:lnTo>
                    <a:pt x="26542" y="146297"/>
                  </a:lnTo>
                  <a:lnTo>
                    <a:pt x="31276" y="101512"/>
                  </a:lnTo>
                  <a:lnTo>
                    <a:pt x="36156" y="63583"/>
                  </a:lnTo>
                  <a:lnTo>
                    <a:pt x="46440" y="12207"/>
                  </a:lnTo>
                  <a:lnTo>
                    <a:pt x="57567" y="0"/>
                  </a:lnTo>
                  <a:lnTo>
                    <a:pt x="63500" y="11031"/>
                  </a:lnTo>
                  <a:lnTo>
                    <a:pt x="72176" y="56382"/>
                  </a:lnTo>
                  <a:lnTo>
                    <a:pt x="81567" y="138768"/>
                  </a:lnTo>
                  <a:lnTo>
                    <a:pt x="86477" y="190799"/>
                  </a:lnTo>
                  <a:lnTo>
                    <a:pt x="91502" y="248431"/>
                  </a:lnTo>
                  <a:lnTo>
                    <a:pt x="96620" y="310443"/>
                  </a:lnTo>
                  <a:lnTo>
                    <a:pt x="101809" y="375616"/>
                  </a:lnTo>
                  <a:lnTo>
                    <a:pt x="107048" y="442730"/>
                  </a:lnTo>
                  <a:lnTo>
                    <a:pt x="112316" y="510566"/>
                  </a:lnTo>
                  <a:lnTo>
                    <a:pt x="117591" y="577904"/>
                  </a:lnTo>
                  <a:lnTo>
                    <a:pt x="122852" y="643525"/>
                  </a:lnTo>
                  <a:lnTo>
                    <a:pt x="128077" y="706208"/>
                  </a:lnTo>
                  <a:lnTo>
                    <a:pt x="133246" y="764736"/>
                  </a:lnTo>
                  <a:lnTo>
                    <a:pt x="138335" y="817887"/>
                  </a:lnTo>
                  <a:lnTo>
                    <a:pt x="143325" y="864443"/>
                  </a:lnTo>
                  <a:lnTo>
                    <a:pt x="148193" y="903184"/>
                  </a:lnTo>
                  <a:lnTo>
                    <a:pt x="157480" y="952343"/>
                  </a:lnTo>
                  <a:lnTo>
                    <a:pt x="171216" y="969784"/>
                  </a:lnTo>
                  <a:lnTo>
                    <a:pt x="177837" y="960292"/>
                  </a:lnTo>
                  <a:lnTo>
                    <a:pt x="190662" y="910758"/>
                  </a:lnTo>
                  <a:lnTo>
                    <a:pt x="196897" y="873066"/>
                  </a:lnTo>
                  <a:lnTo>
                    <a:pt x="203034" y="828324"/>
                  </a:lnTo>
                  <a:lnTo>
                    <a:pt x="209089" y="777706"/>
                  </a:lnTo>
                  <a:lnTo>
                    <a:pt x="215076" y="722389"/>
                  </a:lnTo>
                  <a:lnTo>
                    <a:pt x="221012" y="663546"/>
                  </a:lnTo>
                  <a:lnTo>
                    <a:pt x="226912" y="602354"/>
                  </a:lnTo>
                  <a:lnTo>
                    <a:pt x="232790" y="539986"/>
                  </a:lnTo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3274949" y="4871204"/>
              <a:ext cx="264795" cy="970280"/>
            </a:xfrm>
            <a:custGeom>
              <a:avLst/>
              <a:gdLst/>
              <a:ahLst/>
              <a:cxnLst/>
              <a:rect l="l" t="t" r="r" b="b"/>
              <a:pathLst>
                <a:path w="264795" h="970279">
                  <a:moveTo>
                    <a:pt x="0" y="504070"/>
                  </a:moveTo>
                  <a:lnTo>
                    <a:pt x="4871" y="438729"/>
                  </a:lnTo>
                  <a:lnTo>
                    <a:pt x="9770" y="374363"/>
                  </a:lnTo>
                  <a:lnTo>
                    <a:pt x="14720" y="311953"/>
                  </a:lnTo>
                  <a:lnTo>
                    <a:pt x="19744" y="252479"/>
                  </a:lnTo>
                  <a:lnTo>
                    <a:pt x="24865" y="196920"/>
                  </a:lnTo>
                  <a:lnTo>
                    <a:pt x="30108" y="146259"/>
                  </a:lnTo>
                  <a:lnTo>
                    <a:pt x="35494" y="101473"/>
                  </a:lnTo>
                  <a:lnTo>
                    <a:pt x="41047" y="63545"/>
                  </a:lnTo>
                  <a:lnTo>
                    <a:pt x="52749" y="12178"/>
                  </a:lnTo>
                  <a:lnTo>
                    <a:pt x="65398" y="0"/>
                  </a:lnTo>
                  <a:lnTo>
                    <a:pt x="72136" y="11056"/>
                  </a:lnTo>
                  <a:lnTo>
                    <a:pt x="82026" y="56405"/>
                  </a:lnTo>
                  <a:lnTo>
                    <a:pt x="92719" y="138786"/>
                  </a:lnTo>
                  <a:lnTo>
                    <a:pt x="98306" y="190814"/>
                  </a:lnTo>
                  <a:lnTo>
                    <a:pt x="104021" y="248441"/>
                  </a:lnTo>
                  <a:lnTo>
                    <a:pt x="109840" y="310449"/>
                  </a:lnTo>
                  <a:lnTo>
                    <a:pt x="115738" y="375617"/>
                  </a:lnTo>
                  <a:lnTo>
                    <a:pt x="121692" y="442726"/>
                  </a:lnTo>
                  <a:lnTo>
                    <a:pt x="127676" y="510557"/>
                  </a:lnTo>
                  <a:lnTo>
                    <a:pt x="133668" y="577890"/>
                  </a:lnTo>
                  <a:lnTo>
                    <a:pt x="139642" y="643506"/>
                  </a:lnTo>
                  <a:lnTo>
                    <a:pt x="145575" y="706185"/>
                  </a:lnTo>
                  <a:lnTo>
                    <a:pt x="151442" y="764708"/>
                  </a:lnTo>
                  <a:lnTo>
                    <a:pt x="157219" y="817856"/>
                  </a:lnTo>
                  <a:lnTo>
                    <a:pt x="162882" y="864409"/>
                  </a:lnTo>
                  <a:lnTo>
                    <a:pt x="168406" y="903148"/>
                  </a:lnTo>
                  <a:lnTo>
                    <a:pt x="178943" y="952304"/>
                  </a:lnTo>
                  <a:lnTo>
                    <a:pt x="194588" y="969745"/>
                  </a:lnTo>
                  <a:lnTo>
                    <a:pt x="202124" y="960251"/>
                  </a:lnTo>
                  <a:lnTo>
                    <a:pt x="216714" y="910711"/>
                  </a:lnTo>
                  <a:lnTo>
                    <a:pt x="223805" y="873015"/>
                  </a:lnTo>
                  <a:lnTo>
                    <a:pt x="230785" y="828267"/>
                  </a:lnTo>
                  <a:lnTo>
                    <a:pt x="237673" y="777643"/>
                  </a:lnTo>
                  <a:lnTo>
                    <a:pt x="244486" y="722318"/>
                  </a:lnTo>
                  <a:lnTo>
                    <a:pt x="251244" y="663467"/>
                  </a:lnTo>
                  <a:lnTo>
                    <a:pt x="257965" y="602264"/>
                  </a:lnTo>
                  <a:lnTo>
                    <a:pt x="264668" y="539884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546602" y="4872372"/>
              <a:ext cx="299720" cy="970280"/>
            </a:xfrm>
            <a:custGeom>
              <a:avLst/>
              <a:gdLst/>
              <a:ahLst/>
              <a:cxnLst/>
              <a:rect l="l" t="t" r="r" b="b"/>
              <a:pathLst>
                <a:path w="299720" h="970279">
                  <a:moveTo>
                    <a:pt x="0" y="504172"/>
                  </a:moveTo>
                  <a:lnTo>
                    <a:pt x="5514" y="438806"/>
                  </a:lnTo>
                  <a:lnTo>
                    <a:pt x="11055" y="374422"/>
                  </a:lnTo>
                  <a:lnTo>
                    <a:pt x="16651" y="312001"/>
                  </a:lnTo>
                  <a:lnTo>
                    <a:pt x="22327" y="252521"/>
                  </a:lnTo>
                  <a:lnTo>
                    <a:pt x="28112" y="196960"/>
                  </a:lnTo>
                  <a:lnTo>
                    <a:pt x="34032" y="146297"/>
                  </a:lnTo>
                  <a:lnTo>
                    <a:pt x="40115" y="101512"/>
                  </a:lnTo>
                  <a:lnTo>
                    <a:pt x="46387" y="63583"/>
                  </a:lnTo>
                  <a:lnTo>
                    <a:pt x="59607" y="12207"/>
                  </a:lnTo>
                  <a:lnTo>
                    <a:pt x="73909" y="0"/>
                  </a:lnTo>
                  <a:lnTo>
                    <a:pt x="81534" y="11031"/>
                  </a:lnTo>
                  <a:lnTo>
                    <a:pt x="92730" y="56383"/>
                  </a:lnTo>
                  <a:lnTo>
                    <a:pt x="104838" y="138769"/>
                  </a:lnTo>
                  <a:lnTo>
                    <a:pt x="111165" y="190802"/>
                  </a:lnTo>
                  <a:lnTo>
                    <a:pt x="117637" y="248434"/>
                  </a:lnTo>
                  <a:lnTo>
                    <a:pt x="124226" y="310447"/>
                  </a:lnTo>
                  <a:lnTo>
                    <a:pt x="130906" y="375621"/>
                  </a:lnTo>
                  <a:lnTo>
                    <a:pt x="137647" y="442736"/>
                  </a:lnTo>
                  <a:lnTo>
                    <a:pt x="144424" y="510573"/>
                  </a:lnTo>
                  <a:lnTo>
                    <a:pt x="151208" y="577912"/>
                  </a:lnTo>
                  <a:lnTo>
                    <a:pt x="157972" y="643533"/>
                  </a:lnTo>
                  <a:lnTo>
                    <a:pt x="164688" y="706218"/>
                  </a:lnTo>
                  <a:lnTo>
                    <a:pt x="171328" y="764746"/>
                  </a:lnTo>
                  <a:lnTo>
                    <a:pt x="177866" y="817899"/>
                  </a:lnTo>
                  <a:lnTo>
                    <a:pt x="184273" y="864455"/>
                  </a:lnTo>
                  <a:lnTo>
                    <a:pt x="190523" y="903196"/>
                  </a:lnTo>
                  <a:lnTo>
                    <a:pt x="202438" y="952355"/>
                  </a:lnTo>
                  <a:lnTo>
                    <a:pt x="220129" y="969796"/>
                  </a:lnTo>
                  <a:lnTo>
                    <a:pt x="228653" y="960303"/>
                  </a:lnTo>
                  <a:lnTo>
                    <a:pt x="245163" y="910766"/>
                  </a:lnTo>
                  <a:lnTo>
                    <a:pt x="253190" y="873072"/>
                  </a:lnTo>
                  <a:lnTo>
                    <a:pt x="261092" y="828328"/>
                  </a:lnTo>
                  <a:lnTo>
                    <a:pt x="268891" y="777710"/>
                  </a:lnTo>
                  <a:lnTo>
                    <a:pt x="276607" y="722391"/>
                  </a:lnTo>
                  <a:lnTo>
                    <a:pt x="284261" y="663547"/>
                  </a:lnTo>
                  <a:lnTo>
                    <a:pt x="291874" y="602354"/>
                  </a:lnTo>
                  <a:lnTo>
                    <a:pt x="299466" y="539986"/>
                  </a:lnTo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853434" y="4878214"/>
              <a:ext cx="414781" cy="970280"/>
            </a:xfrm>
            <a:custGeom>
              <a:avLst/>
              <a:gdLst/>
              <a:ahLst/>
              <a:cxnLst/>
              <a:rect l="l" t="t" r="r" b="b"/>
              <a:pathLst>
                <a:path w="589914" h="970279">
                  <a:moveTo>
                    <a:pt x="0" y="504172"/>
                  </a:moveTo>
                  <a:lnTo>
                    <a:pt x="10854" y="438806"/>
                  </a:lnTo>
                  <a:lnTo>
                    <a:pt x="21767" y="374422"/>
                  </a:lnTo>
                  <a:lnTo>
                    <a:pt x="32789" y="312001"/>
                  </a:lnTo>
                  <a:lnTo>
                    <a:pt x="43973" y="252521"/>
                  </a:lnTo>
                  <a:lnTo>
                    <a:pt x="55373" y="196960"/>
                  </a:lnTo>
                  <a:lnTo>
                    <a:pt x="67042" y="146297"/>
                  </a:lnTo>
                  <a:lnTo>
                    <a:pt x="79031" y="101512"/>
                  </a:lnTo>
                  <a:lnTo>
                    <a:pt x="91393" y="63583"/>
                  </a:lnTo>
                  <a:lnTo>
                    <a:pt x="117450" y="12207"/>
                  </a:lnTo>
                  <a:lnTo>
                    <a:pt x="145633" y="0"/>
                  </a:lnTo>
                  <a:lnTo>
                    <a:pt x="160655" y="11031"/>
                  </a:lnTo>
                  <a:lnTo>
                    <a:pt x="181525" y="53155"/>
                  </a:lnTo>
                  <a:lnTo>
                    <a:pt x="204035" y="129142"/>
                  </a:lnTo>
                  <a:lnTo>
                    <a:pt x="215788" y="177221"/>
                  </a:lnTo>
                  <a:lnTo>
                    <a:pt x="227813" y="230629"/>
                  </a:lnTo>
                  <a:lnTo>
                    <a:pt x="240061" y="288320"/>
                  </a:lnTo>
                  <a:lnTo>
                    <a:pt x="252487" y="349250"/>
                  </a:lnTo>
                  <a:lnTo>
                    <a:pt x="265044" y="412372"/>
                  </a:lnTo>
                  <a:lnTo>
                    <a:pt x="277685" y="476640"/>
                  </a:lnTo>
                  <a:lnTo>
                    <a:pt x="290365" y="541010"/>
                  </a:lnTo>
                  <a:lnTo>
                    <a:pt x="303036" y="604435"/>
                  </a:lnTo>
                  <a:lnTo>
                    <a:pt x="315652" y="665870"/>
                  </a:lnTo>
                  <a:lnTo>
                    <a:pt x="328167" y="724269"/>
                  </a:lnTo>
                  <a:lnTo>
                    <a:pt x="340534" y="778586"/>
                  </a:lnTo>
                  <a:lnTo>
                    <a:pt x="352707" y="827777"/>
                  </a:lnTo>
                  <a:lnTo>
                    <a:pt x="364639" y="870794"/>
                  </a:lnTo>
                  <a:lnTo>
                    <a:pt x="387595" y="934129"/>
                  </a:lnTo>
                  <a:lnTo>
                    <a:pt x="416164" y="967538"/>
                  </a:lnTo>
                  <a:lnTo>
                    <a:pt x="433356" y="969796"/>
                  </a:lnTo>
                  <a:lnTo>
                    <a:pt x="450141" y="960303"/>
                  </a:lnTo>
                  <a:lnTo>
                    <a:pt x="482652" y="910766"/>
                  </a:lnTo>
                  <a:lnTo>
                    <a:pt x="498459" y="873072"/>
                  </a:lnTo>
                  <a:lnTo>
                    <a:pt x="514019" y="828328"/>
                  </a:lnTo>
                  <a:lnTo>
                    <a:pt x="529373" y="777710"/>
                  </a:lnTo>
                  <a:lnTo>
                    <a:pt x="544562" y="722391"/>
                  </a:lnTo>
                  <a:lnTo>
                    <a:pt x="559624" y="663547"/>
                  </a:lnTo>
                  <a:lnTo>
                    <a:pt x="574602" y="602354"/>
                  </a:lnTo>
                  <a:lnTo>
                    <a:pt x="589534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268215" y="4878214"/>
              <a:ext cx="837185" cy="970280"/>
            </a:xfrm>
            <a:custGeom>
              <a:avLst/>
              <a:gdLst/>
              <a:ahLst/>
              <a:cxnLst/>
              <a:rect l="l" t="t" r="r" b="b"/>
              <a:pathLst>
                <a:path w="589914" h="970279">
                  <a:moveTo>
                    <a:pt x="0" y="504172"/>
                  </a:moveTo>
                  <a:lnTo>
                    <a:pt x="10881" y="438806"/>
                  </a:lnTo>
                  <a:lnTo>
                    <a:pt x="21816" y="374422"/>
                  </a:lnTo>
                  <a:lnTo>
                    <a:pt x="32856" y="312001"/>
                  </a:lnTo>
                  <a:lnTo>
                    <a:pt x="44054" y="252521"/>
                  </a:lnTo>
                  <a:lnTo>
                    <a:pt x="55464" y="196960"/>
                  </a:lnTo>
                  <a:lnTo>
                    <a:pt x="67136" y="146297"/>
                  </a:lnTo>
                  <a:lnTo>
                    <a:pt x="79125" y="101512"/>
                  </a:lnTo>
                  <a:lnTo>
                    <a:pt x="91483" y="63583"/>
                  </a:lnTo>
                  <a:lnTo>
                    <a:pt x="117518" y="12207"/>
                  </a:lnTo>
                  <a:lnTo>
                    <a:pt x="145660" y="0"/>
                  </a:lnTo>
                  <a:lnTo>
                    <a:pt x="160655" y="11031"/>
                  </a:lnTo>
                  <a:lnTo>
                    <a:pt x="181528" y="53155"/>
                  </a:lnTo>
                  <a:lnTo>
                    <a:pt x="204048" y="129142"/>
                  </a:lnTo>
                  <a:lnTo>
                    <a:pt x="215808" y="177221"/>
                  </a:lnTo>
                  <a:lnTo>
                    <a:pt x="227840" y="230629"/>
                  </a:lnTo>
                  <a:lnTo>
                    <a:pt x="240097" y="288320"/>
                  </a:lnTo>
                  <a:lnTo>
                    <a:pt x="252531" y="349250"/>
                  </a:lnTo>
                  <a:lnTo>
                    <a:pt x="265098" y="412372"/>
                  </a:lnTo>
                  <a:lnTo>
                    <a:pt x="277748" y="476640"/>
                  </a:lnTo>
                  <a:lnTo>
                    <a:pt x="290438" y="541010"/>
                  </a:lnTo>
                  <a:lnTo>
                    <a:pt x="303118" y="604435"/>
                  </a:lnTo>
                  <a:lnTo>
                    <a:pt x="315743" y="665870"/>
                  </a:lnTo>
                  <a:lnTo>
                    <a:pt x="328267" y="724269"/>
                  </a:lnTo>
                  <a:lnTo>
                    <a:pt x="340641" y="778586"/>
                  </a:lnTo>
                  <a:lnTo>
                    <a:pt x="352821" y="827777"/>
                  </a:lnTo>
                  <a:lnTo>
                    <a:pt x="364758" y="870794"/>
                  </a:lnTo>
                  <a:lnTo>
                    <a:pt x="387721" y="934129"/>
                  </a:lnTo>
                  <a:lnTo>
                    <a:pt x="416289" y="967538"/>
                  </a:lnTo>
                  <a:lnTo>
                    <a:pt x="433474" y="969796"/>
                  </a:lnTo>
                  <a:lnTo>
                    <a:pt x="450250" y="960303"/>
                  </a:lnTo>
                  <a:lnTo>
                    <a:pt x="482741" y="910766"/>
                  </a:lnTo>
                  <a:lnTo>
                    <a:pt x="498538" y="873072"/>
                  </a:lnTo>
                  <a:lnTo>
                    <a:pt x="514092" y="828328"/>
                  </a:lnTo>
                  <a:lnTo>
                    <a:pt x="529444" y="777710"/>
                  </a:lnTo>
                  <a:lnTo>
                    <a:pt x="544635" y="722391"/>
                  </a:lnTo>
                  <a:lnTo>
                    <a:pt x="559707" y="663547"/>
                  </a:lnTo>
                  <a:lnTo>
                    <a:pt x="574702" y="602354"/>
                  </a:lnTo>
                  <a:lnTo>
                    <a:pt x="589661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5105400" y="4878214"/>
              <a:ext cx="527812" cy="970280"/>
            </a:xfrm>
            <a:custGeom>
              <a:avLst/>
              <a:gdLst/>
              <a:ahLst/>
              <a:cxnLst/>
              <a:rect l="l" t="t" r="r" b="b"/>
              <a:pathLst>
                <a:path w="589914" h="970279">
                  <a:moveTo>
                    <a:pt x="0" y="504172"/>
                  </a:moveTo>
                  <a:lnTo>
                    <a:pt x="10854" y="438806"/>
                  </a:lnTo>
                  <a:lnTo>
                    <a:pt x="21767" y="374422"/>
                  </a:lnTo>
                  <a:lnTo>
                    <a:pt x="32789" y="312001"/>
                  </a:lnTo>
                  <a:lnTo>
                    <a:pt x="43973" y="252521"/>
                  </a:lnTo>
                  <a:lnTo>
                    <a:pt x="55373" y="196960"/>
                  </a:lnTo>
                  <a:lnTo>
                    <a:pt x="67042" y="146297"/>
                  </a:lnTo>
                  <a:lnTo>
                    <a:pt x="79031" y="101512"/>
                  </a:lnTo>
                  <a:lnTo>
                    <a:pt x="91393" y="63583"/>
                  </a:lnTo>
                  <a:lnTo>
                    <a:pt x="117450" y="12207"/>
                  </a:lnTo>
                  <a:lnTo>
                    <a:pt x="145633" y="0"/>
                  </a:lnTo>
                  <a:lnTo>
                    <a:pt x="160655" y="11031"/>
                  </a:lnTo>
                  <a:lnTo>
                    <a:pt x="181525" y="53155"/>
                  </a:lnTo>
                  <a:lnTo>
                    <a:pt x="204035" y="129142"/>
                  </a:lnTo>
                  <a:lnTo>
                    <a:pt x="215788" y="177221"/>
                  </a:lnTo>
                  <a:lnTo>
                    <a:pt x="227813" y="230629"/>
                  </a:lnTo>
                  <a:lnTo>
                    <a:pt x="240061" y="288320"/>
                  </a:lnTo>
                  <a:lnTo>
                    <a:pt x="252487" y="349250"/>
                  </a:lnTo>
                  <a:lnTo>
                    <a:pt x="265044" y="412372"/>
                  </a:lnTo>
                  <a:lnTo>
                    <a:pt x="277685" y="476640"/>
                  </a:lnTo>
                  <a:lnTo>
                    <a:pt x="290365" y="541010"/>
                  </a:lnTo>
                  <a:lnTo>
                    <a:pt x="303036" y="604435"/>
                  </a:lnTo>
                  <a:lnTo>
                    <a:pt x="315652" y="665870"/>
                  </a:lnTo>
                  <a:lnTo>
                    <a:pt x="328167" y="724269"/>
                  </a:lnTo>
                  <a:lnTo>
                    <a:pt x="340534" y="778586"/>
                  </a:lnTo>
                  <a:lnTo>
                    <a:pt x="352707" y="827777"/>
                  </a:lnTo>
                  <a:lnTo>
                    <a:pt x="364639" y="870794"/>
                  </a:lnTo>
                  <a:lnTo>
                    <a:pt x="387595" y="934129"/>
                  </a:lnTo>
                  <a:lnTo>
                    <a:pt x="416164" y="967538"/>
                  </a:lnTo>
                  <a:lnTo>
                    <a:pt x="433356" y="969796"/>
                  </a:lnTo>
                  <a:lnTo>
                    <a:pt x="450141" y="960303"/>
                  </a:lnTo>
                  <a:lnTo>
                    <a:pt x="482652" y="910766"/>
                  </a:lnTo>
                  <a:lnTo>
                    <a:pt x="498459" y="873072"/>
                  </a:lnTo>
                  <a:lnTo>
                    <a:pt x="514019" y="828328"/>
                  </a:lnTo>
                  <a:lnTo>
                    <a:pt x="529373" y="777710"/>
                  </a:lnTo>
                  <a:lnTo>
                    <a:pt x="544562" y="722391"/>
                  </a:lnTo>
                  <a:lnTo>
                    <a:pt x="559624" y="663547"/>
                  </a:lnTo>
                  <a:lnTo>
                    <a:pt x="574602" y="602354"/>
                  </a:lnTo>
                  <a:lnTo>
                    <a:pt x="589534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1A213B46-5EA0-41AD-B292-1C03F27A957C}"/>
                  </a:ext>
                </a:extLst>
              </p:cNvPr>
              <p:cNvSpPr txBox="1"/>
              <p:nvPr/>
            </p:nvSpPr>
            <p:spPr>
              <a:xfrm>
                <a:off x="8848344" y="2209800"/>
                <a:ext cx="2263312" cy="3032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𝒎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1A213B46-5EA0-41AD-B292-1C03F27A95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8344" y="2209800"/>
                <a:ext cx="2263312" cy="303225"/>
              </a:xfrm>
              <a:prstGeom prst="rect">
                <a:avLst/>
              </a:prstGeom>
              <a:blipFill>
                <a:blip r:embed="rId11"/>
                <a:stretch>
                  <a:fillRect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BE2E2940-2CBF-42FA-A787-DCEC52D4162A}"/>
                  </a:ext>
                </a:extLst>
              </p:cNvPr>
              <p:cNvSpPr txBox="1"/>
              <p:nvPr/>
            </p:nvSpPr>
            <p:spPr>
              <a:xfrm>
                <a:off x="8902846" y="3129813"/>
                <a:ext cx="2154308" cy="3032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𝒎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BE2E2940-2CBF-42FA-A787-DCEC52D416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2846" y="3129813"/>
                <a:ext cx="2154308" cy="303225"/>
              </a:xfrm>
              <a:prstGeom prst="rect">
                <a:avLst/>
              </a:prstGeom>
              <a:blipFill>
                <a:blip r:embed="rId12"/>
                <a:stretch>
                  <a:fillRect l="-847" b="-2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85135B04-B01A-4979-B710-611F007A8373}"/>
                  </a:ext>
                </a:extLst>
              </p:cNvPr>
              <p:cNvSpPr txBox="1"/>
              <p:nvPr/>
            </p:nvSpPr>
            <p:spPr>
              <a:xfrm>
                <a:off x="8839200" y="2517166"/>
                <a:ext cx="2798780" cy="3032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𝒖𝒏𝒊𝒕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𝒓𝒂𝒅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/(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𝒔𝒆𝒄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𝑽𝒐𝒍𝒕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85135B04-B01A-4979-B710-611F007A83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9200" y="2517166"/>
                <a:ext cx="2798780" cy="303225"/>
              </a:xfrm>
              <a:prstGeom prst="rect">
                <a:avLst/>
              </a:prstGeom>
              <a:blipFill>
                <a:blip r:embed="rId13"/>
                <a:stretch>
                  <a:fillRect l="-1525" r="-2614" b="-2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D008345E-447A-48C5-8884-6FE180B0B0A5}"/>
                  </a:ext>
                </a:extLst>
              </p:cNvPr>
              <p:cNvSpPr txBox="1"/>
              <p:nvPr/>
            </p:nvSpPr>
            <p:spPr>
              <a:xfrm>
                <a:off x="8839200" y="3431566"/>
                <a:ext cx="2096664" cy="3032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𝒖𝒏𝒊𝒕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𝑯𝒛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𝑽𝒐𝒍𝒕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D008345E-447A-48C5-8884-6FE180B0B0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9200" y="3431566"/>
                <a:ext cx="2096664" cy="303225"/>
              </a:xfrm>
              <a:prstGeom prst="rect">
                <a:avLst/>
              </a:prstGeom>
              <a:blipFill>
                <a:blip r:embed="rId14"/>
                <a:stretch>
                  <a:fillRect r="-2326" b="-2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620D406A-4910-4BE9-A3B6-D8AF768F890F}"/>
                  </a:ext>
                </a:extLst>
              </p:cNvPr>
              <p:cNvSpPr txBox="1"/>
              <p:nvPr/>
            </p:nvSpPr>
            <p:spPr>
              <a:xfrm>
                <a:off x="8915400" y="4119422"/>
                <a:ext cx="3043975" cy="3032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𝝅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𝝅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𝝅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𝒎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620D406A-4910-4BE9-A3B6-D8AF768F8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5400" y="4119422"/>
                <a:ext cx="3043975" cy="303225"/>
              </a:xfrm>
              <a:prstGeom prst="rect">
                <a:avLst/>
              </a:prstGeom>
              <a:blipFill>
                <a:blip r:embed="rId15"/>
                <a:stretch>
                  <a:fillRect l="-401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0C6DBB5B-A5AA-443F-9545-6C735FF18674}"/>
                  </a:ext>
                </a:extLst>
              </p:cNvPr>
              <p:cNvSpPr txBox="1"/>
              <p:nvPr/>
            </p:nvSpPr>
            <p:spPr>
              <a:xfrm>
                <a:off x="8915400" y="4802175"/>
                <a:ext cx="2096664" cy="3032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𝒖𝒏𝒊𝒕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𝑯𝒛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𝑽𝒐𝒍𝒕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0C6DBB5B-A5AA-443F-9545-6C735FF186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5400" y="4802175"/>
                <a:ext cx="2096664" cy="303225"/>
              </a:xfrm>
              <a:prstGeom prst="rect">
                <a:avLst/>
              </a:prstGeom>
              <a:blipFill>
                <a:blip r:embed="rId16"/>
                <a:stretch>
                  <a:fillRect r="-2624" b="-2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5BE8DFD3-6AED-45E5-AE08-64CD059D6E16}"/>
                  </a:ext>
                </a:extLst>
              </p:cNvPr>
              <p:cNvSpPr txBox="1"/>
              <p:nvPr/>
            </p:nvSpPr>
            <p:spPr>
              <a:xfrm>
                <a:off x="8930839" y="4470859"/>
                <a:ext cx="2978251" cy="3032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  +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𝝅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𝒎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5BE8DFD3-6AED-45E5-AE08-64CD059D6E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0839" y="4470859"/>
                <a:ext cx="2978251" cy="303225"/>
              </a:xfrm>
              <a:prstGeom prst="rect">
                <a:avLst/>
              </a:prstGeom>
              <a:blipFill>
                <a:blip r:embed="rId17"/>
                <a:stretch>
                  <a:fillRect l="-613" b="-2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Rectangle 56">
            <a:extLst>
              <a:ext uri="{FF2B5EF4-FFF2-40B4-BE49-F238E27FC236}">
                <a16:creationId xmlns:a16="http://schemas.microsoft.com/office/drawing/2014/main" id="{C767289A-00C9-43F9-8A16-999353DAB713}"/>
              </a:ext>
            </a:extLst>
          </p:cNvPr>
          <p:cNvSpPr/>
          <p:nvPr/>
        </p:nvSpPr>
        <p:spPr>
          <a:xfrm>
            <a:off x="8763000" y="2153070"/>
            <a:ext cx="2874975" cy="7425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C637FE6-03D8-4C0A-A9CC-71CA311FCB88}"/>
              </a:ext>
            </a:extLst>
          </p:cNvPr>
          <p:cNvSpPr/>
          <p:nvPr/>
        </p:nvSpPr>
        <p:spPr>
          <a:xfrm>
            <a:off x="8802992" y="3102202"/>
            <a:ext cx="2874975" cy="7425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E964CAC2-9BB7-407C-8A37-D88CC23010A2}"/>
              </a:ext>
            </a:extLst>
          </p:cNvPr>
          <p:cNvSpPr/>
          <p:nvPr/>
        </p:nvSpPr>
        <p:spPr>
          <a:xfrm>
            <a:off x="8801102" y="4057740"/>
            <a:ext cx="3158273" cy="11238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Square</a:t>
            </a:r>
            <a:r>
              <a:rPr sz="3200" u="sng" spc="-13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spc="-1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Wave</a:t>
            </a:r>
            <a:r>
              <a:rPr sz="3200" u="sng" spc="-114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Frequency</a:t>
            </a:r>
            <a:r>
              <a:rPr sz="3200" u="sng" spc="-12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spc="-1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Modulation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378764" y="740409"/>
            <a:ext cx="6974840" cy="1718945"/>
          </a:xfrm>
          <a:custGeom>
            <a:avLst/>
            <a:gdLst/>
            <a:ahLst/>
            <a:cxnLst/>
            <a:rect l="l" t="t" r="r" b="b"/>
            <a:pathLst>
              <a:path w="6974840" h="1718945">
                <a:moveTo>
                  <a:pt x="6974535" y="963041"/>
                </a:moveTo>
                <a:lnTo>
                  <a:pt x="6936435" y="943991"/>
                </a:lnTo>
                <a:lnTo>
                  <a:pt x="6860235" y="905891"/>
                </a:lnTo>
                <a:lnTo>
                  <a:pt x="6860235" y="943991"/>
                </a:lnTo>
                <a:lnTo>
                  <a:pt x="421665" y="943991"/>
                </a:lnTo>
                <a:lnTo>
                  <a:pt x="420827" y="114427"/>
                </a:lnTo>
                <a:lnTo>
                  <a:pt x="458990" y="114427"/>
                </a:lnTo>
                <a:lnTo>
                  <a:pt x="449440" y="95377"/>
                </a:lnTo>
                <a:lnTo>
                  <a:pt x="449376" y="95250"/>
                </a:lnTo>
                <a:lnTo>
                  <a:pt x="401662" y="0"/>
                </a:lnTo>
                <a:lnTo>
                  <a:pt x="344627" y="114427"/>
                </a:lnTo>
                <a:lnTo>
                  <a:pt x="382727" y="114427"/>
                </a:lnTo>
                <a:lnTo>
                  <a:pt x="383565" y="943991"/>
                </a:lnTo>
                <a:lnTo>
                  <a:pt x="0" y="943991"/>
                </a:lnTo>
                <a:lnTo>
                  <a:pt x="0" y="982091"/>
                </a:lnTo>
                <a:lnTo>
                  <a:pt x="383603" y="982091"/>
                </a:lnTo>
                <a:lnTo>
                  <a:pt x="384352" y="1718437"/>
                </a:lnTo>
                <a:lnTo>
                  <a:pt x="422452" y="1718437"/>
                </a:lnTo>
                <a:lnTo>
                  <a:pt x="421703" y="982091"/>
                </a:lnTo>
                <a:lnTo>
                  <a:pt x="6860235" y="982091"/>
                </a:lnTo>
                <a:lnTo>
                  <a:pt x="6860235" y="1020191"/>
                </a:lnTo>
                <a:lnTo>
                  <a:pt x="6936435" y="982091"/>
                </a:lnTo>
                <a:lnTo>
                  <a:pt x="6974535" y="963041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124447" y="1719198"/>
            <a:ext cx="1139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Time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</a:t>
            </a:r>
            <a:r>
              <a:rPr sz="1800" b="1" spc="-10" dirty="0">
                <a:latin typeface="Calibri"/>
                <a:cs typeface="Calibri"/>
              </a:rPr>
              <a:t> (Sec)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10450" y="1634363"/>
            <a:ext cx="139966" cy="133096"/>
            <a:chOff x="710450" y="1634363"/>
            <a:chExt cx="139966" cy="133096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3625" y="1637538"/>
              <a:ext cx="133616" cy="12674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0450" y="1634363"/>
              <a:ext cx="139966" cy="133096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914400" y="719073"/>
            <a:ext cx="7836913" cy="2970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789805" algn="l"/>
              </a:tabLst>
            </a:pPr>
            <a:r>
              <a:rPr sz="1800" b="1" spc="-10" dirty="0">
                <a:latin typeface="Calibri"/>
                <a:cs typeface="Calibri"/>
              </a:rPr>
              <a:t>Amplitude</a:t>
            </a:r>
            <a:r>
              <a:rPr sz="1800" b="1" dirty="0">
                <a:latin typeface="Calibri"/>
                <a:cs typeface="Calibri"/>
              </a:rPr>
              <a:t>	</a:t>
            </a:r>
            <a:r>
              <a:rPr sz="1800" b="1" dirty="0">
                <a:solidFill>
                  <a:srgbClr val="7E5F00"/>
                </a:solidFill>
                <a:latin typeface="Calibri"/>
                <a:cs typeface="Calibri"/>
              </a:rPr>
              <a:t>Message</a:t>
            </a:r>
            <a:r>
              <a:rPr sz="1800" b="1" spc="-35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7E5F00"/>
                </a:solidFill>
                <a:latin typeface="Calibri"/>
                <a:cs typeface="Calibri"/>
              </a:rPr>
              <a:t>Signal</a:t>
            </a:r>
            <a:r>
              <a:rPr sz="1800" b="1" spc="-25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lang="en-US" sz="1800" b="1" spc="-25" dirty="0">
                <a:solidFill>
                  <a:srgbClr val="7E5F00"/>
                </a:solidFill>
                <a:latin typeface="Calibri"/>
                <a:cs typeface="Calibri"/>
              </a:rPr>
              <a:t>m</a:t>
            </a:r>
            <a:r>
              <a:rPr lang="en-US" b="1" spc="330" dirty="0">
                <a:solidFill>
                  <a:srgbClr val="7E5F00"/>
                </a:solidFill>
                <a:latin typeface="Cambria Math"/>
                <a:cs typeface="Calibri"/>
              </a:rPr>
              <a:t>(t)</a:t>
            </a:r>
            <a:endParaRPr sz="1800" dirty="0">
              <a:latin typeface="Cambria Math"/>
              <a:cs typeface="Cambria Math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78764" y="1113218"/>
            <a:ext cx="6974840" cy="3156585"/>
            <a:chOff x="378764" y="1113218"/>
            <a:chExt cx="6974840" cy="3156585"/>
          </a:xfrm>
        </p:grpSpPr>
        <p:sp>
          <p:nvSpPr>
            <p:cNvPr id="11" name="object 11"/>
            <p:cNvSpPr/>
            <p:nvPr/>
          </p:nvSpPr>
          <p:spPr>
            <a:xfrm>
              <a:off x="752830" y="1127505"/>
              <a:ext cx="1324610" cy="5715"/>
            </a:xfrm>
            <a:custGeom>
              <a:avLst/>
              <a:gdLst/>
              <a:ahLst/>
              <a:cxnLst/>
              <a:rect l="l" t="t" r="r" b="b"/>
              <a:pathLst>
                <a:path w="1324610" h="5715">
                  <a:moveTo>
                    <a:pt x="0" y="0"/>
                  </a:moveTo>
                  <a:lnTo>
                    <a:pt x="1324381" y="5461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78764" y="2550794"/>
              <a:ext cx="6974840" cy="1718945"/>
            </a:xfrm>
            <a:custGeom>
              <a:avLst/>
              <a:gdLst/>
              <a:ahLst/>
              <a:cxnLst/>
              <a:rect l="l" t="t" r="r" b="b"/>
              <a:pathLst>
                <a:path w="6974840" h="1718945">
                  <a:moveTo>
                    <a:pt x="6974535" y="963041"/>
                  </a:moveTo>
                  <a:lnTo>
                    <a:pt x="6936435" y="943991"/>
                  </a:lnTo>
                  <a:lnTo>
                    <a:pt x="6860235" y="905891"/>
                  </a:lnTo>
                  <a:lnTo>
                    <a:pt x="6860235" y="943991"/>
                  </a:lnTo>
                  <a:lnTo>
                    <a:pt x="421665" y="943991"/>
                  </a:lnTo>
                  <a:lnTo>
                    <a:pt x="420827" y="114300"/>
                  </a:lnTo>
                  <a:lnTo>
                    <a:pt x="458927" y="114300"/>
                  </a:lnTo>
                  <a:lnTo>
                    <a:pt x="449376" y="95250"/>
                  </a:lnTo>
                  <a:lnTo>
                    <a:pt x="401662" y="0"/>
                  </a:lnTo>
                  <a:lnTo>
                    <a:pt x="344627" y="114300"/>
                  </a:lnTo>
                  <a:lnTo>
                    <a:pt x="382727" y="114300"/>
                  </a:lnTo>
                  <a:lnTo>
                    <a:pt x="383565" y="943991"/>
                  </a:lnTo>
                  <a:lnTo>
                    <a:pt x="0" y="943991"/>
                  </a:lnTo>
                  <a:lnTo>
                    <a:pt x="0" y="982091"/>
                  </a:lnTo>
                  <a:lnTo>
                    <a:pt x="383603" y="982091"/>
                  </a:lnTo>
                  <a:lnTo>
                    <a:pt x="384352" y="1718437"/>
                  </a:lnTo>
                  <a:lnTo>
                    <a:pt x="422452" y="1718449"/>
                  </a:lnTo>
                  <a:lnTo>
                    <a:pt x="421703" y="982091"/>
                  </a:lnTo>
                  <a:lnTo>
                    <a:pt x="6860235" y="982091"/>
                  </a:lnTo>
                  <a:lnTo>
                    <a:pt x="6860235" y="1020191"/>
                  </a:lnTo>
                  <a:lnTo>
                    <a:pt x="6936435" y="982091"/>
                  </a:lnTo>
                  <a:lnTo>
                    <a:pt x="6974535" y="963041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124447" y="3529965"/>
            <a:ext cx="1139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Time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</a:t>
            </a:r>
            <a:r>
              <a:rPr sz="1800" b="1" spc="-10" dirty="0">
                <a:latin typeface="Calibri"/>
                <a:cs typeface="Calibri"/>
              </a:rPr>
              <a:t> (Sec)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26083" y="2528442"/>
            <a:ext cx="10261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Amplitude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10450" y="2539110"/>
            <a:ext cx="6740525" cy="1038860"/>
            <a:chOff x="710450" y="2539110"/>
            <a:chExt cx="6740525" cy="1038860"/>
          </a:xfrm>
        </p:grpSpPr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3625" y="3447795"/>
              <a:ext cx="133616" cy="12687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0450" y="3444620"/>
              <a:ext cx="139966" cy="13322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14615" y="2539110"/>
              <a:ext cx="236093" cy="211836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5748273" y="2469007"/>
            <a:ext cx="16414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7E5F00"/>
                </a:solidFill>
                <a:latin typeface="Calibri"/>
                <a:cs typeface="Calibri"/>
              </a:rPr>
              <a:t>Carrier</a:t>
            </a:r>
            <a:r>
              <a:rPr sz="1800" b="1" spc="-30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7E5F00"/>
                </a:solidFill>
                <a:latin typeface="Calibri"/>
                <a:cs typeface="Calibri"/>
              </a:rPr>
              <a:t>Signal</a:t>
            </a:r>
            <a:r>
              <a:rPr sz="1800" b="1" spc="-30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lang="en-US" sz="1800" b="1" spc="-30" dirty="0">
                <a:solidFill>
                  <a:srgbClr val="7E5F00"/>
                </a:solidFill>
                <a:latin typeface="Calibri"/>
                <a:cs typeface="Calibri"/>
              </a:rPr>
              <a:t>c</a:t>
            </a:r>
            <a:r>
              <a:rPr sz="1800" spc="350" dirty="0">
                <a:solidFill>
                  <a:srgbClr val="7E5F00"/>
                </a:solidFill>
                <a:latin typeface="Cambria Math"/>
                <a:cs typeface="Cambria Math"/>
              </a:rPr>
              <a:t> </a:t>
            </a:r>
            <a:r>
              <a:rPr sz="1800" spc="-60" dirty="0">
                <a:solidFill>
                  <a:srgbClr val="7E5F00"/>
                </a:solidFill>
                <a:latin typeface="Cambria Math"/>
                <a:cs typeface="Cambria Math"/>
              </a:rPr>
              <a:t>𝐭</a:t>
            </a:r>
            <a:endParaRPr sz="1800" dirty="0">
              <a:latin typeface="Cambria Math"/>
              <a:cs typeface="Cambria Math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70902" y="2967689"/>
            <a:ext cx="5695315" cy="1009650"/>
            <a:chOff x="770902" y="2967689"/>
            <a:chExt cx="5695315" cy="1009650"/>
          </a:xfrm>
        </p:grpSpPr>
        <p:sp>
          <p:nvSpPr>
            <p:cNvPr id="21" name="object 21"/>
            <p:cNvSpPr/>
            <p:nvPr/>
          </p:nvSpPr>
          <p:spPr>
            <a:xfrm>
              <a:off x="805827" y="2981977"/>
              <a:ext cx="400050" cy="970280"/>
            </a:xfrm>
            <a:custGeom>
              <a:avLst/>
              <a:gdLst/>
              <a:ahLst/>
              <a:cxnLst/>
              <a:rect l="l" t="t" r="r" b="b"/>
              <a:pathLst>
                <a:path w="400050" h="970279">
                  <a:moveTo>
                    <a:pt x="0" y="504172"/>
                  </a:moveTo>
                  <a:lnTo>
                    <a:pt x="7382" y="438806"/>
                  </a:lnTo>
                  <a:lnTo>
                    <a:pt x="14800" y="374422"/>
                  </a:lnTo>
                  <a:lnTo>
                    <a:pt x="22289" y="312001"/>
                  </a:lnTo>
                  <a:lnTo>
                    <a:pt x="29885" y="252521"/>
                  </a:lnTo>
                  <a:lnTo>
                    <a:pt x="37624" y="196960"/>
                  </a:lnTo>
                  <a:lnTo>
                    <a:pt x="45542" y="146297"/>
                  </a:lnTo>
                  <a:lnTo>
                    <a:pt x="53674" y="101512"/>
                  </a:lnTo>
                  <a:lnTo>
                    <a:pt x="62056" y="63583"/>
                  </a:lnTo>
                  <a:lnTo>
                    <a:pt x="79716" y="12207"/>
                  </a:lnTo>
                  <a:lnTo>
                    <a:pt x="98807" y="0"/>
                  </a:lnTo>
                  <a:lnTo>
                    <a:pt x="108978" y="11031"/>
                  </a:lnTo>
                  <a:lnTo>
                    <a:pt x="123920" y="56383"/>
                  </a:lnTo>
                  <a:lnTo>
                    <a:pt x="140081" y="138771"/>
                  </a:lnTo>
                  <a:lnTo>
                    <a:pt x="148527" y="190804"/>
                  </a:lnTo>
                  <a:lnTo>
                    <a:pt x="157167" y="248437"/>
                  </a:lnTo>
                  <a:lnTo>
                    <a:pt x="165965" y="310450"/>
                  </a:lnTo>
                  <a:lnTo>
                    <a:pt x="174883" y="375625"/>
                  </a:lnTo>
                  <a:lnTo>
                    <a:pt x="183885" y="442740"/>
                  </a:lnTo>
                  <a:lnTo>
                    <a:pt x="192933" y="510578"/>
                  </a:lnTo>
                  <a:lnTo>
                    <a:pt x="201992" y="577917"/>
                  </a:lnTo>
                  <a:lnTo>
                    <a:pt x="211024" y="643539"/>
                  </a:lnTo>
                  <a:lnTo>
                    <a:pt x="219992" y="706224"/>
                  </a:lnTo>
                  <a:lnTo>
                    <a:pt x="228859" y="764752"/>
                  </a:lnTo>
                  <a:lnTo>
                    <a:pt x="237589" y="817904"/>
                  </a:lnTo>
                  <a:lnTo>
                    <a:pt x="246144" y="864459"/>
                  </a:lnTo>
                  <a:lnTo>
                    <a:pt x="254488" y="903200"/>
                  </a:lnTo>
                  <a:lnTo>
                    <a:pt x="270395" y="952355"/>
                  </a:lnTo>
                  <a:lnTo>
                    <a:pt x="294017" y="969796"/>
                  </a:lnTo>
                  <a:lnTo>
                    <a:pt x="305398" y="960307"/>
                  </a:lnTo>
                  <a:lnTo>
                    <a:pt x="327440" y="910780"/>
                  </a:lnTo>
                  <a:lnTo>
                    <a:pt x="338156" y="873091"/>
                  </a:lnTo>
                  <a:lnTo>
                    <a:pt x="348706" y="828352"/>
                  </a:lnTo>
                  <a:lnTo>
                    <a:pt x="359117" y="777735"/>
                  </a:lnTo>
                  <a:lnTo>
                    <a:pt x="369418" y="722416"/>
                  </a:lnTo>
                  <a:lnTo>
                    <a:pt x="379636" y="663568"/>
                  </a:lnTo>
                  <a:lnTo>
                    <a:pt x="389799" y="602367"/>
                  </a:lnTo>
                  <a:lnTo>
                    <a:pt x="399935" y="539986"/>
                  </a:lnTo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205763" y="2981977"/>
              <a:ext cx="400050" cy="970280"/>
            </a:xfrm>
            <a:custGeom>
              <a:avLst/>
              <a:gdLst/>
              <a:ahLst/>
              <a:cxnLst/>
              <a:rect l="l" t="t" r="r" b="b"/>
              <a:pathLst>
                <a:path w="400050" h="970279">
                  <a:moveTo>
                    <a:pt x="0" y="504172"/>
                  </a:moveTo>
                  <a:lnTo>
                    <a:pt x="7382" y="438806"/>
                  </a:lnTo>
                  <a:lnTo>
                    <a:pt x="14800" y="374422"/>
                  </a:lnTo>
                  <a:lnTo>
                    <a:pt x="22288" y="312001"/>
                  </a:lnTo>
                  <a:lnTo>
                    <a:pt x="29884" y="252521"/>
                  </a:lnTo>
                  <a:lnTo>
                    <a:pt x="37622" y="196960"/>
                  </a:lnTo>
                  <a:lnTo>
                    <a:pt x="45538" y="146297"/>
                  </a:lnTo>
                  <a:lnTo>
                    <a:pt x="53668" y="101512"/>
                  </a:lnTo>
                  <a:lnTo>
                    <a:pt x="62048" y="63583"/>
                  </a:lnTo>
                  <a:lnTo>
                    <a:pt x="79698" y="12207"/>
                  </a:lnTo>
                  <a:lnTo>
                    <a:pt x="98777" y="0"/>
                  </a:lnTo>
                  <a:lnTo>
                    <a:pt x="108940" y="11031"/>
                  </a:lnTo>
                  <a:lnTo>
                    <a:pt x="123884" y="56383"/>
                  </a:lnTo>
                  <a:lnTo>
                    <a:pt x="140045" y="138771"/>
                  </a:lnTo>
                  <a:lnTo>
                    <a:pt x="148490" y="190804"/>
                  </a:lnTo>
                  <a:lnTo>
                    <a:pt x="157129" y="248437"/>
                  </a:lnTo>
                  <a:lnTo>
                    <a:pt x="165926" y="310450"/>
                  </a:lnTo>
                  <a:lnTo>
                    <a:pt x="174842" y="375625"/>
                  </a:lnTo>
                  <a:lnTo>
                    <a:pt x="183843" y="442740"/>
                  </a:lnTo>
                  <a:lnTo>
                    <a:pt x="192890" y="510578"/>
                  </a:lnTo>
                  <a:lnTo>
                    <a:pt x="201947" y="577917"/>
                  </a:lnTo>
                  <a:lnTo>
                    <a:pt x="210978" y="643539"/>
                  </a:lnTo>
                  <a:lnTo>
                    <a:pt x="219945" y="706224"/>
                  </a:lnTo>
                  <a:lnTo>
                    <a:pt x="228812" y="764752"/>
                  </a:lnTo>
                  <a:lnTo>
                    <a:pt x="237542" y="817904"/>
                  </a:lnTo>
                  <a:lnTo>
                    <a:pt x="246098" y="864459"/>
                  </a:lnTo>
                  <a:lnTo>
                    <a:pt x="254444" y="903200"/>
                  </a:lnTo>
                  <a:lnTo>
                    <a:pt x="270357" y="952355"/>
                  </a:lnTo>
                  <a:lnTo>
                    <a:pt x="293984" y="969796"/>
                  </a:lnTo>
                  <a:lnTo>
                    <a:pt x="305367" y="960307"/>
                  </a:lnTo>
                  <a:lnTo>
                    <a:pt x="327411" y="910780"/>
                  </a:lnTo>
                  <a:lnTo>
                    <a:pt x="338127" y="873091"/>
                  </a:lnTo>
                  <a:lnTo>
                    <a:pt x="348677" y="828352"/>
                  </a:lnTo>
                  <a:lnTo>
                    <a:pt x="359088" y="777735"/>
                  </a:lnTo>
                  <a:lnTo>
                    <a:pt x="369387" y="722416"/>
                  </a:lnTo>
                  <a:lnTo>
                    <a:pt x="379604" y="663568"/>
                  </a:lnTo>
                  <a:lnTo>
                    <a:pt x="389764" y="602367"/>
                  </a:lnTo>
                  <a:lnTo>
                    <a:pt x="399897" y="539986"/>
                  </a:lnTo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12900" y="2981977"/>
              <a:ext cx="400050" cy="970280"/>
            </a:xfrm>
            <a:custGeom>
              <a:avLst/>
              <a:gdLst/>
              <a:ahLst/>
              <a:cxnLst/>
              <a:rect l="l" t="t" r="r" b="b"/>
              <a:pathLst>
                <a:path w="400050" h="970279">
                  <a:moveTo>
                    <a:pt x="0" y="504172"/>
                  </a:moveTo>
                  <a:lnTo>
                    <a:pt x="7389" y="438806"/>
                  </a:lnTo>
                  <a:lnTo>
                    <a:pt x="14810" y="374422"/>
                  </a:lnTo>
                  <a:lnTo>
                    <a:pt x="22300" y="312001"/>
                  </a:lnTo>
                  <a:lnTo>
                    <a:pt x="29894" y="252521"/>
                  </a:lnTo>
                  <a:lnTo>
                    <a:pt x="37630" y="196960"/>
                  </a:lnTo>
                  <a:lnTo>
                    <a:pt x="45543" y="146297"/>
                  </a:lnTo>
                  <a:lnTo>
                    <a:pt x="53670" y="101512"/>
                  </a:lnTo>
                  <a:lnTo>
                    <a:pt x="62047" y="63583"/>
                  </a:lnTo>
                  <a:lnTo>
                    <a:pt x="79699" y="12207"/>
                  </a:lnTo>
                  <a:lnTo>
                    <a:pt x="98790" y="0"/>
                  </a:lnTo>
                  <a:lnTo>
                    <a:pt x="108966" y="11031"/>
                  </a:lnTo>
                  <a:lnTo>
                    <a:pt x="123910" y="56383"/>
                  </a:lnTo>
                  <a:lnTo>
                    <a:pt x="140071" y="138771"/>
                  </a:lnTo>
                  <a:lnTo>
                    <a:pt x="148516" y="190804"/>
                  </a:lnTo>
                  <a:lnTo>
                    <a:pt x="157155" y="248437"/>
                  </a:lnTo>
                  <a:lnTo>
                    <a:pt x="165951" y="310450"/>
                  </a:lnTo>
                  <a:lnTo>
                    <a:pt x="174868" y="375625"/>
                  </a:lnTo>
                  <a:lnTo>
                    <a:pt x="183868" y="442740"/>
                  </a:lnTo>
                  <a:lnTo>
                    <a:pt x="192915" y="510578"/>
                  </a:lnTo>
                  <a:lnTo>
                    <a:pt x="201973" y="577917"/>
                  </a:lnTo>
                  <a:lnTo>
                    <a:pt x="211003" y="643539"/>
                  </a:lnTo>
                  <a:lnTo>
                    <a:pt x="219971" y="706224"/>
                  </a:lnTo>
                  <a:lnTo>
                    <a:pt x="228838" y="764752"/>
                  </a:lnTo>
                  <a:lnTo>
                    <a:pt x="237568" y="817904"/>
                  </a:lnTo>
                  <a:lnTo>
                    <a:pt x="246124" y="864459"/>
                  </a:lnTo>
                  <a:lnTo>
                    <a:pt x="254470" y="903200"/>
                  </a:lnTo>
                  <a:lnTo>
                    <a:pt x="270383" y="952355"/>
                  </a:lnTo>
                  <a:lnTo>
                    <a:pt x="294010" y="969796"/>
                  </a:lnTo>
                  <a:lnTo>
                    <a:pt x="305393" y="960307"/>
                  </a:lnTo>
                  <a:lnTo>
                    <a:pt x="327437" y="910780"/>
                  </a:lnTo>
                  <a:lnTo>
                    <a:pt x="338153" y="873091"/>
                  </a:lnTo>
                  <a:lnTo>
                    <a:pt x="348702" y="828352"/>
                  </a:lnTo>
                  <a:lnTo>
                    <a:pt x="359113" y="777735"/>
                  </a:lnTo>
                  <a:lnTo>
                    <a:pt x="369413" y="722416"/>
                  </a:lnTo>
                  <a:lnTo>
                    <a:pt x="379629" y="663568"/>
                  </a:lnTo>
                  <a:lnTo>
                    <a:pt x="389790" y="602367"/>
                  </a:lnTo>
                  <a:lnTo>
                    <a:pt x="399923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012823" y="2981977"/>
              <a:ext cx="400050" cy="970280"/>
            </a:xfrm>
            <a:custGeom>
              <a:avLst/>
              <a:gdLst/>
              <a:ahLst/>
              <a:cxnLst/>
              <a:rect l="l" t="t" r="r" b="b"/>
              <a:pathLst>
                <a:path w="400050" h="970279">
                  <a:moveTo>
                    <a:pt x="0" y="504172"/>
                  </a:moveTo>
                  <a:lnTo>
                    <a:pt x="7391" y="438806"/>
                  </a:lnTo>
                  <a:lnTo>
                    <a:pt x="14818" y="374422"/>
                  </a:lnTo>
                  <a:lnTo>
                    <a:pt x="22315" y="312001"/>
                  </a:lnTo>
                  <a:lnTo>
                    <a:pt x="29919" y="252521"/>
                  </a:lnTo>
                  <a:lnTo>
                    <a:pt x="37664" y="196960"/>
                  </a:lnTo>
                  <a:lnTo>
                    <a:pt x="45586" y="146297"/>
                  </a:lnTo>
                  <a:lnTo>
                    <a:pt x="53721" y="101512"/>
                  </a:lnTo>
                  <a:lnTo>
                    <a:pt x="62103" y="63583"/>
                  </a:lnTo>
                  <a:lnTo>
                    <a:pt x="79751" y="12207"/>
                  </a:lnTo>
                  <a:lnTo>
                    <a:pt x="98815" y="0"/>
                  </a:lnTo>
                  <a:lnTo>
                    <a:pt x="108966" y="11031"/>
                  </a:lnTo>
                  <a:lnTo>
                    <a:pt x="123913" y="56383"/>
                  </a:lnTo>
                  <a:lnTo>
                    <a:pt x="140084" y="138771"/>
                  </a:lnTo>
                  <a:lnTo>
                    <a:pt x="148535" y="190804"/>
                  </a:lnTo>
                  <a:lnTo>
                    <a:pt x="157181" y="248437"/>
                  </a:lnTo>
                  <a:lnTo>
                    <a:pt x="165984" y="310450"/>
                  </a:lnTo>
                  <a:lnTo>
                    <a:pt x="174907" y="375625"/>
                  </a:lnTo>
                  <a:lnTo>
                    <a:pt x="183913" y="442740"/>
                  </a:lnTo>
                  <a:lnTo>
                    <a:pt x="192965" y="510578"/>
                  </a:lnTo>
                  <a:lnTo>
                    <a:pt x="202026" y="577917"/>
                  </a:lnTo>
                  <a:lnTo>
                    <a:pt x="211059" y="643539"/>
                  </a:lnTo>
                  <a:lnTo>
                    <a:pt x="220027" y="706224"/>
                  </a:lnTo>
                  <a:lnTo>
                    <a:pt x="228892" y="764752"/>
                  </a:lnTo>
                  <a:lnTo>
                    <a:pt x="237618" y="817904"/>
                  </a:lnTo>
                  <a:lnTo>
                    <a:pt x="246167" y="864459"/>
                  </a:lnTo>
                  <a:lnTo>
                    <a:pt x="254502" y="903200"/>
                  </a:lnTo>
                  <a:lnTo>
                    <a:pt x="270383" y="952355"/>
                  </a:lnTo>
                  <a:lnTo>
                    <a:pt x="294010" y="969796"/>
                  </a:lnTo>
                  <a:lnTo>
                    <a:pt x="305393" y="960307"/>
                  </a:lnTo>
                  <a:lnTo>
                    <a:pt x="327437" y="910780"/>
                  </a:lnTo>
                  <a:lnTo>
                    <a:pt x="338153" y="873091"/>
                  </a:lnTo>
                  <a:lnTo>
                    <a:pt x="348702" y="828352"/>
                  </a:lnTo>
                  <a:lnTo>
                    <a:pt x="359113" y="777735"/>
                  </a:lnTo>
                  <a:lnTo>
                    <a:pt x="369413" y="722416"/>
                  </a:lnTo>
                  <a:lnTo>
                    <a:pt x="379629" y="663568"/>
                  </a:lnTo>
                  <a:lnTo>
                    <a:pt x="389790" y="602367"/>
                  </a:lnTo>
                  <a:lnTo>
                    <a:pt x="399923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425446" y="2988327"/>
              <a:ext cx="400050" cy="970280"/>
            </a:xfrm>
            <a:custGeom>
              <a:avLst/>
              <a:gdLst/>
              <a:ahLst/>
              <a:cxnLst/>
              <a:rect l="l" t="t" r="r" b="b"/>
              <a:pathLst>
                <a:path w="400050" h="970279">
                  <a:moveTo>
                    <a:pt x="0" y="504172"/>
                  </a:moveTo>
                  <a:lnTo>
                    <a:pt x="7391" y="438806"/>
                  </a:lnTo>
                  <a:lnTo>
                    <a:pt x="14818" y="374422"/>
                  </a:lnTo>
                  <a:lnTo>
                    <a:pt x="22317" y="312001"/>
                  </a:lnTo>
                  <a:lnTo>
                    <a:pt x="29923" y="252521"/>
                  </a:lnTo>
                  <a:lnTo>
                    <a:pt x="37671" y="196960"/>
                  </a:lnTo>
                  <a:lnTo>
                    <a:pt x="45599" y="146297"/>
                  </a:lnTo>
                  <a:lnTo>
                    <a:pt x="53741" y="101512"/>
                  </a:lnTo>
                  <a:lnTo>
                    <a:pt x="62132" y="63583"/>
                  </a:lnTo>
                  <a:lnTo>
                    <a:pt x="79809" y="12207"/>
                  </a:lnTo>
                  <a:lnTo>
                    <a:pt x="98915" y="0"/>
                  </a:lnTo>
                  <a:lnTo>
                    <a:pt x="109093" y="11031"/>
                  </a:lnTo>
                  <a:lnTo>
                    <a:pt x="124004" y="56383"/>
                  </a:lnTo>
                  <a:lnTo>
                    <a:pt x="140148" y="138771"/>
                  </a:lnTo>
                  <a:lnTo>
                    <a:pt x="148588" y="190804"/>
                  </a:lnTo>
                  <a:lnTo>
                    <a:pt x="157225" y="248437"/>
                  </a:lnTo>
                  <a:lnTo>
                    <a:pt x="166022" y="310450"/>
                  </a:lnTo>
                  <a:lnTo>
                    <a:pt x="174941" y="375625"/>
                  </a:lnTo>
                  <a:lnTo>
                    <a:pt x="183945" y="442740"/>
                  </a:lnTo>
                  <a:lnTo>
                    <a:pt x="192997" y="510578"/>
                  </a:lnTo>
                  <a:lnTo>
                    <a:pt x="202061" y="577917"/>
                  </a:lnTo>
                  <a:lnTo>
                    <a:pt x="211098" y="643539"/>
                  </a:lnTo>
                  <a:lnTo>
                    <a:pt x="220072" y="706224"/>
                  </a:lnTo>
                  <a:lnTo>
                    <a:pt x="228945" y="764752"/>
                  </a:lnTo>
                  <a:lnTo>
                    <a:pt x="237681" y="817904"/>
                  </a:lnTo>
                  <a:lnTo>
                    <a:pt x="246243" y="864459"/>
                  </a:lnTo>
                  <a:lnTo>
                    <a:pt x="254593" y="903200"/>
                  </a:lnTo>
                  <a:lnTo>
                    <a:pt x="270510" y="952355"/>
                  </a:lnTo>
                  <a:lnTo>
                    <a:pt x="294084" y="969796"/>
                  </a:lnTo>
                  <a:lnTo>
                    <a:pt x="305448" y="960307"/>
                  </a:lnTo>
                  <a:lnTo>
                    <a:pt x="327471" y="910780"/>
                  </a:lnTo>
                  <a:lnTo>
                    <a:pt x="338185" y="873091"/>
                  </a:lnTo>
                  <a:lnTo>
                    <a:pt x="348737" y="828352"/>
                  </a:lnTo>
                  <a:lnTo>
                    <a:pt x="359156" y="777735"/>
                  </a:lnTo>
                  <a:lnTo>
                    <a:pt x="369468" y="722416"/>
                  </a:lnTo>
                  <a:lnTo>
                    <a:pt x="379703" y="663568"/>
                  </a:lnTo>
                  <a:lnTo>
                    <a:pt x="389888" y="602367"/>
                  </a:lnTo>
                  <a:lnTo>
                    <a:pt x="400050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825496" y="2988327"/>
              <a:ext cx="400050" cy="970280"/>
            </a:xfrm>
            <a:custGeom>
              <a:avLst/>
              <a:gdLst/>
              <a:ahLst/>
              <a:cxnLst/>
              <a:rect l="l" t="t" r="r" b="b"/>
              <a:pathLst>
                <a:path w="400050" h="970279">
                  <a:moveTo>
                    <a:pt x="0" y="504172"/>
                  </a:moveTo>
                  <a:lnTo>
                    <a:pt x="7364" y="438806"/>
                  </a:lnTo>
                  <a:lnTo>
                    <a:pt x="14768" y="374422"/>
                  </a:lnTo>
                  <a:lnTo>
                    <a:pt x="22248" y="312001"/>
                  </a:lnTo>
                  <a:lnTo>
                    <a:pt x="29838" y="252521"/>
                  </a:lnTo>
                  <a:lnTo>
                    <a:pt x="37574" y="196960"/>
                  </a:lnTo>
                  <a:lnTo>
                    <a:pt x="45492" y="146297"/>
                  </a:lnTo>
                  <a:lnTo>
                    <a:pt x="53626" y="101512"/>
                  </a:lnTo>
                  <a:lnTo>
                    <a:pt x="62012" y="63583"/>
                  </a:lnTo>
                  <a:lnTo>
                    <a:pt x="79683" y="12207"/>
                  </a:lnTo>
                  <a:lnTo>
                    <a:pt x="98788" y="0"/>
                  </a:lnTo>
                  <a:lnTo>
                    <a:pt x="108966" y="11031"/>
                  </a:lnTo>
                  <a:lnTo>
                    <a:pt x="123910" y="56383"/>
                  </a:lnTo>
                  <a:lnTo>
                    <a:pt x="140071" y="138771"/>
                  </a:lnTo>
                  <a:lnTo>
                    <a:pt x="148516" y="190804"/>
                  </a:lnTo>
                  <a:lnTo>
                    <a:pt x="157155" y="248437"/>
                  </a:lnTo>
                  <a:lnTo>
                    <a:pt x="165951" y="310450"/>
                  </a:lnTo>
                  <a:lnTo>
                    <a:pt x="174868" y="375625"/>
                  </a:lnTo>
                  <a:lnTo>
                    <a:pt x="183868" y="442740"/>
                  </a:lnTo>
                  <a:lnTo>
                    <a:pt x="192915" y="510578"/>
                  </a:lnTo>
                  <a:lnTo>
                    <a:pt x="201973" y="577917"/>
                  </a:lnTo>
                  <a:lnTo>
                    <a:pt x="211003" y="643539"/>
                  </a:lnTo>
                  <a:lnTo>
                    <a:pt x="219971" y="706224"/>
                  </a:lnTo>
                  <a:lnTo>
                    <a:pt x="228838" y="764752"/>
                  </a:lnTo>
                  <a:lnTo>
                    <a:pt x="237568" y="817904"/>
                  </a:lnTo>
                  <a:lnTo>
                    <a:pt x="246124" y="864459"/>
                  </a:lnTo>
                  <a:lnTo>
                    <a:pt x="254470" y="903200"/>
                  </a:lnTo>
                  <a:lnTo>
                    <a:pt x="270383" y="952355"/>
                  </a:lnTo>
                  <a:lnTo>
                    <a:pt x="293966" y="969796"/>
                  </a:lnTo>
                  <a:lnTo>
                    <a:pt x="305339" y="960307"/>
                  </a:lnTo>
                  <a:lnTo>
                    <a:pt x="327383" y="910780"/>
                  </a:lnTo>
                  <a:lnTo>
                    <a:pt x="338105" y="873091"/>
                  </a:lnTo>
                  <a:lnTo>
                    <a:pt x="348664" y="828352"/>
                  </a:lnTo>
                  <a:lnTo>
                    <a:pt x="359085" y="777735"/>
                  </a:lnTo>
                  <a:lnTo>
                    <a:pt x="369395" y="722416"/>
                  </a:lnTo>
                  <a:lnTo>
                    <a:pt x="379620" y="663568"/>
                  </a:lnTo>
                  <a:lnTo>
                    <a:pt x="389787" y="602367"/>
                  </a:lnTo>
                  <a:lnTo>
                    <a:pt x="399923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232658" y="2988327"/>
              <a:ext cx="400050" cy="970280"/>
            </a:xfrm>
            <a:custGeom>
              <a:avLst/>
              <a:gdLst/>
              <a:ahLst/>
              <a:cxnLst/>
              <a:rect l="l" t="t" r="r" b="b"/>
              <a:pathLst>
                <a:path w="400050" h="970279">
                  <a:moveTo>
                    <a:pt x="0" y="504172"/>
                  </a:moveTo>
                  <a:lnTo>
                    <a:pt x="7364" y="438806"/>
                  </a:lnTo>
                  <a:lnTo>
                    <a:pt x="14768" y="374422"/>
                  </a:lnTo>
                  <a:lnTo>
                    <a:pt x="22248" y="312001"/>
                  </a:lnTo>
                  <a:lnTo>
                    <a:pt x="29838" y="252521"/>
                  </a:lnTo>
                  <a:lnTo>
                    <a:pt x="37574" y="196960"/>
                  </a:lnTo>
                  <a:lnTo>
                    <a:pt x="45492" y="146297"/>
                  </a:lnTo>
                  <a:lnTo>
                    <a:pt x="53626" y="101512"/>
                  </a:lnTo>
                  <a:lnTo>
                    <a:pt x="62012" y="63583"/>
                  </a:lnTo>
                  <a:lnTo>
                    <a:pt x="79683" y="12207"/>
                  </a:lnTo>
                  <a:lnTo>
                    <a:pt x="98788" y="0"/>
                  </a:lnTo>
                  <a:lnTo>
                    <a:pt x="108966" y="11031"/>
                  </a:lnTo>
                  <a:lnTo>
                    <a:pt x="123910" y="56383"/>
                  </a:lnTo>
                  <a:lnTo>
                    <a:pt x="140071" y="138771"/>
                  </a:lnTo>
                  <a:lnTo>
                    <a:pt x="148516" y="190804"/>
                  </a:lnTo>
                  <a:lnTo>
                    <a:pt x="157155" y="248437"/>
                  </a:lnTo>
                  <a:lnTo>
                    <a:pt x="165951" y="310450"/>
                  </a:lnTo>
                  <a:lnTo>
                    <a:pt x="174868" y="375625"/>
                  </a:lnTo>
                  <a:lnTo>
                    <a:pt x="183868" y="442740"/>
                  </a:lnTo>
                  <a:lnTo>
                    <a:pt x="192915" y="510578"/>
                  </a:lnTo>
                  <a:lnTo>
                    <a:pt x="201973" y="577917"/>
                  </a:lnTo>
                  <a:lnTo>
                    <a:pt x="211003" y="643539"/>
                  </a:lnTo>
                  <a:lnTo>
                    <a:pt x="219971" y="706224"/>
                  </a:lnTo>
                  <a:lnTo>
                    <a:pt x="228838" y="764752"/>
                  </a:lnTo>
                  <a:lnTo>
                    <a:pt x="237568" y="817904"/>
                  </a:lnTo>
                  <a:lnTo>
                    <a:pt x="246124" y="864459"/>
                  </a:lnTo>
                  <a:lnTo>
                    <a:pt x="254470" y="903200"/>
                  </a:lnTo>
                  <a:lnTo>
                    <a:pt x="270383" y="952355"/>
                  </a:lnTo>
                  <a:lnTo>
                    <a:pt x="293966" y="969796"/>
                  </a:lnTo>
                  <a:lnTo>
                    <a:pt x="305339" y="960307"/>
                  </a:lnTo>
                  <a:lnTo>
                    <a:pt x="327383" y="910780"/>
                  </a:lnTo>
                  <a:lnTo>
                    <a:pt x="338105" y="873091"/>
                  </a:lnTo>
                  <a:lnTo>
                    <a:pt x="348664" y="828352"/>
                  </a:lnTo>
                  <a:lnTo>
                    <a:pt x="359085" y="777735"/>
                  </a:lnTo>
                  <a:lnTo>
                    <a:pt x="369395" y="722416"/>
                  </a:lnTo>
                  <a:lnTo>
                    <a:pt x="379620" y="663568"/>
                  </a:lnTo>
                  <a:lnTo>
                    <a:pt x="389787" y="602367"/>
                  </a:lnTo>
                  <a:lnTo>
                    <a:pt x="399923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632580" y="2988327"/>
              <a:ext cx="400050" cy="970280"/>
            </a:xfrm>
            <a:custGeom>
              <a:avLst/>
              <a:gdLst/>
              <a:ahLst/>
              <a:cxnLst/>
              <a:rect l="l" t="t" r="r" b="b"/>
              <a:pathLst>
                <a:path w="400050" h="970279">
                  <a:moveTo>
                    <a:pt x="0" y="504172"/>
                  </a:moveTo>
                  <a:lnTo>
                    <a:pt x="7364" y="438806"/>
                  </a:lnTo>
                  <a:lnTo>
                    <a:pt x="14768" y="374422"/>
                  </a:lnTo>
                  <a:lnTo>
                    <a:pt x="22248" y="312001"/>
                  </a:lnTo>
                  <a:lnTo>
                    <a:pt x="29838" y="252521"/>
                  </a:lnTo>
                  <a:lnTo>
                    <a:pt x="37574" y="196960"/>
                  </a:lnTo>
                  <a:lnTo>
                    <a:pt x="45492" y="146297"/>
                  </a:lnTo>
                  <a:lnTo>
                    <a:pt x="53626" y="101512"/>
                  </a:lnTo>
                  <a:lnTo>
                    <a:pt x="62012" y="63583"/>
                  </a:lnTo>
                  <a:lnTo>
                    <a:pt x="79683" y="12207"/>
                  </a:lnTo>
                  <a:lnTo>
                    <a:pt x="98788" y="0"/>
                  </a:lnTo>
                  <a:lnTo>
                    <a:pt x="108966" y="11031"/>
                  </a:lnTo>
                  <a:lnTo>
                    <a:pt x="123910" y="56383"/>
                  </a:lnTo>
                  <a:lnTo>
                    <a:pt x="140071" y="138771"/>
                  </a:lnTo>
                  <a:lnTo>
                    <a:pt x="148516" y="190804"/>
                  </a:lnTo>
                  <a:lnTo>
                    <a:pt x="157155" y="248437"/>
                  </a:lnTo>
                  <a:lnTo>
                    <a:pt x="165951" y="310450"/>
                  </a:lnTo>
                  <a:lnTo>
                    <a:pt x="174868" y="375625"/>
                  </a:lnTo>
                  <a:lnTo>
                    <a:pt x="183868" y="442740"/>
                  </a:lnTo>
                  <a:lnTo>
                    <a:pt x="192915" y="510578"/>
                  </a:lnTo>
                  <a:lnTo>
                    <a:pt x="201973" y="577917"/>
                  </a:lnTo>
                  <a:lnTo>
                    <a:pt x="211003" y="643539"/>
                  </a:lnTo>
                  <a:lnTo>
                    <a:pt x="219971" y="706224"/>
                  </a:lnTo>
                  <a:lnTo>
                    <a:pt x="228838" y="764752"/>
                  </a:lnTo>
                  <a:lnTo>
                    <a:pt x="237568" y="817904"/>
                  </a:lnTo>
                  <a:lnTo>
                    <a:pt x="246124" y="864459"/>
                  </a:lnTo>
                  <a:lnTo>
                    <a:pt x="254470" y="903200"/>
                  </a:lnTo>
                  <a:lnTo>
                    <a:pt x="270383" y="952355"/>
                  </a:lnTo>
                  <a:lnTo>
                    <a:pt x="294010" y="969796"/>
                  </a:lnTo>
                  <a:lnTo>
                    <a:pt x="305393" y="960307"/>
                  </a:lnTo>
                  <a:lnTo>
                    <a:pt x="327437" y="910780"/>
                  </a:lnTo>
                  <a:lnTo>
                    <a:pt x="338153" y="873091"/>
                  </a:lnTo>
                  <a:lnTo>
                    <a:pt x="348702" y="828352"/>
                  </a:lnTo>
                  <a:lnTo>
                    <a:pt x="359113" y="777735"/>
                  </a:lnTo>
                  <a:lnTo>
                    <a:pt x="369413" y="722416"/>
                  </a:lnTo>
                  <a:lnTo>
                    <a:pt x="379629" y="663568"/>
                  </a:lnTo>
                  <a:lnTo>
                    <a:pt x="389790" y="602367"/>
                  </a:lnTo>
                  <a:lnTo>
                    <a:pt x="399923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038854" y="2988327"/>
              <a:ext cx="400050" cy="970280"/>
            </a:xfrm>
            <a:custGeom>
              <a:avLst/>
              <a:gdLst/>
              <a:ahLst/>
              <a:cxnLst/>
              <a:rect l="l" t="t" r="r" b="b"/>
              <a:pathLst>
                <a:path w="400050" h="970279">
                  <a:moveTo>
                    <a:pt x="0" y="504172"/>
                  </a:moveTo>
                  <a:lnTo>
                    <a:pt x="7364" y="438806"/>
                  </a:lnTo>
                  <a:lnTo>
                    <a:pt x="14768" y="374422"/>
                  </a:lnTo>
                  <a:lnTo>
                    <a:pt x="22248" y="312001"/>
                  </a:lnTo>
                  <a:lnTo>
                    <a:pt x="29838" y="252521"/>
                  </a:lnTo>
                  <a:lnTo>
                    <a:pt x="37574" y="196960"/>
                  </a:lnTo>
                  <a:lnTo>
                    <a:pt x="45492" y="146297"/>
                  </a:lnTo>
                  <a:lnTo>
                    <a:pt x="53626" y="101512"/>
                  </a:lnTo>
                  <a:lnTo>
                    <a:pt x="62012" y="63583"/>
                  </a:lnTo>
                  <a:lnTo>
                    <a:pt x="79683" y="12207"/>
                  </a:lnTo>
                  <a:lnTo>
                    <a:pt x="98788" y="0"/>
                  </a:lnTo>
                  <a:lnTo>
                    <a:pt x="108966" y="11031"/>
                  </a:lnTo>
                  <a:lnTo>
                    <a:pt x="123910" y="56383"/>
                  </a:lnTo>
                  <a:lnTo>
                    <a:pt x="140071" y="138771"/>
                  </a:lnTo>
                  <a:lnTo>
                    <a:pt x="148516" y="190804"/>
                  </a:lnTo>
                  <a:lnTo>
                    <a:pt x="157155" y="248437"/>
                  </a:lnTo>
                  <a:lnTo>
                    <a:pt x="165951" y="310450"/>
                  </a:lnTo>
                  <a:lnTo>
                    <a:pt x="174868" y="375625"/>
                  </a:lnTo>
                  <a:lnTo>
                    <a:pt x="183868" y="442740"/>
                  </a:lnTo>
                  <a:lnTo>
                    <a:pt x="192915" y="510578"/>
                  </a:lnTo>
                  <a:lnTo>
                    <a:pt x="201973" y="577917"/>
                  </a:lnTo>
                  <a:lnTo>
                    <a:pt x="211003" y="643539"/>
                  </a:lnTo>
                  <a:lnTo>
                    <a:pt x="219971" y="706224"/>
                  </a:lnTo>
                  <a:lnTo>
                    <a:pt x="228838" y="764752"/>
                  </a:lnTo>
                  <a:lnTo>
                    <a:pt x="237568" y="817904"/>
                  </a:lnTo>
                  <a:lnTo>
                    <a:pt x="246124" y="864459"/>
                  </a:lnTo>
                  <a:lnTo>
                    <a:pt x="254470" y="903200"/>
                  </a:lnTo>
                  <a:lnTo>
                    <a:pt x="270383" y="952355"/>
                  </a:lnTo>
                  <a:lnTo>
                    <a:pt x="294010" y="969796"/>
                  </a:lnTo>
                  <a:lnTo>
                    <a:pt x="305393" y="960307"/>
                  </a:lnTo>
                  <a:lnTo>
                    <a:pt x="327437" y="910780"/>
                  </a:lnTo>
                  <a:lnTo>
                    <a:pt x="338153" y="873091"/>
                  </a:lnTo>
                  <a:lnTo>
                    <a:pt x="348702" y="828352"/>
                  </a:lnTo>
                  <a:lnTo>
                    <a:pt x="359113" y="777735"/>
                  </a:lnTo>
                  <a:lnTo>
                    <a:pt x="369413" y="722416"/>
                  </a:lnTo>
                  <a:lnTo>
                    <a:pt x="379629" y="663568"/>
                  </a:lnTo>
                  <a:lnTo>
                    <a:pt x="389790" y="602367"/>
                  </a:lnTo>
                  <a:lnTo>
                    <a:pt x="399923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438776" y="2988327"/>
              <a:ext cx="400050" cy="970280"/>
            </a:xfrm>
            <a:custGeom>
              <a:avLst/>
              <a:gdLst/>
              <a:ahLst/>
              <a:cxnLst/>
              <a:rect l="l" t="t" r="r" b="b"/>
              <a:pathLst>
                <a:path w="400050" h="970279">
                  <a:moveTo>
                    <a:pt x="0" y="504172"/>
                  </a:moveTo>
                  <a:lnTo>
                    <a:pt x="7364" y="438806"/>
                  </a:lnTo>
                  <a:lnTo>
                    <a:pt x="14768" y="374422"/>
                  </a:lnTo>
                  <a:lnTo>
                    <a:pt x="22248" y="312001"/>
                  </a:lnTo>
                  <a:lnTo>
                    <a:pt x="29838" y="252521"/>
                  </a:lnTo>
                  <a:lnTo>
                    <a:pt x="37574" y="196960"/>
                  </a:lnTo>
                  <a:lnTo>
                    <a:pt x="45492" y="146297"/>
                  </a:lnTo>
                  <a:lnTo>
                    <a:pt x="53626" y="101512"/>
                  </a:lnTo>
                  <a:lnTo>
                    <a:pt x="62012" y="63583"/>
                  </a:lnTo>
                  <a:lnTo>
                    <a:pt x="79683" y="12207"/>
                  </a:lnTo>
                  <a:lnTo>
                    <a:pt x="98788" y="0"/>
                  </a:lnTo>
                  <a:lnTo>
                    <a:pt x="108966" y="11031"/>
                  </a:lnTo>
                  <a:lnTo>
                    <a:pt x="123910" y="56383"/>
                  </a:lnTo>
                  <a:lnTo>
                    <a:pt x="140071" y="138771"/>
                  </a:lnTo>
                  <a:lnTo>
                    <a:pt x="148516" y="190804"/>
                  </a:lnTo>
                  <a:lnTo>
                    <a:pt x="157155" y="248437"/>
                  </a:lnTo>
                  <a:lnTo>
                    <a:pt x="165951" y="310450"/>
                  </a:lnTo>
                  <a:lnTo>
                    <a:pt x="174868" y="375625"/>
                  </a:lnTo>
                  <a:lnTo>
                    <a:pt x="183868" y="442740"/>
                  </a:lnTo>
                  <a:lnTo>
                    <a:pt x="192915" y="510578"/>
                  </a:lnTo>
                  <a:lnTo>
                    <a:pt x="201973" y="577917"/>
                  </a:lnTo>
                  <a:lnTo>
                    <a:pt x="211003" y="643539"/>
                  </a:lnTo>
                  <a:lnTo>
                    <a:pt x="219971" y="706224"/>
                  </a:lnTo>
                  <a:lnTo>
                    <a:pt x="228838" y="764752"/>
                  </a:lnTo>
                  <a:lnTo>
                    <a:pt x="237568" y="817904"/>
                  </a:lnTo>
                  <a:lnTo>
                    <a:pt x="246124" y="864459"/>
                  </a:lnTo>
                  <a:lnTo>
                    <a:pt x="254470" y="903200"/>
                  </a:lnTo>
                  <a:lnTo>
                    <a:pt x="270383" y="952355"/>
                  </a:lnTo>
                  <a:lnTo>
                    <a:pt x="294010" y="969796"/>
                  </a:lnTo>
                  <a:lnTo>
                    <a:pt x="305393" y="960307"/>
                  </a:lnTo>
                  <a:lnTo>
                    <a:pt x="327437" y="910780"/>
                  </a:lnTo>
                  <a:lnTo>
                    <a:pt x="338153" y="873091"/>
                  </a:lnTo>
                  <a:lnTo>
                    <a:pt x="348702" y="828352"/>
                  </a:lnTo>
                  <a:lnTo>
                    <a:pt x="359113" y="777735"/>
                  </a:lnTo>
                  <a:lnTo>
                    <a:pt x="369413" y="722416"/>
                  </a:lnTo>
                  <a:lnTo>
                    <a:pt x="379629" y="663568"/>
                  </a:lnTo>
                  <a:lnTo>
                    <a:pt x="389790" y="602367"/>
                  </a:lnTo>
                  <a:lnTo>
                    <a:pt x="399923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845938" y="2988327"/>
              <a:ext cx="400050" cy="970280"/>
            </a:xfrm>
            <a:custGeom>
              <a:avLst/>
              <a:gdLst/>
              <a:ahLst/>
              <a:cxnLst/>
              <a:rect l="l" t="t" r="r" b="b"/>
              <a:pathLst>
                <a:path w="400050" h="970279">
                  <a:moveTo>
                    <a:pt x="0" y="504172"/>
                  </a:moveTo>
                  <a:lnTo>
                    <a:pt x="7364" y="438806"/>
                  </a:lnTo>
                  <a:lnTo>
                    <a:pt x="14768" y="374422"/>
                  </a:lnTo>
                  <a:lnTo>
                    <a:pt x="22248" y="312001"/>
                  </a:lnTo>
                  <a:lnTo>
                    <a:pt x="29838" y="252521"/>
                  </a:lnTo>
                  <a:lnTo>
                    <a:pt x="37574" y="196960"/>
                  </a:lnTo>
                  <a:lnTo>
                    <a:pt x="45492" y="146297"/>
                  </a:lnTo>
                  <a:lnTo>
                    <a:pt x="53626" y="101512"/>
                  </a:lnTo>
                  <a:lnTo>
                    <a:pt x="62012" y="63583"/>
                  </a:lnTo>
                  <a:lnTo>
                    <a:pt x="79683" y="12207"/>
                  </a:lnTo>
                  <a:lnTo>
                    <a:pt x="98788" y="0"/>
                  </a:lnTo>
                  <a:lnTo>
                    <a:pt x="108966" y="11031"/>
                  </a:lnTo>
                  <a:lnTo>
                    <a:pt x="123910" y="56383"/>
                  </a:lnTo>
                  <a:lnTo>
                    <a:pt x="140071" y="138771"/>
                  </a:lnTo>
                  <a:lnTo>
                    <a:pt x="148516" y="190804"/>
                  </a:lnTo>
                  <a:lnTo>
                    <a:pt x="157155" y="248437"/>
                  </a:lnTo>
                  <a:lnTo>
                    <a:pt x="165951" y="310450"/>
                  </a:lnTo>
                  <a:lnTo>
                    <a:pt x="174868" y="375625"/>
                  </a:lnTo>
                  <a:lnTo>
                    <a:pt x="183868" y="442740"/>
                  </a:lnTo>
                  <a:lnTo>
                    <a:pt x="192915" y="510578"/>
                  </a:lnTo>
                  <a:lnTo>
                    <a:pt x="201973" y="577917"/>
                  </a:lnTo>
                  <a:lnTo>
                    <a:pt x="211003" y="643539"/>
                  </a:lnTo>
                  <a:lnTo>
                    <a:pt x="219971" y="706224"/>
                  </a:lnTo>
                  <a:lnTo>
                    <a:pt x="228838" y="764752"/>
                  </a:lnTo>
                  <a:lnTo>
                    <a:pt x="237568" y="817904"/>
                  </a:lnTo>
                  <a:lnTo>
                    <a:pt x="246124" y="864459"/>
                  </a:lnTo>
                  <a:lnTo>
                    <a:pt x="254470" y="903200"/>
                  </a:lnTo>
                  <a:lnTo>
                    <a:pt x="270383" y="952355"/>
                  </a:lnTo>
                  <a:lnTo>
                    <a:pt x="294010" y="969796"/>
                  </a:lnTo>
                  <a:lnTo>
                    <a:pt x="305393" y="960307"/>
                  </a:lnTo>
                  <a:lnTo>
                    <a:pt x="327437" y="910780"/>
                  </a:lnTo>
                  <a:lnTo>
                    <a:pt x="338153" y="873091"/>
                  </a:lnTo>
                  <a:lnTo>
                    <a:pt x="348702" y="828352"/>
                  </a:lnTo>
                  <a:lnTo>
                    <a:pt x="359113" y="777735"/>
                  </a:lnTo>
                  <a:lnTo>
                    <a:pt x="369413" y="722416"/>
                  </a:lnTo>
                  <a:lnTo>
                    <a:pt x="379629" y="663568"/>
                  </a:lnTo>
                  <a:lnTo>
                    <a:pt x="389790" y="602367"/>
                  </a:lnTo>
                  <a:lnTo>
                    <a:pt x="399923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245862" y="2988327"/>
              <a:ext cx="400050" cy="970280"/>
            </a:xfrm>
            <a:custGeom>
              <a:avLst/>
              <a:gdLst/>
              <a:ahLst/>
              <a:cxnLst/>
              <a:rect l="l" t="t" r="r" b="b"/>
              <a:pathLst>
                <a:path w="400050" h="970279">
                  <a:moveTo>
                    <a:pt x="0" y="504172"/>
                  </a:moveTo>
                  <a:lnTo>
                    <a:pt x="7389" y="438806"/>
                  </a:lnTo>
                  <a:lnTo>
                    <a:pt x="14810" y="374422"/>
                  </a:lnTo>
                  <a:lnTo>
                    <a:pt x="22300" y="312001"/>
                  </a:lnTo>
                  <a:lnTo>
                    <a:pt x="29894" y="252521"/>
                  </a:lnTo>
                  <a:lnTo>
                    <a:pt x="37630" y="196960"/>
                  </a:lnTo>
                  <a:lnTo>
                    <a:pt x="45543" y="146297"/>
                  </a:lnTo>
                  <a:lnTo>
                    <a:pt x="53670" y="101512"/>
                  </a:lnTo>
                  <a:lnTo>
                    <a:pt x="62047" y="63583"/>
                  </a:lnTo>
                  <a:lnTo>
                    <a:pt x="79699" y="12207"/>
                  </a:lnTo>
                  <a:lnTo>
                    <a:pt x="98790" y="0"/>
                  </a:lnTo>
                  <a:lnTo>
                    <a:pt x="108966" y="11031"/>
                  </a:lnTo>
                  <a:lnTo>
                    <a:pt x="123910" y="56383"/>
                  </a:lnTo>
                  <a:lnTo>
                    <a:pt x="140071" y="138771"/>
                  </a:lnTo>
                  <a:lnTo>
                    <a:pt x="148516" y="190804"/>
                  </a:lnTo>
                  <a:lnTo>
                    <a:pt x="157155" y="248437"/>
                  </a:lnTo>
                  <a:lnTo>
                    <a:pt x="165951" y="310450"/>
                  </a:lnTo>
                  <a:lnTo>
                    <a:pt x="174868" y="375625"/>
                  </a:lnTo>
                  <a:lnTo>
                    <a:pt x="183868" y="442740"/>
                  </a:lnTo>
                  <a:lnTo>
                    <a:pt x="192915" y="510578"/>
                  </a:lnTo>
                  <a:lnTo>
                    <a:pt x="201973" y="577917"/>
                  </a:lnTo>
                  <a:lnTo>
                    <a:pt x="211003" y="643539"/>
                  </a:lnTo>
                  <a:lnTo>
                    <a:pt x="219971" y="706224"/>
                  </a:lnTo>
                  <a:lnTo>
                    <a:pt x="228838" y="764752"/>
                  </a:lnTo>
                  <a:lnTo>
                    <a:pt x="237568" y="817904"/>
                  </a:lnTo>
                  <a:lnTo>
                    <a:pt x="246124" y="864459"/>
                  </a:lnTo>
                  <a:lnTo>
                    <a:pt x="254470" y="903200"/>
                  </a:lnTo>
                  <a:lnTo>
                    <a:pt x="270383" y="952355"/>
                  </a:lnTo>
                  <a:lnTo>
                    <a:pt x="294010" y="969796"/>
                  </a:lnTo>
                  <a:lnTo>
                    <a:pt x="305393" y="960307"/>
                  </a:lnTo>
                  <a:lnTo>
                    <a:pt x="327437" y="910780"/>
                  </a:lnTo>
                  <a:lnTo>
                    <a:pt x="338153" y="873091"/>
                  </a:lnTo>
                  <a:lnTo>
                    <a:pt x="348702" y="828352"/>
                  </a:lnTo>
                  <a:lnTo>
                    <a:pt x="359113" y="777735"/>
                  </a:lnTo>
                  <a:lnTo>
                    <a:pt x="369413" y="722416"/>
                  </a:lnTo>
                  <a:lnTo>
                    <a:pt x="379629" y="663568"/>
                  </a:lnTo>
                  <a:lnTo>
                    <a:pt x="389790" y="602367"/>
                  </a:lnTo>
                  <a:lnTo>
                    <a:pt x="399923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80427" y="2987294"/>
              <a:ext cx="5647690" cy="0"/>
            </a:xfrm>
            <a:custGeom>
              <a:avLst/>
              <a:gdLst/>
              <a:ahLst/>
              <a:cxnLst/>
              <a:rect l="l" t="t" r="r" b="b"/>
              <a:pathLst>
                <a:path w="5647690">
                  <a:moveTo>
                    <a:pt x="0" y="0"/>
                  </a:moveTo>
                  <a:lnTo>
                    <a:pt x="5647296" y="0"/>
                  </a:lnTo>
                </a:path>
              </a:pathLst>
            </a:custGeom>
            <a:ln w="19050">
              <a:solidFill>
                <a:srgbClr val="4471C4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08901" y="3967734"/>
              <a:ext cx="5647690" cy="0"/>
            </a:xfrm>
            <a:custGeom>
              <a:avLst/>
              <a:gdLst/>
              <a:ahLst/>
              <a:cxnLst/>
              <a:rect l="l" t="t" r="r" b="b"/>
              <a:pathLst>
                <a:path w="5647690">
                  <a:moveTo>
                    <a:pt x="0" y="0"/>
                  </a:moveTo>
                  <a:lnTo>
                    <a:pt x="5647270" y="0"/>
                  </a:lnTo>
                </a:path>
              </a:pathLst>
            </a:custGeom>
            <a:ln w="19050">
              <a:solidFill>
                <a:srgbClr val="4471C4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444703" y="2815793"/>
            <a:ext cx="3035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𝐕</a:t>
            </a:r>
            <a:r>
              <a:rPr sz="1950" spc="-37" baseline="-14957" dirty="0">
                <a:latin typeface="Cambria Math"/>
                <a:cs typeface="Cambria Math"/>
              </a:rPr>
              <a:t>𝐂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80415" y="3794252"/>
            <a:ext cx="4756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−𝐕</a:t>
            </a:r>
            <a:r>
              <a:rPr sz="1950" spc="-37" baseline="-14957" dirty="0">
                <a:latin typeface="Cambria Math"/>
                <a:cs typeface="Cambria Math"/>
              </a:rPr>
              <a:t>𝐂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372567" y="4422647"/>
            <a:ext cx="6974840" cy="1718945"/>
          </a:xfrm>
          <a:custGeom>
            <a:avLst/>
            <a:gdLst/>
            <a:ahLst/>
            <a:cxnLst/>
            <a:rect l="l" t="t" r="r" b="b"/>
            <a:pathLst>
              <a:path w="6974840" h="1718945">
                <a:moveTo>
                  <a:pt x="6974510" y="963041"/>
                </a:moveTo>
                <a:lnTo>
                  <a:pt x="6936410" y="943991"/>
                </a:lnTo>
                <a:lnTo>
                  <a:pt x="6860210" y="905891"/>
                </a:lnTo>
                <a:lnTo>
                  <a:pt x="6860210" y="943991"/>
                </a:lnTo>
                <a:lnTo>
                  <a:pt x="421665" y="943991"/>
                </a:lnTo>
                <a:lnTo>
                  <a:pt x="420827" y="114427"/>
                </a:lnTo>
                <a:lnTo>
                  <a:pt x="458990" y="114427"/>
                </a:lnTo>
                <a:lnTo>
                  <a:pt x="449376" y="95250"/>
                </a:lnTo>
                <a:lnTo>
                  <a:pt x="401662" y="0"/>
                </a:lnTo>
                <a:lnTo>
                  <a:pt x="344627" y="114427"/>
                </a:lnTo>
                <a:lnTo>
                  <a:pt x="382727" y="114427"/>
                </a:lnTo>
                <a:lnTo>
                  <a:pt x="383565" y="943991"/>
                </a:lnTo>
                <a:lnTo>
                  <a:pt x="0" y="943991"/>
                </a:lnTo>
                <a:lnTo>
                  <a:pt x="0" y="982091"/>
                </a:lnTo>
                <a:lnTo>
                  <a:pt x="383603" y="982091"/>
                </a:lnTo>
                <a:lnTo>
                  <a:pt x="384352" y="1718437"/>
                </a:lnTo>
                <a:lnTo>
                  <a:pt x="422452" y="1718449"/>
                </a:lnTo>
                <a:lnTo>
                  <a:pt x="421703" y="982091"/>
                </a:lnTo>
                <a:lnTo>
                  <a:pt x="6860210" y="982091"/>
                </a:lnTo>
                <a:lnTo>
                  <a:pt x="6860210" y="1020191"/>
                </a:lnTo>
                <a:lnTo>
                  <a:pt x="6936410" y="982091"/>
                </a:lnTo>
                <a:lnTo>
                  <a:pt x="6974510" y="963041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6118352" y="5401767"/>
            <a:ext cx="11398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Time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(Sec)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919988" y="4400550"/>
            <a:ext cx="10261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Amplitude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704253" y="4302759"/>
            <a:ext cx="6710045" cy="1147445"/>
            <a:chOff x="704253" y="4302759"/>
            <a:chExt cx="6710045" cy="1147445"/>
          </a:xfrm>
        </p:grpSpPr>
        <p:pic>
          <p:nvPicPr>
            <p:cNvPr id="41" name="object 4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7428" y="5319648"/>
              <a:ext cx="133616" cy="126872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04253" y="5316473"/>
              <a:ext cx="139966" cy="133222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178166" y="4302759"/>
              <a:ext cx="236093" cy="211709"/>
            </a:xfrm>
            <a:prstGeom prst="rect">
              <a:avLst/>
            </a:prstGeom>
          </p:spPr>
        </p:pic>
      </p:grpSp>
      <p:sp>
        <p:nvSpPr>
          <p:cNvPr id="44" name="object 44"/>
          <p:cNvSpPr txBox="1"/>
          <p:nvPr/>
        </p:nvSpPr>
        <p:spPr>
          <a:xfrm>
            <a:off x="5779642" y="4232909"/>
            <a:ext cx="15989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7E5F00"/>
                </a:solidFill>
                <a:latin typeface="Calibri"/>
                <a:cs typeface="Calibri"/>
              </a:rPr>
              <a:t>FM</a:t>
            </a:r>
            <a:r>
              <a:rPr sz="1800" b="1" spc="-45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7E5F00"/>
                </a:solidFill>
                <a:latin typeface="Calibri"/>
                <a:cs typeface="Calibri"/>
              </a:rPr>
              <a:t>Signal</a:t>
            </a:r>
            <a:r>
              <a:rPr sz="1800" b="1" spc="-60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5F00"/>
                </a:solidFill>
                <a:latin typeface="Cambria Math"/>
                <a:cs typeface="Cambria Math"/>
              </a:rPr>
              <a:t>𝐘</a:t>
            </a:r>
            <a:r>
              <a:rPr sz="1950" baseline="-14957" dirty="0">
                <a:solidFill>
                  <a:srgbClr val="7E5F00"/>
                </a:solidFill>
                <a:latin typeface="Cambria Math"/>
                <a:cs typeface="Cambria Math"/>
              </a:rPr>
              <a:t>𝐅𝐌</a:t>
            </a:r>
            <a:r>
              <a:rPr sz="1950" spc="652" baseline="-14957" dirty="0">
                <a:solidFill>
                  <a:srgbClr val="7E5F00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7E5F00"/>
                </a:solidFill>
                <a:latin typeface="Cambria Math"/>
                <a:cs typeface="Cambria Math"/>
              </a:rPr>
              <a:t>𝐭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743305" y="4869307"/>
            <a:ext cx="5695315" cy="999490"/>
            <a:chOff x="743305" y="4869307"/>
            <a:chExt cx="5695315" cy="999490"/>
          </a:xfrm>
        </p:grpSpPr>
        <p:sp>
          <p:nvSpPr>
            <p:cNvPr id="46" name="object 46"/>
            <p:cNvSpPr/>
            <p:nvPr/>
          </p:nvSpPr>
          <p:spPr>
            <a:xfrm>
              <a:off x="752830" y="4878832"/>
              <a:ext cx="5647690" cy="0"/>
            </a:xfrm>
            <a:custGeom>
              <a:avLst/>
              <a:gdLst/>
              <a:ahLst/>
              <a:cxnLst/>
              <a:rect l="l" t="t" r="r" b="b"/>
              <a:pathLst>
                <a:path w="5647690">
                  <a:moveTo>
                    <a:pt x="0" y="0"/>
                  </a:moveTo>
                  <a:lnTo>
                    <a:pt x="5647207" y="0"/>
                  </a:lnTo>
                </a:path>
              </a:pathLst>
            </a:custGeom>
            <a:ln w="19050">
              <a:solidFill>
                <a:srgbClr val="4471C4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81303" y="5859246"/>
              <a:ext cx="5647690" cy="0"/>
            </a:xfrm>
            <a:custGeom>
              <a:avLst/>
              <a:gdLst/>
              <a:ahLst/>
              <a:cxnLst/>
              <a:rect l="l" t="t" r="r" b="b"/>
              <a:pathLst>
                <a:path w="5647690">
                  <a:moveTo>
                    <a:pt x="0" y="0"/>
                  </a:moveTo>
                  <a:lnTo>
                    <a:pt x="5647309" y="0"/>
                  </a:lnTo>
                </a:path>
              </a:pathLst>
            </a:custGeom>
            <a:ln w="19050">
              <a:solidFill>
                <a:srgbClr val="4471C4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420623" y="4705350"/>
            <a:ext cx="3028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𝐕</a:t>
            </a:r>
            <a:r>
              <a:rPr sz="1950" spc="-37" baseline="-14957" dirty="0">
                <a:latin typeface="Cambria Math"/>
                <a:cs typeface="Cambria Math"/>
              </a:rPr>
              <a:t>𝐂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65175" y="5682792"/>
            <a:ext cx="4756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−𝐕</a:t>
            </a:r>
            <a:r>
              <a:rPr sz="1950" spc="-37" baseline="-14957" dirty="0">
                <a:latin typeface="Cambria Math"/>
                <a:cs typeface="Cambria Math"/>
              </a:rPr>
              <a:t>𝐂</a:t>
            </a:r>
            <a:endParaRPr sz="1950" baseline="-14957">
              <a:latin typeface="Cambria Math"/>
              <a:cs typeface="Cambria Math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788669" y="1111377"/>
            <a:ext cx="5260849" cy="4835271"/>
            <a:chOff x="788669" y="1111377"/>
            <a:chExt cx="5260849" cy="4835271"/>
          </a:xfrm>
        </p:grpSpPr>
        <p:sp>
          <p:nvSpPr>
            <p:cNvPr id="58" name="object 58"/>
            <p:cNvSpPr/>
            <p:nvPr/>
          </p:nvSpPr>
          <p:spPr>
            <a:xfrm>
              <a:off x="2104897" y="1638808"/>
              <a:ext cx="0" cy="4271010"/>
            </a:xfrm>
            <a:custGeom>
              <a:avLst/>
              <a:gdLst/>
              <a:ahLst/>
              <a:cxnLst/>
              <a:rect l="l" t="t" r="r" b="b"/>
              <a:pathLst>
                <a:path h="4271010">
                  <a:moveTo>
                    <a:pt x="0" y="0"/>
                  </a:moveTo>
                  <a:lnTo>
                    <a:pt x="0" y="4270527"/>
                  </a:lnTo>
                </a:path>
              </a:pathLst>
            </a:custGeom>
            <a:ln w="19050">
              <a:solidFill>
                <a:srgbClr val="4471C4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3390518" y="1675638"/>
              <a:ext cx="0" cy="4271010"/>
            </a:xfrm>
            <a:custGeom>
              <a:avLst/>
              <a:gdLst/>
              <a:ahLst/>
              <a:cxnLst/>
              <a:rect l="l" t="t" r="r" b="b"/>
              <a:pathLst>
                <a:path h="4271010">
                  <a:moveTo>
                    <a:pt x="0" y="0"/>
                  </a:moveTo>
                  <a:lnTo>
                    <a:pt x="0" y="4270489"/>
                  </a:lnTo>
                </a:path>
              </a:pathLst>
            </a:custGeom>
            <a:ln w="19050">
              <a:solidFill>
                <a:srgbClr val="4471C4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709541" y="1667002"/>
              <a:ext cx="0" cy="4271010"/>
            </a:xfrm>
            <a:custGeom>
              <a:avLst/>
              <a:gdLst/>
              <a:ahLst/>
              <a:cxnLst/>
              <a:rect l="l" t="t" r="r" b="b"/>
              <a:pathLst>
                <a:path h="4271010">
                  <a:moveTo>
                    <a:pt x="0" y="0"/>
                  </a:moveTo>
                  <a:lnTo>
                    <a:pt x="0" y="4270590"/>
                  </a:lnTo>
                </a:path>
              </a:pathLst>
            </a:custGeom>
            <a:ln w="19050">
              <a:solidFill>
                <a:srgbClr val="4471C4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2077211" y="2204719"/>
              <a:ext cx="1324610" cy="5715"/>
            </a:xfrm>
            <a:custGeom>
              <a:avLst/>
              <a:gdLst/>
              <a:ahLst/>
              <a:cxnLst/>
              <a:rect l="l" t="t" r="r" b="b"/>
              <a:pathLst>
                <a:path w="1324610" h="5714">
                  <a:moveTo>
                    <a:pt x="0" y="0"/>
                  </a:moveTo>
                  <a:lnTo>
                    <a:pt x="1324483" y="5588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3409696" y="1127506"/>
              <a:ext cx="1324610" cy="5715"/>
            </a:xfrm>
            <a:custGeom>
              <a:avLst/>
              <a:gdLst/>
              <a:ahLst/>
              <a:cxnLst/>
              <a:rect l="l" t="t" r="r" b="b"/>
              <a:pathLst>
                <a:path w="1324610" h="5715">
                  <a:moveTo>
                    <a:pt x="0" y="0"/>
                  </a:moveTo>
                  <a:lnTo>
                    <a:pt x="1324356" y="5461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724908" y="2219960"/>
              <a:ext cx="1324610" cy="5715"/>
            </a:xfrm>
            <a:custGeom>
              <a:avLst/>
              <a:gdLst/>
              <a:ahLst/>
              <a:cxnLst/>
              <a:rect l="l" t="t" r="r" b="b"/>
              <a:pathLst>
                <a:path w="1324610" h="5714">
                  <a:moveTo>
                    <a:pt x="0" y="0"/>
                  </a:moveTo>
                  <a:lnTo>
                    <a:pt x="1324356" y="5588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2083942" y="1111377"/>
              <a:ext cx="0" cy="1093470"/>
            </a:xfrm>
            <a:custGeom>
              <a:avLst/>
              <a:gdLst/>
              <a:ahLst/>
              <a:cxnLst/>
              <a:rect l="l" t="t" r="r" b="b"/>
              <a:pathLst>
                <a:path h="1093470">
                  <a:moveTo>
                    <a:pt x="0" y="1093343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3402075" y="1120394"/>
              <a:ext cx="0" cy="1093470"/>
            </a:xfrm>
            <a:custGeom>
              <a:avLst/>
              <a:gdLst/>
              <a:ahLst/>
              <a:cxnLst/>
              <a:rect l="l" t="t" r="r" b="b"/>
              <a:pathLst>
                <a:path h="1093470">
                  <a:moveTo>
                    <a:pt x="0" y="1093342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714874" y="1154176"/>
              <a:ext cx="0" cy="1093470"/>
            </a:xfrm>
            <a:custGeom>
              <a:avLst/>
              <a:gdLst/>
              <a:ahLst/>
              <a:cxnLst/>
              <a:rect l="l" t="t" r="r" b="b"/>
              <a:pathLst>
                <a:path h="1093470">
                  <a:moveTo>
                    <a:pt x="0" y="1093470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88669" y="4864600"/>
              <a:ext cx="322580" cy="970280"/>
            </a:xfrm>
            <a:custGeom>
              <a:avLst/>
              <a:gdLst/>
              <a:ahLst/>
              <a:cxnLst/>
              <a:rect l="l" t="t" r="r" b="b"/>
              <a:pathLst>
                <a:path w="322580" h="970279">
                  <a:moveTo>
                    <a:pt x="0" y="504070"/>
                  </a:moveTo>
                  <a:lnTo>
                    <a:pt x="5942" y="438729"/>
                  </a:lnTo>
                  <a:lnTo>
                    <a:pt x="11913" y="374363"/>
                  </a:lnTo>
                  <a:lnTo>
                    <a:pt x="17943" y="311953"/>
                  </a:lnTo>
                  <a:lnTo>
                    <a:pt x="24058" y="252479"/>
                  </a:lnTo>
                  <a:lnTo>
                    <a:pt x="30289" y="196920"/>
                  </a:lnTo>
                  <a:lnTo>
                    <a:pt x="36665" y="146259"/>
                  </a:lnTo>
                  <a:lnTo>
                    <a:pt x="43213" y="101473"/>
                  </a:lnTo>
                  <a:lnTo>
                    <a:pt x="49964" y="63545"/>
                  </a:lnTo>
                  <a:lnTo>
                    <a:pt x="64186" y="12178"/>
                  </a:lnTo>
                  <a:lnTo>
                    <a:pt x="79563" y="0"/>
                  </a:lnTo>
                  <a:lnTo>
                    <a:pt x="87757" y="11056"/>
                  </a:lnTo>
                  <a:lnTo>
                    <a:pt x="99785" y="56405"/>
                  </a:lnTo>
                  <a:lnTo>
                    <a:pt x="112796" y="138784"/>
                  </a:lnTo>
                  <a:lnTo>
                    <a:pt x="119596" y="190811"/>
                  </a:lnTo>
                  <a:lnTo>
                    <a:pt x="126552" y="248438"/>
                  </a:lnTo>
                  <a:lnTo>
                    <a:pt x="133635" y="310445"/>
                  </a:lnTo>
                  <a:lnTo>
                    <a:pt x="140815" y="375612"/>
                  </a:lnTo>
                  <a:lnTo>
                    <a:pt x="148063" y="442720"/>
                  </a:lnTo>
                  <a:lnTo>
                    <a:pt x="155348" y="510550"/>
                  </a:lnTo>
                  <a:lnTo>
                    <a:pt x="162642" y="577882"/>
                  </a:lnTo>
                  <a:lnTo>
                    <a:pt x="169913" y="643497"/>
                  </a:lnTo>
                  <a:lnTo>
                    <a:pt x="177134" y="706175"/>
                  </a:lnTo>
                  <a:lnTo>
                    <a:pt x="184273" y="764698"/>
                  </a:lnTo>
                  <a:lnTo>
                    <a:pt x="191302" y="817845"/>
                  </a:lnTo>
                  <a:lnTo>
                    <a:pt x="198190" y="864397"/>
                  </a:lnTo>
                  <a:lnTo>
                    <a:pt x="204908" y="903135"/>
                  </a:lnTo>
                  <a:lnTo>
                    <a:pt x="217716" y="952291"/>
                  </a:lnTo>
                  <a:lnTo>
                    <a:pt x="236732" y="969732"/>
                  </a:lnTo>
                  <a:lnTo>
                    <a:pt x="245895" y="960239"/>
                  </a:lnTo>
                  <a:lnTo>
                    <a:pt x="263644" y="910700"/>
                  </a:lnTo>
                  <a:lnTo>
                    <a:pt x="272273" y="873004"/>
                  </a:lnTo>
                  <a:lnTo>
                    <a:pt x="280769" y="828257"/>
                  </a:lnTo>
                  <a:lnTo>
                    <a:pt x="289154" y="777634"/>
                  </a:lnTo>
                  <a:lnTo>
                    <a:pt x="297449" y="722311"/>
                  </a:lnTo>
                  <a:lnTo>
                    <a:pt x="305677" y="663461"/>
                  </a:lnTo>
                  <a:lnTo>
                    <a:pt x="313860" y="602261"/>
                  </a:lnTo>
                  <a:lnTo>
                    <a:pt x="322021" y="539884"/>
                  </a:lnTo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110691" y="4864600"/>
              <a:ext cx="322580" cy="970280"/>
            </a:xfrm>
            <a:custGeom>
              <a:avLst/>
              <a:gdLst/>
              <a:ahLst/>
              <a:cxnLst/>
              <a:rect l="l" t="t" r="r" b="b"/>
              <a:pathLst>
                <a:path w="322580" h="970279">
                  <a:moveTo>
                    <a:pt x="0" y="504070"/>
                  </a:moveTo>
                  <a:lnTo>
                    <a:pt x="5942" y="438729"/>
                  </a:lnTo>
                  <a:lnTo>
                    <a:pt x="11913" y="374363"/>
                  </a:lnTo>
                  <a:lnTo>
                    <a:pt x="17942" y="311953"/>
                  </a:lnTo>
                  <a:lnTo>
                    <a:pt x="24058" y="252479"/>
                  </a:lnTo>
                  <a:lnTo>
                    <a:pt x="30289" y="196920"/>
                  </a:lnTo>
                  <a:lnTo>
                    <a:pt x="36664" y="146259"/>
                  </a:lnTo>
                  <a:lnTo>
                    <a:pt x="43211" y="101473"/>
                  </a:lnTo>
                  <a:lnTo>
                    <a:pt x="49961" y="63545"/>
                  </a:lnTo>
                  <a:lnTo>
                    <a:pt x="64181" y="12178"/>
                  </a:lnTo>
                  <a:lnTo>
                    <a:pt x="79553" y="0"/>
                  </a:lnTo>
                  <a:lnTo>
                    <a:pt x="87744" y="11056"/>
                  </a:lnTo>
                  <a:lnTo>
                    <a:pt x="99771" y="56405"/>
                  </a:lnTo>
                  <a:lnTo>
                    <a:pt x="112778" y="138784"/>
                  </a:lnTo>
                  <a:lnTo>
                    <a:pt x="119576" y="190811"/>
                  </a:lnTo>
                  <a:lnTo>
                    <a:pt x="126530" y="248438"/>
                  </a:lnTo>
                  <a:lnTo>
                    <a:pt x="133610" y="310445"/>
                  </a:lnTo>
                  <a:lnTo>
                    <a:pt x="140789" y="375612"/>
                  </a:lnTo>
                  <a:lnTo>
                    <a:pt x="148035" y="442720"/>
                  </a:lnTo>
                  <a:lnTo>
                    <a:pt x="155319" y="510550"/>
                  </a:lnTo>
                  <a:lnTo>
                    <a:pt x="162612" y="577882"/>
                  </a:lnTo>
                  <a:lnTo>
                    <a:pt x="169885" y="643497"/>
                  </a:lnTo>
                  <a:lnTo>
                    <a:pt x="177107" y="706175"/>
                  </a:lnTo>
                  <a:lnTo>
                    <a:pt x="184249" y="764698"/>
                  </a:lnTo>
                  <a:lnTo>
                    <a:pt x="191282" y="817845"/>
                  </a:lnTo>
                  <a:lnTo>
                    <a:pt x="198176" y="864397"/>
                  </a:lnTo>
                  <a:lnTo>
                    <a:pt x="204901" y="903135"/>
                  </a:lnTo>
                  <a:lnTo>
                    <a:pt x="217728" y="952291"/>
                  </a:lnTo>
                  <a:lnTo>
                    <a:pt x="236723" y="969732"/>
                  </a:lnTo>
                  <a:lnTo>
                    <a:pt x="245879" y="960239"/>
                  </a:lnTo>
                  <a:lnTo>
                    <a:pt x="263617" y="910700"/>
                  </a:lnTo>
                  <a:lnTo>
                    <a:pt x="272243" y="873004"/>
                  </a:lnTo>
                  <a:lnTo>
                    <a:pt x="280737" y="828257"/>
                  </a:lnTo>
                  <a:lnTo>
                    <a:pt x="289121" y="777634"/>
                  </a:lnTo>
                  <a:lnTo>
                    <a:pt x="297417" y="722311"/>
                  </a:lnTo>
                  <a:lnTo>
                    <a:pt x="305646" y="663461"/>
                  </a:lnTo>
                  <a:lnTo>
                    <a:pt x="313832" y="602261"/>
                  </a:lnTo>
                  <a:lnTo>
                    <a:pt x="321995" y="539884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438528" y="4864600"/>
              <a:ext cx="322580" cy="970280"/>
            </a:xfrm>
            <a:custGeom>
              <a:avLst/>
              <a:gdLst/>
              <a:ahLst/>
              <a:cxnLst/>
              <a:rect l="l" t="t" r="r" b="b"/>
              <a:pathLst>
                <a:path w="322580" h="970279">
                  <a:moveTo>
                    <a:pt x="0" y="504070"/>
                  </a:moveTo>
                  <a:lnTo>
                    <a:pt x="5952" y="438729"/>
                  </a:lnTo>
                  <a:lnTo>
                    <a:pt x="11929" y="374363"/>
                  </a:lnTo>
                  <a:lnTo>
                    <a:pt x="17960" y="311953"/>
                  </a:lnTo>
                  <a:lnTo>
                    <a:pt x="24076" y="252479"/>
                  </a:lnTo>
                  <a:lnTo>
                    <a:pt x="30305" y="196920"/>
                  </a:lnTo>
                  <a:lnTo>
                    <a:pt x="36676" y="146259"/>
                  </a:lnTo>
                  <a:lnTo>
                    <a:pt x="43221" y="101473"/>
                  </a:lnTo>
                  <a:lnTo>
                    <a:pt x="49967" y="63545"/>
                  </a:lnTo>
                  <a:lnTo>
                    <a:pt x="64182" y="12178"/>
                  </a:lnTo>
                  <a:lnTo>
                    <a:pt x="79559" y="0"/>
                  </a:lnTo>
                  <a:lnTo>
                    <a:pt x="87757" y="11056"/>
                  </a:lnTo>
                  <a:lnTo>
                    <a:pt x="99795" y="56405"/>
                  </a:lnTo>
                  <a:lnTo>
                    <a:pt x="112812" y="138784"/>
                  </a:lnTo>
                  <a:lnTo>
                    <a:pt x="119613" y="190811"/>
                  </a:lnTo>
                  <a:lnTo>
                    <a:pt x="126570" y="248438"/>
                  </a:lnTo>
                  <a:lnTo>
                    <a:pt x="133653" y="310445"/>
                  </a:lnTo>
                  <a:lnTo>
                    <a:pt x="140832" y="375612"/>
                  </a:lnTo>
                  <a:lnTo>
                    <a:pt x="148078" y="442720"/>
                  </a:lnTo>
                  <a:lnTo>
                    <a:pt x="155361" y="510550"/>
                  </a:lnTo>
                  <a:lnTo>
                    <a:pt x="162651" y="577882"/>
                  </a:lnTo>
                  <a:lnTo>
                    <a:pt x="169919" y="643497"/>
                  </a:lnTo>
                  <a:lnTo>
                    <a:pt x="177135" y="706175"/>
                  </a:lnTo>
                  <a:lnTo>
                    <a:pt x="184269" y="764698"/>
                  </a:lnTo>
                  <a:lnTo>
                    <a:pt x="191292" y="817845"/>
                  </a:lnTo>
                  <a:lnTo>
                    <a:pt x="198174" y="864397"/>
                  </a:lnTo>
                  <a:lnTo>
                    <a:pt x="204885" y="903135"/>
                  </a:lnTo>
                  <a:lnTo>
                    <a:pt x="217678" y="952291"/>
                  </a:lnTo>
                  <a:lnTo>
                    <a:pt x="236726" y="969732"/>
                  </a:lnTo>
                  <a:lnTo>
                    <a:pt x="245901" y="960239"/>
                  </a:lnTo>
                  <a:lnTo>
                    <a:pt x="263668" y="910700"/>
                  </a:lnTo>
                  <a:lnTo>
                    <a:pt x="272303" y="873004"/>
                  </a:lnTo>
                  <a:lnTo>
                    <a:pt x="280804" y="828257"/>
                  </a:lnTo>
                  <a:lnTo>
                    <a:pt x="289193" y="777634"/>
                  </a:lnTo>
                  <a:lnTo>
                    <a:pt x="297491" y="722311"/>
                  </a:lnTo>
                  <a:lnTo>
                    <a:pt x="305722" y="663461"/>
                  </a:lnTo>
                  <a:lnTo>
                    <a:pt x="313908" y="602261"/>
                  </a:lnTo>
                  <a:lnTo>
                    <a:pt x="322072" y="539884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760600" y="4893200"/>
              <a:ext cx="321945" cy="970280"/>
            </a:xfrm>
            <a:custGeom>
              <a:avLst/>
              <a:gdLst/>
              <a:ahLst/>
              <a:cxnLst/>
              <a:rect l="l" t="t" r="r" b="b"/>
              <a:pathLst>
                <a:path w="321944" h="970279">
                  <a:moveTo>
                    <a:pt x="0" y="504172"/>
                  </a:moveTo>
                  <a:lnTo>
                    <a:pt x="5927" y="438806"/>
                  </a:lnTo>
                  <a:lnTo>
                    <a:pt x="11886" y="374422"/>
                  </a:lnTo>
                  <a:lnTo>
                    <a:pt x="17907" y="312001"/>
                  </a:lnTo>
                  <a:lnTo>
                    <a:pt x="24016" y="252521"/>
                  </a:lnTo>
                  <a:lnTo>
                    <a:pt x="30242" y="196960"/>
                  </a:lnTo>
                  <a:lnTo>
                    <a:pt x="36613" y="146297"/>
                  </a:lnTo>
                  <a:lnTo>
                    <a:pt x="43157" y="101512"/>
                  </a:lnTo>
                  <a:lnTo>
                    <a:pt x="49902" y="63583"/>
                  </a:lnTo>
                  <a:lnTo>
                    <a:pt x="64109" y="12207"/>
                  </a:lnTo>
                  <a:lnTo>
                    <a:pt x="79457" y="0"/>
                  </a:lnTo>
                  <a:lnTo>
                    <a:pt x="87630" y="11031"/>
                  </a:lnTo>
                  <a:lnTo>
                    <a:pt x="99668" y="56415"/>
                  </a:lnTo>
                  <a:lnTo>
                    <a:pt x="112686" y="138821"/>
                  </a:lnTo>
                  <a:lnTo>
                    <a:pt x="119489" y="190858"/>
                  </a:lnTo>
                  <a:lnTo>
                    <a:pt x="126447" y="248493"/>
                  </a:lnTo>
                  <a:lnTo>
                    <a:pt x="133532" y="310507"/>
                  </a:lnTo>
                  <a:lnTo>
                    <a:pt x="140715" y="375679"/>
                  </a:lnTo>
                  <a:lnTo>
                    <a:pt x="147965" y="442792"/>
                  </a:lnTo>
                  <a:lnTo>
                    <a:pt x="155253" y="510625"/>
                  </a:lnTo>
                  <a:lnTo>
                    <a:pt x="162549" y="577959"/>
                  </a:lnTo>
                  <a:lnTo>
                    <a:pt x="169824" y="643575"/>
                  </a:lnTo>
                  <a:lnTo>
                    <a:pt x="177049" y="706254"/>
                  </a:lnTo>
                  <a:lnTo>
                    <a:pt x="184193" y="764776"/>
                  </a:lnTo>
                  <a:lnTo>
                    <a:pt x="191228" y="817923"/>
                  </a:lnTo>
                  <a:lnTo>
                    <a:pt x="198123" y="864475"/>
                  </a:lnTo>
                  <a:lnTo>
                    <a:pt x="204849" y="903213"/>
                  </a:lnTo>
                  <a:lnTo>
                    <a:pt x="217678" y="952368"/>
                  </a:lnTo>
                  <a:lnTo>
                    <a:pt x="236672" y="969809"/>
                  </a:lnTo>
                  <a:lnTo>
                    <a:pt x="245828" y="960316"/>
                  </a:lnTo>
                  <a:lnTo>
                    <a:pt x="263566" y="910778"/>
                  </a:lnTo>
                  <a:lnTo>
                    <a:pt x="272192" y="873083"/>
                  </a:lnTo>
                  <a:lnTo>
                    <a:pt x="280686" y="828339"/>
                  </a:lnTo>
                  <a:lnTo>
                    <a:pt x="289070" y="777719"/>
                  </a:lnTo>
                  <a:lnTo>
                    <a:pt x="297366" y="722398"/>
                  </a:lnTo>
                  <a:lnTo>
                    <a:pt x="305596" y="663553"/>
                  </a:lnTo>
                  <a:lnTo>
                    <a:pt x="313781" y="602357"/>
                  </a:lnTo>
                  <a:lnTo>
                    <a:pt x="321945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398393" y="4884158"/>
              <a:ext cx="321945" cy="970280"/>
            </a:xfrm>
            <a:custGeom>
              <a:avLst/>
              <a:gdLst/>
              <a:ahLst/>
              <a:cxnLst/>
              <a:rect l="l" t="t" r="r" b="b"/>
              <a:pathLst>
                <a:path w="321945" h="970279">
                  <a:moveTo>
                    <a:pt x="0" y="504070"/>
                  </a:moveTo>
                  <a:lnTo>
                    <a:pt x="5927" y="438729"/>
                  </a:lnTo>
                  <a:lnTo>
                    <a:pt x="11887" y="374363"/>
                  </a:lnTo>
                  <a:lnTo>
                    <a:pt x="17908" y="311953"/>
                  </a:lnTo>
                  <a:lnTo>
                    <a:pt x="24020" y="252479"/>
                  </a:lnTo>
                  <a:lnTo>
                    <a:pt x="30249" y="196920"/>
                  </a:lnTo>
                  <a:lnTo>
                    <a:pt x="36625" y="146259"/>
                  </a:lnTo>
                  <a:lnTo>
                    <a:pt x="43177" y="101473"/>
                  </a:lnTo>
                  <a:lnTo>
                    <a:pt x="49932" y="63545"/>
                  </a:lnTo>
                  <a:lnTo>
                    <a:pt x="64167" y="12178"/>
                  </a:lnTo>
                  <a:lnTo>
                    <a:pt x="79557" y="0"/>
                  </a:lnTo>
                  <a:lnTo>
                    <a:pt x="87757" y="11056"/>
                  </a:lnTo>
                  <a:lnTo>
                    <a:pt x="99759" y="56405"/>
                  </a:lnTo>
                  <a:lnTo>
                    <a:pt x="112749" y="138784"/>
                  </a:lnTo>
                  <a:lnTo>
                    <a:pt x="119539" y="190811"/>
                  </a:lnTo>
                  <a:lnTo>
                    <a:pt x="126488" y="248438"/>
                  </a:lnTo>
                  <a:lnTo>
                    <a:pt x="133564" y="310445"/>
                  </a:lnTo>
                  <a:lnTo>
                    <a:pt x="140739" y="375612"/>
                  </a:lnTo>
                  <a:lnTo>
                    <a:pt x="147983" y="442720"/>
                  </a:lnTo>
                  <a:lnTo>
                    <a:pt x="155266" y="510550"/>
                  </a:lnTo>
                  <a:lnTo>
                    <a:pt x="162558" y="577882"/>
                  </a:lnTo>
                  <a:lnTo>
                    <a:pt x="169831" y="643497"/>
                  </a:lnTo>
                  <a:lnTo>
                    <a:pt x="177053" y="706175"/>
                  </a:lnTo>
                  <a:lnTo>
                    <a:pt x="184195" y="764698"/>
                  </a:lnTo>
                  <a:lnTo>
                    <a:pt x="191229" y="817845"/>
                  </a:lnTo>
                  <a:lnTo>
                    <a:pt x="198124" y="864397"/>
                  </a:lnTo>
                  <a:lnTo>
                    <a:pt x="204850" y="903135"/>
                  </a:lnTo>
                  <a:lnTo>
                    <a:pt x="217678" y="952291"/>
                  </a:lnTo>
                  <a:lnTo>
                    <a:pt x="236672" y="969732"/>
                  </a:lnTo>
                  <a:lnTo>
                    <a:pt x="245828" y="960239"/>
                  </a:lnTo>
                  <a:lnTo>
                    <a:pt x="263566" y="910700"/>
                  </a:lnTo>
                  <a:lnTo>
                    <a:pt x="272192" y="873004"/>
                  </a:lnTo>
                  <a:lnTo>
                    <a:pt x="280686" y="828257"/>
                  </a:lnTo>
                  <a:lnTo>
                    <a:pt x="289070" y="777634"/>
                  </a:lnTo>
                  <a:lnTo>
                    <a:pt x="297366" y="722311"/>
                  </a:lnTo>
                  <a:lnTo>
                    <a:pt x="305596" y="663461"/>
                  </a:lnTo>
                  <a:lnTo>
                    <a:pt x="313781" y="602261"/>
                  </a:lnTo>
                  <a:lnTo>
                    <a:pt x="321945" y="539884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720337" y="4884158"/>
              <a:ext cx="322580" cy="970280"/>
            </a:xfrm>
            <a:custGeom>
              <a:avLst/>
              <a:gdLst/>
              <a:ahLst/>
              <a:cxnLst/>
              <a:rect l="l" t="t" r="r" b="b"/>
              <a:pathLst>
                <a:path w="322579" h="970279">
                  <a:moveTo>
                    <a:pt x="0" y="504070"/>
                  </a:moveTo>
                  <a:lnTo>
                    <a:pt x="5952" y="438729"/>
                  </a:lnTo>
                  <a:lnTo>
                    <a:pt x="11929" y="374363"/>
                  </a:lnTo>
                  <a:lnTo>
                    <a:pt x="17960" y="311953"/>
                  </a:lnTo>
                  <a:lnTo>
                    <a:pt x="24076" y="252479"/>
                  </a:lnTo>
                  <a:lnTo>
                    <a:pt x="30305" y="196920"/>
                  </a:lnTo>
                  <a:lnTo>
                    <a:pt x="36676" y="146259"/>
                  </a:lnTo>
                  <a:lnTo>
                    <a:pt x="43221" y="101473"/>
                  </a:lnTo>
                  <a:lnTo>
                    <a:pt x="49967" y="63545"/>
                  </a:lnTo>
                  <a:lnTo>
                    <a:pt x="64182" y="12178"/>
                  </a:lnTo>
                  <a:lnTo>
                    <a:pt x="79559" y="0"/>
                  </a:lnTo>
                  <a:lnTo>
                    <a:pt x="87757" y="11056"/>
                  </a:lnTo>
                  <a:lnTo>
                    <a:pt x="99795" y="56405"/>
                  </a:lnTo>
                  <a:lnTo>
                    <a:pt x="112812" y="138784"/>
                  </a:lnTo>
                  <a:lnTo>
                    <a:pt x="119613" y="190811"/>
                  </a:lnTo>
                  <a:lnTo>
                    <a:pt x="126570" y="248438"/>
                  </a:lnTo>
                  <a:lnTo>
                    <a:pt x="133653" y="310445"/>
                  </a:lnTo>
                  <a:lnTo>
                    <a:pt x="140832" y="375612"/>
                  </a:lnTo>
                  <a:lnTo>
                    <a:pt x="148078" y="442720"/>
                  </a:lnTo>
                  <a:lnTo>
                    <a:pt x="155361" y="510550"/>
                  </a:lnTo>
                  <a:lnTo>
                    <a:pt x="162651" y="577882"/>
                  </a:lnTo>
                  <a:lnTo>
                    <a:pt x="169919" y="643497"/>
                  </a:lnTo>
                  <a:lnTo>
                    <a:pt x="177135" y="706175"/>
                  </a:lnTo>
                  <a:lnTo>
                    <a:pt x="184269" y="764698"/>
                  </a:lnTo>
                  <a:lnTo>
                    <a:pt x="191292" y="817845"/>
                  </a:lnTo>
                  <a:lnTo>
                    <a:pt x="198174" y="864397"/>
                  </a:lnTo>
                  <a:lnTo>
                    <a:pt x="204885" y="903135"/>
                  </a:lnTo>
                  <a:lnTo>
                    <a:pt x="217678" y="952291"/>
                  </a:lnTo>
                  <a:lnTo>
                    <a:pt x="236726" y="969732"/>
                  </a:lnTo>
                  <a:lnTo>
                    <a:pt x="245901" y="960239"/>
                  </a:lnTo>
                  <a:lnTo>
                    <a:pt x="263668" y="910700"/>
                  </a:lnTo>
                  <a:lnTo>
                    <a:pt x="272303" y="873004"/>
                  </a:lnTo>
                  <a:lnTo>
                    <a:pt x="280804" y="828257"/>
                  </a:lnTo>
                  <a:lnTo>
                    <a:pt x="289193" y="777634"/>
                  </a:lnTo>
                  <a:lnTo>
                    <a:pt x="297491" y="722311"/>
                  </a:lnTo>
                  <a:lnTo>
                    <a:pt x="305722" y="663461"/>
                  </a:lnTo>
                  <a:lnTo>
                    <a:pt x="313908" y="602261"/>
                  </a:lnTo>
                  <a:lnTo>
                    <a:pt x="322072" y="539884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048252" y="4884158"/>
              <a:ext cx="321945" cy="970280"/>
            </a:xfrm>
            <a:custGeom>
              <a:avLst/>
              <a:gdLst/>
              <a:ahLst/>
              <a:cxnLst/>
              <a:rect l="l" t="t" r="r" b="b"/>
              <a:pathLst>
                <a:path w="321945" h="970279">
                  <a:moveTo>
                    <a:pt x="0" y="504070"/>
                  </a:moveTo>
                  <a:lnTo>
                    <a:pt x="5927" y="438729"/>
                  </a:lnTo>
                  <a:lnTo>
                    <a:pt x="11886" y="374363"/>
                  </a:lnTo>
                  <a:lnTo>
                    <a:pt x="17907" y="311953"/>
                  </a:lnTo>
                  <a:lnTo>
                    <a:pt x="24016" y="252479"/>
                  </a:lnTo>
                  <a:lnTo>
                    <a:pt x="30242" y="196920"/>
                  </a:lnTo>
                  <a:lnTo>
                    <a:pt x="36613" y="146259"/>
                  </a:lnTo>
                  <a:lnTo>
                    <a:pt x="43157" y="101473"/>
                  </a:lnTo>
                  <a:lnTo>
                    <a:pt x="49902" y="63545"/>
                  </a:lnTo>
                  <a:lnTo>
                    <a:pt x="64109" y="12178"/>
                  </a:lnTo>
                  <a:lnTo>
                    <a:pt x="79457" y="0"/>
                  </a:lnTo>
                  <a:lnTo>
                    <a:pt x="87630" y="11056"/>
                  </a:lnTo>
                  <a:lnTo>
                    <a:pt x="99668" y="56405"/>
                  </a:lnTo>
                  <a:lnTo>
                    <a:pt x="112686" y="138784"/>
                  </a:lnTo>
                  <a:lnTo>
                    <a:pt x="119489" y="190811"/>
                  </a:lnTo>
                  <a:lnTo>
                    <a:pt x="126447" y="248438"/>
                  </a:lnTo>
                  <a:lnTo>
                    <a:pt x="133532" y="310445"/>
                  </a:lnTo>
                  <a:lnTo>
                    <a:pt x="140715" y="375612"/>
                  </a:lnTo>
                  <a:lnTo>
                    <a:pt x="147965" y="442720"/>
                  </a:lnTo>
                  <a:lnTo>
                    <a:pt x="155253" y="510550"/>
                  </a:lnTo>
                  <a:lnTo>
                    <a:pt x="162549" y="577882"/>
                  </a:lnTo>
                  <a:lnTo>
                    <a:pt x="169824" y="643497"/>
                  </a:lnTo>
                  <a:lnTo>
                    <a:pt x="177049" y="706175"/>
                  </a:lnTo>
                  <a:lnTo>
                    <a:pt x="184193" y="764698"/>
                  </a:lnTo>
                  <a:lnTo>
                    <a:pt x="191228" y="817845"/>
                  </a:lnTo>
                  <a:lnTo>
                    <a:pt x="198123" y="864397"/>
                  </a:lnTo>
                  <a:lnTo>
                    <a:pt x="204849" y="903135"/>
                  </a:lnTo>
                  <a:lnTo>
                    <a:pt x="217678" y="952291"/>
                  </a:lnTo>
                  <a:lnTo>
                    <a:pt x="236672" y="969732"/>
                  </a:lnTo>
                  <a:lnTo>
                    <a:pt x="245828" y="960239"/>
                  </a:lnTo>
                  <a:lnTo>
                    <a:pt x="263566" y="910700"/>
                  </a:lnTo>
                  <a:lnTo>
                    <a:pt x="272192" y="873004"/>
                  </a:lnTo>
                  <a:lnTo>
                    <a:pt x="280686" y="828257"/>
                  </a:lnTo>
                  <a:lnTo>
                    <a:pt x="289070" y="777634"/>
                  </a:lnTo>
                  <a:lnTo>
                    <a:pt x="297366" y="722311"/>
                  </a:lnTo>
                  <a:lnTo>
                    <a:pt x="305596" y="663461"/>
                  </a:lnTo>
                  <a:lnTo>
                    <a:pt x="313781" y="602261"/>
                  </a:lnTo>
                  <a:lnTo>
                    <a:pt x="321945" y="539884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370197" y="4884183"/>
              <a:ext cx="322580" cy="970280"/>
            </a:xfrm>
            <a:custGeom>
              <a:avLst/>
              <a:gdLst/>
              <a:ahLst/>
              <a:cxnLst/>
              <a:rect l="l" t="t" r="r" b="b"/>
              <a:pathLst>
                <a:path w="322579" h="970279">
                  <a:moveTo>
                    <a:pt x="0" y="504172"/>
                  </a:moveTo>
                  <a:lnTo>
                    <a:pt x="5952" y="438806"/>
                  </a:lnTo>
                  <a:lnTo>
                    <a:pt x="11929" y="374422"/>
                  </a:lnTo>
                  <a:lnTo>
                    <a:pt x="17960" y="312001"/>
                  </a:lnTo>
                  <a:lnTo>
                    <a:pt x="24076" y="252521"/>
                  </a:lnTo>
                  <a:lnTo>
                    <a:pt x="30305" y="196960"/>
                  </a:lnTo>
                  <a:lnTo>
                    <a:pt x="36676" y="146297"/>
                  </a:lnTo>
                  <a:lnTo>
                    <a:pt x="43221" y="101512"/>
                  </a:lnTo>
                  <a:lnTo>
                    <a:pt x="49967" y="63583"/>
                  </a:lnTo>
                  <a:lnTo>
                    <a:pt x="64182" y="12207"/>
                  </a:lnTo>
                  <a:lnTo>
                    <a:pt x="79559" y="0"/>
                  </a:lnTo>
                  <a:lnTo>
                    <a:pt x="87757" y="11031"/>
                  </a:lnTo>
                  <a:lnTo>
                    <a:pt x="99795" y="56415"/>
                  </a:lnTo>
                  <a:lnTo>
                    <a:pt x="112812" y="138821"/>
                  </a:lnTo>
                  <a:lnTo>
                    <a:pt x="119613" y="190858"/>
                  </a:lnTo>
                  <a:lnTo>
                    <a:pt x="126570" y="248493"/>
                  </a:lnTo>
                  <a:lnTo>
                    <a:pt x="133653" y="310507"/>
                  </a:lnTo>
                  <a:lnTo>
                    <a:pt x="140832" y="375679"/>
                  </a:lnTo>
                  <a:lnTo>
                    <a:pt x="148078" y="442792"/>
                  </a:lnTo>
                  <a:lnTo>
                    <a:pt x="155361" y="510625"/>
                  </a:lnTo>
                  <a:lnTo>
                    <a:pt x="162651" y="577959"/>
                  </a:lnTo>
                  <a:lnTo>
                    <a:pt x="169919" y="643575"/>
                  </a:lnTo>
                  <a:lnTo>
                    <a:pt x="177135" y="706254"/>
                  </a:lnTo>
                  <a:lnTo>
                    <a:pt x="184269" y="764776"/>
                  </a:lnTo>
                  <a:lnTo>
                    <a:pt x="191292" y="817923"/>
                  </a:lnTo>
                  <a:lnTo>
                    <a:pt x="198174" y="864475"/>
                  </a:lnTo>
                  <a:lnTo>
                    <a:pt x="204885" y="903213"/>
                  </a:lnTo>
                  <a:lnTo>
                    <a:pt x="217678" y="952368"/>
                  </a:lnTo>
                  <a:lnTo>
                    <a:pt x="236726" y="969814"/>
                  </a:lnTo>
                  <a:lnTo>
                    <a:pt x="245901" y="960323"/>
                  </a:lnTo>
                  <a:lnTo>
                    <a:pt x="263668" y="910787"/>
                  </a:lnTo>
                  <a:lnTo>
                    <a:pt x="272303" y="873093"/>
                  </a:lnTo>
                  <a:lnTo>
                    <a:pt x="280804" y="828348"/>
                  </a:lnTo>
                  <a:lnTo>
                    <a:pt x="289193" y="777727"/>
                  </a:lnTo>
                  <a:lnTo>
                    <a:pt x="297491" y="722405"/>
                  </a:lnTo>
                  <a:lnTo>
                    <a:pt x="305722" y="663558"/>
                  </a:lnTo>
                  <a:lnTo>
                    <a:pt x="313908" y="602360"/>
                  </a:lnTo>
                  <a:lnTo>
                    <a:pt x="322072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2102992" y="4864600"/>
              <a:ext cx="421005" cy="970280"/>
            </a:xfrm>
            <a:custGeom>
              <a:avLst/>
              <a:gdLst/>
              <a:ahLst/>
              <a:cxnLst/>
              <a:rect l="l" t="t" r="r" b="b"/>
              <a:pathLst>
                <a:path w="421005" h="970279">
                  <a:moveTo>
                    <a:pt x="0" y="504070"/>
                  </a:moveTo>
                  <a:lnTo>
                    <a:pt x="7772" y="438729"/>
                  </a:lnTo>
                  <a:lnTo>
                    <a:pt x="15583" y="374363"/>
                  </a:lnTo>
                  <a:lnTo>
                    <a:pt x="23468" y="311953"/>
                  </a:lnTo>
                  <a:lnTo>
                    <a:pt x="31465" y="252479"/>
                  </a:lnTo>
                  <a:lnTo>
                    <a:pt x="39613" y="196920"/>
                  </a:lnTo>
                  <a:lnTo>
                    <a:pt x="47947" y="146259"/>
                  </a:lnTo>
                  <a:lnTo>
                    <a:pt x="56507" y="101473"/>
                  </a:lnTo>
                  <a:lnTo>
                    <a:pt x="65328" y="63545"/>
                  </a:lnTo>
                  <a:lnTo>
                    <a:pt x="83908" y="12178"/>
                  </a:lnTo>
                  <a:lnTo>
                    <a:pt x="103986" y="0"/>
                  </a:lnTo>
                  <a:lnTo>
                    <a:pt x="114680" y="11056"/>
                  </a:lnTo>
                  <a:lnTo>
                    <a:pt x="130422" y="56405"/>
                  </a:lnTo>
                  <a:lnTo>
                    <a:pt x="138791" y="93576"/>
                  </a:lnTo>
                  <a:lnTo>
                    <a:pt x="147442" y="138784"/>
                  </a:lnTo>
                  <a:lnTo>
                    <a:pt x="156334" y="190811"/>
                  </a:lnTo>
                  <a:lnTo>
                    <a:pt x="165430" y="248438"/>
                  </a:lnTo>
                  <a:lnTo>
                    <a:pt x="174691" y="310445"/>
                  </a:lnTo>
                  <a:lnTo>
                    <a:pt x="184077" y="375612"/>
                  </a:lnTo>
                  <a:lnTo>
                    <a:pt x="193552" y="442720"/>
                  </a:lnTo>
                  <a:lnTo>
                    <a:pt x="203075" y="510550"/>
                  </a:lnTo>
                  <a:lnTo>
                    <a:pt x="212609" y="577882"/>
                  </a:lnTo>
                  <a:lnTo>
                    <a:pt x="222114" y="643497"/>
                  </a:lnTo>
                  <a:lnTo>
                    <a:pt x="231552" y="706175"/>
                  </a:lnTo>
                  <a:lnTo>
                    <a:pt x="240885" y="764698"/>
                  </a:lnTo>
                  <a:lnTo>
                    <a:pt x="250072" y="817845"/>
                  </a:lnTo>
                  <a:lnTo>
                    <a:pt x="259077" y="864397"/>
                  </a:lnTo>
                  <a:lnTo>
                    <a:pt x="267860" y="903135"/>
                  </a:lnTo>
                  <a:lnTo>
                    <a:pt x="284607" y="952291"/>
                  </a:lnTo>
                  <a:lnTo>
                    <a:pt x="309474" y="969732"/>
                  </a:lnTo>
                  <a:lnTo>
                    <a:pt x="321456" y="960239"/>
                  </a:lnTo>
                  <a:lnTo>
                    <a:pt x="344665" y="910700"/>
                  </a:lnTo>
                  <a:lnTo>
                    <a:pt x="355949" y="873004"/>
                  </a:lnTo>
                  <a:lnTo>
                    <a:pt x="367058" y="828257"/>
                  </a:lnTo>
                  <a:lnTo>
                    <a:pt x="378022" y="777634"/>
                  </a:lnTo>
                  <a:lnTo>
                    <a:pt x="388870" y="722311"/>
                  </a:lnTo>
                  <a:lnTo>
                    <a:pt x="399630" y="663461"/>
                  </a:lnTo>
                  <a:lnTo>
                    <a:pt x="410332" y="602261"/>
                  </a:lnTo>
                  <a:lnTo>
                    <a:pt x="421005" y="539884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2523997" y="4864600"/>
              <a:ext cx="421005" cy="970280"/>
            </a:xfrm>
            <a:custGeom>
              <a:avLst/>
              <a:gdLst/>
              <a:ahLst/>
              <a:cxnLst/>
              <a:rect l="l" t="t" r="r" b="b"/>
              <a:pathLst>
                <a:path w="421005" h="970279">
                  <a:moveTo>
                    <a:pt x="0" y="504070"/>
                  </a:moveTo>
                  <a:lnTo>
                    <a:pt x="7770" y="438729"/>
                  </a:lnTo>
                  <a:lnTo>
                    <a:pt x="15575" y="374363"/>
                  </a:lnTo>
                  <a:lnTo>
                    <a:pt x="23452" y="311953"/>
                  </a:lnTo>
                  <a:lnTo>
                    <a:pt x="31440" y="252479"/>
                  </a:lnTo>
                  <a:lnTo>
                    <a:pt x="39578" y="196920"/>
                  </a:lnTo>
                  <a:lnTo>
                    <a:pt x="47904" y="146259"/>
                  </a:lnTo>
                  <a:lnTo>
                    <a:pt x="56456" y="101473"/>
                  </a:lnTo>
                  <a:lnTo>
                    <a:pt x="65273" y="63545"/>
                  </a:lnTo>
                  <a:lnTo>
                    <a:pt x="83856" y="12178"/>
                  </a:lnTo>
                  <a:lnTo>
                    <a:pt x="103961" y="0"/>
                  </a:lnTo>
                  <a:lnTo>
                    <a:pt x="114680" y="11056"/>
                  </a:lnTo>
                  <a:lnTo>
                    <a:pt x="130390" y="56405"/>
                  </a:lnTo>
                  <a:lnTo>
                    <a:pt x="147392" y="138784"/>
                  </a:lnTo>
                  <a:lnTo>
                    <a:pt x="156279" y="190811"/>
                  </a:lnTo>
                  <a:lnTo>
                    <a:pt x="165373" y="248438"/>
                  </a:lnTo>
                  <a:lnTo>
                    <a:pt x="174635" y="310445"/>
                  </a:lnTo>
                  <a:lnTo>
                    <a:pt x="184024" y="375612"/>
                  </a:lnTo>
                  <a:lnTo>
                    <a:pt x="193502" y="442720"/>
                  </a:lnTo>
                  <a:lnTo>
                    <a:pt x="203030" y="510550"/>
                  </a:lnTo>
                  <a:lnTo>
                    <a:pt x="212570" y="577882"/>
                  </a:lnTo>
                  <a:lnTo>
                    <a:pt x="222082" y="643497"/>
                  </a:lnTo>
                  <a:lnTo>
                    <a:pt x="231526" y="706175"/>
                  </a:lnTo>
                  <a:lnTo>
                    <a:pt x="240865" y="764698"/>
                  </a:lnTo>
                  <a:lnTo>
                    <a:pt x="250059" y="817845"/>
                  </a:lnTo>
                  <a:lnTo>
                    <a:pt x="259069" y="864397"/>
                  </a:lnTo>
                  <a:lnTo>
                    <a:pt x="267856" y="903135"/>
                  </a:lnTo>
                  <a:lnTo>
                    <a:pt x="284607" y="952291"/>
                  </a:lnTo>
                  <a:lnTo>
                    <a:pt x="309464" y="969732"/>
                  </a:lnTo>
                  <a:lnTo>
                    <a:pt x="321437" y="960239"/>
                  </a:lnTo>
                  <a:lnTo>
                    <a:pt x="344617" y="910700"/>
                  </a:lnTo>
                  <a:lnTo>
                    <a:pt x="355885" y="873004"/>
                  </a:lnTo>
                  <a:lnTo>
                    <a:pt x="366979" y="828257"/>
                  </a:lnTo>
                  <a:lnTo>
                    <a:pt x="377928" y="777634"/>
                  </a:lnTo>
                  <a:lnTo>
                    <a:pt x="388762" y="722311"/>
                  </a:lnTo>
                  <a:lnTo>
                    <a:pt x="399512" y="663461"/>
                  </a:lnTo>
                  <a:lnTo>
                    <a:pt x="410207" y="602261"/>
                  </a:lnTo>
                  <a:lnTo>
                    <a:pt x="420878" y="539884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2952496" y="4864600"/>
              <a:ext cx="421005" cy="970280"/>
            </a:xfrm>
            <a:custGeom>
              <a:avLst/>
              <a:gdLst/>
              <a:ahLst/>
              <a:cxnLst/>
              <a:rect l="l" t="t" r="r" b="b"/>
              <a:pathLst>
                <a:path w="421004" h="970279">
                  <a:moveTo>
                    <a:pt x="0" y="504070"/>
                  </a:moveTo>
                  <a:lnTo>
                    <a:pt x="7772" y="438729"/>
                  </a:lnTo>
                  <a:lnTo>
                    <a:pt x="15583" y="374363"/>
                  </a:lnTo>
                  <a:lnTo>
                    <a:pt x="23468" y="311953"/>
                  </a:lnTo>
                  <a:lnTo>
                    <a:pt x="31465" y="252479"/>
                  </a:lnTo>
                  <a:lnTo>
                    <a:pt x="39613" y="196920"/>
                  </a:lnTo>
                  <a:lnTo>
                    <a:pt x="47947" y="146259"/>
                  </a:lnTo>
                  <a:lnTo>
                    <a:pt x="56507" y="101473"/>
                  </a:lnTo>
                  <a:lnTo>
                    <a:pt x="65328" y="63545"/>
                  </a:lnTo>
                  <a:lnTo>
                    <a:pt x="83908" y="12178"/>
                  </a:lnTo>
                  <a:lnTo>
                    <a:pt x="103986" y="0"/>
                  </a:lnTo>
                  <a:lnTo>
                    <a:pt x="114680" y="11056"/>
                  </a:lnTo>
                  <a:lnTo>
                    <a:pt x="130422" y="56405"/>
                  </a:lnTo>
                  <a:lnTo>
                    <a:pt x="138791" y="93576"/>
                  </a:lnTo>
                  <a:lnTo>
                    <a:pt x="147442" y="138784"/>
                  </a:lnTo>
                  <a:lnTo>
                    <a:pt x="156334" y="190811"/>
                  </a:lnTo>
                  <a:lnTo>
                    <a:pt x="165430" y="248438"/>
                  </a:lnTo>
                  <a:lnTo>
                    <a:pt x="174691" y="310445"/>
                  </a:lnTo>
                  <a:lnTo>
                    <a:pt x="184077" y="375612"/>
                  </a:lnTo>
                  <a:lnTo>
                    <a:pt x="193552" y="442720"/>
                  </a:lnTo>
                  <a:lnTo>
                    <a:pt x="203075" y="510550"/>
                  </a:lnTo>
                  <a:lnTo>
                    <a:pt x="212609" y="577882"/>
                  </a:lnTo>
                  <a:lnTo>
                    <a:pt x="222114" y="643497"/>
                  </a:lnTo>
                  <a:lnTo>
                    <a:pt x="231552" y="706175"/>
                  </a:lnTo>
                  <a:lnTo>
                    <a:pt x="240885" y="764698"/>
                  </a:lnTo>
                  <a:lnTo>
                    <a:pt x="250072" y="817845"/>
                  </a:lnTo>
                  <a:lnTo>
                    <a:pt x="259077" y="864397"/>
                  </a:lnTo>
                  <a:lnTo>
                    <a:pt x="267860" y="903135"/>
                  </a:lnTo>
                  <a:lnTo>
                    <a:pt x="284607" y="952291"/>
                  </a:lnTo>
                  <a:lnTo>
                    <a:pt x="309474" y="969732"/>
                  </a:lnTo>
                  <a:lnTo>
                    <a:pt x="321456" y="960239"/>
                  </a:lnTo>
                  <a:lnTo>
                    <a:pt x="344665" y="910700"/>
                  </a:lnTo>
                  <a:lnTo>
                    <a:pt x="355949" y="873004"/>
                  </a:lnTo>
                  <a:lnTo>
                    <a:pt x="367058" y="828257"/>
                  </a:lnTo>
                  <a:lnTo>
                    <a:pt x="378022" y="777634"/>
                  </a:lnTo>
                  <a:lnTo>
                    <a:pt x="388870" y="722311"/>
                  </a:lnTo>
                  <a:lnTo>
                    <a:pt x="399630" y="663461"/>
                  </a:lnTo>
                  <a:lnTo>
                    <a:pt x="410332" y="602261"/>
                  </a:lnTo>
                  <a:lnTo>
                    <a:pt x="421005" y="539884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4704460" y="4883675"/>
              <a:ext cx="541401" cy="970280"/>
            </a:xfrm>
            <a:custGeom>
              <a:avLst/>
              <a:gdLst/>
              <a:ahLst/>
              <a:cxnLst/>
              <a:rect l="l" t="t" r="r" b="b"/>
              <a:pathLst>
                <a:path w="421004" h="970279">
                  <a:moveTo>
                    <a:pt x="0" y="504172"/>
                  </a:moveTo>
                  <a:lnTo>
                    <a:pt x="7772" y="438806"/>
                  </a:lnTo>
                  <a:lnTo>
                    <a:pt x="15583" y="374422"/>
                  </a:lnTo>
                  <a:lnTo>
                    <a:pt x="23468" y="312001"/>
                  </a:lnTo>
                  <a:lnTo>
                    <a:pt x="31465" y="252521"/>
                  </a:lnTo>
                  <a:lnTo>
                    <a:pt x="39613" y="196960"/>
                  </a:lnTo>
                  <a:lnTo>
                    <a:pt x="47947" y="146297"/>
                  </a:lnTo>
                  <a:lnTo>
                    <a:pt x="56507" y="101512"/>
                  </a:lnTo>
                  <a:lnTo>
                    <a:pt x="65328" y="63583"/>
                  </a:lnTo>
                  <a:lnTo>
                    <a:pt x="83908" y="12207"/>
                  </a:lnTo>
                  <a:lnTo>
                    <a:pt x="103986" y="0"/>
                  </a:lnTo>
                  <a:lnTo>
                    <a:pt x="114680" y="11031"/>
                  </a:lnTo>
                  <a:lnTo>
                    <a:pt x="130422" y="56415"/>
                  </a:lnTo>
                  <a:lnTo>
                    <a:pt x="138791" y="93600"/>
                  </a:lnTo>
                  <a:lnTo>
                    <a:pt x="147442" y="138821"/>
                  </a:lnTo>
                  <a:lnTo>
                    <a:pt x="156334" y="190858"/>
                  </a:lnTo>
                  <a:lnTo>
                    <a:pt x="165430" y="248493"/>
                  </a:lnTo>
                  <a:lnTo>
                    <a:pt x="174691" y="310507"/>
                  </a:lnTo>
                  <a:lnTo>
                    <a:pt x="184077" y="375679"/>
                  </a:lnTo>
                  <a:lnTo>
                    <a:pt x="193552" y="442792"/>
                  </a:lnTo>
                  <a:lnTo>
                    <a:pt x="203075" y="510625"/>
                  </a:lnTo>
                  <a:lnTo>
                    <a:pt x="212609" y="577959"/>
                  </a:lnTo>
                  <a:lnTo>
                    <a:pt x="222114" y="643575"/>
                  </a:lnTo>
                  <a:lnTo>
                    <a:pt x="231552" y="706254"/>
                  </a:lnTo>
                  <a:lnTo>
                    <a:pt x="240885" y="764776"/>
                  </a:lnTo>
                  <a:lnTo>
                    <a:pt x="250072" y="817923"/>
                  </a:lnTo>
                  <a:lnTo>
                    <a:pt x="259077" y="864475"/>
                  </a:lnTo>
                  <a:lnTo>
                    <a:pt x="267860" y="903213"/>
                  </a:lnTo>
                  <a:lnTo>
                    <a:pt x="284607" y="952368"/>
                  </a:lnTo>
                  <a:lnTo>
                    <a:pt x="309474" y="969809"/>
                  </a:lnTo>
                  <a:lnTo>
                    <a:pt x="321456" y="960316"/>
                  </a:lnTo>
                  <a:lnTo>
                    <a:pt x="344665" y="910778"/>
                  </a:lnTo>
                  <a:lnTo>
                    <a:pt x="355949" y="873083"/>
                  </a:lnTo>
                  <a:lnTo>
                    <a:pt x="367058" y="828339"/>
                  </a:lnTo>
                  <a:lnTo>
                    <a:pt x="378022" y="777719"/>
                  </a:lnTo>
                  <a:lnTo>
                    <a:pt x="388870" y="722398"/>
                  </a:lnTo>
                  <a:lnTo>
                    <a:pt x="399630" y="663553"/>
                  </a:lnTo>
                  <a:lnTo>
                    <a:pt x="410332" y="602357"/>
                  </a:lnTo>
                  <a:lnTo>
                    <a:pt x="421005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9" name="object 79"/>
            <p:cNvSpPr/>
            <p:nvPr/>
          </p:nvSpPr>
          <p:spPr>
            <a:xfrm>
              <a:off x="5257545" y="4883675"/>
              <a:ext cx="577852" cy="970280"/>
            </a:xfrm>
            <a:custGeom>
              <a:avLst/>
              <a:gdLst/>
              <a:ahLst/>
              <a:cxnLst/>
              <a:rect l="l" t="t" r="r" b="b"/>
              <a:pathLst>
                <a:path w="421004" h="970279">
                  <a:moveTo>
                    <a:pt x="0" y="504172"/>
                  </a:moveTo>
                  <a:lnTo>
                    <a:pt x="7770" y="438806"/>
                  </a:lnTo>
                  <a:lnTo>
                    <a:pt x="15575" y="374422"/>
                  </a:lnTo>
                  <a:lnTo>
                    <a:pt x="23452" y="312001"/>
                  </a:lnTo>
                  <a:lnTo>
                    <a:pt x="31440" y="252521"/>
                  </a:lnTo>
                  <a:lnTo>
                    <a:pt x="39578" y="196960"/>
                  </a:lnTo>
                  <a:lnTo>
                    <a:pt x="47904" y="146297"/>
                  </a:lnTo>
                  <a:lnTo>
                    <a:pt x="56456" y="101512"/>
                  </a:lnTo>
                  <a:lnTo>
                    <a:pt x="65273" y="63583"/>
                  </a:lnTo>
                  <a:lnTo>
                    <a:pt x="83856" y="12207"/>
                  </a:lnTo>
                  <a:lnTo>
                    <a:pt x="103961" y="0"/>
                  </a:lnTo>
                  <a:lnTo>
                    <a:pt x="114680" y="11031"/>
                  </a:lnTo>
                  <a:lnTo>
                    <a:pt x="130390" y="56415"/>
                  </a:lnTo>
                  <a:lnTo>
                    <a:pt x="138749" y="93600"/>
                  </a:lnTo>
                  <a:lnTo>
                    <a:pt x="147392" y="138821"/>
                  </a:lnTo>
                  <a:lnTo>
                    <a:pt x="156279" y="190858"/>
                  </a:lnTo>
                  <a:lnTo>
                    <a:pt x="165373" y="248493"/>
                  </a:lnTo>
                  <a:lnTo>
                    <a:pt x="174635" y="310507"/>
                  </a:lnTo>
                  <a:lnTo>
                    <a:pt x="184024" y="375679"/>
                  </a:lnTo>
                  <a:lnTo>
                    <a:pt x="193502" y="442792"/>
                  </a:lnTo>
                  <a:lnTo>
                    <a:pt x="203030" y="510625"/>
                  </a:lnTo>
                  <a:lnTo>
                    <a:pt x="212570" y="577959"/>
                  </a:lnTo>
                  <a:lnTo>
                    <a:pt x="222082" y="643575"/>
                  </a:lnTo>
                  <a:lnTo>
                    <a:pt x="231526" y="706254"/>
                  </a:lnTo>
                  <a:lnTo>
                    <a:pt x="240865" y="764776"/>
                  </a:lnTo>
                  <a:lnTo>
                    <a:pt x="250059" y="817923"/>
                  </a:lnTo>
                  <a:lnTo>
                    <a:pt x="259069" y="864475"/>
                  </a:lnTo>
                  <a:lnTo>
                    <a:pt x="267856" y="903213"/>
                  </a:lnTo>
                  <a:lnTo>
                    <a:pt x="284607" y="952368"/>
                  </a:lnTo>
                  <a:lnTo>
                    <a:pt x="309464" y="969809"/>
                  </a:lnTo>
                  <a:lnTo>
                    <a:pt x="321437" y="960316"/>
                  </a:lnTo>
                  <a:lnTo>
                    <a:pt x="344617" y="910778"/>
                  </a:lnTo>
                  <a:lnTo>
                    <a:pt x="355885" y="873083"/>
                  </a:lnTo>
                  <a:lnTo>
                    <a:pt x="366979" y="828339"/>
                  </a:lnTo>
                  <a:lnTo>
                    <a:pt x="377928" y="777719"/>
                  </a:lnTo>
                  <a:lnTo>
                    <a:pt x="388762" y="722398"/>
                  </a:lnTo>
                  <a:lnTo>
                    <a:pt x="399512" y="663553"/>
                  </a:lnTo>
                  <a:lnTo>
                    <a:pt x="410207" y="602357"/>
                  </a:lnTo>
                  <a:lnTo>
                    <a:pt x="420878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267F7F55-EB74-4637-8B8E-29DE8654B107}"/>
                  </a:ext>
                </a:extLst>
              </p:cNvPr>
              <p:cNvSpPr txBox="1"/>
              <p:nvPr/>
            </p:nvSpPr>
            <p:spPr>
              <a:xfrm>
                <a:off x="8848344" y="2422584"/>
                <a:ext cx="2263312" cy="3032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𝒎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267F7F55-EB74-4637-8B8E-29DE8654B1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8344" y="2422584"/>
                <a:ext cx="2263312" cy="303225"/>
              </a:xfrm>
              <a:prstGeom prst="rect">
                <a:avLst/>
              </a:prstGeom>
              <a:blipFill>
                <a:blip r:embed="rId10"/>
                <a:stretch>
                  <a:fillRect b="-2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AAD6DD64-6A84-4443-A213-71DC49A0F27C}"/>
                  </a:ext>
                </a:extLst>
              </p:cNvPr>
              <p:cNvSpPr txBox="1"/>
              <p:nvPr/>
            </p:nvSpPr>
            <p:spPr>
              <a:xfrm>
                <a:off x="8902846" y="3296319"/>
                <a:ext cx="2154308" cy="3032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𝒎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AAD6DD64-6A84-4443-A213-71DC49A0F2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2846" y="3296319"/>
                <a:ext cx="2154308" cy="303225"/>
              </a:xfrm>
              <a:prstGeom prst="rect">
                <a:avLst/>
              </a:prstGeom>
              <a:blipFill>
                <a:blip r:embed="rId11"/>
                <a:stretch>
                  <a:fillRect l="-847" t="-2041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F44B76B4-E809-4F76-ADD9-7844EC71BF4F}"/>
                  </a:ext>
                </a:extLst>
              </p:cNvPr>
              <p:cNvSpPr txBox="1"/>
              <p:nvPr/>
            </p:nvSpPr>
            <p:spPr>
              <a:xfrm>
                <a:off x="8902846" y="4116375"/>
                <a:ext cx="2457276" cy="3032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𝝅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𝒎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F44B76B4-E809-4F76-ADD9-7844EC71BF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2846" y="4116375"/>
                <a:ext cx="2457276" cy="303225"/>
              </a:xfrm>
              <a:prstGeom prst="rect">
                <a:avLst/>
              </a:prstGeom>
              <a:blipFill>
                <a:blip r:embed="rId12"/>
                <a:stretch>
                  <a:fillRect l="-743" b="-2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Rectangle 85">
            <a:extLst>
              <a:ext uri="{FF2B5EF4-FFF2-40B4-BE49-F238E27FC236}">
                <a16:creationId xmlns:a16="http://schemas.microsoft.com/office/drawing/2014/main" id="{95265D34-5DF3-4360-81EC-D73913B89C30}"/>
              </a:ext>
            </a:extLst>
          </p:cNvPr>
          <p:cNvSpPr/>
          <p:nvPr/>
        </p:nvSpPr>
        <p:spPr>
          <a:xfrm>
            <a:off x="8763001" y="2321561"/>
            <a:ext cx="2457276" cy="4978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52B5ADE4-C43D-498B-899A-93CB4F550CBF}"/>
              </a:ext>
            </a:extLst>
          </p:cNvPr>
          <p:cNvSpPr/>
          <p:nvPr/>
        </p:nvSpPr>
        <p:spPr>
          <a:xfrm>
            <a:off x="8773211" y="3184467"/>
            <a:ext cx="2457276" cy="4978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FD60563B-6CB0-44E5-8C94-618637B8B26B}"/>
              </a:ext>
            </a:extLst>
          </p:cNvPr>
          <p:cNvSpPr/>
          <p:nvPr/>
        </p:nvSpPr>
        <p:spPr>
          <a:xfrm>
            <a:off x="8787860" y="4034789"/>
            <a:ext cx="2572262" cy="4978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18841" y="-45643"/>
            <a:ext cx="6358890" cy="971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200" spc="-55" dirty="0">
                <a:solidFill>
                  <a:srgbClr val="006600"/>
                </a:solidFill>
                <a:latin typeface="Trebuchet MS"/>
                <a:cs typeface="Trebuchet MS"/>
              </a:rPr>
              <a:t>Phase</a:t>
            </a:r>
            <a:r>
              <a:rPr sz="6200" spc="-385" dirty="0">
                <a:solidFill>
                  <a:srgbClr val="006600"/>
                </a:solidFill>
                <a:latin typeface="Trebuchet MS"/>
                <a:cs typeface="Trebuchet MS"/>
              </a:rPr>
              <a:t> </a:t>
            </a:r>
            <a:r>
              <a:rPr sz="6200" spc="-20" dirty="0">
                <a:solidFill>
                  <a:srgbClr val="006600"/>
                </a:solidFill>
                <a:latin typeface="Trebuchet MS"/>
                <a:cs typeface="Trebuchet MS"/>
              </a:rPr>
              <a:t>Modulation</a:t>
            </a:r>
            <a:endParaRPr sz="6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4142" y="782101"/>
            <a:ext cx="4917440" cy="2116455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3200" b="1" u="sng" spc="-1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Outlines</a:t>
            </a:r>
            <a:endParaRPr sz="3200" dirty="0">
              <a:latin typeface="Calibri"/>
              <a:cs typeface="Calibri"/>
            </a:endParaRPr>
          </a:p>
          <a:p>
            <a:pPr marL="520065" indent="-457200">
              <a:lnSpc>
                <a:spcPct val="100000"/>
              </a:lnSpc>
              <a:spcBef>
                <a:spcPts val="470"/>
              </a:spcBef>
              <a:buFont typeface="Wingdings"/>
              <a:buChar char=""/>
              <a:tabLst>
                <a:tab pos="5200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Basics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Phase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Modulation</a:t>
            </a:r>
            <a:endParaRPr sz="2400" dirty="0">
              <a:latin typeface="Calibri"/>
              <a:cs typeface="Calibri"/>
            </a:endParaRPr>
          </a:p>
          <a:p>
            <a:pPr marL="520065" indent="-457200">
              <a:lnSpc>
                <a:spcPct val="100000"/>
              </a:lnSpc>
              <a:buFont typeface="Wingdings"/>
              <a:buChar char=""/>
              <a:tabLst>
                <a:tab pos="5200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Block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Diagram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Phase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Modulator</a:t>
            </a:r>
            <a:endParaRPr sz="2400" dirty="0">
              <a:latin typeface="Calibri"/>
              <a:cs typeface="Calibri"/>
            </a:endParaRPr>
          </a:p>
          <a:p>
            <a:pPr marL="520065" indent="-457200">
              <a:lnSpc>
                <a:spcPct val="100000"/>
              </a:lnSpc>
              <a:buFont typeface="Wingdings"/>
              <a:buChar char=""/>
              <a:tabLst>
                <a:tab pos="520065" algn="l"/>
              </a:tabLst>
            </a:pP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Waveforms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Phase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Modulator</a:t>
            </a:r>
            <a:endParaRPr sz="2400" dirty="0">
              <a:latin typeface="Calibri"/>
              <a:cs typeface="Calibri"/>
            </a:endParaRPr>
          </a:p>
          <a:p>
            <a:pPr marL="520065" indent="-457200">
              <a:lnSpc>
                <a:spcPct val="100000"/>
              </a:lnSpc>
              <a:buFont typeface="Wingdings"/>
              <a:buChar char=""/>
              <a:tabLst>
                <a:tab pos="5200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Square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Wave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Phase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Modulator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Basics</a:t>
            </a:r>
            <a:r>
              <a:rPr sz="3200" u="sng" spc="-5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of</a:t>
            </a:r>
            <a:r>
              <a:rPr sz="3200" u="sng" spc="-2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Phase</a:t>
            </a:r>
            <a:r>
              <a:rPr sz="3200" u="sng" spc="-5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spc="-1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Modulation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41245" y="1858391"/>
            <a:ext cx="236093" cy="21170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3043682" y="1858391"/>
            <a:ext cx="510540" cy="212090"/>
          </a:xfrm>
          <a:custGeom>
            <a:avLst/>
            <a:gdLst/>
            <a:ahLst/>
            <a:cxnLst/>
            <a:rect l="l" t="t" r="r" b="b"/>
            <a:pathLst>
              <a:path w="510539" h="212089">
                <a:moveTo>
                  <a:pt x="442849" y="0"/>
                </a:moveTo>
                <a:lnTo>
                  <a:pt x="439801" y="8509"/>
                </a:lnTo>
                <a:lnTo>
                  <a:pt x="452086" y="13892"/>
                </a:lnTo>
                <a:lnTo>
                  <a:pt x="462645" y="21288"/>
                </a:lnTo>
                <a:lnTo>
                  <a:pt x="484036" y="55429"/>
                </a:lnTo>
                <a:lnTo>
                  <a:pt x="490288" y="86483"/>
                </a:lnTo>
                <a:lnTo>
                  <a:pt x="490323" y="86723"/>
                </a:lnTo>
                <a:lnTo>
                  <a:pt x="491109" y="104775"/>
                </a:lnTo>
                <a:lnTo>
                  <a:pt x="490323" y="123444"/>
                </a:lnTo>
                <a:lnTo>
                  <a:pt x="487965" y="140398"/>
                </a:lnTo>
                <a:lnTo>
                  <a:pt x="471418" y="180784"/>
                </a:lnTo>
                <a:lnTo>
                  <a:pt x="440182" y="203073"/>
                </a:lnTo>
                <a:lnTo>
                  <a:pt x="442849" y="211709"/>
                </a:lnTo>
                <a:lnTo>
                  <a:pt x="483318" y="187706"/>
                </a:lnTo>
                <a:lnTo>
                  <a:pt x="506047" y="143335"/>
                </a:lnTo>
                <a:lnTo>
                  <a:pt x="510413" y="105918"/>
                </a:lnTo>
                <a:lnTo>
                  <a:pt x="509331" y="86723"/>
                </a:lnTo>
                <a:lnTo>
                  <a:pt x="509317" y="86483"/>
                </a:lnTo>
                <a:lnTo>
                  <a:pt x="492887" y="37084"/>
                </a:lnTo>
                <a:lnTo>
                  <a:pt x="458204" y="5526"/>
                </a:lnTo>
                <a:lnTo>
                  <a:pt x="442849" y="0"/>
                </a:lnTo>
                <a:close/>
              </a:path>
              <a:path w="510539" h="212089">
                <a:moveTo>
                  <a:pt x="67564" y="0"/>
                </a:moveTo>
                <a:lnTo>
                  <a:pt x="27166" y="24056"/>
                </a:lnTo>
                <a:lnTo>
                  <a:pt x="4381" y="68548"/>
                </a:lnTo>
                <a:lnTo>
                  <a:pt x="64" y="104775"/>
                </a:lnTo>
                <a:lnTo>
                  <a:pt x="0" y="105918"/>
                </a:lnTo>
                <a:lnTo>
                  <a:pt x="985" y="123444"/>
                </a:lnTo>
                <a:lnTo>
                  <a:pt x="1093" y="125370"/>
                </a:lnTo>
                <a:lnTo>
                  <a:pt x="4365" y="143335"/>
                </a:lnTo>
                <a:lnTo>
                  <a:pt x="27094" y="187706"/>
                </a:lnTo>
                <a:lnTo>
                  <a:pt x="67564" y="211709"/>
                </a:lnTo>
                <a:lnTo>
                  <a:pt x="70231" y="203073"/>
                </a:lnTo>
                <a:lnTo>
                  <a:pt x="58183" y="197738"/>
                </a:lnTo>
                <a:lnTo>
                  <a:pt x="47767" y="190309"/>
                </a:lnTo>
                <a:lnTo>
                  <a:pt x="26376" y="155638"/>
                </a:lnTo>
                <a:lnTo>
                  <a:pt x="19352" y="105918"/>
                </a:lnTo>
                <a:lnTo>
                  <a:pt x="19304" y="104775"/>
                </a:lnTo>
                <a:lnTo>
                  <a:pt x="20089" y="86723"/>
                </a:lnTo>
                <a:lnTo>
                  <a:pt x="31877" y="42164"/>
                </a:lnTo>
                <a:lnTo>
                  <a:pt x="58398" y="13892"/>
                </a:lnTo>
                <a:lnTo>
                  <a:pt x="70612" y="8509"/>
                </a:lnTo>
                <a:lnTo>
                  <a:pt x="675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626483" y="1526921"/>
            <a:ext cx="0" cy="866775"/>
          </a:xfrm>
          <a:custGeom>
            <a:avLst/>
            <a:gdLst/>
            <a:ahLst/>
            <a:cxnLst/>
            <a:rect l="l" t="t" r="r" b="b"/>
            <a:pathLst>
              <a:path h="866775">
                <a:moveTo>
                  <a:pt x="0" y="0"/>
                </a:moveTo>
                <a:lnTo>
                  <a:pt x="0" y="866647"/>
                </a:lnTo>
              </a:path>
            </a:pathLst>
          </a:custGeom>
          <a:ln w="28575">
            <a:solidFill>
              <a:srgbClr val="4471C4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22034" y="1858391"/>
            <a:ext cx="236092" cy="211709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7322946" y="1858391"/>
            <a:ext cx="960119" cy="212090"/>
          </a:xfrm>
          <a:custGeom>
            <a:avLst/>
            <a:gdLst/>
            <a:ahLst/>
            <a:cxnLst/>
            <a:rect l="l" t="t" r="r" b="b"/>
            <a:pathLst>
              <a:path w="960120" h="212089">
                <a:moveTo>
                  <a:pt x="892428" y="0"/>
                </a:moveTo>
                <a:lnTo>
                  <a:pt x="889380" y="8509"/>
                </a:lnTo>
                <a:lnTo>
                  <a:pt x="901666" y="13892"/>
                </a:lnTo>
                <a:lnTo>
                  <a:pt x="912225" y="21288"/>
                </a:lnTo>
                <a:lnTo>
                  <a:pt x="933616" y="55429"/>
                </a:lnTo>
                <a:lnTo>
                  <a:pt x="939868" y="86483"/>
                </a:lnTo>
                <a:lnTo>
                  <a:pt x="939903" y="86723"/>
                </a:lnTo>
                <a:lnTo>
                  <a:pt x="940688" y="104775"/>
                </a:lnTo>
                <a:lnTo>
                  <a:pt x="939903" y="123444"/>
                </a:lnTo>
                <a:lnTo>
                  <a:pt x="937545" y="140398"/>
                </a:lnTo>
                <a:lnTo>
                  <a:pt x="920998" y="180784"/>
                </a:lnTo>
                <a:lnTo>
                  <a:pt x="889761" y="203073"/>
                </a:lnTo>
                <a:lnTo>
                  <a:pt x="892428" y="211709"/>
                </a:lnTo>
                <a:lnTo>
                  <a:pt x="932898" y="187706"/>
                </a:lnTo>
                <a:lnTo>
                  <a:pt x="955627" y="143335"/>
                </a:lnTo>
                <a:lnTo>
                  <a:pt x="959992" y="105918"/>
                </a:lnTo>
                <a:lnTo>
                  <a:pt x="958911" y="86723"/>
                </a:lnTo>
                <a:lnTo>
                  <a:pt x="958897" y="86483"/>
                </a:lnTo>
                <a:lnTo>
                  <a:pt x="942466" y="37084"/>
                </a:lnTo>
                <a:lnTo>
                  <a:pt x="907766" y="5526"/>
                </a:lnTo>
                <a:lnTo>
                  <a:pt x="892428" y="0"/>
                </a:lnTo>
                <a:close/>
              </a:path>
              <a:path w="960120" h="212089">
                <a:moveTo>
                  <a:pt x="67563" y="0"/>
                </a:moveTo>
                <a:lnTo>
                  <a:pt x="27166" y="24056"/>
                </a:lnTo>
                <a:lnTo>
                  <a:pt x="4381" y="68548"/>
                </a:lnTo>
                <a:lnTo>
                  <a:pt x="64" y="104775"/>
                </a:lnTo>
                <a:lnTo>
                  <a:pt x="0" y="105918"/>
                </a:lnTo>
                <a:lnTo>
                  <a:pt x="985" y="123444"/>
                </a:lnTo>
                <a:lnTo>
                  <a:pt x="1093" y="125370"/>
                </a:lnTo>
                <a:lnTo>
                  <a:pt x="4365" y="143335"/>
                </a:lnTo>
                <a:lnTo>
                  <a:pt x="27094" y="187706"/>
                </a:lnTo>
                <a:lnTo>
                  <a:pt x="67563" y="211709"/>
                </a:lnTo>
                <a:lnTo>
                  <a:pt x="70230" y="203073"/>
                </a:lnTo>
                <a:lnTo>
                  <a:pt x="58183" y="197738"/>
                </a:lnTo>
                <a:lnTo>
                  <a:pt x="47767" y="190309"/>
                </a:lnTo>
                <a:lnTo>
                  <a:pt x="26376" y="155638"/>
                </a:lnTo>
                <a:lnTo>
                  <a:pt x="19352" y="105918"/>
                </a:lnTo>
                <a:lnTo>
                  <a:pt x="19303" y="104775"/>
                </a:lnTo>
                <a:lnTo>
                  <a:pt x="26376" y="55429"/>
                </a:lnTo>
                <a:lnTo>
                  <a:pt x="47815" y="21288"/>
                </a:lnTo>
                <a:lnTo>
                  <a:pt x="70611" y="8509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9249288" y="1825370"/>
            <a:ext cx="579120" cy="276225"/>
            <a:chOff x="9249288" y="1825370"/>
            <a:chExt cx="579120" cy="276225"/>
          </a:xfrm>
        </p:grpSpPr>
        <p:sp>
          <p:nvSpPr>
            <p:cNvPr id="9" name="object 9"/>
            <p:cNvSpPr/>
            <p:nvPr/>
          </p:nvSpPr>
          <p:spPr>
            <a:xfrm>
              <a:off x="9249288" y="1825370"/>
              <a:ext cx="579120" cy="276225"/>
            </a:xfrm>
            <a:custGeom>
              <a:avLst/>
              <a:gdLst/>
              <a:ahLst/>
              <a:cxnLst/>
              <a:rect l="l" t="t" r="r" b="b"/>
              <a:pathLst>
                <a:path w="579120" h="276225">
                  <a:moveTo>
                    <a:pt x="506597" y="0"/>
                  </a:moveTo>
                  <a:lnTo>
                    <a:pt x="503803" y="9271"/>
                  </a:lnTo>
                  <a:lnTo>
                    <a:pt x="516497" y="15819"/>
                  </a:lnTo>
                  <a:lnTo>
                    <a:pt x="527536" y="25368"/>
                  </a:lnTo>
                  <a:lnTo>
                    <a:pt x="550791" y="71616"/>
                  </a:lnTo>
                  <a:lnTo>
                    <a:pt x="557787" y="114010"/>
                  </a:lnTo>
                  <a:lnTo>
                    <a:pt x="558667" y="138303"/>
                  </a:lnTo>
                  <a:lnTo>
                    <a:pt x="557787" y="162446"/>
                  </a:lnTo>
                  <a:lnTo>
                    <a:pt x="550791" y="204686"/>
                  </a:lnTo>
                  <a:lnTo>
                    <a:pt x="527536" y="250872"/>
                  </a:lnTo>
                  <a:lnTo>
                    <a:pt x="503803" y="267081"/>
                  </a:lnTo>
                  <a:lnTo>
                    <a:pt x="506597" y="276225"/>
                  </a:lnTo>
                  <a:lnTo>
                    <a:pt x="549888" y="246060"/>
                  </a:lnTo>
                  <a:lnTo>
                    <a:pt x="568559" y="208702"/>
                  </a:lnTo>
                  <a:lnTo>
                    <a:pt x="577945" y="163415"/>
                  </a:lnTo>
                  <a:lnTo>
                    <a:pt x="579108" y="138303"/>
                  </a:lnTo>
                  <a:lnTo>
                    <a:pt x="577998" y="114010"/>
                  </a:lnTo>
                  <a:lnTo>
                    <a:pt x="568559" y="67524"/>
                  </a:lnTo>
                  <a:lnTo>
                    <a:pt x="549888" y="30164"/>
                  </a:lnTo>
                  <a:lnTo>
                    <a:pt x="523027" y="6403"/>
                  </a:lnTo>
                  <a:lnTo>
                    <a:pt x="506597" y="0"/>
                  </a:lnTo>
                  <a:close/>
                </a:path>
                <a:path w="579120" h="276225">
                  <a:moveTo>
                    <a:pt x="72511" y="0"/>
                  </a:moveTo>
                  <a:lnTo>
                    <a:pt x="29344" y="30164"/>
                  </a:lnTo>
                  <a:lnTo>
                    <a:pt x="10656" y="67524"/>
                  </a:lnTo>
                  <a:lnTo>
                    <a:pt x="1182" y="112863"/>
                  </a:lnTo>
                  <a:lnTo>
                    <a:pt x="0" y="138303"/>
                  </a:lnTo>
                  <a:lnTo>
                    <a:pt x="1137" y="162446"/>
                  </a:lnTo>
                  <a:lnTo>
                    <a:pt x="1182" y="163415"/>
                  </a:lnTo>
                  <a:lnTo>
                    <a:pt x="10656" y="208702"/>
                  </a:lnTo>
                  <a:lnTo>
                    <a:pt x="29344" y="246060"/>
                  </a:lnTo>
                  <a:lnTo>
                    <a:pt x="72511" y="276225"/>
                  </a:lnTo>
                  <a:lnTo>
                    <a:pt x="75305" y="267081"/>
                  </a:lnTo>
                  <a:lnTo>
                    <a:pt x="62664" y="260459"/>
                  </a:lnTo>
                  <a:lnTo>
                    <a:pt x="51619" y="250872"/>
                  </a:lnTo>
                  <a:lnTo>
                    <a:pt x="28336" y="204686"/>
                  </a:lnTo>
                  <a:lnTo>
                    <a:pt x="21540" y="163415"/>
                  </a:lnTo>
                  <a:lnTo>
                    <a:pt x="20568" y="138303"/>
                  </a:lnTo>
                  <a:lnTo>
                    <a:pt x="21427" y="114010"/>
                  </a:lnTo>
                  <a:lnTo>
                    <a:pt x="28336" y="71616"/>
                  </a:lnTo>
                  <a:lnTo>
                    <a:pt x="51619" y="25368"/>
                  </a:lnTo>
                  <a:lnTo>
                    <a:pt x="75305" y="9271"/>
                  </a:lnTo>
                  <a:lnTo>
                    <a:pt x="725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88550" y="1858390"/>
              <a:ext cx="236093" cy="211709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574663" y="2175382"/>
            <a:ext cx="236093" cy="21170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428858" y="2175382"/>
            <a:ext cx="236093" cy="21170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842770" y="3535045"/>
            <a:ext cx="236093" cy="211836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523741" y="3535045"/>
            <a:ext cx="236092" cy="211836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135839" y="584708"/>
            <a:ext cx="11630025" cy="37882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8800" marR="69215" indent="-45720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558800" algn="l"/>
                <a:tab pos="936625" algn="l"/>
                <a:tab pos="1821814" algn="l"/>
                <a:tab pos="3522979" algn="l"/>
                <a:tab pos="4080510" algn="l"/>
                <a:tab pos="4966335" algn="l"/>
                <a:tab pos="5361305" algn="l"/>
                <a:tab pos="5917565" algn="l"/>
                <a:tab pos="6918325" algn="l"/>
                <a:tab pos="7804150" algn="l"/>
                <a:tab pos="8959850" algn="l"/>
                <a:tab pos="9665335" algn="l"/>
                <a:tab pos="10730865" algn="l"/>
                <a:tab pos="11131550" algn="l"/>
              </a:tabLst>
            </a:pP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In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Phase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Modulation,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Phase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Carrier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Signal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changes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with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respect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to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the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Modulating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Signal.</a:t>
            </a:r>
            <a:endParaRPr sz="2400" dirty="0">
              <a:latin typeface="Calibri"/>
              <a:cs typeface="Calibri"/>
            </a:endParaRPr>
          </a:p>
          <a:p>
            <a:pPr marL="1046480" lvl="1" indent="-286385">
              <a:lnSpc>
                <a:spcPct val="100000"/>
              </a:lnSpc>
              <a:spcBef>
                <a:spcPts val="1205"/>
              </a:spcBef>
              <a:buFont typeface="Wingdings"/>
              <a:buChar char=""/>
              <a:tabLst>
                <a:tab pos="1046480" algn="l"/>
                <a:tab pos="4792980" algn="l"/>
              </a:tabLst>
            </a:pPr>
            <a:r>
              <a:rPr sz="1800" dirty="0">
                <a:latin typeface="Cambria Math"/>
                <a:cs typeface="Cambria Math"/>
              </a:rPr>
              <a:t>Let</a:t>
            </a:r>
            <a:r>
              <a:rPr sz="1800" spc="-5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the</a:t>
            </a:r>
            <a:r>
              <a:rPr sz="1800" spc="-45" dirty="0">
                <a:latin typeface="Cambria Math"/>
                <a:cs typeface="Cambria Math"/>
              </a:rPr>
              <a:t> </a:t>
            </a:r>
            <a:r>
              <a:rPr sz="1800" spc="-20" dirty="0">
                <a:latin typeface="Cambria Math"/>
                <a:cs typeface="Cambria Math"/>
              </a:rPr>
              <a:t>Carrier</a:t>
            </a:r>
            <a:r>
              <a:rPr sz="1800" spc="-60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Signal</a:t>
            </a:r>
            <a:r>
              <a:rPr sz="1800" spc="-6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is</a:t>
            </a:r>
            <a:r>
              <a:rPr sz="1800" spc="-4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given</a:t>
            </a:r>
            <a:r>
              <a:rPr sz="1800" spc="-55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by: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dirty="0">
                <a:latin typeface="Wingdings"/>
                <a:cs typeface="Wingdings"/>
              </a:rPr>
              <a:t></a:t>
            </a:r>
            <a:r>
              <a:rPr sz="1800" spc="20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Then,</a:t>
            </a:r>
            <a:r>
              <a:rPr sz="1800" spc="-5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the</a:t>
            </a:r>
            <a:r>
              <a:rPr sz="1800" spc="-45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Phase</a:t>
            </a:r>
            <a:r>
              <a:rPr sz="1800" spc="-65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Modulated</a:t>
            </a:r>
            <a:r>
              <a:rPr sz="1800" spc="-60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Signal</a:t>
            </a:r>
            <a:r>
              <a:rPr sz="1800" spc="-6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is</a:t>
            </a:r>
            <a:r>
              <a:rPr sz="1800" spc="-25" dirty="0">
                <a:latin typeface="Cambria Math"/>
                <a:cs typeface="Cambria Math"/>
              </a:rPr>
              <a:t> given</a:t>
            </a:r>
            <a:r>
              <a:rPr sz="1800" spc="-6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by:</a:t>
            </a:r>
            <a:endParaRPr sz="1800" dirty="0">
              <a:latin typeface="Cambria Math"/>
              <a:cs typeface="Cambria Math"/>
            </a:endParaRPr>
          </a:p>
          <a:p>
            <a:pPr marL="1217295">
              <a:lnSpc>
                <a:spcPct val="100000"/>
              </a:lnSpc>
              <a:spcBef>
                <a:spcPts val="350"/>
              </a:spcBef>
              <a:tabLst>
                <a:tab pos="2026285" algn="l"/>
                <a:tab pos="5250180" algn="l"/>
                <a:tab pos="6306185" algn="l"/>
                <a:tab pos="8232775" algn="l"/>
              </a:tabLst>
            </a:pPr>
            <a:r>
              <a:rPr sz="1800" dirty="0">
                <a:latin typeface="Cambria Math"/>
                <a:cs typeface="Cambria Math"/>
              </a:rPr>
              <a:t>⟹</a:t>
            </a:r>
            <a:r>
              <a:rPr sz="1800" spc="9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𝐂</a:t>
            </a:r>
            <a:r>
              <a:rPr sz="1800" spc="32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=</a:t>
            </a:r>
            <a:r>
              <a:rPr sz="1800" spc="60" dirty="0">
                <a:latin typeface="Cambria Math"/>
                <a:cs typeface="Cambria Math"/>
              </a:rPr>
              <a:t> </a:t>
            </a:r>
            <a:r>
              <a:rPr sz="1800" spc="-20" dirty="0">
                <a:latin typeface="Cambria Math"/>
                <a:cs typeface="Cambria Math"/>
              </a:rPr>
              <a:t>𝐕</a:t>
            </a:r>
            <a:r>
              <a:rPr sz="1950" spc="-30" baseline="-14957" dirty="0">
                <a:latin typeface="Cambria Math"/>
                <a:cs typeface="Cambria Math"/>
              </a:rPr>
              <a:t>𝐂</a:t>
            </a:r>
            <a:r>
              <a:rPr sz="1950" spc="67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𝐜𝐨𝐬</a:t>
            </a:r>
            <a:r>
              <a:rPr sz="1800" spc="295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𝛚</a:t>
            </a:r>
            <a:r>
              <a:rPr sz="1950" spc="-37" baseline="-14957" dirty="0">
                <a:latin typeface="Cambria Math"/>
                <a:cs typeface="Cambria Math"/>
              </a:rPr>
              <a:t>𝐜</a:t>
            </a:r>
            <a:r>
              <a:rPr sz="1800" spc="-25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⟹</a:t>
            </a:r>
            <a:r>
              <a:rPr sz="1800" spc="5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𝐘</a:t>
            </a:r>
            <a:r>
              <a:rPr sz="1950" baseline="-14957" dirty="0">
                <a:latin typeface="Cambria Math"/>
                <a:cs typeface="Cambria Math"/>
              </a:rPr>
              <a:t>𝐏𝐌</a:t>
            </a:r>
            <a:r>
              <a:rPr sz="1950" spc="652" baseline="-14957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=</a:t>
            </a:r>
            <a:r>
              <a:rPr sz="1800" spc="85" dirty="0">
                <a:latin typeface="Cambria Math"/>
                <a:cs typeface="Cambria Math"/>
              </a:rPr>
              <a:t> </a:t>
            </a:r>
            <a:r>
              <a:rPr sz="1800" spc="-20" dirty="0">
                <a:latin typeface="Cambria Math"/>
                <a:cs typeface="Cambria Math"/>
              </a:rPr>
              <a:t>𝐕</a:t>
            </a:r>
            <a:r>
              <a:rPr sz="1950" spc="-30" baseline="-14957" dirty="0">
                <a:latin typeface="Cambria Math"/>
                <a:cs typeface="Cambria Math"/>
              </a:rPr>
              <a:t>𝐂</a:t>
            </a:r>
            <a:r>
              <a:rPr sz="1950" spc="89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𝐜𝐨𝐬</a:t>
            </a:r>
            <a:r>
              <a:rPr sz="1800" spc="32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𝛚</a:t>
            </a:r>
            <a:r>
              <a:rPr sz="1950" baseline="-14957" dirty="0">
                <a:latin typeface="Cambria Math"/>
                <a:cs typeface="Cambria Math"/>
              </a:rPr>
              <a:t>𝐜</a:t>
            </a:r>
            <a:r>
              <a:rPr sz="1800" dirty="0">
                <a:latin typeface="Cambria Math"/>
                <a:cs typeface="Cambria Math"/>
              </a:rPr>
              <a:t>𝐭</a:t>
            </a:r>
            <a:r>
              <a:rPr sz="1800" spc="-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+</a:t>
            </a:r>
            <a:r>
              <a:rPr sz="1800" spc="-2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𝛟</a:t>
            </a:r>
            <a:r>
              <a:rPr sz="1800" dirty="0">
                <a:latin typeface="Cambria Math"/>
                <a:cs typeface="Cambria Math"/>
              </a:rPr>
              <a:t>	=</a:t>
            </a:r>
            <a:r>
              <a:rPr sz="1800" spc="70" dirty="0">
                <a:latin typeface="Cambria Math"/>
                <a:cs typeface="Cambria Math"/>
              </a:rPr>
              <a:t> </a:t>
            </a:r>
            <a:r>
              <a:rPr sz="1800" spc="-20" dirty="0">
                <a:latin typeface="Cambria Math"/>
                <a:cs typeface="Cambria Math"/>
              </a:rPr>
              <a:t>𝐕</a:t>
            </a:r>
            <a:r>
              <a:rPr sz="1950" spc="-30" baseline="-14957" dirty="0">
                <a:latin typeface="Cambria Math"/>
                <a:cs typeface="Cambria Math"/>
              </a:rPr>
              <a:t>𝐂</a:t>
            </a:r>
            <a:r>
              <a:rPr sz="1950" spc="97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𝐜𝐨𝐬</a:t>
            </a:r>
            <a:r>
              <a:rPr sz="1800" spc="35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𝛉</a:t>
            </a:r>
            <a:r>
              <a:rPr sz="1800" spc="31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𝐭</a:t>
            </a:r>
            <a:endParaRPr sz="1800" dirty="0">
              <a:latin typeface="Cambria Math"/>
              <a:cs typeface="Cambria Math"/>
            </a:endParaRPr>
          </a:p>
          <a:p>
            <a:pPr marL="5078730" lvl="2" indent="-285750">
              <a:lnSpc>
                <a:spcPct val="100000"/>
              </a:lnSpc>
              <a:spcBef>
                <a:spcPts val="335"/>
              </a:spcBef>
              <a:buFont typeface="Wingdings"/>
              <a:buChar char=""/>
              <a:tabLst>
                <a:tab pos="5078730" algn="l"/>
                <a:tab pos="6748145" algn="l"/>
              </a:tabLst>
            </a:pPr>
            <a:r>
              <a:rPr sz="1800" b="1" dirty="0">
                <a:latin typeface="Calibri"/>
                <a:cs typeface="Calibri"/>
              </a:rPr>
              <a:t>Here,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dirty="0">
                <a:latin typeface="Cambria Math"/>
                <a:cs typeface="Cambria Math"/>
              </a:rPr>
              <a:t>𝛟</a:t>
            </a:r>
            <a:r>
              <a:rPr sz="1800" spc="20" dirty="0">
                <a:latin typeface="Cambria Math"/>
                <a:cs typeface="Cambria Math"/>
              </a:rPr>
              <a:t> </a:t>
            </a:r>
            <a:r>
              <a:rPr sz="1800" b="1" dirty="0">
                <a:latin typeface="Calibri"/>
                <a:cs typeface="Calibri"/>
              </a:rPr>
              <a:t>and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dirty="0">
                <a:latin typeface="Cambria Math"/>
                <a:cs typeface="Cambria Math"/>
              </a:rPr>
              <a:t>𝛉</a:t>
            </a:r>
            <a:r>
              <a:rPr sz="1800" spc="33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b="1" dirty="0">
                <a:latin typeface="Calibri"/>
                <a:cs typeface="Calibri"/>
              </a:rPr>
              <a:t>is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function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of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the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Message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Signal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dirty="0">
                <a:latin typeface="Cambria Math"/>
                <a:cs typeface="Cambria Math"/>
              </a:rPr>
              <a:t>𝐦</a:t>
            </a:r>
            <a:r>
              <a:rPr sz="1800" spc="33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𝐭</a:t>
            </a:r>
            <a:r>
              <a:rPr sz="1800" spc="340" dirty="0">
                <a:latin typeface="Cambria Math"/>
                <a:cs typeface="Cambria Math"/>
              </a:rPr>
              <a:t> </a:t>
            </a:r>
            <a:r>
              <a:rPr sz="1800" b="1" spc="-50" dirty="0">
                <a:latin typeface="Calibri"/>
                <a:cs typeface="Calibri"/>
              </a:rPr>
              <a:t>.</a:t>
            </a:r>
            <a:endParaRPr sz="1800" dirty="0">
              <a:latin typeface="Calibri"/>
              <a:cs typeface="Calibri"/>
            </a:endParaRPr>
          </a:p>
          <a:p>
            <a:pPr marL="558800" marR="69850" indent="-457200">
              <a:lnSpc>
                <a:spcPct val="100000"/>
              </a:lnSpc>
              <a:spcBef>
                <a:spcPts val="1200"/>
              </a:spcBef>
              <a:buFont typeface="Wingdings"/>
              <a:buChar char=""/>
              <a:tabLst>
                <a:tab pos="558800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Phase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Modulation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part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 Angle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Modulation,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Angle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Phase</a:t>
            </a:r>
            <a:r>
              <a:rPr sz="2400" b="1" spc="-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Modulation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is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given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by:</a:t>
            </a:r>
            <a:endParaRPr sz="2400" dirty="0">
              <a:latin typeface="Calibri"/>
              <a:cs typeface="Calibri"/>
            </a:endParaRPr>
          </a:p>
          <a:p>
            <a:pPr marL="1217295">
              <a:lnSpc>
                <a:spcPct val="100000"/>
              </a:lnSpc>
              <a:spcBef>
                <a:spcPts val="1590"/>
              </a:spcBef>
              <a:tabLst>
                <a:tab pos="2028189" algn="l"/>
              </a:tabLst>
            </a:pPr>
            <a:r>
              <a:rPr sz="1800" dirty="0">
                <a:latin typeface="Cambria Math"/>
                <a:cs typeface="Cambria Math"/>
              </a:rPr>
              <a:t>⟹</a:t>
            </a:r>
            <a:r>
              <a:rPr sz="1800" spc="9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𝛉</a:t>
            </a:r>
            <a:r>
              <a:rPr sz="1800" spc="32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=</a:t>
            </a:r>
            <a:r>
              <a:rPr sz="1800" spc="14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𝛚</a:t>
            </a:r>
            <a:r>
              <a:rPr sz="1950" baseline="-14957" dirty="0">
                <a:latin typeface="Cambria Math"/>
                <a:cs typeface="Cambria Math"/>
              </a:rPr>
              <a:t>𝐜</a:t>
            </a:r>
            <a:r>
              <a:rPr sz="1800" dirty="0">
                <a:latin typeface="Cambria Math"/>
                <a:cs typeface="Cambria Math"/>
              </a:rPr>
              <a:t>𝐭</a:t>
            </a:r>
            <a:r>
              <a:rPr sz="1800" spc="4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+</a:t>
            </a:r>
            <a:r>
              <a:rPr sz="1800" spc="4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𝐤</a:t>
            </a:r>
            <a:r>
              <a:rPr sz="1950" baseline="-14957" dirty="0">
                <a:latin typeface="Cambria Math"/>
                <a:cs typeface="Cambria Math"/>
              </a:rPr>
              <a:t>𝐏</a:t>
            </a:r>
            <a:r>
              <a:rPr sz="1800" dirty="0">
                <a:latin typeface="Cambria Math"/>
                <a:cs typeface="Cambria Math"/>
              </a:rPr>
              <a:t>𝐦</a:t>
            </a:r>
            <a:r>
              <a:rPr sz="1800" spc="409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𝐭</a:t>
            </a:r>
            <a:endParaRPr sz="1800" dirty="0">
              <a:latin typeface="Cambria Math"/>
              <a:cs typeface="Cambria Math"/>
            </a:endParaRPr>
          </a:p>
          <a:p>
            <a:pPr marL="558165" indent="-456565">
              <a:lnSpc>
                <a:spcPct val="100000"/>
              </a:lnSpc>
              <a:spcBef>
                <a:spcPts val="1660"/>
              </a:spcBef>
              <a:buFont typeface="Wingdings"/>
              <a:buChar char=""/>
              <a:tabLst>
                <a:tab pos="558165" algn="l"/>
              </a:tabLst>
            </a:pP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𝐤</a:t>
            </a:r>
            <a:r>
              <a:rPr sz="2625" baseline="-15873" dirty="0">
                <a:solidFill>
                  <a:srgbClr val="6F2F9F"/>
                </a:solidFill>
                <a:latin typeface="Cambria Math"/>
                <a:cs typeface="Cambria Math"/>
              </a:rPr>
              <a:t>𝐏</a:t>
            </a:r>
            <a:r>
              <a:rPr sz="2625" spc="359" baseline="-15873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Phase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Sensitivity,</a:t>
            </a:r>
            <a:r>
              <a:rPr sz="2400" b="1" spc="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Unit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Rad/Volt.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80840" y="676275"/>
            <a:ext cx="315595" cy="282575"/>
          </a:xfrm>
          <a:custGeom>
            <a:avLst/>
            <a:gdLst/>
            <a:ahLst/>
            <a:cxnLst/>
            <a:rect l="l" t="t" r="r" b="b"/>
            <a:pathLst>
              <a:path w="315595" h="282575">
                <a:moveTo>
                  <a:pt x="225171" y="0"/>
                </a:moveTo>
                <a:lnTo>
                  <a:pt x="221107" y="11430"/>
                </a:lnTo>
                <a:lnTo>
                  <a:pt x="237470" y="18577"/>
                </a:lnTo>
                <a:lnTo>
                  <a:pt x="251523" y="28416"/>
                </a:lnTo>
                <a:lnTo>
                  <a:pt x="280056" y="73908"/>
                </a:lnTo>
                <a:lnTo>
                  <a:pt x="288339" y="115341"/>
                </a:lnTo>
                <a:lnTo>
                  <a:pt x="288387" y="115679"/>
                </a:lnTo>
                <a:lnTo>
                  <a:pt x="288385" y="164689"/>
                </a:lnTo>
                <a:lnTo>
                  <a:pt x="280003" y="207603"/>
                </a:lnTo>
                <a:lnTo>
                  <a:pt x="251523" y="253857"/>
                </a:lnTo>
                <a:lnTo>
                  <a:pt x="221615" y="270891"/>
                </a:lnTo>
                <a:lnTo>
                  <a:pt x="225171" y="282321"/>
                </a:lnTo>
                <a:lnTo>
                  <a:pt x="263667" y="264302"/>
                </a:lnTo>
                <a:lnTo>
                  <a:pt x="291973" y="233045"/>
                </a:lnTo>
                <a:lnTo>
                  <a:pt x="309403" y="191134"/>
                </a:lnTo>
                <a:lnTo>
                  <a:pt x="315214" y="141224"/>
                </a:lnTo>
                <a:lnTo>
                  <a:pt x="313778" y="115679"/>
                </a:lnTo>
                <a:lnTo>
                  <a:pt x="313759" y="115341"/>
                </a:lnTo>
                <a:lnTo>
                  <a:pt x="302087" y="69482"/>
                </a:lnTo>
                <a:lnTo>
                  <a:pt x="278963" y="32146"/>
                </a:lnTo>
                <a:lnTo>
                  <a:pt x="245625" y="7381"/>
                </a:lnTo>
                <a:lnTo>
                  <a:pt x="225171" y="0"/>
                </a:lnTo>
                <a:close/>
              </a:path>
              <a:path w="315595" h="282575">
                <a:moveTo>
                  <a:pt x="90043" y="0"/>
                </a:moveTo>
                <a:lnTo>
                  <a:pt x="51593" y="18097"/>
                </a:lnTo>
                <a:lnTo>
                  <a:pt x="23241" y="49530"/>
                </a:lnTo>
                <a:lnTo>
                  <a:pt x="5810" y="91424"/>
                </a:lnTo>
                <a:lnTo>
                  <a:pt x="78" y="139827"/>
                </a:lnTo>
                <a:lnTo>
                  <a:pt x="0" y="141224"/>
                </a:lnTo>
                <a:lnTo>
                  <a:pt x="1450" y="167179"/>
                </a:lnTo>
                <a:lnTo>
                  <a:pt x="13019" y="213090"/>
                </a:lnTo>
                <a:lnTo>
                  <a:pt x="36018" y="250334"/>
                </a:lnTo>
                <a:lnTo>
                  <a:pt x="69494" y="274960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475" y="263773"/>
                </a:lnTo>
                <a:lnTo>
                  <a:pt x="63579" y="253857"/>
                </a:lnTo>
                <a:lnTo>
                  <a:pt x="35083" y="207603"/>
                </a:lnTo>
                <a:lnTo>
                  <a:pt x="26701" y="164689"/>
                </a:lnTo>
                <a:lnTo>
                  <a:pt x="25712" y="141224"/>
                </a:lnTo>
                <a:lnTo>
                  <a:pt x="25654" y="139827"/>
                </a:lnTo>
                <a:lnTo>
                  <a:pt x="29845" y="93710"/>
                </a:lnTo>
                <a:lnTo>
                  <a:pt x="42418" y="56261"/>
                </a:lnTo>
                <a:lnTo>
                  <a:pt x="77690" y="18577"/>
                </a:lnTo>
                <a:lnTo>
                  <a:pt x="93980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579365" y="586232"/>
            <a:ext cx="36474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given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to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Differentiator.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4739" y="586232"/>
            <a:ext cx="11565255" cy="1487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ts val="2875"/>
              </a:lnSpc>
              <a:spcBef>
                <a:spcPts val="100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First,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Message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Signal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𝐦</a:t>
            </a:r>
            <a:r>
              <a:rPr sz="2400" spc="360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6F2F9F"/>
                </a:solidFill>
                <a:latin typeface="Cambria Math"/>
                <a:cs typeface="Cambria Math"/>
              </a:rPr>
              <a:t>𝐭</a:t>
            </a:r>
            <a:endParaRPr sz="2400" dirty="0">
              <a:latin typeface="Cambria Math"/>
              <a:cs typeface="Cambria Math"/>
            </a:endParaRPr>
          </a:p>
          <a:p>
            <a:pPr marL="469265" indent="-456565">
              <a:lnSpc>
                <a:spcPts val="2875"/>
              </a:lnSpc>
              <a:buFont typeface="Wingdings"/>
              <a:buChar char=""/>
              <a:tabLst>
                <a:tab pos="469265" algn="l"/>
                <a:tab pos="1275715" algn="l"/>
                <a:tab pos="1873250" algn="l"/>
                <a:tab pos="3823970" algn="l"/>
                <a:tab pos="5110480" algn="l"/>
                <a:tab pos="6036945" algn="l"/>
                <a:tab pos="6689725" algn="l"/>
                <a:tab pos="7285990" algn="l"/>
                <a:tab pos="8326755" algn="l"/>
                <a:tab pos="9253220" algn="l"/>
                <a:tab pos="9837420" algn="l"/>
                <a:tab pos="10688955" algn="l"/>
                <a:tab pos="11130915" algn="l"/>
              </a:tabLst>
            </a:pP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Then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Differentiated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Message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Signal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and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Carrier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Signal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are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given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to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endParaRPr sz="24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Frequency</a:t>
            </a:r>
            <a:r>
              <a:rPr sz="2400" b="1" spc="-1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Modulator.</a:t>
            </a:r>
            <a:endParaRPr sz="24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Frequency</a:t>
            </a:r>
            <a:r>
              <a:rPr sz="2400" b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Modulator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generates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Phase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Modulated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wave</a:t>
            </a:r>
            <a:r>
              <a:rPr sz="2400" b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and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its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Angle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given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by: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Block</a:t>
            </a:r>
            <a:r>
              <a:rPr sz="3200" u="sng" spc="-6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Diagram</a:t>
            </a:r>
            <a:r>
              <a:rPr sz="3200" u="sng" spc="-9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of</a:t>
            </a:r>
            <a:r>
              <a:rPr sz="3200" u="sng" spc="-4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Phase</a:t>
            </a:r>
            <a:r>
              <a:rPr sz="3200" u="sng" spc="-7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spc="-1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Modulator</a:t>
            </a:r>
            <a:endParaRPr sz="3200"/>
          </a:p>
        </p:txBody>
      </p:sp>
      <p:sp>
        <p:nvSpPr>
          <p:cNvPr id="6" name="object 6"/>
          <p:cNvSpPr/>
          <p:nvPr/>
        </p:nvSpPr>
        <p:spPr>
          <a:xfrm>
            <a:off x="5393309" y="5972848"/>
            <a:ext cx="315595" cy="282575"/>
          </a:xfrm>
          <a:custGeom>
            <a:avLst/>
            <a:gdLst/>
            <a:ahLst/>
            <a:cxnLst/>
            <a:rect l="l" t="t" r="r" b="b"/>
            <a:pathLst>
              <a:path w="315595" h="282575">
                <a:moveTo>
                  <a:pt x="225171" y="0"/>
                </a:moveTo>
                <a:lnTo>
                  <a:pt x="221107" y="11455"/>
                </a:lnTo>
                <a:lnTo>
                  <a:pt x="237470" y="18549"/>
                </a:lnTo>
                <a:lnTo>
                  <a:pt x="251523" y="28365"/>
                </a:lnTo>
                <a:lnTo>
                  <a:pt x="280056" y="73874"/>
                </a:lnTo>
                <a:lnTo>
                  <a:pt x="288342" y="115349"/>
                </a:lnTo>
                <a:lnTo>
                  <a:pt x="289433" y="139750"/>
                </a:lnTo>
                <a:lnTo>
                  <a:pt x="288385" y="164648"/>
                </a:lnTo>
                <a:lnTo>
                  <a:pt x="280003" y="207582"/>
                </a:lnTo>
                <a:lnTo>
                  <a:pt x="251523" y="253822"/>
                </a:lnTo>
                <a:lnTo>
                  <a:pt x="221615" y="270865"/>
                </a:lnTo>
                <a:lnTo>
                  <a:pt x="225171" y="282321"/>
                </a:lnTo>
                <a:lnTo>
                  <a:pt x="263667" y="264261"/>
                </a:lnTo>
                <a:lnTo>
                  <a:pt x="291973" y="232981"/>
                </a:lnTo>
                <a:lnTo>
                  <a:pt x="309403" y="191109"/>
                </a:lnTo>
                <a:lnTo>
                  <a:pt x="315214" y="141236"/>
                </a:lnTo>
                <a:lnTo>
                  <a:pt x="313776" y="115661"/>
                </a:lnTo>
                <a:lnTo>
                  <a:pt x="302087" y="69472"/>
                </a:lnTo>
                <a:lnTo>
                  <a:pt x="278963" y="32127"/>
                </a:lnTo>
                <a:lnTo>
                  <a:pt x="245625" y="7386"/>
                </a:lnTo>
                <a:lnTo>
                  <a:pt x="225171" y="0"/>
                </a:lnTo>
                <a:close/>
              </a:path>
              <a:path w="315595" h="282575">
                <a:moveTo>
                  <a:pt x="90043" y="0"/>
                </a:moveTo>
                <a:lnTo>
                  <a:pt x="51546" y="18095"/>
                </a:lnTo>
                <a:lnTo>
                  <a:pt x="23241" y="49479"/>
                </a:lnTo>
                <a:lnTo>
                  <a:pt x="5810" y="91428"/>
                </a:lnTo>
                <a:lnTo>
                  <a:pt x="83" y="139750"/>
                </a:lnTo>
                <a:lnTo>
                  <a:pt x="0" y="141236"/>
                </a:lnTo>
                <a:lnTo>
                  <a:pt x="5794" y="191109"/>
                </a:lnTo>
                <a:lnTo>
                  <a:pt x="23114" y="232981"/>
                </a:lnTo>
                <a:lnTo>
                  <a:pt x="51482" y="264261"/>
                </a:lnTo>
                <a:lnTo>
                  <a:pt x="90043" y="282321"/>
                </a:lnTo>
                <a:lnTo>
                  <a:pt x="93599" y="270865"/>
                </a:lnTo>
                <a:lnTo>
                  <a:pt x="77475" y="263738"/>
                </a:lnTo>
                <a:lnTo>
                  <a:pt x="63579" y="253822"/>
                </a:lnTo>
                <a:lnTo>
                  <a:pt x="35083" y="207582"/>
                </a:lnTo>
                <a:lnTo>
                  <a:pt x="26701" y="164648"/>
                </a:lnTo>
                <a:lnTo>
                  <a:pt x="25716" y="141236"/>
                </a:lnTo>
                <a:lnTo>
                  <a:pt x="25654" y="139750"/>
                </a:lnTo>
                <a:lnTo>
                  <a:pt x="29845" y="93703"/>
                </a:lnTo>
                <a:lnTo>
                  <a:pt x="42418" y="56172"/>
                </a:lnTo>
                <a:lnTo>
                  <a:pt x="77690" y="18549"/>
                </a:lnTo>
                <a:lnTo>
                  <a:pt x="93980" y="11455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557885" y="4450969"/>
            <a:ext cx="5764530" cy="1492250"/>
            <a:chOff x="557885" y="4450969"/>
            <a:chExt cx="5764530" cy="1492250"/>
          </a:xfrm>
        </p:grpSpPr>
        <p:sp>
          <p:nvSpPr>
            <p:cNvPr id="8" name="object 8"/>
            <p:cNvSpPr/>
            <p:nvPr/>
          </p:nvSpPr>
          <p:spPr>
            <a:xfrm>
              <a:off x="697712" y="4737734"/>
              <a:ext cx="5624830" cy="1205230"/>
            </a:xfrm>
            <a:custGeom>
              <a:avLst/>
              <a:gdLst/>
              <a:ahLst/>
              <a:cxnLst/>
              <a:rect l="l" t="t" r="r" b="b"/>
              <a:pathLst>
                <a:path w="5624830" h="1205229">
                  <a:moveTo>
                    <a:pt x="1491640" y="57150"/>
                  </a:moveTo>
                  <a:lnTo>
                    <a:pt x="1453540" y="38100"/>
                  </a:lnTo>
                  <a:lnTo>
                    <a:pt x="1377340" y="0"/>
                  </a:lnTo>
                  <a:lnTo>
                    <a:pt x="1377340" y="38100"/>
                  </a:lnTo>
                  <a:lnTo>
                    <a:pt x="0" y="38100"/>
                  </a:lnTo>
                  <a:lnTo>
                    <a:pt x="0" y="76200"/>
                  </a:lnTo>
                  <a:lnTo>
                    <a:pt x="1377340" y="76200"/>
                  </a:lnTo>
                  <a:lnTo>
                    <a:pt x="1377340" y="114300"/>
                  </a:lnTo>
                  <a:lnTo>
                    <a:pt x="1453540" y="76200"/>
                  </a:lnTo>
                  <a:lnTo>
                    <a:pt x="1491640" y="57150"/>
                  </a:lnTo>
                  <a:close/>
                </a:path>
                <a:path w="5624830" h="1205229">
                  <a:moveTo>
                    <a:pt x="5624347" y="610235"/>
                  </a:moveTo>
                  <a:lnTo>
                    <a:pt x="5614822" y="591185"/>
                  </a:lnTo>
                  <a:lnTo>
                    <a:pt x="5567197" y="495935"/>
                  </a:lnTo>
                  <a:lnTo>
                    <a:pt x="5510047" y="610235"/>
                  </a:lnTo>
                  <a:lnTo>
                    <a:pt x="5548134" y="610235"/>
                  </a:lnTo>
                  <a:lnTo>
                    <a:pt x="5548020" y="1205204"/>
                  </a:lnTo>
                  <a:lnTo>
                    <a:pt x="5586120" y="1205204"/>
                  </a:lnTo>
                  <a:lnTo>
                    <a:pt x="5586234" y="610235"/>
                  </a:lnTo>
                  <a:lnTo>
                    <a:pt x="5624347" y="610235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57885" y="4450969"/>
              <a:ext cx="315595" cy="282575"/>
            </a:xfrm>
            <a:custGeom>
              <a:avLst/>
              <a:gdLst/>
              <a:ahLst/>
              <a:cxnLst/>
              <a:rect l="l" t="t" r="r" b="b"/>
              <a:pathLst>
                <a:path w="315594" h="282575">
                  <a:moveTo>
                    <a:pt x="225209" y="0"/>
                  </a:moveTo>
                  <a:lnTo>
                    <a:pt x="221183" y="11556"/>
                  </a:lnTo>
                  <a:lnTo>
                    <a:pt x="237527" y="18631"/>
                  </a:lnTo>
                  <a:lnTo>
                    <a:pt x="251585" y="28432"/>
                  </a:lnTo>
                  <a:lnTo>
                    <a:pt x="280125" y="73925"/>
                  </a:lnTo>
                  <a:lnTo>
                    <a:pt x="288410" y="115413"/>
                  </a:lnTo>
                  <a:lnTo>
                    <a:pt x="289496" y="139826"/>
                  </a:lnTo>
                  <a:lnTo>
                    <a:pt x="288450" y="164707"/>
                  </a:lnTo>
                  <a:lnTo>
                    <a:pt x="280082" y="207656"/>
                  </a:lnTo>
                  <a:lnTo>
                    <a:pt x="251602" y="253857"/>
                  </a:lnTo>
                  <a:lnTo>
                    <a:pt x="221627" y="270890"/>
                  </a:lnTo>
                  <a:lnTo>
                    <a:pt x="225209" y="282320"/>
                  </a:lnTo>
                  <a:lnTo>
                    <a:pt x="263717" y="264302"/>
                  </a:lnTo>
                  <a:lnTo>
                    <a:pt x="292023" y="233044"/>
                  </a:lnTo>
                  <a:lnTo>
                    <a:pt x="309443" y="191150"/>
                  </a:lnTo>
                  <a:lnTo>
                    <a:pt x="315252" y="141350"/>
                  </a:lnTo>
                  <a:lnTo>
                    <a:pt x="313813" y="115732"/>
                  </a:lnTo>
                  <a:lnTo>
                    <a:pt x="302146" y="69538"/>
                  </a:lnTo>
                  <a:lnTo>
                    <a:pt x="279051" y="32164"/>
                  </a:lnTo>
                  <a:lnTo>
                    <a:pt x="245675" y="7435"/>
                  </a:lnTo>
                  <a:lnTo>
                    <a:pt x="225209" y="0"/>
                  </a:lnTo>
                  <a:close/>
                </a:path>
                <a:path w="315594" h="282575">
                  <a:moveTo>
                    <a:pt x="90043" y="0"/>
                  </a:moveTo>
                  <a:lnTo>
                    <a:pt x="51628" y="18145"/>
                  </a:lnTo>
                  <a:lnTo>
                    <a:pt x="23291" y="49529"/>
                  </a:lnTo>
                  <a:lnTo>
                    <a:pt x="5826" y="91487"/>
                  </a:lnTo>
                  <a:lnTo>
                    <a:pt x="85" y="139826"/>
                  </a:lnTo>
                  <a:lnTo>
                    <a:pt x="0" y="141350"/>
                  </a:lnTo>
                  <a:lnTo>
                    <a:pt x="5807" y="191150"/>
                  </a:lnTo>
                  <a:lnTo>
                    <a:pt x="23215" y="233044"/>
                  </a:lnTo>
                  <a:lnTo>
                    <a:pt x="51533" y="264302"/>
                  </a:lnTo>
                  <a:lnTo>
                    <a:pt x="90043" y="282320"/>
                  </a:lnTo>
                  <a:lnTo>
                    <a:pt x="93611" y="270890"/>
                  </a:lnTo>
                  <a:lnTo>
                    <a:pt x="77528" y="263773"/>
                  </a:lnTo>
                  <a:lnTo>
                    <a:pt x="63647" y="253857"/>
                  </a:lnTo>
                  <a:lnTo>
                    <a:pt x="35169" y="207656"/>
                  </a:lnTo>
                  <a:lnTo>
                    <a:pt x="26801" y="164707"/>
                  </a:lnTo>
                  <a:lnTo>
                    <a:pt x="25819" y="141350"/>
                  </a:lnTo>
                  <a:lnTo>
                    <a:pt x="25755" y="139826"/>
                  </a:lnTo>
                  <a:lnTo>
                    <a:pt x="29938" y="93757"/>
                  </a:lnTo>
                  <a:lnTo>
                    <a:pt x="42494" y="56260"/>
                  </a:lnTo>
                  <a:lnTo>
                    <a:pt x="77780" y="18631"/>
                  </a:lnTo>
                  <a:lnTo>
                    <a:pt x="94068" y="11556"/>
                  </a:lnTo>
                  <a:lnTo>
                    <a:pt x="900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174741" y="5883961"/>
            <a:ext cx="4476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8770" algn="l"/>
              </a:tabLst>
            </a:pPr>
            <a:r>
              <a:rPr sz="2400" spc="-50" dirty="0">
                <a:latin typeface="Cambria Math"/>
                <a:cs typeface="Cambria Math"/>
              </a:rPr>
              <a:t>𝐂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𝐭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2722" y="4361815"/>
            <a:ext cx="1494155" cy="1121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99800"/>
              </a:lnSpc>
              <a:spcBef>
                <a:spcPts val="105"/>
              </a:spcBef>
            </a:pPr>
            <a:r>
              <a:rPr sz="2400" dirty="0">
                <a:latin typeface="Cambria Math"/>
                <a:cs typeface="Cambria Math"/>
              </a:rPr>
              <a:t>𝐦</a:t>
            </a:r>
            <a:r>
              <a:rPr sz="2400" spc="434" dirty="0">
                <a:latin typeface="Cambria Math"/>
                <a:cs typeface="Cambria Math"/>
              </a:rPr>
              <a:t> </a:t>
            </a:r>
            <a:r>
              <a:rPr sz="2400" spc="-60" dirty="0">
                <a:latin typeface="Cambria Math"/>
                <a:cs typeface="Cambria Math"/>
              </a:rPr>
              <a:t>𝐭 </a:t>
            </a:r>
            <a:r>
              <a:rPr sz="2400" b="1" spc="-10" dirty="0">
                <a:latin typeface="Calibri"/>
                <a:cs typeface="Calibri"/>
              </a:rPr>
              <a:t>Modulating Signal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189352" y="4233798"/>
            <a:ext cx="2100580" cy="1153795"/>
            <a:chOff x="2189352" y="4233798"/>
            <a:chExt cx="2100580" cy="1153795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89352" y="4233798"/>
              <a:ext cx="2100072" cy="115379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128644" y="5010149"/>
              <a:ext cx="220979" cy="20320"/>
            </a:xfrm>
            <a:custGeom>
              <a:avLst/>
              <a:gdLst/>
              <a:ahLst/>
              <a:cxnLst/>
              <a:rect l="l" t="t" r="r" b="b"/>
              <a:pathLst>
                <a:path w="220979" h="20320">
                  <a:moveTo>
                    <a:pt x="220980" y="0"/>
                  </a:moveTo>
                  <a:lnTo>
                    <a:pt x="0" y="0"/>
                  </a:lnTo>
                  <a:lnTo>
                    <a:pt x="0" y="19812"/>
                  </a:lnTo>
                  <a:lnTo>
                    <a:pt x="220980" y="19812"/>
                  </a:lnTo>
                  <a:lnTo>
                    <a:pt x="2209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189352" y="4233798"/>
            <a:ext cx="2100580" cy="1153795"/>
          </a:xfrm>
          <a:prstGeom prst="rect">
            <a:avLst/>
          </a:prstGeom>
          <a:ln w="6350">
            <a:solidFill>
              <a:srgbClr val="6FAC46"/>
            </a:solidFill>
          </a:ln>
        </p:spPr>
        <p:txBody>
          <a:bodyPr vert="horz" wrap="square" lIns="0" tIns="107950" rIns="0" bIns="0" rtlCol="0">
            <a:spAutoFit/>
          </a:bodyPr>
          <a:lstStyle/>
          <a:p>
            <a:pPr algn="ctr">
              <a:lnSpc>
                <a:spcPts val="2875"/>
              </a:lnSpc>
              <a:spcBef>
                <a:spcPts val="850"/>
              </a:spcBef>
            </a:pPr>
            <a:r>
              <a:rPr sz="2400" b="1" spc="-10" dirty="0">
                <a:latin typeface="Calibri"/>
                <a:cs typeface="Calibri"/>
              </a:rPr>
              <a:t>Differentiator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ts val="2095"/>
              </a:lnSpc>
            </a:pPr>
            <a:r>
              <a:rPr sz="1750" spc="-50" dirty="0">
                <a:latin typeface="Cambria Math"/>
                <a:cs typeface="Cambria Math"/>
              </a:rPr>
              <a:t>𝐝</a:t>
            </a:r>
            <a:endParaRPr sz="1750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spcBef>
                <a:spcPts val="515"/>
              </a:spcBef>
            </a:pPr>
            <a:r>
              <a:rPr sz="1750" spc="-25" dirty="0">
                <a:latin typeface="Cambria Math"/>
                <a:cs typeface="Cambria Math"/>
              </a:rPr>
              <a:t>𝐝𝐭</a:t>
            </a:r>
            <a:endParaRPr sz="1750">
              <a:latin typeface="Cambria Math"/>
              <a:cs typeface="Cambria Math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289297" y="4391939"/>
            <a:ext cx="3025775" cy="842010"/>
            <a:chOff x="4289297" y="4391939"/>
            <a:chExt cx="3025775" cy="842010"/>
          </a:xfrm>
        </p:grpSpPr>
        <p:sp>
          <p:nvSpPr>
            <p:cNvPr id="17" name="object 17"/>
            <p:cNvSpPr/>
            <p:nvPr/>
          </p:nvSpPr>
          <p:spPr>
            <a:xfrm>
              <a:off x="4289297" y="4755387"/>
              <a:ext cx="925830" cy="114300"/>
            </a:xfrm>
            <a:custGeom>
              <a:avLst/>
              <a:gdLst/>
              <a:ahLst/>
              <a:cxnLst/>
              <a:rect l="l" t="t" r="r" b="b"/>
              <a:pathLst>
                <a:path w="925829" h="114300">
                  <a:moveTo>
                    <a:pt x="811402" y="0"/>
                  </a:moveTo>
                  <a:lnTo>
                    <a:pt x="811322" y="36194"/>
                  </a:lnTo>
                  <a:lnTo>
                    <a:pt x="811275" y="57530"/>
                  </a:lnTo>
                  <a:lnTo>
                    <a:pt x="811148" y="114299"/>
                  </a:lnTo>
                  <a:lnTo>
                    <a:pt x="887689" y="76326"/>
                  </a:lnTo>
                  <a:lnTo>
                    <a:pt x="830198" y="76326"/>
                  </a:lnTo>
                  <a:lnTo>
                    <a:pt x="830261" y="57530"/>
                  </a:lnTo>
                  <a:lnTo>
                    <a:pt x="830326" y="38226"/>
                  </a:lnTo>
                  <a:lnTo>
                    <a:pt x="887266" y="38226"/>
                  </a:lnTo>
                  <a:lnTo>
                    <a:pt x="811402" y="0"/>
                  </a:lnTo>
                  <a:close/>
                </a:path>
                <a:path w="925829" h="114300">
                  <a:moveTo>
                    <a:pt x="126" y="36194"/>
                  </a:moveTo>
                  <a:lnTo>
                    <a:pt x="0" y="74294"/>
                  </a:lnTo>
                  <a:lnTo>
                    <a:pt x="830199" y="76326"/>
                  </a:lnTo>
                  <a:lnTo>
                    <a:pt x="811233" y="76326"/>
                  </a:lnTo>
                  <a:lnTo>
                    <a:pt x="811318" y="38226"/>
                  </a:lnTo>
                  <a:lnTo>
                    <a:pt x="830326" y="38226"/>
                  </a:lnTo>
                  <a:lnTo>
                    <a:pt x="126" y="36194"/>
                  </a:lnTo>
                  <a:close/>
                </a:path>
                <a:path w="925829" h="114300">
                  <a:moveTo>
                    <a:pt x="887266" y="38226"/>
                  </a:moveTo>
                  <a:lnTo>
                    <a:pt x="830326" y="38226"/>
                  </a:lnTo>
                  <a:lnTo>
                    <a:pt x="830261" y="57530"/>
                  </a:lnTo>
                  <a:lnTo>
                    <a:pt x="830198" y="76326"/>
                  </a:lnTo>
                  <a:lnTo>
                    <a:pt x="887689" y="76326"/>
                  </a:lnTo>
                  <a:lnTo>
                    <a:pt x="925576" y="57530"/>
                  </a:lnTo>
                  <a:lnTo>
                    <a:pt x="887266" y="38226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14873" y="4391939"/>
              <a:ext cx="2100072" cy="841730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5214873" y="4391939"/>
            <a:ext cx="2100580" cy="842010"/>
          </a:xfrm>
          <a:prstGeom prst="rect">
            <a:avLst/>
          </a:prstGeom>
          <a:ln w="6350">
            <a:solidFill>
              <a:srgbClr val="6FAC46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372745" marR="365125" indent="19685">
              <a:lnSpc>
                <a:spcPct val="100000"/>
              </a:lnSpc>
              <a:spcBef>
                <a:spcPts val="285"/>
              </a:spcBef>
            </a:pPr>
            <a:r>
              <a:rPr sz="2400" b="1" spc="-10" dirty="0">
                <a:latin typeface="Calibri"/>
                <a:cs typeface="Calibri"/>
              </a:rPr>
              <a:t>Frequency Modulator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314818" y="4753864"/>
            <a:ext cx="931544" cy="114300"/>
          </a:xfrm>
          <a:custGeom>
            <a:avLst/>
            <a:gdLst/>
            <a:ahLst/>
            <a:cxnLst/>
            <a:rect l="l" t="t" r="r" b="b"/>
            <a:pathLst>
              <a:path w="931545" h="114300">
                <a:moveTo>
                  <a:pt x="816990" y="0"/>
                </a:moveTo>
                <a:lnTo>
                  <a:pt x="817075" y="38143"/>
                </a:lnTo>
                <a:lnTo>
                  <a:pt x="817160" y="76243"/>
                </a:lnTo>
                <a:lnTo>
                  <a:pt x="817244" y="114300"/>
                </a:lnTo>
                <a:lnTo>
                  <a:pt x="892937" y="76243"/>
                </a:lnTo>
                <a:lnTo>
                  <a:pt x="836167" y="76243"/>
                </a:lnTo>
                <a:lnTo>
                  <a:pt x="836167" y="38143"/>
                </a:lnTo>
                <a:lnTo>
                  <a:pt x="893703" y="38143"/>
                </a:lnTo>
                <a:lnTo>
                  <a:pt x="816990" y="0"/>
                </a:lnTo>
                <a:close/>
              </a:path>
              <a:path w="931545" h="114300">
                <a:moveTo>
                  <a:pt x="817075" y="38143"/>
                </a:moveTo>
                <a:lnTo>
                  <a:pt x="0" y="40005"/>
                </a:lnTo>
                <a:lnTo>
                  <a:pt x="126" y="78105"/>
                </a:lnTo>
                <a:lnTo>
                  <a:pt x="817160" y="76243"/>
                </a:lnTo>
                <a:lnTo>
                  <a:pt x="817075" y="38143"/>
                </a:lnTo>
                <a:close/>
              </a:path>
              <a:path w="931545" h="114300">
                <a:moveTo>
                  <a:pt x="893703" y="38143"/>
                </a:moveTo>
                <a:lnTo>
                  <a:pt x="836167" y="38143"/>
                </a:lnTo>
                <a:lnTo>
                  <a:pt x="836167" y="76243"/>
                </a:lnTo>
                <a:lnTo>
                  <a:pt x="892937" y="76243"/>
                </a:lnTo>
                <a:lnTo>
                  <a:pt x="931417" y="56896"/>
                </a:lnTo>
                <a:lnTo>
                  <a:pt x="893703" y="38143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804150" y="4380103"/>
            <a:ext cx="73215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latin typeface="Calibri"/>
                <a:cs typeface="Calibri"/>
              </a:rPr>
              <a:t>P.M.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spc="-30" dirty="0">
                <a:latin typeface="Calibri"/>
                <a:cs typeface="Calibri"/>
              </a:rPr>
              <a:t>Wave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368165" y="5149469"/>
            <a:ext cx="623570" cy="286385"/>
            <a:chOff x="4368165" y="5149469"/>
            <a:chExt cx="623570" cy="286385"/>
          </a:xfrm>
        </p:grpSpPr>
        <p:sp>
          <p:nvSpPr>
            <p:cNvPr id="23" name="object 23"/>
            <p:cNvSpPr/>
            <p:nvPr/>
          </p:nvSpPr>
          <p:spPr>
            <a:xfrm>
              <a:off x="4368165" y="5420487"/>
              <a:ext cx="623570" cy="15240"/>
            </a:xfrm>
            <a:custGeom>
              <a:avLst/>
              <a:gdLst/>
              <a:ahLst/>
              <a:cxnLst/>
              <a:rect l="l" t="t" r="r" b="b"/>
              <a:pathLst>
                <a:path w="623570" h="15239">
                  <a:moveTo>
                    <a:pt x="623316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623316" y="15240"/>
                  </a:lnTo>
                  <a:lnTo>
                    <a:pt x="6233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35830" y="5149469"/>
              <a:ext cx="235965" cy="211836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4355972" y="5079872"/>
            <a:ext cx="554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𝐝𝐦</a:t>
            </a:r>
            <a:r>
              <a:rPr sz="1800" spc="35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𝐭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554092" y="5406034"/>
            <a:ext cx="253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𝐝𝐭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576059" y="5433314"/>
            <a:ext cx="1711325" cy="212090"/>
            <a:chOff x="6576059" y="5433314"/>
            <a:chExt cx="1711325" cy="212090"/>
          </a:xfrm>
        </p:grpSpPr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76059" y="5433314"/>
              <a:ext cx="236093" cy="21173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7776971" y="5433314"/>
              <a:ext cx="510540" cy="212090"/>
            </a:xfrm>
            <a:custGeom>
              <a:avLst/>
              <a:gdLst/>
              <a:ahLst/>
              <a:cxnLst/>
              <a:rect l="l" t="t" r="r" b="b"/>
              <a:pathLst>
                <a:path w="510540" h="212089">
                  <a:moveTo>
                    <a:pt x="442849" y="0"/>
                  </a:moveTo>
                  <a:lnTo>
                    <a:pt x="439801" y="8636"/>
                  </a:lnTo>
                  <a:lnTo>
                    <a:pt x="452086" y="13946"/>
                  </a:lnTo>
                  <a:lnTo>
                    <a:pt x="462645" y="21304"/>
                  </a:lnTo>
                  <a:lnTo>
                    <a:pt x="484036" y="55429"/>
                  </a:lnTo>
                  <a:lnTo>
                    <a:pt x="490288" y="86483"/>
                  </a:lnTo>
                  <a:lnTo>
                    <a:pt x="490323" y="86723"/>
                  </a:lnTo>
                  <a:lnTo>
                    <a:pt x="491109" y="104775"/>
                  </a:lnTo>
                  <a:lnTo>
                    <a:pt x="490323" y="123444"/>
                  </a:lnTo>
                  <a:lnTo>
                    <a:pt x="487965" y="140403"/>
                  </a:lnTo>
                  <a:lnTo>
                    <a:pt x="471418" y="180824"/>
                  </a:lnTo>
                  <a:lnTo>
                    <a:pt x="440182" y="203136"/>
                  </a:lnTo>
                  <a:lnTo>
                    <a:pt x="442849" y="211734"/>
                  </a:lnTo>
                  <a:lnTo>
                    <a:pt x="483318" y="187692"/>
                  </a:lnTo>
                  <a:lnTo>
                    <a:pt x="506047" y="143317"/>
                  </a:lnTo>
                  <a:lnTo>
                    <a:pt x="510413" y="105918"/>
                  </a:lnTo>
                  <a:lnTo>
                    <a:pt x="509331" y="86723"/>
                  </a:lnTo>
                  <a:lnTo>
                    <a:pt x="509317" y="86483"/>
                  </a:lnTo>
                  <a:lnTo>
                    <a:pt x="492887" y="37084"/>
                  </a:lnTo>
                  <a:lnTo>
                    <a:pt x="458186" y="5526"/>
                  </a:lnTo>
                  <a:lnTo>
                    <a:pt x="442849" y="0"/>
                  </a:lnTo>
                  <a:close/>
                </a:path>
                <a:path w="510540" h="212089">
                  <a:moveTo>
                    <a:pt x="67564" y="0"/>
                  </a:moveTo>
                  <a:lnTo>
                    <a:pt x="27166" y="24056"/>
                  </a:lnTo>
                  <a:lnTo>
                    <a:pt x="4381" y="68548"/>
                  </a:lnTo>
                  <a:lnTo>
                    <a:pt x="64" y="104775"/>
                  </a:lnTo>
                  <a:lnTo>
                    <a:pt x="0" y="105918"/>
                  </a:lnTo>
                  <a:lnTo>
                    <a:pt x="985" y="123444"/>
                  </a:lnTo>
                  <a:lnTo>
                    <a:pt x="1093" y="125365"/>
                  </a:lnTo>
                  <a:lnTo>
                    <a:pt x="4365" y="143317"/>
                  </a:lnTo>
                  <a:lnTo>
                    <a:pt x="27094" y="187692"/>
                  </a:lnTo>
                  <a:lnTo>
                    <a:pt x="67564" y="211734"/>
                  </a:lnTo>
                  <a:lnTo>
                    <a:pt x="70231" y="203136"/>
                  </a:lnTo>
                  <a:lnTo>
                    <a:pt x="58183" y="197793"/>
                  </a:lnTo>
                  <a:lnTo>
                    <a:pt x="47767" y="190355"/>
                  </a:lnTo>
                  <a:lnTo>
                    <a:pt x="26376" y="155654"/>
                  </a:lnTo>
                  <a:lnTo>
                    <a:pt x="19352" y="105918"/>
                  </a:lnTo>
                  <a:lnTo>
                    <a:pt x="19304" y="104775"/>
                  </a:lnTo>
                  <a:lnTo>
                    <a:pt x="26376" y="55429"/>
                  </a:lnTo>
                  <a:lnTo>
                    <a:pt x="47799" y="21304"/>
                  </a:lnTo>
                  <a:lnTo>
                    <a:pt x="70485" y="8636"/>
                  </a:lnTo>
                  <a:lnTo>
                    <a:pt x="675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5766561" y="5363667"/>
            <a:ext cx="2510790" cy="911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4685">
              <a:lnSpc>
                <a:spcPct val="100000"/>
              </a:lnSpc>
              <a:spcBef>
                <a:spcPts val="100"/>
              </a:spcBef>
              <a:tabLst>
                <a:tab pos="1129665" algn="l"/>
              </a:tabLst>
            </a:pPr>
            <a:r>
              <a:rPr sz="1800" dirty="0">
                <a:latin typeface="Cambria Math"/>
                <a:cs typeface="Cambria Math"/>
              </a:rPr>
              <a:t>𝐂</a:t>
            </a:r>
            <a:r>
              <a:rPr sz="1800" spc="34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=</a:t>
            </a:r>
            <a:r>
              <a:rPr sz="1800" spc="60" dirty="0">
                <a:latin typeface="Cambria Math"/>
                <a:cs typeface="Cambria Math"/>
              </a:rPr>
              <a:t> </a:t>
            </a:r>
            <a:r>
              <a:rPr sz="1800" spc="-20" dirty="0">
                <a:latin typeface="Cambria Math"/>
                <a:cs typeface="Cambria Math"/>
              </a:rPr>
              <a:t>𝐕</a:t>
            </a:r>
            <a:r>
              <a:rPr sz="1950" spc="-30" baseline="-14957" dirty="0">
                <a:latin typeface="Cambria Math"/>
                <a:cs typeface="Cambria Math"/>
              </a:rPr>
              <a:t>𝐂</a:t>
            </a:r>
            <a:r>
              <a:rPr sz="1950" spc="82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𝐜𝐨𝐬</a:t>
            </a:r>
            <a:r>
              <a:rPr sz="1800" spc="28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𝛚</a:t>
            </a:r>
            <a:r>
              <a:rPr sz="1950" spc="-37" baseline="-14957" dirty="0">
                <a:latin typeface="Cambria Math"/>
                <a:cs typeface="Cambria Math"/>
              </a:rPr>
              <a:t>𝐜</a:t>
            </a:r>
            <a:r>
              <a:rPr sz="1800" spc="-25" dirty="0">
                <a:latin typeface="Cambria Math"/>
                <a:cs typeface="Cambria Math"/>
              </a:rPr>
              <a:t>𝐭</a:t>
            </a:r>
            <a:endParaRPr sz="18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1935"/>
              </a:spcBef>
            </a:pPr>
            <a:r>
              <a:rPr sz="2400" b="1" dirty="0">
                <a:latin typeface="Calibri"/>
                <a:cs typeface="Calibri"/>
              </a:rPr>
              <a:t>Carrier</a:t>
            </a:r>
            <a:r>
              <a:rPr sz="2400" b="1" spc="-10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Signal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31" name="object 3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31136" y="2275713"/>
            <a:ext cx="236093" cy="211709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12109" y="2275713"/>
            <a:ext cx="236092" cy="211709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971420" y="3640582"/>
            <a:ext cx="236093" cy="211708"/>
          </a:xfrm>
          <a:prstGeom prst="rect">
            <a:avLst/>
          </a:prstGeom>
        </p:spPr>
      </p:pic>
      <p:grpSp>
        <p:nvGrpSpPr>
          <p:cNvPr id="34" name="object 34"/>
          <p:cNvGrpSpPr/>
          <p:nvPr/>
        </p:nvGrpSpPr>
        <p:grpSpPr>
          <a:xfrm>
            <a:off x="3172332" y="3607561"/>
            <a:ext cx="1545590" cy="276225"/>
            <a:chOff x="3172332" y="3607561"/>
            <a:chExt cx="1545590" cy="276225"/>
          </a:xfrm>
        </p:grpSpPr>
        <p:sp>
          <p:nvSpPr>
            <p:cNvPr id="35" name="object 35"/>
            <p:cNvSpPr/>
            <p:nvPr/>
          </p:nvSpPr>
          <p:spPr>
            <a:xfrm>
              <a:off x="3172332" y="3607561"/>
              <a:ext cx="1545590" cy="276225"/>
            </a:xfrm>
            <a:custGeom>
              <a:avLst/>
              <a:gdLst/>
              <a:ahLst/>
              <a:cxnLst/>
              <a:rect l="l" t="t" r="r" b="b"/>
              <a:pathLst>
                <a:path w="1545589" h="276225">
                  <a:moveTo>
                    <a:pt x="1472819" y="0"/>
                  </a:moveTo>
                  <a:lnTo>
                    <a:pt x="1470025" y="9144"/>
                  </a:lnTo>
                  <a:lnTo>
                    <a:pt x="1482719" y="15765"/>
                  </a:lnTo>
                  <a:lnTo>
                    <a:pt x="1493758" y="25352"/>
                  </a:lnTo>
                  <a:lnTo>
                    <a:pt x="1516993" y="71560"/>
                  </a:lnTo>
                  <a:lnTo>
                    <a:pt x="1523902" y="113938"/>
                  </a:lnTo>
                  <a:lnTo>
                    <a:pt x="1524757" y="138049"/>
                  </a:lnTo>
                  <a:lnTo>
                    <a:pt x="1523902" y="162393"/>
                  </a:lnTo>
                  <a:lnTo>
                    <a:pt x="1516993" y="204684"/>
                  </a:lnTo>
                  <a:lnTo>
                    <a:pt x="1493758" y="250872"/>
                  </a:lnTo>
                  <a:lnTo>
                    <a:pt x="1470025" y="267081"/>
                  </a:lnTo>
                  <a:lnTo>
                    <a:pt x="1472819" y="276225"/>
                  </a:lnTo>
                  <a:lnTo>
                    <a:pt x="1516110" y="246060"/>
                  </a:lnTo>
                  <a:lnTo>
                    <a:pt x="1534781" y="208700"/>
                  </a:lnTo>
                  <a:lnTo>
                    <a:pt x="1544167" y="163361"/>
                  </a:lnTo>
                  <a:lnTo>
                    <a:pt x="1545330" y="138176"/>
                  </a:lnTo>
                  <a:lnTo>
                    <a:pt x="1544219" y="113938"/>
                  </a:lnTo>
                  <a:lnTo>
                    <a:pt x="1534781" y="67522"/>
                  </a:lnTo>
                  <a:lnTo>
                    <a:pt x="1516110" y="30164"/>
                  </a:lnTo>
                  <a:lnTo>
                    <a:pt x="1489249" y="6403"/>
                  </a:lnTo>
                  <a:lnTo>
                    <a:pt x="1472819" y="0"/>
                  </a:lnTo>
                  <a:close/>
                </a:path>
                <a:path w="1545589" h="276225">
                  <a:moveTo>
                    <a:pt x="72516" y="0"/>
                  </a:moveTo>
                  <a:lnTo>
                    <a:pt x="29333" y="30164"/>
                  </a:lnTo>
                  <a:lnTo>
                    <a:pt x="10662" y="67522"/>
                  </a:lnTo>
                  <a:lnTo>
                    <a:pt x="1188" y="112809"/>
                  </a:lnTo>
                  <a:lnTo>
                    <a:pt x="0" y="138049"/>
                  </a:lnTo>
                  <a:lnTo>
                    <a:pt x="1143" y="162393"/>
                  </a:lnTo>
                  <a:lnTo>
                    <a:pt x="1188" y="163361"/>
                  </a:lnTo>
                  <a:lnTo>
                    <a:pt x="10662" y="208700"/>
                  </a:lnTo>
                  <a:lnTo>
                    <a:pt x="29333" y="246060"/>
                  </a:lnTo>
                  <a:lnTo>
                    <a:pt x="72516" y="276225"/>
                  </a:lnTo>
                  <a:lnTo>
                    <a:pt x="75310" y="267081"/>
                  </a:lnTo>
                  <a:lnTo>
                    <a:pt x="62616" y="260459"/>
                  </a:lnTo>
                  <a:lnTo>
                    <a:pt x="51577" y="250872"/>
                  </a:lnTo>
                  <a:lnTo>
                    <a:pt x="28342" y="204684"/>
                  </a:lnTo>
                  <a:lnTo>
                    <a:pt x="21546" y="163361"/>
                  </a:lnTo>
                  <a:lnTo>
                    <a:pt x="20574" y="138176"/>
                  </a:lnTo>
                  <a:lnTo>
                    <a:pt x="21433" y="113938"/>
                  </a:lnTo>
                  <a:lnTo>
                    <a:pt x="28342" y="71560"/>
                  </a:lnTo>
                  <a:lnTo>
                    <a:pt x="51577" y="25352"/>
                  </a:lnTo>
                  <a:lnTo>
                    <a:pt x="75310" y="9144"/>
                  </a:lnTo>
                  <a:lnTo>
                    <a:pt x="725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379340" y="3640581"/>
              <a:ext cx="236092" cy="211708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199339" y="2048772"/>
            <a:ext cx="6353810" cy="1821814"/>
          </a:xfrm>
          <a:prstGeom prst="rect">
            <a:avLst/>
          </a:prstGeom>
        </p:spPr>
        <p:txBody>
          <a:bodyPr vert="horz" wrap="square" lIns="0" tIns="168910" rIns="0" bIns="0" rtlCol="0">
            <a:spAutoFit/>
          </a:bodyPr>
          <a:lstStyle/>
          <a:p>
            <a:pPr marL="1042035">
              <a:lnSpc>
                <a:spcPct val="100000"/>
              </a:lnSpc>
              <a:spcBef>
                <a:spcPts val="1330"/>
              </a:spcBef>
              <a:tabLst>
                <a:tab pos="1852930" algn="l"/>
              </a:tabLst>
            </a:pPr>
            <a:r>
              <a:rPr sz="1800" dirty="0">
                <a:latin typeface="Cambria Math"/>
                <a:cs typeface="Cambria Math"/>
              </a:rPr>
              <a:t>⟹</a:t>
            </a:r>
            <a:r>
              <a:rPr sz="1800" spc="10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𝛉</a:t>
            </a:r>
            <a:r>
              <a:rPr sz="1800" spc="33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=</a:t>
            </a:r>
            <a:r>
              <a:rPr sz="1800" spc="14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𝛚</a:t>
            </a:r>
            <a:r>
              <a:rPr sz="1950" baseline="-14957" dirty="0">
                <a:latin typeface="Cambria Math"/>
                <a:cs typeface="Cambria Math"/>
              </a:rPr>
              <a:t>𝐜</a:t>
            </a:r>
            <a:r>
              <a:rPr sz="1800" dirty="0">
                <a:latin typeface="Cambria Math"/>
                <a:cs typeface="Cambria Math"/>
              </a:rPr>
              <a:t>𝐭</a:t>
            </a:r>
            <a:r>
              <a:rPr sz="1800" spc="4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+</a:t>
            </a:r>
            <a:r>
              <a:rPr sz="1800" spc="3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𝐤</a:t>
            </a:r>
            <a:r>
              <a:rPr sz="1950" baseline="-14957" dirty="0">
                <a:latin typeface="Cambria Math"/>
                <a:cs typeface="Cambria Math"/>
              </a:rPr>
              <a:t>𝐏</a:t>
            </a:r>
            <a:r>
              <a:rPr sz="1800" dirty="0">
                <a:latin typeface="Cambria Math"/>
                <a:cs typeface="Cambria Math"/>
              </a:rPr>
              <a:t>𝐦</a:t>
            </a:r>
            <a:r>
              <a:rPr sz="1800" spc="409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𝐭</a:t>
            </a:r>
            <a:endParaRPr sz="1800">
              <a:latin typeface="Cambria Math"/>
              <a:cs typeface="Cambria Math"/>
            </a:endParaRPr>
          </a:p>
          <a:p>
            <a:pPr marL="494665" indent="-456565">
              <a:lnSpc>
                <a:spcPct val="100000"/>
              </a:lnSpc>
              <a:spcBef>
                <a:spcPts val="1639"/>
              </a:spcBef>
              <a:buFont typeface="Wingdings"/>
              <a:buChar char=""/>
              <a:tabLst>
                <a:tab pos="4946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Here,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𝐤</a:t>
            </a:r>
            <a:r>
              <a:rPr sz="2625" baseline="-15873" dirty="0">
                <a:solidFill>
                  <a:srgbClr val="6F2F9F"/>
                </a:solidFill>
                <a:latin typeface="Cambria Math"/>
                <a:cs typeface="Cambria Math"/>
              </a:rPr>
              <a:t>𝐏</a:t>
            </a:r>
            <a:r>
              <a:rPr sz="2625" spc="337" baseline="-15873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Phase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Sensitivity,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 Unit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Rad/Volt.</a:t>
            </a:r>
            <a:endParaRPr sz="2400">
              <a:latin typeface="Calibri"/>
              <a:cs typeface="Calibri"/>
            </a:endParaRPr>
          </a:p>
          <a:p>
            <a:pPr marL="494665" indent="-456565">
              <a:lnSpc>
                <a:spcPct val="100000"/>
              </a:lnSpc>
              <a:spcBef>
                <a:spcPts val="335"/>
              </a:spcBef>
              <a:buFont typeface="Wingdings"/>
              <a:buChar char=""/>
              <a:tabLst>
                <a:tab pos="4946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Phase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Modulated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Wave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given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by:</a:t>
            </a:r>
            <a:endParaRPr sz="2400">
              <a:latin typeface="Calibri"/>
              <a:cs typeface="Calibri"/>
            </a:endParaRPr>
          </a:p>
          <a:p>
            <a:pPr marL="1035685">
              <a:lnSpc>
                <a:spcPct val="100000"/>
              </a:lnSpc>
              <a:spcBef>
                <a:spcPts val="855"/>
              </a:spcBef>
              <a:tabLst>
                <a:tab pos="2091689" algn="l"/>
              </a:tabLst>
            </a:pPr>
            <a:r>
              <a:rPr sz="1800" dirty="0">
                <a:latin typeface="Cambria Math"/>
                <a:cs typeface="Cambria Math"/>
              </a:rPr>
              <a:t>⟹</a:t>
            </a:r>
            <a:r>
              <a:rPr sz="1800" spc="5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𝐘</a:t>
            </a:r>
            <a:r>
              <a:rPr sz="1950" baseline="-14957" dirty="0">
                <a:latin typeface="Cambria Math"/>
                <a:cs typeface="Cambria Math"/>
              </a:rPr>
              <a:t>𝐏𝐌</a:t>
            </a:r>
            <a:r>
              <a:rPr sz="1950" spc="652" baseline="-14957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=</a:t>
            </a:r>
            <a:r>
              <a:rPr sz="1800" spc="110" dirty="0">
                <a:latin typeface="Cambria Math"/>
                <a:cs typeface="Cambria Math"/>
              </a:rPr>
              <a:t> </a:t>
            </a:r>
            <a:r>
              <a:rPr sz="1800" spc="-20" dirty="0">
                <a:latin typeface="Cambria Math"/>
                <a:cs typeface="Cambria Math"/>
              </a:rPr>
              <a:t>𝐕</a:t>
            </a:r>
            <a:r>
              <a:rPr sz="1950" spc="-30" baseline="-14957" dirty="0">
                <a:latin typeface="Cambria Math"/>
                <a:cs typeface="Cambria Math"/>
              </a:rPr>
              <a:t>𝐂</a:t>
            </a:r>
            <a:r>
              <a:rPr sz="1950" spc="120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𝐜𝐨𝐬</a:t>
            </a:r>
            <a:r>
              <a:rPr sz="1800" spc="43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𝛚</a:t>
            </a:r>
            <a:r>
              <a:rPr sz="1950" baseline="-14957" dirty="0">
                <a:latin typeface="Cambria Math"/>
                <a:cs typeface="Cambria Math"/>
              </a:rPr>
              <a:t>𝐜</a:t>
            </a:r>
            <a:r>
              <a:rPr sz="1800" dirty="0">
                <a:latin typeface="Cambria Math"/>
                <a:cs typeface="Cambria Math"/>
              </a:rPr>
              <a:t>𝐭</a:t>
            </a:r>
            <a:r>
              <a:rPr sz="1800" spc="1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+</a:t>
            </a:r>
            <a:r>
              <a:rPr sz="1800" spc="1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𝐤</a:t>
            </a:r>
            <a:r>
              <a:rPr sz="1950" baseline="-14957" dirty="0">
                <a:latin typeface="Cambria Math"/>
                <a:cs typeface="Cambria Math"/>
              </a:rPr>
              <a:t>𝐏</a:t>
            </a:r>
            <a:r>
              <a:rPr sz="1800" dirty="0">
                <a:latin typeface="Cambria Math"/>
                <a:cs typeface="Cambria Math"/>
              </a:rPr>
              <a:t>𝐦</a:t>
            </a:r>
            <a:r>
              <a:rPr sz="1800" spc="36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𝐭</a:t>
            </a:r>
            <a:endParaRPr sz="1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u="sng" spc="-2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Waveforms</a:t>
            </a:r>
            <a:r>
              <a:rPr sz="3200" u="sng" spc="-7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of</a:t>
            </a:r>
            <a:r>
              <a:rPr sz="3200" u="sng" spc="-6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Phase</a:t>
            </a:r>
            <a:r>
              <a:rPr sz="3200" u="sng" spc="-7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spc="-1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Modulator</a:t>
            </a:r>
            <a:endParaRPr sz="3200" dirty="0"/>
          </a:p>
        </p:txBody>
      </p:sp>
      <p:sp>
        <p:nvSpPr>
          <p:cNvPr id="5" name="object 5"/>
          <p:cNvSpPr txBox="1"/>
          <p:nvPr/>
        </p:nvSpPr>
        <p:spPr>
          <a:xfrm>
            <a:off x="926083" y="717550"/>
            <a:ext cx="10261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Amplitude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10450" y="1634363"/>
            <a:ext cx="139966" cy="133096"/>
            <a:chOff x="710450" y="1634363"/>
            <a:chExt cx="139966" cy="133096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3625" y="1637538"/>
              <a:ext cx="133616" cy="12674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0450" y="1634363"/>
              <a:ext cx="139966" cy="133096"/>
            </a:xfrm>
            <a:prstGeom prst="rect">
              <a:avLst/>
            </a:prstGeom>
          </p:spPr>
        </p:pic>
      </p:grpSp>
      <p:sp>
        <p:nvSpPr>
          <p:cNvPr id="14" name="object 14"/>
          <p:cNvSpPr/>
          <p:nvPr/>
        </p:nvSpPr>
        <p:spPr>
          <a:xfrm>
            <a:off x="378764" y="2550794"/>
            <a:ext cx="6974840" cy="1718945"/>
          </a:xfrm>
          <a:custGeom>
            <a:avLst/>
            <a:gdLst/>
            <a:ahLst/>
            <a:cxnLst/>
            <a:rect l="l" t="t" r="r" b="b"/>
            <a:pathLst>
              <a:path w="6974840" h="1718945">
                <a:moveTo>
                  <a:pt x="6974535" y="963041"/>
                </a:moveTo>
                <a:lnTo>
                  <a:pt x="6936435" y="943991"/>
                </a:lnTo>
                <a:lnTo>
                  <a:pt x="6860235" y="905891"/>
                </a:lnTo>
                <a:lnTo>
                  <a:pt x="6860235" y="943991"/>
                </a:lnTo>
                <a:lnTo>
                  <a:pt x="421665" y="943991"/>
                </a:lnTo>
                <a:lnTo>
                  <a:pt x="420827" y="114300"/>
                </a:lnTo>
                <a:lnTo>
                  <a:pt x="458927" y="114300"/>
                </a:lnTo>
                <a:lnTo>
                  <a:pt x="449376" y="95250"/>
                </a:lnTo>
                <a:lnTo>
                  <a:pt x="401662" y="0"/>
                </a:lnTo>
                <a:lnTo>
                  <a:pt x="344627" y="114300"/>
                </a:lnTo>
                <a:lnTo>
                  <a:pt x="382727" y="114300"/>
                </a:lnTo>
                <a:lnTo>
                  <a:pt x="383565" y="943991"/>
                </a:lnTo>
                <a:lnTo>
                  <a:pt x="0" y="943991"/>
                </a:lnTo>
                <a:lnTo>
                  <a:pt x="0" y="982091"/>
                </a:lnTo>
                <a:lnTo>
                  <a:pt x="383603" y="982091"/>
                </a:lnTo>
                <a:lnTo>
                  <a:pt x="384352" y="1718437"/>
                </a:lnTo>
                <a:lnTo>
                  <a:pt x="422452" y="1718449"/>
                </a:lnTo>
                <a:lnTo>
                  <a:pt x="421703" y="982091"/>
                </a:lnTo>
                <a:lnTo>
                  <a:pt x="6860235" y="982091"/>
                </a:lnTo>
                <a:lnTo>
                  <a:pt x="6860235" y="1020191"/>
                </a:lnTo>
                <a:lnTo>
                  <a:pt x="6936435" y="982091"/>
                </a:lnTo>
                <a:lnTo>
                  <a:pt x="6974535" y="963041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124447" y="3529965"/>
            <a:ext cx="1139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Time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</a:t>
            </a:r>
            <a:r>
              <a:rPr sz="1800" b="1" spc="-10" dirty="0">
                <a:latin typeface="Calibri"/>
                <a:cs typeface="Calibri"/>
              </a:rPr>
              <a:t> (Sec)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26083" y="2528442"/>
            <a:ext cx="10261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Amplitude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710450" y="3444620"/>
            <a:ext cx="139966" cy="133223"/>
            <a:chOff x="710450" y="3444620"/>
            <a:chExt cx="139966" cy="133223"/>
          </a:xfrm>
        </p:grpSpPr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3625" y="3447795"/>
              <a:ext cx="133616" cy="126873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0450" y="3444620"/>
              <a:ext cx="139966" cy="133223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5704079" y="2621364"/>
            <a:ext cx="16414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7E5F00"/>
                </a:solidFill>
                <a:latin typeface="Calibri"/>
                <a:cs typeface="Calibri"/>
              </a:rPr>
              <a:t>Carrier</a:t>
            </a:r>
            <a:r>
              <a:rPr sz="1800" b="1" spc="-30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7E5F00"/>
                </a:solidFill>
                <a:latin typeface="Calibri"/>
                <a:cs typeface="Calibri"/>
              </a:rPr>
              <a:t>Signal</a:t>
            </a:r>
            <a:r>
              <a:rPr sz="1800" b="1" spc="-30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lang="en-US" sz="1800" b="1" spc="-30" dirty="0">
                <a:solidFill>
                  <a:srgbClr val="7E5F00"/>
                </a:solidFill>
                <a:latin typeface="Calibri"/>
                <a:cs typeface="Calibri"/>
              </a:rPr>
              <a:t>c(t)</a:t>
            </a:r>
            <a:endParaRPr sz="1800" dirty="0">
              <a:latin typeface="Cambria Math"/>
              <a:cs typeface="Cambria Math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70902" y="2967689"/>
            <a:ext cx="5695315" cy="1009650"/>
            <a:chOff x="770902" y="2967689"/>
            <a:chExt cx="5695315" cy="1009650"/>
          </a:xfrm>
        </p:grpSpPr>
        <p:sp>
          <p:nvSpPr>
            <p:cNvPr id="23" name="object 23"/>
            <p:cNvSpPr/>
            <p:nvPr/>
          </p:nvSpPr>
          <p:spPr>
            <a:xfrm>
              <a:off x="805827" y="2981977"/>
              <a:ext cx="400050" cy="970280"/>
            </a:xfrm>
            <a:custGeom>
              <a:avLst/>
              <a:gdLst/>
              <a:ahLst/>
              <a:cxnLst/>
              <a:rect l="l" t="t" r="r" b="b"/>
              <a:pathLst>
                <a:path w="400050" h="970279">
                  <a:moveTo>
                    <a:pt x="0" y="504172"/>
                  </a:moveTo>
                  <a:lnTo>
                    <a:pt x="7382" y="438806"/>
                  </a:lnTo>
                  <a:lnTo>
                    <a:pt x="14800" y="374422"/>
                  </a:lnTo>
                  <a:lnTo>
                    <a:pt x="22289" y="312001"/>
                  </a:lnTo>
                  <a:lnTo>
                    <a:pt x="29885" y="252521"/>
                  </a:lnTo>
                  <a:lnTo>
                    <a:pt x="37624" y="196960"/>
                  </a:lnTo>
                  <a:lnTo>
                    <a:pt x="45542" y="146297"/>
                  </a:lnTo>
                  <a:lnTo>
                    <a:pt x="53674" y="101512"/>
                  </a:lnTo>
                  <a:lnTo>
                    <a:pt x="62056" y="63583"/>
                  </a:lnTo>
                  <a:lnTo>
                    <a:pt x="79716" y="12207"/>
                  </a:lnTo>
                  <a:lnTo>
                    <a:pt x="98807" y="0"/>
                  </a:lnTo>
                  <a:lnTo>
                    <a:pt x="108978" y="11031"/>
                  </a:lnTo>
                  <a:lnTo>
                    <a:pt x="123920" y="56383"/>
                  </a:lnTo>
                  <a:lnTo>
                    <a:pt x="140081" y="138771"/>
                  </a:lnTo>
                  <a:lnTo>
                    <a:pt x="148527" y="190804"/>
                  </a:lnTo>
                  <a:lnTo>
                    <a:pt x="157167" y="248437"/>
                  </a:lnTo>
                  <a:lnTo>
                    <a:pt x="165965" y="310450"/>
                  </a:lnTo>
                  <a:lnTo>
                    <a:pt x="174883" y="375625"/>
                  </a:lnTo>
                  <a:lnTo>
                    <a:pt x="183885" y="442740"/>
                  </a:lnTo>
                  <a:lnTo>
                    <a:pt x="192933" y="510578"/>
                  </a:lnTo>
                  <a:lnTo>
                    <a:pt x="201992" y="577917"/>
                  </a:lnTo>
                  <a:lnTo>
                    <a:pt x="211024" y="643539"/>
                  </a:lnTo>
                  <a:lnTo>
                    <a:pt x="219992" y="706224"/>
                  </a:lnTo>
                  <a:lnTo>
                    <a:pt x="228859" y="764752"/>
                  </a:lnTo>
                  <a:lnTo>
                    <a:pt x="237589" y="817904"/>
                  </a:lnTo>
                  <a:lnTo>
                    <a:pt x="246144" y="864459"/>
                  </a:lnTo>
                  <a:lnTo>
                    <a:pt x="254488" y="903200"/>
                  </a:lnTo>
                  <a:lnTo>
                    <a:pt x="270395" y="952355"/>
                  </a:lnTo>
                  <a:lnTo>
                    <a:pt x="294017" y="969796"/>
                  </a:lnTo>
                  <a:lnTo>
                    <a:pt x="305398" y="960307"/>
                  </a:lnTo>
                  <a:lnTo>
                    <a:pt x="327440" y="910780"/>
                  </a:lnTo>
                  <a:lnTo>
                    <a:pt x="338156" y="873091"/>
                  </a:lnTo>
                  <a:lnTo>
                    <a:pt x="348706" y="828352"/>
                  </a:lnTo>
                  <a:lnTo>
                    <a:pt x="359117" y="777735"/>
                  </a:lnTo>
                  <a:lnTo>
                    <a:pt x="369418" y="722416"/>
                  </a:lnTo>
                  <a:lnTo>
                    <a:pt x="379636" y="663568"/>
                  </a:lnTo>
                  <a:lnTo>
                    <a:pt x="389799" y="602367"/>
                  </a:lnTo>
                  <a:lnTo>
                    <a:pt x="399935" y="539986"/>
                  </a:lnTo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205763" y="2981977"/>
              <a:ext cx="400050" cy="970280"/>
            </a:xfrm>
            <a:custGeom>
              <a:avLst/>
              <a:gdLst/>
              <a:ahLst/>
              <a:cxnLst/>
              <a:rect l="l" t="t" r="r" b="b"/>
              <a:pathLst>
                <a:path w="400050" h="970279">
                  <a:moveTo>
                    <a:pt x="0" y="504172"/>
                  </a:moveTo>
                  <a:lnTo>
                    <a:pt x="7382" y="438806"/>
                  </a:lnTo>
                  <a:lnTo>
                    <a:pt x="14800" y="374422"/>
                  </a:lnTo>
                  <a:lnTo>
                    <a:pt x="22288" y="312001"/>
                  </a:lnTo>
                  <a:lnTo>
                    <a:pt x="29884" y="252521"/>
                  </a:lnTo>
                  <a:lnTo>
                    <a:pt x="37622" y="196960"/>
                  </a:lnTo>
                  <a:lnTo>
                    <a:pt x="45538" y="146297"/>
                  </a:lnTo>
                  <a:lnTo>
                    <a:pt x="53668" y="101512"/>
                  </a:lnTo>
                  <a:lnTo>
                    <a:pt x="62048" y="63583"/>
                  </a:lnTo>
                  <a:lnTo>
                    <a:pt x="79698" y="12207"/>
                  </a:lnTo>
                  <a:lnTo>
                    <a:pt x="98777" y="0"/>
                  </a:lnTo>
                  <a:lnTo>
                    <a:pt x="108940" y="11031"/>
                  </a:lnTo>
                  <a:lnTo>
                    <a:pt x="123884" y="56383"/>
                  </a:lnTo>
                  <a:lnTo>
                    <a:pt x="140045" y="138771"/>
                  </a:lnTo>
                  <a:lnTo>
                    <a:pt x="148490" y="190804"/>
                  </a:lnTo>
                  <a:lnTo>
                    <a:pt x="157129" y="248437"/>
                  </a:lnTo>
                  <a:lnTo>
                    <a:pt x="165926" y="310450"/>
                  </a:lnTo>
                  <a:lnTo>
                    <a:pt x="174842" y="375625"/>
                  </a:lnTo>
                  <a:lnTo>
                    <a:pt x="183843" y="442740"/>
                  </a:lnTo>
                  <a:lnTo>
                    <a:pt x="192890" y="510578"/>
                  </a:lnTo>
                  <a:lnTo>
                    <a:pt x="201947" y="577917"/>
                  </a:lnTo>
                  <a:lnTo>
                    <a:pt x="210978" y="643539"/>
                  </a:lnTo>
                  <a:lnTo>
                    <a:pt x="219945" y="706224"/>
                  </a:lnTo>
                  <a:lnTo>
                    <a:pt x="228812" y="764752"/>
                  </a:lnTo>
                  <a:lnTo>
                    <a:pt x="237542" y="817904"/>
                  </a:lnTo>
                  <a:lnTo>
                    <a:pt x="246098" y="864459"/>
                  </a:lnTo>
                  <a:lnTo>
                    <a:pt x="254444" y="903200"/>
                  </a:lnTo>
                  <a:lnTo>
                    <a:pt x="270357" y="952355"/>
                  </a:lnTo>
                  <a:lnTo>
                    <a:pt x="293984" y="969796"/>
                  </a:lnTo>
                  <a:lnTo>
                    <a:pt x="305367" y="960307"/>
                  </a:lnTo>
                  <a:lnTo>
                    <a:pt x="327411" y="910780"/>
                  </a:lnTo>
                  <a:lnTo>
                    <a:pt x="338127" y="873091"/>
                  </a:lnTo>
                  <a:lnTo>
                    <a:pt x="348677" y="828352"/>
                  </a:lnTo>
                  <a:lnTo>
                    <a:pt x="359088" y="777735"/>
                  </a:lnTo>
                  <a:lnTo>
                    <a:pt x="369387" y="722416"/>
                  </a:lnTo>
                  <a:lnTo>
                    <a:pt x="379604" y="663568"/>
                  </a:lnTo>
                  <a:lnTo>
                    <a:pt x="389764" y="602367"/>
                  </a:lnTo>
                  <a:lnTo>
                    <a:pt x="399897" y="539986"/>
                  </a:lnTo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612900" y="2981977"/>
              <a:ext cx="400050" cy="970280"/>
            </a:xfrm>
            <a:custGeom>
              <a:avLst/>
              <a:gdLst/>
              <a:ahLst/>
              <a:cxnLst/>
              <a:rect l="l" t="t" r="r" b="b"/>
              <a:pathLst>
                <a:path w="400050" h="970279">
                  <a:moveTo>
                    <a:pt x="0" y="504172"/>
                  </a:moveTo>
                  <a:lnTo>
                    <a:pt x="7389" y="438806"/>
                  </a:lnTo>
                  <a:lnTo>
                    <a:pt x="14810" y="374422"/>
                  </a:lnTo>
                  <a:lnTo>
                    <a:pt x="22300" y="312001"/>
                  </a:lnTo>
                  <a:lnTo>
                    <a:pt x="29894" y="252521"/>
                  </a:lnTo>
                  <a:lnTo>
                    <a:pt x="37630" y="196960"/>
                  </a:lnTo>
                  <a:lnTo>
                    <a:pt x="45543" y="146297"/>
                  </a:lnTo>
                  <a:lnTo>
                    <a:pt x="53670" y="101512"/>
                  </a:lnTo>
                  <a:lnTo>
                    <a:pt x="62047" y="63583"/>
                  </a:lnTo>
                  <a:lnTo>
                    <a:pt x="79699" y="12207"/>
                  </a:lnTo>
                  <a:lnTo>
                    <a:pt x="98790" y="0"/>
                  </a:lnTo>
                  <a:lnTo>
                    <a:pt x="108966" y="11031"/>
                  </a:lnTo>
                  <a:lnTo>
                    <a:pt x="123910" y="56383"/>
                  </a:lnTo>
                  <a:lnTo>
                    <a:pt x="140071" y="138771"/>
                  </a:lnTo>
                  <a:lnTo>
                    <a:pt x="148516" y="190804"/>
                  </a:lnTo>
                  <a:lnTo>
                    <a:pt x="157155" y="248437"/>
                  </a:lnTo>
                  <a:lnTo>
                    <a:pt x="165951" y="310450"/>
                  </a:lnTo>
                  <a:lnTo>
                    <a:pt x="174868" y="375625"/>
                  </a:lnTo>
                  <a:lnTo>
                    <a:pt x="183868" y="442740"/>
                  </a:lnTo>
                  <a:lnTo>
                    <a:pt x="192915" y="510578"/>
                  </a:lnTo>
                  <a:lnTo>
                    <a:pt x="201973" y="577917"/>
                  </a:lnTo>
                  <a:lnTo>
                    <a:pt x="211003" y="643539"/>
                  </a:lnTo>
                  <a:lnTo>
                    <a:pt x="219971" y="706224"/>
                  </a:lnTo>
                  <a:lnTo>
                    <a:pt x="228838" y="764752"/>
                  </a:lnTo>
                  <a:lnTo>
                    <a:pt x="237568" y="817904"/>
                  </a:lnTo>
                  <a:lnTo>
                    <a:pt x="246124" y="864459"/>
                  </a:lnTo>
                  <a:lnTo>
                    <a:pt x="254470" y="903200"/>
                  </a:lnTo>
                  <a:lnTo>
                    <a:pt x="270383" y="952355"/>
                  </a:lnTo>
                  <a:lnTo>
                    <a:pt x="294010" y="969796"/>
                  </a:lnTo>
                  <a:lnTo>
                    <a:pt x="305393" y="960307"/>
                  </a:lnTo>
                  <a:lnTo>
                    <a:pt x="327437" y="910780"/>
                  </a:lnTo>
                  <a:lnTo>
                    <a:pt x="338153" y="873091"/>
                  </a:lnTo>
                  <a:lnTo>
                    <a:pt x="348702" y="828352"/>
                  </a:lnTo>
                  <a:lnTo>
                    <a:pt x="359113" y="777735"/>
                  </a:lnTo>
                  <a:lnTo>
                    <a:pt x="369413" y="722416"/>
                  </a:lnTo>
                  <a:lnTo>
                    <a:pt x="379629" y="663568"/>
                  </a:lnTo>
                  <a:lnTo>
                    <a:pt x="389790" y="602367"/>
                  </a:lnTo>
                  <a:lnTo>
                    <a:pt x="399923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012823" y="2981977"/>
              <a:ext cx="400050" cy="970280"/>
            </a:xfrm>
            <a:custGeom>
              <a:avLst/>
              <a:gdLst/>
              <a:ahLst/>
              <a:cxnLst/>
              <a:rect l="l" t="t" r="r" b="b"/>
              <a:pathLst>
                <a:path w="400050" h="970279">
                  <a:moveTo>
                    <a:pt x="0" y="504172"/>
                  </a:moveTo>
                  <a:lnTo>
                    <a:pt x="7391" y="438806"/>
                  </a:lnTo>
                  <a:lnTo>
                    <a:pt x="14818" y="374422"/>
                  </a:lnTo>
                  <a:lnTo>
                    <a:pt x="22315" y="312001"/>
                  </a:lnTo>
                  <a:lnTo>
                    <a:pt x="29919" y="252521"/>
                  </a:lnTo>
                  <a:lnTo>
                    <a:pt x="37664" y="196960"/>
                  </a:lnTo>
                  <a:lnTo>
                    <a:pt x="45586" y="146297"/>
                  </a:lnTo>
                  <a:lnTo>
                    <a:pt x="53721" y="101512"/>
                  </a:lnTo>
                  <a:lnTo>
                    <a:pt x="62103" y="63583"/>
                  </a:lnTo>
                  <a:lnTo>
                    <a:pt x="79751" y="12207"/>
                  </a:lnTo>
                  <a:lnTo>
                    <a:pt x="98815" y="0"/>
                  </a:lnTo>
                  <a:lnTo>
                    <a:pt x="108966" y="11031"/>
                  </a:lnTo>
                  <a:lnTo>
                    <a:pt x="123913" y="56383"/>
                  </a:lnTo>
                  <a:lnTo>
                    <a:pt x="140084" y="138771"/>
                  </a:lnTo>
                  <a:lnTo>
                    <a:pt x="148535" y="190804"/>
                  </a:lnTo>
                  <a:lnTo>
                    <a:pt x="157181" y="248437"/>
                  </a:lnTo>
                  <a:lnTo>
                    <a:pt x="165984" y="310450"/>
                  </a:lnTo>
                  <a:lnTo>
                    <a:pt x="174907" y="375625"/>
                  </a:lnTo>
                  <a:lnTo>
                    <a:pt x="183913" y="442740"/>
                  </a:lnTo>
                  <a:lnTo>
                    <a:pt x="192965" y="510578"/>
                  </a:lnTo>
                  <a:lnTo>
                    <a:pt x="202026" y="577917"/>
                  </a:lnTo>
                  <a:lnTo>
                    <a:pt x="211059" y="643539"/>
                  </a:lnTo>
                  <a:lnTo>
                    <a:pt x="220027" y="706224"/>
                  </a:lnTo>
                  <a:lnTo>
                    <a:pt x="228892" y="764752"/>
                  </a:lnTo>
                  <a:lnTo>
                    <a:pt x="237618" y="817904"/>
                  </a:lnTo>
                  <a:lnTo>
                    <a:pt x="246167" y="864459"/>
                  </a:lnTo>
                  <a:lnTo>
                    <a:pt x="254502" y="903200"/>
                  </a:lnTo>
                  <a:lnTo>
                    <a:pt x="270383" y="952355"/>
                  </a:lnTo>
                  <a:lnTo>
                    <a:pt x="294010" y="969796"/>
                  </a:lnTo>
                  <a:lnTo>
                    <a:pt x="305393" y="960307"/>
                  </a:lnTo>
                  <a:lnTo>
                    <a:pt x="327437" y="910780"/>
                  </a:lnTo>
                  <a:lnTo>
                    <a:pt x="338153" y="873091"/>
                  </a:lnTo>
                  <a:lnTo>
                    <a:pt x="348702" y="828352"/>
                  </a:lnTo>
                  <a:lnTo>
                    <a:pt x="359113" y="777735"/>
                  </a:lnTo>
                  <a:lnTo>
                    <a:pt x="369413" y="722416"/>
                  </a:lnTo>
                  <a:lnTo>
                    <a:pt x="379629" y="663568"/>
                  </a:lnTo>
                  <a:lnTo>
                    <a:pt x="389790" y="602367"/>
                  </a:lnTo>
                  <a:lnTo>
                    <a:pt x="399923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425446" y="2988327"/>
              <a:ext cx="400050" cy="970280"/>
            </a:xfrm>
            <a:custGeom>
              <a:avLst/>
              <a:gdLst/>
              <a:ahLst/>
              <a:cxnLst/>
              <a:rect l="l" t="t" r="r" b="b"/>
              <a:pathLst>
                <a:path w="400050" h="970279">
                  <a:moveTo>
                    <a:pt x="0" y="504172"/>
                  </a:moveTo>
                  <a:lnTo>
                    <a:pt x="7391" y="438806"/>
                  </a:lnTo>
                  <a:lnTo>
                    <a:pt x="14818" y="374422"/>
                  </a:lnTo>
                  <a:lnTo>
                    <a:pt x="22317" y="312001"/>
                  </a:lnTo>
                  <a:lnTo>
                    <a:pt x="29923" y="252521"/>
                  </a:lnTo>
                  <a:lnTo>
                    <a:pt x="37671" y="196960"/>
                  </a:lnTo>
                  <a:lnTo>
                    <a:pt x="45599" y="146297"/>
                  </a:lnTo>
                  <a:lnTo>
                    <a:pt x="53741" y="101512"/>
                  </a:lnTo>
                  <a:lnTo>
                    <a:pt x="62132" y="63583"/>
                  </a:lnTo>
                  <a:lnTo>
                    <a:pt x="79809" y="12207"/>
                  </a:lnTo>
                  <a:lnTo>
                    <a:pt x="98915" y="0"/>
                  </a:lnTo>
                  <a:lnTo>
                    <a:pt x="109093" y="11031"/>
                  </a:lnTo>
                  <a:lnTo>
                    <a:pt x="124004" y="56383"/>
                  </a:lnTo>
                  <a:lnTo>
                    <a:pt x="140148" y="138771"/>
                  </a:lnTo>
                  <a:lnTo>
                    <a:pt x="148588" y="190804"/>
                  </a:lnTo>
                  <a:lnTo>
                    <a:pt x="157225" y="248437"/>
                  </a:lnTo>
                  <a:lnTo>
                    <a:pt x="166022" y="310450"/>
                  </a:lnTo>
                  <a:lnTo>
                    <a:pt x="174941" y="375625"/>
                  </a:lnTo>
                  <a:lnTo>
                    <a:pt x="183945" y="442740"/>
                  </a:lnTo>
                  <a:lnTo>
                    <a:pt x="192997" y="510578"/>
                  </a:lnTo>
                  <a:lnTo>
                    <a:pt x="202061" y="577917"/>
                  </a:lnTo>
                  <a:lnTo>
                    <a:pt x="211098" y="643539"/>
                  </a:lnTo>
                  <a:lnTo>
                    <a:pt x="220072" y="706224"/>
                  </a:lnTo>
                  <a:lnTo>
                    <a:pt x="228945" y="764752"/>
                  </a:lnTo>
                  <a:lnTo>
                    <a:pt x="237681" y="817904"/>
                  </a:lnTo>
                  <a:lnTo>
                    <a:pt x="246243" y="864459"/>
                  </a:lnTo>
                  <a:lnTo>
                    <a:pt x="254593" y="903200"/>
                  </a:lnTo>
                  <a:lnTo>
                    <a:pt x="270510" y="952355"/>
                  </a:lnTo>
                  <a:lnTo>
                    <a:pt x="294084" y="969796"/>
                  </a:lnTo>
                  <a:lnTo>
                    <a:pt x="305448" y="960307"/>
                  </a:lnTo>
                  <a:lnTo>
                    <a:pt x="327471" y="910780"/>
                  </a:lnTo>
                  <a:lnTo>
                    <a:pt x="338185" y="873091"/>
                  </a:lnTo>
                  <a:lnTo>
                    <a:pt x="348737" y="828352"/>
                  </a:lnTo>
                  <a:lnTo>
                    <a:pt x="359156" y="777735"/>
                  </a:lnTo>
                  <a:lnTo>
                    <a:pt x="369468" y="722416"/>
                  </a:lnTo>
                  <a:lnTo>
                    <a:pt x="379703" y="663568"/>
                  </a:lnTo>
                  <a:lnTo>
                    <a:pt x="389888" y="602367"/>
                  </a:lnTo>
                  <a:lnTo>
                    <a:pt x="400050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825496" y="2988327"/>
              <a:ext cx="400050" cy="970280"/>
            </a:xfrm>
            <a:custGeom>
              <a:avLst/>
              <a:gdLst/>
              <a:ahLst/>
              <a:cxnLst/>
              <a:rect l="l" t="t" r="r" b="b"/>
              <a:pathLst>
                <a:path w="400050" h="970279">
                  <a:moveTo>
                    <a:pt x="0" y="504172"/>
                  </a:moveTo>
                  <a:lnTo>
                    <a:pt x="7364" y="438806"/>
                  </a:lnTo>
                  <a:lnTo>
                    <a:pt x="14768" y="374422"/>
                  </a:lnTo>
                  <a:lnTo>
                    <a:pt x="22248" y="312001"/>
                  </a:lnTo>
                  <a:lnTo>
                    <a:pt x="29838" y="252521"/>
                  </a:lnTo>
                  <a:lnTo>
                    <a:pt x="37574" y="196960"/>
                  </a:lnTo>
                  <a:lnTo>
                    <a:pt x="45492" y="146297"/>
                  </a:lnTo>
                  <a:lnTo>
                    <a:pt x="53626" y="101512"/>
                  </a:lnTo>
                  <a:lnTo>
                    <a:pt x="62012" y="63583"/>
                  </a:lnTo>
                  <a:lnTo>
                    <a:pt x="79683" y="12207"/>
                  </a:lnTo>
                  <a:lnTo>
                    <a:pt x="98788" y="0"/>
                  </a:lnTo>
                  <a:lnTo>
                    <a:pt x="108966" y="11031"/>
                  </a:lnTo>
                  <a:lnTo>
                    <a:pt x="123910" y="56383"/>
                  </a:lnTo>
                  <a:lnTo>
                    <a:pt x="140071" y="138771"/>
                  </a:lnTo>
                  <a:lnTo>
                    <a:pt x="148516" y="190804"/>
                  </a:lnTo>
                  <a:lnTo>
                    <a:pt x="157155" y="248437"/>
                  </a:lnTo>
                  <a:lnTo>
                    <a:pt x="165951" y="310450"/>
                  </a:lnTo>
                  <a:lnTo>
                    <a:pt x="174868" y="375625"/>
                  </a:lnTo>
                  <a:lnTo>
                    <a:pt x="183868" y="442740"/>
                  </a:lnTo>
                  <a:lnTo>
                    <a:pt x="192915" y="510578"/>
                  </a:lnTo>
                  <a:lnTo>
                    <a:pt x="201973" y="577917"/>
                  </a:lnTo>
                  <a:lnTo>
                    <a:pt x="211003" y="643539"/>
                  </a:lnTo>
                  <a:lnTo>
                    <a:pt x="219971" y="706224"/>
                  </a:lnTo>
                  <a:lnTo>
                    <a:pt x="228838" y="764752"/>
                  </a:lnTo>
                  <a:lnTo>
                    <a:pt x="237568" y="817904"/>
                  </a:lnTo>
                  <a:lnTo>
                    <a:pt x="246124" y="864459"/>
                  </a:lnTo>
                  <a:lnTo>
                    <a:pt x="254470" y="903200"/>
                  </a:lnTo>
                  <a:lnTo>
                    <a:pt x="270383" y="952355"/>
                  </a:lnTo>
                  <a:lnTo>
                    <a:pt x="293966" y="969796"/>
                  </a:lnTo>
                  <a:lnTo>
                    <a:pt x="305339" y="960307"/>
                  </a:lnTo>
                  <a:lnTo>
                    <a:pt x="327383" y="910780"/>
                  </a:lnTo>
                  <a:lnTo>
                    <a:pt x="338105" y="873091"/>
                  </a:lnTo>
                  <a:lnTo>
                    <a:pt x="348664" y="828352"/>
                  </a:lnTo>
                  <a:lnTo>
                    <a:pt x="359085" y="777735"/>
                  </a:lnTo>
                  <a:lnTo>
                    <a:pt x="369395" y="722416"/>
                  </a:lnTo>
                  <a:lnTo>
                    <a:pt x="379620" y="663568"/>
                  </a:lnTo>
                  <a:lnTo>
                    <a:pt x="389787" y="602367"/>
                  </a:lnTo>
                  <a:lnTo>
                    <a:pt x="399923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232658" y="2988327"/>
              <a:ext cx="400050" cy="970280"/>
            </a:xfrm>
            <a:custGeom>
              <a:avLst/>
              <a:gdLst/>
              <a:ahLst/>
              <a:cxnLst/>
              <a:rect l="l" t="t" r="r" b="b"/>
              <a:pathLst>
                <a:path w="400050" h="970279">
                  <a:moveTo>
                    <a:pt x="0" y="504172"/>
                  </a:moveTo>
                  <a:lnTo>
                    <a:pt x="7364" y="438806"/>
                  </a:lnTo>
                  <a:lnTo>
                    <a:pt x="14768" y="374422"/>
                  </a:lnTo>
                  <a:lnTo>
                    <a:pt x="22248" y="312001"/>
                  </a:lnTo>
                  <a:lnTo>
                    <a:pt x="29838" y="252521"/>
                  </a:lnTo>
                  <a:lnTo>
                    <a:pt x="37574" y="196960"/>
                  </a:lnTo>
                  <a:lnTo>
                    <a:pt x="45492" y="146297"/>
                  </a:lnTo>
                  <a:lnTo>
                    <a:pt x="53626" y="101512"/>
                  </a:lnTo>
                  <a:lnTo>
                    <a:pt x="62012" y="63583"/>
                  </a:lnTo>
                  <a:lnTo>
                    <a:pt x="79683" y="12207"/>
                  </a:lnTo>
                  <a:lnTo>
                    <a:pt x="98788" y="0"/>
                  </a:lnTo>
                  <a:lnTo>
                    <a:pt x="108966" y="11031"/>
                  </a:lnTo>
                  <a:lnTo>
                    <a:pt x="123910" y="56383"/>
                  </a:lnTo>
                  <a:lnTo>
                    <a:pt x="140071" y="138771"/>
                  </a:lnTo>
                  <a:lnTo>
                    <a:pt x="148516" y="190804"/>
                  </a:lnTo>
                  <a:lnTo>
                    <a:pt x="157155" y="248437"/>
                  </a:lnTo>
                  <a:lnTo>
                    <a:pt x="165951" y="310450"/>
                  </a:lnTo>
                  <a:lnTo>
                    <a:pt x="174868" y="375625"/>
                  </a:lnTo>
                  <a:lnTo>
                    <a:pt x="183868" y="442740"/>
                  </a:lnTo>
                  <a:lnTo>
                    <a:pt x="192915" y="510578"/>
                  </a:lnTo>
                  <a:lnTo>
                    <a:pt x="201973" y="577917"/>
                  </a:lnTo>
                  <a:lnTo>
                    <a:pt x="211003" y="643539"/>
                  </a:lnTo>
                  <a:lnTo>
                    <a:pt x="219971" y="706224"/>
                  </a:lnTo>
                  <a:lnTo>
                    <a:pt x="228838" y="764752"/>
                  </a:lnTo>
                  <a:lnTo>
                    <a:pt x="237568" y="817904"/>
                  </a:lnTo>
                  <a:lnTo>
                    <a:pt x="246124" y="864459"/>
                  </a:lnTo>
                  <a:lnTo>
                    <a:pt x="254470" y="903200"/>
                  </a:lnTo>
                  <a:lnTo>
                    <a:pt x="270383" y="952355"/>
                  </a:lnTo>
                  <a:lnTo>
                    <a:pt x="293966" y="969796"/>
                  </a:lnTo>
                  <a:lnTo>
                    <a:pt x="305339" y="960307"/>
                  </a:lnTo>
                  <a:lnTo>
                    <a:pt x="327383" y="910780"/>
                  </a:lnTo>
                  <a:lnTo>
                    <a:pt x="338105" y="873091"/>
                  </a:lnTo>
                  <a:lnTo>
                    <a:pt x="348664" y="828352"/>
                  </a:lnTo>
                  <a:lnTo>
                    <a:pt x="359085" y="777735"/>
                  </a:lnTo>
                  <a:lnTo>
                    <a:pt x="369395" y="722416"/>
                  </a:lnTo>
                  <a:lnTo>
                    <a:pt x="379620" y="663568"/>
                  </a:lnTo>
                  <a:lnTo>
                    <a:pt x="389787" y="602367"/>
                  </a:lnTo>
                  <a:lnTo>
                    <a:pt x="399923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632580" y="2988327"/>
              <a:ext cx="400050" cy="970280"/>
            </a:xfrm>
            <a:custGeom>
              <a:avLst/>
              <a:gdLst/>
              <a:ahLst/>
              <a:cxnLst/>
              <a:rect l="l" t="t" r="r" b="b"/>
              <a:pathLst>
                <a:path w="400050" h="970279">
                  <a:moveTo>
                    <a:pt x="0" y="504172"/>
                  </a:moveTo>
                  <a:lnTo>
                    <a:pt x="7364" y="438806"/>
                  </a:lnTo>
                  <a:lnTo>
                    <a:pt x="14768" y="374422"/>
                  </a:lnTo>
                  <a:lnTo>
                    <a:pt x="22248" y="312001"/>
                  </a:lnTo>
                  <a:lnTo>
                    <a:pt x="29838" y="252521"/>
                  </a:lnTo>
                  <a:lnTo>
                    <a:pt x="37574" y="196960"/>
                  </a:lnTo>
                  <a:lnTo>
                    <a:pt x="45492" y="146297"/>
                  </a:lnTo>
                  <a:lnTo>
                    <a:pt x="53626" y="101512"/>
                  </a:lnTo>
                  <a:lnTo>
                    <a:pt x="62012" y="63583"/>
                  </a:lnTo>
                  <a:lnTo>
                    <a:pt x="79683" y="12207"/>
                  </a:lnTo>
                  <a:lnTo>
                    <a:pt x="98788" y="0"/>
                  </a:lnTo>
                  <a:lnTo>
                    <a:pt x="108966" y="11031"/>
                  </a:lnTo>
                  <a:lnTo>
                    <a:pt x="123910" y="56383"/>
                  </a:lnTo>
                  <a:lnTo>
                    <a:pt x="140071" y="138771"/>
                  </a:lnTo>
                  <a:lnTo>
                    <a:pt x="148516" y="190804"/>
                  </a:lnTo>
                  <a:lnTo>
                    <a:pt x="157155" y="248437"/>
                  </a:lnTo>
                  <a:lnTo>
                    <a:pt x="165951" y="310450"/>
                  </a:lnTo>
                  <a:lnTo>
                    <a:pt x="174868" y="375625"/>
                  </a:lnTo>
                  <a:lnTo>
                    <a:pt x="183868" y="442740"/>
                  </a:lnTo>
                  <a:lnTo>
                    <a:pt x="192915" y="510578"/>
                  </a:lnTo>
                  <a:lnTo>
                    <a:pt x="201973" y="577917"/>
                  </a:lnTo>
                  <a:lnTo>
                    <a:pt x="211003" y="643539"/>
                  </a:lnTo>
                  <a:lnTo>
                    <a:pt x="219971" y="706224"/>
                  </a:lnTo>
                  <a:lnTo>
                    <a:pt x="228838" y="764752"/>
                  </a:lnTo>
                  <a:lnTo>
                    <a:pt x="237568" y="817904"/>
                  </a:lnTo>
                  <a:lnTo>
                    <a:pt x="246124" y="864459"/>
                  </a:lnTo>
                  <a:lnTo>
                    <a:pt x="254470" y="903200"/>
                  </a:lnTo>
                  <a:lnTo>
                    <a:pt x="270383" y="952355"/>
                  </a:lnTo>
                  <a:lnTo>
                    <a:pt x="294010" y="969796"/>
                  </a:lnTo>
                  <a:lnTo>
                    <a:pt x="305393" y="960307"/>
                  </a:lnTo>
                  <a:lnTo>
                    <a:pt x="327437" y="910780"/>
                  </a:lnTo>
                  <a:lnTo>
                    <a:pt x="338153" y="873091"/>
                  </a:lnTo>
                  <a:lnTo>
                    <a:pt x="348702" y="828352"/>
                  </a:lnTo>
                  <a:lnTo>
                    <a:pt x="359113" y="777735"/>
                  </a:lnTo>
                  <a:lnTo>
                    <a:pt x="369413" y="722416"/>
                  </a:lnTo>
                  <a:lnTo>
                    <a:pt x="379629" y="663568"/>
                  </a:lnTo>
                  <a:lnTo>
                    <a:pt x="389790" y="602367"/>
                  </a:lnTo>
                  <a:lnTo>
                    <a:pt x="399923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038854" y="2988327"/>
              <a:ext cx="400050" cy="970280"/>
            </a:xfrm>
            <a:custGeom>
              <a:avLst/>
              <a:gdLst/>
              <a:ahLst/>
              <a:cxnLst/>
              <a:rect l="l" t="t" r="r" b="b"/>
              <a:pathLst>
                <a:path w="400050" h="970279">
                  <a:moveTo>
                    <a:pt x="0" y="504172"/>
                  </a:moveTo>
                  <a:lnTo>
                    <a:pt x="7364" y="438806"/>
                  </a:lnTo>
                  <a:lnTo>
                    <a:pt x="14768" y="374422"/>
                  </a:lnTo>
                  <a:lnTo>
                    <a:pt x="22248" y="312001"/>
                  </a:lnTo>
                  <a:lnTo>
                    <a:pt x="29838" y="252521"/>
                  </a:lnTo>
                  <a:lnTo>
                    <a:pt x="37574" y="196960"/>
                  </a:lnTo>
                  <a:lnTo>
                    <a:pt x="45492" y="146297"/>
                  </a:lnTo>
                  <a:lnTo>
                    <a:pt x="53626" y="101512"/>
                  </a:lnTo>
                  <a:lnTo>
                    <a:pt x="62012" y="63583"/>
                  </a:lnTo>
                  <a:lnTo>
                    <a:pt x="79683" y="12207"/>
                  </a:lnTo>
                  <a:lnTo>
                    <a:pt x="98788" y="0"/>
                  </a:lnTo>
                  <a:lnTo>
                    <a:pt x="108966" y="11031"/>
                  </a:lnTo>
                  <a:lnTo>
                    <a:pt x="123910" y="56383"/>
                  </a:lnTo>
                  <a:lnTo>
                    <a:pt x="140071" y="138771"/>
                  </a:lnTo>
                  <a:lnTo>
                    <a:pt x="148516" y="190804"/>
                  </a:lnTo>
                  <a:lnTo>
                    <a:pt x="157155" y="248437"/>
                  </a:lnTo>
                  <a:lnTo>
                    <a:pt x="165951" y="310450"/>
                  </a:lnTo>
                  <a:lnTo>
                    <a:pt x="174868" y="375625"/>
                  </a:lnTo>
                  <a:lnTo>
                    <a:pt x="183868" y="442740"/>
                  </a:lnTo>
                  <a:lnTo>
                    <a:pt x="192915" y="510578"/>
                  </a:lnTo>
                  <a:lnTo>
                    <a:pt x="201973" y="577917"/>
                  </a:lnTo>
                  <a:lnTo>
                    <a:pt x="211003" y="643539"/>
                  </a:lnTo>
                  <a:lnTo>
                    <a:pt x="219971" y="706224"/>
                  </a:lnTo>
                  <a:lnTo>
                    <a:pt x="228838" y="764752"/>
                  </a:lnTo>
                  <a:lnTo>
                    <a:pt x="237568" y="817904"/>
                  </a:lnTo>
                  <a:lnTo>
                    <a:pt x="246124" y="864459"/>
                  </a:lnTo>
                  <a:lnTo>
                    <a:pt x="254470" y="903200"/>
                  </a:lnTo>
                  <a:lnTo>
                    <a:pt x="270383" y="952355"/>
                  </a:lnTo>
                  <a:lnTo>
                    <a:pt x="294010" y="969796"/>
                  </a:lnTo>
                  <a:lnTo>
                    <a:pt x="305393" y="960307"/>
                  </a:lnTo>
                  <a:lnTo>
                    <a:pt x="327437" y="910780"/>
                  </a:lnTo>
                  <a:lnTo>
                    <a:pt x="338153" y="873091"/>
                  </a:lnTo>
                  <a:lnTo>
                    <a:pt x="348702" y="828352"/>
                  </a:lnTo>
                  <a:lnTo>
                    <a:pt x="359113" y="777735"/>
                  </a:lnTo>
                  <a:lnTo>
                    <a:pt x="369413" y="722416"/>
                  </a:lnTo>
                  <a:lnTo>
                    <a:pt x="379629" y="663568"/>
                  </a:lnTo>
                  <a:lnTo>
                    <a:pt x="389790" y="602367"/>
                  </a:lnTo>
                  <a:lnTo>
                    <a:pt x="399923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438776" y="2988327"/>
              <a:ext cx="400050" cy="970280"/>
            </a:xfrm>
            <a:custGeom>
              <a:avLst/>
              <a:gdLst/>
              <a:ahLst/>
              <a:cxnLst/>
              <a:rect l="l" t="t" r="r" b="b"/>
              <a:pathLst>
                <a:path w="400050" h="970279">
                  <a:moveTo>
                    <a:pt x="0" y="504172"/>
                  </a:moveTo>
                  <a:lnTo>
                    <a:pt x="7364" y="438806"/>
                  </a:lnTo>
                  <a:lnTo>
                    <a:pt x="14768" y="374422"/>
                  </a:lnTo>
                  <a:lnTo>
                    <a:pt x="22248" y="312001"/>
                  </a:lnTo>
                  <a:lnTo>
                    <a:pt x="29838" y="252521"/>
                  </a:lnTo>
                  <a:lnTo>
                    <a:pt x="37574" y="196960"/>
                  </a:lnTo>
                  <a:lnTo>
                    <a:pt x="45492" y="146297"/>
                  </a:lnTo>
                  <a:lnTo>
                    <a:pt x="53626" y="101512"/>
                  </a:lnTo>
                  <a:lnTo>
                    <a:pt x="62012" y="63583"/>
                  </a:lnTo>
                  <a:lnTo>
                    <a:pt x="79683" y="12207"/>
                  </a:lnTo>
                  <a:lnTo>
                    <a:pt x="98788" y="0"/>
                  </a:lnTo>
                  <a:lnTo>
                    <a:pt x="108966" y="11031"/>
                  </a:lnTo>
                  <a:lnTo>
                    <a:pt x="123910" y="56383"/>
                  </a:lnTo>
                  <a:lnTo>
                    <a:pt x="140071" y="138771"/>
                  </a:lnTo>
                  <a:lnTo>
                    <a:pt x="148516" y="190804"/>
                  </a:lnTo>
                  <a:lnTo>
                    <a:pt x="157155" y="248437"/>
                  </a:lnTo>
                  <a:lnTo>
                    <a:pt x="165951" y="310450"/>
                  </a:lnTo>
                  <a:lnTo>
                    <a:pt x="174868" y="375625"/>
                  </a:lnTo>
                  <a:lnTo>
                    <a:pt x="183868" y="442740"/>
                  </a:lnTo>
                  <a:lnTo>
                    <a:pt x="192915" y="510578"/>
                  </a:lnTo>
                  <a:lnTo>
                    <a:pt x="201973" y="577917"/>
                  </a:lnTo>
                  <a:lnTo>
                    <a:pt x="211003" y="643539"/>
                  </a:lnTo>
                  <a:lnTo>
                    <a:pt x="219971" y="706224"/>
                  </a:lnTo>
                  <a:lnTo>
                    <a:pt x="228838" y="764752"/>
                  </a:lnTo>
                  <a:lnTo>
                    <a:pt x="237568" y="817904"/>
                  </a:lnTo>
                  <a:lnTo>
                    <a:pt x="246124" y="864459"/>
                  </a:lnTo>
                  <a:lnTo>
                    <a:pt x="254470" y="903200"/>
                  </a:lnTo>
                  <a:lnTo>
                    <a:pt x="270383" y="952355"/>
                  </a:lnTo>
                  <a:lnTo>
                    <a:pt x="294010" y="969796"/>
                  </a:lnTo>
                  <a:lnTo>
                    <a:pt x="305393" y="960307"/>
                  </a:lnTo>
                  <a:lnTo>
                    <a:pt x="327437" y="910780"/>
                  </a:lnTo>
                  <a:lnTo>
                    <a:pt x="338153" y="873091"/>
                  </a:lnTo>
                  <a:lnTo>
                    <a:pt x="348702" y="828352"/>
                  </a:lnTo>
                  <a:lnTo>
                    <a:pt x="359113" y="777735"/>
                  </a:lnTo>
                  <a:lnTo>
                    <a:pt x="369413" y="722416"/>
                  </a:lnTo>
                  <a:lnTo>
                    <a:pt x="379629" y="663568"/>
                  </a:lnTo>
                  <a:lnTo>
                    <a:pt x="389790" y="602367"/>
                  </a:lnTo>
                  <a:lnTo>
                    <a:pt x="399923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845938" y="2988327"/>
              <a:ext cx="400050" cy="970280"/>
            </a:xfrm>
            <a:custGeom>
              <a:avLst/>
              <a:gdLst/>
              <a:ahLst/>
              <a:cxnLst/>
              <a:rect l="l" t="t" r="r" b="b"/>
              <a:pathLst>
                <a:path w="400050" h="970279">
                  <a:moveTo>
                    <a:pt x="0" y="504172"/>
                  </a:moveTo>
                  <a:lnTo>
                    <a:pt x="7364" y="438806"/>
                  </a:lnTo>
                  <a:lnTo>
                    <a:pt x="14768" y="374422"/>
                  </a:lnTo>
                  <a:lnTo>
                    <a:pt x="22248" y="312001"/>
                  </a:lnTo>
                  <a:lnTo>
                    <a:pt x="29838" y="252521"/>
                  </a:lnTo>
                  <a:lnTo>
                    <a:pt x="37574" y="196960"/>
                  </a:lnTo>
                  <a:lnTo>
                    <a:pt x="45492" y="146297"/>
                  </a:lnTo>
                  <a:lnTo>
                    <a:pt x="53626" y="101512"/>
                  </a:lnTo>
                  <a:lnTo>
                    <a:pt x="62012" y="63583"/>
                  </a:lnTo>
                  <a:lnTo>
                    <a:pt x="79683" y="12207"/>
                  </a:lnTo>
                  <a:lnTo>
                    <a:pt x="98788" y="0"/>
                  </a:lnTo>
                  <a:lnTo>
                    <a:pt x="108966" y="11031"/>
                  </a:lnTo>
                  <a:lnTo>
                    <a:pt x="123910" y="56383"/>
                  </a:lnTo>
                  <a:lnTo>
                    <a:pt x="140071" y="138771"/>
                  </a:lnTo>
                  <a:lnTo>
                    <a:pt x="148516" y="190804"/>
                  </a:lnTo>
                  <a:lnTo>
                    <a:pt x="157155" y="248437"/>
                  </a:lnTo>
                  <a:lnTo>
                    <a:pt x="165951" y="310450"/>
                  </a:lnTo>
                  <a:lnTo>
                    <a:pt x="174868" y="375625"/>
                  </a:lnTo>
                  <a:lnTo>
                    <a:pt x="183868" y="442740"/>
                  </a:lnTo>
                  <a:lnTo>
                    <a:pt x="192915" y="510578"/>
                  </a:lnTo>
                  <a:lnTo>
                    <a:pt x="201973" y="577917"/>
                  </a:lnTo>
                  <a:lnTo>
                    <a:pt x="211003" y="643539"/>
                  </a:lnTo>
                  <a:lnTo>
                    <a:pt x="219971" y="706224"/>
                  </a:lnTo>
                  <a:lnTo>
                    <a:pt x="228838" y="764752"/>
                  </a:lnTo>
                  <a:lnTo>
                    <a:pt x="237568" y="817904"/>
                  </a:lnTo>
                  <a:lnTo>
                    <a:pt x="246124" y="864459"/>
                  </a:lnTo>
                  <a:lnTo>
                    <a:pt x="254470" y="903200"/>
                  </a:lnTo>
                  <a:lnTo>
                    <a:pt x="270383" y="952355"/>
                  </a:lnTo>
                  <a:lnTo>
                    <a:pt x="294010" y="969796"/>
                  </a:lnTo>
                  <a:lnTo>
                    <a:pt x="305393" y="960307"/>
                  </a:lnTo>
                  <a:lnTo>
                    <a:pt x="327437" y="910780"/>
                  </a:lnTo>
                  <a:lnTo>
                    <a:pt x="338153" y="873091"/>
                  </a:lnTo>
                  <a:lnTo>
                    <a:pt x="348702" y="828352"/>
                  </a:lnTo>
                  <a:lnTo>
                    <a:pt x="359113" y="777735"/>
                  </a:lnTo>
                  <a:lnTo>
                    <a:pt x="369413" y="722416"/>
                  </a:lnTo>
                  <a:lnTo>
                    <a:pt x="379629" y="663568"/>
                  </a:lnTo>
                  <a:lnTo>
                    <a:pt x="389790" y="602367"/>
                  </a:lnTo>
                  <a:lnTo>
                    <a:pt x="399923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245862" y="2988327"/>
              <a:ext cx="400050" cy="970280"/>
            </a:xfrm>
            <a:custGeom>
              <a:avLst/>
              <a:gdLst/>
              <a:ahLst/>
              <a:cxnLst/>
              <a:rect l="l" t="t" r="r" b="b"/>
              <a:pathLst>
                <a:path w="400050" h="970279">
                  <a:moveTo>
                    <a:pt x="0" y="504172"/>
                  </a:moveTo>
                  <a:lnTo>
                    <a:pt x="7389" y="438806"/>
                  </a:lnTo>
                  <a:lnTo>
                    <a:pt x="14810" y="374422"/>
                  </a:lnTo>
                  <a:lnTo>
                    <a:pt x="22300" y="312001"/>
                  </a:lnTo>
                  <a:lnTo>
                    <a:pt x="29894" y="252521"/>
                  </a:lnTo>
                  <a:lnTo>
                    <a:pt x="37630" y="196960"/>
                  </a:lnTo>
                  <a:lnTo>
                    <a:pt x="45543" y="146297"/>
                  </a:lnTo>
                  <a:lnTo>
                    <a:pt x="53670" y="101512"/>
                  </a:lnTo>
                  <a:lnTo>
                    <a:pt x="62047" y="63583"/>
                  </a:lnTo>
                  <a:lnTo>
                    <a:pt x="79699" y="12207"/>
                  </a:lnTo>
                  <a:lnTo>
                    <a:pt x="98790" y="0"/>
                  </a:lnTo>
                  <a:lnTo>
                    <a:pt x="108966" y="11031"/>
                  </a:lnTo>
                  <a:lnTo>
                    <a:pt x="123910" y="56383"/>
                  </a:lnTo>
                  <a:lnTo>
                    <a:pt x="140071" y="138771"/>
                  </a:lnTo>
                  <a:lnTo>
                    <a:pt x="148516" y="190804"/>
                  </a:lnTo>
                  <a:lnTo>
                    <a:pt x="157155" y="248437"/>
                  </a:lnTo>
                  <a:lnTo>
                    <a:pt x="165951" y="310450"/>
                  </a:lnTo>
                  <a:lnTo>
                    <a:pt x="174868" y="375625"/>
                  </a:lnTo>
                  <a:lnTo>
                    <a:pt x="183868" y="442740"/>
                  </a:lnTo>
                  <a:lnTo>
                    <a:pt x="192915" y="510578"/>
                  </a:lnTo>
                  <a:lnTo>
                    <a:pt x="201973" y="577917"/>
                  </a:lnTo>
                  <a:lnTo>
                    <a:pt x="211003" y="643539"/>
                  </a:lnTo>
                  <a:lnTo>
                    <a:pt x="219971" y="706224"/>
                  </a:lnTo>
                  <a:lnTo>
                    <a:pt x="228838" y="764752"/>
                  </a:lnTo>
                  <a:lnTo>
                    <a:pt x="237568" y="817904"/>
                  </a:lnTo>
                  <a:lnTo>
                    <a:pt x="246124" y="864459"/>
                  </a:lnTo>
                  <a:lnTo>
                    <a:pt x="254470" y="903200"/>
                  </a:lnTo>
                  <a:lnTo>
                    <a:pt x="270383" y="952355"/>
                  </a:lnTo>
                  <a:lnTo>
                    <a:pt x="294010" y="969796"/>
                  </a:lnTo>
                  <a:lnTo>
                    <a:pt x="305393" y="960307"/>
                  </a:lnTo>
                  <a:lnTo>
                    <a:pt x="327437" y="910780"/>
                  </a:lnTo>
                  <a:lnTo>
                    <a:pt x="338153" y="873091"/>
                  </a:lnTo>
                  <a:lnTo>
                    <a:pt x="348702" y="828352"/>
                  </a:lnTo>
                  <a:lnTo>
                    <a:pt x="359113" y="777735"/>
                  </a:lnTo>
                  <a:lnTo>
                    <a:pt x="369413" y="722416"/>
                  </a:lnTo>
                  <a:lnTo>
                    <a:pt x="379629" y="663568"/>
                  </a:lnTo>
                  <a:lnTo>
                    <a:pt x="389790" y="602367"/>
                  </a:lnTo>
                  <a:lnTo>
                    <a:pt x="399923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80427" y="2987294"/>
              <a:ext cx="5647690" cy="0"/>
            </a:xfrm>
            <a:custGeom>
              <a:avLst/>
              <a:gdLst/>
              <a:ahLst/>
              <a:cxnLst/>
              <a:rect l="l" t="t" r="r" b="b"/>
              <a:pathLst>
                <a:path w="5647690">
                  <a:moveTo>
                    <a:pt x="0" y="0"/>
                  </a:moveTo>
                  <a:lnTo>
                    <a:pt x="5647296" y="0"/>
                  </a:lnTo>
                </a:path>
              </a:pathLst>
            </a:custGeom>
            <a:ln w="19050">
              <a:solidFill>
                <a:srgbClr val="4471C4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08901" y="3967734"/>
              <a:ext cx="5647690" cy="0"/>
            </a:xfrm>
            <a:custGeom>
              <a:avLst/>
              <a:gdLst/>
              <a:ahLst/>
              <a:cxnLst/>
              <a:rect l="l" t="t" r="r" b="b"/>
              <a:pathLst>
                <a:path w="5647690">
                  <a:moveTo>
                    <a:pt x="0" y="0"/>
                  </a:moveTo>
                  <a:lnTo>
                    <a:pt x="5647270" y="0"/>
                  </a:lnTo>
                </a:path>
              </a:pathLst>
            </a:custGeom>
            <a:ln w="19050">
              <a:solidFill>
                <a:srgbClr val="4471C4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444703" y="2815793"/>
            <a:ext cx="3035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𝐕</a:t>
            </a:r>
            <a:r>
              <a:rPr sz="1950" spc="-37" baseline="-14957" dirty="0">
                <a:latin typeface="Cambria Math"/>
                <a:cs typeface="Cambria Math"/>
              </a:rPr>
              <a:t>𝐂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80415" y="3794252"/>
            <a:ext cx="4756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−𝐕</a:t>
            </a:r>
            <a:r>
              <a:rPr sz="1950" spc="-37" baseline="-14957" dirty="0">
                <a:latin typeface="Cambria Math"/>
                <a:cs typeface="Cambria Math"/>
              </a:rPr>
              <a:t>𝐂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372567" y="4422647"/>
            <a:ext cx="6974840" cy="1718945"/>
          </a:xfrm>
          <a:custGeom>
            <a:avLst/>
            <a:gdLst/>
            <a:ahLst/>
            <a:cxnLst/>
            <a:rect l="l" t="t" r="r" b="b"/>
            <a:pathLst>
              <a:path w="6974840" h="1718945">
                <a:moveTo>
                  <a:pt x="6974510" y="963041"/>
                </a:moveTo>
                <a:lnTo>
                  <a:pt x="6936410" y="943991"/>
                </a:lnTo>
                <a:lnTo>
                  <a:pt x="6860210" y="905891"/>
                </a:lnTo>
                <a:lnTo>
                  <a:pt x="6860210" y="943991"/>
                </a:lnTo>
                <a:lnTo>
                  <a:pt x="421665" y="943991"/>
                </a:lnTo>
                <a:lnTo>
                  <a:pt x="420827" y="114427"/>
                </a:lnTo>
                <a:lnTo>
                  <a:pt x="458990" y="114427"/>
                </a:lnTo>
                <a:lnTo>
                  <a:pt x="449376" y="95250"/>
                </a:lnTo>
                <a:lnTo>
                  <a:pt x="401662" y="0"/>
                </a:lnTo>
                <a:lnTo>
                  <a:pt x="344627" y="114427"/>
                </a:lnTo>
                <a:lnTo>
                  <a:pt x="382727" y="114427"/>
                </a:lnTo>
                <a:lnTo>
                  <a:pt x="383565" y="943991"/>
                </a:lnTo>
                <a:lnTo>
                  <a:pt x="0" y="943991"/>
                </a:lnTo>
                <a:lnTo>
                  <a:pt x="0" y="982091"/>
                </a:lnTo>
                <a:lnTo>
                  <a:pt x="383603" y="982091"/>
                </a:lnTo>
                <a:lnTo>
                  <a:pt x="384352" y="1718437"/>
                </a:lnTo>
                <a:lnTo>
                  <a:pt x="422452" y="1718449"/>
                </a:lnTo>
                <a:lnTo>
                  <a:pt x="421703" y="982091"/>
                </a:lnTo>
                <a:lnTo>
                  <a:pt x="6860210" y="982091"/>
                </a:lnTo>
                <a:lnTo>
                  <a:pt x="6860210" y="1020191"/>
                </a:lnTo>
                <a:lnTo>
                  <a:pt x="6936410" y="982091"/>
                </a:lnTo>
                <a:lnTo>
                  <a:pt x="6974510" y="963041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6118352" y="5401767"/>
            <a:ext cx="11398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Time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(Sec)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919988" y="4400550"/>
            <a:ext cx="10261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Amplitude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704253" y="5316473"/>
            <a:ext cx="139966" cy="133222"/>
            <a:chOff x="704253" y="5316473"/>
            <a:chExt cx="139966" cy="133222"/>
          </a:xfrm>
        </p:grpSpPr>
        <p:pic>
          <p:nvPicPr>
            <p:cNvPr id="43" name="object 4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7428" y="5319648"/>
              <a:ext cx="133616" cy="126872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04253" y="5316473"/>
              <a:ext cx="139966" cy="133222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>
            <a:off x="5683893" y="4529145"/>
            <a:ext cx="186972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7E5F00"/>
                </a:solidFill>
                <a:latin typeface="Calibri"/>
                <a:cs typeface="Calibri"/>
              </a:rPr>
              <a:t>PM</a:t>
            </a:r>
            <a:r>
              <a:rPr sz="1800" b="1" spc="-30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7E5F00"/>
                </a:solidFill>
                <a:latin typeface="Calibri"/>
                <a:cs typeface="Calibri"/>
              </a:rPr>
              <a:t>Signal</a:t>
            </a:r>
            <a:r>
              <a:rPr sz="1800" b="1" spc="-55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5F00"/>
                </a:solidFill>
                <a:latin typeface="Cambria Math"/>
                <a:cs typeface="Cambria Math"/>
              </a:rPr>
              <a:t>𝐘</a:t>
            </a:r>
            <a:r>
              <a:rPr sz="1950" baseline="-14957" dirty="0">
                <a:solidFill>
                  <a:srgbClr val="7E5F00"/>
                </a:solidFill>
                <a:latin typeface="Cambria Math"/>
                <a:cs typeface="Cambria Math"/>
              </a:rPr>
              <a:t>𝐏𝐌</a:t>
            </a:r>
            <a:r>
              <a:rPr lang="en-US" sz="1800" b="1" spc="-50" dirty="0">
                <a:solidFill>
                  <a:srgbClr val="7E5F00"/>
                </a:solidFill>
                <a:latin typeface="Cambria Math"/>
                <a:cs typeface="Cambria Math"/>
              </a:rPr>
              <a:t>(t)</a:t>
            </a:r>
            <a:endParaRPr sz="1800" b="1" dirty="0">
              <a:latin typeface="Cambria Math"/>
              <a:cs typeface="Cambria Math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743305" y="4869307"/>
            <a:ext cx="5695315" cy="999490"/>
            <a:chOff x="743305" y="4869307"/>
            <a:chExt cx="5695315" cy="999490"/>
          </a:xfrm>
        </p:grpSpPr>
        <p:sp>
          <p:nvSpPr>
            <p:cNvPr id="48" name="object 48"/>
            <p:cNvSpPr/>
            <p:nvPr/>
          </p:nvSpPr>
          <p:spPr>
            <a:xfrm>
              <a:off x="752830" y="4878832"/>
              <a:ext cx="5647690" cy="0"/>
            </a:xfrm>
            <a:custGeom>
              <a:avLst/>
              <a:gdLst/>
              <a:ahLst/>
              <a:cxnLst/>
              <a:rect l="l" t="t" r="r" b="b"/>
              <a:pathLst>
                <a:path w="5647690">
                  <a:moveTo>
                    <a:pt x="0" y="0"/>
                  </a:moveTo>
                  <a:lnTo>
                    <a:pt x="5647207" y="0"/>
                  </a:lnTo>
                </a:path>
              </a:pathLst>
            </a:custGeom>
            <a:ln w="19050">
              <a:solidFill>
                <a:srgbClr val="4471C4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81303" y="5859246"/>
              <a:ext cx="5647690" cy="0"/>
            </a:xfrm>
            <a:custGeom>
              <a:avLst/>
              <a:gdLst/>
              <a:ahLst/>
              <a:cxnLst/>
              <a:rect l="l" t="t" r="r" b="b"/>
              <a:pathLst>
                <a:path w="5647690">
                  <a:moveTo>
                    <a:pt x="0" y="0"/>
                  </a:moveTo>
                  <a:lnTo>
                    <a:pt x="5647309" y="0"/>
                  </a:lnTo>
                </a:path>
              </a:pathLst>
            </a:custGeom>
            <a:ln w="19050">
              <a:solidFill>
                <a:srgbClr val="4471C4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420623" y="4705350"/>
            <a:ext cx="3028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𝐕</a:t>
            </a:r>
            <a:r>
              <a:rPr sz="1950" spc="-37" baseline="-14957" dirty="0">
                <a:latin typeface="Cambria Math"/>
                <a:cs typeface="Cambria Math"/>
              </a:rPr>
              <a:t>𝐂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65175" y="5682792"/>
            <a:ext cx="4756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−𝐕</a:t>
            </a:r>
            <a:r>
              <a:rPr sz="1950" spc="-37" baseline="-14957" dirty="0">
                <a:latin typeface="Cambria Math"/>
                <a:cs typeface="Cambria Math"/>
              </a:rPr>
              <a:t>𝐂</a:t>
            </a:r>
            <a:endParaRPr sz="1950" baseline="-14957">
              <a:latin typeface="Cambria Math"/>
              <a:cs typeface="Cambria Math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788669" y="914400"/>
            <a:ext cx="4857242" cy="5181600"/>
            <a:chOff x="788669" y="914400"/>
            <a:chExt cx="4857242" cy="5181600"/>
          </a:xfrm>
        </p:grpSpPr>
        <p:sp>
          <p:nvSpPr>
            <p:cNvPr id="59" name="object 59"/>
            <p:cNvSpPr/>
            <p:nvPr/>
          </p:nvSpPr>
          <p:spPr>
            <a:xfrm>
              <a:off x="2104897" y="928078"/>
              <a:ext cx="0" cy="5167922"/>
            </a:xfrm>
            <a:custGeom>
              <a:avLst/>
              <a:gdLst/>
              <a:ahLst/>
              <a:cxnLst/>
              <a:rect l="l" t="t" r="r" b="b"/>
              <a:pathLst>
                <a:path h="4271010">
                  <a:moveTo>
                    <a:pt x="0" y="0"/>
                  </a:moveTo>
                  <a:lnTo>
                    <a:pt x="0" y="4270527"/>
                  </a:lnTo>
                </a:path>
              </a:pathLst>
            </a:custGeom>
            <a:ln w="19050">
              <a:solidFill>
                <a:srgbClr val="4471C4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832478" y="914400"/>
              <a:ext cx="0" cy="5167922"/>
            </a:xfrm>
            <a:custGeom>
              <a:avLst/>
              <a:gdLst/>
              <a:ahLst/>
              <a:cxnLst/>
              <a:rect l="l" t="t" r="r" b="b"/>
              <a:pathLst>
                <a:path h="4271010">
                  <a:moveTo>
                    <a:pt x="0" y="0"/>
                  </a:moveTo>
                  <a:lnTo>
                    <a:pt x="0" y="4270489"/>
                  </a:lnTo>
                </a:path>
              </a:pathLst>
            </a:custGeom>
            <a:ln w="19050">
              <a:solidFill>
                <a:srgbClr val="4471C4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788669" y="4864600"/>
              <a:ext cx="400050" cy="970280"/>
            </a:xfrm>
            <a:custGeom>
              <a:avLst/>
              <a:gdLst/>
              <a:ahLst/>
              <a:cxnLst/>
              <a:rect l="l" t="t" r="r" b="b"/>
              <a:pathLst>
                <a:path w="400050" h="970279">
                  <a:moveTo>
                    <a:pt x="0" y="504070"/>
                  </a:moveTo>
                  <a:lnTo>
                    <a:pt x="7382" y="438729"/>
                  </a:lnTo>
                  <a:lnTo>
                    <a:pt x="14800" y="374363"/>
                  </a:lnTo>
                  <a:lnTo>
                    <a:pt x="22289" y="311953"/>
                  </a:lnTo>
                  <a:lnTo>
                    <a:pt x="29885" y="252479"/>
                  </a:lnTo>
                  <a:lnTo>
                    <a:pt x="37624" y="196920"/>
                  </a:lnTo>
                  <a:lnTo>
                    <a:pt x="45542" y="146259"/>
                  </a:lnTo>
                  <a:lnTo>
                    <a:pt x="53674" y="101473"/>
                  </a:lnTo>
                  <a:lnTo>
                    <a:pt x="62056" y="63545"/>
                  </a:lnTo>
                  <a:lnTo>
                    <a:pt x="79716" y="12178"/>
                  </a:lnTo>
                  <a:lnTo>
                    <a:pt x="98807" y="0"/>
                  </a:lnTo>
                  <a:lnTo>
                    <a:pt x="108978" y="11056"/>
                  </a:lnTo>
                  <a:lnTo>
                    <a:pt x="123920" y="56405"/>
                  </a:lnTo>
                  <a:lnTo>
                    <a:pt x="140081" y="138784"/>
                  </a:lnTo>
                  <a:lnTo>
                    <a:pt x="148527" y="190811"/>
                  </a:lnTo>
                  <a:lnTo>
                    <a:pt x="157167" y="248438"/>
                  </a:lnTo>
                  <a:lnTo>
                    <a:pt x="165965" y="310445"/>
                  </a:lnTo>
                  <a:lnTo>
                    <a:pt x="174883" y="375612"/>
                  </a:lnTo>
                  <a:lnTo>
                    <a:pt x="183885" y="442720"/>
                  </a:lnTo>
                  <a:lnTo>
                    <a:pt x="192933" y="510550"/>
                  </a:lnTo>
                  <a:lnTo>
                    <a:pt x="201992" y="577882"/>
                  </a:lnTo>
                  <a:lnTo>
                    <a:pt x="211024" y="643497"/>
                  </a:lnTo>
                  <a:lnTo>
                    <a:pt x="219992" y="706175"/>
                  </a:lnTo>
                  <a:lnTo>
                    <a:pt x="228859" y="764698"/>
                  </a:lnTo>
                  <a:lnTo>
                    <a:pt x="237589" y="817845"/>
                  </a:lnTo>
                  <a:lnTo>
                    <a:pt x="246144" y="864397"/>
                  </a:lnTo>
                  <a:lnTo>
                    <a:pt x="254488" y="903135"/>
                  </a:lnTo>
                  <a:lnTo>
                    <a:pt x="270395" y="952291"/>
                  </a:lnTo>
                  <a:lnTo>
                    <a:pt x="294013" y="969732"/>
                  </a:lnTo>
                  <a:lnTo>
                    <a:pt x="305393" y="960239"/>
                  </a:lnTo>
                  <a:lnTo>
                    <a:pt x="327435" y="910700"/>
                  </a:lnTo>
                  <a:lnTo>
                    <a:pt x="338151" y="873004"/>
                  </a:lnTo>
                  <a:lnTo>
                    <a:pt x="348702" y="828257"/>
                  </a:lnTo>
                  <a:lnTo>
                    <a:pt x="359115" y="777634"/>
                  </a:lnTo>
                  <a:lnTo>
                    <a:pt x="369417" y="722311"/>
                  </a:lnTo>
                  <a:lnTo>
                    <a:pt x="379635" y="663461"/>
                  </a:lnTo>
                  <a:lnTo>
                    <a:pt x="389799" y="602261"/>
                  </a:lnTo>
                  <a:lnTo>
                    <a:pt x="399935" y="539884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188605" y="4864600"/>
              <a:ext cx="400050" cy="970280"/>
            </a:xfrm>
            <a:custGeom>
              <a:avLst/>
              <a:gdLst/>
              <a:ahLst/>
              <a:cxnLst/>
              <a:rect l="l" t="t" r="r" b="b"/>
              <a:pathLst>
                <a:path w="400050" h="970279">
                  <a:moveTo>
                    <a:pt x="0" y="504070"/>
                  </a:moveTo>
                  <a:lnTo>
                    <a:pt x="7382" y="438729"/>
                  </a:lnTo>
                  <a:lnTo>
                    <a:pt x="14800" y="374363"/>
                  </a:lnTo>
                  <a:lnTo>
                    <a:pt x="22289" y="311953"/>
                  </a:lnTo>
                  <a:lnTo>
                    <a:pt x="29884" y="252479"/>
                  </a:lnTo>
                  <a:lnTo>
                    <a:pt x="37623" y="196920"/>
                  </a:lnTo>
                  <a:lnTo>
                    <a:pt x="45539" y="146259"/>
                  </a:lnTo>
                  <a:lnTo>
                    <a:pt x="53670" y="101473"/>
                  </a:lnTo>
                  <a:lnTo>
                    <a:pt x="62050" y="63545"/>
                  </a:lnTo>
                  <a:lnTo>
                    <a:pt x="79704" y="12178"/>
                  </a:lnTo>
                  <a:lnTo>
                    <a:pt x="98787" y="0"/>
                  </a:lnTo>
                  <a:lnTo>
                    <a:pt x="108953" y="11056"/>
                  </a:lnTo>
                  <a:lnTo>
                    <a:pt x="123897" y="56405"/>
                  </a:lnTo>
                  <a:lnTo>
                    <a:pt x="140058" y="138784"/>
                  </a:lnTo>
                  <a:lnTo>
                    <a:pt x="148503" y="190811"/>
                  </a:lnTo>
                  <a:lnTo>
                    <a:pt x="157142" y="248438"/>
                  </a:lnTo>
                  <a:lnTo>
                    <a:pt x="165938" y="310445"/>
                  </a:lnTo>
                  <a:lnTo>
                    <a:pt x="174855" y="375612"/>
                  </a:lnTo>
                  <a:lnTo>
                    <a:pt x="183855" y="442720"/>
                  </a:lnTo>
                  <a:lnTo>
                    <a:pt x="192903" y="510550"/>
                  </a:lnTo>
                  <a:lnTo>
                    <a:pt x="201960" y="577882"/>
                  </a:lnTo>
                  <a:lnTo>
                    <a:pt x="210991" y="643497"/>
                  </a:lnTo>
                  <a:lnTo>
                    <a:pt x="219958" y="706175"/>
                  </a:lnTo>
                  <a:lnTo>
                    <a:pt x="228825" y="764698"/>
                  </a:lnTo>
                  <a:lnTo>
                    <a:pt x="237555" y="817845"/>
                  </a:lnTo>
                  <a:lnTo>
                    <a:pt x="246111" y="864397"/>
                  </a:lnTo>
                  <a:lnTo>
                    <a:pt x="254457" y="903135"/>
                  </a:lnTo>
                  <a:lnTo>
                    <a:pt x="270370" y="952291"/>
                  </a:lnTo>
                  <a:lnTo>
                    <a:pt x="293997" y="969732"/>
                  </a:lnTo>
                  <a:lnTo>
                    <a:pt x="305380" y="960239"/>
                  </a:lnTo>
                  <a:lnTo>
                    <a:pt x="327424" y="910700"/>
                  </a:lnTo>
                  <a:lnTo>
                    <a:pt x="338140" y="873004"/>
                  </a:lnTo>
                  <a:lnTo>
                    <a:pt x="348690" y="828257"/>
                  </a:lnTo>
                  <a:lnTo>
                    <a:pt x="359100" y="777634"/>
                  </a:lnTo>
                  <a:lnTo>
                    <a:pt x="369400" y="722311"/>
                  </a:lnTo>
                  <a:lnTo>
                    <a:pt x="379616" y="663461"/>
                  </a:lnTo>
                  <a:lnTo>
                    <a:pt x="389777" y="602261"/>
                  </a:lnTo>
                  <a:lnTo>
                    <a:pt x="399910" y="539884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4" name="object 64"/>
            <p:cNvSpPr/>
            <p:nvPr/>
          </p:nvSpPr>
          <p:spPr>
            <a:xfrm>
              <a:off x="1595755" y="4864600"/>
              <a:ext cx="400050" cy="970280"/>
            </a:xfrm>
            <a:custGeom>
              <a:avLst/>
              <a:gdLst/>
              <a:ahLst/>
              <a:cxnLst/>
              <a:rect l="l" t="t" r="r" b="b"/>
              <a:pathLst>
                <a:path w="400050" h="970279">
                  <a:moveTo>
                    <a:pt x="0" y="504070"/>
                  </a:moveTo>
                  <a:lnTo>
                    <a:pt x="7389" y="438729"/>
                  </a:lnTo>
                  <a:lnTo>
                    <a:pt x="14810" y="374363"/>
                  </a:lnTo>
                  <a:lnTo>
                    <a:pt x="22300" y="311953"/>
                  </a:lnTo>
                  <a:lnTo>
                    <a:pt x="29894" y="252479"/>
                  </a:lnTo>
                  <a:lnTo>
                    <a:pt x="37630" y="196920"/>
                  </a:lnTo>
                  <a:lnTo>
                    <a:pt x="45543" y="146259"/>
                  </a:lnTo>
                  <a:lnTo>
                    <a:pt x="53670" y="101473"/>
                  </a:lnTo>
                  <a:lnTo>
                    <a:pt x="62047" y="63545"/>
                  </a:lnTo>
                  <a:lnTo>
                    <a:pt x="79699" y="12178"/>
                  </a:lnTo>
                  <a:lnTo>
                    <a:pt x="98790" y="0"/>
                  </a:lnTo>
                  <a:lnTo>
                    <a:pt x="108966" y="11056"/>
                  </a:lnTo>
                  <a:lnTo>
                    <a:pt x="123910" y="56405"/>
                  </a:lnTo>
                  <a:lnTo>
                    <a:pt x="140071" y="138784"/>
                  </a:lnTo>
                  <a:lnTo>
                    <a:pt x="148516" y="190811"/>
                  </a:lnTo>
                  <a:lnTo>
                    <a:pt x="157155" y="248438"/>
                  </a:lnTo>
                  <a:lnTo>
                    <a:pt x="165951" y="310445"/>
                  </a:lnTo>
                  <a:lnTo>
                    <a:pt x="174868" y="375612"/>
                  </a:lnTo>
                  <a:lnTo>
                    <a:pt x="183868" y="442720"/>
                  </a:lnTo>
                  <a:lnTo>
                    <a:pt x="192915" y="510550"/>
                  </a:lnTo>
                  <a:lnTo>
                    <a:pt x="201973" y="577882"/>
                  </a:lnTo>
                  <a:lnTo>
                    <a:pt x="211003" y="643497"/>
                  </a:lnTo>
                  <a:lnTo>
                    <a:pt x="219971" y="706175"/>
                  </a:lnTo>
                  <a:lnTo>
                    <a:pt x="228838" y="764698"/>
                  </a:lnTo>
                  <a:lnTo>
                    <a:pt x="237568" y="817845"/>
                  </a:lnTo>
                  <a:lnTo>
                    <a:pt x="246124" y="864397"/>
                  </a:lnTo>
                  <a:lnTo>
                    <a:pt x="254470" y="903135"/>
                  </a:lnTo>
                  <a:lnTo>
                    <a:pt x="270383" y="952291"/>
                  </a:lnTo>
                  <a:lnTo>
                    <a:pt x="294010" y="969732"/>
                  </a:lnTo>
                  <a:lnTo>
                    <a:pt x="305393" y="960239"/>
                  </a:lnTo>
                  <a:lnTo>
                    <a:pt x="327437" y="910700"/>
                  </a:lnTo>
                  <a:lnTo>
                    <a:pt x="338153" y="873004"/>
                  </a:lnTo>
                  <a:lnTo>
                    <a:pt x="348702" y="828257"/>
                  </a:lnTo>
                  <a:lnTo>
                    <a:pt x="359113" y="777634"/>
                  </a:lnTo>
                  <a:lnTo>
                    <a:pt x="369413" y="722311"/>
                  </a:lnTo>
                  <a:lnTo>
                    <a:pt x="379629" y="663461"/>
                  </a:lnTo>
                  <a:lnTo>
                    <a:pt x="389790" y="602261"/>
                  </a:lnTo>
                  <a:lnTo>
                    <a:pt x="399923" y="539884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2003426" y="4873007"/>
              <a:ext cx="230662" cy="970280"/>
            </a:xfrm>
            <a:custGeom>
              <a:avLst/>
              <a:gdLst/>
              <a:ahLst/>
              <a:cxnLst/>
              <a:rect l="l" t="t" r="r" b="b"/>
              <a:pathLst>
                <a:path w="594994" h="970279">
                  <a:moveTo>
                    <a:pt x="0" y="504045"/>
                  </a:moveTo>
                  <a:lnTo>
                    <a:pt x="10972" y="438706"/>
                  </a:lnTo>
                  <a:lnTo>
                    <a:pt x="22001" y="374345"/>
                  </a:lnTo>
                  <a:lnTo>
                    <a:pt x="33139" y="311943"/>
                  </a:lnTo>
                  <a:lnTo>
                    <a:pt x="44439" y="252479"/>
                  </a:lnTo>
                  <a:lnTo>
                    <a:pt x="55952" y="196930"/>
                  </a:lnTo>
                  <a:lnTo>
                    <a:pt x="67733" y="146277"/>
                  </a:lnTo>
                  <a:lnTo>
                    <a:pt x="79831" y="101499"/>
                  </a:lnTo>
                  <a:lnTo>
                    <a:pt x="92302" y="63575"/>
                  </a:lnTo>
                  <a:lnTo>
                    <a:pt x="118564" y="12205"/>
                  </a:lnTo>
                  <a:lnTo>
                    <a:pt x="146940" y="0"/>
                  </a:lnTo>
                  <a:lnTo>
                    <a:pt x="162052" y="11031"/>
                  </a:lnTo>
                  <a:lnTo>
                    <a:pt x="183123" y="53154"/>
                  </a:lnTo>
                  <a:lnTo>
                    <a:pt x="205852" y="129140"/>
                  </a:lnTo>
                  <a:lnTo>
                    <a:pt x="217721" y="177217"/>
                  </a:lnTo>
                  <a:lnTo>
                    <a:pt x="229863" y="230623"/>
                  </a:lnTo>
                  <a:lnTo>
                    <a:pt x="242232" y="288313"/>
                  </a:lnTo>
                  <a:lnTo>
                    <a:pt x="254780" y="349241"/>
                  </a:lnTo>
                  <a:lnTo>
                    <a:pt x="267460" y="412361"/>
                  </a:lnTo>
                  <a:lnTo>
                    <a:pt x="280225" y="476628"/>
                  </a:lnTo>
                  <a:lnTo>
                    <a:pt x="293028" y="540995"/>
                  </a:lnTo>
                  <a:lnTo>
                    <a:pt x="305823" y="604418"/>
                  </a:lnTo>
                  <a:lnTo>
                    <a:pt x="318561" y="665851"/>
                  </a:lnTo>
                  <a:lnTo>
                    <a:pt x="331196" y="724249"/>
                  </a:lnTo>
                  <a:lnTo>
                    <a:pt x="343681" y="778565"/>
                  </a:lnTo>
                  <a:lnTo>
                    <a:pt x="355969" y="827754"/>
                  </a:lnTo>
                  <a:lnTo>
                    <a:pt x="368013" y="870771"/>
                  </a:lnTo>
                  <a:lnTo>
                    <a:pt x="391180" y="934104"/>
                  </a:lnTo>
                  <a:lnTo>
                    <a:pt x="420003" y="967513"/>
                  </a:lnTo>
                  <a:lnTo>
                    <a:pt x="437347" y="969771"/>
                  </a:lnTo>
                  <a:lnTo>
                    <a:pt x="454280" y="960278"/>
                  </a:lnTo>
                  <a:lnTo>
                    <a:pt x="487081" y="910743"/>
                  </a:lnTo>
                  <a:lnTo>
                    <a:pt x="503031" y="873050"/>
                  </a:lnTo>
                  <a:lnTo>
                    <a:pt x="518734" y="828308"/>
                  </a:lnTo>
                  <a:lnTo>
                    <a:pt x="534232" y="777692"/>
                  </a:lnTo>
                  <a:lnTo>
                    <a:pt x="549566" y="722376"/>
                  </a:lnTo>
                  <a:lnTo>
                    <a:pt x="564777" y="663537"/>
                  </a:lnTo>
                  <a:lnTo>
                    <a:pt x="579906" y="602348"/>
                  </a:lnTo>
                  <a:lnTo>
                    <a:pt x="594995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2245771" y="4878413"/>
              <a:ext cx="174343" cy="970280"/>
            </a:xfrm>
            <a:custGeom>
              <a:avLst/>
              <a:gdLst/>
              <a:ahLst/>
              <a:cxnLst/>
              <a:rect l="l" t="t" r="r" b="b"/>
              <a:pathLst>
                <a:path w="506730" h="970279">
                  <a:moveTo>
                    <a:pt x="0" y="504070"/>
                  </a:moveTo>
                  <a:lnTo>
                    <a:pt x="9354" y="438729"/>
                  </a:lnTo>
                  <a:lnTo>
                    <a:pt x="18750" y="374363"/>
                  </a:lnTo>
                  <a:lnTo>
                    <a:pt x="28234" y="311953"/>
                  </a:lnTo>
                  <a:lnTo>
                    <a:pt x="37852" y="252479"/>
                  </a:lnTo>
                  <a:lnTo>
                    <a:pt x="47650" y="196920"/>
                  </a:lnTo>
                  <a:lnTo>
                    <a:pt x="57674" y="146259"/>
                  </a:lnTo>
                  <a:lnTo>
                    <a:pt x="67970" y="101473"/>
                  </a:lnTo>
                  <a:lnTo>
                    <a:pt x="78585" y="63545"/>
                  </a:lnTo>
                  <a:lnTo>
                    <a:pt x="100954" y="12178"/>
                  </a:lnTo>
                  <a:lnTo>
                    <a:pt x="125150" y="0"/>
                  </a:lnTo>
                  <a:lnTo>
                    <a:pt x="138049" y="11056"/>
                  </a:lnTo>
                  <a:lnTo>
                    <a:pt x="156956" y="56406"/>
                  </a:lnTo>
                  <a:lnTo>
                    <a:pt x="167015" y="93577"/>
                  </a:lnTo>
                  <a:lnTo>
                    <a:pt x="177414" y="138787"/>
                  </a:lnTo>
                  <a:lnTo>
                    <a:pt x="188108" y="190816"/>
                  </a:lnTo>
                  <a:lnTo>
                    <a:pt x="199049" y="248444"/>
                  </a:lnTo>
                  <a:lnTo>
                    <a:pt x="210191" y="310452"/>
                  </a:lnTo>
                  <a:lnTo>
                    <a:pt x="221487" y="375621"/>
                  </a:lnTo>
                  <a:lnTo>
                    <a:pt x="232890" y="442732"/>
                  </a:lnTo>
                  <a:lnTo>
                    <a:pt x="244353" y="510563"/>
                  </a:lnTo>
                  <a:lnTo>
                    <a:pt x="255830" y="577898"/>
                  </a:lnTo>
                  <a:lnTo>
                    <a:pt x="267273" y="643514"/>
                  </a:lnTo>
                  <a:lnTo>
                    <a:pt x="278636" y="706195"/>
                  </a:lnTo>
                  <a:lnTo>
                    <a:pt x="289873" y="764719"/>
                  </a:lnTo>
                  <a:lnTo>
                    <a:pt x="300936" y="817867"/>
                  </a:lnTo>
                  <a:lnTo>
                    <a:pt x="311779" y="864421"/>
                  </a:lnTo>
                  <a:lnTo>
                    <a:pt x="322355" y="903160"/>
                  </a:lnTo>
                  <a:lnTo>
                    <a:pt x="342519" y="952317"/>
                  </a:lnTo>
                  <a:lnTo>
                    <a:pt x="372399" y="969757"/>
                  </a:lnTo>
                  <a:lnTo>
                    <a:pt x="386800" y="960264"/>
                  </a:lnTo>
                  <a:lnTo>
                    <a:pt x="414695" y="910723"/>
                  </a:lnTo>
                  <a:lnTo>
                    <a:pt x="428259" y="873026"/>
                  </a:lnTo>
                  <a:lnTo>
                    <a:pt x="441615" y="828277"/>
                  </a:lnTo>
                  <a:lnTo>
                    <a:pt x="454796" y="777652"/>
                  </a:lnTo>
                  <a:lnTo>
                    <a:pt x="467838" y="722326"/>
                  </a:lnTo>
                  <a:lnTo>
                    <a:pt x="480775" y="663472"/>
                  </a:lnTo>
                  <a:lnTo>
                    <a:pt x="493643" y="602267"/>
                  </a:lnTo>
                  <a:lnTo>
                    <a:pt x="506476" y="539884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7" name="object 67"/>
            <p:cNvSpPr/>
            <p:nvPr/>
          </p:nvSpPr>
          <p:spPr>
            <a:xfrm>
              <a:off x="3129787" y="4870950"/>
              <a:ext cx="397510" cy="970280"/>
            </a:xfrm>
            <a:custGeom>
              <a:avLst/>
              <a:gdLst/>
              <a:ahLst/>
              <a:cxnLst/>
              <a:rect l="l" t="t" r="r" b="b"/>
              <a:pathLst>
                <a:path w="397510" h="970279">
                  <a:moveTo>
                    <a:pt x="0" y="504070"/>
                  </a:moveTo>
                  <a:lnTo>
                    <a:pt x="7359" y="438729"/>
                  </a:lnTo>
                  <a:lnTo>
                    <a:pt x="14751" y="374363"/>
                  </a:lnTo>
                  <a:lnTo>
                    <a:pt x="22209" y="311953"/>
                  </a:lnTo>
                  <a:lnTo>
                    <a:pt x="29769" y="252479"/>
                  </a:lnTo>
                  <a:lnTo>
                    <a:pt x="37469" y="196920"/>
                  </a:lnTo>
                  <a:lnTo>
                    <a:pt x="45342" y="146259"/>
                  </a:lnTo>
                  <a:lnTo>
                    <a:pt x="53425" y="101473"/>
                  </a:lnTo>
                  <a:lnTo>
                    <a:pt x="61754" y="63545"/>
                  </a:lnTo>
                  <a:lnTo>
                    <a:pt x="79290" y="12178"/>
                  </a:lnTo>
                  <a:lnTo>
                    <a:pt x="98238" y="0"/>
                  </a:lnTo>
                  <a:lnTo>
                    <a:pt x="108330" y="11056"/>
                  </a:lnTo>
                  <a:lnTo>
                    <a:pt x="123190" y="56405"/>
                  </a:lnTo>
                  <a:lnTo>
                    <a:pt x="139260" y="138786"/>
                  </a:lnTo>
                  <a:lnTo>
                    <a:pt x="147656" y="190814"/>
                  </a:lnTo>
                  <a:lnTo>
                    <a:pt x="156245" y="248441"/>
                  </a:lnTo>
                  <a:lnTo>
                    <a:pt x="164990" y="310449"/>
                  </a:lnTo>
                  <a:lnTo>
                    <a:pt x="173854" y="375617"/>
                  </a:lnTo>
                  <a:lnTo>
                    <a:pt x="182800" y="442726"/>
                  </a:lnTo>
                  <a:lnTo>
                    <a:pt x="191792" y="510557"/>
                  </a:lnTo>
                  <a:lnTo>
                    <a:pt x="200793" y="577890"/>
                  </a:lnTo>
                  <a:lnTo>
                    <a:pt x="209767" y="643506"/>
                  </a:lnTo>
                  <a:lnTo>
                    <a:pt x="218676" y="706185"/>
                  </a:lnTo>
                  <a:lnTo>
                    <a:pt x="227485" y="764708"/>
                  </a:lnTo>
                  <a:lnTo>
                    <a:pt x="236156" y="817856"/>
                  </a:lnTo>
                  <a:lnTo>
                    <a:pt x="244653" y="864409"/>
                  </a:lnTo>
                  <a:lnTo>
                    <a:pt x="252939" y="903148"/>
                  </a:lnTo>
                  <a:lnTo>
                    <a:pt x="268732" y="952304"/>
                  </a:lnTo>
                  <a:lnTo>
                    <a:pt x="292232" y="969745"/>
                  </a:lnTo>
                  <a:lnTo>
                    <a:pt x="303551" y="960251"/>
                  </a:lnTo>
                  <a:lnTo>
                    <a:pt x="325468" y="910711"/>
                  </a:lnTo>
                  <a:lnTo>
                    <a:pt x="336121" y="873015"/>
                  </a:lnTo>
                  <a:lnTo>
                    <a:pt x="346607" y="828267"/>
                  </a:lnTo>
                  <a:lnTo>
                    <a:pt x="356954" y="777643"/>
                  </a:lnTo>
                  <a:lnTo>
                    <a:pt x="367190" y="722318"/>
                  </a:lnTo>
                  <a:lnTo>
                    <a:pt x="377343" y="663467"/>
                  </a:lnTo>
                  <a:lnTo>
                    <a:pt x="387440" y="602264"/>
                  </a:lnTo>
                  <a:lnTo>
                    <a:pt x="397510" y="539884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8" name="object 68"/>
            <p:cNvSpPr/>
            <p:nvPr/>
          </p:nvSpPr>
          <p:spPr>
            <a:xfrm>
              <a:off x="3529965" y="4876182"/>
              <a:ext cx="587858" cy="970280"/>
            </a:xfrm>
            <a:custGeom>
              <a:avLst/>
              <a:gdLst/>
              <a:ahLst/>
              <a:cxnLst/>
              <a:rect l="l" t="t" r="r" b="b"/>
              <a:pathLst>
                <a:path w="302895" h="970279">
                  <a:moveTo>
                    <a:pt x="0" y="504172"/>
                  </a:moveTo>
                  <a:lnTo>
                    <a:pt x="5573" y="438806"/>
                  </a:lnTo>
                  <a:lnTo>
                    <a:pt x="11173" y="374422"/>
                  </a:lnTo>
                  <a:lnTo>
                    <a:pt x="16828" y="312001"/>
                  </a:lnTo>
                  <a:lnTo>
                    <a:pt x="22566" y="252521"/>
                  </a:lnTo>
                  <a:lnTo>
                    <a:pt x="28413" y="196960"/>
                  </a:lnTo>
                  <a:lnTo>
                    <a:pt x="34397" y="146297"/>
                  </a:lnTo>
                  <a:lnTo>
                    <a:pt x="40545" y="101512"/>
                  </a:lnTo>
                  <a:lnTo>
                    <a:pt x="46885" y="63583"/>
                  </a:lnTo>
                  <a:lnTo>
                    <a:pt x="60251" y="12207"/>
                  </a:lnTo>
                  <a:lnTo>
                    <a:pt x="74712" y="0"/>
                  </a:lnTo>
                  <a:lnTo>
                    <a:pt x="82423" y="11031"/>
                  </a:lnTo>
                  <a:lnTo>
                    <a:pt x="93711" y="56383"/>
                  </a:lnTo>
                  <a:lnTo>
                    <a:pt x="105931" y="138769"/>
                  </a:lnTo>
                  <a:lnTo>
                    <a:pt x="112320" y="190802"/>
                  </a:lnTo>
                  <a:lnTo>
                    <a:pt x="118857" y="248434"/>
                  </a:lnTo>
                  <a:lnTo>
                    <a:pt x="125513" y="310447"/>
                  </a:lnTo>
                  <a:lnTo>
                    <a:pt x="132261" y="375621"/>
                  </a:lnTo>
                  <a:lnTo>
                    <a:pt x="139073" y="442736"/>
                  </a:lnTo>
                  <a:lnTo>
                    <a:pt x="145920" y="510573"/>
                  </a:lnTo>
                  <a:lnTo>
                    <a:pt x="152773" y="577912"/>
                  </a:lnTo>
                  <a:lnTo>
                    <a:pt x="159606" y="643533"/>
                  </a:lnTo>
                  <a:lnTo>
                    <a:pt x="166389" y="706218"/>
                  </a:lnTo>
                  <a:lnTo>
                    <a:pt x="173095" y="764746"/>
                  </a:lnTo>
                  <a:lnTo>
                    <a:pt x="179694" y="817899"/>
                  </a:lnTo>
                  <a:lnTo>
                    <a:pt x="186160" y="864455"/>
                  </a:lnTo>
                  <a:lnTo>
                    <a:pt x="192463" y="903196"/>
                  </a:lnTo>
                  <a:lnTo>
                    <a:pt x="204470" y="952355"/>
                  </a:lnTo>
                  <a:lnTo>
                    <a:pt x="222351" y="969796"/>
                  </a:lnTo>
                  <a:lnTo>
                    <a:pt x="230969" y="960303"/>
                  </a:lnTo>
                  <a:lnTo>
                    <a:pt x="247662" y="910766"/>
                  </a:lnTo>
                  <a:lnTo>
                    <a:pt x="255778" y="873072"/>
                  </a:lnTo>
                  <a:lnTo>
                    <a:pt x="263766" y="828328"/>
                  </a:lnTo>
                  <a:lnTo>
                    <a:pt x="271648" y="777710"/>
                  </a:lnTo>
                  <a:lnTo>
                    <a:pt x="279443" y="722391"/>
                  </a:lnTo>
                  <a:lnTo>
                    <a:pt x="287172" y="663547"/>
                  </a:lnTo>
                  <a:lnTo>
                    <a:pt x="294856" y="602354"/>
                  </a:lnTo>
                  <a:lnTo>
                    <a:pt x="302514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543764" y="4877349"/>
              <a:ext cx="102147" cy="970280"/>
            </a:xfrm>
            <a:custGeom>
              <a:avLst/>
              <a:gdLst/>
              <a:ahLst/>
              <a:cxnLst/>
              <a:rect l="l" t="t" r="r" b="b"/>
              <a:pathLst>
                <a:path w="177800" h="970279">
                  <a:moveTo>
                    <a:pt x="0" y="504070"/>
                  </a:moveTo>
                  <a:lnTo>
                    <a:pt x="3258" y="438729"/>
                  </a:lnTo>
                  <a:lnTo>
                    <a:pt x="6536" y="374363"/>
                  </a:lnTo>
                  <a:lnTo>
                    <a:pt x="9849" y="311953"/>
                  </a:lnTo>
                  <a:lnTo>
                    <a:pt x="13215" y="252479"/>
                  </a:lnTo>
                  <a:lnTo>
                    <a:pt x="16647" y="196920"/>
                  </a:lnTo>
                  <a:lnTo>
                    <a:pt x="20161" y="146259"/>
                  </a:lnTo>
                  <a:lnTo>
                    <a:pt x="23774" y="101473"/>
                  </a:lnTo>
                  <a:lnTo>
                    <a:pt x="27501" y="63545"/>
                  </a:lnTo>
                  <a:lnTo>
                    <a:pt x="35358" y="12178"/>
                  </a:lnTo>
                  <a:lnTo>
                    <a:pt x="43857" y="0"/>
                  </a:lnTo>
                  <a:lnTo>
                    <a:pt x="48387" y="11056"/>
                  </a:lnTo>
                  <a:lnTo>
                    <a:pt x="54999" y="56405"/>
                  </a:lnTo>
                  <a:lnTo>
                    <a:pt x="62156" y="138786"/>
                  </a:lnTo>
                  <a:lnTo>
                    <a:pt x="65898" y="190814"/>
                  </a:lnTo>
                  <a:lnTo>
                    <a:pt x="69728" y="248441"/>
                  </a:lnTo>
                  <a:lnTo>
                    <a:pt x="73628" y="310449"/>
                  </a:lnTo>
                  <a:lnTo>
                    <a:pt x="77583" y="375617"/>
                  </a:lnTo>
                  <a:lnTo>
                    <a:pt x="81576" y="442726"/>
                  </a:lnTo>
                  <a:lnTo>
                    <a:pt x="85591" y="510557"/>
                  </a:lnTo>
                  <a:lnTo>
                    <a:pt x="89611" y="577890"/>
                  </a:lnTo>
                  <a:lnTo>
                    <a:pt x="93621" y="643506"/>
                  </a:lnTo>
                  <a:lnTo>
                    <a:pt x="97603" y="706185"/>
                  </a:lnTo>
                  <a:lnTo>
                    <a:pt x="101542" y="764708"/>
                  </a:lnTo>
                  <a:lnTo>
                    <a:pt x="105422" y="817856"/>
                  </a:lnTo>
                  <a:lnTo>
                    <a:pt x="109225" y="864409"/>
                  </a:lnTo>
                  <a:lnTo>
                    <a:pt x="112936" y="903148"/>
                  </a:lnTo>
                  <a:lnTo>
                    <a:pt x="120014" y="952304"/>
                  </a:lnTo>
                  <a:lnTo>
                    <a:pt x="130476" y="969750"/>
                  </a:lnTo>
                  <a:lnTo>
                    <a:pt x="135522" y="960258"/>
                  </a:lnTo>
                  <a:lnTo>
                    <a:pt x="145305" y="910721"/>
                  </a:lnTo>
                  <a:lnTo>
                    <a:pt x="154755" y="828276"/>
                  </a:lnTo>
                  <a:lnTo>
                    <a:pt x="159385" y="777652"/>
                  </a:lnTo>
                  <a:lnTo>
                    <a:pt x="163966" y="722325"/>
                  </a:lnTo>
                  <a:lnTo>
                    <a:pt x="168513" y="663472"/>
                  </a:lnTo>
                  <a:lnTo>
                    <a:pt x="173035" y="602267"/>
                  </a:lnTo>
                  <a:lnTo>
                    <a:pt x="177546" y="539884"/>
                  </a:lnTo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5399866" y="4870950"/>
              <a:ext cx="126464" cy="970280"/>
            </a:xfrm>
            <a:custGeom>
              <a:avLst/>
              <a:gdLst/>
              <a:ahLst/>
              <a:cxnLst/>
              <a:rect l="l" t="t" r="r" b="b"/>
              <a:pathLst>
                <a:path w="177800" h="970279">
                  <a:moveTo>
                    <a:pt x="0" y="504070"/>
                  </a:moveTo>
                  <a:lnTo>
                    <a:pt x="3285" y="438729"/>
                  </a:lnTo>
                  <a:lnTo>
                    <a:pt x="6585" y="374363"/>
                  </a:lnTo>
                  <a:lnTo>
                    <a:pt x="9917" y="311953"/>
                  </a:lnTo>
                  <a:lnTo>
                    <a:pt x="13296" y="252479"/>
                  </a:lnTo>
                  <a:lnTo>
                    <a:pt x="16737" y="196920"/>
                  </a:lnTo>
                  <a:lnTo>
                    <a:pt x="20256" y="146259"/>
                  </a:lnTo>
                  <a:lnTo>
                    <a:pt x="23869" y="101473"/>
                  </a:lnTo>
                  <a:lnTo>
                    <a:pt x="27591" y="63545"/>
                  </a:lnTo>
                  <a:lnTo>
                    <a:pt x="35425" y="12178"/>
                  </a:lnTo>
                  <a:lnTo>
                    <a:pt x="43884" y="0"/>
                  </a:lnTo>
                  <a:lnTo>
                    <a:pt x="48387" y="11056"/>
                  </a:lnTo>
                  <a:lnTo>
                    <a:pt x="55035" y="56405"/>
                  </a:lnTo>
                  <a:lnTo>
                    <a:pt x="62220" y="138786"/>
                  </a:lnTo>
                  <a:lnTo>
                    <a:pt x="65972" y="190814"/>
                  </a:lnTo>
                  <a:lnTo>
                    <a:pt x="69810" y="248441"/>
                  </a:lnTo>
                  <a:lnTo>
                    <a:pt x="73717" y="310449"/>
                  </a:lnTo>
                  <a:lnTo>
                    <a:pt x="77676" y="375617"/>
                  </a:lnTo>
                  <a:lnTo>
                    <a:pt x="81671" y="442726"/>
                  </a:lnTo>
                  <a:lnTo>
                    <a:pt x="85686" y="510557"/>
                  </a:lnTo>
                  <a:lnTo>
                    <a:pt x="89704" y="577890"/>
                  </a:lnTo>
                  <a:lnTo>
                    <a:pt x="93709" y="643506"/>
                  </a:lnTo>
                  <a:lnTo>
                    <a:pt x="97685" y="706185"/>
                  </a:lnTo>
                  <a:lnTo>
                    <a:pt x="101616" y="764708"/>
                  </a:lnTo>
                  <a:lnTo>
                    <a:pt x="105485" y="817856"/>
                  </a:lnTo>
                  <a:lnTo>
                    <a:pt x="109275" y="864409"/>
                  </a:lnTo>
                  <a:lnTo>
                    <a:pt x="112971" y="903148"/>
                  </a:lnTo>
                  <a:lnTo>
                    <a:pt x="120014" y="952304"/>
                  </a:lnTo>
                  <a:lnTo>
                    <a:pt x="130520" y="969750"/>
                  </a:lnTo>
                  <a:lnTo>
                    <a:pt x="135576" y="960258"/>
                  </a:lnTo>
                  <a:lnTo>
                    <a:pt x="145359" y="910721"/>
                  </a:lnTo>
                  <a:lnTo>
                    <a:pt x="154794" y="828276"/>
                  </a:lnTo>
                  <a:lnTo>
                    <a:pt x="159413" y="777652"/>
                  </a:lnTo>
                  <a:lnTo>
                    <a:pt x="163984" y="722325"/>
                  </a:lnTo>
                  <a:lnTo>
                    <a:pt x="168521" y="663472"/>
                  </a:lnTo>
                  <a:lnTo>
                    <a:pt x="173037" y="602267"/>
                  </a:lnTo>
                  <a:lnTo>
                    <a:pt x="177546" y="539884"/>
                  </a:lnTo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3" name="object 73"/>
            <p:cNvSpPr/>
            <p:nvPr/>
          </p:nvSpPr>
          <p:spPr>
            <a:xfrm>
              <a:off x="4546372" y="4882786"/>
              <a:ext cx="349223" cy="970280"/>
            </a:xfrm>
            <a:custGeom>
              <a:avLst/>
              <a:gdLst/>
              <a:ahLst/>
              <a:cxnLst/>
              <a:rect l="l" t="t" r="r" b="b"/>
              <a:pathLst>
                <a:path w="266064" h="970279">
                  <a:moveTo>
                    <a:pt x="0" y="504045"/>
                  </a:moveTo>
                  <a:lnTo>
                    <a:pt x="4898" y="438706"/>
                  </a:lnTo>
                  <a:lnTo>
                    <a:pt x="9821" y="374345"/>
                  </a:lnTo>
                  <a:lnTo>
                    <a:pt x="14792" y="311943"/>
                  </a:lnTo>
                  <a:lnTo>
                    <a:pt x="19836" y="252479"/>
                  </a:lnTo>
                  <a:lnTo>
                    <a:pt x="24977" y="196930"/>
                  </a:lnTo>
                  <a:lnTo>
                    <a:pt x="30240" y="146277"/>
                  </a:lnTo>
                  <a:lnTo>
                    <a:pt x="35648" y="101499"/>
                  </a:lnTo>
                  <a:lnTo>
                    <a:pt x="41226" y="63575"/>
                  </a:lnTo>
                  <a:lnTo>
                    <a:pt x="52990" y="12205"/>
                  </a:lnTo>
                  <a:lnTo>
                    <a:pt x="65724" y="0"/>
                  </a:lnTo>
                  <a:lnTo>
                    <a:pt x="72517" y="11031"/>
                  </a:lnTo>
                  <a:lnTo>
                    <a:pt x="82451" y="56382"/>
                  </a:lnTo>
                  <a:lnTo>
                    <a:pt x="93195" y="138765"/>
                  </a:lnTo>
                  <a:lnTo>
                    <a:pt x="98809" y="190795"/>
                  </a:lnTo>
                  <a:lnTo>
                    <a:pt x="104552" y="248426"/>
                  </a:lnTo>
                  <a:lnTo>
                    <a:pt x="110400" y="310436"/>
                  </a:lnTo>
                  <a:lnTo>
                    <a:pt x="116328" y="375607"/>
                  </a:lnTo>
                  <a:lnTo>
                    <a:pt x="122312" y="442720"/>
                  </a:lnTo>
                  <a:lnTo>
                    <a:pt x="128327" y="510554"/>
                  </a:lnTo>
                  <a:lnTo>
                    <a:pt x="134348" y="577891"/>
                  </a:lnTo>
                  <a:lnTo>
                    <a:pt x="140352" y="643510"/>
                  </a:lnTo>
                  <a:lnTo>
                    <a:pt x="146314" y="706193"/>
                  </a:lnTo>
                  <a:lnTo>
                    <a:pt x="152209" y="764720"/>
                  </a:lnTo>
                  <a:lnTo>
                    <a:pt x="158013" y="817871"/>
                  </a:lnTo>
                  <a:lnTo>
                    <a:pt x="163702" y="864427"/>
                  </a:lnTo>
                  <a:lnTo>
                    <a:pt x="169251" y="903169"/>
                  </a:lnTo>
                  <a:lnTo>
                    <a:pt x="179832" y="952330"/>
                  </a:lnTo>
                  <a:lnTo>
                    <a:pt x="195550" y="969771"/>
                  </a:lnTo>
                  <a:lnTo>
                    <a:pt x="203128" y="960278"/>
                  </a:lnTo>
                  <a:lnTo>
                    <a:pt x="217809" y="910743"/>
                  </a:lnTo>
                  <a:lnTo>
                    <a:pt x="224948" y="873050"/>
                  </a:lnTo>
                  <a:lnTo>
                    <a:pt x="231976" y="828308"/>
                  </a:lnTo>
                  <a:lnTo>
                    <a:pt x="238910" y="777692"/>
                  </a:lnTo>
                  <a:lnTo>
                    <a:pt x="245768" y="722376"/>
                  </a:lnTo>
                  <a:lnTo>
                    <a:pt x="252568" y="663537"/>
                  </a:lnTo>
                  <a:lnTo>
                    <a:pt x="259328" y="602348"/>
                  </a:lnTo>
                  <a:lnTo>
                    <a:pt x="266065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4" name="object 74"/>
            <p:cNvSpPr/>
            <p:nvPr/>
          </p:nvSpPr>
          <p:spPr>
            <a:xfrm>
              <a:off x="4906010" y="4882786"/>
              <a:ext cx="302895" cy="970280"/>
            </a:xfrm>
            <a:custGeom>
              <a:avLst/>
              <a:gdLst/>
              <a:ahLst/>
              <a:cxnLst/>
              <a:rect l="l" t="t" r="r" b="b"/>
              <a:pathLst>
                <a:path w="302895" h="970279">
                  <a:moveTo>
                    <a:pt x="0" y="504045"/>
                  </a:moveTo>
                  <a:lnTo>
                    <a:pt x="5575" y="438706"/>
                  </a:lnTo>
                  <a:lnTo>
                    <a:pt x="11181" y="374345"/>
                  </a:lnTo>
                  <a:lnTo>
                    <a:pt x="16844" y="311943"/>
                  </a:lnTo>
                  <a:lnTo>
                    <a:pt x="22591" y="252479"/>
                  </a:lnTo>
                  <a:lnTo>
                    <a:pt x="28447" y="196930"/>
                  </a:lnTo>
                  <a:lnTo>
                    <a:pt x="34440" y="146277"/>
                  </a:lnTo>
                  <a:lnTo>
                    <a:pt x="40596" y="101499"/>
                  </a:lnTo>
                  <a:lnTo>
                    <a:pt x="46941" y="63575"/>
                  </a:lnTo>
                  <a:lnTo>
                    <a:pt x="60303" y="12205"/>
                  </a:lnTo>
                  <a:lnTo>
                    <a:pt x="74737" y="0"/>
                  </a:lnTo>
                  <a:lnTo>
                    <a:pt x="82423" y="11031"/>
                  </a:lnTo>
                  <a:lnTo>
                    <a:pt x="93708" y="56382"/>
                  </a:lnTo>
                  <a:lnTo>
                    <a:pt x="105918" y="138765"/>
                  </a:lnTo>
                  <a:lnTo>
                    <a:pt x="112300" y="190795"/>
                  </a:lnTo>
                  <a:lnTo>
                    <a:pt x="118831" y="248426"/>
                  </a:lnTo>
                  <a:lnTo>
                    <a:pt x="125480" y="310436"/>
                  </a:lnTo>
                  <a:lnTo>
                    <a:pt x="132222" y="375607"/>
                  </a:lnTo>
                  <a:lnTo>
                    <a:pt x="139028" y="442720"/>
                  </a:lnTo>
                  <a:lnTo>
                    <a:pt x="145870" y="510554"/>
                  </a:lnTo>
                  <a:lnTo>
                    <a:pt x="152720" y="577891"/>
                  </a:lnTo>
                  <a:lnTo>
                    <a:pt x="159550" y="643510"/>
                  </a:lnTo>
                  <a:lnTo>
                    <a:pt x="166333" y="706193"/>
                  </a:lnTo>
                  <a:lnTo>
                    <a:pt x="173040" y="764720"/>
                  </a:lnTo>
                  <a:lnTo>
                    <a:pt x="179644" y="817871"/>
                  </a:lnTo>
                  <a:lnTo>
                    <a:pt x="186117" y="864427"/>
                  </a:lnTo>
                  <a:lnTo>
                    <a:pt x="192431" y="903169"/>
                  </a:lnTo>
                  <a:lnTo>
                    <a:pt x="204470" y="952330"/>
                  </a:lnTo>
                  <a:lnTo>
                    <a:pt x="222341" y="969771"/>
                  </a:lnTo>
                  <a:lnTo>
                    <a:pt x="230949" y="960278"/>
                  </a:lnTo>
                  <a:lnTo>
                    <a:pt x="247614" y="910743"/>
                  </a:lnTo>
                  <a:lnTo>
                    <a:pt x="255714" y="873050"/>
                  </a:lnTo>
                  <a:lnTo>
                    <a:pt x="263687" y="828308"/>
                  </a:lnTo>
                  <a:lnTo>
                    <a:pt x="271554" y="777692"/>
                  </a:lnTo>
                  <a:lnTo>
                    <a:pt x="279336" y="722376"/>
                  </a:lnTo>
                  <a:lnTo>
                    <a:pt x="287055" y="663537"/>
                  </a:lnTo>
                  <a:lnTo>
                    <a:pt x="294731" y="602348"/>
                  </a:lnTo>
                  <a:lnTo>
                    <a:pt x="302387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object 9">
            <a:extLst>
              <a:ext uri="{FF2B5EF4-FFF2-40B4-BE49-F238E27FC236}">
                <a16:creationId xmlns:a16="http://schemas.microsoft.com/office/drawing/2014/main" id="{61DB5E62-171D-46F9-A462-836BB447C21D}"/>
              </a:ext>
            </a:extLst>
          </p:cNvPr>
          <p:cNvSpPr/>
          <p:nvPr/>
        </p:nvSpPr>
        <p:spPr>
          <a:xfrm>
            <a:off x="1243330" y="1162050"/>
            <a:ext cx="3557270" cy="971550"/>
          </a:xfrm>
          <a:custGeom>
            <a:avLst/>
            <a:gdLst/>
            <a:ahLst/>
            <a:cxnLst/>
            <a:rect l="l" t="t" r="r" b="b"/>
            <a:pathLst>
              <a:path w="3557270" h="971550">
                <a:moveTo>
                  <a:pt x="0" y="504912"/>
                </a:moveTo>
                <a:lnTo>
                  <a:pt x="35536" y="469457"/>
                </a:lnTo>
                <a:lnTo>
                  <a:pt x="71123" y="434158"/>
                </a:lnTo>
                <a:lnTo>
                  <a:pt x="106812" y="399170"/>
                </a:lnTo>
                <a:lnTo>
                  <a:pt x="142652" y="364649"/>
                </a:lnTo>
                <a:lnTo>
                  <a:pt x="178695" y="330750"/>
                </a:lnTo>
                <a:lnTo>
                  <a:pt x="214991" y="297630"/>
                </a:lnTo>
                <a:lnTo>
                  <a:pt x="251590" y="265443"/>
                </a:lnTo>
                <a:lnTo>
                  <a:pt x="288544" y="234345"/>
                </a:lnTo>
                <a:lnTo>
                  <a:pt x="325902" y="204492"/>
                </a:lnTo>
                <a:lnTo>
                  <a:pt x="363716" y="176040"/>
                </a:lnTo>
                <a:lnTo>
                  <a:pt x="402035" y="149144"/>
                </a:lnTo>
                <a:lnTo>
                  <a:pt x="440912" y="123959"/>
                </a:lnTo>
                <a:lnTo>
                  <a:pt x="480395" y="100642"/>
                </a:lnTo>
                <a:lnTo>
                  <a:pt x="520537" y="79348"/>
                </a:lnTo>
                <a:lnTo>
                  <a:pt x="561387" y="60232"/>
                </a:lnTo>
                <a:lnTo>
                  <a:pt x="602995" y="43450"/>
                </a:lnTo>
                <a:lnTo>
                  <a:pt x="645414" y="29158"/>
                </a:lnTo>
                <a:lnTo>
                  <a:pt x="688693" y="17511"/>
                </a:lnTo>
                <a:lnTo>
                  <a:pt x="732882" y="8666"/>
                </a:lnTo>
                <a:lnTo>
                  <a:pt x="778033" y="2776"/>
                </a:lnTo>
                <a:lnTo>
                  <a:pt x="824196" y="0"/>
                </a:lnTo>
                <a:lnTo>
                  <a:pt x="871422" y="490"/>
                </a:lnTo>
                <a:lnTo>
                  <a:pt x="919761" y="4404"/>
                </a:lnTo>
                <a:lnTo>
                  <a:pt x="969263" y="11898"/>
                </a:lnTo>
                <a:lnTo>
                  <a:pt x="1037879" y="30621"/>
                </a:lnTo>
                <a:lnTo>
                  <a:pt x="1073475" y="44423"/>
                </a:lnTo>
                <a:lnTo>
                  <a:pt x="1109865" y="60945"/>
                </a:lnTo>
                <a:lnTo>
                  <a:pt x="1147001" y="80008"/>
                </a:lnTo>
                <a:lnTo>
                  <a:pt x="1184834" y="101434"/>
                </a:lnTo>
                <a:lnTo>
                  <a:pt x="1223317" y="125042"/>
                </a:lnTo>
                <a:lnTo>
                  <a:pt x="1262402" y="150653"/>
                </a:lnTo>
                <a:lnTo>
                  <a:pt x="1302039" y="178089"/>
                </a:lnTo>
                <a:lnTo>
                  <a:pt x="1342181" y="207169"/>
                </a:lnTo>
                <a:lnTo>
                  <a:pt x="1382780" y="237715"/>
                </a:lnTo>
                <a:lnTo>
                  <a:pt x="1423787" y="269548"/>
                </a:lnTo>
                <a:lnTo>
                  <a:pt x="1465154" y="302487"/>
                </a:lnTo>
                <a:lnTo>
                  <a:pt x="1506833" y="336354"/>
                </a:lnTo>
                <a:lnTo>
                  <a:pt x="1548775" y="370969"/>
                </a:lnTo>
                <a:lnTo>
                  <a:pt x="1590933" y="406153"/>
                </a:lnTo>
                <a:lnTo>
                  <a:pt x="1633258" y="441727"/>
                </a:lnTo>
                <a:lnTo>
                  <a:pt x="1675701" y="477511"/>
                </a:lnTo>
                <a:lnTo>
                  <a:pt x="1718215" y="513327"/>
                </a:lnTo>
                <a:lnTo>
                  <a:pt x="1760751" y="548994"/>
                </a:lnTo>
                <a:lnTo>
                  <a:pt x="1803262" y="584334"/>
                </a:lnTo>
                <a:lnTo>
                  <a:pt x="1845698" y="619168"/>
                </a:lnTo>
                <a:lnTo>
                  <a:pt x="1888012" y="653315"/>
                </a:lnTo>
                <a:lnTo>
                  <a:pt x="1930155" y="686597"/>
                </a:lnTo>
                <a:lnTo>
                  <a:pt x="1972079" y="718834"/>
                </a:lnTo>
                <a:lnTo>
                  <a:pt x="2013736" y="749848"/>
                </a:lnTo>
                <a:lnTo>
                  <a:pt x="2055078" y="779458"/>
                </a:lnTo>
                <a:lnTo>
                  <a:pt x="2096056" y="807485"/>
                </a:lnTo>
                <a:lnTo>
                  <a:pt x="2136622" y="833751"/>
                </a:lnTo>
                <a:lnTo>
                  <a:pt x="2176728" y="858076"/>
                </a:lnTo>
                <a:lnTo>
                  <a:pt x="2216325" y="880281"/>
                </a:lnTo>
                <a:lnTo>
                  <a:pt x="2255366" y="900185"/>
                </a:lnTo>
                <a:lnTo>
                  <a:pt x="2293802" y="917611"/>
                </a:lnTo>
                <a:lnTo>
                  <a:pt x="2331585" y="932379"/>
                </a:lnTo>
                <a:lnTo>
                  <a:pt x="2368667" y="944309"/>
                </a:lnTo>
                <a:lnTo>
                  <a:pt x="2454452" y="961909"/>
                </a:lnTo>
                <a:lnTo>
                  <a:pt x="2503302" y="967707"/>
                </a:lnTo>
                <a:lnTo>
                  <a:pt x="2551570" y="970733"/>
                </a:lnTo>
                <a:lnTo>
                  <a:pt x="2599282" y="971101"/>
                </a:lnTo>
                <a:lnTo>
                  <a:pt x="2646462" y="968928"/>
                </a:lnTo>
                <a:lnTo>
                  <a:pt x="2693134" y="964328"/>
                </a:lnTo>
                <a:lnTo>
                  <a:pt x="2739322" y="957419"/>
                </a:lnTo>
                <a:lnTo>
                  <a:pt x="2785051" y="948314"/>
                </a:lnTo>
                <a:lnTo>
                  <a:pt x="2830344" y="937129"/>
                </a:lnTo>
                <a:lnTo>
                  <a:pt x="2875226" y="923981"/>
                </a:lnTo>
                <a:lnTo>
                  <a:pt x="2919720" y="908985"/>
                </a:lnTo>
                <a:lnTo>
                  <a:pt x="2963852" y="892256"/>
                </a:lnTo>
                <a:lnTo>
                  <a:pt x="3007645" y="873910"/>
                </a:lnTo>
                <a:lnTo>
                  <a:pt x="3051124" y="854063"/>
                </a:lnTo>
                <a:lnTo>
                  <a:pt x="3094312" y="832829"/>
                </a:lnTo>
                <a:lnTo>
                  <a:pt x="3137234" y="810326"/>
                </a:lnTo>
                <a:lnTo>
                  <a:pt x="3179915" y="786668"/>
                </a:lnTo>
                <a:lnTo>
                  <a:pt x="3222377" y="761970"/>
                </a:lnTo>
                <a:lnTo>
                  <a:pt x="3264646" y="736349"/>
                </a:lnTo>
                <a:lnTo>
                  <a:pt x="3306746" y="709920"/>
                </a:lnTo>
                <a:lnTo>
                  <a:pt x="3348700" y="682799"/>
                </a:lnTo>
                <a:lnTo>
                  <a:pt x="3390534" y="655101"/>
                </a:lnTo>
                <a:lnTo>
                  <a:pt x="3432271" y="626942"/>
                </a:lnTo>
                <a:lnTo>
                  <a:pt x="3473935" y="598437"/>
                </a:lnTo>
                <a:lnTo>
                  <a:pt x="3515551" y="569702"/>
                </a:lnTo>
                <a:lnTo>
                  <a:pt x="3557142" y="540853"/>
                </a:lnTo>
              </a:path>
            </a:pathLst>
          </a:custGeom>
          <a:ln w="28575">
            <a:solidFill>
              <a:srgbClr val="00B05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847EBF5D-A35A-4E08-A7A7-D02A0DBE04AB}"/>
              </a:ext>
            </a:extLst>
          </p:cNvPr>
          <p:cNvSpPr/>
          <p:nvPr/>
        </p:nvSpPr>
        <p:spPr>
          <a:xfrm>
            <a:off x="1066800" y="1017270"/>
            <a:ext cx="1003452" cy="6115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bject 9">
            <a:extLst>
              <a:ext uri="{FF2B5EF4-FFF2-40B4-BE49-F238E27FC236}">
                <a16:creationId xmlns:a16="http://schemas.microsoft.com/office/drawing/2014/main" id="{905DA3EB-C77C-42AB-AB21-52031DECE44B}"/>
              </a:ext>
            </a:extLst>
          </p:cNvPr>
          <p:cNvSpPr/>
          <p:nvPr/>
        </p:nvSpPr>
        <p:spPr>
          <a:xfrm>
            <a:off x="4790375" y="1200526"/>
            <a:ext cx="3557270" cy="971550"/>
          </a:xfrm>
          <a:custGeom>
            <a:avLst/>
            <a:gdLst/>
            <a:ahLst/>
            <a:cxnLst/>
            <a:rect l="l" t="t" r="r" b="b"/>
            <a:pathLst>
              <a:path w="3557270" h="971550">
                <a:moveTo>
                  <a:pt x="0" y="504912"/>
                </a:moveTo>
                <a:lnTo>
                  <a:pt x="35536" y="469457"/>
                </a:lnTo>
                <a:lnTo>
                  <a:pt x="71123" y="434158"/>
                </a:lnTo>
                <a:lnTo>
                  <a:pt x="106812" y="399170"/>
                </a:lnTo>
                <a:lnTo>
                  <a:pt x="142652" y="364649"/>
                </a:lnTo>
                <a:lnTo>
                  <a:pt x="178695" y="330750"/>
                </a:lnTo>
                <a:lnTo>
                  <a:pt x="214991" y="297630"/>
                </a:lnTo>
                <a:lnTo>
                  <a:pt x="251590" y="265443"/>
                </a:lnTo>
                <a:lnTo>
                  <a:pt x="288544" y="234345"/>
                </a:lnTo>
                <a:lnTo>
                  <a:pt x="325902" y="204492"/>
                </a:lnTo>
                <a:lnTo>
                  <a:pt x="363716" y="176040"/>
                </a:lnTo>
                <a:lnTo>
                  <a:pt x="402035" y="149144"/>
                </a:lnTo>
                <a:lnTo>
                  <a:pt x="440912" y="123959"/>
                </a:lnTo>
                <a:lnTo>
                  <a:pt x="480395" y="100642"/>
                </a:lnTo>
                <a:lnTo>
                  <a:pt x="520537" y="79348"/>
                </a:lnTo>
                <a:lnTo>
                  <a:pt x="561387" y="60232"/>
                </a:lnTo>
                <a:lnTo>
                  <a:pt x="602995" y="43450"/>
                </a:lnTo>
                <a:lnTo>
                  <a:pt x="645414" y="29158"/>
                </a:lnTo>
                <a:lnTo>
                  <a:pt x="688693" y="17511"/>
                </a:lnTo>
                <a:lnTo>
                  <a:pt x="732882" y="8666"/>
                </a:lnTo>
                <a:lnTo>
                  <a:pt x="778033" y="2776"/>
                </a:lnTo>
                <a:lnTo>
                  <a:pt x="824196" y="0"/>
                </a:lnTo>
                <a:lnTo>
                  <a:pt x="871422" y="490"/>
                </a:lnTo>
                <a:lnTo>
                  <a:pt x="919761" y="4404"/>
                </a:lnTo>
                <a:lnTo>
                  <a:pt x="969263" y="11898"/>
                </a:lnTo>
                <a:lnTo>
                  <a:pt x="1037879" y="30621"/>
                </a:lnTo>
                <a:lnTo>
                  <a:pt x="1073475" y="44423"/>
                </a:lnTo>
                <a:lnTo>
                  <a:pt x="1109865" y="60945"/>
                </a:lnTo>
                <a:lnTo>
                  <a:pt x="1147001" y="80008"/>
                </a:lnTo>
                <a:lnTo>
                  <a:pt x="1184834" y="101434"/>
                </a:lnTo>
                <a:lnTo>
                  <a:pt x="1223317" y="125042"/>
                </a:lnTo>
                <a:lnTo>
                  <a:pt x="1262402" y="150653"/>
                </a:lnTo>
                <a:lnTo>
                  <a:pt x="1302039" y="178089"/>
                </a:lnTo>
                <a:lnTo>
                  <a:pt x="1342181" y="207169"/>
                </a:lnTo>
                <a:lnTo>
                  <a:pt x="1382780" y="237715"/>
                </a:lnTo>
                <a:lnTo>
                  <a:pt x="1423787" y="269548"/>
                </a:lnTo>
                <a:lnTo>
                  <a:pt x="1465154" y="302487"/>
                </a:lnTo>
                <a:lnTo>
                  <a:pt x="1506833" y="336354"/>
                </a:lnTo>
                <a:lnTo>
                  <a:pt x="1548775" y="370969"/>
                </a:lnTo>
                <a:lnTo>
                  <a:pt x="1590933" y="406153"/>
                </a:lnTo>
                <a:lnTo>
                  <a:pt x="1633258" y="441727"/>
                </a:lnTo>
                <a:lnTo>
                  <a:pt x="1675701" y="477511"/>
                </a:lnTo>
                <a:lnTo>
                  <a:pt x="1718215" y="513327"/>
                </a:lnTo>
                <a:lnTo>
                  <a:pt x="1760751" y="548994"/>
                </a:lnTo>
                <a:lnTo>
                  <a:pt x="1803262" y="584334"/>
                </a:lnTo>
                <a:lnTo>
                  <a:pt x="1845698" y="619168"/>
                </a:lnTo>
                <a:lnTo>
                  <a:pt x="1888012" y="653315"/>
                </a:lnTo>
                <a:lnTo>
                  <a:pt x="1930155" y="686597"/>
                </a:lnTo>
                <a:lnTo>
                  <a:pt x="1972079" y="718834"/>
                </a:lnTo>
                <a:lnTo>
                  <a:pt x="2013736" y="749848"/>
                </a:lnTo>
                <a:lnTo>
                  <a:pt x="2055078" y="779458"/>
                </a:lnTo>
                <a:lnTo>
                  <a:pt x="2096056" y="807485"/>
                </a:lnTo>
                <a:lnTo>
                  <a:pt x="2136622" y="833751"/>
                </a:lnTo>
                <a:lnTo>
                  <a:pt x="2176728" y="858076"/>
                </a:lnTo>
                <a:lnTo>
                  <a:pt x="2216325" y="880281"/>
                </a:lnTo>
                <a:lnTo>
                  <a:pt x="2255366" y="900185"/>
                </a:lnTo>
                <a:lnTo>
                  <a:pt x="2293802" y="917611"/>
                </a:lnTo>
                <a:lnTo>
                  <a:pt x="2331585" y="932379"/>
                </a:lnTo>
                <a:lnTo>
                  <a:pt x="2368667" y="944309"/>
                </a:lnTo>
                <a:lnTo>
                  <a:pt x="2454452" y="961909"/>
                </a:lnTo>
                <a:lnTo>
                  <a:pt x="2503302" y="967707"/>
                </a:lnTo>
                <a:lnTo>
                  <a:pt x="2551570" y="970733"/>
                </a:lnTo>
                <a:lnTo>
                  <a:pt x="2599282" y="971101"/>
                </a:lnTo>
                <a:lnTo>
                  <a:pt x="2646462" y="968928"/>
                </a:lnTo>
                <a:lnTo>
                  <a:pt x="2693134" y="964328"/>
                </a:lnTo>
                <a:lnTo>
                  <a:pt x="2739322" y="957419"/>
                </a:lnTo>
                <a:lnTo>
                  <a:pt x="2785051" y="948314"/>
                </a:lnTo>
                <a:lnTo>
                  <a:pt x="2830344" y="937129"/>
                </a:lnTo>
                <a:lnTo>
                  <a:pt x="2875226" y="923981"/>
                </a:lnTo>
                <a:lnTo>
                  <a:pt x="2919720" y="908985"/>
                </a:lnTo>
                <a:lnTo>
                  <a:pt x="2963852" y="892256"/>
                </a:lnTo>
                <a:lnTo>
                  <a:pt x="3007645" y="873910"/>
                </a:lnTo>
                <a:lnTo>
                  <a:pt x="3051124" y="854063"/>
                </a:lnTo>
                <a:lnTo>
                  <a:pt x="3094312" y="832829"/>
                </a:lnTo>
                <a:lnTo>
                  <a:pt x="3137234" y="810326"/>
                </a:lnTo>
                <a:lnTo>
                  <a:pt x="3179915" y="786668"/>
                </a:lnTo>
                <a:lnTo>
                  <a:pt x="3222377" y="761970"/>
                </a:lnTo>
                <a:lnTo>
                  <a:pt x="3264646" y="736349"/>
                </a:lnTo>
                <a:lnTo>
                  <a:pt x="3306746" y="709920"/>
                </a:lnTo>
                <a:lnTo>
                  <a:pt x="3348700" y="682799"/>
                </a:lnTo>
                <a:lnTo>
                  <a:pt x="3390534" y="655101"/>
                </a:lnTo>
                <a:lnTo>
                  <a:pt x="3432271" y="626942"/>
                </a:lnTo>
                <a:lnTo>
                  <a:pt x="3473935" y="598437"/>
                </a:lnTo>
                <a:lnTo>
                  <a:pt x="3515551" y="569702"/>
                </a:lnTo>
                <a:lnTo>
                  <a:pt x="3557142" y="540853"/>
                </a:lnTo>
              </a:path>
            </a:pathLst>
          </a:custGeom>
          <a:ln w="28575">
            <a:solidFill>
              <a:srgbClr val="00B05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67B8DB76-38D8-4E2F-A3BC-9487AF64C605}"/>
              </a:ext>
            </a:extLst>
          </p:cNvPr>
          <p:cNvSpPr/>
          <p:nvPr/>
        </p:nvSpPr>
        <p:spPr>
          <a:xfrm>
            <a:off x="5649009" y="1162344"/>
            <a:ext cx="2885391" cy="11239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bject 3">
            <a:extLst>
              <a:ext uri="{FF2B5EF4-FFF2-40B4-BE49-F238E27FC236}">
                <a16:creationId xmlns:a16="http://schemas.microsoft.com/office/drawing/2014/main" id="{4D58302F-08E4-4770-B84C-08D225C68EAD}"/>
              </a:ext>
            </a:extLst>
          </p:cNvPr>
          <p:cNvSpPr/>
          <p:nvPr/>
        </p:nvSpPr>
        <p:spPr>
          <a:xfrm>
            <a:off x="378764" y="740409"/>
            <a:ext cx="6974840" cy="1718945"/>
          </a:xfrm>
          <a:custGeom>
            <a:avLst/>
            <a:gdLst/>
            <a:ahLst/>
            <a:cxnLst/>
            <a:rect l="l" t="t" r="r" b="b"/>
            <a:pathLst>
              <a:path w="6974840" h="1718945">
                <a:moveTo>
                  <a:pt x="6974535" y="963041"/>
                </a:moveTo>
                <a:lnTo>
                  <a:pt x="6936435" y="943991"/>
                </a:lnTo>
                <a:lnTo>
                  <a:pt x="6860235" y="905891"/>
                </a:lnTo>
                <a:lnTo>
                  <a:pt x="6860235" y="943991"/>
                </a:lnTo>
                <a:lnTo>
                  <a:pt x="421665" y="943991"/>
                </a:lnTo>
                <a:lnTo>
                  <a:pt x="420827" y="114427"/>
                </a:lnTo>
                <a:lnTo>
                  <a:pt x="458990" y="114427"/>
                </a:lnTo>
                <a:lnTo>
                  <a:pt x="449440" y="95377"/>
                </a:lnTo>
                <a:lnTo>
                  <a:pt x="449376" y="95250"/>
                </a:lnTo>
                <a:lnTo>
                  <a:pt x="401662" y="0"/>
                </a:lnTo>
                <a:lnTo>
                  <a:pt x="344627" y="114427"/>
                </a:lnTo>
                <a:lnTo>
                  <a:pt x="382727" y="114427"/>
                </a:lnTo>
                <a:lnTo>
                  <a:pt x="383565" y="943991"/>
                </a:lnTo>
                <a:lnTo>
                  <a:pt x="0" y="943991"/>
                </a:lnTo>
                <a:lnTo>
                  <a:pt x="0" y="982091"/>
                </a:lnTo>
                <a:lnTo>
                  <a:pt x="383603" y="982091"/>
                </a:lnTo>
                <a:lnTo>
                  <a:pt x="384352" y="1718437"/>
                </a:lnTo>
                <a:lnTo>
                  <a:pt x="422452" y="1718437"/>
                </a:lnTo>
                <a:lnTo>
                  <a:pt x="421703" y="982091"/>
                </a:lnTo>
                <a:lnTo>
                  <a:pt x="6860235" y="982091"/>
                </a:lnTo>
                <a:lnTo>
                  <a:pt x="6860235" y="1020191"/>
                </a:lnTo>
                <a:lnTo>
                  <a:pt x="6936435" y="982091"/>
                </a:lnTo>
                <a:lnTo>
                  <a:pt x="6974535" y="963041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3" name="object 13">
            <a:extLst>
              <a:ext uri="{FF2B5EF4-FFF2-40B4-BE49-F238E27FC236}">
                <a16:creationId xmlns:a16="http://schemas.microsoft.com/office/drawing/2014/main" id="{A21DCE47-1411-403A-A059-ABCED75CFE50}"/>
              </a:ext>
            </a:extLst>
          </p:cNvPr>
          <p:cNvSpPr/>
          <p:nvPr/>
        </p:nvSpPr>
        <p:spPr>
          <a:xfrm>
            <a:off x="780427" y="1680972"/>
            <a:ext cx="1324610" cy="5715"/>
          </a:xfrm>
          <a:custGeom>
            <a:avLst/>
            <a:gdLst/>
            <a:ahLst/>
            <a:cxnLst/>
            <a:rect l="l" t="t" r="r" b="b"/>
            <a:pathLst>
              <a:path w="1324610" h="5714">
                <a:moveTo>
                  <a:pt x="0" y="0"/>
                </a:moveTo>
                <a:lnTo>
                  <a:pt x="1324470" y="5461"/>
                </a:lnTo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9">
            <a:extLst>
              <a:ext uri="{FF2B5EF4-FFF2-40B4-BE49-F238E27FC236}">
                <a16:creationId xmlns:a16="http://schemas.microsoft.com/office/drawing/2014/main" id="{9058087D-7DC5-441E-95E8-9FB71170E74D}"/>
              </a:ext>
            </a:extLst>
          </p:cNvPr>
          <p:cNvSpPr/>
          <p:nvPr/>
        </p:nvSpPr>
        <p:spPr>
          <a:xfrm>
            <a:off x="2104898" y="1181520"/>
            <a:ext cx="3557270" cy="971550"/>
          </a:xfrm>
          <a:custGeom>
            <a:avLst/>
            <a:gdLst/>
            <a:ahLst/>
            <a:cxnLst/>
            <a:rect l="l" t="t" r="r" b="b"/>
            <a:pathLst>
              <a:path w="3557270" h="971550">
                <a:moveTo>
                  <a:pt x="0" y="504912"/>
                </a:moveTo>
                <a:lnTo>
                  <a:pt x="35536" y="469457"/>
                </a:lnTo>
                <a:lnTo>
                  <a:pt x="71123" y="434158"/>
                </a:lnTo>
                <a:lnTo>
                  <a:pt x="106812" y="399170"/>
                </a:lnTo>
                <a:lnTo>
                  <a:pt x="142652" y="364649"/>
                </a:lnTo>
                <a:lnTo>
                  <a:pt x="178695" y="330750"/>
                </a:lnTo>
                <a:lnTo>
                  <a:pt x="214991" y="297630"/>
                </a:lnTo>
                <a:lnTo>
                  <a:pt x="251590" y="265443"/>
                </a:lnTo>
                <a:lnTo>
                  <a:pt x="288544" y="234345"/>
                </a:lnTo>
                <a:lnTo>
                  <a:pt x="325902" y="204492"/>
                </a:lnTo>
                <a:lnTo>
                  <a:pt x="363716" y="176040"/>
                </a:lnTo>
                <a:lnTo>
                  <a:pt x="402035" y="149144"/>
                </a:lnTo>
                <a:lnTo>
                  <a:pt x="440912" y="123959"/>
                </a:lnTo>
                <a:lnTo>
                  <a:pt x="480395" y="100642"/>
                </a:lnTo>
                <a:lnTo>
                  <a:pt x="520537" y="79348"/>
                </a:lnTo>
                <a:lnTo>
                  <a:pt x="561387" y="60232"/>
                </a:lnTo>
                <a:lnTo>
                  <a:pt x="602995" y="43450"/>
                </a:lnTo>
                <a:lnTo>
                  <a:pt x="645414" y="29158"/>
                </a:lnTo>
                <a:lnTo>
                  <a:pt x="688693" y="17511"/>
                </a:lnTo>
                <a:lnTo>
                  <a:pt x="732882" y="8666"/>
                </a:lnTo>
                <a:lnTo>
                  <a:pt x="778033" y="2776"/>
                </a:lnTo>
                <a:lnTo>
                  <a:pt x="824196" y="0"/>
                </a:lnTo>
                <a:lnTo>
                  <a:pt x="871422" y="490"/>
                </a:lnTo>
                <a:lnTo>
                  <a:pt x="919761" y="4404"/>
                </a:lnTo>
                <a:lnTo>
                  <a:pt x="969263" y="11898"/>
                </a:lnTo>
                <a:lnTo>
                  <a:pt x="1037879" y="30621"/>
                </a:lnTo>
                <a:lnTo>
                  <a:pt x="1073475" y="44423"/>
                </a:lnTo>
                <a:lnTo>
                  <a:pt x="1109865" y="60945"/>
                </a:lnTo>
                <a:lnTo>
                  <a:pt x="1147001" y="80008"/>
                </a:lnTo>
                <a:lnTo>
                  <a:pt x="1184834" y="101434"/>
                </a:lnTo>
                <a:lnTo>
                  <a:pt x="1223317" y="125042"/>
                </a:lnTo>
                <a:lnTo>
                  <a:pt x="1262402" y="150653"/>
                </a:lnTo>
                <a:lnTo>
                  <a:pt x="1302039" y="178089"/>
                </a:lnTo>
                <a:lnTo>
                  <a:pt x="1342181" y="207169"/>
                </a:lnTo>
                <a:lnTo>
                  <a:pt x="1382780" y="237715"/>
                </a:lnTo>
                <a:lnTo>
                  <a:pt x="1423787" y="269548"/>
                </a:lnTo>
                <a:lnTo>
                  <a:pt x="1465154" y="302487"/>
                </a:lnTo>
                <a:lnTo>
                  <a:pt x="1506833" y="336354"/>
                </a:lnTo>
                <a:lnTo>
                  <a:pt x="1548775" y="370969"/>
                </a:lnTo>
                <a:lnTo>
                  <a:pt x="1590933" y="406153"/>
                </a:lnTo>
                <a:lnTo>
                  <a:pt x="1633258" y="441727"/>
                </a:lnTo>
                <a:lnTo>
                  <a:pt x="1675701" y="477511"/>
                </a:lnTo>
                <a:lnTo>
                  <a:pt x="1718215" y="513327"/>
                </a:lnTo>
                <a:lnTo>
                  <a:pt x="1760751" y="548994"/>
                </a:lnTo>
                <a:lnTo>
                  <a:pt x="1803262" y="584334"/>
                </a:lnTo>
                <a:lnTo>
                  <a:pt x="1845698" y="619168"/>
                </a:lnTo>
                <a:lnTo>
                  <a:pt x="1888012" y="653315"/>
                </a:lnTo>
                <a:lnTo>
                  <a:pt x="1930155" y="686597"/>
                </a:lnTo>
                <a:lnTo>
                  <a:pt x="1972079" y="718834"/>
                </a:lnTo>
                <a:lnTo>
                  <a:pt x="2013736" y="749848"/>
                </a:lnTo>
                <a:lnTo>
                  <a:pt x="2055078" y="779458"/>
                </a:lnTo>
                <a:lnTo>
                  <a:pt x="2096056" y="807485"/>
                </a:lnTo>
                <a:lnTo>
                  <a:pt x="2136622" y="833751"/>
                </a:lnTo>
                <a:lnTo>
                  <a:pt x="2176728" y="858076"/>
                </a:lnTo>
                <a:lnTo>
                  <a:pt x="2216325" y="880281"/>
                </a:lnTo>
                <a:lnTo>
                  <a:pt x="2255366" y="900185"/>
                </a:lnTo>
                <a:lnTo>
                  <a:pt x="2293802" y="917611"/>
                </a:lnTo>
                <a:lnTo>
                  <a:pt x="2331585" y="932379"/>
                </a:lnTo>
                <a:lnTo>
                  <a:pt x="2368667" y="944309"/>
                </a:lnTo>
                <a:lnTo>
                  <a:pt x="2454452" y="961909"/>
                </a:lnTo>
                <a:lnTo>
                  <a:pt x="2503302" y="967707"/>
                </a:lnTo>
                <a:lnTo>
                  <a:pt x="2551570" y="970733"/>
                </a:lnTo>
                <a:lnTo>
                  <a:pt x="2599282" y="971101"/>
                </a:lnTo>
                <a:lnTo>
                  <a:pt x="2646462" y="968928"/>
                </a:lnTo>
                <a:lnTo>
                  <a:pt x="2693134" y="964328"/>
                </a:lnTo>
                <a:lnTo>
                  <a:pt x="2739322" y="957419"/>
                </a:lnTo>
                <a:lnTo>
                  <a:pt x="2785051" y="948314"/>
                </a:lnTo>
                <a:lnTo>
                  <a:pt x="2830344" y="937129"/>
                </a:lnTo>
                <a:lnTo>
                  <a:pt x="2875226" y="923981"/>
                </a:lnTo>
                <a:lnTo>
                  <a:pt x="2919720" y="908985"/>
                </a:lnTo>
                <a:lnTo>
                  <a:pt x="2963852" y="892256"/>
                </a:lnTo>
                <a:lnTo>
                  <a:pt x="3007645" y="873910"/>
                </a:lnTo>
                <a:lnTo>
                  <a:pt x="3051124" y="854063"/>
                </a:lnTo>
                <a:lnTo>
                  <a:pt x="3094312" y="832829"/>
                </a:lnTo>
                <a:lnTo>
                  <a:pt x="3137234" y="810326"/>
                </a:lnTo>
                <a:lnTo>
                  <a:pt x="3179915" y="786668"/>
                </a:lnTo>
                <a:lnTo>
                  <a:pt x="3222377" y="761970"/>
                </a:lnTo>
                <a:lnTo>
                  <a:pt x="3264646" y="736349"/>
                </a:lnTo>
                <a:lnTo>
                  <a:pt x="3306746" y="709920"/>
                </a:lnTo>
                <a:lnTo>
                  <a:pt x="3348700" y="682799"/>
                </a:lnTo>
                <a:lnTo>
                  <a:pt x="3390534" y="655101"/>
                </a:lnTo>
                <a:lnTo>
                  <a:pt x="3432271" y="626942"/>
                </a:lnTo>
                <a:lnTo>
                  <a:pt x="3473935" y="598437"/>
                </a:lnTo>
                <a:lnTo>
                  <a:pt x="3515551" y="569702"/>
                </a:lnTo>
                <a:lnTo>
                  <a:pt x="3557142" y="540853"/>
                </a:lnTo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6" name="object 61">
            <a:extLst>
              <a:ext uri="{FF2B5EF4-FFF2-40B4-BE49-F238E27FC236}">
                <a16:creationId xmlns:a16="http://schemas.microsoft.com/office/drawing/2014/main" id="{C56FAF11-E27A-4380-B2F2-E620FD609AD0}"/>
              </a:ext>
            </a:extLst>
          </p:cNvPr>
          <p:cNvSpPr/>
          <p:nvPr/>
        </p:nvSpPr>
        <p:spPr>
          <a:xfrm>
            <a:off x="5662041" y="928078"/>
            <a:ext cx="0" cy="5167922"/>
          </a:xfrm>
          <a:custGeom>
            <a:avLst/>
            <a:gdLst/>
            <a:ahLst/>
            <a:cxnLst/>
            <a:rect l="l" t="t" r="r" b="b"/>
            <a:pathLst>
              <a:path h="4271010">
                <a:moveTo>
                  <a:pt x="0" y="0"/>
                </a:moveTo>
                <a:lnTo>
                  <a:pt x="0" y="4270590"/>
                </a:lnTo>
              </a:path>
            </a:pathLst>
          </a:custGeom>
          <a:ln w="19050">
            <a:solidFill>
              <a:srgbClr val="4471C4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60">
            <a:extLst>
              <a:ext uri="{FF2B5EF4-FFF2-40B4-BE49-F238E27FC236}">
                <a16:creationId xmlns:a16="http://schemas.microsoft.com/office/drawing/2014/main" id="{871BDCEF-F089-451B-AE26-7D8058967A87}"/>
              </a:ext>
            </a:extLst>
          </p:cNvPr>
          <p:cNvSpPr/>
          <p:nvPr/>
        </p:nvSpPr>
        <p:spPr>
          <a:xfrm>
            <a:off x="3008376" y="914400"/>
            <a:ext cx="0" cy="5167922"/>
          </a:xfrm>
          <a:custGeom>
            <a:avLst/>
            <a:gdLst/>
            <a:ahLst/>
            <a:cxnLst/>
            <a:rect l="l" t="t" r="r" b="b"/>
            <a:pathLst>
              <a:path h="4271010">
                <a:moveTo>
                  <a:pt x="0" y="0"/>
                </a:moveTo>
                <a:lnTo>
                  <a:pt x="0" y="4270489"/>
                </a:lnTo>
              </a:path>
            </a:pathLst>
          </a:custGeom>
          <a:ln w="19050">
            <a:solidFill>
              <a:schemeClr val="accent3">
                <a:lumMod val="50000"/>
              </a:schemeClr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60">
            <a:extLst>
              <a:ext uri="{FF2B5EF4-FFF2-40B4-BE49-F238E27FC236}">
                <a16:creationId xmlns:a16="http://schemas.microsoft.com/office/drawing/2014/main" id="{B5A34A49-37E7-41FB-AA6B-91B1ACCB370C}"/>
              </a:ext>
            </a:extLst>
          </p:cNvPr>
          <p:cNvSpPr/>
          <p:nvPr/>
        </p:nvSpPr>
        <p:spPr>
          <a:xfrm>
            <a:off x="4800600" y="928078"/>
            <a:ext cx="0" cy="5167922"/>
          </a:xfrm>
          <a:custGeom>
            <a:avLst/>
            <a:gdLst/>
            <a:ahLst/>
            <a:cxnLst/>
            <a:rect l="l" t="t" r="r" b="b"/>
            <a:pathLst>
              <a:path h="4271010">
                <a:moveTo>
                  <a:pt x="0" y="0"/>
                </a:moveTo>
                <a:lnTo>
                  <a:pt x="0" y="4270489"/>
                </a:lnTo>
              </a:path>
            </a:pathLst>
          </a:custGeom>
          <a:ln w="19050">
            <a:solidFill>
              <a:schemeClr val="accent3">
                <a:lumMod val="50000"/>
              </a:schemeClr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11">
            <a:extLst>
              <a:ext uri="{FF2B5EF4-FFF2-40B4-BE49-F238E27FC236}">
                <a16:creationId xmlns:a16="http://schemas.microsoft.com/office/drawing/2014/main" id="{4583FCB8-2146-4824-8F93-13946A47D2B2}"/>
              </a:ext>
            </a:extLst>
          </p:cNvPr>
          <p:cNvSpPr txBox="1"/>
          <p:nvPr/>
        </p:nvSpPr>
        <p:spPr>
          <a:xfrm>
            <a:off x="5739588" y="791954"/>
            <a:ext cx="2566212" cy="5796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Message</a:t>
            </a:r>
            <a:r>
              <a:rPr sz="18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Signal</a:t>
            </a:r>
            <a:r>
              <a:rPr sz="18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800" b="1" spc="-25" dirty="0">
                <a:solidFill>
                  <a:srgbClr val="FF0000"/>
                </a:solidFill>
                <a:latin typeface="Calibri"/>
                <a:cs typeface="Calibri"/>
              </a:rPr>
              <a:t>m</a:t>
            </a:r>
            <a:r>
              <a:rPr lang="en-US" b="1" spc="330" dirty="0">
                <a:solidFill>
                  <a:srgbClr val="FF0000"/>
                </a:solidFill>
                <a:latin typeface="Cambria Math"/>
                <a:cs typeface="Calibri"/>
              </a:rPr>
              <a:t>(t)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b="1" dirty="0">
                <a:solidFill>
                  <a:srgbClr val="00B050"/>
                </a:solidFill>
                <a:latin typeface="Calibri"/>
                <a:cs typeface="Calibri"/>
              </a:rPr>
              <a:t>D</a:t>
            </a:r>
            <a:r>
              <a:rPr lang="en-US" sz="1800" b="1" dirty="0">
                <a:solidFill>
                  <a:srgbClr val="00B050"/>
                </a:solidFill>
                <a:latin typeface="Calibri"/>
                <a:cs typeface="Calibri"/>
              </a:rPr>
              <a:t>erivative m’(t)</a:t>
            </a:r>
            <a:endParaRPr sz="1800" dirty="0">
              <a:solidFill>
                <a:srgbClr val="00B050"/>
              </a:solidFill>
              <a:latin typeface="Cambria Math"/>
              <a:cs typeface="Cambria Math"/>
            </a:endParaRPr>
          </a:p>
        </p:txBody>
      </p:sp>
      <p:sp>
        <p:nvSpPr>
          <p:cNvPr id="93" name="object 66">
            <a:extLst>
              <a:ext uri="{FF2B5EF4-FFF2-40B4-BE49-F238E27FC236}">
                <a16:creationId xmlns:a16="http://schemas.microsoft.com/office/drawing/2014/main" id="{96E6D25E-1A4C-466C-821A-FA5A39E79942}"/>
              </a:ext>
            </a:extLst>
          </p:cNvPr>
          <p:cNvSpPr/>
          <p:nvPr/>
        </p:nvSpPr>
        <p:spPr>
          <a:xfrm>
            <a:off x="2428206" y="4885182"/>
            <a:ext cx="174343" cy="970280"/>
          </a:xfrm>
          <a:custGeom>
            <a:avLst/>
            <a:gdLst/>
            <a:ahLst/>
            <a:cxnLst/>
            <a:rect l="l" t="t" r="r" b="b"/>
            <a:pathLst>
              <a:path w="506730" h="970279">
                <a:moveTo>
                  <a:pt x="0" y="504070"/>
                </a:moveTo>
                <a:lnTo>
                  <a:pt x="9354" y="438729"/>
                </a:lnTo>
                <a:lnTo>
                  <a:pt x="18750" y="374363"/>
                </a:lnTo>
                <a:lnTo>
                  <a:pt x="28234" y="311953"/>
                </a:lnTo>
                <a:lnTo>
                  <a:pt x="37852" y="252479"/>
                </a:lnTo>
                <a:lnTo>
                  <a:pt x="47650" y="196920"/>
                </a:lnTo>
                <a:lnTo>
                  <a:pt x="57674" y="146259"/>
                </a:lnTo>
                <a:lnTo>
                  <a:pt x="67970" y="101473"/>
                </a:lnTo>
                <a:lnTo>
                  <a:pt x="78585" y="63545"/>
                </a:lnTo>
                <a:lnTo>
                  <a:pt x="100954" y="12178"/>
                </a:lnTo>
                <a:lnTo>
                  <a:pt x="125150" y="0"/>
                </a:lnTo>
                <a:lnTo>
                  <a:pt x="138049" y="11056"/>
                </a:lnTo>
                <a:lnTo>
                  <a:pt x="156956" y="56406"/>
                </a:lnTo>
                <a:lnTo>
                  <a:pt x="167015" y="93577"/>
                </a:lnTo>
                <a:lnTo>
                  <a:pt x="177414" y="138787"/>
                </a:lnTo>
                <a:lnTo>
                  <a:pt x="188108" y="190816"/>
                </a:lnTo>
                <a:lnTo>
                  <a:pt x="199049" y="248444"/>
                </a:lnTo>
                <a:lnTo>
                  <a:pt x="210191" y="310452"/>
                </a:lnTo>
                <a:lnTo>
                  <a:pt x="221487" y="375621"/>
                </a:lnTo>
                <a:lnTo>
                  <a:pt x="232890" y="442732"/>
                </a:lnTo>
                <a:lnTo>
                  <a:pt x="244353" y="510563"/>
                </a:lnTo>
                <a:lnTo>
                  <a:pt x="255830" y="577898"/>
                </a:lnTo>
                <a:lnTo>
                  <a:pt x="267273" y="643514"/>
                </a:lnTo>
                <a:lnTo>
                  <a:pt x="278636" y="706195"/>
                </a:lnTo>
                <a:lnTo>
                  <a:pt x="289873" y="764719"/>
                </a:lnTo>
                <a:lnTo>
                  <a:pt x="300936" y="817867"/>
                </a:lnTo>
                <a:lnTo>
                  <a:pt x="311779" y="864421"/>
                </a:lnTo>
                <a:lnTo>
                  <a:pt x="322355" y="903160"/>
                </a:lnTo>
                <a:lnTo>
                  <a:pt x="342519" y="952317"/>
                </a:lnTo>
                <a:lnTo>
                  <a:pt x="372399" y="969757"/>
                </a:lnTo>
                <a:lnTo>
                  <a:pt x="386800" y="960264"/>
                </a:lnTo>
                <a:lnTo>
                  <a:pt x="414695" y="910723"/>
                </a:lnTo>
                <a:lnTo>
                  <a:pt x="428259" y="873026"/>
                </a:lnTo>
                <a:lnTo>
                  <a:pt x="441615" y="828277"/>
                </a:lnTo>
                <a:lnTo>
                  <a:pt x="454796" y="777652"/>
                </a:lnTo>
                <a:lnTo>
                  <a:pt x="467838" y="722326"/>
                </a:lnTo>
                <a:lnTo>
                  <a:pt x="480775" y="663472"/>
                </a:lnTo>
                <a:lnTo>
                  <a:pt x="493643" y="602267"/>
                </a:lnTo>
                <a:lnTo>
                  <a:pt x="506476" y="539884"/>
                </a:lnTo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4" name="object 66">
            <a:extLst>
              <a:ext uri="{FF2B5EF4-FFF2-40B4-BE49-F238E27FC236}">
                <a16:creationId xmlns:a16="http://schemas.microsoft.com/office/drawing/2014/main" id="{940C4624-C84A-4B0B-99DB-39DC9015D1FC}"/>
              </a:ext>
            </a:extLst>
          </p:cNvPr>
          <p:cNvSpPr/>
          <p:nvPr/>
        </p:nvSpPr>
        <p:spPr>
          <a:xfrm>
            <a:off x="2605281" y="4876800"/>
            <a:ext cx="230886" cy="970280"/>
          </a:xfrm>
          <a:custGeom>
            <a:avLst/>
            <a:gdLst/>
            <a:ahLst/>
            <a:cxnLst/>
            <a:rect l="l" t="t" r="r" b="b"/>
            <a:pathLst>
              <a:path w="506730" h="970279">
                <a:moveTo>
                  <a:pt x="0" y="504070"/>
                </a:moveTo>
                <a:lnTo>
                  <a:pt x="9354" y="438729"/>
                </a:lnTo>
                <a:lnTo>
                  <a:pt x="18750" y="374363"/>
                </a:lnTo>
                <a:lnTo>
                  <a:pt x="28234" y="311953"/>
                </a:lnTo>
                <a:lnTo>
                  <a:pt x="37852" y="252479"/>
                </a:lnTo>
                <a:lnTo>
                  <a:pt x="47650" y="196920"/>
                </a:lnTo>
                <a:lnTo>
                  <a:pt x="57674" y="146259"/>
                </a:lnTo>
                <a:lnTo>
                  <a:pt x="67970" y="101473"/>
                </a:lnTo>
                <a:lnTo>
                  <a:pt x="78585" y="63545"/>
                </a:lnTo>
                <a:lnTo>
                  <a:pt x="100954" y="12178"/>
                </a:lnTo>
                <a:lnTo>
                  <a:pt x="125150" y="0"/>
                </a:lnTo>
                <a:lnTo>
                  <a:pt x="138049" y="11056"/>
                </a:lnTo>
                <a:lnTo>
                  <a:pt x="156956" y="56406"/>
                </a:lnTo>
                <a:lnTo>
                  <a:pt x="167015" y="93577"/>
                </a:lnTo>
                <a:lnTo>
                  <a:pt x="177414" y="138787"/>
                </a:lnTo>
                <a:lnTo>
                  <a:pt x="188108" y="190816"/>
                </a:lnTo>
                <a:lnTo>
                  <a:pt x="199049" y="248444"/>
                </a:lnTo>
                <a:lnTo>
                  <a:pt x="210191" y="310452"/>
                </a:lnTo>
                <a:lnTo>
                  <a:pt x="221487" y="375621"/>
                </a:lnTo>
                <a:lnTo>
                  <a:pt x="232890" y="442732"/>
                </a:lnTo>
                <a:lnTo>
                  <a:pt x="244353" y="510563"/>
                </a:lnTo>
                <a:lnTo>
                  <a:pt x="255830" y="577898"/>
                </a:lnTo>
                <a:lnTo>
                  <a:pt x="267273" y="643514"/>
                </a:lnTo>
                <a:lnTo>
                  <a:pt x="278636" y="706195"/>
                </a:lnTo>
                <a:lnTo>
                  <a:pt x="289873" y="764719"/>
                </a:lnTo>
                <a:lnTo>
                  <a:pt x="300936" y="817867"/>
                </a:lnTo>
                <a:lnTo>
                  <a:pt x="311779" y="864421"/>
                </a:lnTo>
                <a:lnTo>
                  <a:pt x="322355" y="903160"/>
                </a:lnTo>
                <a:lnTo>
                  <a:pt x="342519" y="952317"/>
                </a:lnTo>
                <a:lnTo>
                  <a:pt x="372399" y="969757"/>
                </a:lnTo>
                <a:lnTo>
                  <a:pt x="386800" y="960264"/>
                </a:lnTo>
                <a:lnTo>
                  <a:pt x="414695" y="910723"/>
                </a:lnTo>
                <a:lnTo>
                  <a:pt x="428259" y="873026"/>
                </a:lnTo>
                <a:lnTo>
                  <a:pt x="441615" y="828277"/>
                </a:lnTo>
                <a:lnTo>
                  <a:pt x="454796" y="777652"/>
                </a:lnTo>
                <a:lnTo>
                  <a:pt x="467838" y="722326"/>
                </a:lnTo>
                <a:lnTo>
                  <a:pt x="480775" y="663472"/>
                </a:lnTo>
                <a:lnTo>
                  <a:pt x="493643" y="602267"/>
                </a:lnTo>
                <a:lnTo>
                  <a:pt x="506476" y="539884"/>
                </a:lnTo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5" name="object 66">
            <a:extLst>
              <a:ext uri="{FF2B5EF4-FFF2-40B4-BE49-F238E27FC236}">
                <a16:creationId xmlns:a16="http://schemas.microsoft.com/office/drawing/2014/main" id="{604DE887-6E32-4463-A8B7-A764BC17EBB4}"/>
              </a:ext>
            </a:extLst>
          </p:cNvPr>
          <p:cNvSpPr/>
          <p:nvPr/>
        </p:nvSpPr>
        <p:spPr>
          <a:xfrm>
            <a:off x="2855280" y="4874070"/>
            <a:ext cx="270695" cy="970280"/>
          </a:xfrm>
          <a:custGeom>
            <a:avLst/>
            <a:gdLst/>
            <a:ahLst/>
            <a:cxnLst/>
            <a:rect l="l" t="t" r="r" b="b"/>
            <a:pathLst>
              <a:path w="506730" h="970279">
                <a:moveTo>
                  <a:pt x="0" y="504070"/>
                </a:moveTo>
                <a:lnTo>
                  <a:pt x="9354" y="438729"/>
                </a:lnTo>
                <a:lnTo>
                  <a:pt x="18750" y="374363"/>
                </a:lnTo>
                <a:lnTo>
                  <a:pt x="28234" y="311953"/>
                </a:lnTo>
                <a:lnTo>
                  <a:pt x="37852" y="252479"/>
                </a:lnTo>
                <a:lnTo>
                  <a:pt x="47650" y="196920"/>
                </a:lnTo>
                <a:lnTo>
                  <a:pt x="57674" y="146259"/>
                </a:lnTo>
                <a:lnTo>
                  <a:pt x="67970" y="101473"/>
                </a:lnTo>
                <a:lnTo>
                  <a:pt x="78585" y="63545"/>
                </a:lnTo>
                <a:lnTo>
                  <a:pt x="100954" y="12178"/>
                </a:lnTo>
                <a:lnTo>
                  <a:pt x="125150" y="0"/>
                </a:lnTo>
                <a:lnTo>
                  <a:pt x="138049" y="11056"/>
                </a:lnTo>
                <a:lnTo>
                  <a:pt x="156956" y="56406"/>
                </a:lnTo>
                <a:lnTo>
                  <a:pt x="167015" y="93577"/>
                </a:lnTo>
                <a:lnTo>
                  <a:pt x="177414" y="138787"/>
                </a:lnTo>
                <a:lnTo>
                  <a:pt x="188108" y="190816"/>
                </a:lnTo>
                <a:lnTo>
                  <a:pt x="199049" y="248444"/>
                </a:lnTo>
                <a:lnTo>
                  <a:pt x="210191" y="310452"/>
                </a:lnTo>
                <a:lnTo>
                  <a:pt x="221487" y="375621"/>
                </a:lnTo>
                <a:lnTo>
                  <a:pt x="232890" y="442732"/>
                </a:lnTo>
                <a:lnTo>
                  <a:pt x="244353" y="510563"/>
                </a:lnTo>
                <a:lnTo>
                  <a:pt x="255830" y="577898"/>
                </a:lnTo>
                <a:lnTo>
                  <a:pt x="267273" y="643514"/>
                </a:lnTo>
                <a:lnTo>
                  <a:pt x="278636" y="706195"/>
                </a:lnTo>
                <a:lnTo>
                  <a:pt x="289873" y="764719"/>
                </a:lnTo>
                <a:lnTo>
                  <a:pt x="300936" y="817867"/>
                </a:lnTo>
                <a:lnTo>
                  <a:pt x="311779" y="864421"/>
                </a:lnTo>
                <a:lnTo>
                  <a:pt x="322355" y="903160"/>
                </a:lnTo>
                <a:lnTo>
                  <a:pt x="342519" y="952317"/>
                </a:lnTo>
                <a:lnTo>
                  <a:pt x="372399" y="969757"/>
                </a:lnTo>
                <a:lnTo>
                  <a:pt x="386800" y="960264"/>
                </a:lnTo>
                <a:lnTo>
                  <a:pt x="414695" y="910723"/>
                </a:lnTo>
                <a:lnTo>
                  <a:pt x="428259" y="873026"/>
                </a:lnTo>
                <a:lnTo>
                  <a:pt x="441615" y="828277"/>
                </a:lnTo>
                <a:lnTo>
                  <a:pt x="454796" y="777652"/>
                </a:lnTo>
                <a:lnTo>
                  <a:pt x="467838" y="722326"/>
                </a:lnTo>
                <a:lnTo>
                  <a:pt x="480775" y="663472"/>
                </a:lnTo>
                <a:lnTo>
                  <a:pt x="493643" y="602267"/>
                </a:lnTo>
                <a:lnTo>
                  <a:pt x="506476" y="539884"/>
                </a:lnTo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6" name="object 67">
            <a:extLst>
              <a:ext uri="{FF2B5EF4-FFF2-40B4-BE49-F238E27FC236}">
                <a16:creationId xmlns:a16="http://schemas.microsoft.com/office/drawing/2014/main" id="{8CB0ADE6-333B-496E-8260-40902AD112BE}"/>
              </a:ext>
            </a:extLst>
          </p:cNvPr>
          <p:cNvSpPr/>
          <p:nvPr/>
        </p:nvSpPr>
        <p:spPr>
          <a:xfrm>
            <a:off x="4127729" y="4877918"/>
            <a:ext cx="402514" cy="970280"/>
          </a:xfrm>
          <a:custGeom>
            <a:avLst/>
            <a:gdLst/>
            <a:ahLst/>
            <a:cxnLst/>
            <a:rect l="l" t="t" r="r" b="b"/>
            <a:pathLst>
              <a:path w="397510" h="970279">
                <a:moveTo>
                  <a:pt x="0" y="504070"/>
                </a:moveTo>
                <a:lnTo>
                  <a:pt x="7359" y="438729"/>
                </a:lnTo>
                <a:lnTo>
                  <a:pt x="14751" y="374363"/>
                </a:lnTo>
                <a:lnTo>
                  <a:pt x="22209" y="311953"/>
                </a:lnTo>
                <a:lnTo>
                  <a:pt x="29769" y="252479"/>
                </a:lnTo>
                <a:lnTo>
                  <a:pt x="37469" y="196920"/>
                </a:lnTo>
                <a:lnTo>
                  <a:pt x="45342" y="146259"/>
                </a:lnTo>
                <a:lnTo>
                  <a:pt x="53425" y="101473"/>
                </a:lnTo>
                <a:lnTo>
                  <a:pt x="61754" y="63545"/>
                </a:lnTo>
                <a:lnTo>
                  <a:pt x="79290" y="12178"/>
                </a:lnTo>
                <a:lnTo>
                  <a:pt x="98238" y="0"/>
                </a:lnTo>
                <a:lnTo>
                  <a:pt x="108330" y="11056"/>
                </a:lnTo>
                <a:lnTo>
                  <a:pt x="123190" y="56405"/>
                </a:lnTo>
                <a:lnTo>
                  <a:pt x="139260" y="138786"/>
                </a:lnTo>
                <a:lnTo>
                  <a:pt x="147656" y="190814"/>
                </a:lnTo>
                <a:lnTo>
                  <a:pt x="156245" y="248441"/>
                </a:lnTo>
                <a:lnTo>
                  <a:pt x="164990" y="310449"/>
                </a:lnTo>
                <a:lnTo>
                  <a:pt x="173854" y="375617"/>
                </a:lnTo>
                <a:lnTo>
                  <a:pt x="182800" y="442726"/>
                </a:lnTo>
                <a:lnTo>
                  <a:pt x="191792" y="510557"/>
                </a:lnTo>
                <a:lnTo>
                  <a:pt x="200793" y="577890"/>
                </a:lnTo>
                <a:lnTo>
                  <a:pt x="209767" y="643506"/>
                </a:lnTo>
                <a:lnTo>
                  <a:pt x="218676" y="706185"/>
                </a:lnTo>
                <a:lnTo>
                  <a:pt x="227485" y="764708"/>
                </a:lnTo>
                <a:lnTo>
                  <a:pt x="236156" y="817856"/>
                </a:lnTo>
                <a:lnTo>
                  <a:pt x="244653" y="864409"/>
                </a:lnTo>
                <a:lnTo>
                  <a:pt x="252939" y="903148"/>
                </a:lnTo>
                <a:lnTo>
                  <a:pt x="268732" y="952304"/>
                </a:lnTo>
                <a:lnTo>
                  <a:pt x="292232" y="969745"/>
                </a:lnTo>
                <a:lnTo>
                  <a:pt x="303551" y="960251"/>
                </a:lnTo>
                <a:lnTo>
                  <a:pt x="325468" y="910711"/>
                </a:lnTo>
                <a:lnTo>
                  <a:pt x="336121" y="873015"/>
                </a:lnTo>
                <a:lnTo>
                  <a:pt x="346607" y="828267"/>
                </a:lnTo>
                <a:lnTo>
                  <a:pt x="356954" y="777643"/>
                </a:lnTo>
                <a:lnTo>
                  <a:pt x="367190" y="722318"/>
                </a:lnTo>
                <a:lnTo>
                  <a:pt x="377343" y="663467"/>
                </a:lnTo>
                <a:lnTo>
                  <a:pt x="387440" y="602264"/>
                </a:lnTo>
                <a:lnTo>
                  <a:pt x="397510" y="539884"/>
                </a:lnTo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66">
            <a:extLst>
              <a:ext uri="{FF2B5EF4-FFF2-40B4-BE49-F238E27FC236}">
                <a16:creationId xmlns:a16="http://schemas.microsoft.com/office/drawing/2014/main" id="{FE6432B3-B4DB-4804-B3C5-CB5A2F84AE05}"/>
              </a:ext>
            </a:extLst>
          </p:cNvPr>
          <p:cNvSpPr/>
          <p:nvPr/>
        </p:nvSpPr>
        <p:spPr>
          <a:xfrm>
            <a:off x="5213020" y="4870950"/>
            <a:ext cx="174343" cy="970280"/>
          </a:xfrm>
          <a:custGeom>
            <a:avLst/>
            <a:gdLst/>
            <a:ahLst/>
            <a:cxnLst/>
            <a:rect l="l" t="t" r="r" b="b"/>
            <a:pathLst>
              <a:path w="506730" h="970279">
                <a:moveTo>
                  <a:pt x="0" y="504070"/>
                </a:moveTo>
                <a:lnTo>
                  <a:pt x="9354" y="438729"/>
                </a:lnTo>
                <a:lnTo>
                  <a:pt x="18750" y="374363"/>
                </a:lnTo>
                <a:lnTo>
                  <a:pt x="28234" y="311953"/>
                </a:lnTo>
                <a:lnTo>
                  <a:pt x="37852" y="252479"/>
                </a:lnTo>
                <a:lnTo>
                  <a:pt x="47650" y="196920"/>
                </a:lnTo>
                <a:lnTo>
                  <a:pt x="57674" y="146259"/>
                </a:lnTo>
                <a:lnTo>
                  <a:pt x="67970" y="101473"/>
                </a:lnTo>
                <a:lnTo>
                  <a:pt x="78585" y="63545"/>
                </a:lnTo>
                <a:lnTo>
                  <a:pt x="100954" y="12178"/>
                </a:lnTo>
                <a:lnTo>
                  <a:pt x="125150" y="0"/>
                </a:lnTo>
                <a:lnTo>
                  <a:pt x="138049" y="11056"/>
                </a:lnTo>
                <a:lnTo>
                  <a:pt x="156956" y="56406"/>
                </a:lnTo>
                <a:lnTo>
                  <a:pt x="167015" y="93577"/>
                </a:lnTo>
                <a:lnTo>
                  <a:pt x="177414" y="138787"/>
                </a:lnTo>
                <a:lnTo>
                  <a:pt x="188108" y="190816"/>
                </a:lnTo>
                <a:lnTo>
                  <a:pt x="199049" y="248444"/>
                </a:lnTo>
                <a:lnTo>
                  <a:pt x="210191" y="310452"/>
                </a:lnTo>
                <a:lnTo>
                  <a:pt x="221487" y="375621"/>
                </a:lnTo>
                <a:lnTo>
                  <a:pt x="232890" y="442732"/>
                </a:lnTo>
                <a:lnTo>
                  <a:pt x="244353" y="510563"/>
                </a:lnTo>
                <a:lnTo>
                  <a:pt x="255830" y="577898"/>
                </a:lnTo>
                <a:lnTo>
                  <a:pt x="267273" y="643514"/>
                </a:lnTo>
                <a:lnTo>
                  <a:pt x="278636" y="706195"/>
                </a:lnTo>
                <a:lnTo>
                  <a:pt x="289873" y="764719"/>
                </a:lnTo>
                <a:lnTo>
                  <a:pt x="300936" y="817867"/>
                </a:lnTo>
                <a:lnTo>
                  <a:pt x="311779" y="864421"/>
                </a:lnTo>
                <a:lnTo>
                  <a:pt x="322355" y="903160"/>
                </a:lnTo>
                <a:lnTo>
                  <a:pt x="342519" y="952317"/>
                </a:lnTo>
                <a:lnTo>
                  <a:pt x="372399" y="969757"/>
                </a:lnTo>
                <a:lnTo>
                  <a:pt x="386800" y="960264"/>
                </a:lnTo>
                <a:lnTo>
                  <a:pt x="414695" y="910723"/>
                </a:lnTo>
                <a:lnTo>
                  <a:pt x="428259" y="873026"/>
                </a:lnTo>
                <a:lnTo>
                  <a:pt x="441615" y="828277"/>
                </a:lnTo>
                <a:lnTo>
                  <a:pt x="454796" y="777652"/>
                </a:lnTo>
                <a:lnTo>
                  <a:pt x="467838" y="722326"/>
                </a:lnTo>
                <a:lnTo>
                  <a:pt x="480775" y="663472"/>
                </a:lnTo>
                <a:lnTo>
                  <a:pt x="493643" y="602267"/>
                </a:lnTo>
                <a:lnTo>
                  <a:pt x="506476" y="539884"/>
                </a:lnTo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8" name="object 4">
            <a:extLst>
              <a:ext uri="{FF2B5EF4-FFF2-40B4-BE49-F238E27FC236}">
                <a16:creationId xmlns:a16="http://schemas.microsoft.com/office/drawing/2014/main" id="{C3676C90-91BF-4443-A100-93BA0596A30A}"/>
              </a:ext>
            </a:extLst>
          </p:cNvPr>
          <p:cNvSpPr txBox="1"/>
          <p:nvPr/>
        </p:nvSpPr>
        <p:spPr>
          <a:xfrm>
            <a:off x="6118352" y="1741990"/>
            <a:ext cx="1139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Time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</a:t>
            </a:r>
            <a:r>
              <a:rPr sz="1800" b="1" spc="-10" dirty="0">
                <a:latin typeface="Calibri"/>
                <a:cs typeface="Calibri"/>
              </a:rPr>
              <a:t> (Sec)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83023669-E497-46A2-9443-628DC3C1ED6F}"/>
              </a:ext>
            </a:extLst>
          </p:cNvPr>
          <p:cNvSpPr/>
          <p:nvPr/>
        </p:nvSpPr>
        <p:spPr>
          <a:xfrm>
            <a:off x="9144" y="4400550"/>
            <a:ext cx="11810289" cy="21812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1" name="Picture 100">
            <a:extLst>
              <a:ext uri="{FF2B5EF4-FFF2-40B4-BE49-F238E27FC236}">
                <a16:creationId xmlns:a16="http://schemas.microsoft.com/office/drawing/2014/main" id="{1B492471-6399-4BE4-82FF-4E94D9A148FF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660"/>
          <a:stretch/>
        </p:blipFill>
        <p:spPr>
          <a:xfrm>
            <a:off x="182880" y="4413003"/>
            <a:ext cx="7575082" cy="18210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94F96ACE-4586-431A-8435-DC53B7934D1C}"/>
                  </a:ext>
                </a:extLst>
              </p:cNvPr>
              <p:cNvSpPr txBox="1"/>
              <p:nvPr/>
            </p:nvSpPr>
            <p:spPr>
              <a:xfrm>
                <a:off x="8686800" y="1044360"/>
                <a:ext cx="2151486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94F96ACE-4586-431A-8435-DC53B7934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0" y="1044360"/>
                <a:ext cx="2151486" cy="298415"/>
              </a:xfrm>
              <a:prstGeom prst="rect">
                <a:avLst/>
              </a:prstGeom>
              <a:blipFill>
                <a:blip r:embed="rId10"/>
                <a:stretch>
                  <a:fillRect l="-1700" b="-20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A72E0D38-40F5-438A-AA44-CA7CD56C8A8E}"/>
                  </a:ext>
                </a:extLst>
              </p:cNvPr>
              <p:cNvSpPr txBox="1"/>
              <p:nvPr/>
            </p:nvSpPr>
            <p:spPr>
              <a:xfrm>
                <a:off x="8686800" y="1406652"/>
                <a:ext cx="3075714" cy="5275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A72E0D38-40F5-438A-AA44-CA7CD56C8A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0" y="1406652"/>
                <a:ext cx="3075714" cy="52758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" name="Rectangle 104">
            <a:extLst>
              <a:ext uri="{FF2B5EF4-FFF2-40B4-BE49-F238E27FC236}">
                <a16:creationId xmlns:a16="http://schemas.microsoft.com/office/drawing/2014/main" id="{789F2D07-5F6B-4870-96EA-6321149D5159}"/>
              </a:ext>
            </a:extLst>
          </p:cNvPr>
          <p:cNvSpPr/>
          <p:nvPr/>
        </p:nvSpPr>
        <p:spPr>
          <a:xfrm>
            <a:off x="8458200" y="791954"/>
            <a:ext cx="3355036" cy="13416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16" grpId="0"/>
      <p:bldP spid="21" grpId="0"/>
      <p:bldP spid="37" grpId="0"/>
      <p:bldP spid="38" grpId="0"/>
      <p:bldP spid="78" grpId="0" animBg="1"/>
      <p:bldP spid="80" grpId="0" animBg="1"/>
      <p:bldP spid="81" grpId="0" animBg="1"/>
      <p:bldP spid="8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Square</a:t>
            </a:r>
            <a:r>
              <a:rPr sz="3200" u="sng" spc="-12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spc="-1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Wave</a:t>
            </a:r>
            <a:r>
              <a:rPr sz="3200" u="sng" spc="-9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Phase</a:t>
            </a:r>
            <a:r>
              <a:rPr sz="3200" u="sng" spc="-10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spc="-1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Modulation</a:t>
            </a:r>
            <a:endParaRPr sz="3200" dirty="0"/>
          </a:p>
        </p:txBody>
      </p:sp>
      <p:sp>
        <p:nvSpPr>
          <p:cNvPr id="3" name="object 3"/>
          <p:cNvSpPr/>
          <p:nvPr/>
        </p:nvSpPr>
        <p:spPr>
          <a:xfrm>
            <a:off x="378764" y="740409"/>
            <a:ext cx="6974840" cy="1718945"/>
          </a:xfrm>
          <a:custGeom>
            <a:avLst/>
            <a:gdLst/>
            <a:ahLst/>
            <a:cxnLst/>
            <a:rect l="l" t="t" r="r" b="b"/>
            <a:pathLst>
              <a:path w="6974840" h="1718945">
                <a:moveTo>
                  <a:pt x="6974535" y="963041"/>
                </a:moveTo>
                <a:lnTo>
                  <a:pt x="6936435" y="943991"/>
                </a:lnTo>
                <a:lnTo>
                  <a:pt x="6860235" y="905891"/>
                </a:lnTo>
                <a:lnTo>
                  <a:pt x="6860235" y="943991"/>
                </a:lnTo>
                <a:lnTo>
                  <a:pt x="421665" y="943991"/>
                </a:lnTo>
                <a:lnTo>
                  <a:pt x="420827" y="114427"/>
                </a:lnTo>
                <a:lnTo>
                  <a:pt x="458990" y="114427"/>
                </a:lnTo>
                <a:lnTo>
                  <a:pt x="449440" y="95377"/>
                </a:lnTo>
                <a:lnTo>
                  <a:pt x="449376" y="95250"/>
                </a:lnTo>
                <a:lnTo>
                  <a:pt x="401662" y="0"/>
                </a:lnTo>
                <a:lnTo>
                  <a:pt x="344627" y="114427"/>
                </a:lnTo>
                <a:lnTo>
                  <a:pt x="382727" y="114427"/>
                </a:lnTo>
                <a:lnTo>
                  <a:pt x="383565" y="943991"/>
                </a:lnTo>
                <a:lnTo>
                  <a:pt x="0" y="943991"/>
                </a:lnTo>
                <a:lnTo>
                  <a:pt x="0" y="982091"/>
                </a:lnTo>
                <a:lnTo>
                  <a:pt x="383603" y="982091"/>
                </a:lnTo>
                <a:lnTo>
                  <a:pt x="384352" y="1718437"/>
                </a:lnTo>
                <a:lnTo>
                  <a:pt x="422452" y="1718437"/>
                </a:lnTo>
                <a:lnTo>
                  <a:pt x="421703" y="982091"/>
                </a:lnTo>
                <a:lnTo>
                  <a:pt x="6860235" y="982091"/>
                </a:lnTo>
                <a:lnTo>
                  <a:pt x="6860235" y="1020191"/>
                </a:lnTo>
                <a:lnTo>
                  <a:pt x="6936435" y="982091"/>
                </a:lnTo>
                <a:lnTo>
                  <a:pt x="6974535" y="963041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124447" y="1719198"/>
            <a:ext cx="1139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Time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</a:t>
            </a:r>
            <a:r>
              <a:rPr sz="1800" b="1" spc="-10" dirty="0">
                <a:latin typeface="Calibri"/>
                <a:cs typeface="Calibri"/>
              </a:rPr>
              <a:t> (Sec)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26083" y="717550"/>
            <a:ext cx="10261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Amplitude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10450" y="1634363"/>
            <a:ext cx="139966" cy="133096"/>
            <a:chOff x="710450" y="1634363"/>
            <a:chExt cx="139966" cy="133096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3625" y="1637538"/>
              <a:ext cx="133616" cy="12674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0450" y="1634363"/>
              <a:ext cx="139966" cy="133096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5706812" y="762000"/>
            <a:ext cx="215147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Message</a:t>
            </a:r>
            <a:r>
              <a:rPr sz="18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Signal</a:t>
            </a:r>
            <a:r>
              <a:rPr sz="18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800" b="1" spc="-25" dirty="0">
                <a:solidFill>
                  <a:srgbClr val="FF0000"/>
                </a:solidFill>
                <a:latin typeface="Calibri"/>
                <a:cs typeface="Calibri"/>
              </a:rPr>
              <a:t>m</a:t>
            </a:r>
            <a:r>
              <a:rPr lang="en-US" sz="1800" b="1" spc="330" dirty="0">
                <a:solidFill>
                  <a:srgbClr val="FF0000"/>
                </a:solidFill>
                <a:latin typeface="Cambria Math"/>
                <a:cs typeface="Cambria Math"/>
              </a:rPr>
              <a:t>(t)</a:t>
            </a:r>
            <a:endParaRPr sz="1800" b="1" dirty="0">
              <a:solidFill>
                <a:srgbClr val="FF0000"/>
              </a:solidFill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52830" y="1127505"/>
            <a:ext cx="1324610" cy="5715"/>
          </a:xfrm>
          <a:custGeom>
            <a:avLst/>
            <a:gdLst/>
            <a:ahLst/>
            <a:cxnLst/>
            <a:rect l="l" t="t" r="r" b="b"/>
            <a:pathLst>
              <a:path w="1324610" h="5715">
                <a:moveTo>
                  <a:pt x="0" y="0"/>
                </a:moveTo>
                <a:lnTo>
                  <a:pt x="1324381" y="5461"/>
                </a:lnTo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124447" y="3529965"/>
            <a:ext cx="1139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Time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</a:t>
            </a:r>
            <a:r>
              <a:rPr sz="1800" b="1" spc="-10" dirty="0">
                <a:latin typeface="Calibri"/>
                <a:cs typeface="Calibri"/>
              </a:rPr>
              <a:t> (Sec)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26083" y="2528442"/>
            <a:ext cx="10261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Amplitude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10450" y="3444620"/>
            <a:ext cx="139966" cy="133223"/>
            <a:chOff x="710450" y="3444620"/>
            <a:chExt cx="139966" cy="133223"/>
          </a:xfrm>
        </p:grpSpPr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3625" y="3447795"/>
              <a:ext cx="133616" cy="12687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0450" y="3444620"/>
              <a:ext cx="139966" cy="133223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702723" y="2982850"/>
            <a:ext cx="5753868" cy="984884"/>
            <a:chOff x="702723" y="2982850"/>
            <a:chExt cx="5753868" cy="984884"/>
          </a:xfrm>
        </p:grpSpPr>
        <p:sp>
          <p:nvSpPr>
            <p:cNvPr id="22" name="object 22"/>
            <p:cNvSpPr/>
            <p:nvPr/>
          </p:nvSpPr>
          <p:spPr>
            <a:xfrm>
              <a:off x="702723" y="2982850"/>
              <a:ext cx="324485" cy="970280"/>
            </a:xfrm>
            <a:custGeom>
              <a:avLst/>
              <a:gdLst/>
              <a:ahLst/>
              <a:cxnLst/>
              <a:rect l="l" t="t" r="r" b="b"/>
              <a:pathLst>
                <a:path w="324484" h="970279">
                  <a:moveTo>
                    <a:pt x="0" y="504172"/>
                  </a:moveTo>
                  <a:lnTo>
                    <a:pt x="5989" y="438806"/>
                  </a:lnTo>
                  <a:lnTo>
                    <a:pt x="12007" y="374422"/>
                  </a:lnTo>
                  <a:lnTo>
                    <a:pt x="18082" y="312001"/>
                  </a:lnTo>
                  <a:lnTo>
                    <a:pt x="24245" y="252521"/>
                  </a:lnTo>
                  <a:lnTo>
                    <a:pt x="30523" y="196960"/>
                  </a:lnTo>
                  <a:lnTo>
                    <a:pt x="36947" y="146297"/>
                  </a:lnTo>
                  <a:lnTo>
                    <a:pt x="43544" y="101512"/>
                  </a:lnTo>
                  <a:lnTo>
                    <a:pt x="50345" y="63583"/>
                  </a:lnTo>
                  <a:lnTo>
                    <a:pt x="64673" y="12207"/>
                  </a:lnTo>
                  <a:lnTo>
                    <a:pt x="80163" y="0"/>
                  </a:lnTo>
                  <a:lnTo>
                    <a:pt x="88417" y="11031"/>
                  </a:lnTo>
                  <a:lnTo>
                    <a:pt x="100538" y="56383"/>
                  </a:lnTo>
                  <a:lnTo>
                    <a:pt x="113648" y="138771"/>
                  </a:lnTo>
                  <a:lnTo>
                    <a:pt x="120499" y="190804"/>
                  </a:lnTo>
                  <a:lnTo>
                    <a:pt x="127508" y="248437"/>
                  </a:lnTo>
                  <a:lnTo>
                    <a:pt x="134644" y="310450"/>
                  </a:lnTo>
                  <a:lnTo>
                    <a:pt x="141879" y="375625"/>
                  </a:lnTo>
                  <a:lnTo>
                    <a:pt x="149181" y="442740"/>
                  </a:lnTo>
                  <a:lnTo>
                    <a:pt x="156522" y="510578"/>
                  </a:lnTo>
                  <a:lnTo>
                    <a:pt x="163871" y="577917"/>
                  </a:lnTo>
                  <a:lnTo>
                    <a:pt x="171198" y="643539"/>
                  </a:lnTo>
                  <a:lnTo>
                    <a:pt x="178473" y="706224"/>
                  </a:lnTo>
                  <a:lnTo>
                    <a:pt x="185667" y="764752"/>
                  </a:lnTo>
                  <a:lnTo>
                    <a:pt x="192749" y="817904"/>
                  </a:lnTo>
                  <a:lnTo>
                    <a:pt x="199690" y="864459"/>
                  </a:lnTo>
                  <a:lnTo>
                    <a:pt x="206460" y="903200"/>
                  </a:lnTo>
                  <a:lnTo>
                    <a:pt x="219367" y="952355"/>
                  </a:lnTo>
                  <a:lnTo>
                    <a:pt x="238529" y="969796"/>
                  </a:lnTo>
                  <a:lnTo>
                    <a:pt x="247762" y="960307"/>
                  </a:lnTo>
                  <a:lnTo>
                    <a:pt x="265643" y="910780"/>
                  </a:lnTo>
                  <a:lnTo>
                    <a:pt x="274337" y="873091"/>
                  </a:lnTo>
                  <a:lnTo>
                    <a:pt x="282896" y="828352"/>
                  </a:lnTo>
                  <a:lnTo>
                    <a:pt x="291343" y="777735"/>
                  </a:lnTo>
                  <a:lnTo>
                    <a:pt x="299700" y="722416"/>
                  </a:lnTo>
                  <a:lnTo>
                    <a:pt x="307990" y="663568"/>
                  </a:lnTo>
                  <a:lnTo>
                    <a:pt x="316236" y="602367"/>
                  </a:lnTo>
                  <a:lnTo>
                    <a:pt x="324459" y="539986"/>
                  </a:lnTo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027183" y="2982850"/>
              <a:ext cx="325120" cy="970280"/>
            </a:xfrm>
            <a:custGeom>
              <a:avLst/>
              <a:gdLst/>
              <a:ahLst/>
              <a:cxnLst/>
              <a:rect l="l" t="t" r="r" b="b"/>
              <a:pathLst>
                <a:path w="325119" h="970279">
                  <a:moveTo>
                    <a:pt x="0" y="504172"/>
                  </a:moveTo>
                  <a:lnTo>
                    <a:pt x="5989" y="438806"/>
                  </a:lnTo>
                  <a:lnTo>
                    <a:pt x="12007" y="374422"/>
                  </a:lnTo>
                  <a:lnTo>
                    <a:pt x="18082" y="312001"/>
                  </a:lnTo>
                  <a:lnTo>
                    <a:pt x="24245" y="252521"/>
                  </a:lnTo>
                  <a:lnTo>
                    <a:pt x="30523" y="196960"/>
                  </a:lnTo>
                  <a:lnTo>
                    <a:pt x="36947" y="146297"/>
                  </a:lnTo>
                  <a:lnTo>
                    <a:pt x="43544" y="101512"/>
                  </a:lnTo>
                  <a:lnTo>
                    <a:pt x="50345" y="63583"/>
                  </a:lnTo>
                  <a:lnTo>
                    <a:pt x="64673" y="12207"/>
                  </a:lnTo>
                  <a:lnTo>
                    <a:pt x="80163" y="0"/>
                  </a:lnTo>
                  <a:lnTo>
                    <a:pt x="88417" y="11031"/>
                  </a:lnTo>
                  <a:lnTo>
                    <a:pt x="100536" y="56383"/>
                  </a:lnTo>
                  <a:lnTo>
                    <a:pt x="113642" y="138771"/>
                  </a:lnTo>
                  <a:lnTo>
                    <a:pt x="120491" y="190804"/>
                  </a:lnTo>
                  <a:lnTo>
                    <a:pt x="127497" y="248437"/>
                  </a:lnTo>
                  <a:lnTo>
                    <a:pt x="134630" y="310450"/>
                  </a:lnTo>
                  <a:lnTo>
                    <a:pt x="141861" y="375625"/>
                  </a:lnTo>
                  <a:lnTo>
                    <a:pt x="149161" y="442740"/>
                  </a:lnTo>
                  <a:lnTo>
                    <a:pt x="156498" y="510578"/>
                  </a:lnTo>
                  <a:lnTo>
                    <a:pt x="163844" y="577917"/>
                  </a:lnTo>
                  <a:lnTo>
                    <a:pt x="171169" y="643539"/>
                  </a:lnTo>
                  <a:lnTo>
                    <a:pt x="178442" y="706224"/>
                  </a:lnTo>
                  <a:lnTo>
                    <a:pt x="185635" y="764752"/>
                  </a:lnTo>
                  <a:lnTo>
                    <a:pt x="192717" y="817904"/>
                  </a:lnTo>
                  <a:lnTo>
                    <a:pt x="199658" y="864459"/>
                  </a:lnTo>
                  <a:lnTo>
                    <a:pt x="206429" y="903200"/>
                  </a:lnTo>
                  <a:lnTo>
                    <a:pt x="219341" y="952355"/>
                  </a:lnTo>
                  <a:lnTo>
                    <a:pt x="238516" y="969796"/>
                  </a:lnTo>
                  <a:lnTo>
                    <a:pt x="247755" y="960307"/>
                  </a:lnTo>
                  <a:lnTo>
                    <a:pt x="265649" y="910780"/>
                  </a:lnTo>
                  <a:lnTo>
                    <a:pt x="274348" y="873091"/>
                  </a:lnTo>
                  <a:lnTo>
                    <a:pt x="282912" y="828352"/>
                  </a:lnTo>
                  <a:lnTo>
                    <a:pt x="291364" y="777735"/>
                  </a:lnTo>
                  <a:lnTo>
                    <a:pt x="299726" y="722416"/>
                  </a:lnTo>
                  <a:lnTo>
                    <a:pt x="308021" y="663568"/>
                  </a:lnTo>
                  <a:lnTo>
                    <a:pt x="316270" y="602367"/>
                  </a:lnTo>
                  <a:lnTo>
                    <a:pt x="324497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357522" y="2982850"/>
              <a:ext cx="324485" cy="970280"/>
            </a:xfrm>
            <a:custGeom>
              <a:avLst/>
              <a:gdLst/>
              <a:ahLst/>
              <a:cxnLst/>
              <a:rect l="l" t="t" r="r" b="b"/>
              <a:pathLst>
                <a:path w="324485" h="970279">
                  <a:moveTo>
                    <a:pt x="0" y="504172"/>
                  </a:moveTo>
                  <a:lnTo>
                    <a:pt x="5983" y="438806"/>
                  </a:lnTo>
                  <a:lnTo>
                    <a:pt x="11996" y="374422"/>
                  </a:lnTo>
                  <a:lnTo>
                    <a:pt x="18067" y="312001"/>
                  </a:lnTo>
                  <a:lnTo>
                    <a:pt x="24225" y="252521"/>
                  </a:lnTo>
                  <a:lnTo>
                    <a:pt x="30500" y="196960"/>
                  </a:lnTo>
                  <a:lnTo>
                    <a:pt x="36921" y="146297"/>
                  </a:lnTo>
                  <a:lnTo>
                    <a:pt x="43516" y="101512"/>
                  </a:lnTo>
                  <a:lnTo>
                    <a:pt x="50316" y="63583"/>
                  </a:lnTo>
                  <a:lnTo>
                    <a:pt x="64643" y="12207"/>
                  </a:lnTo>
                  <a:lnTo>
                    <a:pt x="80135" y="0"/>
                  </a:lnTo>
                  <a:lnTo>
                    <a:pt x="88392" y="11031"/>
                  </a:lnTo>
                  <a:lnTo>
                    <a:pt x="100514" y="56383"/>
                  </a:lnTo>
                  <a:lnTo>
                    <a:pt x="113623" y="138771"/>
                  </a:lnTo>
                  <a:lnTo>
                    <a:pt x="120473" y="190804"/>
                  </a:lnTo>
                  <a:lnTo>
                    <a:pt x="127480" y="248437"/>
                  </a:lnTo>
                  <a:lnTo>
                    <a:pt x="134614" y="310450"/>
                  </a:lnTo>
                  <a:lnTo>
                    <a:pt x="141846" y="375625"/>
                  </a:lnTo>
                  <a:lnTo>
                    <a:pt x="149146" y="442740"/>
                  </a:lnTo>
                  <a:lnTo>
                    <a:pt x="156484" y="510578"/>
                  </a:lnTo>
                  <a:lnTo>
                    <a:pt x="163831" y="577917"/>
                  </a:lnTo>
                  <a:lnTo>
                    <a:pt x="171155" y="643539"/>
                  </a:lnTo>
                  <a:lnTo>
                    <a:pt x="178429" y="706224"/>
                  </a:lnTo>
                  <a:lnTo>
                    <a:pt x="185622" y="764752"/>
                  </a:lnTo>
                  <a:lnTo>
                    <a:pt x="192704" y="817904"/>
                  </a:lnTo>
                  <a:lnTo>
                    <a:pt x="199645" y="864459"/>
                  </a:lnTo>
                  <a:lnTo>
                    <a:pt x="206416" y="903200"/>
                  </a:lnTo>
                  <a:lnTo>
                    <a:pt x="219329" y="952355"/>
                  </a:lnTo>
                  <a:lnTo>
                    <a:pt x="238504" y="969796"/>
                  </a:lnTo>
                  <a:lnTo>
                    <a:pt x="247743" y="960307"/>
                  </a:lnTo>
                  <a:lnTo>
                    <a:pt x="265636" y="910780"/>
                  </a:lnTo>
                  <a:lnTo>
                    <a:pt x="274335" y="873091"/>
                  </a:lnTo>
                  <a:lnTo>
                    <a:pt x="282900" y="828352"/>
                  </a:lnTo>
                  <a:lnTo>
                    <a:pt x="291352" y="777735"/>
                  </a:lnTo>
                  <a:lnTo>
                    <a:pt x="299714" y="722416"/>
                  </a:lnTo>
                  <a:lnTo>
                    <a:pt x="308008" y="663568"/>
                  </a:lnTo>
                  <a:lnTo>
                    <a:pt x="316258" y="602367"/>
                  </a:lnTo>
                  <a:lnTo>
                    <a:pt x="324485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682008" y="2982850"/>
              <a:ext cx="324485" cy="970280"/>
            </a:xfrm>
            <a:custGeom>
              <a:avLst/>
              <a:gdLst/>
              <a:ahLst/>
              <a:cxnLst/>
              <a:rect l="l" t="t" r="r" b="b"/>
              <a:pathLst>
                <a:path w="324485" h="970279">
                  <a:moveTo>
                    <a:pt x="0" y="504172"/>
                  </a:moveTo>
                  <a:lnTo>
                    <a:pt x="5983" y="438806"/>
                  </a:lnTo>
                  <a:lnTo>
                    <a:pt x="11996" y="374422"/>
                  </a:lnTo>
                  <a:lnTo>
                    <a:pt x="18067" y="312001"/>
                  </a:lnTo>
                  <a:lnTo>
                    <a:pt x="24225" y="252521"/>
                  </a:lnTo>
                  <a:lnTo>
                    <a:pt x="30500" y="196960"/>
                  </a:lnTo>
                  <a:lnTo>
                    <a:pt x="36921" y="146297"/>
                  </a:lnTo>
                  <a:lnTo>
                    <a:pt x="43516" y="101512"/>
                  </a:lnTo>
                  <a:lnTo>
                    <a:pt x="50316" y="63583"/>
                  </a:lnTo>
                  <a:lnTo>
                    <a:pt x="64643" y="12207"/>
                  </a:lnTo>
                  <a:lnTo>
                    <a:pt x="80135" y="0"/>
                  </a:lnTo>
                  <a:lnTo>
                    <a:pt x="88392" y="11031"/>
                  </a:lnTo>
                  <a:lnTo>
                    <a:pt x="100514" y="56383"/>
                  </a:lnTo>
                  <a:lnTo>
                    <a:pt x="113623" y="138771"/>
                  </a:lnTo>
                  <a:lnTo>
                    <a:pt x="120473" y="190804"/>
                  </a:lnTo>
                  <a:lnTo>
                    <a:pt x="127480" y="248437"/>
                  </a:lnTo>
                  <a:lnTo>
                    <a:pt x="134614" y="310450"/>
                  </a:lnTo>
                  <a:lnTo>
                    <a:pt x="141846" y="375625"/>
                  </a:lnTo>
                  <a:lnTo>
                    <a:pt x="149146" y="442740"/>
                  </a:lnTo>
                  <a:lnTo>
                    <a:pt x="156484" y="510578"/>
                  </a:lnTo>
                  <a:lnTo>
                    <a:pt x="163831" y="577917"/>
                  </a:lnTo>
                  <a:lnTo>
                    <a:pt x="171155" y="643539"/>
                  </a:lnTo>
                  <a:lnTo>
                    <a:pt x="178429" y="706224"/>
                  </a:lnTo>
                  <a:lnTo>
                    <a:pt x="185622" y="764752"/>
                  </a:lnTo>
                  <a:lnTo>
                    <a:pt x="192704" y="817904"/>
                  </a:lnTo>
                  <a:lnTo>
                    <a:pt x="199645" y="864459"/>
                  </a:lnTo>
                  <a:lnTo>
                    <a:pt x="206416" y="903200"/>
                  </a:lnTo>
                  <a:lnTo>
                    <a:pt x="219329" y="952355"/>
                  </a:lnTo>
                  <a:lnTo>
                    <a:pt x="238503" y="969796"/>
                  </a:lnTo>
                  <a:lnTo>
                    <a:pt x="247741" y="960307"/>
                  </a:lnTo>
                  <a:lnTo>
                    <a:pt x="265627" y="910780"/>
                  </a:lnTo>
                  <a:lnTo>
                    <a:pt x="274320" y="873091"/>
                  </a:lnTo>
                  <a:lnTo>
                    <a:pt x="282875" y="828352"/>
                  </a:lnTo>
                  <a:lnTo>
                    <a:pt x="291314" y="777735"/>
                  </a:lnTo>
                  <a:lnTo>
                    <a:pt x="299660" y="722416"/>
                  </a:lnTo>
                  <a:lnTo>
                    <a:pt x="307935" y="663568"/>
                  </a:lnTo>
                  <a:lnTo>
                    <a:pt x="316160" y="602367"/>
                  </a:lnTo>
                  <a:lnTo>
                    <a:pt x="324358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016780" y="2989200"/>
              <a:ext cx="324485" cy="970280"/>
            </a:xfrm>
            <a:custGeom>
              <a:avLst/>
              <a:gdLst/>
              <a:ahLst/>
              <a:cxnLst/>
              <a:rect l="l" t="t" r="r" b="b"/>
              <a:pathLst>
                <a:path w="324485" h="970279">
                  <a:moveTo>
                    <a:pt x="0" y="504172"/>
                  </a:moveTo>
                  <a:lnTo>
                    <a:pt x="5983" y="438806"/>
                  </a:lnTo>
                  <a:lnTo>
                    <a:pt x="11996" y="374422"/>
                  </a:lnTo>
                  <a:lnTo>
                    <a:pt x="18067" y="312001"/>
                  </a:lnTo>
                  <a:lnTo>
                    <a:pt x="24225" y="252521"/>
                  </a:lnTo>
                  <a:lnTo>
                    <a:pt x="30500" y="196960"/>
                  </a:lnTo>
                  <a:lnTo>
                    <a:pt x="36921" y="146297"/>
                  </a:lnTo>
                  <a:lnTo>
                    <a:pt x="43516" y="101512"/>
                  </a:lnTo>
                  <a:lnTo>
                    <a:pt x="50316" y="63583"/>
                  </a:lnTo>
                  <a:lnTo>
                    <a:pt x="64643" y="12207"/>
                  </a:lnTo>
                  <a:lnTo>
                    <a:pt x="80135" y="0"/>
                  </a:lnTo>
                  <a:lnTo>
                    <a:pt x="88392" y="11031"/>
                  </a:lnTo>
                  <a:lnTo>
                    <a:pt x="100514" y="56383"/>
                  </a:lnTo>
                  <a:lnTo>
                    <a:pt x="113623" y="138771"/>
                  </a:lnTo>
                  <a:lnTo>
                    <a:pt x="120473" y="190804"/>
                  </a:lnTo>
                  <a:lnTo>
                    <a:pt x="127480" y="248437"/>
                  </a:lnTo>
                  <a:lnTo>
                    <a:pt x="134614" y="310450"/>
                  </a:lnTo>
                  <a:lnTo>
                    <a:pt x="141846" y="375625"/>
                  </a:lnTo>
                  <a:lnTo>
                    <a:pt x="149146" y="442740"/>
                  </a:lnTo>
                  <a:lnTo>
                    <a:pt x="156484" y="510578"/>
                  </a:lnTo>
                  <a:lnTo>
                    <a:pt x="163831" y="577917"/>
                  </a:lnTo>
                  <a:lnTo>
                    <a:pt x="171155" y="643539"/>
                  </a:lnTo>
                  <a:lnTo>
                    <a:pt x="178429" y="706224"/>
                  </a:lnTo>
                  <a:lnTo>
                    <a:pt x="185622" y="764752"/>
                  </a:lnTo>
                  <a:lnTo>
                    <a:pt x="192704" y="817904"/>
                  </a:lnTo>
                  <a:lnTo>
                    <a:pt x="199645" y="864459"/>
                  </a:lnTo>
                  <a:lnTo>
                    <a:pt x="206416" y="903200"/>
                  </a:lnTo>
                  <a:lnTo>
                    <a:pt x="219329" y="952355"/>
                  </a:lnTo>
                  <a:lnTo>
                    <a:pt x="238494" y="969796"/>
                  </a:lnTo>
                  <a:lnTo>
                    <a:pt x="247723" y="960307"/>
                  </a:lnTo>
                  <a:lnTo>
                    <a:pt x="265588" y="910780"/>
                  </a:lnTo>
                  <a:lnTo>
                    <a:pt x="274272" y="873091"/>
                  </a:lnTo>
                  <a:lnTo>
                    <a:pt x="282820" y="828352"/>
                  </a:lnTo>
                  <a:lnTo>
                    <a:pt x="291258" y="777735"/>
                  </a:lnTo>
                  <a:lnTo>
                    <a:pt x="299606" y="722416"/>
                  </a:lnTo>
                  <a:lnTo>
                    <a:pt x="307890" y="663568"/>
                  </a:lnTo>
                  <a:lnTo>
                    <a:pt x="316133" y="602367"/>
                  </a:lnTo>
                  <a:lnTo>
                    <a:pt x="324358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341138" y="2989200"/>
              <a:ext cx="324485" cy="970280"/>
            </a:xfrm>
            <a:custGeom>
              <a:avLst/>
              <a:gdLst/>
              <a:ahLst/>
              <a:cxnLst/>
              <a:rect l="l" t="t" r="r" b="b"/>
              <a:pathLst>
                <a:path w="324485" h="970279">
                  <a:moveTo>
                    <a:pt x="0" y="504172"/>
                  </a:moveTo>
                  <a:lnTo>
                    <a:pt x="6010" y="438806"/>
                  </a:lnTo>
                  <a:lnTo>
                    <a:pt x="12046" y="374422"/>
                  </a:lnTo>
                  <a:lnTo>
                    <a:pt x="18136" y="312001"/>
                  </a:lnTo>
                  <a:lnTo>
                    <a:pt x="24310" y="252521"/>
                  </a:lnTo>
                  <a:lnTo>
                    <a:pt x="30598" y="196960"/>
                  </a:lnTo>
                  <a:lnTo>
                    <a:pt x="37028" y="146297"/>
                  </a:lnTo>
                  <a:lnTo>
                    <a:pt x="43631" y="101512"/>
                  </a:lnTo>
                  <a:lnTo>
                    <a:pt x="50436" y="63583"/>
                  </a:lnTo>
                  <a:lnTo>
                    <a:pt x="64768" y="12207"/>
                  </a:lnTo>
                  <a:lnTo>
                    <a:pt x="80262" y="0"/>
                  </a:lnTo>
                  <a:lnTo>
                    <a:pt x="88519" y="11031"/>
                  </a:lnTo>
                  <a:lnTo>
                    <a:pt x="100609" y="56383"/>
                  </a:lnTo>
                  <a:lnTo>
                    <a:pt x="113700" y="138771"/>
                  </a:lnTo>
                  <a:lnTo>
                    <a:pt x="120545" y="190804"/>
                  </a:lnTo>
                  <a:lnTo>
                    <a:pt x="127550" y="248437"/>
                  </a:lnTo>
                  <a:lnTo>
                    <a:pt x="134685" y="310450"/>
                  </a:lnTo>
                  <a:lnTo>
                    <a:pt x="141919" y="375625"/>
                  </a:lnTo>
                  <a:lnTo>
                    <a:pt x="149223" y="442740"/>
                  </a:lnTo>
                  <a:lnTo>
                    <a:pt x="156566" y="510578"/>
                  </a:lnTo>
                  <a:lnTo>
                    <a:pt x="163918" y="577917"/>
                  </a:lnTo>
                  <a:lnTo>
                    <a:pt x="171250" y="643539"/>
                  </a:lnTo>
                  <a:lnTo>
                    <a:pt x="178530" y="706224"/>
                  </a:lnTo>
                  <a:lnTo>
                    <a:pt x="185729" y="764752"/>
                  </a:lnTo>
                  <a:lnTo>
                    <a:pt x="192817" y="817904"/>
                  </a:lnTo>
                  <a:lnTo>
                    <a:pt x="199764" y="864459"/>
                  </a:lnTo>
                  <a:lnTo>
                    <a:pt x="206540" y="903200"/>
                  </a:lnTo>
                  <a:lnTo>
                    <a:pt x="219456" y="952355"/>
                  </a:lnTo>
                  <a:lnTo>
                    <a:pt x="238577" y="969796"/>
                  </a:lnTo>
                  <a:lnTo>
                    <a:pt x="247796" y="960307"/>
                  </a:lnTo>
                  <a:lnTo>
                    <a:pt x="265661" y="910780"/>
                  </a:lnTo>
                  <a:lnTo>
                    <a:pt x="274351" y="873091"/>
                  </a:lnTo>
                  <a:lnTo>
                    <a:pt x="282909" y="828352"/>
                  </a:lnTo>
                  <a:lnTo>
                    <a:pt x="291356" y="777735"/>
                  </a:lnTo>
                  <a:lnTo>
                    <a:pt x="299716" y="722416"/>
                  </a:lnTo>
                  <a:lnTo>
                    <a:pt x="308009" y="663568"/>
                  </a:lnTo>
                  <a:lnTo>
                    <a:pt x="316258" y="602367"/>
                  </a:lnTo>
                  <a:lnTo>
                    <a:pt x="324485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671464" y="2989200"/>
              <a:ext cx="324485" cy="970280"/>
            </a:xfrm>
            <a:custGeom>
              <a:avLst/>
              <a:gdLst/>
              <a:ahLst/>
              <a:cxnLst/>
              <a:rect l="l" t="t" r="r" b="b"/>
              <a:pathLst>
                <a:path w="324485" h="970279">
                  <a:moveTo>
                    <a:pt x="0" y="504172"/>
                  </a:moveTo>
                  <a:lnTo>
                    <a:pt x="5985" y="438806"/>
                  </a:lnTo>
                  <a:lnTo>
                    <a:pt x="12004" y="374422"/>
                  </a:lnTo>
                  <a:lnTo>
                    <a:pt x="18083" y="312001"/>
                  </a:lnTo>
                  <a:lnTo>
                    <a:pt x="24250" y="252521"/>
                  </a:lnTo>
                  <a:lnTo>
                    <a:pt x="30535" y="196960"/>
                  </a:lnTo>
                  <a:lnTo>
                    <a:pt x="36965" y="146297"/>
                  </a:lnTo>
                  <a:lnTo>
                    <a:pt x="43567" y="101512"/>
                  </a:lnTo>
                  <a:lnTo>
                    <a:pt x="50371" y="63583"/>
                  </a:lnTo>
                  <a:lnTo>
                    <a:pt x="64695" y="12207"/>
                  </a:lnTo>
                  <a:lnTo>
                    <a:pt x="80160" y="0"/>
                  </a:lnTo>
                  <a:lnTo>
                    <a:pt x="88392" y="11031"/>
                  </a:lnTo>
                  <a:lnTo>
                    <a:pt x="100518" y="56383"/>
                  </a:lnTo>
                  <a:lnTo>
                    <a:pt x="113638" y="138771"/>
                  </a:lnTo>
                  <a:lnTo>
                    <a:pt x="120495" y="190804"/>
                  </a:lnTo>
                  <a:lnTo>
                    <a:pt x="127510" y="248437"/>
                  </a:lnTo>
                  <a:lnTo>
                    <a:pt x="134653" y="310450"/>
                  </a:lnTo>
                  <a:lnTo>
                    <a:pt x="141895" y="375625"/>
                  </a:lnTo>
                  <a:lnTo>
                    <a:pt x="149205" y="442740"/>
                  </a:lnTo>
                  <a:lnTo>
                    <a:pt x="156553" y="510578"/>
                  </a:lnTo>
                  <a:lnTo>
                    <a:pt x="163909" y="577917"/>
                  </a:lnTo>
                  <a:lnTo>
                    <a:pt x="171243" y="643539"/>
                  </a:lnTo>
                  <a:lnTo>
                    <a:pt x="178526" y="706224"/>
                  </a:lnTo>
                  <a:lnTo>
                    <a:pt x="185727" y="764752"/>
                  </a:lnTo>
                  <a:lnTo>
                    <a:pt x="192816" y="817904"/>
                  </a:lnTo>
                  <a:lnTo>
                    <a:pt x="199764" y="864459"/>
                  </a:lnTo>
                  <a:lnTo>
                    <a:pt x="206539" y="903200"/>
                  </a:lnTo>
                  <a:lnTo>
                    <a:pt x="219456" y="952355"/>
                  </a:lnTo>
                  <a:lnTo>
                    <a:pt x="238577" y="969796"/>
                  </a:lnTo>
                  <a:lnTo>
                    <a:pt x="247796" y="960307"/>
                  </a:lnTo>
                  <a:lnTo>
                    <a:pt x="265661" y="910780"/>
                  </a:lnTo>
                  <a:lnTo>
                    <a:pt x="274351" y="873091"/>
                  </a:lnTo>
                  <a:lnTo>
                    <a:pt x="282909" y="828352"/>
                  </a:lnTo>
                  <a:lnTo>
                    <a:pt x="291356" y="777735"/>
                  </a:lnTo>
                  <a:lnTo>
                    <a:pt x="299716" y="722416"/>
                  </a:lnTo>
                  <a:lnTo>
                    <a:pt x="308009" y="663568"/>
                  </a:lnTo>
                  <a:lnTo>
                    <a:pt x="316258" y="602367"/>
                  </a:lnTo>
                  <a:lnTo>
                    <a:pt x="324485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995950" y="2989200"/>
              <a:ext cx="324485" cy="970280"/>
            </a:xfrm>
            <a:custGeom>
              <a:avLst/>
              <a:gdLst/>
              <a:ahLst/>
              <a:cxnLst/>
              <a:rect l="l" t="t" r="r" b="b"/>
              <a:pathLst>
                <a:path w="324485" h="970279">
                  <a:moveTo>
                    <a:pt x="0" y="504172"/>
                  </a:moveTo>
                  <a:lnTo>
                    <a:pt x="5983" y="438806"/>
                  </a:lnTo>
                  <a:lnTo>
                    <a:pt x="11996" y="374422"/>
                  </a:lnTo>
                  <a:lnTo>
                    <a:pt x="18067" y="312001"/>
                  </a:lnTo>
                  <a:lnTo>
                    <a:pt x="24225" y="252521"/>
                  </a:lnTo>
                  <a:lnTo>
                    <a:pt x="30500" y="196960"/>
                  </a:lnTo>
                  <a:lnTo>
                    <a:pt x="36921" y="146297"/>
                  </a:lnTo>
                  <a:lnTo>
                    <a:pt x="43516" y="101512"/>
                  </a:lnTo>
                  <a:lnTo>
                    <a:pt x="50316" y="63583"/>
                  </a:lnTo>
                  <a:lnTo>
                    <a:pt x="64643" y="12207"/>
                  </a:lnTo>
                  <a:lnTo>
                    <a:pt x="80135" y="0"/>
                  </a:lnTo>
                  <a:lnTo>
                    <a:pt x="88392" y="11031"/>
                  </a:lnTo>
                  <a:lnTo>
                    <a:pt x="100518" y="56383"/>
                  </a:lnTo>
                  <a:lnTo>
                    <a:pt x="113636" y="138771"/>
                  </a:lnTo>
                  <a:lnTo>
                    <a:pt x="120492" y="190804"/>
                  </a:lnTo>
                  <a:lnTo>
                    <a:pt x="127506" y="248437"/>
                  </a:lnTo>
                  <a:lnTo>
                    <a:pt x="134647" y="310450"/>
                  </a:lnTo>
                  <a:lnTo>
                    <a:pt x="141885" y="375625"/>
                  </a:lnTo>
                  <a:lnTo>
                    <a:pt x="149191" y="442740"/>
                  </a:lnTo>
                  <a:lnTo>
                    <a:pt x="156534" y="510578"/>
                  </a:lnTo>
                  <a:lnTo>
                    <a:pt x="163884" y="577917"/>
                  </a:lnTo>
                  <a:lnTo>
                    <a:pt x="171211" y="643539"/>
                  </a:lnTo>
                  <a:lnTo>
                    <a:pt x="178485" y="706224"/>
                  </a:lnTo>
                  <a:lnTo>
                    <a:pt x="185676" y="764752"/>
                  </a:lnTo>
                  <a:lnTo>
                    <a:pt x="192754" y="817904"/>
                  </a:lnTo>
                  <a:lnTo>
                    <a:pt x="199688" y="864459"/>
                  </a:lnTo>
                  <a:lnTo>
                    <a:pt x="206448" y="903200"/>
                  </a:lnTo>
                  <a:lnTo>
                    <a:pt x="219329" y="952355"/>
                  </a:lnTo>
                  <a:lnTo>
                    <a:pt x="238504" y="969796"/>
                  </a:lnTo>
                  <a:lnTo>
                    <a:pt x="247743" y="960307"/>
                  </a:lnTo>
                  <a:lnTo>
                    <a:pt x="265636" y="910780"/>
                  </a:lnTo>
                  <a:lnTo>
                    <a:pt x="274335" y="873091"/>
                  </a:lnTo>
                  <a:lnTo>
                    <a:pt x="282900" y="828352"/>
                  </a:lnTo>
                  <a:lnTo>
                    <a:pt x="291352" y="777735"/>
                  </a:lnTo>
                  <a:lnTo>
                    <a:pt x="299714" y="722416"/>
                  </a:lnTo>
                  <a:lnTo>
                    <a:pt x="308008" y="663568"/>
                  </a:lnTo>
                  <a:lnTo>
                    <a:pt x="316258" y="602367"/>
                  </a:lnTo>
                  <a:lnTo>
                    <a:pt x="324485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325514" y="2989200"/>
              <a:ext cx="324485" cy="970280"/>
            </a:xfrm>
            <a:custGeom>
              <a:avLst/>
              <a:gdLst/>
              <a:ahLst/>
              <a:cxnLst/>
              <a:rect l="l" t="t" r="r" b="b"/>
              <a:pathLst>
                <a:path w="324485" h="970279">
                  <a:moveTo>
                    <a:pt x="0" y="504172"/>
                  </a:moveTo>
                  <a:lnTo>
                    <a:pt x="6010" y="438806"/>
                  </a:lnTo>
                  <a:lnTo>
                    <a:pt x="12046" y="374422"/>
                  </a:lnTo>
                  <a:lnTo>
                    <a:pt x="18136" y="312001"/>
                  </a:lnTo>
                  <a:lnTo>
                    <a:pt x="24310" y="252521"/>
                  </a:lnTo>
                  <a:lnTo>
                    <a:pt x="30598" y="196960"/>
                  </a:lnTo>
                  <a:lnTo>
                    <a:pt x="37028" y="146297"/>
                  </a:lnTo>
                  <a:lnTo>
                    <a:pt x="43631" y="101512"/>
                  </a:lnTo>
                  <a:lnTo>
                    <a:pt x="50436" y="63583"/>
                  </a:lnTo>
                  <a:lnTo>
                    <a:pt x="64768" y="12207"/>
                  </a:lnTo>
                  <a:lnTo>
                    <a:pt x="80262" y="0"/>
                  </a:lnTo>
                  <a:lnTo>
                    <a:pt x="88519" y="11031"/>
                  </a:lnTo>
                  <a:lnTo>
                    <a:pt x="100641" y="56383"/>
                  </a:lnTo>
                  <a:lnTo>
                    <a:pt x="113750" y="138771"/>
                  </a:lnTo>
                  <a:lnTo>
                    <a:pt x="120600" y="190804"/>
                  </a:lnTo>
                  <a:lnTo>
                    <a:pt x="127607" y="248437"/>
                  </a:lnTo>
                  <a:lnTo>
                    <a:pt x="134741" y="310450"/>
                  </a:lnTo>
                  <a:lnTo>
                    <a:pt x="141973" y="375625"/>
                  </a:lnTo>
                  <a:lnTo>
                    <a:pt x="149273" y="442740"/>
                  </a:lnTo>
                  <a:lnTo>
                    <a:pt x="156611" y="510578"/>
                  </a:lnTo>
                  <a:lnTo>
                    <a:pt x="163958" y="577917"/>
                  </a:lnTo>
                  <a:lnTo>
                    <a:pt x="171282" y="643539"/>
                  </a:lnTo>
                  <a:lnTo>
                    <a:pt x="178556" y="706224"/>
                  </a:lnTo>
                  <a:lnTo>
                    <a:pt x="185749" y="764752"/>
                  </a:lnTo>
                  <a:lnTo>
                    <a:pt x="192831" y="817904"/>
                  </a:lnTo>
                  <a:lnTo>
                    <a:pt x="199772" y="864459"/>
                  </a:lnTo>
                  <a:lnTo>
                    <a:pt x="206543" y="903200"/>
                  </a:lnTo>
                  <a:lnTo>
                    <a:pt x="219456" y="952355"/>
                  </a:lnTo>
                  <a:lnTo>
                    <a:pt x="238621" y="969796"/>
                  </a:lnTo>
                  <a:lnTo>
                    <a:pt x="247850" y="960307"/>
                  </a:lnTo>
                  <a:lnTo>
                    <a:pt x="265715" y="910780"/>
                  </a:lnTo>
                  <a:lnTo>
                    <a:pt x="274399" y="873091"/>
                  </a:lnTo>
                  <a:lnTo>
                    <a:pt x="282947" y="828352"/>
                  </a:lnTo>
                  <a:lnTo>
                    <a:pt x="291385" y="777735"/>
                  </a:lnTo>
                  <a:lnTo>
                    <a:pt x="299733" y="722416"/>
                  </a:lnTo>
                  <a:lnTo>
                    <a:pt x="308017" y="663568"/>
                  </a:lnTo>
                  <a:lnTo>
                    <a:pt x="316260" y="602367"/>
                  </a:lnTo>
                  <a:lnTo>
                    <a:pt x="324485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1" name="object 31"/>
            <p:cNvSpPr/>
            <p:nvPr/>
          </p:nvSpPr>
          <p:spPr>
            <a:xfrm>
              <a:off x="3650000" y="2989200"/>
              <a:ext cx="324485" cy="970280"/>
            </a:xfrm>
            <a:custGeom>
              <a:avLst/>
              <a:gdLst/>
              <a:ahLst/>
              <a:cxnLst/>
              <a:rect l="l" t="t" r="r" b="b"/>
              <a:pathLst>
                <a:path w="324485" h="970279">
                  <a:moveTo>
                    <a:pt x="0" y="504172"/>
                  </a:moveTo>
                  <a:lnTo>
                    <a:pt x="5985" y="438806"/>
                  </a:lnTo>
                  <a:lnTo>
                    <a:pt x="12004" y="374422"/>
                  </a:lnTo>
                  <a:lnTo>
                    <a:pt x="18083" y="312001"/>
                  </a:lnTo>
                  <a:lnTo>
                    <a:pt x="24250" y="252521"/>
                  </a:lnTo>
                  <a:lnTo>
                    <a:pt x="30535" y="196960"/>
                  </a:lnTo>
                  <a:lnTo>
                    <a:pt x="36965" y="146297"/>
                  </a:lnTo>
                  <a:lnTo>
                    <a:pt x="43567" y="101512"/>
                  </a:lnTo>
                  <a:lnTo>
                    <a:pt x="50371" y="63583"/>
                  </a:lnTo>
                  <a:lnTo>
                    <a:pt x="64695" y="12207"/>
                  </a:lnTo>
                  <a:lnTo>
                    <a:pt x="80160" y="0"/>
                  </a:lnTo>
                  <a:lnTo>
                    <a:pt x="88392" y="11031"/>
                  </a:lnTo>
                  <a:lnTo>
                    <a:pt x="100518" y="56383"/>
                  </a:lnTo>
                  <a:lnTo>
                    <a:pt x="113638" y="138771"/>
                  </a:lnTo>
                  <a:lnTo>
                    <a:pt x="120495" y="190804"/>
                  </a:lnTo>
                  <a:lnTo>
                    <a:pt x="127510" y="248437"/>
                  </a:lnTo>
                  <a:lnTo>
                    <a:pt x="134653" y="310450"/>
                  </a:lnTo>
                  <a:lnTo>
                    <a:pt x="141895" y="375625"/>
                  </a:lnTo>
                  <a:lnTo>
                    <a:pt x="149205" y="442740"/>
                  </a:lnTo>
                  <a:lnTo>
                    <a:pt x="156553" y="510578"/>
                  </a:lnTo>
                  <a:lnTo>
                    <a:pt x="163909" y="577917"/>
                  </a:lnTo>
                  <a:lnTo>
                    <a:pt x="171243" y="643539"/>
                  </a:lnTo>
                  <a:lnTo>
                    <a:pt x="178526" y="706224"/>
                  </a:lnTo>
                  <a:lnTo>
                    <a:pt x="185727" y="764752"/>
                  </a:lnTo>
                  <a:lnTo>
                    <a:pt x="192816" y="817904"/>
                  </a:lnTo>
                  <a:lnTo>
                    <a:pt x="199764" y="864459"/>
                  </a:lnTo>
                  <a:lnTo>
                    <a:pt x="206539" y="903200"/>
                  </a:lnTo>
                  <a:lnTo>
                    <a:pt x="219456" y="952355"/>
                  </a:lnTo>
                  <a:lnTo>
                    <a:pt x="238577" y="969796"/>
                  </a:lnTo>
                  <a:lnTo>
                    <a:pt x="247796" y="960307"/>
                  </a:lnTo>
                  <a:lnTo>
                    <a:pt x="265661" y="910780"/>
                  </a:lnTo>
                  <a:lnTo>
                    <a:pt x="274351" y="873091"/>
                  </a:lnTo>
                  <a:lnTo>
                    <a:pt x="282909" y="828352"/>
                  </a:lnTo>
                  <a:lnTo>
                    <a:pt x="291356" y="777735"/>
                  </a:lnTo>
                  <a:lnTo>
                    <a:pt x="299716" y="722416"/>
                  </a:lnTo>
                  <a:lnTo>
                    <a:pt x="308009" y="663568"/>
                  </a:lnTo>
                  <a:lnTo>
                    <a:pt x="316258" y="602367"/>
                  </a:lnTo>
                  <a:lnTo>
                    <a:pt x="324485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980327" y="2989200"/>
              <a:ext cx="324485" cy="970280"/>
            </a:xfrm>
            <a:custGeom>
              <a:avLst/>
              <a:gdLst/>
              <a:ahLst/>
              <a:cxnLst/>
              <a:rect l="l" t="t" r="r" b="b"/>
              <a:pathLst>
                <a:path w="324485" h="970279">
                  <a:moveTo>
                    <a:pt x="0" y="504172"/>
                  </a:moveTo>
                  <a:lnTo>
                    <a:pt x="5983" y="438806"/>
                  </a:lnTo>
                  <a:lnTo>
                    <a:pt x="11996" y="374422"/>
                  </a:lnTo>
                  <a:lnTo>
                    <a:pt x="18067" y="312001"/>
                  </a:lnTo>
                  <a:lnTo>
                    <a:pt x="24225" y="252521"/>
                  </a:lnTo>
                  <a:lnTo>
                    <a:pt x="30500" y="196960"/>
                  </a:lnTo>
                  <a:lnTo>
                    <a:pt x="36921" y="146297"/>
                  </a:lnTo>
                  <a:lnTo>
                    <a:pt x="43516" y="101512"/>
                  </a:lnTo>
                  <a:lnTo>
                    <a:pt x="50316" y="63583"/>
                  </a:lnTo>
                  <a:lnTo>
                    <a:pt x="64643" y="12207"/>
                  </a:lnTo>
                  <a:lnTo>
                    <a:pt x="80135" y="0"/>
                  </a:lnTo>
                  <a:lnTo>
                    <a:pt x="88392" y="11031"/>
                  </a:lnTo>
                  <a:lnTo>
                    <a:pt x="100518" y="56383"/>
                  </a:lnTo>
                  <a:lnTo>
                    <a:pt x="113636" y="138771"/>
                  </a:lnTo>
                  <a:lnTo>
                    <a:pt x="120492" y="190804"/>
                  </a:lnTo>
                  <a:lnTo>
                    <a:pt x="127506" y="248437"/>
                  </a:lnTo>
                  <a:lnTo>
                    <a:pt x="134647" y="310450"/>
                  </a:lnTo>
                  <a:lnTo>
                    <a:pt x="141885" y="375625"/>
                  </a:lnTo>
                  <a:lnTo>
                    <a:pt x="149191" y="442740"/>
                  </a:lnTo>
                  <a:lnTo>
                    <a:pt x="156534" y="510578"/>
                  </a:lnTo>
                  <a:lnTo>
                    <a:pt x="163884" y="577917"/>
                  </a:lnTo>
                  <a:lnTo>
                    <a:pt x="171211" y="643539"/>
                  </a:lnTo>
                  <a:lnTo>
                    <a:pt x="178485" y="706224"/>
                  </a:lnTo>
                  <a:lnTo>
                    <a:pt x="185676" y="764752"/>
                  </a:lnTo>
                  <a:lnTo>
                    <a:pt x="192754" y="817904"/>
                  </a:lnTo>
                  <a:lnTo>
                    <a:pt x="199688" y="864459"/>
                  </a:lnTo>
                  <a:lnTo>
                    <a:pt x="206448" y="903200"/>
                  </a:lnTo>
                  <a:lnTo>
                    <a:pt x="219329" y="952355"/>
                  </a:lnTo>
                  <a:lnTo>
                    <a:pt x="238504" y="969796"/>
                  </a:lnTo>
                  <a:lnTo>
                    <a:pt x="247743" y="960307"/>
                  </a:lnTo>
                  <a:lnTo>
                    <a:pt x="265636" y="910780"/>
                  </a:lnTo>
                  <a:lnTo>
                    <a:pt x="274335" y="873091"/>
                  </a:lnTo>
                  <a:lnTo>
                    <a:pt x="282900" y="828352"/>
                  </a:lnTo>
                  <a:lnTo>
                    <a:pt x="291352" y="777735"/>
                  </a:lnTo>
                  <a:lnTo>
                    <a:pt x="299714" y="722416"/>
                  </a:lnTo>
                  <a:lnTo>
                    <a:pt x="308008" y="663568"/>
                  </a:lnTo>
                  <a:lnTo>
                    <a:pt x="316258" y="602367"/>
                  </a:lnTo>
                  <a:lnTo>
                    <a:pt x="324485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304811" y="2989200"/>
              <a:ext cx="324485" cy="970280"/>
            </a:xfrm>
            <a:custGeom>
              <a:avLst/>
              <a:gdLst/>
              <a:ahLst/>
              <a:cxnLst/>
              <a:rect l="l" t="t" r="r" b="b"/>
              <a:pathLst>
                <a:path w="324485" h="970279">
                  <a:moveTo>
                    <a:pt x="0" y="504172"/>
                  </a:moveTo>
                  <a:lnTo>
                    <a:pt x="5983" y="438806"/>
                  </a:lnTo>
                  <a:lnTo>
                    <a:pt x="11996" y="374422"/>
                  </a:lnTo>
                  <a:lnTo>
                    <a:pt x="18067" y="312001"/>
                  </a:lnTo>
                  <a:lnTo>
                    <a:pt x="24225" y="252521"/>
                  </a:lnTo>
                  <a:lnTo>
                    <a:pt x="30500" y="196960"/>
                  </a:lnTo>
                  <a:lnTo>
                    <a:pt x="36921" y="146297"/>
                  </a:lnTo>
                  <a:lnTo>
                    <a:pt x="43516" y="101512"/>
                  </a:lnTo>
                  <a:lnTo>
                    <a:pt x="50316" y="63583"/>
                  </a:lnTo>
                  <a:lnTo>
                    <a:pt x="64643" y="12207"/>
                  </a:lnTo>
                  <a:lnTo>
                    <a:pt x="80135" y="0"/>
                  </a:lnTo>
                  <a:lnTo>
                    <a:pt x="88392" y="11031"/>
                  </a:lnTo>
                  <a:lnTo>
                    <a:pt x="100514" y="56383"/>
                  </a:lnTo>
                  <a:lnTo>
                    <a:pt x="113623" y="138771"/>
                  </a:lnTo>
                  <a:lnTo>
                    <a:pt x="120473" y="190804"/>
                  </a:lnTo>
                  <a:lnTo>
                    <a:pt x="127480" y="248437"/>
                  </a:lnTo>
                  <a:lnTo>
                    <a:pt x="134614" y="310450"/>
                  </a:lnTo>
                  <a:lnTo>
                    <a:pt x="141846" y="375625"/>
                  </a:lnTo>
                  <a:lnTo>
                    <a:pt x="149146" y="442740"/>
                  </a:lnTo>
                  <a:lnTo>
                    <a:pt x="156484" y="510578"/>
                  </a:lnTo>
                  <a:lnTo>
                    <a:pt x="163831" y="577917"/>
                  </a:lnTo>
                  <a:lnTo>
                    <a:pt x="171155" y="643539"/>
                  </a:lnTo>
                  <a:lnTo>
                    <a:pt x="178429" y="706224"/>
                  </a:lnTo>
                  <a:lnTo>
                    <a:pt x="185622" y="764752"/>
                  </a:lnTo>
                  <a:lnTo>
                    <a:pt x="192704" y="817904"/>
                  </a:lnTo>
                  <a:lnTo>
                    <a:pt x="199645" y="864459"/>
                  </a:lnTo>
                  <a:lnTo>
                    <a:pt x="206416" y="903200"/>
                  </a:lnTo>
                  <a:lnTo>
                    <a:pt x="219329" y="952355"/>
                  </a:lnTo>
                  <a:lnTo>
                    <a:pt x="238504" y="969796"/>
                  </a:lnTo>
                  <a:lnTo>
                    <a:pt x="247743" y="960307"/>
                  </a:lnTo>
                  <a:lnTo>
                    <a:pt x="265636" y="910780"/>
                  </a:lnTo>
                  <a:lnTo>
                    <a:pt x="274335" y="873091"/>
                  </a:lnTo>
                  <a:lnTo>
                    <a:pt x="282900" y="828352"/>
                  </a:lnTo>
                  <a:lnTo>
                    <a:pt x="291352" y="777735"/>
                  </a:lnTo>
                  <a:lnTo>
                    <a:pt x="299714" y="722416"/>
                  </a:lnTo>
                  <a:lnTo>
                    <a:pt x="308008" y="663568"/>
                  </a:lnTo>
                  <a:lnTo>
                    <a:pt x="316258" y="602367"/>
                  </a:lnTo>
                  <a:lnTo>
                    <a:pt x="324485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80427" y="2987294"/>
              <a:ext cx="5647690" cy="0"/>
            </a:xfrm>
            <a:custGeom>
              <a:avLst/>
              <a:gdLst/>
              <a:ahLst/>
              <a:cxnLst/>
              <a:rect l="l" t="t" r="r" b="b"/>
              <a:pathLst>
                <a:path w="5647690">
                  <a:moveTo>
                    <a:pt x="0" y="0"/>
                  </a:moveTo>
                  <a:lnTo>
                    <a:pt x="5647296" y="0"/>
                  </a:lnTo>
                </a:path>
              </a:pathLst>
            </a:custGeom>
            <a:ln w="19050">
              <a:solidFill>
                <a:srgbClr val="4471C4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08901" y="3967734"/>
              <a:ext cx="5647690" cy="0"/>
            </a:xfrm>
            <a:custGeom>
              <a:avLst/>
              <a:gdLst/>
              <a:ahLst/>
              <a:cxnLst/>
              <a:rect l="l" t="t" r="r" b="b"/>
              <a:pathLst>
                <a:path w="5647690">
                  <a:moveTo>
                    <a:pt x="0" y="0"/>
                  </a:moveTo>
                  <a:lnTo>
                    <a:pt x="5647270" y="0"/>
                  </a:lnTo>
                </a:path>
              </a:pathLst>
            </a:custGeom>
            <a:ln w="19050">
              <a:solidFill>
                <a:srgbClr val="4471C4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/>
          <p:nvPr/>
        </p:nvSpPr>
        <p:spPr>
          <a:xfrm>
            <a:off x="372567" y="4422647"/>
            <a:ext cx="6974840" cy="1718945"/>
          </a:xfrm>
          <a:custGeom>
            <a:avLst/>
            <a:gdLst/>
            <a:ahLst/>
            <a:cxnLst/>
            <a:rect l="l" t="t" r="r" b="b"/>
            <a:pathLst>
              <a:path w="6974840" h="1718945">
                <a:moveTo>
                  <a:pt x="6974510" y="963041"/>
                </a:moveTo>
                <a:lnTo>
                  <a:pt x="6936410" y="943991"/>
                </a:lnTo>
                <a:lnTo>
                  <a:pt x="6860210" y="905891"/>
                </a:lnTo>
                <a:lnTo>
                  <a:pt x="6860210" y="943991"/>
                </a:lnTo>
                <a:lnTo>
                  <a:pt x="421665" y="943991"/>
                </a:lnTo>
                <a:lnTo>
                  <a:pt x="420827" y="114427"/>
                </a:lnTo>
                <a:lnTo>
                  <a:pt x="458990" y="114427"/>
                </a:lnTo>
                <a:lnTo>
                  <a:pt x="449376" y="95250"/>
                </a:lnTo>
                <a:lnTo>
                  <a:pt x="401662" y="0"/>
                </a:lnTo>
                <a:lnTo>
                  <a:pt x="344627" y="114427"/>
                </a:lnTo>
                <a:lnTo>
                  <a:pt x="382727" y="114427"/>
                </a:lnTo>
                <a:lnTo>
                  <a:pt x="383565" y="943991"/>
                </a:lnTo>
                <a:lnTo>
                  <a:pt x="0" y="943991"/>
                </a:lnTo>
                <a:lnTo>
                  <a:pt x="0" y="982091"/>
                </a:lnTo>
                <a:lnTo>
                  <a:pt x="383603" y="982091"/>
                </a:lnTo>
                <a:lnTo>
                  <a:pt x="384352" y="1718437"/>
                </a:lnTo>
                <a:lnTo>
                  <a:pt x="422452" y="1718449"/>
                </a:lnTo>
                <a:lnTo>
                  <a:pt x="421703" y="982091"/>
                </a:lnTo>
                <a:lnTo>
                  <a:pt x="6860210" y="982091"/>
                </a:lnTo>
                <a:lnTo>
                  <a:pt x="6860210" y="1020191"/>
                </a:lnTo>
                <a:lnTo>
                  <a:pt x="6936410" y="982091"/>
                </a:lnTo>
                <a:lnTo>
                  <a:pt x="6974510" y="963041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6118352" y="5401767"/>
            <a:ext cx="11398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Time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(Sec)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919988" y="4400550"/>
            <a:ext cx="10261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Amplitude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704253" y="4572000"/>
            <a:ext cx="6740486" cy="877695"/>
            <a:chOff x="704253" y="4572000"/>
            <a:chExt cx="6740486" cy="877695"/>
          </a:xfrm>
        </p:grpSpPr>
        <p:pic>
          <p:nvPicPr>
            <p:cNvPr id="42" name="object 4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7428" y="5319648"/>
              <a:ext cx="133616" cy="126872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4253" y="5316473"/>
              <a:ext cx="139966" cy="133222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08646" y="4572000"/>
              <a:ext cx="236093" cy="211709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5779642" y="4500880"/>
            <a:ext cx="16294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7E5F00"/>
                </a:solidFill>
                <a:latin typeface="Calibri"/>
                <a:cs typeface="Calibri"/>
              </a:rPr>
              <a:t>PM</a:t>
            </a:r>
            <a:r>
              <a:rPr sz="1800" b="1" spc="-30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7E5F00"/>
                </a:solidFill>
                <a:latin typeface="Calibri"/>
                <a:cs typeface="Calibri"/>
              </a:rPr>
              <a:t>Signal</a:t>
            </a:r>
            <a:r>
              <a:rPr sz="1800" b="1" spc="-55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5F00"/>
                </a:solidFill>
                <a:latin typeface="Cambria Math"/>
                <a:cs typeface="Cambria Math"/>
              </a:rPr>
              <a:t>𝐘</a:t>
            </a:r>
            <a:r>
              <a:rPr sz="1950" baseline="-14957" dirty="0">
                <a:solidFill>
                  <a:srgbClr val="7E5F00"/>
                </a:solidFill>
                <a:latin typeface="Cambria Math"/>
                <a:cs typeface="Cambria Math"/>
              </a:rPr>
              <a:t>𝐏𝐌</a:t>
            </a:r>
            <a:r>
              <a:rPr sz="1950" spc="675" baseline="-14957" dirty="0">
                <a:solidFill>
                  <a:srgbClr val="7E5F00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7E5F00"/>
                </a:solidFill>
                <a:latin typeface="Cambria Math"/>
                <a:cs typeface="Cambria Math"/>
              </a:rPr>
              <a:t>𝐭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743305" y="4869307"/>
            <a:ext cx="5695315" cy="999490"/>
            <a:chOff x="743305" y="4869307"/>
            <a:chExt cx="5695315" cy="999490"/>
          </a:xfrm>
        </p:grpSpPr>
        <p:sp>
          <p:nvSpPr>
            <p:cNvPr id="47" name="object 47"/>
            <p:cNvSpPr/>
            <p:nvPr/>
          </p:nvSpPr>
          <p:spPr>
            <a:xfrm>
              <a:off x="752830" y="4878832"/>
              <a:ext cx="5647690" cy="0"/>
            </a:xfrm>
            <a:custGeom>
              <a:avLst/>
              <a:gdLst/>
              <a:ahLst/>
              <a:cxnLst/>
              <a:rect l="l" t="t" r="r" b="b"/>
              <a:pathLst>
                <a:path w="5647690">
                  <a:moveTo>
                    <a:pt x="0" y="0"/>
                  </a:moveTo>
                  <a:lnTo>
                    <a:pt x="5647207" y="0"/>
                  </a:lnTo>
                </a:path>
              </a:pathLst>
            </a:custGeom>
            <a:ln w="19050">
              <a:solidFill>
                <a:srgbClr val="4471C4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81303" y="5859246"/>
              <a:ext cx="5647690" cy="0"/>
            </a:xfrm>
            <a:custGeom>
              <a:avLst/>
              <a:gdLst/>
              <a:ahLst/>
              <a:cxnLst/>
              <a:rect l="l" t="t" r="r" b="b"/>
              <a:pathLst>
                <a:path w="5647690">
                  <a:moveTo>
                    <a:pt x="0" y="0"/>
                  </a:moveTo>
                  <a:lnTo>
                    <a:pt x="5647309" y="0"/>
                  </a:lnTo>
                </a:path>
              </a:pathLst>
            </a:custGeom>
            <a:ln w="19050">
              <a:solidFill>
                <a:srgbClr val="4471C4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420623" y="4705350"/>
            <a:ext cx="3028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𝐕</a:t>
            </a:r>
            <a:r>
              <a:rPr sz="1950" spc="-37" baseline="-14957" dirty="0">
                <a:latin typeface="Cambria Math"/>
                <a:cs typeface="Cambria Math"/>
              </a:rPr>
              <a:t>𝐂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65175" y="5682792"/>
            <a:ext cx="4756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−𝐕</a:t>
            </a:r>
            <a:r>
              <a:rPr sz="1950" spc="-37" baseline="-14957" dirty="0">
                <a:latin typeface="Cambria Math"/>
                <a:cs typeface="Cambria Math"/>
              </a:rPr>
              <a:t>𝐂</a:t>
            </a:r>
            <a:endParaRPr sz="1950" baseline="-14957">
              <a:latin typeface="Cambria Math"/>
              <a:cs typeface="Cambria Math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812545" y="1111377"/>
            <a:ext cx="5236973" cy="4826635"/>
            <a:chOff x="812545" y="1111377"/>
            <a:chExt cx="5236973" cy="4826635"/>
          </a:xfrm>
        </p:grpSpPr>
        <p:sp>
          <p:nvSpPr>
            <p:cNvPr id="58" name="object 58"/>
            <p:cNvSpPr/>
            <p:nvPr/>
          </p:nvSpPr>
          <p:spPr>
            <a:xfrm>
              <a:off x="2104897" y="1638808"/>
              <a:ext cx="0" cy="4271010"/>
            </a:xfrm>
            <a:custGeom>
              <a:avLst/>
              <a:gdLst/>
              <a:ahLst/>
              <a:cxnLst/>
              <a:rect l="l" t="t" r="r" b="b"/>
              <a:pathLst>
                <a:path h="4271010">
                  <a:moveTo>
                    <a:pt x="0" y="0"/>
                  </a:moveTo>
                  <a:lnTo>
                    <a:pt x="0" y="4270527"/>
                  </a:lnTo>
                </a:path>
              </a:pathLst>
            </a:custGeom>
            <a:ln w="19050">
              <a:solidFill>
                <a:srgbClr val="4471C4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709541" y="1667002"/>
              <a:ext cx="0" cy="4271010"/>
            </a:xfrm>
            <a:custGeom>
              <a:avLst/>
              <a:gdLst/>
              <a:ahLst/>
              <a:cxnLst/>
              <a:rect l="l" t="t" r="r" b="b"/>
              <a:pathLst>
                <a:path h="4271010">
                  <a:moveTo>
                    <a:pt x="0" y="0"/>
                  </a:moveTo>
                  <a:lnTo>
                    <a:pt x="0" y="4270590"/>
                  </a:lnTo>
                </a:path>
              </a:pathLst>
            </a:custGeom>
            <a:ln w="19050">
              <a:solidFill>
                <a:srgbClr val="4471C4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2077211" y="2204719"/>
              <a:ext cx="1324610" cy="5715"/>
            </a:xfrm>
            <a:custGeom>
              <a:avLst/>
              <a:gdLst/>
              <a:ahLst/>
              <a:cxnLst/>
              <a:rect l="l" t="t" r="r" b="b"/>
              <a:pathLst>
                <a:path w="1324610" h="5714">
                  <a:moveTo>
                    <a:pt x="0" y="0"/>
                  </a:moveTo>
                  <a:lnTo>
                    <a:pt x="1324483" y="5588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3409696" y="1127506"/>
              <a:ext cx="1324610" cy="5715"/>
            </a:xfrm>
            <a:custGeom>
              <a:avLst/>
              <a:gdLst/>
              <a:ahLst/>
              <a:cxnLst/>
              <a:rect l="l" t="t" r="r" b="b"/>
              <a:pathLst>
                <a:path w="1324610" h="5715">
                  <a:moveTo>
                    <a:pt x="0" y="0"/>
                  </a:moveTo>
                  <a:lnTo>
                    <a:pt x="1324356" y="5461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724908" y="2219960"/>
              <a:ext cx="1324610" cy="5715"/>
            </a:xfrm>
            <a:custGeom>
              <a:avLst/>
              <a:gdLst/>
              <a:ahLst/>
              <a:cxnLst/>
              <a:rect l="l" t="t" r="r" b="b"/>
              <a:pathLst>
                <a:path w="1324610" h="5714">
                  <a:moveTo>
                    <a:pt x="0" y="0"/>
                  </a:moveTo>
                  <a:lnTo>
                    <a:pt x="1324356" y="5588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2083942" y="1111377"/>
              <a:ext cx="0" cy="1093470"/>
            </a:xfrm>
            <a:custGeom>
              <a:avLst/>
              <a:gdLst/>
              <a:ahLst/>
              <a:cxnLst/>
              <a:rect l="l" t="t" r="r" b="b"/>
              <a:pathLst>
                <a:path h="1093470">
                  <a:moveTo>
                    <a:pt x="0" y="1093343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5" name="object 65"/>
            <p:cNvSpPr/>
            <p:nvPr/>
          </p:nvSpPr>
          <p:spPr>
            <a:xfrm>
              <a:off x="3402075" y="1120394"/>
              <a:ext cx="0" cy="1093470"/>
            </a:xfrm>
            <a:custGeom>
              <a:avLst/>
              <a:gdLst/>
              <a:ahLst/>
              <a:cxnLst/>
              <a:rect l="l" t="t" r="r" b="b"/>
              <a:pathLst>
                <a:path h="1093470">
                  <a:moveTo>
                    <a:pt x="0" y="1093342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714874" y="1154176"/>
              <a:ext cx="0" cy="1093470"/>
            </a:xfrm>
            <a:custGeom>
              <a:avLst/>
              <a:gdLst/>
              <a:ahLst/>
              <a:cxnLst/>
              <a:rect l="l" t="t" r="r" b="b"/>
              <a:pathLst>
                <a:path h="1093470">
                  <a:moveTo>
                    <a:pt x="0" y="1093470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2094991" y="4846331"/>
              <a:ext cx="322580" cy="970280"/>
            </a:xfrm>
            <a:custGeom>
              <a:avLst/>
              <a:gdLst/>
              <a:ahLst/>
              <a:cxnLst/>
              <a:rect l="l" t="t" r="r" b="b"/>
              <a:pathLst>
                <a:path w="322580" h="970279">
                  <a:moveTo>
                    <a:pt x="0" y="504070"/>
                  </a:moveTo>
                  <a:lnTo>
                    <a:pt x="5942" y="438729"/>
                  </a:lnTo>
                  <a:lnTo>
                    <a:pt x="11913" y="374363"/>
                  </a:lnTo>
                  <a:lnTo>
                    <a:pt x="17943" y="311953"/>
                  </a:lnTo>
                  <a:lnTo>
                    <a:pt x="24058" y="252479"/>
                  </a:lnTo>
                  <a:lnTo>
                    <a:pt x="30289" y="196920"/>
                  </a:lnTo>
                  <a:lnTo>
                    <a:pt x="36665" y="146259"/>
                  </a:lnTo>
                  <a:lnTo>
                    <a:pt x="43213" y="101473"/>
                  </a:lnTo>
                  <a:lnTo>
                    <a:pt x="49964" y="63545"/>
                  </a:lnTo>
                  <a:lnTo>
                    <a:pt x="64186" y="12178"/>
                  </a:lnTo>
                  <a:lnTo>
                    <a:pt x="79563" y="0"/>
                  </a:lnTo>
                  <a:lnTo>
                    <a:pt x="87757" y="11056"/>
                  </a:lnTo>
                  <a:lnTo>
                    <a:pt x="99785" y="56405"/>
                  </a:lnTo>
                  <a:lnTo>
                    <a:pt x="112796" y="138784"/>
                  </a:lnTo>
                  <a:lnTo>
                    <a:pt x="119596" y="190811"/>
                  </a:lnTo>
                  <a:lnTo>
                    <a:pt x="126552" y="248438"/>
                  </a:lnTo>
                  <a:lnTo>
                    <a:pt x="133635" y="310445"/>
                  </a:lnTo>
                  <a:lnTo>
                    <a:pt x="140815" y="375612"/>
                  </a:lnTo>
                  <a:lnTo>
                    <a:pt x="148063" y="442720"/>
                  </a:lnTo>
                  <a:lnTo>
                    <a:pt x="155348" y="510550"/>
                  </a:lnTo>
                  <a:lnTo>
                    <a:pt x="162642" y="577882"/>
                  </a:lnTo>
                  <a:lnTo>
                    <a:pt x="169913" y="643497"/>
                  </a:lnTo>
                  <a:lnTo>
                    <a:pt x="177134" y="706175"/>
                  </a:lnTo>
                  <a:lnTo>
                    <a:pt x="184273" y="764698"/>
                  </a:lnTo>
                  <a:lnTo>
                    <a:pt x="191302" y="817845"/>
                  </a:lnTo>
                  <a:lnTo>
                    <a:pt x="198190" y="864397"/>
                  </a:lnTo>
                  <a:lnTo>
                    <a:pt x="204908" y="903135"/>
                  </a:lnTo>
                  <a:lnTo>
                    <a:pt x="217716" y="952291"/>
                  </a:lnTo>
                  <a:lnTo>
                    <a:pt x="236732" y="969732"/>
                  </a:lnTo>
                  <a:lnTo>
                    <a:pt x="245895" y="960239"/>
                  </a:lnTo>
                  <a:lnTo>
                    <a:pt x="263644" y="910700"/>
                  </a:lnTo>
                  <a:lnTo>
                    <a:pt x="272273" y="873004"/>
                  </a:lnTo>
                  <a:lnTo>
                    <a:pt x="280769" y="828257"/>
                  </a:lnTo>
                  <a:lnTo>
                    <a:pt x="289154" y="777634"/>
                  </a:lnTo>
                  <a:lnTo>
                    <a:pt x="297449" y="722311"/>
                  </a:lnTo>
                  <a:lnTo>
                    <a:pt x="305677" y="663461"/>
                  </a:lnTo>
                  <a:lnTo>
                    <a:pt x="313860" y="602261"/>
                  </a:lnTo>
                  <a:lnTo>
                    <a:pt x="322021" y="539884"/>
                  </a:lnTo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2417013" y="4846331"/>
              <a:ext cx="322580" cy="970280"/>
            </a:xfrm>
            <a:custGeom>
              <a:avLst/>
              <a:gdLst/>
              <a:ahLst/>
              <a:cxnLst/>
              <a:rect l="l" t="t" r="r" b="b"/>
              <a:pathLst>
                <a:path w="322580" h="970279">
                  <a:moveTo>
                    <a:pt x="0" y="504070"/>
                  </a:moveTo>
                  <a:lnTo>
                    <a:pt x="5942" y="438729"/>
                  </a:lnTo>
                  <a:lnTo>
                    <a:pt x="11913" y="374363"/>
                  </a:lnTo>
                  <a:lnTo>
                    <a:pt x="17942" y="311953"/>
                  </a:lnTo>
                  <a:lnTo>
                    <a:pt x="24058" y="252479"/>
                  </a:lnTo>
                  <a:lnTo>
                    <a:pt x="30289" y="196920"/>
                  </a:lnTo>
                  <a:lnTo>
                    <a:pt x="36664" y="146259"/>
                  </a:lnTo>
                  <a:lnTo>
                    <a:pt x="43211" y="101473"/>
                  </a:lnTo>
                  <a:lnTo>
                    <a:pt x="49961" y="63545"/>
                  </a:lnTo>
                  <a:lnTo>
                    <a:pt x="64181" y="12178"/>
                  </a:lnTo>
                  <a:lnTo>
                    <a:pt x="79553" y="0"/>
                  </a:lnTo>
                  <a:lnTo>
                    <a:pt x="87744" y="11056"/>
                  </a:lnTo>
                  <a:lnTo>
                    <a:pt x="99771" y="56405"/>
                  </a:lnTo>
                  <a:lnTo>
                    <a:pt x="112778" y="138784"/>
                  </a:lnTo>
                  <a:lnTo>
                    <a:pt x="119576" y="190811"/>
                  </a:lnTo>
                  <a:lnTo>
                    <a:pt x="126530" y="248438"/>
                  </a:lnTo>
                  <a:lnTo>
                    <a:pt x="133610" y="310445"/>
                  </a:lnTo>
                  <a:lnTo>
                    <a:pt x="140789" y="375612"/>
                  </a:lnTo>
                  <a:lnTo>
                    <a:pt x="148035" y="442720"/>
                  </a:lnTo>
                  <a:lnTo>
                    <a:pt x="155319" y="510550"/>
                  </a:lnTo>
                  <a:lnTo>
                    <a:pt x="162612" y="577882"/>
                  </a:lnTo>
                  <a:lnTo>
                    <a:pt x="169885" y="643497"/>
                  </a:lnTo>
                  <a:lnTo>
                    <a:pt x="177107" y="706175"/>
                  </a:lnTo>
                  <a:lnTo>
                    <a:pt x="184249" y="764698"/>
                  </a:lnTo>
                  <a:lnTo>
                    <a:pt x="191282" y="817845"/>
                  </a:lnTo>
                  <a:lnTo>
                    <a:pt x="198176" y="864397"/>
                  </a:lnTo>
                  <a:lnTo>
                    <a:pt x="204901" y="903135"/>
                  </a:lnTo>
                  <a:lnTo>
                    <a:pt x="217728" y="952291"/>
                  </a:lnTo>
                  <a:lnTo>
                    <a:pt x="236723" y="969732"/>
                  </a:lnTo>
                  <a:lnTo>
                    <a:pt x="245879" y="960239"/>
                  </a:lnTo>
                  <a:lnTo>
                    <a:pt x="263617" y="910700"/>
                  </a:lnTo>
                  <a:lnTo>
                    <a:pt x="272243" y="873004"/>
                  </a:lnTo>
                  <a:lnTo>
                    <a:pt x="280737" y="828257"/>
                  </a:lnTo>
                  <a:lnTo>
                    <a:pt x="289121" y="777634"/>
                  </a:lnTo>
                  <a:lnTo>
                    <a:pt x="297417" y="722311"/>
                  </a:lnTo>
                  <a:lnTo>
                    <a:pt x="305646" y="663461"/>
                  </a:lnTo>
                  <a:lnTo>
                    <a:pt x="313832" y="602261"/>
                  </a:lnTo>
                  <a:lnTo>
                    <a:pt x="321995" y="539884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2744850" y="4846331"/>
              <a:ext cx="322580" cy="970280"/>
            </a:xfrm>
            <a:custGeom>
              <a:avLst/>
              <a:gdLst/>
              <a:ahLst/>
              <a:cxnLst/>
              <a:rect l="l" t="t" r="r" b="b"/>
              <a:pathLst>
                <a:path w="322580" h="970279">
                  <a:moveTo>
                    <a:pt x="0" y="504070"/>
                  </a:moveTo>
                  <a:lnTo>
                    <a:pt x="5952" y="438729"/>
                  </a:lnTo>
                  <a:lnTo>
                    <a:pt x="11929" y="374363"/>
                  </a:lnTo>
                  <a:lnTo>
                    <a:pt x="17960" y="311953"/>
                  </a:lnTo>
                  <a:lnTo>
                    <a:pt x="24076" y="252479"/>
                  </a:lnTo>
                  <a:lnTo>
                    <a:pt x="30305" y="196920"/>
                  </a:lnTo>
                  <a:lnTo>
                    <a:pt x="36676" y="146259"/>
                  </a:lnTo>
                  <a:lnTo>
                    <a:pt x="43221" y="101473"/>
                  </a:lnTo>
                  <a:lnTo>
                    <a:pt x="49967" y="63545"/>
                  </a:lnTo>
                  <a:lnTo>
                    <a:pt x="64182" y="12178"/>
                  </a:lnTo>
                  <a:lnTo>
                    <a:pt x="79559" y="0"/>
                  </a:lnTo>
                  <a:lnTo>
                    <a:pt x="87757" y="11056"/>
                  </a:lnTo>
                  <a:lnTo>
                    <a:pt x="99795" y="56405"/>
                  </a:lnTo>
                  <a:lnTo>
                    <a:pt x="112812" y="138784"/>
                  </a:lnTo>
                  <a:lnTo>
                    <a:pt x="119613" y="190811"/>
                  </a:lnTo>
                  <a:lnTo>
                    <a:pt x="126570" y="248438"/>
                  </a:lnTo>
                  <a:lnTo>
                    <a:pt x="133653" y="310445"/>
                  </a:lnTo>
                  <a:lnTo>
                    <a:pt x="140832" y="375612"/>
                  </a:lnTo>
                  <a:lnTo>
                    <a:pt x="148078" y="442720"/>
                  </a:lnTo>
                  <a:lnTo>
                    <a:pt x="155361" y="510550"/>
                  </a:lnTo>
                  <a:lnTo>
                    <a:pt x="162651" y="577882"/>
                  </a:lnTo>
                  <a:lnTo>
                    <a:pt x="169919" y="643497"/>
                  </a:lnTo>
                  <a:lnTo>
                    <a:pt x="177135" y="706175"/>
                  </a:lnTo>
                  <a:lnTo>
                    <a:pt x="184269" y="764698"/>
                  </a:lnTo>
                  <a:lnTo>
                    <a:pt x="191292" y="817845"/>
                  </a:lnTo>
                  <a:lnTo>
                    <a:pt x="198174" y="864397"/>
                  </a:lnTo>
                  <a:lnTo>
                    <a:pt x="204885" y="903135"/>
                  </a:lnTo>
                  <a:lnTo>
                    <a:pt x="217678" y="952291"/>
                  </a:lnTo>
                  <a:lnTo>
                    <a:pt x="236726" y="969732"/>
                  </a:lnTo>
                  <a:lnTo>
                    <a:pt x="245901" y="960239"/>
                  </a:lnTo>
                  <a:lnTo>
                    <a:pt x="263668" y="910700"/>
                  </a:lnTo>
                  <a:lnTo>
                    <a:pt x="272303" y="873004"/>
                  </a:lnTo>
                  <a:lnTo>
                    <a:pt x="280804" y="828257"/>
                  </a:lnTo>
                  <a:lnTo>
                    <a:pt x="289193" y="777634"/>
                  </a:lnTo>
                  <a:lnTo>
                    <a:pt x="297491" y="722311"/>
                  </a:lnTo>
                  <a:lnTo>
                    <a:pt x="305722" y="663461"/>
                  </a:lnTo>
                  <a:lnTo>
                    <a:pt x="313908" y="602261"/>
                  </a:lnTo>
                  <a:lnTo>
                    <a:pt x="322072" y="539884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3066922" y="4874931"/>
              <a:ext cx="321945" cy="970280"/>
            </a:xfrm>
            <a:custGeom>
              <a:avLst/>
              <a:gdLst/>
              <a:ahLst/>
              <a:cxnLst/>
              <a:rect l="l" t="t" r="r" b="b"/>
              <a:pathLst>
                <a:path w="321944" h="970279">
                  <a:moveTo>
                    <a:pt x="0" y="504172"/>
                  </a:moveTo>
                  <a:lnTo>
                    <a:pt x="5927" y="438806"/>
                  </a:lnTo>
                  <a:lnTo>
                    <a:pt x="11886" y="374422"/>
                  </a:lnTo>
                  <a:lnTo>
                    <a:pt x="17907" y="312001"/>
                  </a:lnTo>
                  <a:lnTo>
                    <a:pt x="24016" y="252521"/>
                  </a:lnTo>
                  <a:lnTo>
                    <a:pt x="30242" y="196960"/>
                  </a:lnTo>
                  <a:lnTo>
                    <a:pt x="36613" y="146297"/>
                  </a:lnTo>
                  <a:lnTo>
                    <a:pt x="43157" y="101512"/>
                  </a:lnTo>
                  <a:lnTo>
                    <a:pt x="49902" y="63583"/>
                  </a:lnTo>
                  <a:lnTo>
                    <a:pt x="64109" y="12207"/>
                  </a:lnTo>
                  <a:lnTo>
                    <a:pt x="79457" y="0"/>
                  </a:lnTo>
                  <a:lnTo>
                    <a:pt x="87630" y="11031"/>
                  </a:lnTo>
                  <a:lnTo>
                    <a:pt x="99668" y="56415"/>
                  </a:lnTo>
                  <a:lnTo>
                    <a:pt x="112686" y="138821"/>
                  </a:lnTo>
                  <a:lnTo>
                    <a:pt x="119489" y="190858"/>
                  </a:lnTo>
                  <a:lnTo>
                    <a:pt x="126447" y="248493"/>
                  </a:lnTo>
                  <a:lnTo>
                    <a:pt x="133532" y="310507"/>
                  </a:lnTo>
                  <a:lnTo>
                    <a:pt x="140715" y="375679"/>
                  </a:lnTo>
                  <a:lnTo>
                    <a:pt x="147965" y="442792"/>
                  </a:lnTo>
                  <a:lnTo>
                    <a:pt x="155253" y="510625"/>
                  </a:lnTo>
                  <a:lnTo>
                    <a:pt x="162549" y="577959"/>
                  </a:lnTo>
                  <a:lnTo>
                    <a:pt x="169824" y="643575"/>
                  </a:lnTo>
                  <a:lnTo>
                    <a:pt x="177049" y="706254"/>
                  </a:lnTo>
                  <a:lnTo>
                    <a:pt x="184193" y="764776"/>
                  </a:lnTo>
                  <a:lnTo>
                    <a:pt x="191228" y="817923"/>
                  </a:lnTo>
                  <a:lnTo>
                    <a:pt x="198123" y="864475"/>
                  </a:lnTo>
                  <a:lnTo>
                    <a:pt x="204849" y="903213"/>
                  </a:lnTo>
                  <a:lnTo>
                    <a:pt x="217678" y="952368"/>
                  </a:lnTo>
                  <a:lnTo>
                    <a:pt x="236672" y="969809"/>
                  </a:lnTo>
                  <a:lnTo>
                    <a:pt x="245828" y="960316"/>
                  </a:lnTo>
                  <a:lnTo>
                    <a:pt x="263566" y="910778"/>
                  </a:lnTo>
                  <a:lnTo>
                    <a:pt x="272192" y="873083"/>
                  </a:lnTo>
                  <a:lnTo>
                    <a:pt x="280686" y="828339"/>
                  </a:lnTo>
                  <a:lnTo>
                    <a:pt x="289070" y="777719"/>
                  </a:lnTo>
                  <a:lnTo>
                    <a:pt x="297366" y="722398"/>
                  </a:lnTo>
                  <a:lnTo>
                    <a:pt x="305596" y="663553"/>
                  </a:lnTo>
                  <a:lnTo>
                    <a:pt x="313781" y="602357"/>
                  </a:lnTo>
                  <a:lnTo>
                    <a:pt x="321945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4631101" y="2983103"/>
              <a:ext cx="324485" cy="970280"/>
            </a:xfrm>
            <a:custGeom>
              <a:avLst/>
              <a:gdLst/>
              <a:ahLst/>
              <a:cxnLst/>
              <a:rect l="l" t="t" r="r" b="b"/>
              <a:pathLst>
                <a:path w="324485" h="970279">
                  <a:moveTo>
                    <a:pt x="0" y="504172"/>
                  </a:moveTo>
                  <a:lnTo>
                    <a:pt x="5983" y="438806"/>
                  </a:lnTo>
                  <a:lnTo>
                    <a:pt x="11996" y="374422"/>
                  </a:lnTo>
                  <a:lnTo>
                    <a:pt x="18067" y="312001"/>
                  </a:lnTo>
                  <a:lnTo>
                    <a:pt x="24225" y="252521"/>
                  </a:lnTo>
                  <a:lnTo>
                    <a:pt x="30500" y="196960"/>
                  </a:lnTo>
                  <a:lnTo>
                    <a:pt x="36921" y="146297"/>
                  </a:lnTo>
                  <a:lnTo>
                    <a:pt x="43516" y="101512"/>
                  </a:lnTo>
                  <a:lnTo>
                    <a:pt x="50316" y="63583"/>
                  </a:lnTo>
                  <a:lnTo>
                    <a:pt x="64643" y="12207"/>
                  </a:lnTo>
                  <a:lnTo>
                    <a:pt x="80135" y="0"/>
                  </a:lnTo>
                  <a:lnTo>
                    <a:pt x="88392" y="11031"/>
                  </a:lnTo>
                  <a:lnTo>
                    <a:pt x="100514" y="56383"/>
                  </a:lnTo>
                  <a:lnTo>
                    <a:pt x="113623" y="138771"/>
                  </a:lnTo>
                  <a:lnTo>
                    <a:pt x="120473" y="190804"/>
                  </a:lnTo>
                  <a:lnTo>
                    <a:pt x="127480" y="248437"/>
                  </a:lnTo>
                  <a:lnTo>
                    <a:pt x="134614" y="310450"/>
                  </a:lnTo>
                  <a:lnTo>
                    <a:pt x="141846" y="375625"/>
                  </a:lnTo>
                  <a:lnTo>
                    <a:pt x="149146" y="442740"/>
                  </a:lnTo>
                  <a:lnTo>
                    <a:pt x="156484" y="510578"/>
                  </a:lnTo>
                  <a:lnTo>
                    <a:pt x="163831" y="577917"/>
                  </a:lnTo>
                  <a:lnTo>
                    <a:pt x="171155" y="643539"/>
                  </a:lnTo>
                  <a:lnTo>
                    <a:pt x="178429" y="706224"/>
                  </a:lnTo>
                  <a:lnTo>
                    <a:pt x="185622" y="764752"/>
                  </a:lnTo>
                  <a:lnTo>
                    <a:pt x="192704" y="817904"/>
                  </a:lnTo>
                  <a:lnTo>
                    <a:pt x="199645" y="864459"/>
                  </a:lnTo>
                  <a:lnTo>
                    <a:pt x="206416" y="903200"/>
                  </a:lnTo>
                  <a:lnTo>
                    <a:pt x="219329" y="952355"/>
                  </a:lnTo>
                  <a:lnTo>
                    <a:pt x="238494" y="969796"/>
                  </a:lnTo>
                  <a:lnTo>
                    <a:pt x="247723" y="960307"/>
                  </a:lnTo>
                  <a:lnTo>
                    <a:pt x="265588" y="910780"/>
                  </a:lnTo>
                  <a:lnTo>
                    <a:pt x="274272" y="873091"/>
                  </a:lnTo>
                  <a:lnTo>
                    <a:pt x="282820" y="828352"/>
                  </a:lnTo>
                  <a:lnTo>
                    <a:pt x="291258" y="777735"/>
                  </a:lnTo>
                  <a:lnTo>
                    <a:pt x="299606" y="722416"/>
                  </a:lnTo>
                  <a:lnTo>
                    <a:pt x="307890" y="663568"/>
                  </a:lnTo>
                  <a:lnTo>
                    <a:pt x="316133" y="602367"/>
                  </a:lnTo>
                  <a:lnTo>
                    <a:pt x="324358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2" name="object 72"/>
            <p:cNvSpPr/>
            <p:nvPr/>
          </p:nvSpPr>
          <p:spPr>
            <a:xfrm>
              <a:off x="4955458" y="2983103"/>
              <a:ext cx="324485" cy="970280"/>
            </a:xfrm>
            <a:custGeom>
              <a:avLst/>
              <a:gdLst/>
              <a:ahLst/>
              <a:cxnLst/>
              <a:rect l="l" t="t" r="r" b="b"/>
              <a:pathLst>
                <a:path w="324485" h="970279">
                  <a:moveTo>
                    <a:pt x="0" y="504172"/>
                  </a:moveTo>
                  <a:lnTo>
                    <a:pt x="5985" y="438806"/>
                  </a:lnTo>
                  <a:lnTo>
                    <a:pt x="12004" y="374422"/>
                  </a:lnTo>
                  <a:lnTo>
                    <a:pt x="18083" y="312001"/>
                  </a:lnTo>
                  <a:lnTo>
                    <a:pt x="24250" y="252521"/>
                  </a:lnTo>
                  <a:lnTo>
                    <a:pt x="30535" y="196960"/>
                  </a:lnTo>
                  <a:lnTo>
                    <a:pt x="36965" y="146297"/>
                  </a:lnTo>
                  <a:lnTo>
                    <a:pt x="43567" y="101512"/>
                  </a:lnTo>
                  <a:lnTo>
                    <a:pt x="50371" y="63583"/>
                  </a:lnTo>
                  <a:lnTo>
                    <a:pt x="64695" y="12207"/>
                  </a:lnTo>
                  <a:lnTo>
                    <a:pt x="80160" y="0"/>
                  </a:lnTo>
                  <a:lnTo>
                    <a:pt x="88392" y="11031"/>
                  </a:lnTo>
                  <a:lnTo>
                    <a:pt x="100518" y="56383"/>
                  </a:lnTo>
                  <a:lnTo>
                    <a:pt x="113638" y="138771"/>
                  </a:lnTo>
                  <a:lnTo>
                    <a:pt x="120495" y="190804"/>
                  </a:lnTo>
                  <a:lnTo>
                    <a:pt x="127510" y="248437"/>
                  </a:lnTo>
                  <a:lnTo>
                    <a:pt x="134653" y="310450"/>
                  </a:lnTo>
                  <a:lnTo>
                    <a:pt x="141895" y="375625"/>
                  </a:lnTo>
                  <a:lnTo>
                    <a:pt x="149205" y="442740"/>
                  </a:lnTo>
                  <a:lnTo>
                    <a:pt x="156553" y="510578"/>
                  </a:lnTo>
                  <a:lnTo>
                    <a:pt x="163909" y="577917"/>
                  </a:lnTo>
                  <a:lnTo>
                    <a:pt x="171243" y="643539"/>
                  </a:lnTo>
                  <a:lnTo>
                    <a:pt x="178526" y="706224"/>
                  </a:lnTo>
                  <a:lnTo>
                    <a:pt x="185727" y="764752"/>
                  </a:lnTo>
                  <a:lnTo>
                    <a:pt x="192816" y="817904"/>
                  </a:lnTo>
                  <a:lnTo>
                    <a:pt x="199764" y="864459"/>
                  </a:lnTo>
                  <a:lnTo>
                    <a:pt x="206539" y="903200"/>
                  </a:lnTo>
                  <a:lnTo>
                    <a:pt x="219456" y="952355"/>
                  </a:lnTo>
                  <a:lnTo>
                    <a:pt x="238577" y="969796"/>
                  </a:lnTo>
                  <a:lnTo>
                    <a:pt x="247796" y="960307"/>
                  </a:lnTo>
                  <a:lnTo>
                    <a:pt x="265661" y="910780"/>
                  </a:lnTo>
                  <a:lnTo>
                    <a:pt x="274351" y="873091"/>
                  </a:lnTo>
                  <a:lnTo>
                    <a:pt x="282909" y="828352"/>
                  </a:lnTo>
                  <a:lnTo>
                    <a:pt x="291356" y="777735"/>
                  </a:lnTo>
                  <a:lnTo>
                    <a:pt x="299716" y="722416"/>
                  </a:lnTo>
                  <a:lnTo>
                    <a:pt x="308009" y="663568"/>
                  </a:lnTo>
                  <a:lnTo>
                    <a:pt x="316258" y="602367"/>
                  </a:lnTo>
                  <a:lnTo>
                    <a:pt x="324485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5285785" y="2983103"/>
              <a:ext cx="324485" cy="970280"/>
            </a:xfrm>
            <a:custGeom>
              <a:avLst/>
              <a:gdLst/>
              <a:ahLst/>
              <a:cxnLst/>
              <a:rect l="l" t="t" r="r" b="b"/>
              <a:pathLst>
                <a:path w="324485" h="970279">
                  <a:moveTo>
                    <a:pt x="0" y="504172"/>
                  </a:moveTo>
                  <a:lnTo>
                    <a:pt x="5985" y="438806"/>
                  </a:lnTo>
                  <a:lnTo>
                    <a:pt x="12004" y="374422"/>
                  </a:lnTo>
                  <a:lnTo>
                    <a:pt x="18083" y="312001"/>
                  </a:lnTo>
                  <a:lnTo>
                    <a:pt x="24250" y="252521"/>
                  </a:lnTo>
                  <a:lnTo>
                    <a:pt x="30535" y="196960"/>
                  </a:lnTo>
                  <a:lnTo>
                    <a:pt x="36965" y="146297"/>
                  </a:lnTo>
                  <a:lnTo>
                    <a:pt x="43567" y="101512"/>
                  </a:lnTo>
                  <a:lnTo>
                    <a:pt x="50371" y="63583"/>
                  </a:lnTo>
                  <a:lnTo>
                    <a:pt x="64695" y="12207"/>
                  </a:lnTo>
                  <a:lnTo>
                    <a:pt x="80160" y="0"/>
                  </a:lnTo>
                  <a:lnTo>
                    <a:pt x="88392" y="11031"/>
                  </a:lnTo>
                  <a:lnTo>
                    <a:pt x="100518" y="56383"/>
                  </a:lnTo>
                  <a:lnTo>
                    <a:pt x="113638" y="138771"/>
                  </a:lnTo>
                  <a:lnTo>
                    <a:pt x="120495" y="190804"/>
                  </a:lnTo>
                  <a:lnTo>
                    <a:pt x="127510" y="248437"/>
                  </a:lnTo>
                  <a:lnTo>
                    <a:pt x="134653" y="310450"/>
                  </a:lnTo>
                  <a:lnTo>
                    <a:pt x="141895" y="375625"/>
                  </a:lnTo>
                  <a:lnTo>
                    <a:pt x="149205" y="442740"/>
                  </a:lnTo>
                  <a:lnTo>
                    <a:pt x="156553" y="510578"/>
                  </a:lnTo>
                  <a:lnTo>
                    <a:pt x="163909" y="577917"/>
                  </a:lnTo>
                  <a:lnTo>
                    <a:pt x="171243" y="643539"/>
                  </a:lnTo>
                  <a:lnTo>
                    <a:pt x="178526" y="706224"/>
                  </a:lnTo>
                  <a:lnTo>
                    <a:pt x="185727" y="764752"/>
                  </a:lnTo>
                  <a:lnTo>
                    <a:pt x="192816" y="817904"/>
                  </a:lnTo>
                  <a:lnTo>
                    <a:pt x="199764" y="864459"/>
                  </a:lnTo>
                  <a:lnTo>
                    <a:pt x="206539" y="903200"/>
                  </a:lnTo>
                  <a:lnTo>
                    <a:pt x="219456" y="952355"/>
                  </a:lnTo>
                  <a:lnTo>
                    <a:pt x="238577" y="969796"/>
                  </a:lnTo>
                  <a:lnTo>
                    <a:pt x="247796" y="960307"/>
                  </a:lnTo>
                  <a:lnTo>
                    <a:pt x="265661" y="910780"/>
                  </a:lnTo>
                  <a:lnTo>
                    <a:pt x="274351" y="873091"/>
                  </a:lnTo>
                  <a:lnTo>
                    <a:pt x="282909" y="828352"/>
                  </a:lnTo>
                  <a:lnTo>
                    <a:pt x="291356" y="777735"/>
                  </a:lnTo>
                  <a:lnTo>
                    <a:pt x="299716" y="722416"/>
                  </a:lnTo>
                  <a:lnTo>
                    <a:pt x="308009" y="663568"/>
                  </a:lnTo>
                  <a:lnTo>
                    <a:pt x="316258" y="602367"/>
                  </a:lnTo>
                  <a:lnTo>
                    <a:pt x="324485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5610270" y="2983103"/>
              <a:ext cx="324485" cy="970280"/>
            </a:xfrm>
            <a:custGeom>
              <a:avLst/>
              <a:gdLst/>
              <a:ahLst/>
              <a:cxnLst/>
              <a:rect l="l" t="t" r="r" b="b"/>
              <a:pathLst>
                <a:path w="324485" h="970279">
                  <a:moveTo>
                    <a:pt x="0" y="504172"/>
                  </a:moveTo>
                  <a:lnTo>
                    <a:pt x="5983" y="438806"/>
                  </a:lnTo>
                  <a:lnTo>
                    <a:pt x="11996" y="374422"/>
                  </a:lnTo>
                  <a:lnTo>
                    <a:pt x="18067" y="312001"/>
                  </a:lnTo>
                  <a:lnTo>
                    <a:pt x="24225" y="252521"/>
                  </a:lnTo>
                  <a:lnTo>
                    <a:pt x="30500" y="196960"/>
                  </a:lnTo>
                  <a:lnTo>
                    <a:pt x="36921" y="146297"/>
                  </a:lnTo>
                  <a:lnTo>
                    <a:pt x="43516" y="101512"/>
                  </a:lnTo>
                  <a:lnTo>
                    <a:pt x="50316" y="63583"/>
                  </a:lnTo>
                  <a:lnTo>
                    <a:pt x="64643" y="12207"/>
                  </a:lnTo>
                  <a:lnTo>
                    <a:pt x="80135" y="0"/>
                  </a:lnTo>
                  <a:lnTo>
                    <a:pt x="88392" y="11031"/>
                  </a:lnTo>
                  <a:lnTo>
                    <a:pt x="100518" y="56383"/>
                  </a:lnTo>
                  <a:lnTo>
                    <a:pt x="113636" y="138771"/>
                  </a:lnTo>
                  <a:lnTo>
                    <a:pt x="120492" y="190804"/>
                  </a:lnTo>
                  <a:lnTo>
                    <a:pt x="127506" y="248437"/>
                  </a:lnTo>
                  <a:lnTo>
                    <a:pt x="134647" y="310450"/>
                  </a:lnTo>
                  <a:lnTo>
                    <a:pt x="141885" y="375625"/>
                  </a:lnTo>
                  <a:lnTo>
                    <a:pt x="149191" y="442740"/>
                  </a:lnTo>
                  <a:lnTo>
                    <a:pt x="156534" y="510578"/>
                  </a:lnTo>
                  <a:lnTo>
                    <a:pt x="163884" y="577917"/>
                  </a:lnTo>
                  <a:lnTo>
                    <a:pt x="171211" y="643539"/>
                  </a:lnTo>
                  <a:lnTo>
                    <a:pt x="178485" y="706224"/>
                  </a:lnTo>
                  <a:lnTo>
                    <a:pt x="185676" y="764752"/>
                  </a:lnTo>
                  <a:lnTo>
                    <a:pt x="192754" y="817904"/>
                  </a:lnTo>
                  <a:lnTo>
                    <a:pt x="199688" y="864459"/>
                  </a:lnTo>
                  <a:lnTo>
                    <a:pt x="206448" y="903200"/>
                  </a:lnTo>
                  <a:lnTo>
                    <a:pt x="219329" y="952355"/>
                  </a:lnTo>
                  <a:lnTo>
                    <a:pt x="238504" y="969796"/>
                  </a:lnTo>
                  <a:lnTo>
                    <a:pt x="247743" y="960307"/>
                  </a:lnTo>
                  <a:lnTo>
                    <a:pt x="265636" y="910780"/>
                  </a:lnTo>
                  <a:lnTo>
                    <a:pt x="274335" y="873091"/>
                  </a:lnTo>
                  <a:lnTo>
                    <a:pt x="282900" y="828352"/>
                  </a:lnTo>
                  <a:lnTo>
                    <a:pt x="291352" y="777735"/>
                  </a:lnTo>
                  <a:lnTo>
                    <a:pt x="299714" y="722416"/>
                  </a:lnTo>
                  <a:lnTo>
                    <a:pt x="308008" y="663568"/>
                  </a:lnTo>
                  <a:lnTo>
                    <a:pt x="316258" y="602367"/>
                  </a:lnTo>
                  <a:lnTo>
                    <a:pt x="324485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812545" y="4892040"/>
              <a:ext cx="307975" cy="952500"/>
            </a:xfrm>
            <a:custGeom>
              <a:avLst/>
              <a:gdLst/>
              <a:ahLst/>
              <a:cxnLst/>
              <a:rect l="l" t="t" r="r" b="b"/>
              <a:pathLst>
                <a:path w="307975" h="952500">
                  <a:moveTo>
                    <a:pt x="0" y="457278"/>
                  </a:moveTo>
                  <a:lnTo>
                    <a:pt x="5690" y="521425"/>
                  </a:lnTo>
                  <a:lnTo>
                    <a:pt x="11407" y="584612"/>
                  </a:lnTo>
                  <a:lnTo>
                    <a:pt x="17180" y="645878"/>
                  </a:lnTo>
                  <a:lnTo>
                    <a:pt x="23035" y="704260"/>
                  </a:lnTo>
                  <a:lnTo>
                    <a:pt x="28999" y="758797"/>
                  </a:lnTo>
                  <a:lnTo>
                    <a:pt x="35100" y="808528"/>
                  </a:lnTo>
                  <a:lnTo>
                    <a:pt x="41366" y="852492"/>
                  </a:lnTo>
                  <a:lnTo>
                    <a:pt x="54500" y="919268"/>
                  </a:lnTo>
                  <a:lnTo>
                    <a:pt x="76119" y="952136"/>
                  </a:lnTo>
                  <a:lnTo>
                    <a:pt x="83947" y="941300"/>
                  </a:lnTo>
                  <a:lnTo>
                    <a:pt x="95440" y="896769"/>
                  </a:lnTo>
                  <a:lnTo>
                    <a:pt x="107872" y="815883"/>
                  </a:lnTo>
                  <a:lnTo>
                    <a:pt x="114369" y="764799"/>
                  </a:lnTo>
                  <a:lnTo>
                    <a:pt x="121016" y="708218"/>
                  </a:lnTo>
                  <a:lnTo>
                    <a:pt x="127784" y="647336"/>
                  </a:lnTo>
                  <a:lnTo>
                    <a:pt x="134645" y="583351"/>
                  </a:lnTo>
                  <a:lnTo>
                    <a:pt x="141571" y="517461"/>
                  </a:lnTo>
                  <a:lnTo>
                    <a:pt x="148533" y="450861"/>
                  </a:lnTo>
                  <a:lnTo>
                    <a:pt x="155503" y="384750"/>
                  </a:lnTo>
                  <a:lnTo>
                    <a:pt x="162453" y="320324"/>
                  </a:lnTo>
                  <a:lnTo>
                    <a:pt x="169354" y="258781"/>
                  </a:lnTo>
                  <a:lnTo>
                    <a:pt x="176178" y="201317"/>
                  </a:lnTo>
                  <a:lnTo>
                    <a:pt x="182897" y="149131"/>
                  </a:lnTo>
                  <a:lnTo>
                    <a:pt x="189482" y="103418"/>
                  </a:lnTo>
                  <a:lnTo>
                    <a:pt x="195905" y="65377"/>
                  </a:lnTo>
                  <a:lnTo>
                    <a:pt x="208153" y="17096"/>
                  </a:lnTo>
                  <a:lnTo>
                    <a:pt x="226341" y="0"/>
                  </a:lnTo>
                  <a:lnTo>
                    <a:pt x="235106" y="9331"/>
                  </a:lnTo>
                  <a:lnTo>
                    <a:pt x="252082" y="57982"/>
                  </a:lnTo>
                  <a:lnTo>
                    <a:pt x="268456" y="138925"/>
                  </a:lnTo>
                  <a:lnTo>
                    <a:pt x="276469" y="188621"/>
                  </a:lnTo>
                  <a:lnTo>
                    <a:pt x="284394" y="242927"/>
                  </a:lnTo>
                  <a:lnTo>
                    <a:pt x="292252" y="300691"/>
                  </a:lnTo>
                  <a:lnTo>
                    <a:pt x="300063" y="360757"/>
                  </a:lnTo>
                  <a:lnTo>
                    <a:pt x="307848" y="421972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1128141" y="4876800"/>
              <a:ext cx="307975" cy="952500"/>
            </a:xfrm>
            <a:custGeom>
              <a:avLst/>
              <a:gdLst/>
              <a:ahLst/>
              <a:cxnLst/>
              <a:rect l="l" t="t" r="r" b="b"/>
              <a:pathLst>
                <a:path w="307975" h="952500">
                  <a:moveTo>
                    <a:pt x="0" y="457278"/>
                  </a:moveTo>
                  <a:lnTo>
                    <a:pt x="5688" y="521423"/>
                  </a:lnTo>
                  <a:lnTo>
                    <a:pt x="11400" y="584608"/>
                  </a:lnTo>
                  <a:lnTo>
                    <a:pt x="17164" y="645872"/>
                  </a:lnTo>
                  <a:lnTo>
                    <a:pt x="23010" y="704254"/>
                  </a:lnTo>
                  <a:lnTo>
                    <a:pt x="28964" y="758792"/>
                  </a:lnTo>
                  <a:lnTo>
                    <a:pt x="35056" y="808523"/>
                  </a:lnTo>
                  <a:lnTo>
                    <a:pt x="41315" y="852487"/>
                  </a:lnTo>
                  <a:lnTo>
                    <a:pt x="54444" y="919266"/>
                  </a:lnTo>
                  <a:lnTo>
                    <a:pt x="76094" y="952136"/>
                  </a:lnTo>
                  <a:lnTo>
                    <a:pt x="83947" y="941300"/>
                  </a:lnTo>
                  <a:lnTo>
                    <a:pt x="95440" y="896769"/>
                  </a:lnTo>
                  <a:lnTo>
                    <a:pt x="107872" y="815883"/>
                  </a:lnTo>
                  <a:lnTo>
                    <a:pt x="114369" y="764799"/>
                  </a:lnTo>
                  <a:lnTo>
                    <a:pt x="121016" y="708218"/>
                  </a:lnTo>
                  <a:lnTo>
                    <a:pt x="127784" y="647336"/>
                  </a:lnTo>
                  <a:lnTo>
                    <a:pt x="134645" y="583351"/>
                  </a:lnTo>
                  <a:lnTo>
                    <a:pt x="141571" y="517461"/>
                  </a:lnTo>
                  <a:lnTo>
                    <a:pt x="148533" y="450861"/>
                  </a:lnTo>
                  <a:lnTo>
                    <a:pt x="155503" y="384750"/>
                  </a:lnTo>
                  <a:lnTo>
                    <a:pt x="162453" y="320324"/>
                  </a:lnTo>
                  <a:lnTo>
                    <a:pt x="169354" y="258781"/>
                  </a:lnTo>
                  <a:lnTo>
                    <a:pt x="176178" y="201317"/>
                  </a:lnTo>
                  <a:lnTo>
                    <a:pt x="182897" y="149131"/>
                  </a:lnTo>
                  <a:lnTo>
                    <a:pt x="189482" y="103418"/>
                  </a:lnTo>
                  <a:lnTo>
                    <a:pt x="195905" y="65377"/>
                  </a:lnTo>
                  <a:lnTo>
                    <a:pt x="208153" y="17096"/>
                  </a:lnTo>
                  <a:lnTo>
                    <a:pt x="226341" y="0"/>
                  </a:lnTo>
                  <a:lnTo>
                    <a:pt x="235106" y="9331"/>
                  </a:lnTo>
                  <a:lnTo>
                    <a:pt x="252082" y="57982"/>
                  </a:lnTo>
                  <a:lnTo>
                    <a:pt x="268456" y="138925"/>
                  </a:lnTo>
                  <a:lnTo>
                    <a:pt x="276469" y="188621"/>
                  </a:lnTo>
                  <a:lnTo>
                    <a:pt x="284394" y="242927"/>
                  </a:lnTo>
                  <a:lnTo>
                    <a:pt x="292252" y="300691"/>
                  </a:lnTo>
                  <a:lnTo>
                    <a:pt x="300063" y="360757"/>
                  </a:lnTo>
                  <a:lnTo>
                    <a:pt x="307848" y="421972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7" name="object 77"/>
            <p:cNvSpPr/>
            <p:nvPr/>
          </p:nvSpPr>
          <p:spPr>
            <a:xfrm>
              <a:off x="1441576" y="4892040"/>
              <a:ext cx="307975" cy="952500"/>
            </a:xfrm>
            <a:custGeom>
              <a:avLst/>
              <a:gdLst/>
              <a:ahLst/>
              <a:cxnLst/>
              <a:rect l="l" t="t" r="r" b="b"/>
              <a:pathLst>
                <a:path w="307975" h="952500">
                  <a:moveTo>
                    <a:pt x="0" y="457278"/>
                  </a:moveTo>
                  <a:lnTo>
                    <a:pt x="5688" y="521423"/>
                  </a:lnTo>
                  <a:lnTo>
                    <a:pt x="11400" y="584608"/>
                  </a:lnTo>
                  <a:lnTo>
                    <a:pt x="17164" y="645872"/>
                  </a:lnTo>
                  <a:lnTo>
                    <a:pt x="23010" y="704254"/>
                  </a:lnTo>
                  <a:lnTo>
                    <a:pt x="28964" y="758792"/>
                  </a:lnTo>
                  <a:lnTo>
                    <a:pt x="35056" y="808523"/>
                  </a:lnTo>
                  <a:lnTo>
                    <a:pt x="41315" y="852487"/>
                  </a:lnTo>
                  <a:lnTo>
                    <a:pt x="54444" y="919266"/>
                  </a:lnTo>
                  <a:lnTo>
                    <a:pt x="76094" y="952136"/>
                  </a:lnTo>
                  <a:lnTo>
                    <a:pt x="83947" y="941300"/>
                  </a:lnTo>
                  <a:lnTo>
                    <a:pt x="95440" y="896769"/>
                  </a:lnTo>
                  <a:lnTo>
                    <a:pt x="107872" y="815883"/>
                  </a:lnTo>
                  <a:lnTo>
                    <a:pt x="114369" y="764799"/>
                  </a:lnTo>
                  <a:lnTo>
                    <a:pt x="121016" y="708218"/>
                  </a:lnTo>
                  <a:lnTo>
                    <a:pt x="127784" y="647336"/>
                  </a:lnTo>
                  <a:lnTo>
                    <a:pt x="134645" y="583351"/>
                  </a:lnTo>
                  <a:lnTo>
                    <a:pt x="141571" y="517461"/>
                  </a:lnTo>
                  <a:lnTo>
                    <a:pt x="148533" y="450861"/>
                  </a:lnTo>
                  <a:lnTo>
                    <a:pt x="155503" y="384750"/>
                  </a:lnTo>
                  <a:lnTo>
                    <a:pt x="162453" y="320324"/>
                  </a:lnTo>
                  <a:lnTo>
                    <a:pt x="169354" y="258781"/>
                  </a:lnTo>
                  <a:lnTo>
                    <a:pt x="176178" y="201317"/>
                  </a:lnTo>
                  <a:lnTo>
                    <a:pt x="182897" y="149131"/>
                  </a:lnTo>
                  <a:lnTo>
                    <a:pt x="189482" y="103418"/>
                  </a:lnTo>
                  <a:lnTo>
                    <a:pt x="195905" y="65377"/>
                  </a:lnTo>
                  <a:lnTo>
                    <a:pt x="208153" y="17096"/>
                  </a:lnTo>
                  <a:lnTo>
                    <a:pt x="226341" y="0"/>
                  </a:lnTo>
                  <a:lnTo>
                    <a:pt x="235106" y="9331"/>
                  </a:lnTo>
                  <a:lnTo>
                    <a:pt x="252082" y="57982"/>
                  </a:lnTo>
                  <a:lnTo>
                    <a:pt x="268456" y="138925"/>
                  </a:lnTo>
                  <a:lnTo>
                    <a:pt x="276469" y="188621"/>
                  </a:lnTo>
                  <a:lnTo>
                    <a:pt x="284394" y="242927"/>
                  </a:lnTo>
                  <a:lnTo>
                    <a:pt x="292252" y="300691"/>
                  </a:lnTo>
                  <a:lnTo>
                    <a:pt x="300063" y="360757"/>
                  </a:lnTo>
                  <a:lnTo>
                    <a:pt x="307848" y="421972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1749425" y="4886781"/>
              <a:ext cx="336550" cy="952500"/>
            </a:xfrm>
            <a:custGeom>
              <a:avLst/>
              <a:gdLst/>
              <a:ahLst/>
              <a:cxnLst/>
              <a:rect l="l" t="t" r="r" b="b"/>
              <a:pathLst>
                <a:path w="307975" h="952500">
                  <a:moveTo>
                    <a:pt x="0" y="457204"/>
                  </a:moveTo>
                  <a:lnTo>
                    <a:pt x="5690" y="521357"/>
                  </a:lnTo>
                  <a:lnTo>
                    <a:pt x="11407" y="584549"/>
                  </a:lnTo>
                  <a:lnTo>
                    <a:pt x="17180" y="645819"/>
                  </a:lnTo>
                  <a:lnTo>
                    <a:pt x="23035" y="704206"/>
                  </a:lnTo>
                  <a:lnTo>
                    <a:pt x="28999" y="758747"/>
                  </a:lnTo>
                  <a:lnTo>
                    <a:pt x="35100" y="808481"/>
                  </a:lnTo>
                  <a:lnTo>
                    <a:pt x="41366" y="852448"/>
                  </a:lnTo>
                  <a:lnTo>
                    <a:pt x="54500" y="919229"/>
                  </a:lnTo>
                  <a:lnTo>
                    <a:pt x="76119" y="952100"/>
                  </a:lnTo>
                  <a:lnTo>
                    <a:pt x="83947" y="941264"/>
                  </a:lnTo>
                  <a:lnTo>
                    <a:pt x="95440" y="896732"/>
                  </a:lnTo>
                  <a:lnTo>
                    <a:pt x="107872" y="815843"/>
                  </a:lnTo>
                  <a:lnTo>
                    <a:pt x="114369" y="764759"/>
                  </a:lnTo>
                  <a:lnTo>
                    <a:pt x="121016" y="708177"/>
                  </a:lnTo>
                  <a:lnTo>
                    <a:pt x="127784" y="647295"/>
                  </a:lnTo>
                  <a:lnTo>
                    <a:pt x="134645" y="583310"/>
                  </a:lnTo>
                  <a:lnTo>
                    <a:pt x="141571" y="517421"/>
                  </a:lnTo>
                  <a:lnTo>
                    <a:pt x="148533" y="450823"/>
                  </a:lnTo>
                  <a:lnTo>
                    <a:pt x="155503" y="384715"/>
                  </a:lnTo>
                  <a:lnTo>
                    <a:pt x="162453" y="320294"/>
                  </a:lnTo>
                  <a:lnTo>
                    <a:pt x="169354" y="258756"/>
                  </a:lnTo>
                  <a:lnTo>
                    <a:pt x="176178" y="201301"/>
                  </a:lnTo>
                  <a:lnTo>
                    <a:pt x="182897" y="149123"/>
                  </a:lnTo>
                  <a:lnTo>
                    <a:pt x="189482" y="103422"/>
                  </a:lnTo>
                  <a:lnTo>
                    <a:pt x="195905" y="65395"/>
                  </a:lnTo>
                  <a:lnTo>
                    <a:pt x="208153" y="17149"/>
                  </a:lnTo>
                  <a:lnTo>
                    <a:pt x="226341" y="0"/>
                  </a:lnTo>
                  <a:lnTo>
                    <a:pt x="235106" y="9312"/>
                  </a:lnTo>
                  <a:lnTo>
                    <a:pt x="252082" y="57943"/>
                  </a:lnTo>
                  <a:lnTo>
                    <a:pt x="268456" y="138886"/>
                  </a:lnTo>
                  <a:lnTo>
                    <a:pt x="276469" y="188589"/>
                  </a:lnTo>
                  <a:lnTo>
                    <a:pt x="284394" y="242909"/>
                  </a:lnTo>
                  <a:lnTo>
                    <a:pt x="292252" y="300691"/>
                  </a:lnTo>
                  <a:lnTo>
                    <a:pt x="300063" y="360781"/>
                  </a:lnTo>
                  <a:lnTo>
                    <a:pt x="307848" y="422025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4724400" y="4879865"/>
              <a:ext cx="322580" cy="970280"/>
            </a:xfrm>
            <a:custGeom>
              <a:avLst/>
              <a:gdLst/>
              <a:ahLst/>
              <a:cxnLst/>
              <a:rect l="l" t="t" r="r" b="b"/>
              <a:pathLst>
                <a:path w="322579" h="970279">
                  <a:moveTo>
                    <a:pt x="0" y="504172"/>
                  </a:moveTo>
                  <a:lnTo>
                    <a:pt x="5952" y="438806"/>
                  </a:lnTo>
                  <a:lnTo>
                    <a:pt x="11929" y="374422"/>
                  </a:lnTo>
                  <a:lnTo>
                    <a:pt x="17960" y="312001"/>
                  </a:lnTo>
                  <a:lnTo>
                    <a:pt x="24076" y="252521"/>
                  </a:lnTo>
                  <a:lnTo>
                    <a:pt x="30305" y="196960"/>
                  </a:lnTo>
                  <a:lnTo>
                    <a:pt x="36676" y="146297"/>
                  </a:lnTo>
                  <a:lnTo>
                    <a:pt x="43221" y="101512"/>
                  </a:lnTo>
                  <a:lnTo>
                    <a:pt x="49967" y="63583"/>
                  </a:lnTo>
                  <a:lnTo>
                    <a:pt x="64182" y="12207"/>
                  </a:lnTo>
                  <a:lnTo>
                    <a:pt x="79559" y="0"/>
                  </a:lnTo>
                  <a:lnTo>
                    <a:pt x="87757" y="11031"/>
                  </a:lnTo>
                  <a:lnTo>
                    <a:pt x="99795" y="56415"/>
                  </a:lnTo>
                  <a:lnTo>
                    <a:pt x="112813" y="138821"/>
                  </a:lnTo>
                  <a:lnTo>
                    <a:pt x="119616" y="190858"/>
                  </a:lnTo>
                  <a:lnTo>
                    <a:pt x="126574" y="248493"/>
                  </a:lnTo>
                  <a:lnTo>
                    <a:pt x="133659" y="310507"/>
                  </a:lnTo>
                  <a:lnTo>
                    <a:pt x="140842" y="375679"/>
                  </a:lnTo>
                  <a:lnTo>
                    <a:pt x="148092" y="442792"/>
                  </a:lnTo>
                  <a:lnTo>
                    <a:pt x="155380" y="510625"/>
                  </a:lnTo>
                  <a:lnTo>
                    <a:pt x="162676" y="577959"/>
                  </a:lnTo>
                  <a:lnTo>
                    <a:pt x="169951" y="643575"/>
                  </a:lnTo>
                  <a:lnTo>
                    <a:pt x="177176" y="706254"/>
                  </a:lnTo>
                  <a:lnTo>
                    <a:pt x="184320" y="764776"/>
                  </a:lnTo>
                  <a:lnTo>
                    <a:pt x="191355" y="817923"/>
                  </a:lnTo>
                  <a:lnTo>
                    <a:pt x="198250" y="864475"/>
                  </a:lnTo>
                  <a:lnTo>
                    <a:pt x="204976" y="903213"/>
                  </a:lnTo>
                  <a:lnTo>
                    <a:pt x="217804" y="952368"/>
                  </a:lnTo>
                  <a:lnTo>
                    <a:pt x="236799" y="969809"/>
                  </a:lnTo>
                  <a:lnTo>
                    <a:pt x="245955" y="960316"/>
                  </a:lnTo>
                  <a:lnTo>
                    <a:pt x="263693" y="910778"/>
                  </a:lnTo>
                  <a:lnTo>
                    <a:pt x="272319" y="873083"/>
                  </a:lnTo>
                  <a:lnTo>
                    <a:pt x="280813" y="828339"/>
                  </a:lnTo>
                  <a:lnTo>
                    <a:pt x="289197" y="777719"/>
                  </a:lnTo>
                  <a:lnTo>
                    <a:pt x="297493" y="722398"/>
                  </a:lnTo>
                  <a:lnTo>
                    <a:pt x="305723" y="663553"/>
                  </a:lnTo>
                  <a:lnTo>
                    <a:pt x="313908" y="602357"/>
                  </a:lnTo>
                  <a:lnTo>
                    <a:pt x="322072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80" name="object 80"/>
            <p:cNvSpPr/>
            <p:nvPr/>
          </p:nvSpPr>
          <p:spPr>
            <a:xfrm>
              <a:off x="5046472" y="4879865"/>
              <a:ext cx="321945" cy="970280"/>
            </a:xfrm>
            <a:custGeom>
              <a:avLst/>
              <a:gdLst/>
              <a:ahLst/>
              <a:cxnLst/>
              <a:rect l="l" t="t" r="r" b="b"/>
              <a:pathLst>
                <a:path w="321945" h="970279">
                  <a:moveTo>
                    <a:pt x="0" y="504172"/>
                  </a:moveTo>
                  <a:lnTo>
                    <a:pt x="5927" y="438806"/>
                  </a:lnTo>
                  <a:lnTo>
                    <a:pt x="11887" y="374422"/>
                  </a:lnTo>
                  <a:lnTo>
                    <a:pt x="17908" y="312001"/>
                  </a:lnTo>
                  <a:lnTo>
                    <a:pt x="24020" y="252521"/>
                  </a:lnTo>
                  <a:lnTo>
                    <a:pt x="30249" y="196960"/>
                  </a:lnTo>
                  <a:lnTo>
                    <a:pt x="36625" y="146297"/>
                  </a:lnTo>
                  <a:lnTo>
                    <a:pt x="43177" y="101512"/>
                  </a:lnTo>
                  <a:lnTo>
                    <a:pt x="49932" y="63583"/>
                  </a:lnTo>
                  <a:lnTo>
                    <a:pt x="64167" y="12207"/>
                  </a:lnTo>
                  <a:lnTo>
                    <a:pt x="79557" y="0"/>
                  </a:lnTo>
                  <a:lnTo>
                    <a:pt x="87757" y="11031"/>
                  </a:lnTo>
                  <a:lnTo>
                    <a:pt x="99763" y="56415"/>
                  </a:lnTo>
                  <a:lnTo>
                    <a:pt x="112762" y="138821"/>
                  </a:lnTo>
                  <a:lnTo>
                    <a:pt x="119559" y="190858"/>
                  </a:lnTo>
                  <a:lnTo>
                    <a:pt x="126514" y="248493"/>
                  </a:lnTo>
                  <a:lnTo>
                    <a:pt x="133597" y="310507"/>
                  </a:lnTo>
                  <a:lnTo>
                    <a:pt x="140779" y="375679"/>
                  </a:lnTo>
                  <a:lnTo>
                    <a:pt x="148028" y="442792"/>
                  </a:lnTo>
                  <a:lnTo>
                    <a:pt x="155316" y="510625"/>
                  </a:lnTo>
                  <a:lnTo>
                    <a:pt x="162612" y="577959"/>
                  </a:lnTo>
                  <a:lnTo>
                    <a:pt x="169887" y="643575"/>
                  </a:lnTo>
                  <a:lnTo>
                    <a:pt x="177109" y="706254"/>
                  </a:lnTo>
                  <a:lnTo>
                    <a:pt x="184250" y="764776"/>
                  </a:lnTo>
                  <a:lnTo>
                    <a:pt x="191279" y="817923"/>
                  </a:lnTo>
                  <a:lnTo>
                    <a:pt x="198166" y="864475"/>
                  </a:lnTo>
                  <a:lnTo>
                    <a:pt x="204882" y="903213"/>
                  </a:lnTo>
                  <a:lnTo>
                    <a:pt x="217678" y="952368"/>
                  </a:lnTo>
                  <a:lnTo>
                    <a:pt x="236716" y="969809"/>
                  </a:lnTo>
                  <a:lnTo>
                    <a:pt x="245881" y="960316"/>
                  </a:lnTo>
                  <a:lnTo>
                    <a:pt x="263620" y="910778"/>
                  </a:lnTo>
                  <a:lnTo>
                    <a:pt x="272240" y="873083"/>
                  </a:lnTo>
                  <a:lnTo>
                    <a:pt x="280725" y="828339"/>
                  </a:lnTo>
                  <a:lnTo>
                    <a:pt x="289099" y="777719"/>
                  </a:lnTo>
                  <a:lnTo>
                    <a:pt x="297384" y="722398"/>
                  </a:lnTo>
                  <a:lnTo>
                    <a:pt x="305604" y="663553"/>
                  </a:lnTo>
                  <a:lnTo>
                    <a:pt x="313784" y="602357"/>
                  </a:lnTo>
                  <a:lnTo>
                    <a:pt x="321945" y="539986"/>
                  </a:lnTo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5374258" y="4879865"/>
              <a:ext cx="322580" cy="970280"/>
            </a:xfrm>
            <a:custGeom>
              <a:avLst/>
              <a:gdLst/>
              <a:ahLst/>
              <a:cxnLst/>
              <a:rect l="l" t="t" r="r" b="b"/>
              <a:pathLst>
                <a:path w="322579" h="970279">
                  <a:moveTo>
                    <a:pt x="0" y="504172"/>
                  </a:moveTo>
                  <a:lnTo>
                    <a:pt x="5952" y="438806"/>
                  </a:lnTo>
                  <a:lnTo>
                    <a:pt x="11929" y="374422"/>
                  </a:lnTo>
                  <a:lnTo>
                    <a:pt x="17960" y="312001"/>
                  </a:lnTo>
                  <a:lnTo>
                    <a:pt x="24076" y="252521"/>
                  </a:lnTo>
                  <a:lnTo>
                    <a:pt x="30305" y="196960"/>
                  </a:lnTo>
                  <a:lnTo>
                    <a:pt x="36676" y="146297"/>
                  </a:lnTo>
                  <a:lnTo>
                    <a:pt x="43221" y="101512"/>
                  </a:lnTo>
                  <a:lnTo>
                    <a:pt x="49967" y="63583"/>
                  </a:lnTo>
                  <a:lnTo>
                    <a:pt x="64182" y="12207"/>
                  </a:lnTo>
                  <a:lnTo>
                    <a:pt x="79559" y="0"/>
                  </a:lnTo>
                  <a:lnTo>
                    <a:pt x="87757" y="11031"/>
                  </a:lnTo>
                  <a:lnTo>
                    <a:pt x="99795" y="56415"/>
                  </a:lnTo>
                  <a:lnTo>
                    <a:pt x="112812" y="138821"/>
                  </a:lnTo>
                  <a:lnTo>
                    <a:pt x="119613" y="190858"/>
                  </a:lnTo>
                  <a:lnTo>
                    <a:pt x="126570" y="248493"/>
                  </a:lnTo>
                  <a:lnTo>
                    <a:pt x="133653" y="310507"/>
                  </a:lnTo>
                  <a:lnTo>
                    <a:pt x="140832" y="375679"/>
                  </a:lnTo>
                  <a:lnTo>
                    <a:pt x="148078" y="442792"/>
                  </a:lnTo>
                  <a:lnTo>
                    <a:pt x="155361" y="510625"/>
                  </a:lnTo>
                  <a:lnTo>
                    <a:pt x="162651" y="577959"/>
                  </a:lnTo>
                  <a:lnTo>
                    <a:pt x="169919" y="643575"/>
                  </a:lnTo>
                  <a:lnTo>
                    <a:pt x="177135" y="706254"/>
                  </a:lnTo>
                  <a:lnTo>
                    <a:pt x="184269" y="764776"/>
                  </a:lnTo>
                  <a:lnTo>
                    <a:pt x="191292" y="817923"/>
                  </a:lnTo>
                  <a:lnTo>
                    <a:pt x="198174" y="864475"/>
                  </a:lnTo>
                  <a:lnTo>
                    <a:pt x="204885" y="903213"/>
                  </a:lnTo>
                  <a:lnTo>
                    <a:pt x="217678" y="952368"/>
                  </a:lnTo>
                  <a:lnTo>
                    <a:pt x="236726" y="969809"/>
                  </a:lnTo>
                  <a:lnTo>
                    <a:pt x="245901" y="960316"/>
                  </a:lnTo>
                  <a:lnTo>
                    <a:pt x="263668" y="910778"/>
                  </a:lnTo>
                  <a:lnTo>
                    <a:pt x="272303" y="873083"/>
                  </a:lnTo>
                  <a:lnTo>
                    <a:pt x="280804" y="828339"/>
                  </a:lnTo>
                  <a:lnTo>
                    <a:pt x="289193" y="777719"/>
                  </a:lnTo>
                  <a:lnTo>
                    <a:pt x="297491" y="722398"/>
                  </a:lnTo>
                  <a:lnTo>
                    <a:pt x="305722" y="663553"/>
                  </a:lnTo>
                  <a:lnTo>
                    <a:pt x="313908" y="602357"/>
                  </a:lnTo>
                  <a:lnTo>
                    <a:pt x="322072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5696331" y="4908567"/>
              <a:ext cx="321945" cy="970280"/>
            </a:xfrm>
            <a:custGeom>
              <a:avLst/>
              <a:gdLst/>
              <a:ahLst/>
              <a:cxnLst/>
              <a:rect l="l" t="t" r="r" b="b"/>
              <a:pathLst>
                <a:path w="321945" h="970279">
                  <a:moveTo>
                    <a:pt x="0" y="504172"/>
                  </a:moveTo>
                  <a:lnTo>
                    <a:pt x="5927" y="438806"/>
                  </a:lnTo>
                  <a:lnTo>
                    <a:pt x="11887" y="374422"/>
                  </a:lnTo>
                  <a:lnTo>
                    <a:pt x="17908" y="312001"/>
                  </a:lnTo>
                  <a:lnTo>
                    <a:pt x="24020" y="252521"/>
                  </a:lnTo>
                  <a:lnTo>
                    <a:pt x="30249" y="196960"/>
                  </a:lnTo>
                  <a:lnTo>
                    <a:pt x="36625" y="146297"/>
                  </a:lnTo>
                  <a:lnTo>
                    <a:pt x="43177" y="101512"/>
                  </a:lnTo>
                  <a:lnTo>
                    <a:pt x="49932" y="63583"/>
                  </a:lnTo>
                  <a:lnTo>
                    <a:pt x="64167" y="12207"/>
                  </a:lnTo>
                  <a:lnTo>
                    <a:pt x="79557" y="0"/>
                  </a:lnTo>
                  <a:lnTo>
                    <a:pt x="87757" y="11031"/>
                  </a:lnTo>
                  <a:lnTo>
                    <a:pt x="99763" y="56382"/>
                  </a:lnTo>
                  <a:lnTo>
                    <a:pt x="112762" y="138768"/>
                  </a:lnTo>
                  <a:lnTo>
                    <a:pt x="119559" y="190799"/>
                  </a:lnTo>
                  <a:lnTo>
                    <a:pt x="126514" y="248431"/>
                  </a:lnTo>
                  <a:lnTo>
                    <a:pt x="133597" y="310443"/>
                  </a:lnTo>
                  <a:lnTo>
                    <a:pt x="140779" y="375616"/>
                  </a:lnTo>
                  <a:lnTo>
                    <a:pt x="148028" y="442730"/>
                  </a:lnTo>
                  <a:lnTo>
                    <a:pt x="155316" y="510566"/>
                  </a:lnTo>
                  <a:lnTo>
                    <a:pt x="162612" y="577904"/>
                  </a:lnTo>
                  <a:lnTo>
                    <a:pt x="169887" y="643525"/>
                  </a:lnTo>
                  <a:lnTo>
                    <a:pt x="177109" y="706208"/>
                  </a:lnTo>
                  <a:lnTo>
                    <a:pt x="184250" y="764736"/>
                  </a:lnTo>
                  <a:lnTo>
                    <a:pt x="191279" y="817887"/>
                  </a:lnTo>
                  <a:lnTo>
                    <a:pt x="198166" y="864443"/>
                  </a:lnTo>
                  <a:lnTo>
                    <a:pt x="204882" y="903184"/>
                  </a:lnTo>
                  <a:lnTo>
                    <a:pt x="217678" y="952343"/>
                  </a:lnTo>
                  <a:lnTo>
                    <a:pt x="236716" y="969783"/>
                  </a:lnTo>
                  <a:lnTo>
                    <a:pt x="245881" y="960291"/>
                  </a:lnTo>
                  <a:lnTo>
                    <a:pt x="263620" y="910754"/>
                  </a:lnTo>
                  <a:lnTo>
                    <a:pt x="272240" y="873061"/>
                  </a:lnTo>
                  <a:lnTo>
                    <a:pt x="280725" y="828318"/>
                  </a:lnTo>
                  <a:lnTo>
                    <a:pt x="289099" y="777701"/>
                  </a:lnTo>
                  <a:lnTo>
                    <a:pt x="297384" y="722383"/>
                  </a:lnTo>
                  <a:lnTo>
                    <a:pt x="305604" y="663542"/>
                  </a:lnTo>
                  <a:lnTo>
                    <a:pt x="313784" y="602351"/>
                  </a:lnTo>
                  <a:lnTo>
                    <a:pt x="321945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3429000" y="4907275"/>
              <a:ext cx="307975" cy="952500"/>
            </a:xfrm>
            <a:custGeom>
              <a:avLst/>
              <a:gdLst/>
              <a:ahLst/>
              <a:cxnLst/>
              <a:rect l="l" t="t" r="r" b="b"/>
              <a:pathLst>
                <a:path w="307975" h="952500">
                  <a:moveTo>
                    <a:pt x="0" y="457204"/>
                  </a:moveTo>
                  <a:lnTo>
                    <a:pt x="5688" y="521354"/>
                  </a:lnTo>
                  <a:lnTo>
                    <a:pt x="11400" y="584544"/>
                  </a:lnTo>
                  <a:lnTo>
                    <a:pt x="17164" y="645812"/>
                  </a:lnTo>
                  <a:lnTo>
                    <a:pt x="23010" y="704197"/>
                  </a:lnTo>
                  <a:lnTo>
                    <a:pt x="28964" y="758737"/>
                  </a:lnTo>
                  <a:lnTo>
                    <a:pt x="35056" y="808471"/>
                  </a:lnTo>
                  <a:lnTo>
                    <a:pt x="41315" y="852436"/>
                  </a:lnTo>
                  <a:lnTo>
                    <a:pt x="54444" y="919216"/>
                  </a:lnTo>
                  <a:lnTo>
                    <a:pt x="76094" y="952087"/>
                  </a:lnTo>
                  <a:lnTo>
                    <a:pt x="83947" y="941251"/>
                  </a:lnTo>
                  <a:lnTo>
                    <a:pt x="95440" y="896720"/>
                  </a:lnTo>
                  <a:lnTo>
                    <a:pt x="107872" y="815832"/>
                  </a:lnTo>
                  <a:lnTo>
                    <a:pt x="114369" y="764748"/>
                  </a:lnTo>
                  <a:lnTo>
                    <a:pt x="121016" y="708167"/>
                  </a:lnTo>
                  <a:lnTo>
                    <a:pt x="127784" y="647286"/>
                  </a:lnTo>
                  <a:lnTo>
                    <a:pt x="134645" y="583302"/>
                  </a:lnTo>
                  <a:lnTo>
                    <a:pt x="141571" y="517414"/>
                  </a:lnTo>
                  <a:lnTo>
                    <a:pt x="148533" y="450817"/>
                  </a:lnTo>
                  <a:lnTo>
                    <a:pt x="155503" y="384710"/>
                  </a:lnTo>
                  <a:lnTo>
                    <a:pt x="162453" y="320290"/>
                  </a:lnTo>
                  <a:lnTo>
                    <a:pt x="169354" y="258753"/>
                  </a:lnTo>
                  <a:lnTo>
                    <a:pt x="176178" y="201298"/>
                  </a:lnTo>
                  <a:lnTo>
                    <a:pt x="182897" y="149122"/>
                  </a:lnTo>
                  <a:lnTo>
                    <a:pt x="189482" y="103421"/>
                  </a:lnTo>
                  <a:lnTo>
                    <a:pt x="195905" y="65394"/>
                  </a:lnTo>
                  <a:lnTo>
                    <a:pt x="208153" y="17149"/>
                  </a:lnTo>
                  <a:lnTo>
                    <a:pt x="226341" y="0"/>
                  </a:lnTo>
                  <a:lnTo>
                    <a:pt x="235106" y="9312"/>
                  </a:lnTo>
                  <a:lnTo>
                    <a:pt x="252082" y="57943"/>
                  </a:lnTo>
                  <a:lnTo>
                    <a:pt x="268456" y="138886"/>
                  </a:lnTo>
                  <a:lnTo>
                    <a:pt x="276469" y="188589"/>
                  </a:lnTo>
                  <a:lnTo>
                    <a:pt x="284394" y="242909"/>
                  </a:lnTo>
                  <a:lnTo>
                    <a:pt x="292252" y="300691"/>
                  </a:lnTo>
                  <a:lnTo>
                    <a:pt x="300063" y="360781"/>
                  </a:lnTo>
                  <a:lnTo>
                    <a:pt x="307848" y="422025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3744594" y="4892035"/>
              <a:ext cx="307975" cy="952500"/>
            </a:xfrm>
            <a:custGeom>
              <a:avLst/>
              <a:gdLst/>
              <a:ahLst/>
              <a:cxnLst/>
              <a:rect l="l" t="t" r="r" b="b"/>
              <a:pathLst>
                <a:path w="307975" h="952500">
                  <a:moveTo>
                    <a:pt x="0" y="457204"/>
                  </a:moveTo>
                  <a:lnTo>
                    <a:pt x="5688" y="521354"/>
                  </a:lnTo>
                  <a:lnTo>
                    <a:pt x="11400" y="584544"/>
                  </a:lnTo>
                  <a:lnTo>
                    <a:pt x="17164" y="645812"/>
                  </a:lnTo>
                  <a:lnTo>
                    <a:pt x="23010" y="704197"/>
                  </a:lnTo>
                  <a:lnTo>
                    <a:pt x="28964" y="758737"/>
                  </a:lnTo>
                  <a:lnTo>
                    <a:pt x="35056" y="808471"/>
                  </a:lnTo>
                  <a:lnTo>
                    <a:pt x="41315" y="852436"/>
                  </a:lnTo>
                  <a:lnTo>
                    <a:pt x="54444" y="919216"/>
                  </a:lnTo>
                  <a:lnTo>
                    <a:pt x="76094" y="952087"/>
                  </a:lnTo>
                  <a:lnTo>
                    <a:pt x="83947" y="941251"/>
                  </a:lnTo>
                  <a:lnTo>
                    <a:pt x="95440" y="896720"/>
                  </a:lnTo>
                  <a:lnTo>
                    <a:pt x="107872" y="815832"/>
                  </a:lnTo>
                  <a:lnTo>
                    <a:pt x="114369" y="764748"/>
                  </a:lnTo>
                  <a:lnTo>
                    <a:pt x="121016" y="708167"/>
                  </a:lnTo>
                  <a:lnTo>
                    <a:pt x="127784" y="647286"/>
                  </a:lnTo>
                  <a:lnTo>
                    <a:pt x="134645" y="583302"/>
                  </a:lnTo>
                  <a:lnTo>
                    <a:pt x="141571" y="517414"/>
                  </a:lnTo>
                  <a:lnTo>
                    <a:pt x="148533" y="450817"/>
                  </a:lnTo>
                  <a:lnTo>
                    <a:pt x="155503" y="384710"/>
                  </a:lnTo>
                  <a:lnTo>
                    <a:pt x="162453" y="320290"/>
                  </a:lnTo>
                  <a:lnTo>
                    <a:pt x="169354" y="258753"/>
                  </a:lnTo>
                  <a:lnTo>
                    <a:pt x="176178" y="201298"/>
                  </a:lnTo>
                  <a:lnTo>
                    <a:pt x="182897" y="149122"/>
                  </a:lnTo>
                  <a:lnTo>
                    <a:pt x="189482" y="103421"/>
                  </a:lnTo>
                  <a:lnTo>
                    <a:pt x="195905" y="65394"/>
                  </a:lnTo>
                  <a:lnTo>
                    <a:pt x="208153" y="17149"/>
                  </a:lnTo>
                  <a:lnTo>
                    <a:pt x="226332" y="0"/>
                  </a:lnTo>
                  <a:lnTo>
                    <a:pt x="235088" y="9312"/>
                  </a:lnTo>
                  <a:lnTo>
                    <a:pt x="252043" y="57943"/>
                  </a:lnTo>
                  <a:lnTo>
                    <a:pt x="268402" y="138886"/>
                  </a:lnTo>
                  <a:lnTo>
                    <a:pt x="276413" y="188589"/>
                  </a:lnTo>
                  <a:lnTo>
                    <a:pt x="284341" y="242909"/>
                  </a:lnTo>
                  <a:lnTo>
                    <a:pt x="292208" y="300691"/>
                  </a:lnTo>
                  <a:lnTo>
                    <a:pt x="300036" y="360781"/>
                  </a:lnTo>
                  <a:lnTo>
                    <a:pt x="307848" y="422025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4058031" y="4907275"/>
              <a:ext cx="307975" cy="952500"/>
            </a:xfrm>
            <a:custGeom>
              <a:avLst/>
              <a:gdLst/>
              <a:ahLst/>
              <a:cxnLst/>
              <a:rect l="l" t="t" r="r" b="b"/>
              <a:pathLst>
                <a:path w="307975" h="952500">
                  <a:moveTo>
                    <a:pt x="0" y="457204"/>
                  </a:moveTo>
                  <a:lnTo>
                    <a:pt x="5688" y="521354"/>
                  </a:lnTo>
                  <a:lnTo>
                    <a:pt x="11399" y="584544"/>
                  </a:lnTo>
                  <a:lnTo>
                    <a:pt x="17163" y="645812"/>
                  </a:lnTo>
                  <a:lnTo>
                    <a:pt x="23006" y="704197"/>
                  </a:lnTo>
                  <a:lnTo>
                    <a:pt x="28957" y="758737"/>
                  </a:lnTo>
                  <a:lnTo>
                    <a:pt x="35044" y="808471"/>
                  </a:lnTo>
                  <a:lnTo>
                    <a:pt x="41295" y="852436"/>
                  </a:lnTo>
                  <a:lnTo>
                    <a:pt x="54402" y="919216"/>
                  </a:lnTo>
                  <a:lnTo>
                    <a:pt x="75994" y="952087"/>
                  </a:lnTo>
                  <a:lnTo>
                    <a:pt x="83820" y="941251"/>
                  </a:lnTo>
                  <a:lnTo>
                    <a:pt x="95349" y="896720"/>
                  </a:lnTo>
                  <a:lnTo>
                    <a:pt x="107810" y="815832"/>
                  </a:lnTo>
                  <a:lnTo>
                    <a:pt x="114318" y="764748"/>
                  </a:lnTo>
                  <a:lnTo>
                    <a:pt x="120975" y="708167"/>
                  </a:lnTo>
                  <a:lnTo>
                    <a:pt x="127752" y="647286"/>
                  </a:lnTo>
                  <a:lnTo>
                    <a:pt x="134621" y="583302"/>
                  </a:lnTo>
                  <a:lnTo>
                    <a:pt x="141553" y="517414"/>
                  </a:lnTo>
                  <a:lnTo>
                    <a:pt x="148520" y="450817"/>
                  </a:lnTo>
                  <a:lnTo>
                    <a:pt x="155494" y="384710"/>
                  </a:lnTo>
                  <a:lnTo>
                    <a:pt x="162447" y="320290"/>
                  </a:lnTo>
                  <a:lnTo>
                    <a:pt x="169350" y="258753"/>
                  </a:lnTo>
                  <a:lnTo>
                    <a:pt x="176176" y="201298"/>
                  </a:lnTo>
                  <a:lnTo>
                    <a:pt x="182896" y="149122"/>
                  </a:lnTo>
                  <a:lnTo>
                    <a:pt x="189482" y="103421"/>
                  </a:lnTo>
                  <a:lnTo>
                    <a:pt x="195905" y="65394"/>
                  </a:lnTo>
                  <a:lnTo>
                    <a:pt x="208153" y="17149"/>
                  </a:lnTo>
                  <a:lnTo>
                    <a:pt x="226332" y="0"/>
                  </a:lnTo>
                  <a:lnTo>
                    <a:pt x="235088" y="9312"/>
                  </a:lnTo>
                  <a:lnTo>
                    <a:pt x="252043" y="57943"/>
                  </a:lnTo>
                  <a:lnTo>
                    <a:pt x="268402" y="138886"/>
                  </a:lnTo>
                  <a:lnTo>
                    <a:pt x="276413" y="188589"/>
                  </a:lnTo>
                  <a:lnTo>
                    <a:pt x="284341" y="242909"/>
                  </a:lnTo>
                  <a:lnTo>
                    <a:pt x="292208" y="300691"/>
                  </a:lnTo>
                  <a:lnTo>
                    <a:pt x="300036" y="360781"/>
                  </a:lnTo>
                  <a:lnTo>
                    <a:pt x="307848" y="422025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4365878" y="4901941"/>
              <a:ext cx="307975" cy="952500"/>
            </a:xfrm>
            <a:custGeom>
              <a:avLst/>
              <a:gdLst/>
              <a:ahLst/>
              <a:cxnLst/>
              <a:rect l="l" t="t" r="r" b="b"/>
              <a:pathLst>
                <a:path w="307975" h="952500">
                  <a:moveTo>
                    <a:pt x="0" y="457204"/>
                  </a:moveTo>
                  <a:lnTo>
                    <a:pt x="5688" y="521362"/>
                  </a:lnTo>
                  <a:lnTo>
                    <a:pt x="11400" y="584559"/>
                  </a:lnTo>
                  <a:lnTo>
                    <a:pt x="17164" y="645833"/>
                  </a:lnTo>
                  <a:lnTo>
                    <a:pt x="23010" y="704223"/>
                  </a:lnTo>
                  <a:lnTo>
                    <a:pt x="28964" y="758766"/>
                  </a:lnTo>
                  <a:lnTo>
                    <a:pt x="35056" y="808503"/>
                  </a:lnTo>
                  <a:lnTo>
                    <a:pt x="41315" y="852470"/>
                  </a:lnTo>
                  <a:lnTo>
                    <a:pt x="54444" y="919253"/>
                  </a:lnTo>
                  <a:lnTo>
                    <a:pt x="76094" y="952125"/>
                  </a:lnTo>
                  <a:lnTo>
                    <a:pt x="83947" y="941290"/>
                  </a:lnTo>
                  <a:lnTo>
                    <a:pt x="95440" y="896754"/>
                  </a:lnTo>
                  <a:lnTo>
                    <a:pt x="107872" y="815861"/>
                  </a:lnTo>
                  <a:lnTo>
                    <a:pt x="114369" y="764774"/>
                  </a:lnTo>
                  <a:lnTo>
                    <a:pt x="121016" y="708190"/>
                  </a:lnTo>
                  <a:lnTo>
                    <a:pt x="127784" y="647307"/>
                  </a:lnTo>
                  <a:lnTo>
                    <a:pt x="134645" y="583321"/>
                  </a:lnTo>
                  <a:lnTo>
                    <a:pt x="141571" y="517429"/>
                  </a:lnTo>
                  <a:lnTo>
                    <a:pt x="148533" y="450830"/>
                  </a:lnTo>
                  <a:lnTo>
                    <a:pt x="155503" y="384721"/>
                  </a:lnTo>
                  <a:lnTo>
                    <a:pt x="162453" y="320298"/>
                  </a:lnTo>
                  <a:lnTo>
                    <a:pt x="169354" y="258760"/>
                  </a:lnTo>
                  <a:lnTo>
                    <a:pt x="176178" y="201303"/>
                  </a:lnTo>
                  <a:lnTo>
                    <a:pt x="182897" y="149125"/>
                  </a:lnTo>
                  <a:lnTo>
                    <a:pt x="189482" y="103423"/>
                  </a:lnTo>
                  <a:lnTo>
                    <a:pt x="195905" y="65395"/>
                  </a:lnTo>
                  <a:lnTo>
                    <a:pt x="208153" y="17149"/>
                  </a:lnTo>
                  <a:lnTo>
                    <a:pt x="226341" y="0"/>
                  </a:lnTo>
                  <a:lnTo>
                    <a:pt x="235106" y="9312"/>
                  </a:lnTo>
                  <a:lnTo>
                    <a:pt x="252082" y="57943"/>
                  </a:lnTo>
                  <a:lnTo>
                    <a:pt x="268456" y="138886"/>
                  </a:lnTo>
                  <a:lnTo>
                    <a:pt x="276469" y="188589"/>
                  </a:lnTo>
                  <a:lnTo>
                    <a:pt x="284394" y="242909"/>
                  </a:lnTo>
                  <a:lnTo>
                    <a:pt x="292252" y="300691"/>
                  </a:lnTo>
                  <a:lnTo>
                    <a:pt x="300063" y="360781"/>
                  </a:lnTo>
                  <a:lnTo>
                    <a:pt x="307848" y="422025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8" name="object 64">
            <a:extLst>
              <a:ext uri="{FF2B5EF4-FFF2-40B4-BE49-F238E27FC236}">
                <a16:creationId xmlns:a16="http://schemas.microsoft.com/office/drawing/2014/main" id="{BDDD92E4-FD70-40FC-8BDE-340E15A9AB5D}"/>
              </a:ext>
            </a:extLst>
          </p:cNvPr>
          <p:cNvSpPr/>
          <p:nvPr/>
        </p:nvSpPr>
        <p:spPr>
          <a:xfrm>
            <a:off x="780427" y="826422"/>
            <a:ext cx="0" cy="794342"/>
          </a:xfrm>
          <a:custGeom>
            <a:avLst/>
            <a:gdLst/>
            <a:ahLst/>
            <a:cxnLst/>
            <a:rect l="l" t="t" r="r" b="b"/>
            <a:pathLst>
              <a:path h="1093470">
                <a:moveTo>
                  <a:pt x="0" y="1093343"/>
                </a:moveTo>
                <a:lnTo>
                  <a:pt x="0" y="0"/>
                </a:lnTo>
              </a:path>
            </a:pathLst>
          </a:custGeom>
          <a:ln w="38100">
            <a:solidFill>
              <a:srgbClr val="00B050"/>
            </a:solidFill>
            <a:tailEnd type="stealth" w="lg" len="lg"/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9" name="object 64">
            <a:extLst>
              <a:ext uri="{FF2B5EF4-FFF2-40B4-BE49-F238E27FC236}">
                <a16:creationId xmlns:a16="http://schemas.microsoft.com/office/drawing/2014/main" id="{99E71548-21FC-4CAB-B698-A88177BB0A25}"/>
              </a:ext>
            </a:extLst>
          </p:cNvPr>
          <p:cNvSpPr/>
          <p:nvPr/>
        </p:nvSpPr>
        <p:spPr>
          <a:xfrm>
            <a:off x="3401821" y="873919"/>
            <a:ext cx="0" cy="821541"/>
          </a:xfrm>
          <a:custGeom>
            <a:avLst/>
            <a:gdLst/>
            <a:ahLst/>
            <a:cxnLst/>
            <a:rect l="l" t="t" r="r" b="b"/>
            <a:pathLst>
              <a:path h="1093470">
                <a:moveTo>
                  <a:pt x="0" y="1093343"/>
                </a:moveTo>
                <a:lnTo>
                  <a:pt x="0" y="0"/>
                </a:lnTo>
              </a:path>
            </a:pathLst>
          </a:custGeom>
          <a:ln w="38100">
            <a:solidFill>
              <a:srgbClr val="00B050"/>
            </a:solidFill>
            <a:tailEnd type="stealth" w="lg" len="lg"/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0" name="object 64">
            <a:extLst>
              <a:ext uri="{FF2B5EF4-FFF2-40B4-BE49-F238E27FC236}">
                <a16:creationId xmlns:a16="http://schemas.microsoft.com/office/drawing/2014/main" id="{C54CF455-2289-40B4-B5B3-30AB83C311B2}"/>
              </a:ext>
            </a:extLst>
          </p:cNvPr>
          <p:cNvSpPr/>
          <p:nvPr/>
        </p:nvSpPr>
        <p:spPr>
          <a:xfrm rot="10800000">
            <a:off x="2084703" y="1712807"/>
            <a:ext cx="0" cy="794344"/>
          </a:xfrm>
          <a:custGeom>
            <a:avLst/>
            <a:gdLst/>
            <a:ahLst/>
            <a:cxnLst/>
            <a:rect l="l" t="t" r="r" b="b"/>
            <a:pathLst>
              <a:path h="1093470">
                <a:moveTo>
                  <a:pt x="0" y="1093343"/>
                </a:moveTo>
                <a:lnTo>
                  <a:pt x="0" y="0"/>
                </a:lnTo>
              </a:path>
            </a:pathLst>
          </a:custGeom>
          <a:ln w="38100">
            <a:solidFill>
              <a:srgbClr val="00B050"/>
            </a:solidFill>
            <a:tailEnd type="stealth" w="lg" len="lg"/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1" name="object 64">
            <a:extLst>
              <a:ext uri="{FF2B5EF4-FFF2-40B4-BE49-F238E27FC236}">
                <a16:creationId xmlns:a16="http://schemas.microsoft.com/office/drawing/2014/main" id="{68F9625A-AE88-4210-845B-EFBC426D88F8}"/>
              </a:ext>
            </a:extLst>
          </p:cNvPr>
          <p:cNvSpPr/>
          <p:nvPr/>
        </p:nvSpPr>
        <p:spPr>
          <a:xfrm rot="10800000">
            <a:off x="4723765" y="1726311"/>
            <a:ext cx="0" cy="821541"/>
          </a:xfrm>
          <a:custGeom>
            <a:avLst/>
            <a:gdLst/>
            <a:ahLst/>
            <a:cxnLst/>
            <a:rect l="l" t="t" r="r" b="b"/>
            <a:pathLst>
              <a:path h="1093470">
                <a:moveTo>
                  <a:pt x="0" y="1093343"/>
                </a:moveTo>
                <a:lnTo>
                  <a:pt x="0" y="0"/>
                </a:lnTo>
              </a:path>
            </a:pathLst>
          </a:custGeom>
          <a:ln w="38100">
            <a:solidFill>
              <a:srgbClr val="00B050"/>
            </a:solidFill>
            <a:tailEnd type="stealth" w="lg" len="lg"/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2" name="object 10">
            <a:extLst>
              <a:ext uri="{FF2B5EF4-FFF2-40B4-BE49-F238E27FC236}">
                <a16:creationId xmlns:a16="http://schemas.microsoft.com/office/drawing/2014/main" id="{C2C9AC25-6EB6-4CE5-A2B1-07C647690F0D}"/>
              </a:ext>
            </a:extLst>
          </p:cNvPr>
          <p:cNvSpPr txBox="1"/>
          <p:nvPr/>
        </p:nvSpPr>
        <p:spPr>
          <a:xfrm>
            <a:off x="5699148" y="1099264"/>
            <a:ext cx="215147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b="1" spc="-25" dirty="0">
                <a:solidFill>
                  <a:srgbClr val="00B050"/>
                </a:solidFill>
                <a:latin typeface="Calibri"/>
                <a:cs typeface="Calibri"/>
              </a:rPr>
              <a:t>Derivative</a:t>
            </a:r>
            <a:r>
              <a:rPr sz="1800" b="1" spc="-2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lang="en-US" sz="1800" b="1" spc="-25" dirty="0">
                <a:solidFill>
                  <a:srgbClr val="00B050"/>
                </a:solidFill>
                <a:latin typeface="Calibri"/>
                <a:cs typeface="Calibri"/>
              </a:rPr>
              <a:t>m’</a:t>
            </a:r>
            <a:r>
              <a:rPr lang="en-US" sz="1800" b="1" spc="330" dirty="0">
                <a:solidFill>
                  <a:srgbClr val="00B050"/>
                </a:solidFill>
                <a:latin typeface="Cambria Math"/>
                <a:cs typeface="Cambria Math"/>
              </a:rPr>
              <a:t>(t)</a:t>
            </a:r>
            <a:endParaRPr sz="1800" b="1" dirty="0">
              <a:solidFill>
                <a:srgbClr val="00B050"/>
              </a:solidFill>
              <a:latin typeface="Cambria Math"/>
              <a:cs typeface="Cambria Math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FD31C0A7-89D6-41E5-9808-93CDD2E4F9ED}"/>
                  </a:ext>
                </a:extLst>
              </p:cNvPr>
              <p:cNvSpPr txBox="1"/>
              <p:nvPr/>
            </p:nvSpPr>
            <p:spPr>
              <a:xfrm>
                <a:off x="8686800" y="1109151"/>
                <a:ext cx="2151486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FD31C0A7-89D6-41E5-9808-93CDD2E4F9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0" y="1109151"/>
                <a:ext cx="2151486" cy="298415"/>
              </a:xfrm>
              <a:prstGeom prst="rect">
                <a:avLst/>
              </a:prstGeom>
              <a:blipFill>
                <a:blip r:embed="rId9"/>
                <a:stretch>
                  <a:fillRect l="-1700" b="-20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2AB734FA-39F8-4461-8BAB-28C37A6E238E}"/>
                  </a:ext>
                </a:extLst>
              </p:cNvPr>
              <p:cNvSpPr txBox="1"/>
              <p:nvPr/>
            </p:nvSpPr>
            <p:spPr>
              <a:xfrm>
                <a:off x="8686800" y="1471443"/>
                <a:ext cx="3075714" cy="5275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2AB734FA-39F8-4461-8BAB-28C37A6E23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0" y="1471443"/>
                <a:ext cx="3075714" cy="52758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Rectangle 94">
            <a:extLst>
              <a:ext uri="{FF2B5EF4-FFF2-40B4-BE49-F238E27FC236}">
                <a16:creationId xmlns:a16="http://schemas.microsoft.com/office/drawing/2014/main" id="{ED81D4C9-37D7-4538-94C3-7F4F437C8B5D}"/>
              </a:ext>
            </a:extLst>
          </p:cNvPr>
          <p:cNvSpPr/>
          <p:nvPr/>
        </p:nvSpPr>
        <p:spPr>
          <a:xfrm>
            <a:off x="8458200" y="856745"/>
            <a:ext cx="3355036" cy="13416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bject 12">
            <a:extLst>
              <a:ext uri="{FF2B5EF4-FFF2-40B4-BE49-F238E27FC236}">
                <a16:creationId xmlns:a16="http://schemas.microsoft.com/office/drawing/2014/main" id="{E63531BB-BFDC-41F7-8FFE-0A5846C617F8}"/>
              </a:ext>
            </a:extLst>
          </p:cNvPr>
          <p:cNvSpPr/>
          <p:nvPr/>
        </p:nvSpPr>
        <p:spPr>
          <a:xfrm>
            <a:off x="744638" y="1680591"/>
            <a:ext cx="1324610" cy="45720"/>
          </a:xfrm>
          <a:custGeom>
            <a:avLst/>
            <a:gdLst/>
            <a:ahLst/>
            <a:cxnLst/>
            <a:rect l="l" t="t" r="r" b="b"/>
            <a:pathLst>
              <a:path w="1324610" h="5715">
                <a:moveTo>
                  <a:pt x="0" y="0"/>
                </a:moveTo>
                <a:lnTo>
                  <a:pt x="1324381" y="5461"/>
                </a:lnTo>
              </a:path>
            </a:pathLst>
          </a:custGeom>
          <a:ln w="38100">
            <a:solidFill>
              <a:srgbClr val="00B0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12">
            <a:extLst>
              <a:ext uri="{FF2B5EF4-FFF2-40B4-BE49-F238E27FC236}">
                <a16:creationId xmlns:a16="http://schemas.microsoft.com/office/drawing/2014/main" id="{4058CE12-A081-4638-B616-6FB6B7264BBE}"/>
              </a:ext>
            </a:extLst>
          </p:cNvPr>
          <p:cNvSpPr/>
          <p:nvPr/>
        </p:nvSpPr>
        <p:spPr>
          <a:xfrm>
            <a:off x="2114219" y="1709243"/>
            <a:ext cx="1324610" cy="5715"/>
          </a:xfrm>
          <a:custGeom>
            <a:avLst/>
            <a:gdLst/>
            <a:ahLst/>
            <a:cxnLst/>
            <a:rect l="l" t="t" r="r" b="b"/>
            <a:pathLst>
              <a:path w="1324610" h="5715">
                <a:moveTo>
                  <a:pt x="0" y="0"/>
                </a:moveTo>
                <a:lnTo>
                  <a:pt x="1324381" y="5461"/>
                </a:lnTo>
              </a:path>
            </a:pathLst>
          </a:custGeom>
          <a:ln w="38100">
            <a:solidFill>
              <a:srgbClr val="00B0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62">
            <a:extLst>
              <a:ext uri="{FF2B5EF4-FFF2-40B4-BE49-F238E27FC236}">
                <a16:creationId xmlns:a16="http://schemas.microsoft.com/office/drawing/2014/main" id="{E6E3A2A6-F56B-4EE8-84C3-D8809264CB76}"/>
              </a:ext>
            </a:extLst>
          </p:cNvPr>
          <p:cNvSpPr/>
          <p:nvPr/>
        </p:nvSpPr>
        <p:spPr>
          <a:xfrm>
            <a:off x="3448050" y="1698053"/>
            <a:ext cx="1324610" cy="5715"/>
          </a:xfrm>
          <a:custGeom>
            <a:avLst/>
            <a:gdLst/>
            <a:ahLst/>
            <a:cxnLst/>
            <a:rect l="l" t="t" r="r" b="b"/>
            <a:pathLst>
              <a:path w="1324610" h="5715">
                <a:moveTo>
                  <a:pt x="0" y="0"/>
                </a:moveTo>
                <a:lnTo>
                  <a:pt x="1324356" y="5461"/>
                </a:lnTo>
              </a:path>
            </a:pathLst>
          </a:custGeom>
          <a:ln w="38100">
            <a:solidFill>
              <a:srgbClr val="00B0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63">
            <a:extLst>
              <a:ext uri="{FF2B5EF4-FFF2-40B4-BE49-F238E27FC236}">
                <a16:creationId xmlns:a16="http://schemas.microsoft.com/office/drawing/2014/main" id="{33087CC2-2FAE-49E6-B4EB-52D118E98B2A}"/>
              </a:ext>
            </a:extLst>
          </p:cNvPr>
          <p:cNvSpPr/>
          <p:nvPr/>
        </p:nvSpPr>
        <p:spPr>
          <a:xfrm>
            <a:off x="4715637" y="1695460"/>
            <a:ext cx="1324610" cy="5715"/>
          </a:xfrm>
          <a:custGeom>
            <a:avLst/>
            <a:gdLst/>
            <a:ahLst/>
            <a:cxnLst/>
            <a:rect l="l" t="t" r="r" b="b"/>
            <a:pathLst>
              <a:path w="1324610" h="5714">
                <a:moveTo>
                  <a:pt x="0" y="0"/>
                </a:moveTo>
                <a:lnTo>
                  <a:pt x="1324356" y="5588"/>
                </a:lnTo>
              </a:path>
            </a:pathLst>
          </a:custGeom>
          <a:ln w="38100">
            <a:solidFill>
              <a:srgbClr val="00B0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CE6647E7-41DB-492C-8A92-66FB571169B5}"/>
              </a:ext>
            </a:extLst>
          </p:cNvPr>
          <p:cNvSpPr/>
          <p:nvPr/>
        </p:nvSpPr>
        <p:spPr>
          <a:xfrm>
            <a:off x="805827" y="1108635"/>
            <a:ext cx="1645679" cy="5473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474FCDA4-AC30-44E0-93B3-3211CBB37C0B}"/>
              </a:ext>
            </a:extLst>
          </p:cNvPr>
          <p:cNvSpPr/>
          <p:nvPr/>
        </p:nvSpPr>
        <p:spPr>
          <a:xfrm>
            <a:off x="2127250" y="1757050"/>
            <a:ext cx="1424433" cy="4882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0C6BD4F9-44D3-4C5F-840E-93422B103E7A}"/>
              </a:ext>
            </a:extLst>
          </p:cNvPr>
          <p:cNvSpPr/>
          <p:nvPr/>
        </p:nvSpPr>
        <p:spPr>
          <a:xfrm>
            <a:off x="3432810" y="1084833"/>
            <a:ext cx="1505332" cy="5745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AD030266-D4D5-4514-81BF-158251218575}"/>
              </a:ext>
            </a:extLst>
          </p:cNvPr>
          <p:cNvSpPr/>
          <p:nvPr/>
        </p:nvSpPr>
        <p:spPr>
          <a:xfrm>
            <a:off x="4765928" y="1854083"/>
            <a:ext cx="1352424" cy="4850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bject 59">
            <a:extLst>
              <a:ext uri="{FF2B5EF4-FFF2-40B4-BE49-F238E27FC236}">
                <a16:creationId xmlns:a16="http://schemas.microsoft.com/office/drawing/2014/main" id="{0E1ADB66-CB59-4838-BC36-4BA281ED9E42}"/>
              </a:ext>
            </a:extLst>
          </p:cNvPr>
          <p:cNvSpPr/>
          <p:nvPr/>
        </p:nvSpPr>
        <p:spPr>
          <a:xfrm>
            <a:off x="3390518" y="1675638"/>
            <a:ext cx="0" cy="4271010"/>
          </a:xfrm>
          <a:custGeom>
            <a:avLst/>
            <a:gdLst/>
            <a:ahLst/>
            <a:cxnLst/>
            <a:rect l="l" t="t" r="r" b="b"/>
            <a:pathLst>
              <a:path h="4271010">
                <a:moveTo>
                  <a:pt x="0" y="0"/>
                </a:moveTo>
                <a:lnTo>
                  <a:pt x="0" y="4270489"/>
                </a:lnTo>
              </a:path>
            </a:pathLst>
          </a:custGeom>
          <a:ln w="19050">
            <a:solidFill>
              <a:srgbClr val="4471C4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18959FBC-3176-47C9-9794-9A6A9B3ABD48}"/>
                  </a:ext>
                </a:extLst>
              </p:cNvPr>
              <p:cNvSpPr txBox="1"/>
              <p:nvPr/>
            </p:nvSpPr>
            <p:spPr>
              <a:xfrm>
                <a:off x="7623404" y="4982158"/>
                <a:ext cx="2813206" cy="7517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𝑪𝒐𝒏𝒔𝒊𝒅𝒆𝒓𝒊𝒏𝒈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𝝅</m:t>
                          </m:r>
                        </m:num>
                        <m:den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𝒂𝒏𝒅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𝑨𝒎𝒑𝒍𝒊𝒕𝒖𝒕𝒅𝒆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𝒐𝒇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𝒎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18959FBC-3176-47C9-9794-9A6A9B3ABD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3404" y="4982158"/>
                <a:ext cx="2813206" cy="751744"/>
              </a:xfrm>
              <a:prstGeom prst="rect">
                <a:avLst/>
              </a:prstGeom>
              <a:blipFill>
                <a:blip r:embed="rId11"/>
                <a:stretch>
                  <a:fillRect b="-137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Rectangle 105">
            <a:extLst>
              <a:ext uri="{FF2B5EF4-FFF2-40B4-BE49-F238E27FC236}">
                <a16:creationId xmlns:a16="http://schemas.microsoft.com/office/drawing/2014/main" id="{359FE2F2-9334-4C80-B2F2-270542B3BF92}"/>
              </a:ext>
            </a:extLst>
          </p:cNvPr>
          <p:cNvSpPr/>
          <p:nvPr/>
        </p:nvSpPr>
        <p:spPr>
          <a:xfrm>
            <a:off x="572070" y="2982850"/>
            <a:ext cx="194134" cy="4837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bject 13">
            <a:extLst>
              <a:ext uri="{FF2B5EF4-FFF2-40B4-BE49-F238E27FC236}">
                <a16:creationId xmlns:a16="http://schemas.microsoft.com/office/drawing/2014/main" id="{BCDE9A77-3FCF-4381-ABD5-9A11B9E945F3}"/>
              </a:ext>
            </a:extLst>
          </p:cNvPr>
          <p:cNvSpPr/>
          <p:nvPr/>
        </p:nvSpPr>
        <p:spPr>
          <a:xfrm>
            <a:off x="378764" y="2550794"/>
            <a:ext cx="6974840" cy="1718945"/>
          </a:xfrm>
          <a:custGeom>
            <a:avLst/>
            <a:gdLst/>
            <a:ahLst/>
            <a:cxnLst/>
            <a:rect l="l" t="t" r="r" b="b"/>
            <a:pathLst>
              <a:path w="6974840" h="1718945">
                <a:moveTo>
                  <a:pt x="6974535" y="963041"/>
                </a:moveTo>
                <a:lnTo>
                  <a:pt x="6936435" y="943991"/>
                </a:lnTo>
                <a:lnTo>
                  <a:pt x="6860235" y="905891"/>
                </a:lnTo>
                <a:lnTo>
                  <a:pt x="6860235" y="943991"/>
                </a:lnTo>
                <a:lnTo>
                  <a:pt x="421665" y="943991"/>
                </a:lnTo>
                <a:lnTo>
                  <a:pt x="420827" y="114300"/>
                </a:lnTo>
                <a:lnTo>
                  <a:pt x="458927" y="114300"/>
                </a:lnTo>
                <a:lnTo>
                  <a:pt x="449376" y="95250"/>
                </a:lnTo>
                <a:lnTo>
                  <a:pt x="401662" y="0"/>
                </a:lnTo>
                <a:lnTo>
                  <a:pt x="344627" y="114300"/>
                </a:lnTo>
                <a:lnTo>
                  <a:pt x="382727" y="114300"/>
                </a:lnTo>
                <a:lnTo>
                  <a:pt x="383565" y="943991"/>
                </a:lnTo>
                <a:lnTo>
                  <a:pt x="0" y="943991"/>
                </a:lnTo>
                <a:lnTo>
                  <a:pt x="0" y="982091"/>
                </a:lnTo>
                <a:lnTo>
                  <a:pt x="383603" y="982091"/>
                </a:lnTo>
                <a:lnTo>
                  <a:pt x="384352" y="1718437"/>
                </a:lnTo>
                <a:lnTo>
                  <a:pt x="422452" y="1718449"/>
                </a:lnTo>
                <a:lnTo>
                  <a:pt x="421703" y="982091"/>
                </a:lnTo>
                <a:lnTo>
                  <a:pt x="6860235" y="982091"/>
                </a:lnTo>
                <a:lnTo>
                  <a:pt x="6860235" y="1020191"/>
                </a:lnTo>
                <a:lnTo>
                  <a:pt x="6936435" y="982091"/>
                </a:lnTo>
                <a:lnTo>
                  <a:pt x="6974535" y="963041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1B6AB707-7E90-4F65-91D9-D1BE7BC6162D}"/>
                  </a:ext>
                </a:extLst>
              </p:cNvPr>
              <p:cNvSpPr txBox="1"/>
              <p:nvPr/>
            </p:nvSpPr>
            <p:spPr>
              <a:xfrm>
                <a:off x="5597646" y="2647170"/>
                <a:ext cx="369242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𝑪𝒂𝒓𝒓𝒊𝒆𝒓</m:t>
                      </m:r>
                      <m:r>
                        <a:rPr lang="en-US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𝑺𝒊𝒈𝒏𝒂𝒍</m:t>
                      </m:r>
                      <m:r>
                        <a:rPr lang="en-US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US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en-US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𝐜𝐨𝐬</m:t>
                      </m:r>
                      <m:r>
                        <a:rPr lang="en-US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en-US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1B6AB707-7E90-4F65-91D9-D1BE7BC616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7646" y="2647170"/>
                <a:ext cx="3692421" cy="276999"/>
              </a:xfrm>
              <a:prstGeom prst="rect">
                <a:avLst/>
              </a:prstGeom>
              <a:blipFill>
                <a:blip r:embed="rId12"/>
                <a:stretch>
                  <a:fillRect l="-825" t="-2174" r="-1650" b="-369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9" name="object 36">
            <a:extLst>
              <a:ext uri="{FF2B5EF4-FFF2-40B4-BE49-F238E27FC236}">
                <a16:creationId xmlns:a16="http://schemas.microsoft.com/office/drawing/2014/main" id="{9D08FBC3-ECFB-4B4B-95CD-08DB6AAD08AA}"/>
              </a:ext>
            </a:extLst>
          </p:cNvPr>
          <p:cNvSpPr txBox="1"/>
          <p:nvPr/>
        </p:nvSpPr>
        <p:spPr>
          <a:xfrm>
            <a:off x="395159" y="2803069"/>
            <a:ext cx="3035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𝐕</a:t>
            </a:r>
            <a:r>
              <a:rPr sz="1950" spc="-37" baseline="-14957" dirty="0">
                <a:latin typeface="Cambria Math"/>
                <a:cs typeface="Cambria Math"/>
              </a:rPr>
              <a:t>𝐂</a:t>
            </a:r>
            <a:endParaRPr sz="1950" baseline="-14957" dirty="0">
              <a:latin typeface="Cambria Math"/>
              <a:cs typeface="Cambria Math"/>
            </a:endParaRPr>
          </a:p>
        </p:txBody>
      </p:sp>
      <p:sp>
        <p:nvSpPr>
          <p:cNvPr id="110" name="object 37">
            <a:extLst>
              <a:ext uri="{FF2B5EF4-FFF2-40B4-BE49-F238E27FC236}">
                <a16:creationId xmlns:a16="http://schemas.microsoft.com/office/drawing/2014/main" id="{458ED8E0-5F20-4621-B25B-33A6B1DE996A}"/>
              </a:ext>
            </a:extLst>
          </p:cNvPr>
          <p:cNvSpPr txBox="1"/>
          <p:nvPr/>
        </p:nvSpPr>
        <p:spPr>
          <a:xfrm>
            <a:off x="250531" y="3788791"/>
            <a:ext cx="4756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−𝐕</a:t>
            </a:r>
            <a:r>
              <a:rPr sz="1950" spc="-37" baseline="-14957" dirty="0">
                <a:latin typeface="Cambria Math"/>
                <a:cs typeface="Cambria Math"/>
              </a:rPr>
              <a:t>𝐂</a:t>
            </a:r>
            <a:endParaRPr sz="1950" baseline="-14957" dirty="0">
              <a:latin typeface="Cambria Math"/>
              <a:cs typeface="Cambria Math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8BA160-3BC9-4B2E-8C89-61BF41CCA593}"/>
              </a:ext>
            </a:extLst>
          </p:cNvPr>
          <p:cNvSpPr/>
          <p:nvPr/>
        </p:nvSpPr>
        <p:spPr>
          <a:xfrm>
            <a:off x="76200" y="2507151"/>
            <a:ext cx="9774662" cy="17984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CF5C2D2A-8F79-4E58-8262-1EA9BAC33181}"/>
              </a:ext>
            </a:extLst>
          </p:cNvPr>
          <p:cNvSpPr/>
          <p:nvPr/>
        </p:nvSpPr>
        <p:spPr>
          <a:xfrm>
            <a:off x="228599" y="4267199"/>
            <a:ext cx="10835259" cy="21271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 animBg="1"/>
      <p:bldP spid="89" grpId="0" animBg="1"/>
      <p:bldP spid="90" grpId="0" animBg="1"/>
      <p:bldP spid="91" grpId="0" animBg="1"/>
      <p:bldP spid="92" grpId="0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9" grpId="0" animBg="1"/>
      <p:bldP spid="1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C4C3F9-F7BD-4BA8-9501-A8DD252197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547761"/>
            <a:ext cx="6477000" cy="6310239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2A8E908F-AB35-457B-8F92-B1F2FCA794F1}"/>
              </a:ext>
            </a:extLst>
          </p:cNvPr>
          <p:cNvSpPr txBox="1">
            <a:spLocks/>
          </p:cNvSpPr>
          <p:nvPr/>
        </p:nvSpPr>
        <p:spPr>
          <a:xfrm>
            <a:off x="0" y="74167"/>
            <a:ext cx="1219200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5"/>
              </a:spcBef>
            </a:pPr>
            <a:r>
              <a:rPr lang="en-US" sz="3200" b="1" u="sng" spc="-2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Waveforms</a:t>
            </a:r>
            <a:r>
              <a:rPr lang="en-US" sz="3200" b="1" u="sng" spc="-7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lang="en-US"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of</a:t>
            </a:r>
            <a:r>
              <a:rPr lang="en-US" sz="3200" b="1" u="sng" spc="-6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FM and PM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8750152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2">
                <a:extLst>
                  <a:ext uri="{FF2B5EF4-FFF2-40B4-BE49-F238E27FC236}">
                    <a16:creationId xmlns:a16="http://schemas.microsoft.com/office/drawing/2014/main" id="{679080A9-00C1-4FF0-9AEB-EE4FEDE330A3}"/>
                  </a:ext>
                </a:extLst>
              </p:cNvPr>
              <p:cNvSpPr txBox="1"/>
              <p:nvPr/>
            </p:nvSpPr>
            <p:spPr>
              <a:xfrm>
                <a:off x="161340" y="584708"/>
                <a:ext cx="11878260" cy="1180067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75565" algn="just">
                  <a:lnSpc>
                    <a:spcPct val="100000"/>
                  </a:lnSpc>
                  <a:spcBef>
                    <a:spcPts val="100"/>
                  </a:spcBef>
                  <a:tabLst>
                    <a:tab pos="417830" algn="l"/>
                  </a:tabLst>
                </a:pP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Problem 1</a:t>
                </a:r>
                <a:r>
                  <a:rPr lang="en-US" sz="2400" dirty="0">
                    <a:solidFill>
                      <a:srgbClr val="6F2F9F"/>
                    </a:solidFill>
                    <a:latin typeface="Calibri"/>
                    <a:cs typeface="Calibri"/>
                  </a:rPr>
                  <a:t>. Sketch FM and PM waves for the modulating signal </a:t>
                </a:r>
                <a:r>
                  <a:rPr lang="en-US" sz="2400" b="1" i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m(t) </a:t>
                </a:r>
                <a:r>
                  <a:rPr lang="en-US" sz="2400" dirty="0">
                    <a:solidFill>
                      <a:srgbClr val="6F2F9F"/>
                    </a:solidFill>
                    <a:latin typeface="Calibri"/>
                    <a:cs typeface="Calibri"/>
                  </a:rPr>
                  <a:t>shown in Figure below. The constants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𝑘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6F2F9F"/>
                    </a:solidFill>
                    <a:latin typeface="Calibri"/>
                    <a:cs typeface="Calibri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𝑘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6F2F9F"/>
                    </a:solidFill>
                    <a:latin typeface="Calibri"/>
                    <a:cs typeface="Calibri"/>
                  </a:rPr>
                  <a:t> are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2</m:t>
                    </m:r>
                    <m:r>
                      <a:rPr lang="en-US" sz="24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𝜋</m:t>
                    </m:r>
                    <m:r>
                      <a:rPr lang="en-US" sz="24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×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10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5</m:t>
                        </m:r>
                      </m:sup>
                    </m:sSup>
                    <m:r>
                      <a:rPr lang="en-US" sz="24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 </m:t>
                    </m:r>
                    <m:r>
                      <a:rPr lang="en-US" sz="24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𝑟𝑎𝑑</m:t>
                    </m:r>
                    <m:r>
                      <a:rPr lang="en-US" sz="24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/(</m:t>
                    </m:r>
                    <m:r>
                      <a:rPr lang="en-US" sz="24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𝑠𝑒𝑐</m:t>
                    </m:r>
                    <m:r>
                      <a:rPr lang="en-US" sz="24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.</m:t>
                    </m:r>
                    <m:r>
                      <a:rPr lang="en-US" sz="24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𝑉𝑜𝑙𝑡</m:t>
                    </m:r>
                    <m:r>
                      <a:rPr lang="en-US" sz="24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6F2F9F"/>
                    </a:solidFill>
                    <a:latin typeface="Calibri"/>
                    <a:cs typeface="Calibri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10</m:t>
                    </m:r>
                    <m:r>
                      <a:rPr lang="el-GR" sz="240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𝜋</m:t>
                    </m:r>
                    <m:r>
                      <a:rPr lang="en-US" sz="24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 </m:t>
                    </m:r>
                    <m:r>
                      <a:rPr lang="en-US" sz="24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𝑟𝑎𝑑</m:t>
                    </m:r>
                    <m:r>
                      <a:rPr lang="en-US" sz="24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/</m:t>
                    </m:r>
                    <m:r>
                      <a:rPr lang="en-US" sz="24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𝑉𝑜𝑙𝑡</m:t>
                    </m:r>
                  </m:oMath>
                </a14:m>
                <a:r>
                  <a:rPr lang="en-US" sz="2400" dirty="0">
                    <a:solidFill>
                      <a:srgbClr val="6F2F9F"/>
                    </a:solidFill>
                    <a:latin typeface="Calibri"/>
                    <a:cs typeface="Calibri"/>
                  </a:rPr>
                  <a:t> respectively, and the carrier frequency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𝑓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6F2F9F"/>
                    </a:solidFill>
                    <a:latin typeface="Calibri"/>
                    <a:cs typeface="Calibri"/>
                  </a:rPr>
                  <a:t> is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100 </m:t>
                    </m:r>
                    <m:r>
                      <a:rPr lang="en-US" sz="24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𝑀𝐻𝑧</m:t>
                    </m:r>
                  </m:oMath>
                </a14:m>
                <a:r>
                  <a:rPr lang="en-US" sz="2400" dirty="0">
                    <a:solidFill>
                      <a:srgbClr val="6F2F9F"/>
                    </a:solidFill>
                    <a:latin typeface="Calibri"/>
                    <a:cs typeface="Calibri"/>
                  </a:rPr>
                  <a:t>.</a:t>
                </a:r>
                <a:r>
                  <a:rPr lang="en-US" sz="2400" spc="-10" dirty="0">
                    <a:solidFill>
                      <a:srgbClr val="6F2F9F"/>
                    </a:solidFill>
                    <a:latin typeface="Calibri"/>
                    <a:cs typeface="Calibri"/>
                  </a:rPr>
                  <a:t> [</a:t>
                </a:r>
                <a:r>
                  <a:rPr lang="en-US" sz="2400" b="1" spc="-10" dirty="0">
                    <a:solidFill>
                      <a:srgbClr val="6F2F9F"/>
                    </a:solidFill>
                    <a:latin typeface="Calibri"/>
                    <a:cs typeface="Calibri"/>
                  </a:rPr>
                  <a:t>Lathi, </a:t>
                </a:r>
                <a:r>
                  <a:rPr lang="en-US" sz="2400" b="1" spc="-10" dirty="0" err="1">
                    <a:solidFill>
                      <a:srgbClr val="6F2F9F"/>
                    </a:solidFill>
                    <a:latin typeface="Calibri"/>
                    <a:cs typeface="Calibri"/>
                  </a:rPr>
                  <a:t>Zhi</a:t>
                </a:r>
                <a:r>
                  <a:rPr lang="en-US" sz="2400" b="1" spc="-10" dirty="0">
                    <a:solidFill>
                      <a:srgbClr val="6F2F9F"/>
                    </a:solidFill>
                    <a:latin typeface="Calibri"/>
                    <a:cs typeface="Calibri"/>
                  </a:rPr>
                  <a:t> Ding: Example 5.1</a:t>
                </a:r>
                <a:r>
                  <a:rPr lang="en-US" sz="2400" spc="-10" dirty="0">
                    <a:solidFill>
                      <a:srgbClr val="6F2F9F"/>
                    </a:solidFill>
                    <a:latin typeface="Calibri"/>
                    <a:cs typeface="Calibri"/>
                  </a:rPr>
                  <a:t>]</a:t>
                </a:r>
              </a:p>
            </p:txBody>
          </p:sp>
        </mc:Choice>
        <mc:Fallback xmlns="">
          <p:sp>
            <p:nvSpPr>
              <p:cNvPr id="2" name="object 2">
                <a:extLst>
                  <a:ext uri="{FF2B5EF4-FFF2-40B4-BE49-F238E27FC236}">
                    <a16:creationId xmlns:a16="http://schemas.microsoft.com/office/drawing/2014/main" id="{679080A9-00C1-4FF0-9AEB-EE4FEDE330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340" y="584708"/>
                <a:ext cx="11878260" cy="1180067"/>
              </a:xfrm>
              <a:prstGeom prst="rect">
                <a:avLst/>
              </a:prstGeom>
              <a:blipFill>
                <a:blip r:embed="rId2"/>
                <a:stretch>
                  <a:fillRect l="-924" t="-6736" r="-1539" b="-12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DE08A9B0-4BB0-429D-8364-389D87006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9079" y="2582274"/>
            <a:ext cx="5653842" cy="222891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813B240-ABCE-422A-96C3-72CA99546B8F}"/>
              </a:ext>
            </a:extLst>
          </p:cNvPr>
          <p:cNvSpPr/>
          <p:nvPr/>
        </p:nvSpPr>
        <p:spPr>
          <a:xfrm>
            <a:off x="7010400" y="4343400"/>
            <a:ext cx="609600" cy="381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4638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B01799-5F8E-49DF-8A29-35D4D3BAE5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2208"/>
          <a:stretch/>
        </p:blipFill>
        <p:spPr>
          <a:xfrm>
            <a:off x="3520098" y="144458"/>
            <a:ext cx="3947502" cy="12271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8C43666-928B-47DE-90F6-10B28D9BCA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9045" y="1318130"/>
            <a:ext cx="4557155" cy="150127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D9F4565-6B9E-4EEC-9621-981A5B3809DC}"/>
              </a:ext>
            </a:extLst>
          </p:cNvPr>
          <p:cNvSpPr/>
          <p:nvPr/>
        </p:nvSpPr>
        <p:spPr>
          <a:xfrm>
            <a:off x="6096000" y="1295400"/>
            <a:ext cx="381000" cy="2535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049582-E045-460A-9AA2-3509C79BF0FC}"/>
              </a:ext>
            </a:extLst>
          </p:cNvPr>
          <p:cNvSpPr/>
          <p:nvPr/>
        </p:nvSpPr>
        <p:spPr>
          <a:xfrm>
            <a:off x="5581650" y="2745040"/>
            <a:ext cx="533400" cy="2556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CD86FF37-C5F9-4353-AB0B-0B5D7EE146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5992" y="4838532"/>
            <a:ext cx="4511431" cy="1943268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0EA6EA4-424A-4A3E-A94F-D8EC0CCE3A50}"/>
              </a:ext>
            </a:extLst>
          </p:cNvPr>
          <p:cNvCxnSpPr>
            <a:cxnSpLocks/>
          </p:cNvCxnSpPr>
          <p:nvPr/>
        </p:nvCxnSpPr>
        <p:spPr>
          <a:xfrm>
            <a:off x="4724400" y="152400"/>
            <a:ext cx="0" cy="662940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93E5D58-4742-4005-B410-E070B897AB17}"/>
              </a:ext>
            </a:extLst>
          </p:cNvPr>
          <p:cNvCxnSpPr>
            <a:cxnSpLocks/>
          </p:cNvCxnSpPr>
          <p:nvPr/>
        </p:nvCxnSpPr>
        <p:spPr>
          <a:xfrm>
            <a:off x="6291072" y="152400"/>
            <a:ext cx="0" cy="662940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0E4DD00-9EF6-4528-8F1A-7DDA9767FFF7}"/>
              </a:ext>
            </a:extLst>
          </p:cNvPr>
          <p:cNvCxnSpPr>
            <a:cxnSpLocks/>
          </p:cNvCxnSpPr>
          <p:nvPr/>
        </p:nvCxnSpPr>
        <p:spPr>
          <a:xfrm>
            <a:off x="5513832" y="152400"/>
            <a:ext cx="0" cy="662940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E75C31F-FF7D-445A-BD21-E28EBDD9712D}"/>
              </a:ext>
            </a:extLst>
          </p:cNvPr>
          <p:cNvCxnSpPr>
            <a:cxnSpLocks/>
          </p:cNvCxnSpPr>
          <p:nvPr/>
        </p:nvCxnSpPr>
        <p:spPr>
          <a:xfrm>
            <a:off x="7086600" y="152400"/>
            <a:ext cx="0" cy="655320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3492791-464E-43D2-B6F4-FB730557FAC6}"/>
              </a:ext>
            </a:extLst>
          </p:cNvPr>
          <p:cNvCxnSpPr>
            <a:cxnSpLocks/>
          </p:cNvCxnSpPr>
          <p:nvPr/>
        </p:nvCxnSpPr>
        <p:spPr>
          <a:xfrm>
            <a:off x="3962400" y="152400"/>
            <a:ext cx="0" cy="662940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Picture 37">
            <a:extLst>
              <a:ext uri="{FF2B5EF4-FFF2-40B4-BE49-F238E27FC236}">
                <a16:creationId xmlns:a16="http://schemas.microsoft.com/office/drawing/2014/main" id="{E59BF81D-6CA5-45E7-B0E3-4DE2ED97FAC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8065"/>
          <a:stretch/>
        </p:blipFill>
        <p:spPr>
          <a:xfrm>
            <a:off x="3228975" y="2743200"/>
            <a:ext cx="4397121" cy="2045776"/>
          </a:xfrm>
          <a:prstGeom prst="rect">
            <a:avLst/>
          </a:prstGeom>
        </p:spPr>
      </p:pic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C6FB32F-4859-42DC-B030-D360134FAD07}"/>
              </a:ext>
            </a:extLst>
          </p:cNvPr>
          <p:cNvCxnSpPr>
            <a:cxnSpLocks/>
          </p:cNvCxnSpPr>
          <p:nvPr/>
        </p:nvCxnSpPr>
        <p:spPr>
          <a:xfrm>
            <a:off x="4267200" y="228600"/>
            <a:ext cx="0" cy="4527969"/>
          </a:xfrm>
          <a:prstGeom prst="line">
            <a:avLst/>
          </a:prstGeom>
          <a:ln w="38100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536FB42-72F3-41CB-BD89-C631654D617A}"/>
              </a:ext>
            </a:extLst>
          </p:cNvPr>
          <p:cNvCxnSpPr>
            <a:cxnSpLocks/>
          </p:cNvCxnSpPr>
          <p:nvPr/>
        </p:nvCxnSpPr>
        <p:spPr>
          <a:xfrm>
            <a:off x="5181600" y="228600"/>
            <a:ext cx="0" cy="4527969"/>
          </a:xfrm>
          <a:prstGeom prst="line">
            <a:avLst/>
          </a:prstGeom>
          <a:ln w="38100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7E15CA6-A910-4807-9B07-E65416EE352F}"/>
              </a:ext>
            </a:extLst>
          </p:cNvPr>
          <p:cNvCxnSpPr>
            <a:cxnSpLocks/>
          </p:cNvCxnSpPr>
          <p:nvPr/>
        </p:nvCxnSpPr>
        <p:spPr>
          <a:xfrm>
            <a:off x="5867400" y="228600"/>
            <a:ext cx="0" cy="4527969"/>
          </a:xfrm>
          <a:prstGeom prst="line">
            <a:avLst/>
          </a:prstGeom>
          <a:ln w="38100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31CD172-6F79-4C20-9A02-C858F3DEED2B}"/>
              </a:ext>
            </a:extLst>
          </p:cNvPr>
          <p:cNvCxnSpPr>
            <a:cxnSpLocks/>
          </p:cNvCxnSpPr>
          <p:nvPr/>
        </p:nvCxnSpPr>
        <p:spPr>
          <a:xfrm>
            <a:off x="6781800" y="228600"/>
            <a:ext cx="0" cy="4527969"/>
          </a:xfrm>
          <a:prstGeom prst="line">
            <a:avLst/>
          </a:prstGeom>
          <a:ln w="38100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bject 2">
            <a:extLst>
              <a:ext uri="{FF2B5EF4-FFF2-40B4-BE49-F238E27FC236}">
                <a16:creationId xmlns:a16="http://schemas.microsoft.com/office/drawing/2014/main" id="{C2123495-AB4B-456E-9BDC-33575AC3B291}"/>
              </a:ext>
            </a:extLst>
          </p:cNvPr>
          <p:cNvSpPr txBox="1"/>
          <p:nvPr/>
        </p:nvSpPr>
        <p:spPr>
          <a:xfrm>
            <a:off x="682330" y="76200"/>
            <a:ext cx="1527470" cy="764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5565" algn="just">
              <a:lnSpc>
                <a:spcPct val="100000"/>
              </a:lnSpc>
              <a:spcBef>
                <a:spcPts val="100"/>
              </a:spcBef>
              <a:tabLst>
                <a:tab pos="417830" algn="l"/>
              </a:tabLst>
            </a:pPr>
            <a:r>
              <a:rPr lang="en-US" sz="2400" b="1" spc="-10" dirty="0">
                <a:solidFill>
                  <a:srgbClr val="6F2F9F"/>
                </a:solidFill>
                <a:latin typeface="Calibri"/>
                <a:cs typeface="Calibri"/>
              </a:rPr>
              <a:t>Solve: </a:t>
            </a:r>
          </a:p>
          <a:p>
            <a:pPr marL="75565" algn="just">
              <a:lnSpc>
                <a:spcPct val="100000"/>
              </a:lnSpc>
              <a:spcBef>
                <a:spcPts val="100"/>
              </a:spcBef>
              <a:tabLst>
                <a:tab pos="417830" algn="l"/>
              </a:tabLst>
            </a:pPr>
            <a:r>
              <a:rPr lang="en-US" sz="2400" spc="-10" dirty="0">
                <a:solidFill>
                  <a:srgbClr val="6F2F9F"/>
                </a:solidFill>
                <a:latin typeface="Calibri"/>
                <a:cs typeface="Calibri"/>
              </a:rPr>
              <a:t>Waveform</a:t>
            </a:r>
          </a:p>
        </p:txBody>
      </p:sp>
    </p:spTree>
    <p:extLst>
      <p:ext uri="{BB962C8B-B14F-4D97-AF65-F5344CB8AC3E}">
        <p14:creationId xmlns:p14="http://schemas.microsoft.com/office/powerpoint/2010/main" val="475600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31005C8-E080-4EC0-AFA9-5E3D972406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" r="87423" b="-3707"/>
          <a:stretch/>
        </p:blipFill>
        <p:spPr>
          <a:xfrm>
            <a:off x="143821" y="152400"/>
            <a:ext cx="1472772" cy="4207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3022345-9748-420B-A6FE-6DD81DDC2A5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5821" r="11508"/>
          <a:stretch/>
        </p:blipFill>
        <p:spPr>
          <a:xfrm>
            <a:off x="143821" y="609600"/>
            <a:ext cx="10496126" cy="40574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6871A41-7E18-4EF0-8779-8B90DBD15D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773" y="1177368"/>
            <a:ext cx="11530827" cy="5350226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CDC94351-784D-4075-B2A5-200806BACF8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22208" r="44243"/>
          <a:stretch/>
        </p:blipFill>
        <p:spPr>
          <a:xfrm>
            <a:off x="9511322" y="1847928"/>
            <a:ext cx="2200998" cy="1227142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150AFB59-A5A5-4BC2-8EF1-4E20DB20866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8065" r="43324"/>
          <a:stretch/>
        </p:blipFill>
        <p:spPr>
          <a:xfrm>
            <a:off x="9220200" y="3010494"/>
            <a:ext cx="2492120" cy="2045776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DBD0E1D5-7768-47AA-AECE-E425FB946AD4}"/>
              </a:ext>
            </a:extLst>
          </p:cNvPr>
          <p:cNvSpPr/>
          <p:nvPr/>
        </p:nvSpPr>
        <p:spPr>
          <a:xfrm>
            <a:off x="12169520" y="2770270"/>
            <a:ext cx="304797" cy="2402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E84496-EEB6-4F8F-9987-0B2515A8C0BF}"/>
              </a:ext>
            </a:extLst>
          </p:cNvPr>
          <p:cNvCxnSpPr>
            <a:cxnSpLocks/>
          </p:cNvCxnSpPr>
          <p:nvPr/>
        </p:nvCxnSpPr>
        <p:spPr>
          <a:xfrm>
            <a:off x="10721720" y="1779670"/>
            <a:ext cx="0" cy="340193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BD3BA1D-1544-471E-87D3-38BD576E45CE}"/>
              </a:ext>
            </a:extLst>
          </p:cNvPr>
          <p:cNvCxnSpPr>
            <a:cxnSpLocks/>
          </p:cNvCxnSpPr>
          <p:nvPr/>
        </p:nvCxnSpPr>
        <p:spPr>
          <a:xfrm>
            <a:off x="11511152" y="1779670"/>
            <a:ext cx="0" cy="340193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0CDC6E8-4C16-45E2-96AE-EC18F4C0C1FD}"/>
              </a:ext>
            </a:extLst>
          </p:cNvPr>
          <p:cNvCxnSpPr>
            <a:cxnSpLocks/>
          </p:cNvCxnSpPr>
          <p:nvPr/>
        </p:nvCxnSpPr>
        <p:spPr>
          <a:xfrm>
            <a:off x="9959720" y="1779670"/>
            <a:ext cx="0" cy="340193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B5C333BE-D971-41BC-A5B7-5990DD145616}"/>
              </a:ext>
            </a:extLst>
          </p:cNvPr>
          <p:cNvSpPr/>
          <p:nvPr/>
        </p:nvSpPr>
        <p:spPr>
          <a:xfrm>
            <a:off x="9753600" y="6172200"/>
            <a:ext cx="1447800" cy="3553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6183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7F0382-0946-4DCD-8C89-258E6E635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4" y="1066800"/>
            <a:ext cx="11999049" cy="54102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474CA53-9B1F-404D-810C-DFF987FDB81E}"/>
              </a:ext>
            </a:extLst>
          </p:cNvPr>
          <p:cNvSpPr/>
          <p:nvPr/>
        </p:nvSpPr>
        <p:spPr>
          <a:xfrm>
            <a:off x="4495800" y="1066800"/>
            <a:ext cx="4800600" cy="381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B5A440-9246-4FDF-9FCA-3A7A48043A17}"/>
              </a:ext>
            </a:extLst>
          </p:cNvPr>
          <p:cNvSpPr/>
          <p:nvPr/>
        </p:nvSpPr>
        <p:spPr>
          <a:xfrm>
            <a:off x="1981200" y="6019800"/>
            <a:ext cx="914400" cy="381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CC8316-62AE-4EA4-9F01-3EFFCCFC54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800" y="0"/>
            <a:ext cx="4557155" cy="15012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C44427-4122-4DBC-A59D-93E06CCAB0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6747" y="1447800"/>
            <a:ext cx="4511431" cy="1943268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53A045F-5A36-4AB2-A339-75285F3DB26F}"/>
              </a:ext>
            </a:extLst>
          </p:cNvPr>
          <p:cNvCxnSpPr>
            <a:cxnSpLocks/>
          </p:cNvCxnSpPr>
          <p:nvPr/>
        </p:nvCxnSpPr>
        <p:spPr>
          <a:xfrm>
            <a:off x="7605155" y="183936"/>
            <a:ext cx="0" cy="3092664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DB4491-E12C-423C-92FD-96E3F5EBF3D5}"/>
              </a:ext>
            </a:extLst>
          </p:cNvPr>
          <p:cNvCxnSpPr>
            <a:cxnSpLocks/>
          </p:cNvCxnSpPr>
          <p:nvPr/>
        </p:nvCxnSpPr>
        <p:spPr>
          <a:xfrm>
            <a:off x="9171827" y="183936"/>
            <a:ext cx="0" cy="3092664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A4D6F1E-63D6-46C2-9150-E6059B5C7B5A}"/>
              </a:ext>
            </a:extLst>
          </p:cNvPr>
          <p:cNvCxnSpPr>
            <a:cxnSpLocks/>
          </p:cNvCxnSpPr>
          <p:nvPr/>
        </p:nvCxnSpPr>
        <p:spPr>
          <a:xfrm>
            <a:off x="8394587" y="183936"/>
            <a:ext cx="0" cy="3092664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EDD20F0-B97E-46B9-88F8-E5699D4BE9A3}"/>
              </a:ext>
            </a:extLst>
          </p:cNvPr>
          <p:cNvCxnSpPr>
            <a:cxnSpLocks/>
          </p:cNvCxnSpPr>
          <p:nvPr/>
        </p:nvCxnSpPr>
        <p:spPr>
          <a:xfrm>
            <a:off x="9967355" y="163610"/>
            <a:ext cx="0" cy="3057116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B5F3FBB-B9CA-4903-AA7D-BB41F92B4161}"/>
              </a:ext>
            </a:extLst>
          </p:cNvPr>
          <p:cNvCxnSpPr>
            <a:cxnSpLocks/>
          </p:cNvCxnSpPr>
          <p:nvPr/>
        </p:nvCxnSpPr>
        <p:spPr>
          <a:xfrm>
            <a:off x="6843155" y="152400"/>
            <a:ext cx="0" cy="3092664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03754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2">
                <a:extLst>
                  <a:ext uri="{FF2B5EF4-FFF2-40B4-BE49-F238E27FC236}">
                    <a16:creationId xmlns:a16="http://schemas.microsoft.com/office/drawing/2014/main" id="{679080A9-00C1-4FF0-9AEB-EE4FEDE330A3}"/>
                  </a:ext>
                </a:extLst>
              </p:cNvPr>
              <p:cNvSpPr txBox="1"/>
              <p:nvPr/>
            </p:nvSpPr>
            <p:spPr>
              <a:xfrm>
                <a:off x="161340" y="584708"/>
                <a:ext cx="11878260" cy="1610762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75565" algn="just">
                  <a:lnSpc>
                    <a:spcPct val="100000"/>
                  </a:lnSpc>
                  <a:spcBef>
                    <a:spcPts val="100"/>
                  </a:spcBef>
                  <a:tabLst>
                    <a:tab pos="417830" algn="l"/>
                  </a:tabLst>
                </a:pP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Problem 2</a:t>
                </a:r>
                <a:r>
                  <a:rPr lang="en-US" sz="2400" dirty="0">
                    <a:solidFill>
                      <a:srgbClr val="6F2F9F"/>
                    </a:solidFill>
                    <a:latin typeface="Calibri"/>
                    <a:cs typeface="Calibri"/>
                  </a:rPr>
                  <a:t>. Sketch FM and PM waves for the modulating signal </a:t>
                </a:r>
                <a:r>
                  <a:rPr lang="en-US" sz="2400" b="1" i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m(t) </a:t>
                </a:r>
                <a:r>
                  <a:rPr lang="en-US" sz="2400" dirty="0">
                    <a:solidFill>
                      <a:srgbClr val="6F2F9F"/>
                    </a:solidFill>
                    <a:latin typeface="Calibri"/>
                    <a:cs typeface="Calibri"/>
                  </a:rPr>
                  <a:t>shown in the figure below. The constants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𝑘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6F2F9F"/>
                    </a:solidFill>
                    <a:latin typeface="Calibri"/>
                    <a:cs typeface="Calibri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𝑘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6F2F9F"/>
                    </a:solidFill>
                    <a:latin typeface="Calibri"/>
                    <a:cs typeface="Calibri"/>
                  </a:rPr>
                  <a:t> are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2</m:t>
                    </m:r>
                    <m:r>
                      <a:rPr lang="en-US" sz="24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𝜋</m:t>
                    </m:r>
                    <m:r>
                      <a:rPr lang="en-US" sz="24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×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10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5</m:t>
                        </m:r>
                      </m:sup>
                    </m:sSup>
                    <m:r>
                      <a:rPr lang="en-US" sz="24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 </m:t>
                    </m:r>
                    <m:r>
                      <a:rPr lang="en-US" sz="24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𝑟𝑎𝑑</m:t>
                    </m:r>
                    <m:r>
                      <a:rPr lang="en-US" sz="24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/(</m:t>
                    </m:r>
                    <m:r>
                      <a:rPr lang="en-US" sz="24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𝑠𝑒𝑐</m:t>
                    </m:r>
                    <m:r>
                      <a:rPr lang="en-US" sz="24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.</m:t>
                    </m:r>
                    <m:r>
                      <a:rPr lang="en-US" sz="24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𝑉𝑜𝑙𝑡</m:t>
                    </m:r>
                    <m:r>
                      <a:rPr lang="en-US" sz="24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6F2F9F"/>
                    </a:solidFill>
                    <a:latin typeface="Calibri"/>
                    <a:cs typeface="Calibri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fPr>
                      <m:num>
                        <m:r>
                          <a:rPr lang="el-GR" sz="240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𝜋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2</m:t>
                        </m:r>
                      </m:den>
                    </m:f>
                    <m:r>
                      <a:rPr lang="en-US" sz="24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 </m:t>
                    </m:r>
                    <m:r>
                      <a:rPr lang="en-US" sz="24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𝑟𝑎𝑑</m:t>
                    </m:r>
                    <m:r>
                      <a:rPr lang="en-US" sz="24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/</m:t>
                    </m:r>
                    <m:r>
                      <a:rPr lang="en-US" sz="24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𝑉𝑜𝑙𝑡</m:t>
                    </m:r>
                  </m:oMath>
                </a14:m>
                <a:r>
                  <a:rPr lang="en-US" sz="2400" dirty="0">
                    <a:solidFill>
                      <a:srgbClr val="6F2F9F"/>
                    </a:solidFill>
                    <a:latin typeface="Calibri"/>
                    <a:cs typeface="Calibri"/>
                  </a:rPr>
                  <a:t> respectively, and the carrier frequency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𝑓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6F2F9F"/>
                    </a:solidFill>
                    <a:latin typeface="Calibri"/>
                    <a:cs typeface="Calibri"/>
                  </a:rPr>
                  <a:t> is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100 </m:t>
                    </m:r>
                    <m:r>
                      <a:rPr lang="en-US" sz="24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𝑀𝐻𝑧</m:t>
                    </m:r>
                  </m:oMath>
                </a14:m>
                <a:r>
                  <a:rPr lang="en-US" sz="2400" dirty="0">
                    <a:solidFill>
                      <a:srgbClr val="6F2F9F"/>
                    </a:solidFill>
                    <a:latin typeface="Calibri"/>
                    <a:cs typeface="Calibri"/>
                  </a:rPr>
                  <a:t>. Consider the carrier signal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𝐴</m:t>
                    </m:r>
                    <m:r>
                      <a:rPr lang="en-US" sz="24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𝑐𝑜𝑠</m:t>
                    </m:r>
                    <m:r>
                      <a:rPr lang="en-US" sz="24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𝜔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𝑐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𝑡</m:t>
                    </m:r>
                    <m:r>
                      <a:rPr lang="en-US" sz="24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)</m:t>
                    </m:r>
                  </m:oMath>
                </a14:m>
                <a:r>
                  <a:rPr lang="en-US" sz="2400" spc="-10" dirty="0">
                    <a:solidFill>
                      <a:srgbClr val="6F2F9F"/>
                    </a:solidFill>
                    <a:latin typeface="Calibri"/>
                    <a:cs typeface="Calibri"/>
                  </a:rPr>
                  <a:t> [</a:t>
                </a:r>
                <a:r>
                  <a:rPr lang="en-US" sz="2400" b="1" spc="-10" dirty="0">
                    <a:solidFill>
                      <a:srgbClr val="6F2F9F"/>
                    </a:solidFill>
                    <a:latin typeface="Calibri"/>
                    <a:cs typeface="Calibri"/>
                  </a:rPr>
                  <a:t>Lathi, </a:t>
                </a:r>
                <a:r>
                  <a:rPr lang="en-US" sz="2400" b="1" spc="-10" dirty="0" err="1">
                    <a:solidFill>
                      <a:srgbClr val="6F2F9F"/>
                    </a:solidFill>
                    <a:latin typeface="Calibri"/>
                    <a:cs typeface="Calibri"/>
                  </a:rPr>
                  <a:t>Zhi</a:t>
                </a:r>
                <a:r>
                  <a:rPr lang="en-US" sz="2400" b="1" spc="-10" dirty="0">
                    <a:solidFill>
                      <a:srgbClr val="6F2F9F"/>
                    </a:solidFill>
                    <a:latin typeface="Calibri"/>
                    <a:cs typeface="Calibri"/>
                  </a:rPr>
                  <a:t> Ding: Example 5.2</a:t>
                </a:r>
                <a:r>
                  <a:rPr lang="en-US" sz="2400" spc="-10" dirty="0">
                    <a:solidFill>
                      <a:srgbClr val="6F2F9F"/>
                    </a:solidFill>
                    <a:latin typeface="Calibri"/>
                    <a:cs typeface="Calibri"/>
                  </a:rPr>
                  <a:t>]</a:t>
                </a:r>
              </a:p>
            </p:txBody>
          </p:sp>
        </mc:Choice>
        <mc:Fallback xmlns="">
          <p:sp>
            <p:nvSpPr>
              <p:cNvPr id="2" name="object 2">
                <a:extLst>
                  <a:ext uri="{FF2B5EF4-FFF2-40B4-BE49-F238E27FC236}">
                    <a16:creationId xmlns:a16="http://schemas.microsoft.com/office/drawing/2014/main" id="{679080A9-00C1-4FF0-9AEB-EE4FEDE330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340" y="584708"/>
                <a:ext cx="11878260" cy="1610762"/>
              </a:xfrm>
              <a:prstGeom prst="rect">
                <a:avLst/>
              </a:prstGeom>
              <a:blipFill>
                <a:blip r:embed="rId2"/>
                <a:stretch>
                  <a:fillRect l="-924" t="-4924" r="-1539" b="-102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D813B240-ABCE-422A-96C3-72CA99546B8F}"/>
              </a:ext>
            </a:extLst>
          </p:cNvPr>
          <p:cNvSpPr/>
          <p:nvPr/>
        </p:nvSpPr>
        <p:spPr>
          <a:xfrm>
            <a:off x="7010400" y="4343400"/>
            <a:ext cx="609600" cy="381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13B4A6-ED6A-455C-823E-1B5967AE213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2944"/>
          <a:stretch/>
        </p:blipFill>
        <p:spPr>
          <a:xfrm>
            <a:off x="2350517" y="2286000"/>
            <a:ext cx="7490966" cy="28194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16DA3FA-86B0-4626-BC04-FAEF9E70D345}"/>
              </a:ext>
            </a:extLst>
          </p:cNvPr>
          <p:cNvSpPr/>
          <p:nvPr/>
        </p:nvSpPr>
        <p:spPr>
          <a:xfrm>
            <a:off x="3048000" y="5334000"/>
            <a:ext cx="457200" cy="533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D00AD5-FF08-4006-BFBC-8D048BA7E6A0}"/>
              </a:ext>
            </a:extLst>
          </p:cNvPr>
          <p:cNvSpPr/>
          <p:nvPr/>
        </p:nvSpPr>
        <p:spPr>
          <a:xfrm>
            <a:off x="7315200" y="4114800"/>
            <a:ext cx="838200" cy="685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6452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object 2">
            <a:extLst>
              <a:ext uri="{FF2B5EF4-FFF2-40B4-BE49-F238E27FC236}">
                <a16:creationId xmlns:a16="http://schemas.microsoft.com/office/drawing/2014/main" id="{C2123495-AB4B-456E-9BDC-33575AC3B291}"/>
              </a:ext>
            </a:extLst>
          </p:cNvPr>
          <p:cNvSpPr txBox="1"/>
          <p:nvPr/>
        </p:nvSpPr>
        <p:spPr>
          <a:xfrm>
            <a:off x="76200" y="0"/>
            <a:ext cx="2057400" cy="764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5565" algn="just">
              <a:lnSpc>
                <a:spcPct val="100000"/>
              </a:lnSpc>
              <a:spcBef>
                <a:spcPts val="100"/>
              </a:spcBef>
              <a:tabLst>
                <a:tab pos="417830" algn="l"/>
              </a:tabLst>
            </a:pPr>
            <a:r>
              <a:rPr lang="en-US" sz="2400" b="1" spc="-10" dirty="0">
                <a:solidFill>
                  <a:srgbClr val="6F2F9F"/>
                </a:solidFill>
                <a:latin typeface="Calibri"/>
                <a:cs typeface="Calibri"/>
              </a:rPr>
              <a:t>Solve: </a:t>
            </a:r>
          </a:p>
          <a:p>
            <a:pPr marL="75565" algn="just">
              <a:lnSpc>
                <a:spcPct val="100000"/>
              </a:lnSpc>
              <a:spcBef>
                <a:spcPts val="100"/>
              </a:spcBef>
              <a:tabLst>
                <a:tab pos="417830" algn="l"/>
              </a:tabLst>
            </a:pPr>
            <a:r>
              <a:rPr lang="en-US" sz="2400" spc="-10" dirty="0">
                <a:solidFill>
                  <a:srgbClr val="6F2F9F"/>
                </a:solidFill>
                <a:latin typeface="Calibri"/>
                <a:cs typeface="Calibri"/>
              </a:rPr>
              <a:t>Waveform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19AE48-48B0-492D-849D-6FEC90E3EEDE}"/>
              </a:ext>
            </a:extLst>
          </p:cNvPr>
          <p:cNvSpPr/>
          <p:nvPr/>
        </p:nvSpPr>
        <p:spPr>
          <a:xfrm>
            <a:off x="4267200" y="2743200"/>
            <a:ext cx="457200" cy="381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DFDF0F-51DE-4105-AD14-3989D6F728A7}"/>
              </a:ext>
            </a:extLst>
          </p:cNvPr>
          <p:cNvSpPr/>
          <p:nvPr/>
        </p:nvSpPr>
        <p:spPr>
          <a:xfrm>
            <a:off x="9220200" y="2667000"/>
            <a:ext cx="5334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38D8DFE-50F9-433A-A8FC-0B2698D49E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0"/>
            <a:ext cx="69653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8416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A57EA2D-56D3-4F6F-9C40-23778F0939E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4444"/>
          <a:stretch/>
        </p:blipFill>
        <p:spPr>
          <a:xfrm>
            <a:off x="2133600" y="304800"/>
            <a:ext cx="6965373" cy="3124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8EDB2DB-FAC2-485A-A1E4-C909C1A3CF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581400"/>
            <a:ext cx="11508287" cy="27432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7640FAE-A7AB-4C81-8630-19F1EE0A21B2}"/>
              </a:ext>
            </a:extLst>
          </p:cNvPr>
          <p:cNvSpPr/>
          <p:nvPr/>
        </p:nvSpPr>
        <p:spPr>
          <a:xfrm>
            <a:off x="8229600" y="5943600"/>
            <a:ext cx="35052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4074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2FCE73C-61FB-40B6-8AF7-1B202AE6B285}"/>
              </a:ext>
            </a:extLst>
          </p:cNvPr>
          <p:cNvSpPr/>
          <p:nvPr/>
        </p:nvSpPr>
        <p:spPr>
          <a:xfrm>
            <a:off x="3962400" y="3505200"/>
            <a:ext cx="3810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774C539-E28E-433E-8D77-B048DE2C62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2085309"/>
            <a:ext cx="8278380" cy="477269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CF8F299-4C02-4587-AC90-31B44FA0ACA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7778"/>
          <a:stretch/>
        </p:blipFill>
        <p:spPr>
          <a:xfrm>
            <a:off x="5105400" y="0"/>
            <a:ext cx="6862076" cy="2570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9388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27492"/>
            <a:ext cx="1219200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z="3200" spc="-55" dirty="0">
                <a:solidFill>
                  <a:srgbClr val="006600"/>
                </a:solidFill>
                <a:latin typeface="Trebuchet MS"/>
                <a:cs typeface="Trebuchet MS"/>
              </a:rPr>
              <a:t>Phase</a:t>
            </a:r>
            <a:r>
              <a:rPr sz="3200" spc="-385" dirty="0">
                <a:solidFill>
                  <a:srgbClr val="006600"/>
                </a:solidFill>
                <a:latin typeface="Trebuchet MS"/>
                <a:cs typeface="Trebuchet MS"/>
              </a:rPr>
              <a:t> </a:t>
            </a:r>
            <a:r>
              <a:rPr lang="en-US" sz="3200" spc="-20" dirty="0">
                <a:solidFill>
                  <a:srgbClr val="006600"/>
                </a:solidFill>
                <a:latin typeface="Trebuchet MS"/>
                <a:cs typeface="Trebuchet MS"/>
              </a:rPr>
              <a:t>Discontinuity and Phase Shift</a:t>
            </a:r>
            <a:endParaRPr sz="3200" dirty="0">
              <a:latin typeface="Trebuchet MS"/>
              <a:cs typeface="Trebuchet M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/>
              <p:cNvSpPr txBox="1"/>
              <p:nvPr/>
            </p:nvSpPr>
            <p:spPr>
              <a:xfrm>
                <a:off x="228600" y="3200400"/>
                <a:ext cx="11658600" cy="3566746"/>
              </a:xfrm>
              <a:prstGeom prst="rect">
                <a:avLst/>
              </a:prstGeom>
            </p:spPr>
            <p:txBody>
              <a:bodyPr vert="horz" wrap="square" lIns="0" tIns="92710" rIns="0" bIns="0" rtlCol="0">
                <a:spAutoFit/>
              </a:bodyPr>
              <a:lstStyle/>
              <a:p>
                <a:pPr marL="520065" indent="-457200">
                  <a:lnSpc>
                    <a:spcPct val="100000"/>
                  </a:lnSpc>
                  <a:spcBef>
                    <a:spcPts val="470"/>
                  </a:spcBef>
                  <a:buFont typeface="Wingdings"/>
                  <a:buChar char=""/>
                  <a:tabLst>
                    <a:tab pos="520065" algn="l"/>
                  </a:tabLst>
                </a:pPr>
                <a:r>
                  <a:rPr lang="en-US" sz="2400" dirty="0">
                    <a:solidFill>
                      <a:srgbClr val="6F2F9F"/>
                    </a:solidFill>
                    <a:latin typeface="Calibri"/>
                    <a:cs typeface="Calibri"/>
                  </a:rPr>
                  <a:t>The PM wave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𝜙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𝑃𝑀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rgbClr val="6F2F9F"/>
                    </a:solidFill>
                    <a:latin typeface="Calibri"/>
                    <a:cs typeface="Calibri"/>
                  </a:rPr>
                  <a:t> in this case has phase discontinuities at instants where impulses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𝑚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𝑡</m:t>
                        </m:r>
                      </m:e>
                    </m:d>
                    <m:r>
                      <a:rPr lang="en-US" sz="24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rgbClr val="6F2F9F"/>
                    </a:solidFill>
                    <a:latin typeface="Calibri"/>
                    <a:cs typeface="Calibri"/>
                  </a:rPr>
                  <a:t>are located. At these instants, the carrier phase shifts by </a:t>
                </a:r>
                <a14:m>
                  <m:oMath xmlns:m="http://schemas.openxmlformats.org/officeDocument/2006/math">
                    <m:r>
                      <a:rPr lang="el-GR" sz="2400" b="1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𝝅</m:t>
                    </m:r>
                  </m:oMath>
                </a14:m>
                <a:r>
                  <a:rPr lang="en-US" sz="2400" dirty="0">
                    <a:solidFill>
                      <a:srgbClr val="6F2F9F"/>
                    </a:solidFill>
                    <a:latin typeface="Calibri"/>
                    <a:cs typeface="Calibri"/>
                  </a:rPr>
                  <a:t> instantaneously.</a:t>
                </a:r>
                <a:endParaRPr lang="en-US" sz="2400" dirty="0">
                  <a:latin typeface="Calibri"/>
                  <a:cs typeface="Calibri"/>
                </a:endParaRPr>
              </a:p>
              <a:p>
                <a:pPr marL="520065" indent="-457200">
                  <a:lnSpc>
                    <a:spcPct val="100000"/>
                  </a:lnSpc>
                  <a:buFont typeface="Wingdings"/>
                  <a:buChar char=""/>
                  <a:tabLst>
                    <a:tab pos="520065" algn="l"/>
                  </a:tabLst>
                </a:pPr>
                <a:r>
                  <a:rPr lang="en-US" sz="2400" dirty="0">
                    <a:solidFill>
                      <a:srgbClr val="6F2F9F"/>
                    </a:solidFill>
                    <a:latin typeface="Calibri"/>
                    <a:cs typeface="Calibri"/>
                  </a:rPr>
                  <a:t>A finite phase shift in zero time implies infinite instantaneous frequency at these instants.</a:t>
                </a:r>
                <a:r>
                  <a:rPr lang="en-US" sz="2400" spc="-45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endParaRPr lang="en-US" sz="2400" dirty="0">
                  <a:latin typeface="Calibri"/>
                  <a:cs typeface="Calibri"/>
                </a:endParaRPr>
              </a:p>
              <a:p>
                <a:pPr marL="520065" indent="-457200">
                  <a:lnSpc>
                    <a:spcPct val="100000"/>
                  </a:lnSpc>
                  <a:buFont typeface="Wingdings"/>
                  <a:buChar char=""/>
                  <a:tabLst>
                    <a:tab pos="520065" algn="l"/>
                  </a:tabLst>
                </a:pPr>
                <a:r>
                  <a:rPr lang="en-US" sz="2400" b="1" u="sng" spc="-20" dirty="0">
                    <a:solidFill>
                      <a:srgbClr val="6F2F9F"/>
                    </a:solidFill>
                    <a:latin typeface="Calibri"/>
                    <a:cs typeface="Calibri"/>
                  </a:rPr>
                  <a:t>Phase discontinuity/shift measurement</a:t>
                </a:r>
                <a:r>
                  <a:rPr lang="en-US" sz="2400" spc="-20" dirty="0">
                    <a:solidFill>
                      <a:srgbClr val="6F2F9F"/>
                    </a:solidFill>
                    <a:latin typeface="Calibri"/>
                    <a:cs typeface="Calibri"/>
                  </a:rPr>
                  <a:t>: The amount of phase discontinuity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𝜙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𝑃𝑀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spc="-20" dirty="0">
                    <a:solidFill>
                      <a:srgbClr val="6F2F9F"/>
                    </a:solidFill>
                    <a:latin typeface="Calibri"/>
                    <a:cs typeface="Calibri"/>
                  </a:rPr>
                  <a:t>at the instant where </a:t>
                </a:r>
                <a14:m>
                  <m:oMath xmlns:m="http://schemas.openxmlformats.org/officeDocument/2006/math">
                    <m:r>
                      <a:rPr lang="en-US" sz="2400" b="0" i="1" spc="-20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𝑚</m:t>
                    </m:r>
                    <m:r>
                      <a:rPr lang="en-US" sz="2400" b="0" i="1" spc="-20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(</m:t>
                    </m:r>
                    <m:r>
                      <a:rPr lang="en-US" sz="2400" b="0" i="1" spc="-20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𝑡</m:t>
                    </m:r>
                    <m:r>
                      <a:rPr lang="en-US" sz="2400" b="0" i="1" spc="-20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)</m:t>
                    </m:r>
                  </m:oMath>
                </a14:m>
                <a:r>
                  <a:rPr lang="en-US" sz="2400" spc="-20" dirty="0">
                    <a:solidFill>
                      <a:srgbClr val="6F2F9F"/>
                    </a:solidFill>
                    <a:latin typeface="Calibri"/>
                    <a:cs typeface="Calibri"/>
                  </a:rPr>
                  <a:t> is discontinuous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pc="-20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en-US" sz="2400" b="0" i="1" spc="-20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𝑘</m:t>
                        </m:r>
                      </m:e>
                      <m:sub>
                        <m:r>
                          <a:rPr lang="en-US" sz="2400" b="0" i="1" spc="-20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𝑝</m:t>
                        </m:r>
                      </m:sub>
                    </m:sSub>
                    <m:sSub>
                      <m:sSubPr>
                        <m:ctrlPr>
                          <a:rPr lang="en-US" sz="2400" b="0" i="1" spc="-20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en-US" sz="2400" b="0" i="1" spc="-20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𝑚</m:t>
                        </m:r>
                      </m:e>
                      <m:sub>
                        <m:r>
                          <a:rPr lang="en-US" sz="2400" b="0" i="1" spc="-20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sz="2400" spc="-20" dirty="0">
                    <a:solidFill>
                      <a:srgbClr val="6F2F9F"/>
                    </a:solidFill>
                    <a:latin typeface="Calibri"/>
                    <a:cs typeface="Calibri"/>
                  </a:rPr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pc="-20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en-US" sz="2400" b="0" i="1" spc="-20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𝑚</m:t>
                        </m:r>
                      </m:e>
                      <m:sub>
                        <m:r>
                          <a:rPr lang="en-US" sz="2400" b="0" i="1" spc="-20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sz="2400" spc="-20" dirty="0">
                    <a:solidFill>
                      <a:srgbClr val="6F2F9F"/>
                    </a:solidFill>
                    <a:latin typeface="Calibri"/>
                    <a:cs typeface="Calibri"/>
                  </a:rPr>
                  <a:t> is the amount of discontinuity in </a:t>
                </a:r>
                <a14:m>
                  <m:oMath xmlns:m="http://schemas.openxmlformats.org/officeDocument/2006/math">
                    <m:r>
                      <a:rPr lang="en-US" sz="2400" b="0" i="1" spc="-20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𝑚</m:t>
                    </m:r>
                    <m:r>
                      <a:rPr lang="en-US" sz="2400" b="0" i="1" spc="-20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(</m:t>
                    </m:r>
                    <m:r>
                      <a:rPr lang="en-US" sz="2400" b="0" i="1" spc="-20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𝑡</m:t>
                    </m:r>
                    <m:r>
                      <a:rPr lang="en-US" sz="2400" b="0" i="1" spc="-20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)</m:t>
                    </m:r>
                  </m:oMath>
                </a14:m>
                <a:r>
                  <a:rPr lang="en-US" sz="2400" spc="-20" dirty="0">
                    <a:solidFill>
                      <a:srgbClr val="6F2F9F"/>
                    </a:solidFill>
                    <a:latin typeface="Calibri"/>
                    <a:cs typeface="Calibri"/>
                  </a:rPr>
                  <a:t> at that instant. </a:t>
                </a:r>
                <a:endParaRPr lang="en-US" sz="2400" dirty="0">
                  <a:latin typeface="Calibri"/>
                  <a:cs typeface="Calibri"/>
                </a:endParaRPr>
              </a:p>
              <a:p>
                <a:pPr marL="520065" indent="-457200">
                  <a:lnSpc>
                    <a:spcPct val="100000"/>
                  </a:lnSpc>
                  <a:buFont typeface="Wingdings"/>
                  <a:buChar char=""/>
                  <a:tabLst>
                    <a:tab pos="520065" algn="l"/>
                  </a:tabLst>
                </a:pPr>
                <a:r>
                  <a:rPr lang="en-US" sz="2400" dirty="0">
                    <a:solidFill>
                      <a:srgbClr val="6F2F9F"/>
                    </a:solidFill>
                    <a:latin typeface="Calibri"/>
                    <a:cs typeface="Calibri"/>
                  </a:rPr>
                  <a:t>For the previous example,</a:t>
                </a:r>
              </a:p>
              <a:p>
                <a:pPr marL="62865" lvl="2">
                  <a:tabLst>
                    <a:tab pos="520065" algn="l"/>
                  </a:tabLst>
                </a:pPr>
                <a:r>
                  <a:rPr lang="en-US" sz="2400" dirty="0">
                    <a:solidFill>
                      <a:srgbClr val="6F2F9F"/>
                    </a:solidFill>
                    <a:latin typeface="Calibri"/>
                    <a:cs typeface="Calibri"/>
                  </a:rPr>
                  <a:t>	</a:t>
                </a:r>
                <a:r>
                  <a:rPr lang="en-US" sz="2400" b="0" spc="-20" dirty="0">
                    <a:solidFill>
                      <a:srgbClr val="6F2F9F"/>
                    </a:solidFill>
                    <a:cs typeface="Calibri"/>
                  </a:rPr>
                  <a:t> 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pc="-20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en-US" sz="2400" b="0" i="1" spc="-20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 </m:t>
                        </m:r>
                        <m:r>
                          <a:rPr lang="en-US" sz="2400" b="0" i="1" spc="-20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𝑚</m:t>
                        </m:r>
                      </m:e>
                      <m:sub>
                        <m:r>
                          <a:rPr lang="en-US" sz="2400" b="0" i="1" spc="-20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𝑑</m:t>
                        </m:r>
                      </m:sub>
                    </m:sSub>
                    <m:r>
                      <a:rPr lang="en-US" sz="2400" b="0" i="1" spc="-20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r>
                      <a:rPr lang="en-US" sz="2400" b="0" i="1" spc="-20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2</m:t>
                    </m:r>
                    <m:r>
                      <a:rPr lang="en-US" sz="2400" b="0" i="1" spc="-20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 [</m:t>
                    </m:r>
                    <m:r>
                      <a:rPr lang="en-US" sz="2400" b="0" i="1" spc="-20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𝑡</m:t>
                    </m:r>
                    <m:r>
                      <a:rPr lang="en-US" sz="2400" b="0" i="1" spc="-20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h</m:t>
                    </m:r>
                    <m:r>
                      <a:rPr lang="en-US" sz="2400" b="0" i="1" spc="-20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𝑒</m:t>
                    </m:r>
                    <m:r>
                      <a:rPr lang="en-US" sz="2400" b="0" i="1" spc="-20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 </m:t>
                    </m:r>
                    <m:r>
                      <a:rPr lang="en-US" sz="2400" b="0" i="1" spc="-20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𝑎𝑚𝑝𝑙𝑖𝑡𝑢𝑑𝑒</m:t>
                    </m:r>
                    <m:r>
                      <a:rPr lang="en-US" sz="2400" b="0" i="1" spc="-20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 </m:t>
                    </m:r>
                    <m:r>
                      <a:rPr lang="en-US" sz="2400" b="0" i="1" spc="-20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𝑜𝑓</m:t>
                    </m:r>
                    <m:r>
                      <a:rPr lang="en-US" sz="2400" b="0" i="1" spc="-20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 </m:t>
                    </m:r>
                    <m:r>
                      <a:rPr lang="en-US" sz="2400" b="0" i="1" spc="-20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𝑚</m:t>
                    </m:r>
                    <m:d>
                      <m:dPr>
                        <m:ctrlPr>
                          <a:rPr lang="en-US" sz="2400" b="0" i="1" spc="-20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en-US" sz="2400" b="0" i="1" spc="-20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𝑡</m:t>
                        </m:r>
                      </m:e>
                    </m:d>
                    <m:r>
                      <a:rPr lang="en-US" sz="2400" b="0" i="1" spc="-20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𝑐</m:t>
                    </m:r>
                    <m:r>
                      <a:rPr lang="en-US" sz="2400" b="0" i="1" spc="-20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h</m:t>
                    </m:r>
                    <m:r>
                      <a:rPr lang="en-US" sz="2400" b="0" i="1" spc="-20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𝑎𝑛𝑔𝑒𝑠</m:t>
                    </m:r>
                    <m:r>
                      <a:rPr lang="en-US" sz="2400" b="0" i="1" spc="-20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 </m:t>
                    </m:r>
                    <m:r>
                      <a:rPr lang="en-US" sz="2400" b="0" i="1" spc="-20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𝑏𝑦</m:t>
                    </m:r>
                    <m:r>
                      <a:rPr lang="en-US" sz="2400" b="0" i="1" spc="-20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 </m:t>
                    </m:r>
                    <m:r>
                      <a:rPr lang="en-US" sz="2400" b="0" i="1" spc="-20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2</m:t>
                    </m:r>
                    <m:r>
                      <a:rPr lang="en-US" sz="2400" b="0" i="1" spc="-20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 </m:t>
                    </m:r>
                    <m:d>
                      <m:dPr>
                        <m:ctrlPr>
                          <a:rPr lang="en-US" sz="2400" b="0" i="1" spc="-20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en-US" sz="2400" b="0" i="1" spc="-20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𝑓𝑟𝑜𝑚</m:t>
                        </m:r>
                        <m:r>
                          <a:rPr lang="en-US" sz="2400" b="0" i="1" spc="-20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 − </m:t>
                        </m:r>
                        <m:r>
                          <a:rPr lang="en-US" sz="2400" b="0" i="1" spc="-20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  <m:r>
                          <a:rPr lang="en-US" sz="2400" b="0" i="1" spc="-20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 </m:t>
                        </m:r>
                        <m:r>
                          <a:rPr lang="en-US" sz="2400" b="0" i="1" spc="-20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𝑡𝑜</m:t>
                        </m:r>
                        <m:r>
                          <a:rPr lang="en-US" sz="2400" b="0" i="1" spc="-20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 </m:t>
                        </m:r>
                        <m:r>
                          <a:rPr lang="en-US" sz="2400" b="0" i="1" spc="-20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</m:e>
                    </m:d>
                    <m:r>
                      <a:rPr lang="en-US" sz="2400" b="0" i="1" spc="-20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𝑎𝑡</m:t>
                    </m:r>
                    <m:r>
                      <a:rPr lang="en-US" sz="2400" b="0" i="1" spc="-20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 </m:t>
                    </m:r>
                    <m:r>
                      <a:rPr lang="en-US" sz="2400" b="0" i="1" spc="-20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𝑡</m:t>
                    </m:r>
                    <m:r>
                      <a:rPr lang="en-US" sz="2400" b="0" i="1" spc="-20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h</m:t>
                    </m:r>
                    <m:r>
                      <a:rPr lang="en-US" sz="2400" b="0" i="1" spc="-20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𝑒</m:t>
                    </m:r>
                    <m:r>
                      <a:rPr lang="en-US" sz="2400" b="0" i="1" spc="-20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 </m:t>
                    </m:r>
                    <m:r>
                      <a:rPr lang="en-US" sz="2400" b="0" i="1" spc="-20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𝑑𝑖𝑠𝑐𝑜𝑛𝑡𝑖𝑛𝑢𝑖𝑡𝑦</m:t>
                    </m:r>
                    <m:r>
                      <a:rPr lang="en-US" sz="2400" b="0" i="1" spc="-20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]</m:t>
                    </m:r>
                  </m:oMath>
                </a14:m>
                <a:endParaRPr lang="en-US" sz="2400" dirty="0">
                  <a:latin typeface="Calibri"/>
                  <a:cs typeface="Calibri"/>
                </a:endParaRPr>
              </a:p>
              <a:p>
                <a:pPr marL="62865" lvl="2">
                  <a:tabLst>
                    <a:tab pos="520065" algn="l"/>
                  </a:tabLst>
                </a:pPr>
                <a:r>
                  <a:rPr lang="en-US" sz="2400" spc="-20" dirty="0">
                    <a:solidFill>
                      <a:srgbClr val="6F2F9F"/>
                    </a:solidFill>
                    <a:latin typeface="Calibri"/>
                    <a:cs typeface="Calibri"/>
                  </a:rPr>
                  <a:t>	- 𝑡ℎ𝑒 𝑝ℎ𝑎𝑠𝑒 𝑑𝑖𝑠𝑐𝑜𝑛𝑡𝑖𝑛𝑢𝑖𝑡𝑦 𝑖𝑛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𝜙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𝑃𝑀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2400" spc="-20" dirty="0">
                    <a:solidFill>
                      <a:srgbClr val="6F2F9F"/>
                    </a:solidFill>
                    <a:latin typeface="Calibri"/>
                    <a:cs typeface="Calibri"/>
                  </a:rPr>
                  <a:t> 𝑖𝑠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pc="-20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en-US" sz="2400" b="0" i="1" spc="-20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𝑘</m:t>
                        </m:r>
                      </m:e>
                      <m:sub>
                        <m:r>
                          <a:rPr lang="en-US" sz="2400" b="0" i="1" spc="-20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𝑝</m:t>
                        </m:r>
                      </m:sub>
                    </m:sSub>
                    <m:sSub>
                      <m:sSubPr>
                        <m:ctrlPr>
                          <a:rPr lang="en-US" sz="2400" b="0" i="1" spc="-20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en-US" sz="2400" b="0" i="1" spc="-20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𝑚</m:t>
                        </m:r>
                      </m:e>
                      <m:sub>
                        <m:r>
                          <a:rPr lang="en-US" sz="2400" b="0" i="1" spc="-20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𝑑</m:t>
                        </m:r>
                      </m:sub>
                    </m:sSub>
                    <m:r>
                      <a:rPr lang="en-US" sz="2400" b="0" i="1" spc="-20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f>
                      <m:fPr>
                        <m:ctrlPr>
                          <a:rPr lang="en-US" sz="2400" b="0" i="1" spc="-20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fPr>
                      <m:num>
                        <m:r>
                          <a:rPr lang="en-US" sz="2400" b="0" i="1" spc="-20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𝜋</m:t>
                        </m:r>
                      </m:num>
                      <m:den>
                        <m:r>
                          <a:rPr lang="en-US" sz="2400" b="0" i="1" spc="-20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2</m:t>
                        </m:r>
                      </m:den>
                    </m:f>
                    <m:r>
                      <a:rPr lang="en-US" sz="2400" b="0" i="1" spc="-20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×</m:t>
                    </m:r>
                    <m:r>
                      <a:rPr lang="en-US" sz="2400" b="0" i="1" spc="-20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2</m:t>
                    </m:r>
                    <m:r>
                      <a:rPr lang="en-US" sz="2400" b="0" i="1" spc="-20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r>
                      <a:rPr lang="en-US" sz="2400" b="0" i="1" spc="-20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𝜋</m:t>
                    </m:r>
                    <m:r>
                      <a:rPr lang="en-US" sz="2400" b="0" i="1" spc="-20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 </m:t>
                    </m:r>
                    <m:r>
                      <a:rPr lang="en-US" sz="2400" b="0" i="1" spc="-20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𝑟𝑎𝑑</m:t>
                    </m:r>
                  </m:oMath>
                </a14:m>
                <a:endParaRPr lang="en-US" sz="24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3200400"/>
                <a:ext cx="11658600" cy="3566746"/>
              </a:xfrm>
              <a:prstGeom prst="rect">
                <a:avLst/>
              </a:prstGeom>
              <a:blipFill>
                <a:blip r:embed="rId2"/>
                <a:stretch>
                  <a:fillRect l="-994" r="-1203" b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3B0ED01C-5AAF-4BE4-A6BF-8CD2F06B52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619125"/>
            <a:ext cx="6154009" cy="26197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E3B35A-C407-4B2C-A66C-9F0FA8F50A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8841" y="1066800"/>
            <a:ext cx="3452159" cy="396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3329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78764" y="740409"/>
            <a:ext cx="6974840" cy="1718945"/>
          </a:xfrm>
          <a:custGeom>
            <a:avLst/>
            <a:gdLst/>
            <a:ahLst/>
            <a:cxnLst/>
            <a:rect l="l" t="t" r="r" b="b"/>
            <a:pathLst>
              <a:path w="6974840" h="1718945">
                <a:moveTo>
                  <a:pt x="6974535" y="963041"/>
                </a:moveTo>
                <a:lnTo>
                  <a:pt x="6936435" y="943991"/>
                </a:lnTo>
                <a:lnTo>
                  <a:pt x="6860235" y="905891"/>
                </a:lnTo>
                <a:lnTo>
                  <a:pt x="6860235" y="943991"/>
                </a:lnTo>
                <a:lnTo>
                  <a:pt x="421665" y="943991"/>
                </a:lnTo>
                <a:lnTo>
                  <a:pt x="420827" y="114427"/>
                </a:lnTo>
                <a:lnTo>
                  <a:pt x="458990" y="114427"/>
                </a:lnTo>
                <a:lnTo>
                  <a:pt x="449440" y="95377"/>
                </a:lnTo>
                <a:lnTo>
                  <a:pt x="449376" y="95250"/>
                </a:lnTo>
                <a:lnTo>
                  <a:pt x="401662" y="0"/>
                </a:lnTo>
                <a:lnTo>
                  <a:pt x="344627" y="114427"/>
                </a:lnTo>
                <a:lnTo>
                  <a:pt x="382727" y="114427"/>
                </a:lnTo>
                <a:lnTo>
                  <a:pt x="383565" y="943991"/>
                </a:lnTo>
                <a:lnTo>
                  <a:pt x="0" y="943991"/>
                </a:lnTo>
                <a:lnTo>
                  <a:pt x="0" y="982091"/>
                </a:lnTo>
                <a:lnTo>
                  <a:pt x="383603" y="982091"/>
                </a:lnTo>
                <a:lnTo>
                  <a:pt x="384352" y="1718437"/>
                </a:lnTo>
                <a:lnTo>
                  <a:pt x="422452" y="1718437"/>
                </a:lnTo>
                <a:lnTo>
                  <a:pt x="421703" y="982091"/>
                </a:lnTo>
                <a:lnTo>
                  <a:pt x="6860235" y="982091"/>
                </a:lnTo>
                <a:lnTo>
                  <a:pt x="6860235" y="1020191"/>
                </a:lnTo>
                <a:lnTo>
                  <a:pt x="6936435" y="982091"/>
                </a:lnTo>
                <a:lnTo>
                  <a:pt x="6974535" y="963041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124447" y="1719198"/>
            <a:ext cx="1139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Time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</a:t>
            </a:r>
            <a:r>
              <a:rPr sz="1800" b="1" spc="-10" dirty="0">
                <a:latin typeface="Calibri"/>
                <a:cs typeface="Calibri"/>
              </a:rPr>
              <a:t> (Sec)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26083" y="717550"/>
            <a:ext cx="10261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Amplitude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10450" y="1634363"/>
            <a:ext cx="139966" cy="133096"/>
            <a:chOff x="710450" y="1634363"/>
            <a:chExt cx="139966" cy="133096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3625" y="1637538"/>
              <a:ext cx="133616" cy="12674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0450" y="1634363"/>
              <a:ext cx="139966" cy="133096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4876800" y="762000"/>
            <a:ext cx="215147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Message</a:t>
            </a:r>
            <a:r>
              <a:rPr sz="18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Signal</a:t>
            </a:r>
            <a:r>
              <a:rPr sz="18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800" b="1" spc="-25" dirty="0">
                <a:solidFill>
                  <a:srgbClr val="FF0000"/>
                </a:solidFill>
                <a:latin typeface="Calibri"/>
                <a:cs typeface="Calibri"/>
              </a:rPr>
              <a:t>m</a:t>
            </a:r>
            <a:r>
              <a:rPr lang="en-US" sz="1800" b="1" spc="330" dirty="0">
                <a:solidFill>
                  <a:srgbClr val="FF0000"/>
                </a:solidFill>
                <a:latin typeface="Cambria Math"/>
                <a:cs typeface="Cambria Math"/>
              </a:rPr>
              <a:t>(t)</a:t>
            </a:r>
            <a:endParaRPr sz="1800" b="1" dirty="0">
              <a:solidFill>
                <a:srgbClr val="FF0000"/>
              </a:solidFill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52830" y="1127505"/>
            <a:ext cx="1324610" cy="5715"/>
          </a:xfrm>
          <a:custGeom>
            <a:avLst/>
            <a:gdLst/>
            <a:ahLst/>
            <a:cxnLst/>
            <a:rect l="l" t="t" r="r" b="b"/>
            <a:pathLst>
              <a:path w="1324610" h="5715">
                <a:moveTo>
                  <a:pt x="0" y="0"/>
                </a:moveTo>
                <a:lnTo>
                  <a:pt x="1324381" y="5461"/>
                </a:lnTo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124447" y="3529965"/>
            <a:ext cx="1139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Time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</a:t>
            </a:r>
            <a:r>
              <a:rPr sz="1800" b="1" spc="-10" dirty="0">
                <a:latin typeface="Calibri"/>
                <a:cs typeface="Calibri"/>
              </a:rPr>
              <a:t> (Sec)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26083" y="2528442"/>
            <a:ext cx="10261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Amplitude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10450" y="3444620"/>
            <a:ext cx="139966" cy="133223"/>
            <a:chOff x="710450" y="3444620"/>
            <a:chExt cx="139966" cy="133223"/>
          </a:xfrm>
        </p:grpSpPr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3625" y="3447795"/>
              <a:ext cx="133616" cy="12687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0450" y="3444620"/>
              <a:ext cx="139966" cy="133223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702723" y="2982850"/>
            <a:ext cx="5753868" cy="984884"/>
            <a:chOff x="702723" y="2982850"/>
            <a:chExt cx="5753868" cy="984884"/>
          </a:xfrm>
        </p:grpSpPr>
        <p:sp>
          <p:nvSpPr>
            <p:cNvPr id="22" name="object 22"/>
            <p:cNvSpPr/>
            <p:nvPr/>
          </p:nvSpPr>
          <p:spPr>
            <a:xfrm>
              <a:off x="702723" y="2982850"/>
              <a:ext cx="324485" cy="970280"/>
            </a:xfrm>
            <a:custGeom>
              <a:avLst/>
              <a:gdLst/>
              <a:ahLst/>
              <a:cxnLst/>
              <a:rect l="l" t="t" r="r" b="b"/>
              <a:pathLst>
                <a:path w="324484" h="970279">
                  <a:moveTo>
                    <a:pt x="0" y="504172"/>
                  </a:moveTo>
                  <a:lnTo>
                    <a:pt x="5989" y="438806"/>
                  </a:lnTo>
                  <a:lnTo>
                    <a:pt x="12007" y="374422"/>
                  </a:lnTo>
                  <a:lnTo>
                    <a:pt x="18082" y="312001"/>
                  </a:lnTo>
                  <a:lnTo>
                    <a:pt x="24245" y="252521"/>
                  </a:lnTo>
                  <a:lnTo>
                    <a:pt x="30523" y="196960"/>
                  </a:lnTo>
                  <a:lnTo>
                    <a:pt x="36947" y="146297"/>
                  </a:lnTo>
                  <a:lnTo>
                    <a:pt x="43544" y="101512"/>
                  </a:lnTo>
                  <a:lnTo>
                    <a:pt x="50345" y="63583"/>
                  </a:lnTo>
                  <a:lnTo>
                    <a:pt x="64673" y="12207"/>
                  </a:lnTo>
                  <a:lnTo>
                    <a:pt x="80163" y="0"/>
                  </a:lnTo>
                  <a:lnTo>
                    <a:pt x="88417" y="11031"/>
                  </a:lnTo>
                  <a:lnTo>
                    <a:pt x="100538" y="56383"/>
                  </a:lnTo>
                  <a:lnTo>
                    <a:pt x="113648" y="138771"/>
                  </a:lnTo>
                  <a:lnTo>
                    <a:pt x="120499" y="190804"/>
                  </a:lnTo>
                  <a:lnTo>
                    <a:pt x="127508" y="248437"/>
                  </a:lnTo>
                  <a:lnTo>
                    <a:pt x="134644" y="310450"/>
                  </a:lnTo>
                  <a:lnTo>
                    <a:pt x="141879" y="375625"/>
                  </a:lnTo>
                  <a:lnTo>
                    <a:pt x="149181" y="442740"/>
                  </a:lnTo>
                  <a:lnTo>
                    <a:pt x="156522" y="510578"/>
                  </a:lnTo>
                  <a:lnTo>
                    <a:pt x="163871" y="577917"/>
                  </a:lnTo>
                  <a:lnTo>
                    <a:pt x="171198" y="643539"/>
                  </a:lnTo>
                  <a:lnTo>
                    <a:pt x="178473" y="706224"/>
                  </a:lnTo>
                  <a:lnTo>
                    <a:pt x="185667" y="764752"/>
                  </a:lnTo>
                  <a:lnTo>
                    <a:pt x="192749" y="817904"/>
                  </a:lnTo>
                  <a:lnTo>
                    <a:pt x="199690" y="864459"/>
                  </a:lnTo>
                  <a:lnTo>
                    <a:pt x="206460" y="903200"/>
                  </a:lnTo>
                  <a:lnTo>
                    <a:pt x="219367" y="952355"/>
                  </a:lnTo>
                  <a:lnTo>
                    <a:pt x="238529" y="969796"/>
                  </a:lnTo>
                  <a:lnTo>
                    <a:pt x="247762" y="960307"/>
                  </a:lnTo>
                  <a:lnTo>
                    <a:pt x="265643" y="910780"/>
                  </a:lnTo>
                  <a:lnTo>
                    <a:pt x="274337" y="873091"/>
                  </a:lnTo>
                  <a:lnTo>
                    <a:pt x="282896" y="828352"/>
                  </a:lnTo>
                  <a:lnTo>
                    <a:pt x="291343" y="777735"/>
                  </a:lnTo>
                  <a:lnTo>
                    <a:pt x="299700" y="722416"/>
                  </a:lnTo>
                  <a:lnTo>
                    <a:pt x="307990" y="663568"/>
                  </a:lnTo>
                  <a:lnTo>
                    <a:pt x="316236" y="602367"/>
                  </a:lnTo>
                  <a:lnTo>
                    <a:pt x="324459" y="539986"/>
                  </a:lnTo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027183" y="2982850"/>
              <a:ext cx="325120" cy="970280"/>
            </a:xfrm>
            <a:custGeom>
              <a:avLst/>
              <a:gdLst/>
              <a:ahLst/>
              <a:cxnLst/>
              <a:rect l="l" t="t" r="r" b="b"/>
              <a:pathLst>
                <a:path w="325119" h="970279">
                  <a:moveTo>
                    <a:pt x="0" y="504172"/>
                  </a:moveTo>
                  <a:lnTo>
                    <a:pt x="5989" y="438806"/>
                  </a:lnTo>
                  <a:lnTo>
                    <a:pt x="12007" y="374422"/>
                  </a:lnTo>
                  <a:lnTo>
                    <a:pt x="18082" y="312001"/>
                  </a:lnTo>
                  <a:lnTo>
                    <a:pt x="24245" y="252521"/>
                  </a:lnTo>
                  <a:lnTo>
                    <a:pt x="30523" y="196960"/>
                  </a:lnTo>
                  <a:lnTo>
                    <a:pt x="36947" y="146297"/>
                  </a:lnTo>
                  <a:lnTo>
                    <a:pt x="43544" y="101512"/>
                  </a:lnTo>
                  <a:lnTo>
                    <a:pt x="50345" y="63583"/>
                  </a:lnTo>
                  <a:lnTo>
                    <a:pt x="64673" y="12207"/>
                  </a:lnTo>
                  <a:lnTo>
                    <a:pt x="80163" y="0"/>
                  </a:lnTo>
                  <a:lnTo>
                    <a:pt x="88417" y="11031"/>
                  </a:lnTo>
                  <a:lnTo>
                    <a:pt x="100536" y="56383"/>
                  </a:lnTo>
                  <a:lnTo>
                    <a:pt x="113642" y="138771"/>
                  </a:lnTo>
                  <a:lnTo>
                    <a:pt x="120491" y="190804"/>
                  </a:lnTo>
                  <a:lnTo>
                    <a:pt x="127497" y="248437"/>
                  </a:lnTo>
                  <a:lnTo>
                    <a:pt x="134630" y="310450"/>
                  </a:lnTo>
                  <a:lnTo>
                    <a:pt x="141861" y="375625"/>
                  </a:lnTo>
                  <a:lnTo>
                    <a:pt x="149161" y="442740"/>
                  </a:lnTo>
                  <a:lnTo>
                    <a:pt x="156498" y="510578"/>
                  </a:lnTo>
                  <a:lnTo>
                    <a:pt x="163844" y="577917"/>
                  </a:lnTo>
                  <a:lnTo>
                    <a:pt x="171169" y="643539"/>
                  </a:lnTo>
                  <a:lnTo>
                    <a:pt x="178442" y="706224"/>
                  </a:lnTo>
                  <a:lnTo>
                    <a:pt x="185635" y="764752"/>
                  </a:lnTo>
                  <a:lnTo>
                    <a:pt x="192717" y="817904"/>
                  </a:lnTo>
                  <a:lnTo>
                    <a:pt x="199658" y="864459"/>
                  </a:lnTo>
                  <a:lnTo>
                    <a:pt x="206429" y="903200"/>
                  </a:lnTo>
                  <a:lnTo>
                    <a:pt x="219341" y="952355"/>
                  </a:lnTo>
                  <a:lnTo>
                    <a:pt x="238516" y="969796"/>
                  </a:lnTo>
                  <a:lnTo>
                    <a:pt x="247755" y="960307"/>
                  </a:lnTo>
                  <a:lnTo>
                    <a:pt x="265649" y="910780"/>
                  </a:lnTo>
                  <a:lnTo>
                    <a:pt x="274348" y="873091"/>
                  </a:lnTo>
                  <a:lnTo>
                    <a:pt x="282912" y="828352"/>
                  </a:lnTo>
                  <a:lnTo>
                    <a:pt x="291364" y="777735"/>
                  </a:lnTo>
                  <a:lnTo>
                    <a:pt x="299726" y="722416"/>
                  </a:lnTo>
                  <a:lnTo>
                    <a:pt x="308021" y="663568"/>
                  </a:lnTo>
                  <a:lnTo>
                    <a:pt x="316270" y="602367"/>
                  </a:lnTo>
                  <a:lnTo>
                    <a:pt x="324497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357522" y="2982850"/>
              <a:ext cx="324485" cy="970280"/>
            </a:xfrm>
            <a:custGeom>
              <a:avLst/>
              <a:gdLst/>
              <a:ahLst/>
              <a:cxnLst/>
              <a:rect l="l" t="t" r="r" b="b"/>
              <a:pathLst>
                <a:path w="324485" h="970279">
                  <a:moveTo>
                    <a:pt x="0" y="504172"/>
                  </a:moveTo>
                  <a:lnTo>
                    <a:pt x="5983" y="438806"/>
                  </a:lnTo>
                  <a:lnTo>
                    <a:pt x="11996" y="374422"/>
                  </a:lnTo>
                  <a:lnTo>
                    <a:pt x="18067" y="312001"/>
                  </a:lnTo>
                  <a:lnTo>
                    <a:pt x="24225" y="252521"/>
                  </a:lnTo>
                  <a:lnTo>
                    <a:pt x="30500" y="196960"/>
                  </a:lnTo>
                  <a:lnTo>
                    <a:pt x="36921" y="146297"/>
                  </a:lnTo>
                  <a:lnTo>
                    <a:pt x="43516" y="101512"/>
                  </a:lnTo>
                  <a:lnTo>
                    <a:pt x="50316" y="63583"/>
                  </a:lnTo>
                  <a:lnTo>
                    <a:pt x="64643" y="12207"/>
                  </a:lnTo>
                  <a:lnTo>
                    <a:pt x="80135" y="0"/>
                  </a:lnTo>
                  <a:lnTo>
                    <a:pt x="88392" y="11031"/>
                  </a:lnTo>
                  <a:lnTo>
                    <a:pt x="100514" y="56383"/>
                  </a:lnTo>
                  <a:lnTo>
                    <a:pt x="113623" y="138771"/>
                  </a:lnTo>
                  <a:lnTo>
                    <a:pt x="120473" y="190804"/>
                  </a:lnTo>
                  <a:lnTo>
                    <a:pt x="127480" y="248437"/>
                  </a:lnTo>
                  <a:lnTo>
                    <a:pt x="134614" y="310450"/>
                  </a:lnTo>
                  <a:lnTo>
                    <a:pt x="141846" y="375625"/>
                  </a:lnTo>
                  <a:lnTo>
                    <a:pt x="149146" y="442740"/>
                  </a:lnTo>
                  <a:lnTo>
                    <a:pt x="156484" y="510578"/>
                  </a:lnTo>
                  <a:lnTo>
                    <a:pt x="163831" y="577917"/>
                  </a:lnTo>
                  <a:lnTo>
                    <a:pt x="171155" y="643539"/>
                  </a:lnTo>
                  <a:lnTo>
                    <a:pt x="178429" y="706224"/>
                  </a:lnTo>
                  <a:lnTo>
                    <a:pt x="185622" y="764752"/>
                  </a:lnTo>
                  <a:lnTo>
                    <a:pt x="192704" y="817904"/>
                  </a:lnTo>
                  <a:lnTo>
                    <a:pt x="199645" y="864459"/>
                  </a:lnTo>
                  <a:lnTo>
                    <a:pt x="206416" y="903200"/>
                  </a:lnTo>
                  <a:lnTo>
                    <a:pt x="219329" y="952355"/>
                  </a:lnTo>
                  <a:lnTo>
                    <a:pt x="238504" y="969796"/>
                  </a:lnTo>
                  <a:lnTo>
                    <a:pt x="247743" y="960307"/>
                  </a:lnTo>
                  <a:lnTo>
                    <a:pt x="265636" y="910780"/>
                  </a:lnTo>
                  <a:lnTo>
                    <a:pt x="274335" y="873091"/>
                  </a:lnTo>
                  <a:lnTo>
                    <a:pt x="282900" y="828352"/>
                  </a:lnTo>
                  <a:lnTo>
                    <a:pt x="291352" y="777735"/>
                  </a:lnTo>
                  <a:lnTo>
                    <a:pt x="299714" y="722416"/>
                  </a:lnTo>
                  <a:lnTo>
                    <a:pt x="308008" y="663568"/>
                  </a:lnTo>
                  <a:lnTo>
                    <a:pt x="316258" y="602367"/>
                  </a:lnTo>
                  <a:lnTo>
                    <a:pt x="324485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682008" y="2982850"/>
              <a:ext cx="324485" cy="970280"/>
            </a:xfrm>
            <a:custGeom>
              <a:avLst/>
              <a:gdLst/>
              <a:ahLst/>
              <a:cxnLst/>
              <a:rect l="l" t="t" r="r" b="b"/>
              <a:pathLst>
                <a:path w="324485" h="970279">
                  <a:moveTo>
                    <a:pt x="0" y="504172"/>
                  </a:moveTo>
                  <a:lnTo>
                    <a:pt x="5983" y="438806"/>
                  </a:lnTo>
                  <a:lnTo>
                    <a:pt x="11996" y="374422"/>
                  </a:lnTo>
                  <a:lnTo>
                    <a:pt x="18067" y="312001"/>
                  </a:lnTo>
                  <a:lnTo>
                    <a:pt x="24225" y="252521"/>
                  </a:lnTo>
                  <a:lnTo>
                    <a:pt x="30500" y="196960"/>
                  </a:lnTo>
                  <a:lnTo>
                    <a:pt x="36921" y="146297"/>
                  </a:lnTo>
                  <a:lnTo>
                    <a:pt x="43516" y="101512"/>
                  </a:lnTo>
                  <a:lnTo>
                    <a:pt x="50316" y="63583"/>
                  </a:lnTo>
                  <a:lnTo>
                    <a:pt x="64643" y="12207"/>
                  </a:lnTo>
                  <a:lnTo>
                    <a:pt x="80135" y="0"/>
                  </a:lnTo>
                  <a:lnTo>
                    <a:pt x="88392" y="11031"/>
                  </a:lnTo>
                  <a:lnTo>
                    <a:pt x="100514" y="56383"/>
                  </a:lnTo>
                  <a:lnTo>
                    <a:pt x="113623" y="138771"/>
                  </a:lnTo>
                  <a:lnTo>
                    <a:pt x="120473" y="190804"/>
                  </a:lnTo>
                  <a:lnTo>
                    <a:pt x="127480" y="248437"/>
                  </a:lnTo>
                  <a:lnTo>
                    <a:pt x="134614" y="310450"/>
                  </a:lnTo>
                  <a:lnTo>
                    <a:pt x="141846" y="375625"/>
                  </a:lnTo>
                  <a:lnTo>
                    <a:pt x="149146" y="442740"/>
                  </a:lnTo>
                  <a:lnTo>
                    <a:pt x="156484" y="510578"/>
                  </a:lnTo>
                  <a:lnTo>
                    <a:pt x="163831" y="577917"/>
                  </a:lnTo>
                  <a:lnTo>
                    <a:pt x="171155" y="643539"/>
                  </a:lnTo>
                  <a:lnTo>
                    <a:pt x="178429" y="706224"/>
                  </a:lnTo>
                  <a:lnTo>
                    <a:pt x="185622" y="764752"/>
                  </a:lnTo>
                  <a:lnTo>
                    <a:pt x="192704" y="817904"/>
                  </a:lnTo>
                  <a:lnTo>
                    <a:pt x="199645" y="864459"/>
                  </a:lnTo>
                  <a:lnTo>
                    <a:pt x="206416" y="903200"/>
                  </a:lnTo>
                  <a:lnTo>
                    <a:pt x="219329" y="952355"/>
                  </a:lnTo>
                  <a:lnTo>
                    <a:pt x="238503" y="969796"/>
                  </a:lnTo>
                  <a:lnTo>
                    <a:pt x="247741" y="960307"/>
                  </a:lnTo>
                  <a:lnTo>
                    <a:pt x="265627" y="910780"/>
                  </a:lnTo>
                  <a:lnTo>
                    <a:pt x="274320" y="873091"/>
                  </a:lnTo>
                  <a:lnTo>
                    <a:pt x="282875" y="828352"/>
                  </a:lnTo>
                  <a:lnTo>
                    <a:pt x="291314" y="777735"/>
                  </a:lnTo>
                  <a:lnTo>
                    <a:pt x="299660" y="722416"/>
                  </a:lnTo>
                  <a:lnTo>
                    <a:pt x="307935" y="663568"/>
                  </a:lnTo>
                  <a:lnTo>
                    <a:pt x="316160" y="602367"/>
                  </a:lnTo>
                  <a:lnTo>
                    <a:pt x="324358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016780" y="2989200"/>
              <a:ext cx="324485" cy="970280"/>
            </a:xfrm>
            <a:custGeom>
              <a:avLst/>
              <a:gdLst/>
              <a:ahLst/>
              <a:cxnLst/>
              <a:rect l="l" t="t" r="r" b="b"/>
              <a:pathLst>
                <a:path w="324485" h="970279">
                  <a:moveTo>
                    <a:pt x="0" y="504172"/>
                  </a:moveTo>
                  <a:lnTo>
                    <a:pt x="5983" y="438806"/>
                  </a:lnTo>
                  <a:lnTo>
                    <a:pt x="11996" y="374422"/>
                  </a:lnTo>
                  <a:lnTo>
                    <a:pt x="18067" y="312001"/>
                  </a:lnTo>
                  <a:lnTo>
                    <a:pt x="24225" y="252521"/>
                  </a:lnTo>
                  <a:lnTo>
                    <a:pt x="30500" y="196960"/>
                  </a:lnTo>
                  <a:lnTo>
                    <a:pt x="36921" y="146297"/>
                  </a:lnTo>
                  <a:lnTo>
                    <a:pt x="43516" y="101512"/>
                  </a:lnTo>
                  <a:lnTo>
                    <a:pt x="50316" y="63583"/>
                  </a:lnTo>
                  <a:lnTo>
                    <a:pt x="64643" y="12207"/>
                  </a:lnTo>
                  <a:lnTo>
                    <a:pt x="80135" y="0"/>
                  </a:lnTo>
                  <a:lnTo>
                    <a:pt x="88392" y="11031"/>
                  </a:lnTo>
                  <a:lnTo>
                    <a:pt x="100514" y="56383"/>
                  </a:lnTo>
                  <a:lnTo>
                    <a:pt x="113623" y="138771"/>
                  </a:lnTo>
                  <a:lnTo>
                    <a:pt x="120473" y="190804"/>
                  </a:lnTo>
                  <a:lnTo>
                    <a:pt x="127480" y="248437"/>
                  </a:lnTo>
                  <a:lnTo>
                    <a:pt x="134614" y="310450"/>
                  </a:lnTo>
                  <a:lnTo>
                    <a:pt x="141846" y="375625"/>
                  </a:lnTo>
                  <a:lnTo>
                    <a:pt x="149146" y="442740"/>
                  </a:lnTo>
                  <a:lnTo>
                    <a:pt x="156484" y="510578"/>
                  </a:lnTo>
                  <a:lnTo>
                    <a:pt x="163831" y="577917"/>
                  </a:lnTo>
                  <a:lnTo>
                    <a:pt x="171155" y="643539"/>
                  </a:lnTo>
                  <a:lnTo>
                    <a:pt x="178429" y="706224"/>
                  </a:lnTo>
                  <a:lnTo>
                    <a:pt x="185622" y="764752"/>
                  </a:lnTo>
                  <a:lnTo>
                    <a:pt x="192704" y="817904"/>
                  </a:lnTo>
                  <a:lnTo>
                    <a:pt x="199645" y="864459"/>
                  </a:lnTo>
                  <a:lnTo>
                    <a:pt x="206416" y="903200"/>
                  </a:lnTo>
                  <a:lnTo>
                    <a:pt x="219329" y="952355"/>
                  </a:lnTo>
                  <a:lnTo>
                    <a:pt x="238494" y="969796"/>
                  </a:lnTo>
                  <a:lnTo>
                    <a:pt x="247723" y="960307"/>
                  </a:lnTo>
                  <a:lnTo>
                    <a:pt x="265588" y="910780"/>
                  </a:lnTo>
                  <a:lnTo>
                    <a:pt x="274272" y="873091"/>
                  </a:lnTo>
                  <a:lnTo>
                    <a:pt x="282820" y="828352"/>
                  </a:lnTo>
                  <a:lnTo>
                    <a:pt x="291258" y="777735"/>
                  </a:lnTo>
                  <a:lnTo>
                    <a:pt x="299606" y="722416"/>
                  </a:lnTo>
                  <a:lnTo>
                    <a:pt x="307890" y="663568"/>
                  </a:lnTo>
                  <a:lnTo>
                    <a:pt x="316133" y="602367"/>
                  </a:lnTo>
                  <a:lnTo>
                    <a:pt x="324358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341138" y="2989200"/>
              <a:ext cx="324485" cy="970280"/>
            </a:xfrm>
            <a:custGeom>
              <a:avLst/>
              <a:gdLst/>
              <a:ahLst/>
              <a:cxnLst/>
              <a:rect l="l" t="t" r="r" b="b"/>
              <a:pathLst>
                <a:path w="324485" h="970279">
                  <a:moveTo>
                    <a:pt x="0" y="504172"/>
                  </a:moveTo>
                  <a:lnTo>
                    <a:pt x="6010" y="438806"/>
                  </a:lnTo>
                  <a:lnTo>
                    <a:pt x="12046" y="374422"/>
                  </a:lnTo>
                  <a:lnTo>
                    <a:pt x="18136" y="312001"/>
                  </a:lnTo>
                  <a:lnTo>
                    <a:pt x="24310" y="252521"/>
                  </a:lnTo>
                  <a:lnTo>
                    <a:pt x="30598" y="196960"/>
                  </a:lnTo>
                  <a:lnTo>
                    <a:pt x="37028" y="146297"/>
                  </a:lnTo>
                  <a:lnTo>
                    <a:pt x="43631" y="101512"/>
                  </a:lnTo>
                  <a:lnTo>
                    <a:pt x="50436" y="63583"/>
                  </a:lnTo>
                  <a:lnTo>
                    <a:pt x="64768" y="12207"/>
                  </a:lnTo>
                  <a:lnTo>
                    <a:pt x="80262" y="0"/>
                  </a:lnTo>
                  <a:lnTo>
                    <a:pt x="88519" y="11031"/>
                  </a:lnTo>
                  <a:lnTo>
                    <a:pt x="100609" y="56383"/>
                  </a:lnTo>
                  <a:lnTo>
                    <a:pt x="113700" y="138771"/>
                  </a:lnTo>
                  <a:lnTo>
                    <a:pt x="120545" y="190804"/>
                  </a:lnTo>
                  <a:lnTo>
                    <a:pt x="127550" y="248437"/>
                  </a:lnTo>
                  <a:lnTo>
                    <a:pt x="134685" y="310450"/>
                  </a:lnTo>
                  <a:lnTo>
                    <a:pt x="141919" y="375625"/>
                  </a:lnTo>
                  <a:lnTo>
                    <a:pt x="149223" y="442740"/>
                  </a:lnTo>
                  <a:lnTo>
                    <a:pt x="156566" y="510578"/>
                  </a:lnTo>
                  <a:lnTo>
                    <a:pt x="163918" y="577917"/>
                  </a:lnTo>
                  <a:lnTo>
                    <a:pt x="171250" y="643539"/>
                  </a:lnTo>
                  <a:lnTo>
                    <a:pt x="178530" y="706224"/>
                  </a:lnTo>
                  <a:lnTo>
                    <a:pt x="185729" y="764752"/>
                  </a:lnTo>
                  <a:lnTo>
                    <a:pt x="192817" y="817904"/>
                  </a:lnTo>
                  <a:lnTo>
                    <a:pt x="199764" y="864459"/>
                  </a:lnTo>
                  <a:lnTo>
                    <a:pt x="206540" y="903200"/>
                  </a:lnTo>
                  <a:lnTo>
                    <a:pt x="219456" y="952355"/>
                  </a:lnTo>
                  <a:lnTo>
                    <a:pt x="238577" y="969796"/>
                  </a:lnTo>
                  <a:lnTo>
                    <a:pt x="247796" y="960307"/>
                  </a:lnTo>
                  <a:lnTo>
                    <a:pt x="265661" y="910780"/>
                  </a:lnTo>
                  <a:lnTo>
                    <a:pt x="274351" y="873091"/>
                  </a:lnTo>
                  <a:lnTo>
                    <a:pt x="282909" y="828352"/>
                  </a:lnTo>
                  <a:lnTo>
                    <a:pt x="291356" y="777735"/>
                  </a:lnTo>
                  <a:lnTo>
                    <a:pt x="299716" y="722416"/>
                  </a:lnTo>
                  <a:lnTo>
                    <a:pt x="308009" y="663568"/>
                  </a:lnTo>
                  <a:lnTo>
                    <a:pt x="316258" y="602367"/>
                  </a:lnTo>
                  <a:lnTo>
                    <a:pt x="324485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671464" y="2989200"/>
              <a:ext cx="324485" cy="970280"/>
            </a:xfrm>
            <a:custGeom>
              <a:avLst/>
              <a:gdLst/>
              <a:ahLst/>
              <a:cxnLst/>
              <a:rect l="l" t="t" r="r" b="b"/>
              <a:pathLst>
                <a:path w="324485" h="970279">
                  <a:moveTo>
                    <a:pt x="0" y="504172"/>
                  </a:moveTo>
                  <a:lnTo>
                    <a:pt x="5985" y="438806"/>
                  </a:lnTo>
                  <a:lnTo>
                    <a:pt x="12004" y="374422"/>
                  </a:lnTo>
                  <a:lnTo>
                    <a:pt x="18083" y="312001"/>
                  </a:lnTo>
                  <a:lnTo>
                    <a:pt x="24250" y="252521"/>
                  </a:lnTo>
                  <a:lnTo>
                    <a:pt x="30535" y="196960"/>
                  </a:lnTo>
                  <a:lnTo>
                    <a:pt x="36965" y="146297"/>
                  </a:lnTo>
                  <a:lnTo>
                    <a:pt x="43567" y="101512"/>
                  </a:lnTo>
                  <a:lnTo>
                    <a:pt x="50371" y="63583"/>
                  </a:lnTo>
                  <a:lnTo>
                    <a:pt x="64695" y="12207"/>
                  </a:lnTo>
                  <a:lnTo>
                    <a:pt x="80160" y="0"/>
                  </a:lnTo>
                  <a:lnTo>
                    <a:pt x="88392" y="11031"/>
                  </a:lnTo>
                  <a:lnTo>
                    <a:pt x="100518" y="56383"/>
                  </a:lnTo>
                  <a:lnTo>
                    <a:pt x="113638" y="138771"/>
                  </a:lnTo>
                  <a:lnTo>
                    <a:pt x="120495" y="190804"/>
                  </a:lnTo>
                  <a:lnTo>
                    <a:pt x="127510" y="248437"/>
                  </a:lnTo>
                  <a:lnTo>
                    <a:pt x="134653" y="310450"/>
                  </a:lnTo>
                  <a:lnTo>
                    <a:pt x="141895" y="375625"/>
                  </a:lnTo>
                  <a:lnTo>
                    <a:pt x="149205" y="442740"/>
                  </a:lnTo>
                  <a:lnTo>
                    <a:pt x="156553" y="510578"/>
                  </a:lnTo>
                  <a:lnTo>
                    <a:pt x="163909" y="577917"/>
                  </a:lnTo>
                  <a:lnTo>
                    <a:pt x="171243" y="643539"/>
                  </a:lnTo>
                  <a:lnTo>
                    <a:pt x="178526" y="706224"/>
                  </a:lnTo>
                  <a:lnTo>
                    <a:pt x="185727" y="764752"/>
                  </a:lnTo>
                  <a:lnTo>
                    <a:pt x="192816" y="817904"/>
                  </a:lnTo>
                  <a:lnTo>
                    <a:pt x="199764" y="864459"/>
                  </a:lnTo>
                  <a:lnTo>
                    <a:pt x="206539" y="903200"/>
                  </a:lnTo>
                  <a:lnTo>
                    <a:pt x="219456" y="952355"/>
                  </a:lnTo>
                  <a:lnTo>
                    <a:pt x="238577" y="969796"/>
                  </a:lnTo>
                  <a:lnTo>
                    <a:pt x="247796" y="960307"/>
                  </a:lnTo>
                  <a:lnTo>
                    <a:pt x="265661" y="910780"/>
                  </a:lnTo>
                  <a:lnTo>
                    <a:pt x="274351" y="873091"/>
                  </a:lnTo>
                  <a:lnTo>
                    <a:pt x="282909" y="828352"/>
                  </a:lnTo>
                  <a:lnTo>
                    <a:pt x="291356" y="777735"/>
                  </a:lnTo>
                  <a:lnTo>
                    <a:pt x="299716" y="722416"/>
                  </a:lnTo>
                  <a:lnTo>
                    <a:pt x="308009" y="663568"/>
                  </a:lnTo>
                  <a:lnTo>
                    <a:pt x="316258" y="602367"/>
                  </a:lnTo>
                  <a:lnTo>
                    <a:pt x="324485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995950" y="2989200"/>
              <a:ext cx="324485" cy="970280"/>
            </a:xfrm>
            <a:custGeom>
              <a:avLst/>
              <a:gdLst/>
              <a:ahLst/>
              <a:cxnLst/>
              <a:rect l="l" t="t" r="r" b="b"/>
              <a:pathLst>
                <a:path w="324485" h="970279">
                  <a:moveTo>
                    <a:pt x="0" y="504172"/>
                  </a:moveTo>
                  <a:lnTo>
                    <a:pt x="5983" y="438806"/>
                  </a:lnTo>
                  <a:lnTo>
                    <a:pt x="11996" y="374422"/>
                  </a:lnTo>
                  <a:lnTo>
                    <a:pt x="18067" y="312001"/>
                  </a:lnTo>
                  <a:lnTo>
                    <a:pt x="24225" y="252521"/>
                  </a:lnTo>
                  <a:lnTo>
                    <a:pt x="30500" y="196960"/>
                  </a:lnTo>
                  <a:lnTo>
                    <a:pt x="36921" y="146297"/>
                  </a:lnTo>
                  <a:lnTo>
                    <a:pt x="43516" y="101512"/>
                  </a:lnTo>
                  <a:lnTo>
                    <a:pt x="50316" y="63583"/>
                  </a:lnTo>
                  <a:lnTo>
                    <a:pt x="64643" y="12207"/>
                  </a:lnTo>
                  <a:lnTo>
                    <a:pt x="80135" y="0"/>
                  </a:lnTo>
                  <a:lnTo>
                    <a:pt x="88392" y="11031"/>
                  </a:lnTo>
                  <a:lnTo>
                    <a:pt x="100518" y="56383"/>
                  </a:lnTo>
                  <a:lnTo>
                    <a:pt x="113636" y="138771"/>
                  </a:lnTo>
                  <a:lnTo>
                    <a:pt x="120492" y="190804"/>
                  </a:lnTo>
                  <a:lnTo>
                    <a:pt x="127506" y="248437"/>
                  </a:lnTo>
                  <a:lnTo>
                    <a:pt x="134647" y="310450"/>
                  </a:lnTo>
                  <a:lnTo>
                    <a:pt x="141885" y="375625"/>
                  </a:lnTo>
                  <a:lnTo>
                    <a:pt x="149191" y="442740"/>
                  </a:lnTo>
                  <a:lnTo>
                    <a:pt x="156534" y="510578"/>
                  </a:lnTo>
                  <a:lnTo>
                    <a:pt x="163884" y="577917"/>
                  </a:lnTo>
                  <a:lnTo>
                    <a:pt x="171211" y="643539"/>
                  </a:lnTo>
                  <a:lnTo>
                    <a:pt x="178485" y="706224"/>
                  </a:lnTo>
                  <a:lnTo>
                    <a:pt x="185676" y="764752"/>
                  </a:lnTo>
                  <a:lnTo>
                    <a:pt x="192754" y="817904"/>
                  </a:lnTo>
                  <a:lnTo>
                    <a:pt x="199688" y="864459"/>
                  </a:lnTo>
                  <a:lnTo>
                    <a:pt x="206448" y="903200"/>
                  </a:lnTo>
                  <a:lnTo>
                    <a:pt x="219329" y="952355"/>
                  </a:lnTo>
                  <a:lnTo>
                    <a:pt x="238504" y="969796"/>
                  </a:lnTo>
                  <a:lnTo>
                    <a:pt x="247743" y="960307"/>
                  </a:lnTo>
                  <a:lnTo>
                    <a:pt x="265636" y="910780"/>
                  </a:lnTo>
                  <a:lnTo>
                    <a:pt x="274335" y="873091"/>
                  </a:lnTo>
                  <a:lnTo>
                    <a:pt x="282900" y="828352"/>
                  </a:lnTo>
                  <a:lnTo>
                    <a:pt x="291352" y="777735"/>
                  </a:lnTo>
                  <a:lnTo>
                    <a:pt x="299714" y="722416"/>
                  </a:lnTo>
                  <a:lnTo>
                    <a:pt x="308008" y="663568"/>
                  </a:lnTo>
                  <a:lnTo>
                    <a:pt x="316258" y="602367"/>
                  </a:lnTo>
                  <a:lnTo>
                    <a:pt x="324485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325514" y="2989200"/>
              <a:ext cx="324485" cy="970280"/>
            </a:xfrm>
            <a:custGeom>
              <a:avLst/>
              <a:gdLst/>
              <a:ahLst/>
              <a:cxnLst/>
              <a:rect l="l" t="t" r="r" b="b"/>
              <a:pathLst>
                <a:path w="324485" h="970279">
                  <a:moveTo>
                    <a:pt x="0" y="504172"/>
                  </a:moveTo>
                  <a:lnTo>
                    <a:pt x="6010" y="438806"/>
                  </a:lnTo>
                  <a:lnTo>
                    <a:pt x="12046" y="374422"/>
                  </a:lnTo>
                  <a:lnTo>
                    <a:pt x="18136" y="312001"/>
                  </a:lnTo>
                  <a:lnTo>
                    <a:pt x="24310" y="252521"/>
                  </a:lnTo>
                  <a:lnTo>
                    <a:pt x="30598" y="196960"/>
                  </a:lnTo>
                  <a:lnTo>
                    <a:pt x="37028" y="146297"/>
                  </a:lnTo>
                  <a:lnTo>
                    <a:pt x="43631" y="101512"/>
                  </a:lnTo>
                  <a:lnTo>
                    <a:pt x="50436" y="63583"/>
                  </a:lnTo>
                  <a:lnTo>
                    <a:pt x="64768" y="12207"/>
                  </a:lnTo>
                  <a:lnTo>
                    <a:pt x="80262" y="0"/>
                  </a:lnTo>
                  <a:lnTo>
                    <a:pt x="88519" y="11031"/>
                  </a:lnTo>
                  <a:lnTo>
                    <a:pt x="100641" y="56383"/>
                  </a:lnTo>
                  <a:lnTo>
                    <a:pt x="113750" y="138771"/>
                  </a:lnTo>
                  <a:lnTo>
                    <a:pt x="120600" y="190804"/>
                  </a:lnTo>
                  <a:lnTo>
                    <a:pt x="127607" y="248437"/>
                  </a:lnTo>
                  <a:lnTo>
                    <a:pt x="134741" y="310450"/>
                  </a:lnTo>
                  <a:lnTo>
                    <a:pt x="141973" y="375625"/>
                  </a:lnTo>
                  <a:lnTo>
                    <a:pt x="149273" y="442740"/>
                  </a:lnTo>
                  <a:lnTo>
                    <a:pt x="156611" y="510578"/>
                  </a:lnTo>
                  <a:lnTo>
                    <a:pt x="163958" y="577917"/>
                  </a:lnTo>
                  <a:lnTo>
                    <a:pt x="171282" y="643539"/>
                  </a:lnTo>
                  <a:lnTo>
                    <a:pt x="178556" y="706224"/>
                  </a:lnTo>
                  <a:lnTo>
                    <a:pt x="185749" y="764752"/>
                  </a:lnTo>
                  <a:lnTo>
                    <a:pt x="192831" y="817904"/>
                  </a:lnTo>
                  <a:lnTo>
                    <a:pt x="199772" y="864459"/>
                  </a:lnTo>
                  <a:lnTo>
                    <a:pt x="206543" y="903200"/>
                  </a:lnTo>
                  <a:lnTo>
                    <a:pt x="219456" y="952355"/>
                  </a:lnTo>
                  <a:lnTo>
                    <a:pt x="238621" y="969796"/>
                  </a:lnTo>
                  <a:lnTo>
                    <a:pt x="247850" y="960307"/>
                  </a:lnTo>
                  <a:lnTo>
                    <a:pt x="265715" y="910780"/>
                  </a:lnTo>
                  <a:lnTo>
                    <a:pt x="274399" y="873091"/>
                  </a:lnTo>
                  <a:lnTo>
                    <a:pt x="282947" y="828352"/>
                  </a:lnTo>
                  <a:lnTo>
                    <a:pt x="291385" y="777735"/>
                  </a:lnTo>
                  <a:lnTo>
                    <a:pt x="299733" y="722416"/>
                  </a:lnTo>
                  <a:lnTo>
                    <a:pt x="308017" y="663568"/>
                  </a:lnTo>
                  <a:lnTo>
                    <a:pt x="316260" y="602367"/>
                  </a:lnTo>
                  <a:lnTo>
                    <a:pt x="324485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1" name="object 31"/>
            <p:cNvSpPr/>
            <p:nvPr/>
          </p:nvSpPr>
          <p:spPr>
            <a:xfrm>
              <a:off x="3650000" y="2989200"/>
              <a:ext cx="324485" cy="970280"/>
            </a:xfrm>
            <a:custGeom>
              <a:avLst/>
              <a:gdLst/>
              <a:ahLst/>
              <a:cxnLst/>
              <a:rect l="l" t="t" r="r" b="b"/>
              <a:pathLst>
                <a:path w="324485" h="970279">
                  <a:moveTo>
                    <a:pt x="0" y="504172"/>
                  </a:moveTo>
                  <a:lnTo>
                    <a:pt x="5985" y="438806"/>
                  </a:lnTo>
                  <a:lnTo>
                    <a:pt x="12004" y="374422"/>
                  </a:lnTo>
                  <a:lnTo>
                    <a:pt x="18083" y="312001"/>
                  </a:lnTo>
                  <a:lnTo>
                    <a:pt x="24250" y="252521"/>
                  </a:lnTo>
                  <a:lnTo>
                    <a:pt x="30535" y="196960"/>
                  </a:lnTo>
                  <a:lnTo>
                    <a:pt x="36965" y="146297"/>
                  </a:lnTo>
                  <a:lnTo>
                    <a:pt x="43567" y="101512"/>
                  </a:lnTo>
                  <a:lnTo>
                    <a:pt x="50371" y="63583"/>
                  </a:lnTo>
                  <a:lnTo>
                    <a:pt x="64695" y="12207"/>
                  </a:lnTo>
                  <a:lnTo>
                    <a:pt x="80160" y="0"/>
                  </a:lnTo>
                  <a:lnTo>
                    <a:pt x="88392" y="11031"/>
                  </a:lnTo>
                  <a:lnTo>
                    <a:pt x="100518" y="56383"/>
                  </a:lnTo>
                  <a:lnTo>
                    <a:pt x="113638" y="138771"/>
                  </a:lnTo>
                  <a:lnTo>
                    <a:pt x="120495" y="190804"/>
                  </a:lnTo>
                  <a:lnTo>
                    <a:pt x="127510" y="248437"/>
                  </a:lnTo>
                  <a:lnTo>
                    <a:pt x="134653" y="310450"/>
                  </a:lnTo>
                  <a:lnTo>
                    <a:pt x="141895" y="375625"/>
                  </a:lnTo>
                  <a:lnTo>
                    <a:pt x="149205" y="442740"/>
                  </a:lnTo>
                  <a:lnTo>
                    <a:pt x="156553" y="510578"/>
                  </a:lnTo>
                  <a:lnTo>
                    <a:pt x="163909" y="577917"/>
                  </a:lnTo>
                  <a:lnTo>
                    <a:pt x="171243" y="643539"/>
                  </a:lnTo>
                  <a:lnTo>
                    <a:pt x="178526" y="706224"/>
                  </a:lnTo>
                  <a:lnTo>
                    <a:pt x="185727" y="764752"/>
                  </a:lnTo>
                  <a:lnTo>
                    <a:pt x="192816" y="817904"/>
                  </a:lnTo>
                  <a:lnTo>
                    <a:pt x="199764" y="864459"/>
                  </a:lnTo>
                  <a:lnTo>
                    <a:pt x="206539" y="903200"/>
                  </a:lnTo>
                  <a:lnTo>
                    <a:pt x="219456" y="952355"/>
                  </a:lnTo>
                  <a:lnTo>
                    <a:pt x="238577" y="969796"/>
                  </a:lnTo>
                  <a:lnTo>
                    <a:pt x="247796" y="960307"/>
                  </a:lnTo>
                  <a:lnTo>
                    <a:pt x="265661" y="910780"/>
                  </a:lnTo>
                  <a:lnTo>
                    <a:pt x="274351" y="873091"/>
                  </a:lnTo>
                  <a:lnTo>
                    <a:pt x="282909" y="828352"/>
                  </a:lnTo>
                  <a:lnTo>
                    <a:pt x="291356" y="777735"/>
                  </a:lnTo>
                  <a:lnTo>
                    <a:pt x="299716" y="722416"/>
                  </a:lnTo>
                  <a:lnTo>
                    <a:pt x="308009" y="663568"/>
                  </a:lnTo>
                  <a:lnTo>
                    <a:pt x="316258" y="602367"/>
                  </a:lnTo>
                  <a:lnTo>
                    <a:pt x="324485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980327" y="2989200"/>
              <a:ext cx="324485" cy="970280"/>
            </a:xfrm>
            <a:custGeom>
              <a:avLst/>
              <a:gdLst/>
              <a:ahLst/>
              <a:cxnLst/>
              <a:rect l="l" t="t" r="r" b="b"/>
              <a:pathLst>
                <a:path w="324485" h="970279">
                  <a:moveTo>
                    <a:pt x="0" y="504172"/>
                  </a:moveTo>
                  <a:lnTo>
                    <a:pt x="5983" y="438806"/>
                  </a:lnTo>
                  <a:lnTo>
                    <a:pt x="11996" y="374422"/>
                  </a:lnTo>
                  <a:lnTo>
                    <a:pt x="18067" y="312001"/>
                  </a:lnTo>
                  <a:lnTo>
                    <a:pt x="24225" y="252521"/>
                  </a:lnTo>
                  <a:lnTo>
                    <a:pt x="30500" y="196960"/>
                  </a:lnTo>
                  <a:lnTo>
                    <a:pt x="36921" y="146297"/>
                  </a:lnTo>
                  <a:lnTo>
                    <a:pt x="43516" y="101512"/>
                  </a:lnTo>
                  <a:lnTo>
                    <a:pt x="50316" y="63583"/>
                  </a:lnTo>
                  <a:lnTo>
                    <a:pt x="64643" y="12207"/>
                  </a:lnTo>
                  <a:lnTo>
                    <a:pt x="80135" y="0"/>
                  </a:lnTo>
                  <a:lnTo>
                    <a:pt x="88392" y="11031"/>
                  </a:lnTo>
                  <a:lnTo>
                    <a:pt x="100518" y="56383"/>
                  </a:lnTo>
                  <a:lnTo>
                    <a:pt x="113636" y="138771"/>
                  </a:lnTo>
                  <a:lnTo>
                    <a:pt x="120492" y="190804"/>
                  </a:lnTo>
                  <a:lnTo>
                    <a:pt x="127506" y="248437"/>
                  </a:lnTo>
                  <a:lnTo>
                    <a:pt x="134647" y="310450"/>
                  </a:lnTo>
                  <a:lnTo>
                    <a:pt x="141885" y="375625"/>
                  </a:lnTo>
                  <a:lnTo>
                    <a:pt x="149191" y="442740"/>
                  </a:lnTo>
                  <a:lnTo>
                    <a:pt x="156534" y="510578"/>
                  </a:lnTo>
                  <a:lnTo>
                    <a:pt x="163884" y="577917"/>
                  </a:lnTo>
                  <a:lnTo>
                    <a:pt x="171211" y="643539"/>
                  </a:lnTo>
                  <a:lnTo>
                    <a:pt x="178485" y="706224"/>
                  </a:lnTo>
                  <a:lnTo>
                    <a:pt x="185676" y="764752"/>
                  </a:lnTo>
                  <a:lnTo>
                    <a:pt x="192754" y="817904"/>
                  </a:lnTo>
                  <a:lnTo>
                    <a:pt x="199688" y="864459"/>
                  </a:lnTo>
                  <a:lnTo>
                    <a:pt x="206448" y="903200"/>
                  </a:lnTo>
                  <a:lnTo>
                    <a:pt x="219329" y="952355"/>
                  </a:lnTo>
                  <a:lnTo>
                    <a:pt x="238504" y="969796"/>
                  </a:lnTo>
                  <a:lnTo>
                    <a:pt x="247743" y="960307"/>
                  </a:lnTo>
                  <a:lnTo>
                    <a:pt x="265636" y="910780"/>
                  </a:lnTo>
                  <a:lnTo>
                    <a:pt x="274335" y="873091"/>
                  </a:lnTo>
                  <a:lnTo>
                    <a:pt x="282900" y="828352"/>
                  </a:lnTo>
                  <a:lnTo>
                    <a:pt x="291352" y="777735"/>
                  </a:lnTo>
                  <a:lnTo>
                    <a:pt x="299714" y="722416"/>
                  </a:lnTo>
                  <a:lnTo>
                    <a:pt x="308008" y="663568"/>
                  </a:lnTo>
                  <a:lnTo>
                    <a:pt x="316258" y="602367"/>
                  </a:lnTo>
                  <a:lnTo>
                    <a:pt x="324485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304811" y="2989200"/>
              <a:ext cx="324485" cy="970280"/>
            </a:xfrm>
            <a:custGeom>
              <a:avLst/>
              <a:gdLst/>
              <a:ahLst/>
              <a:cxnLst/>
              <a:rect l="l" t="t" r="r" b="b"/>
              <a:pathLst>
                <a:path w="324485" h="970279">
                  <a:moveTo>
                    <a:pt x="0" y="504172"/>
                  </a:moveTo>
                  <a:lnTo>
                    <a:pt x="5983" y="438806"/>
                  </a:lnTo>
                  <a:lnTo>
                    <a:pt x="11996" y="374422"/>
                  </a:lnTo>
                  <a:lnTo>
                    <a:pt x="18067" y="312001"/>
                  </a:lnTo>
                  <a:lnTo>
                    <a:pt x="24225" y="252521"/>
                  </a:lnTo>
                  <a:lnTo>
                    <a:pt x="30500" y="196960"/>
                  </a:lnTo>
                  <a:lnTo>
                    <a:pt x="36921" y="146297"/>
                  </a:lnTo>
                  <a:lnTo>
                    <a:pt x="43516" y="101512"/>
                  </a:lnTo>
                  <a:lnTo>
                    <a:pt x="50316" y="63583"/>
                  </a:lnTo>
                  <a:lnTo>
                    <a:pt x="64643" y="12207"/>
                  </a:lnTo>
                  <a:lnTo>
                    <a:pt x="80135" y="0"/>
                  </a:lnTo>
                  <a:lnTo>
                    <a:pt x="88392" y="11031"/>
                  </a:lnTo>
                  <a:lnTo>
                    <a:pt x="100514" y="56383"/>
                  </a:lnTo>
                  <a:lnTo>
                    <a:pt x="113623" y="138771"/>
                  </a:lnTo>
                  <a:lnTo>
                    <a:pt x="120473" y="190804"/>
                  </a:lnTo>
                  <a:lnTo>
                    <a:pt x="127480" y="248437"/>
                  </a:lnTo>
                  <a:lnTo>
                    <a:pt x="134614" y="310450"/>
                  </a:lnTo>
                  <a:lnTo>
                    <a:pt x="141846" y="375625"/>
                  </a:lnTo>
                  <a:lnTo>
                    <a:pt x="149146" y="442740"/>
                  </a:lnTo>
                  <a:lnTo>
                    <a:pt x="156484" y="510578"/>
                  </a:lnTo>
                  <a:lnTo>
                    <a:pt x="163831" y="577917"/>
                  </a:lnTo>
                  <a:lnTo>
                    <a:pt x="171155" y="643539"/>
                  </a:lnTo>
                  <a:lnTo>
                    <a:pt x="178429" y="706224"/>
                  </a:lnTo>
                  <a:lnTo>
                    <a:pt x="185622" y="764752"/>
                  </a:lnTo>
                  <a:lnTo>
                    <a:pt x="192704" y="817904"/>
                  </a:lnTo>
                  <a:lnTo>
                    <a:pt x="199645" y="864459"/>
                  </a:lnTo>
                  <a:lnTo>
                    <a:pt x="206416" y="903200"/>
                  </a:lnTo>
                  <a:lnTo>
                    <a:pt x="219329" y="952355"/>
                  </a:lnTo>
                  <a:lnTo>
                    <a:pt x="238504" y="969796"/>
                  </a:lnTo>
                  <a:lnTo>
                    <a:pt x="247743" y="960307"/>
                  </a:lnTo>
                  <a:lnTo>
                    <a:pt x="265636" y="910780"/>
                  </a:lnTo>
                  <a:lnTo>
                    <a:pt x="274335" y="873091"/>
                  </a:lnTo>
                  <a:lnTo>
                    <a:pt x="282900" y="828352"/>
                  </a:lnTo>
                  <a:lnTo>
                    <a:pt x="291352" y="777735"/>
                  </a:lnTo>
                  <a:lnTo>
                    <a:pt x="299714" y="722416"/>
                  </a:lnTo>
                  <a:lnTo>
                    <a:pt x="308008" y="663568"/>
                  </a:lnTo>
                  <a:lnTo>
                    <a:pt x="316258" y="602367"/>
                  </a:lnTo>
                  <a:lnTo>
                    <a:pt x="324485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80427" y="2987294"/>
              <a:ext cx="5647690" cy="0"/>
            </a:xfrm>
            <a:custGeom>
              <a:avLst/>
              <a:gdLst/>
              <a:ahLst/>
              <a:cxnLst/>
              <a:rect l="l" t="t" r="r" b="b"/>
              <a:pathLst>
                <a:path w="5647690">
                  <a:moveTo>
                    <a:pt x="0" y="0"/>
                  </a:moveTo>
                  <a:lnTo>
                    <a:pt x="5647296" y="0"/>
                  </a:lnTo>
                </a:path>
              </a:pathLst>
            </a:custGeom>
            <a:ln w="19050">
              <a:solidFill>
                <a:srgbClr val="4471C4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08901" y="3967734"/>
              <a:ext cx="5647690" cy="0"/>
            </a:xfrm>
            <a:custGeom>
              <a:avLst/>
              <a:gdLst/>
              <a:ahLst/>
              <a:cxnLst/>
              <a:rect l="l" t="t" r="r" b="b"/>
              <a:pathLst>
                <a:path w="5647690">
                  <a:moveTo>
                    <a:pt x="0" y="0"/>
                  </a:moveTo>
                  <a:lnTo>
                    <a:pt x="5647270" y="0"/>
                  </a:lnTo>
                </a:path>
              </a:pathLst>
            </a:custGeom>
            <a:ln w="19050">
              <a:solidFill>
                <a:srgbClr val="4471C4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/>
          <p:nvPr/>
        </p:nvSpPr>
        <p:spPr>
          <a:xfrm>
            <a:off x="372567" y="4422647"/>
            <a:ext cx="6974840" cy="1718945"/>
          </a:xfrm>
          <a:custGeom>
            <a:avLst/>
            <a:gdLst/>
            <a:ahLst/>
            <a:cxnLst/>
            <a:rect l="l" t="t" r="r" b="b"/>
            <a:pathLst>
              <a:path w="6974840" h="1718945">
                <a:moveTo>
                  <a:pt x="6974510" y="963041"/>
                </a:moveTo>
                <a:lnTo>
                  <a:pt x="6936410" y="943991"/>
                </a:lnTo>
                <a:lnTo>
                  <a:pt x="6860210" y="905891"/>
                </a:lnTo>
                <a:lnTo>
                  <a:pt x="6860210" y="943991"/>
                </a:lnTo>
                <a:lnTo>
                  <a:pt x="421665" y="943991"/>
                </a:lnTo>
                <a:lnTo>
                  <a:pt x="420827" y="114427"/>
                </a:lnTo>
                <a:lnTo>
                  <a:pt x="458990" y="114427"/>
                </a:lnTo>
                <a:lnTo>
                  <a:pt x="449376" y="95250"/>
                </a:lnTo>
                <a:lnTo>
                  <a:pt x="401662" y="0"/>
                </a:lnTo>
                <a:lnTo>
                  <a:pt x="344627" y="114427"/>
                </a:lnTo>
                <a:lnTo>
                  <a:pt x="382727" y="114427"/>
                </a:lnTo>
                <a:lnTo>
                  <a:pt x="383565" y="943991"/>
                </a:lnTo>
                <a:lnTo>
                  <a:pt x="0" y="943991"/>
                </a:lnTo>
                <a:lnTo>
                  <a:pt x="0" y="982091"/>
                </a:lnTo>
                <a:lnTo>
                  <a:pt x="383603" y="982091"/>
                </a:lnTo>
                <a:lnTo>
                  <a:pt x="384352" y="1718437"/>
                </a:lnTo>
                <a:lnTo>
                  <a:pt x="422452" y="1718449"/>
                </a:lnTo>
                <a:lnTo>
                  <a:pt x="421703" y="982091"/>
                </a:lnTo>
                <a:lnTo>
                  <a:pt x="6860210" y="982091"/>
                </a:lnTo>
                <a:lnTo>
                  <a:pt x="6860210" y="1020191"/>
                </a:lnTo>
                <a:lnTo>
                  <a:pt x="6936410" y="982091"/>
                </a:lnTo>
                <a:lnTo>
                  <a:pt x="6974510" y="963041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6118352" y="5401767"/>
            <a:ext cx="11398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Time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(Sec)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919988" y="4400550"/>
            <a:ext cx="10261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Amplitude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704253" y="4572000"/>
            <a:ext cx="6740486" cy="877695"/>
            <a:chOff x="704253" y="4572000"/>
            <a:chExt cx="6740486" cy="877695"/>
          </a:xfrm>
        </p:grpSpPr>
        <p:pic>
          <p:nvPicPr>
            <p:cNvPr id="42" name="object 4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7428" y="5319648"/>
              <a:ext cx="133616" cy="126872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4253" y="5316473"/>
              <a:ext cx="139966" cy="133222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08646" y="4572000"/>
              <a:ext cx="236093" cy="211709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5779642" y="4500880"/>
            <a:ext cx="16294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7E5F00"/>
                </a:solidFill>
                <a:latin typeface="Calibri"/>
                <a:cs typeface="Calibri"/>
              </a:rPr>
              <a:t>PM</a:t>
            </a:r>
            <a:r>
              <a:rPr sz="1800" b="1" spc="-30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7E5F00"/>
                </a:solidFill>
                <a:latin typeface="Calibri"/>
                <a:cs typeface="Calibri"/>
              </a:rPr>
              <a:t>Signal</a:t>
            </a:r>
            <a:r>
              <a:rPr sz="1800" b="1" spc="-55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5F00"/>
                </a:solidFill>
                <a:latin typeface="Cambria Math"/>
                <a:cs typeface="Cambria Math"/>
              </a:rPr>
              <a:t>𝐘</a:t>
            </a:r>
            <a:r>
              <a:rPr sz="1950" baseline="-14957" dirty="0">
                <a:solidFill>
                  <a:srgbClr val="7E5F00"/>
                </a:solidFill>
                <a:latin typeface="Cambria Math"/>
                <a:cs typeface="Cambria Math"/>
              </a:rPr>
              <a:t>𝐏𝐌</a:t>
            </a:r>
            <a:r>
              <a:rPr sz="1950" spc="675" baseline="-14957" dirty="0">
                <a:solidFill>
                  <a:srgbClr val="7E5F00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7E5F00"/>
                </a:solidFill>
                <a:latin typeface="Cambria Math"/>
                <a:cs typeface="Cambria Math"/>
              </a:rPr>
              <a:t>𝐭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743305" y="4869307"/>
            <a:ext cx="5695315" cy="999490"/>
            <a:chOff x="743305" y="4869307"/>
            <a:chExt cx="5695315" cy="999490"/>
          </a:xfrm>
        </p:grpSpPr>
        <p:sp>
          <p:nvSpPr>
            <p:cNvPr id="47" name="object 47"/>
            <p:cNvSpPr/>
            <p:nvPr/>
          </p:nvSpPr>
          <p:spPr>
            <a:xfrm>
              <a:off x="752830" y="4878832"/>
              <a:ext cx="5647690" cy="0"/>
            </a:xfrm>
            <a:custGeom>
              <a:avLst/>
              <a:gdLst/>
              <a:ahLst/>
              <a:cxnLst/>
              <a:rect l="l" t="t" r="r" b="b"/>
              <a:pathLst>
                <a:path w="5647690">
                  <a:moveTo>
                    <a:pt x="0" y="0"/>
                  </a:moveTo>
                  <a:lnTo>
                    <a:pt x="5647207" y="0"/>
                  </a:lnTo>
                </a:path>
              </a:pathLst>
            </a:custGeom>
            <a:ln w="19050">
              <a:solidFill>
                <a:srgbClr val="4471C4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81303" y="5859246"/>
              <a:ext cx="5647690" cy="0"/>
            </a:xfrm>
            <a:custGeom>
              <a:avLst/>
              <a:gdLst/>
              <a:ahLst/>
              <a:cxnLst/>
              <a:rect l="l" t="t" r="r" b="b"/>
              <a:pathLst>
                <a:path w="5647690">
                  <a:moveTo>
                    <a:pt x="0" y="0"/>
                  </a:moveTo>
                  <a:lnTo>
                    <a:pt x="5647309" y="0"/>
                  </a:lnTo>
                </a:path>
              </a:pathLst>
            </a:custGeom>
            <a:ln w="19050">
              <a:solidFill>
                <a:srgbClr val="4471C4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420623" y="4705350"/>
            <a:ext cx="3028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𝐕</a:t>
            </a:r>
            <a:r>
              <a:rPr sz="1950" spc="-37" baseline="-14957" dirty="0">
                <a:latin typeface="Cambria Math"/>
                <a:cs typeface="Cambria Math"/>
              </a:rPr>
              <a:t>𝐂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65175" y="5682792"/>
            <a:ext cx="4756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−𝐕</a:t>
            </a:r>
            <a:r>
              <a:rPr sz="1950" spc="-37" baseline="-14957" dirty="0">
                <a:latin typeface="Cambria Math"/>
                <a:cs typeface="Cambria Math"/>
              </a:rPr>
              <a:t>𝐂</a:t>
            </a:r>
            <a:endParaRPr sz="1950" baseline="-14957">
              <a:latin typeface="Cambria Math"/>
              <a:cs typeface="Cambria Math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2077211" y="1109151"/>
            <a:ext cx="3972307" cy="4828861"/>
            <a:chOff x="2077211" y="1109151"/>
            <a:chExt cx="3972307" cy="4828861"/>
          </a:xfrm>
        </p:grpSpPr>
        <p:sp>
          <p:nvSpPr>
            <p:cNvPr id="58" name="object 58"/>
            <p:cNvSpPr/>
            <p:nvPr/>
          </p:nvSpPr>
          <p:spPr>
            <a:xfrm>
              <a:off x="2104897" y="1638808"/>
              <a:ext cx="0" cy="4271010"/>
            </a:xfrm>
            <a:custGeom>
              <a:avLst/>
              <a:gdLst/>
              <a:ahLst/>
              <a:cxnLst/>
              <a:rect l="l" t="t" r="r" b="b"/>
              <a:pathLst>
                <a:path h="4271010">
                  <a:moveTo>
                    <a:pt x="0" y="0"/>
                  </a:moveTo>
                  <a:lnTo>
                    <a:pt x="0" y="4270527"/>
                  </a:lnTo>
                </a:path>
              </a:pathLst>
            </a:custGeom>
            <a:ln w="19050">
              <a:solidFill>
                <a:srgbClr val="4471C4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709541" y="1667002"/>
              <a:ext cx="0" cy="4271010"/>
            </a:xfrm>
            <a:custGeom>
              <a:avLst/>
              <a:gdLst/>
              <a:ahLst/>
              <a:cxnLst/>
              <a:rect l="l" t="t" r="r" b="b"/>
              <a:pathLst>
                <a:path h="4271010">
                  <a:moveTo>
                    <a:pt x="0" y="0"/>
                  </a:moveTo>
                  <a:lnTo>
                    <a:pt x="0" y="4270590"/>
                  </a:lnTo>
                </a:path>
              </a:pathLst>
            </a:custGeom>
            <a:ln w="19050">
              <a:solidFill>
                <a:srgbClr val="4471C4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2077211" y="1899285"/>
              <a:ext cx="1324610" cy="5715"/>
            </a:xfrm>
            <a:custGeom>
              <a:avLst/>
              <a:gdLst/>
              <a:ahLst/>
              <a:cxnLst/>
              <a:rect l="l" t="t" r="r" b="b"/>
              <a:pathLst>
                <a:path w="1324610" h="5714">
                  <a:moveTo>
                    <a:pt x="0" y="0"/>
                  </a:moveTo>
                  <a:lnTo>
                    <a:pt x="1324483" y="5588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3409696" y="1127506"/>
              <a:ext cx="1324610" cy="5715"/>
            </a:xfrm>
            <a:custGeom>
              <a:avLst/>
              <a:gdLst/>
              <a:ahLst/>
              <a:cxnLst/>
              <a:rect l="l" t="t" r="r" b="b"/>
              <a:pathLst>
                <a:path w="1324610" h="5715">
                  <a:moveTo>
                    <a:pt x="0" y="0"/>
                  </a:moveTo>
                  <a:lnTo>
                    <a:pt x="1324356" y="5461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724908" y="1905000"/>
              <a:ext cx="1324610" cy="5715"/>
            </a:xfrm>
            <a:custGeom>
              <a:avLst/>
              <a:gdLst/>
              <a:ahLst/>
              <a:cxnLst/>
              <a:rect l="l" t="t" r="r" b="b"/>
              <a:pathLst>
                <a:path w="1324610" h="5714">
                  <a:moveTo>
                    <a:pt x="0" y="0"/>
                  </a:moveTo>
                  <a:lnTo>
                    <a:pt x="1324356" y="5588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2083942" y="1143000"/>
              <a:ext cx="0" cy="746855"/>
            </a:xfrm>
            <a:custGeom>
              <a:avLst/>
              <a:gdLst/>
              <a:ahLst/>
              <a:cxnLst/>
              <a:rect l="l" t="t" r="r" b="b"/>
              <a:pathLst>
                <a:path h="1093470">
                  <a:moveTo>
                    <a:pt x="0" y="1093343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5" name="object 65"/>
            <p:cNvSpPr/>
            <p:nvPr/>
          </p:nvSpPr>
          <p:spPr>
            <a:xfrm flipH="1">
              <a:off x="3356102" y="1109151"/>
              <a:ext cx="45719" cy="795849"/>
            </a:xfrm>
            <a:custGeom>
              <a:avLst/>
              <a:gdLst/>
              <a:ahLst/>
              <a:cxnLst/>
              <a:rect l="l" t="t" r="r" b="b"/>
              <a:pathLst>
                <a:path h="1093470">
                  <a:moveTo>
                    <a:pt x="0" y="1093342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6" name="object 66"/>
            <p:cNvSpPr/>
            <p:nvPr/>
          </p:nvSpPr>
          <p:spPr>
            <a:xfrm>
              <a:off x="4714874" y="1143000"/>
              <a:ext cx="0" cy="746855"/>
            </a:xfrm>
            <a:custGeom>
              <a:avLst/>
              <a:gdLst/>
              <a:ahLst/>
              <a:cxnLst/>
              <a:rect l="l" t="t" r="r" b="b"/>
              <a:pathLst>
                <a:path h="1093470">
                  <a:moveTo>
                    <a:pt x="0" y="1093470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2094991" y="4846331"/>
              <a:ext cx="322580" cy="970280"/>
            </a:xfrm>
            <a:custGeom>
              <a:avLst/>
              <a:gdLst/>
              <a:ahLst/>
              <a:cxnLst/>
              <a:rect l="l" t="t" r="r" b="b"/>
              <a:pathLst>
                <a:path w="322580" h="970279">
                  <a:moveTo>
                    <a:pt x="0" y="504070"/>
                  </a:moveTo>
                  <a:lnTo>
                    <a:pt x="5942" y="438729"/>
                  </a:lnTo>
                  <a:lnTo>
                    <a:pt x="11913" y="374363"/>
                  </a:lnTo>
                  <a:lnTo>
                    <a:pt x="17943" y="311953"/>
                  </a:lnTo>
                  <a:lnTo>
                    <a:pt x="24058" y="252479"/>
                  </a:lnTo>
                  <a:lnTo>
                    <a:pt x="30289" y="196920"/>
                  </a:lnTo>
                  <a:lnTo>
                    <a:pt x="36665" y="146259"/>
                  </a:lnTo>
                  <a:lnTo>
                    <a:pt x="43213" y="101473"/>
                  </a:lnTo>
                  <a:lnTo>
                    <a:pt x="49964" y="63545"/>
                  </a:lnTo>
                  <a:lnTo>
                    <a:pt x="64186" y="12178"/>
                  </a:lnTo>
                  <a:lnTo>
                    <a:pt x="79563" y="0"/>
                  </a:lnTo>
                  <a:lnTo>
                    <a:pt x="87757" y="11056"/>
                  </a:lnTo>
                  <a:lnTo>
                    <a:pt x="99785" y="56405"/>
                  </a:lnTo>
                  <a:lnTo>
                    <a:pt x="112796" y="138784"/>
                  </a:lnTo>
                  <a:lnTo>
                    <a:pt x="119596" y="190811"/>
                  </a:lnTo>
                  <a:lnTo>
                    <a:pt x="126552" y="248438"/>
                  </a:lnTo>
                  <a:lnTo>
                    <a:pt x="133635" y="310445"/>
                  </a:lnTo>
                  <a:lnTo>
                    <a:pt x="140815" y="375612"/>
                  </a:lnTo>
                  <a:lnTo>
                    <a:pt x="148063" y="442720"/>
                  </a:lnTo>
                  <a:lnTo>
                    <a:pt x="155348" y="510550"/>
                  </a:lnTo>
                  <a:lnTo>
                    <a:pt x="162642" y="577882"/>
                  </a:lnTo>
                  <a:lnTo>
                    <a:pt x="169913" y="643497"/>
                  </a:lnTo>
                  <a:lnTo>
                    <a:pt x="177134" y="706175"/>
                  </a:lnTo>
                  <a:lnTo>
                    <a:pt x="184273" y="764698"/>
                  </a:lnTo>
                  <a:lnTo>
                    <a:pt x="191302" y="817845"/>
                  </a:lnTo>
                  <a:lnTo>
                    <a:pt x="198190" y="864397"/>
                  </a:lnTo>
                  <a:lnTo>
                    <a:pt x="204908" y="903135"/>
                  </a:lnTo>
                  <a:lnTo>
                    <a:pt x="217716" y="952291"/>
                  </a:lnTo>
                  <a:lnTo>
                    <a:pt x="236732" y="969732"/>
                  </a:lnTo>
                  <a:lnTo>
                    <a:pt x="245895" y="960239"/>
                  </a:lnTo>
                  <a:lnTo>
                    <a:pt x="263644" y="910700"/>
                  </a:lnTo>
                  <a:lnTo>
                    <a:pt x="272273" y="873004"/>
                  </a:lnTo>
                  <a:lnTo>
                    <a:pt x="280769" y="828257"/>
                  </a:lnTo>
                  <a:lnTo>
                    <a:pt x="289154" y="777634"/>
                  </a:lnTo>
                  <a:lnTo>
                    <a:pt x="297449" y="722311"/>
                  </a:lnTo>
                  <a:lnTo>
                    <a:pt x="305677" y="663461"/>
                  </a:lnTo>
                  <a:lnTo>
                    <a:pt x="313860" y="602261"/>
                  </a:lnTo>
                  <a:lnTo>
                    <a:pt x="322021" y="539884"/>
                  </a:lnTo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2417013" y="4846331"/>
              <a:ext cx="322580" cy="970280"/>
            </a:xfrm>
            <a:custGeom>
              <a:avLst/>
              <a:gdLst/>
              <a:ahLst/>
              <a:cxnLst/>
              <a:rect l="l" t="t" r="r" b="b"/>
              <a:pathLst>
                <a:path w="322580" h="970279">
                  <a:moveTo>
                    <a:pt x="0" y="504070"/>
                  </a:moveTo>
                  <a:lnTo>
                    <a:pt x="5942" y="438729"/>
                  </a:lnTo>
                  <a:lnTo>
                    <a:pt x="11913" y="374363"/>
                  </a:lnTo>
                  <a:lnTo>
                    <a:pt x="17942" y="311953"/>
                  </a:lnTo>
                  <a:lnTo>
                    <a:pt x="24058" y="252479"/>
                  </a:lnTo>
                  <a:lnTo>
                    <a:pt x="30289" y="196920"/>
                  </a:lnTo>
                  <a:lnTo>
                    <a:pt x="36664" y="146259"/>
                  </a:lnTo>
                  <a:lnTo>
                    <a:pt x="43211" y="101473"/>
                  </a:lnTo>
                  <a:lnTo>
                    <a:pt x="49961" y="63545"/>
                  </a:lnTo>
                  <a:lnTo>
                    <a:pt x="64181" y="12178"/>
                  </a:lnTo>
                  <a:lnTo>
                    <a:pt x="79553" y="0"/>
                  </a:lnTo>
                  <a:lnTo>
                    <a:pt x="87744" y="11056"/>
                  </a:lnTo>
                  <a:lnTo>
                    <a:pt x="99771" y="56405"/>
                  </a:lnTo>
                  <a:lnTo>
                    <a:pt x="112778" y="138784"/>
                  </a:lnTo>
                  <a:lnTo>
                    <a:pt x="119576" y="190811"/>
                  </a:lnTo>
                  <a:lnTo>
                    <a:pt x="126530" y="248438"/>
                  </a:lnTo>
                  <a:lnTo>
                    <a:pt x="133610" y="310445"/>
                  </a:lnTo>
                  <a:lnTo>
                    <a:pt x="140789" y="375612"/>
                  </a:lnTo>
                  <a:lnTo>
                    <a:pt x="148035" y="442720"/>
                  </a:lnTo>
                  <a:lnTo>
                    <a:pt x="155319" y="510550"/>
                  </a:lnTo>
                  <a:lnTo>
                    <a:pt x="162612" y="577882"/>
                  </a:lnTo>
                  <a:lnTo>
                    <a:pt x="169885" y="643497"/>
                  </a:lnTo>
                  <a:lnTo>
                    <a:pt x="177107" y="706175"/>
                  </a:lnTo>
                  <a:lnTo>
                    <a:pt x="184249" y="764698"/>
                  </a:lnTo>
                  <a:lnTo>
                    <a:pt x="191282" y="817845"/>
                  </a:lnTo>
                  <a:lnTo>
                    <a:pt x="198176" y="864397"/>
                  </a:lnTo>
                  <a:lnTo>
                    <a:pt x="204901" y="903135"/>
                  </a:lnTo>
                  <a:lnTo>
                    <a:pt x="217728" y="952291"/>
                  </a:lnTo>
                  <a:lnTo>
                    <a:pt x="236723" y="969732"/>
                  </a:lnTo>
                  <a:lnTo>
                    <a:pt x="245879" y="960239"/>
                  </a:lnTo>
                  <a:lnTo>
                    <a:pt x="263617" y="910700"/>
                  </a:lnTo>
                  <a:lnTo>
                    <a:pt x="272243" y="873004"/>
                  </a:lnTo>
                  <a:lnTo>
                    <a:pt x="280737" y="828257"/>
                  </a:lnTo>
                  <a:lnTo>
                    <a:pt x="289121" y="777634"/>
                  </a:lnTo>
                  <a:lnTo>
                    <a:pt x="297417" y="722311"/>
                  </a:lnTo>
                  <a:lnTo>
                    <a:pt x="305646" y="663461"/>
                  </a:lnTo>
                  <a:lnTo>
                    <a:pt x="313832" y="602261"/>
                  </a:lnTo>
                  <a:lnTo>
                    <a:pt x="321995" y="539884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2744850" y="4846331"/>
              <a:ext cx="322580" cy="970280"/>
            </a:xfrm>
            <a:custGeom>
              <a:avLst/>
              <a:gdLst/>
              <a:ahLst/>
              <a:cxnLst/>
              <a:rect l="l" t="t" r="r" b="b"/>
              <a:pathLst>
                <a:path w="322580" h="970279">
                  <a:moveTo>
                    <a:pt x="0" y="504070"/>
                  </a:moveTo>
                  <a:lnTo>
                    <a:pt x="5952" y="438729"/>
                  </a:lnTo>
                  <a:lnTo>
                    <a:pt x="11929" y="374363"/>
                  </a:lnTo>
                  <a:lnTo>
                    <a:pt x="17960" y="311953"/>
                  </a:lnTo>
                  <a:lnTo>
                    <a:pt x="24076" y="252479"/>
                  </a:lnTo>
                  <a:lnTo>
                    <a:pt x="30305" y="196920"/>
                  </a:lnTo>
                  <a:lnTo>
                    <a:pt x="36676" y="146259"/>
                  </a:lnTo>
                  <a:lnTo>
                    <a:pt x="43221" y="101473"/>
                  </a:lnTo>
                  <a:lnTo>
                    <a:pt x="49967" y="63545"/>
                  </a:lnTo>
                  <a:lnTo>
                    <a:pt x="64182" y="12178"/>
                  </a:lnTo>
                  <a:lnTo>
                    <a:pt x="79559" y="0"/>
                  </a:lnTo>
                  <a:lnTo>
                    <a:pt x="87757" y="11056"/>
                  </a:lnTo>
                  <a:lnTo>
                    <a:pt x="99795" y="56405"/>
                  </a:lnTo>
                  <a:lnTo>
                    <a:pt x="112812" y="138784"/>
                  </a:lnTo>
                  <a:lnTo>
                    <a:pt x="119613" y="190811"/>
                  </a:lnTo>
                  <a:lnTo>
                    <a:pt x="126570" y="248438"/>
                  </a:lnTo>
                  <a:lnTo>
                    <a:pt x="133653" y="310445"/>
                  </a:lnTo>
                  <a:lnTo>
                    <a:pt x="140832" y="375612"/>
                  </a:lnTo>
                  <a:lnTo>
                    <a:pt x="148078" y="442720"/>
                  </a:lnTo>
                  <a:lnTo>
                    <a:pt x="155361" y="510550"/>
                  </a:lnTo>
                  <a:lnTo>
                    <a:pt x="162651" y="577882"/>
                  </a:lnTo>
                  <a:lnTo>
                    <a:pt x="169919" y="643497"/>
                  </a:lnTo>
                  <a:lnTo>
                    <a:pt x="177135" y="706175"/>
                  </a:lnTo>
                  <a:lnTo>
                    <a:pt x="184269" y="764698"/>
                  </a:lnTo>
                  <a:lnTo>
                    <a:pt x="191292" y="817845"/>
                  </a:lnTo>
                  <a:lnTo>
                    <a:pt x="198174" y="864397"/>
                  </a:lnTo>
                  <a:lnTo>
                    <a:pt x="204885" y="903135"/>
                  </a:lnTo>
                  <a:lnTo>
                    <a:pt x="217678" y="952291"/>
                  </a:lnTo>
                  <a:lnTo>
                    <a:pt x="236726" y="969732"/>
                  </a:lnTo>
                  <a:lnTo>
                    <a:pt x="245901" y="960239"/>
                  </a:lnTo>
                  <a:lnTo>
                    <a:pt x="263668" y="910700"/>
                  </a:lnTo>
                  <a:lnTo>
                    <a:pt x="272303" y="873004"/>
                  </a:lnTo>
                  <a:lnTo>
                    <a:pt x="280804" y="828257"/>
                  </a:lnTo>
                  <a:lnTo>
                    <a:pt x="289193" y="777634"/>
                  </a:lnTo>
                  <a:lnTo>
                    <a:pt x="297491" y="722311"/>
                  </a:lnTo>
                  <a:lnTo>
                    <a:pt x="305722" y="663461"/>
                  </a:lnTo>
                  <a:lnTo>
                    <a:pt x="313908" y="602261"/>
                  </a:lnTo>
                  <a:lnTo>
                    <a:pt x="322072" y="539884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3066922" y="4874931"/>
              <a:ext cx="321945" cy="970280"/>
            </a:xfrm>
            <a:custGeom>
              <a:avLst/>
              <a:gdLst/>
              <a:ahLst/>
              <a:cxnLst/>
              <a:rect l="l" t="t" r="r" b="b"/>
              <a:pathLst>
                <a:path w="321944" h="970279">
                  <a:moveTo>
                    <a:pt x="0" y="504172"/>
                  </a:moveTo>
                  <a:lnTo>
                    <a:pt x="5927" y="438806"/>
                  </a:lnTo>
                  <a:lnTo>
                    <a:pt x="11886" y="374422"/>
                  </a:lnTo>
                  <a:lnTo>
                    <a:pt x="17907" y="312001"/>
                  </a:lnTo>
                  <a:lnTo>
                    <a:pt x="24016" y="252521"/>
                  </a:lnTo>
                  <a:lnTo>
                    <a:pt x="30242" y="196960"/>
                  </a:lnTo>
                  <a:lnTo>
                    <a:pt x="36613" y="146297"/>
                  </a:lnTo>
                  <a:lnTo>
                    <a:pt x="43157" y="101512"/>
                  </a:lnTo>
                  <a:lnTo>
                    <a:pt x="49902" y="63583"/>
                  </a:lnTo>
                  <a:lnTo>
                    <a:pt x="64109" y="12207"/>
                  </a:lnTo>
                  <a:lnTo>
                    <a:pt x="79457" y="0"/>
                  </a:lnTo>
                  <a:lnTo>
                    <a:pt x="87630" y="11031"/>
                  </a:lnTo>
                  <a:lnTo>
                    <a:pt x="99668" y="56415"/>
                  </a:lnTo>
                  <a:lnTo>
                    <a:pt x="112686" y="138821"/>
                  </a:lnTo>
                  <a:lnTo>
                    <a:pt x="119489" y="190858"/>
                  </a:lnTo>
                  <a:lnTo>
                    <a:pt x="126447" y="248493"/>
                  </a:lnTo>
                  <a:lnTo>
                    <a:pt x="133532" y="310507"/>
                  </a:lnTo>
                  <a:lnTo>
                    <a:pt x="140715" y="375679"/>
                  </a:lnTo>
                  <a:lnTo>
                    <a:pt x="147965" y="442792"/>
                  </a:lnTo>
                  <a:lnTo>
                    <a:pt x="155253" y="510625"/>
                  </a:lnTo>
                  <a:lnTo>
                    <a:pt x="162549" y="577959"/>
                  </a:lnTo>
                  <a:lnTo>
                    <a:pt x="169824" y="643575"/>
                  </a:lnTo>
                  <a:lnTo>
                    <a:pt x="177049" y="706254"/>
                  </a:lnTo>
                  <a:lnTo>
                    <a:pt x="184193" y="764776"/>
                  </a:lnTo>
                  <a:lnTo>
                    <a:pt x="191228" y="817923"/>
                  </a:lnTo>
                  <a:lnTo>
                    <a:pt x="198123" y="864475"/>
                  </a:lnTo>
                  <a:lnTo>
                    <a:pt x="204849" y="903213"/>
                  </a:lnTo>
                  <a:lnTo>
                    <a:pt x="217678" y="952368"/>
                  </a:lnTo>
                  <a:lnTo>
                    <a:pt x="236672" y="969809"/>
                  </a:lnTo>
                  <a:lnTo>
                    <a:pt x="245828" y="960316"/>
                  </a:lnTo>
                  <a:lnTo>
                    <a:pt x="263566" y="910778"/>
                  </a:lnTo>
                  <a:lnTo>
                    <a:pt x="272192" y="873083"/>
                  </a:lnTo>
                  <a:lnTo>
                    <a:pt x="280686" y="828339"/>
                  </a:lnTo>
                  <a:lnTo>
                    <a:pt x="289070" y="777719"/>
                  </a:lnTo>
                  <a:lnTo>
                    <a:pt x="297366" y="722398"/>
                  </a:lnTo>
                  <a:lnTo>
                    <a:pt x="305596" y="663553"/>
                  </a:lnTo>
                  <a:lnTo>
                    <a:pt x="313781" y="602357"/>
                  </a:lnTo>
                  <a:lnTo>
                    <a:pt x="321945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4631101" y="2983103"/>
              <a:ext cx="324485" cy="970280"/>
            </a:xfrm>
            <a:custGeom>
              <a:avLst/>
              <a:gdLst/>
              <a:ahLst/>
              <a:cxnLst/>
              <a:rect l="l" t="t" r="r" b="b"/>
              <a:pathLst>
                <a:path w="324485" h="970279">
                  <a:moveTo>
                    <a:pt x="0" y="504172"/>
                  </a:moveTo>
                  <a:lnTo>
                    <a:pt x="5983" y="438806"/>
                  </a:lnTo>
                  <a:lnTo>
                    <a:pt x="11996" y="374422"/>
                  </a:lnTo>
                  <a:lnTo>
                    <a:pt x="18067" y="312001"/>
                  </a:lnTo>
                  <a:lnTo>
                    <a:pt x="24225" y="252521"/>
                  </a:lnTo>
                  <a:lnTo>
                    <a:pt x="30500" y="196960"/>
                  </a:lnTo>
                  <a:lnTo>
                    <a:pt x="36921" y="146297"/>
                  </a:lnTo>
                  <a:lnTo>
                    <a:pt x="43516" y="101512"/>
                  </a:lnTo>
                  <a:lnTo>
                    <a:pt x="50316" y="63583"/>
                  </a:lnTo>
                  <a:lnTo>
                    <a:pt x="64643" y="12207"/>
                  </a:lnTo>
                  <a:lnTo>
                    <a:pt x="80135" y="0"/>
                  </a:lnTo>
                  <a:lnTo>
                    <a:pt x="88392" y="11031"/>
                  </a:lnTo>
                  <a:lnTo>
                    <a:pt x="100514" y="56383"/>
                  </a:lnTo>
                  <a:lnTo>
                    <a:pt x="113623" y="138771"/>
                  </a:lnTo>
                  <a:lnTo>
                    <a:pt x="120473" y="190804"/>
                  </a:lnTo>
                  <a:lnTo>
                    <a:pt x="127480" y="248437"/>
                  </a:lnTo>
                  <a:lnTo>
                    <a:pt x="134614" y="310450"/>
                  </a:lnTo>
                  <a:lnTo>
                    <a:pt x="141846" y="375625"/>
                  </a:lnTo>
                  <a:lnTo>
                    <a:pt x="149146" y="442740"/>
                  </a:lnTo>
                  <a:lnTo>
                    <a:pt x="156484" y="510578"/>
                  </a:lnTo>
                  <a:lnTo>
                    <a:pt x="163831" y="577917"/>
                  </a:lnTo>
                  <a:lnTo>
                    <a:pt x="171155" y="643539"/>
                  </a:lnTo>
                  <a:lnTo>
                    <a:pt x="178429" y="706224"/>
                  </a:lnTo>
                  <a:lnTo>
                    <a:pt x="185622" y="764752"/>
                  </a:lnTo>
                  <a:lnTo>
                    <a:pt x="192704" y="817904"/>
                  </a:lnTo>
                  <a:lnTo>
                    <a:pt x="199645" y="864459"/>
                  </a:lnTo>
                  <a:lnTo>
                    <a:pt x="206416" y="903200"/>
                  </a:lnTo>
                  <a:lnTo>
                    <a:pt x="219329" y="952355"/>
                  </a:lnTo>
                  <a:lnTo>
                    <a:pt x="238494" y="969796"/>
                  </a:lnTo>
                  <a:lnTo>
                    <a:pt x="247723" y="960307"/>
                  </a:lnTo>
                  <a:lnTo>
                    <a:pt x="265588" y="910780"/>
                  </a:lnTo>
                  <a:lnTo>
                    <a:pt x="274272" y="873091"/>
                  </a:lnTo>
                  <a:lnTo>
                    <a:pt x="282820" y="828352"/>
                  </a:lnTo>
                  <a:lnTo>
                    <a:pt x="291258" y="777735"/>
                  </a:lnTo>
                  <a:lnTo>
                    <a:pt x="299606" y="722416"/>
                  </a:lnTo>
                  <a:lnTo>
                    <a:pt x="307890" y="663568"/>
                  </a:lnTo>
                  <a:lnTo>
                    <a:pt x="316133" y="602367"/>
                  </a:lnTo>
                  <a:lnTo>
                    <a:pt x="324358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2" name="object 72"/>
            <p:cNvSpPr/>
            <p:nvPr/>
          </p:nvSpPr>
          <p:spPr>
            <a:xfrm>
              <a:off x="4955458" y="2983103"/>
              <a:ext cx="324485" cy="970280"/>
            </a:xfrm>
            <a:custGeom>
              <a:avLst/>
              <a:gdLst/>
              <a:ahLst/>
              <a:cxnLst/>
              <a:rect l="l" t="t" r="r" b="b"/>
              <a:pathLst>
                <a:path w="324485" h="970279">
                  <a:moveTo>
                    <a:pt x="0" y="504172"/>
                  </a:moveTo>
                  <a:lnTo>
                    <a:pt x="5985" y="438806"/>
                  </a:lnTo>
                  <a:lnTo>
                    <a:pt x="12004" y="374422"/>
                  </a:lnTo>
                  <a:lnTo>
                    <a:pt x="18083" y="312001"/>
                  </a:lnTo>
                  <a:lnTo>
                    <a:pt x="24250" y="252521"/>
                  </a:lnTo>
                  <a:lnTo>
                    <a:pt x="30535" y="196960"/>
                  </a:lnTo>
                  <a:lnTo>
                    <a:pt x="36965" y="146297"/>
                  </a:lnTo>
                  <a:lnTo>
                    <a:pt x="43567" y="101512"/>
                  </a:lnTo>
                  <a:lnTo>
                    <a:pt x="50371" y="63583"/>
                  </a:lnTo>
                  <a:lnTo>
                    <a:pt x="64695" y="12207"/>
                  </a:lnTo>
                  <a:lnTo>
                    <a:pt x="80160" y="0"/>
                  </a:lnTo>
                  <a:lnTo>
                    <a:pt x="88392" y="11031"/>
                  </a:lnTo>
                  <a:lnTo>
                    <a:pt x="100518" y="56383"/>
                  </a:lnTo>
                  <a:lnTo>
                    <a:pt x="113638" y="138771"/>
                  </a:lnTo>
                  <a:lnTo>
                    <a:pt x="120495" y="190804"/>
                  </a:lnTo>
                  <a:lnTo>
                    <a:pt x="127510" y="248437"/>
                  </a:lnTo>
                  <a:lnTo>
                    <a:pt x="134653" y="310450"/>
                  </a:lnTo>
                  <a:lnTo>
                    <a:pt x="141895" y="375625"/>
                  </a:lnTo>
                  <a:lnTo>
                    <a:pt x="149205" y="442740"/>
                  </a:lnTo>
                  <a:lnTo>
                    <a:pt x="156553" y="510578"/>
                  </a:lnTo>
                  <a:lnTo>
                    <a:pt x="163909" y="577917"/>
                  </a:lnTo>
                  <a:lnTo>
                    <a:pt x="171243" y="643539"/>
                  </a:lnTo>
                  <a:lnTo>
                    <a:pt x="178526" y="706224"/>
                  </a:lnTo>
                  <a:lnTo>
                    <a:pt x="185727" y="764752"/>
                  </a:lnTo>
                  <a:lnTo>
                    <a:pt x="192816" y="817904"/>
                  </a:lnTo>
                  <a:lnTo>
                    <a:pt x="199764" y="864459"/>
                  </a:lnTo>
                  <a:lnTo>
                    <a:pt x="206539" y="903200"/>
                  </a:lnTo>
                  <a:lnTo>
                    <a:pt x="219456" y="952355"/>
                  </a:lnTo>
                  <a:lnTo>
                    <a:pt x="238577" y="969796"/>
                  </a:lnTo>
                  <a:lnTo>
                    <a:pt x="247796" y="960307"/>
                  </a:lnTo>
                  <a:lnTo>
                    <a:pt x="265661" y="910780"/>
                  </a:lnTo>
                  <a:lnTo>
                    <a:pt x="274351" y="873091"/>
                  </a:lnTo>
                  <a:lnTo>
                    <a:pt x="282909" y="828352"/>
                  </a:lnTo>
                  <a:lnTo>
                    <a:pt x="291356" y="777735"/>
                  </a:lnTo>
                  <a:lnTo>
                    <a:pt x="299716" y="722416"/>
                  </a:lnTo>
                  <a:lnTo>
                    <a:pt x="308009" y="663568"/>
                  </a:lnTo>
                  <a:lnTo>
                    <a:pt x="316258" y="602367"/>
                  </a:lnTo>
                  <a:lnTo>
                    <a:pt x="324485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5285785" y="2983103"/>
              <a:ext cx="324485" cy="970280"/>
            </a:xfrm>
            <a:custGeom>
              <a:avLst/>
              <a:gdLst/>
              <a:ahLst/>
              <a:cxnLst/>
              <a:rect l="l" t="t" r="r" b="b"/>
              <a:pathLst>
                <a:path w="324485" h="970279">
                  <a:moveTo>
                    <a:pt x="0" y="504172"/>
                  </a:moveTo>
                  <a:lnTo>
                    <a:pt x="5985" y="438806"/>
                  </a:lnTo>
                  <a:lnTo>
                    <a:pt x="12004" y="374422"/>
                  </a:lnTo>
                  <a:lnTo>
                    <a:pt x="18083" y="312001"/>
                  </a:lnTo>
                  <a:lnTo>
                    <a:pt x="24250" y="252521"/>
                  </a:lnTo>
                  <a:lnTo>
                    <a:pt x="30535" y="196960"/>
                  </a:lnTo>
                  <a:lnTo>
                    <a:pt x="36965" y="146297"/>
                  </a:lnTo>
                  <a:lnTo>
                    <a:pt x="43567" y="101512"/>
                  </a:lnTo>
                  <a:lnTo>
                    <a:pt x="50371" y="63583"/>
                  </a:lnTo>
                  <a:lnTo>
                    <a:pt x="64695" y="12207"/>
                  </a:lnTo>
                  <a:lnTo>
                    <a:pt x="80160" y="0"/>
                  </a:lnTo>
                  <a:lnTo>
                    <a:pt x="88392" y="11031"/>
                  </a:lnTo>
                  <a:lnTo>
                    <a:pt x="100518" y="56383"/>
                  </a:lnTo>
                  <a:lnTo>
                    <a:pt x="113638" y="138771"/>
                  </a:lnTo>
                  <a:lnTo>
                    <a:pt x="120495" y="190804"/>
                  </a:lnTo>
                  <a:lnTo>
                    <a:pt x="127510" y="248437"/>
                  </a:lnTo>
                  <a:lnTo>
                    <a:pt x="134653" y="310450"/>
                  </a:lnTo>
                  <a:lnTo>
                    <a:pt x="141895" y="375625"/>
                  </a:lnTo>
                  <a:lnTo>
                    <a:pt x="149205" y="442740"/>
                  </a:lnTo>
                  <a:lnTo>
                    <a:pt x="156553" y="510578"/>
                  </a:lnTo>
                  <a:lnTo>
                    <a:pt x="163909" y="577917"/>
                  </a:lnTo>
                  <a:lnTo>
                    <a:pt x="171243" y="643539"/>
                  </a:lnTo>
                  <a:lnTo>
                    <a:pt x="178526" y="706224"/>
                  </a:lnTo>
                  <a:lnTo>
                    <a:pt x="185727" y="764752"/>
                  </a:lnTo>
                  <a:lnTo>
                    <a:pt x="192816" y="817904"/>
                  </a:lnTo>
                  <a:lnTo>
                    <a:pt x="199764" y="864459"/>
                  </a:lnTo>
                  <a:lnTo>
                    <a:pt x="206539" y="903200"/>
                  </a:lnTo>
                  <a:lnTo>
                    <a:pt x="219456" y="952355"/>
                  </a:lnTo>
                  <a:lnTo>
                    <a:pt x="238577" y="969796"/>
                  </a:lnTo>
                  <a:lnTo>
                    <a:pt x="247796" y="960307"/>
                  </a:lnTo>
                  <a:lnTo>
                    <a:pt x="265661" y="910780"/>
                  </a:lnTo>
                  <a:lnTo>
                    <a:pt x="274351" y="873091"/>
                  </a:lnTo>
                  <a:lnTo>
                    <a:pt x="282909" y="828352"/>
                  </a:lnTo>
                  <a:lnTo>
                    <a:pt x="291356" y="777735"/>
                  </a:lnTo>
                  <a:lnTo>
                    <a:pt x="299716" y="722416"/>
                  </a:lnTo>
                  <a:lnTo>
                    <a:pt x="308009" y="663568"/>
                  </a:lnTo>
                  <a:lnTo>
                    <a:pt x="316258" y="602367"/>
                  </a:lnTo>
                  <a:lnTo>
                    <a:pt x="324485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5610270" y="2983103"/>
              <a:ext cx="324485" cy="970280"/>
            </a:xfrm>
            <a:custGeom>
              <a:avLst/>
              <a:gdLst/>
              <a:ahLst/>
              <a:cxnLst/>
              <a:rect l="l" t="t" r="r" b="b"/>
              <a:pathLst>
                <a:path w="324485" h="970279">
                  <a:moveTo>
                    <a:pt x="0" y="504172"/>
                  </a:moveTo>
                  <a:lnTo>
                    <a:pt x="5983" y="438806"/>
                  </a:lnTo>
                  <a:lnTo>
                    <a:pt x="11996" y="374422"/>
                  </a:lnTo>
                  <a:lnTo>
                    <a:pt x="18067" y="312001"/>
                  </a:lnTo>
                  <a:lnTo>
                    <a:pt x="24225" y="252521"/>
                  </a:lnTo>
                  <a:lnTo>
                    <a:pt x="30500" y="196960"/>
                  </a:lnTo>
                  <a:lnTo>
                    <a:pt x="36921" y="146297"/>
                  </a:lnTo>
                  <a:lnTo>
                    <a:pt x="43516" y="101512"/>
                  </a:lnTo>
                  <a:lnTo>
                    <a:pt x="50316" y="63583"/>
                  </a:lnTo>
                  <a:lnTo>
                    <a:pt x="64643" y="12207"/>
                  </a:lnTo>
                  <a:lnTo>
                    <a:pt x="80135" y="0"/>
                  </a:lnTo>
                  <a:lnTo>
                    <a:pt x="88392" y="11031"/>
                  </a:lnTo>
                  <a:lnTo>
                    <a:pt x="100518" y="56383"/>
                  </a:lnTo>
                  <a:lnTo>
                    <a:pt x="113636" y="138771"/>
                  </a:lnTo>
                  <a:lnTo>
                    <a:pt x="120492" y="190804"/>
                  </a:lnTo>
                  <a:lnTo>
                    <a:pt x="127506" y="248437"/>
                  </a:lnTo>
                  <a:lnTo>
                    <a:pt x="134647" y="310450"/>
                  </a:lnTo>
                  <a:lnTo>
                    <a:pt x="141885" y="375625"/>
                  </a:lnTo>
                  <a:lnTo>
                    <a:pt x="149191" y="442740"/>
                  </a:lnTo>
                  <a:lnTo>
                    <a:pt x="156534" y="510578"/>
                  </a:lnTo>
                  <a:lnTo>
                    <a:pt x="163884" y="577917"/>
                  </a:lnTo>
                  <a:lnTo>
                    <a:pt x="171211" y="643539"/>
                  </a:lnTo>
                  <a:lnTo>
                    <a:pt x="178485" y="706224"/>
                  </a:lnTo>
                  <a:lnTo>
                    <a:pt x="185676" y="764752"/>
                  </a:lnTo>
                  <a:lnTo>
                    <a:pt x="192754" y="817904"/>
                  </a:lnTo>
                  <a:lnTo>
                    <a:pt x="199688" y="864459"/>
                  </a:lnTo>
                  <a:lnTo>
                    <a:pt x="206448" y="903200"/>
                  </a:lnTo>
                  <a:lnTo>
                    <a:pt x="219329" y="952355"/>
                  </a:lnTo>
                  <a:lnTo>
                    <a:pt x="238504" y="969796"/>
                  </a:lnTo>
                  <a:lnTo>
                    <a:pt x="247743" y="960307"/>
                  </a:lnTo>
                  <a:lnTo>
                    <a:pt x="265636" y="910780"/>
                  </a:lnTo>
                  <a:lnTo>
                    <a:pt x="274335" y="873091"/>
                  </a:lnTo>
                  <a:lnTo>
                    <a:pt x="282900" y="828352"/>
                  </a:lnTo>
                  <a:lnTo>
                    <a:pt x="291352" y="777735"/>
                  </a:lnTo>
                  <a:lnTo>
                    <a:pt x="299714" y="722416"/>
                  </a:lnTo>
                  <a:lnTo>
                    <a:pt x="308008" y="663568"/>
                  </a:lnTo>
                  <a:lnTo>
                    <a:pt x="316258" y="602367"/>
                  </a:lnTo>
                  <a:lnTo>
                    <a:pt x="324485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4724400" y="4879865"/>
              <a:ext cx="322580" cy="970280"/>
            </a:xfrm>
            <a:custGeom>
              <a:avLst/>
              <a:gdLst/>
              <a:ahLst/>
              <a:cxnLst/>
              <a:rect l="l" t="t" r="r" b="b"/>
              <a:pathLst>
                <a:path w="322579" h="970279">
                  <a:moveTo>
                    <a:pt x="0" y="504172"/>
                  </a:moveTo>
                  <a:lnTo>
                    <a:pt x="5952" y="438806"/>
                  </a:lnTo>
                  <a:lnTo>
                    <a:pt x="11929" y="374422"/>
                  </a:lnTo>
                  <a:lnTo>
                    <a:pt x="17960" y="312001"/>
                  </a:lnTo>
                  <a:lnTo>
                    <a:pt x="24076" y="252521"/>
                  </a:lnTo>
                  <a:lnTo>
                    <a:pt x="30305" y="196960"/>
                  </a:lnTo>
                  <a:lnTo>
                    <a:pt x="36676" y="146297"/>
                  </a:lnTo>
                  <a:lnTo>
                    <a:pt x="43221" y="101512"/>
                  </a:lnTo>
                  <a:lnTo>
                    <a:pt x="49967" y="63583"/>
                  </a:lnTo>
                  <a:lnTo>
                    <a:pt x="64182" y="12207"/>
                  </a:lnTo>
                  <a:lnTo>
                    <a:pt x="79559" y="0"/>
                  </a:lnTo>
                  <a:lnTo>
                    <a:pt x="87757" y="11031"/>
                  </a:lnTo>
                  <a:lnTo>
                    <a:pt x="99795" y="56415"/>
                  </a:lnTo>
                  <a:lnTo>
                    <a:pt x="112813" y="138821"/>
                  </a:lnTo>
                  <a:lnTo>
                    <a:pt x="119616" y="190858"/>
                  </a:lnTo>
                  <a:lnTo>
                    <a:pt x="126574" y="248493"/>
                  </a:lnTo>
                  <a:lnTo>
                    <a:pt x="133659" y="310507"/>
                  </a:lnTo>
                  <a:lnTo>
                    <a:pt x="140842" y="375679"/>
                  </a:lnTo>
                  <a:lnTo>
                    <a:pt x="148092" y="442792"/>
                  </a:lnTo>
                  <a:lnTo>
                    <a:pt x="155380" y="510625"/>
                  </a:lnTo>
                  <a:lnTo>
                    <a:pt x="162676" y="577959"/>
                  </a:lnTo>
                  <a:lnTo>
                    <a:pt x="169951" y="643575"/>
                  </a:lnTo>
                  <a:lnTo>
                    <a:pt x="177176" y="706254"/>
                  </a:lnTo>
                  <a:lnTo>
                    <a:pt x="184320" y="764776"/>
                  </a:lnTo>
                  <a:lnTo>
                    <a:pt x="191355" y="817923"/>
                  </a:lnTo>
                  <a:lnTo>
                    <a:pt x="198250" y="864475"/>
                  </a:lnTo>
                  <a:lnTo>
                    <a:pt x="204976" y="903213"/>
                  </a:lnTo>
                  <a:lnTo>
                    <a:pt x="217804" y="952368"/>
                  </a:lnTo>
                  <a:lnTo>
                    <a:pt x="236799" y="969809"/>
                  </a:lnTo>
                  <a:lnTo>
                    <a:pt x="245955" y="960316"/>
                  </a:lnTo>
                  <a:lnTo>
                    <a:pt x="263693" y="910778"/>
                  </a:lnTo>
                  <a:lnTo>
                    <a:pt x="272319" y="873083"/>
                  </a:lnTo>
                  <a:lnTo>
                    <a:pt x="280813" y="828339"/>
                  </a:lnTo>
                  <a:lnTo>
                    <a:pt x="289197" y="777719"/>
                  </a:lnTo>
                  <a:lnTo>
                    <a:pt x="297493" y="722398"/>
                  </a:lnTo>
                  <a:lnTo>
                    <a:pt x="305723" y="663553"/>
                  </a:lnTo>
                  <a:lnTo>
                    <a:pt x="313908" y="602357"/>
                  </a:lnTo>
                  <a:lnTo>
                    <a:pt x="322072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80" name="object 80"/>
            <p:cNvSpPr/>
            <p:nvPr/>
          </p:nvSpPr>
          <p:spPr>
            <a:xfrm>
              <a:off x="5046472" y="4879865"/>
              <a:ext cx="321945" cy="970280"/>
            </a:xfrm>
            <a:custGeom>
              <a:avLst/>
              <a:gdLst/>
              <a:ahLst/>
              <a:cxnLst/>
              <a:rect l="l" t="t" r="r" b="b"/>
              <a:pathLst>
                <a:path w="321945" h="970279">
                  <a:moveTo>
                    <a:pt x="0" y="504172"/>
                  </a:moveTo>
                  <a:lnTo>
                    <a:pt x="5927" y="438806"/>
                  </a:lnTo>
                  <a:lnTo>
                    <a:pt x="11887" y="374422"/>
                  </a:lnTo>
                  <a:lnTo>
                    <a:pt x="17908" y="312001"/>
                  </a:lnTo>
                  <a:lnTo>
                    <a:pt x="24020" y="252521"/>
                  </a:lnTo>
                  <a:lnTo>
                    <a:pt x="30249" y="196960"/>
                  </a:lnTo>
                  <a:lnTo>
                    <a:pt x="36625" y="146297"/>
                  </a:lnTo>
                  <a:lnTo>
                    <a:pt x="43177" y="101512"/>
                  </a:lnTo>
                  <a:lnTo>
                    <a:pt x="49932" y="63583"/>
                  </a:lnTo>
                  <a:lnTo>
                    <a:pt x="64167" y="12207"/>
                  </a:lnTo>
                  <a:lnTo>
                    <a:pt x="79557" y="0"/>
                  </a:lnTo>
                  <a:lnTo>
                    <a:pt x="87757" y="11031"/>
                  </a:lnTo>
                  <a:lnTo>
                    <a:pt x="99763" y="56415"/>
                  </a:lnTo>
                  <a:lnTo>
                    <a:pt x="112762" y="138821"/>
                  </a:lnTo>
                  <a:lnTo>
                    <a:pt x="119559" y="190858"/>
                  </a:lnTo>
                  <a:lnTo>
                    <a:pt x="126514" y="248493"/>
                  </a:lnTo>
                  <a:lnTo>
                    <a:pt x="133597" y="310507"/>
                  </a:lnTo>
                  <a:lnTo>
                    <a:pt x="140779" y="375679"/>
                  </a:lnTo>
                  <a:lnTo>
                    <a:pt x="148028" y="442792"/>
                  </a:lnTo>
                  <a:lnTo>
                    <a:pt x="155316" y="510625"/>
                  </a:lnTo>
                  <a:lnTo>
                    <a:pt x="162612" y="577959"/>
                  </a:lnTo>
                  <a:lnTo>
                    <a:pt x="169887" y="643575"/>
                  </a:lnTo>
                  <a:lnTo>
                    <a:pt x="177109" y="706254"/>
                  </a:lnTo>
                  <a:lnTo>
                    <a:pt x="184250" y="764776"/>
                  </a:lnTo>
                  <a:lnTo>
                    <a:pt x="191279" y="817923"/>
                  </a:lnTo>
                  <a:lnTo>
                    <a:pt x="198166" y="864475"/>
                  </a:lnTo>
                  <a:lnTo>
                    <a:pt x="204882" y="903213"/>
                  </a:lnTo>
                  <a:lnTo>
                    <a:pt x="217678" y="952368"/>
                  </a:lnTo>
                  <a:lnTo>
                    <a:pt x="236716" y="969809"/>
                  </a:lnTo>
                  <a:lnTo>
                    <a:pt x="245881" y="960316"/>
                  </a:lnTo>
                  <a:lnTo>
                    <a:pt x="263620" y="910778"/>
                  </a:lnTo>
                  <a:lnTo>
                    <a:pt x="272240" y="873083"/>
                  </a:lnTo>
                  <a:lnTo>
                    <a:pt x="280725" y="828339"/>
                  </a:lnTo>
                  <a:lnTo>
                    <a:pt x="289099" y="777719"/>
                  </a:lnTo>
                  <a:lnTo>
                    <a:pt x="297384" y="722398"/>
                  </a:lnTo>
                  <a:lnTo>
                    <a:pt x="305604" y="663553"/>
                  </a:lnTo>
                  <a:lnTo>
                    <a:pt x="313784" y="602357"/>
                  </a:lnTo>
                  <a:lnTo>
                    <a:pt x="321945" y="539986"/>
                  </a:lnTo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5374258" y="4879865"/>
              <a:ext cx="322580" cy="970280"/>
            </a:xfrm>
            <a:custGeom>
              <a:avLst/>
              <a:gdLst/>
              <a:ahLst/>
              <a:cxnLst/>
              <a:rect l="l" t="t" r="r" b="b"/>
              <a:pathLst>
                <a:path w="322579" h="970279">
                  <a:moveTo>
                    <a:pt x="0" y="504172"/>
                  </a:moveTo>
                  <a:lnTo>
                    <a:pt x="5952" y="438806"/>
                  </a:lnTo>
                  <a:lnTo>
                    <a:pt x="11929" y="374422"/>
                  </a:lnTo>
                  <a:lnTo>
                    <a:pt x="17960" y="312001"/>
                  </a:lnTo>
                  <a:lnTo>
                    <a:pt x="24076" y="252521"/>
                  </a:lnTo>
                  <a:lnTo>
                    <a:pt x="30305" y="196960"/>
                  </a:lnTo>
                  <a:lnTo>
                    <a:pt x="36676" y="146297"/>
                  </a:lnTo>
                  <a:lnTo>
                    <a:pt x="43221" y="101512"/>
                  </a:lnTo>
                  <a:lnTo>
                    <a:pt x="49967" y="63583"/>
                  </a:lnTo>
                  <a:lnTo>
                    <a:pt x="64182" y="12207"/>
                  </a:lnTo>
                  <a:lnTo>
                    <a:pt x="79559" y="0"/>
                  </a:lnTo>
                  <a:lnTo>
                    <a:pt x="87757" y="11031"/>
                  </a:lnTo>
                  <a:lnTo>
                    <a:pt x="99795" y="56415"/>
                  </a:lnTo>
                  <a:lnTo>
                    <a:pt x="112812" y="138821"/>
                  </a:lnTo>
                  <a:lnTo>
                    <a:pt x="119613" y="190858"/>
                  </a:lnTo>
                  <a:lnTo>
                    <a:pt x="126570" y="248493"/>
                  </a:lnTo>
                  <a:lnTo>
                    <a:pt x="133653" y="310507"/>
                  </a:lnTo>
                  <a:lnTo>
                    <a:pt x="140832" y="375679"/>
                  </a:lnTo>
                  <a:lnTo>
                    <a:pt x="148078" y="442792"/>
                  </a:lnTo>
                  <a:lnTo>
                    <a:pt x="155361" y="510625"/>
                  </a:lnTo>
                  <a:lnTo>
                    <a:pt x="162651" y="577959"/>
                  </a:lnTo>
                  <a:lnTo>
                    <a:pt x="169919" y="643575"/>
                  </a:lnTo>
                  <a:lnTo>
                    <a:pt x="177135" y="706254"/>
                  </a:lnTo>
                  <a:lnTo>
                    <a:pt x="184269" y="764776"/>
                  </a:lnTo>
                  <a:lnTo>
                    <a:pt x="191292" y="817923"/>
                  </a:lnTo>
                  <a:lnTo>
                    <a:pt x="198174" y="864475"/>
                  </a:lnTo>
                  <a:lnTo>
                    <a:pt x="204885" y="903213"/>
                  </a:lnTo>
                  <a:lnTo>
                    <a:pt x="217678" y="952368"/>
                  </a:lnTo>
                  <a:lnTo>
                    <a:pt x="236726" y="969809"/>
                  </a:lnTo>
                  <a:lnTo>
                    <a:pt x="245901" y="960316"/>
                  </a:lnTo>
                  <a:lnTo>
                    <a:pt x="263668" y="910778"/>
                  </a:lnTo>
                  <a:lnTo>
                    <a:pt x="272303" y="873083"/>
                  </a:lnTo>
                  <a:lnTo>
                    <a:pt x="280804" y="828339"/>
                  </a:lnTo>
                  <a:lnTo>
                    <a:pt x="289193" y="777719"/>
                  </a:lnTo>
                  <a:lnTo>
                    <a:pt x="297491" y="722398"/>
                  </a:lnTo>
                  <a:lnTo>
                    <a:pt x="305722" y="663553"/>
                  </a:lnTo>
                  <a:lnTo>
                    <a:pt x="313908" y="602357"/>
                  </a:lnTo>
                  <a:lnTo>
                    <a:pt x="322072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5696331" y="4908567"/>
              <a:ext cx="321945" cy="970280"/>
            </a:xfrm>
            <a:custGeom>
              <a:avLst/>
              <a:gdLst/>
              <a:ahLst/>
              <a:cxnLst/>
              <a:rect l="l" t="t" r="r" b="b"/>
              <a:pathLst>
                <a:path w="321945" h="970279">
                  <a:moveTo>
                    <a:pt x="0" y="504172"/>
                  </a:moveTo>
                  <a:lnTo>
                    <a:pt x="5927" y="438806"/>
                  </a:lnTo>
                  <a:lnTo>
                    <a:pt x="11887" y="374422"/>
                  </a:lnTo>
                  <a:lnTo>
                    <a:pt x="17908" y="312001"/>
                  </a:lnTo>
                  <a:lnTo>
                    <a:pt x="24020" y="252521"/>
                  </a:lnTo>
                  <a:lnTo>
                    <a:pt x="30249" y="196960"/>
                  </a:lnTo>
                  <a:lnTo>
                    <a:pt x="36625" y="146297"/>
                  </a:lnTo>
                  <a:lnTo>
                    <a:pt x="43177" y="101512"/>
                  </a:lnTo>
                  <a:lnTo>
                    <a:pt x="49932" y="63583"/>
                  </a:lnTo>
                  <a:lnTo>
                    <a:pt x="64167" y="12207"/>
                  </a:lnTo>
                  <a:lnTo>
                    <a:pt x="79557" y="0"/>
                  </a:lnTo>
                  <a:lnTo>
                    <a:pt x="87757" y="11031"/>
                  </a:lnTo>
                  <a:lnTo>
                    <a:pt x="99763" y="56382"/>
                  </a:lnTo>
                  <a:lnTo>
                    <a:pt x="112762" y="138768"/>
                  </a:lnTo>
                  <a:lnTo>
                    <a:pt x="119559" y="190799"/>
                  </a:lnTo>
                  <a:lnTo>
                    <a:pt x="126514" y="248431"/>
                  </a:lnTo>
                  <a:lnTo>
                    <a:pt x="133597" y="310443"/>
                  </a:lnTo>
                  <a:lnTo>
                    <a:pt x="140779" y="375616"/>
                  </a:lnTo>
                  <a:lnTo>
                    <a:pt x="148028" y="442730"/>
                  </a:lnTo>
                  <a:lnTo>
                    <a:pt x="155316" y="510566"/>
                  </a:lnTo>
                  <a:lnTo>
                    <a:pt x="162612" y="577904"/>
                  </a:lnTo>
                  <a:lnTo>
                    <a:pt x="169887" y="643525"/>
                  </a:lnTo>
                  <a:lnTo>
                    <a:pt x="177109" y="706208"/>
                  </a:lnTo>
                  <a:lnTo>
                    <a:pt x="184250" y="764736"/>
                  </a:lnTo>
                  <a:lnTo>
                    <a:pt x="191279" y="817887"/>
                  </a:lnTo>
                  <a:lnTo>
                    <a:pt x="198166" y="864443"/>
                  </a:lnTo>
                  <a:lnTo>
                    <a:pt x="204882" y="903184"/>
                  </a:lnTo>
                  <a:lnTo>
                    <a:pt x="217678" y="952343"/>
                  </a:lnTo>
                  <a:lnTo>
                    <a:pt x="236716" y="969783"/>
                  </a:lnTo>
                  <a:lnTo>
                    <a:pt x="245881" y="960291"/>
                  </a:lnTo>
                  <a:lnTo>
                    <a:pt x="263620" y="910754"/>
                  </a:lnTo>
                  <a:lnTo>
                    <a:pt x="272240" y="873061"/>
                  </a:lnTo>
                  <a:lnTo>
                    <a:pt x="280725" y="828318"/>
                  </a:lnTo>
                  <a:lnTo>
                    <a:pt x="289099" y="777701"/>
                  </a:lnTo>
                  <a:lnTo>
                    <a:pt x="297384" y="722383"/>
                  </a:lnTo>
                  <a:lnTo>
                    <a:pt x="305604" y="663542"/>
                  </a:lnTo>
                  <a:lnTo>
                    <a:pt x="313784" y="602351"/>
                  </a:lnTo>
                  <a:lnTo>
                    <a:pt x="321945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4" name="object 59">
            <a:extLst>
              <a:ext uri="{FF2B5EF4-FFF2-40B4-BE49-F238E27FC236}">
                <a16:creationId xmlns:a16="http://schemas.microsoft.com/office/drawing/2014/main" id="{0E1ADB66-CB59-4838-BC36-4BA281ED9E42}"/>
              </a:ext>
            </a:extLst>
          </p:cNvPr>
          <p:cNvSpPr/>
          <p:nvPr/>
        </p:nvSpPr>
        <p:spPr>
          <a:xfrm>
            <a:off x="3390518" y="1675638"/>
            <a:ext cx="0" cy="4271010"/>
          </a:xfrm>
          <a:custGeom>
            <a:avLst/>
            <a:gdLst/>
            <a:ahLst/>
            <a:cxnLst/>
            <a:rect l="l" t="t" r="r" b="b"/>
            <a:pathLst>
              <a:path h="4271010">
                <a:moveTo>
                  <a:pt x="0" y="0"/>
                </a:moveTo>
                <a:lnTo>
                  <a:pt x="0" y="4270489"/>
                </a:lnTo>
              </a:path>
            </a:pathLst>
          </a:custGeom>
          <a:ln w="19050">
            <a:solidFill>
              <a:srgbClr val="4471C4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18959FBC-3176-47C9-9794-9A6A9B3ABD48}"/>
                  </a:ext>
                </a:extLst>
              </p:cNvPr>
              <p:cNvSpPr txBox="1"/>
              <p:nvPr/>
            </p:nvSpPr>
            <p:spPr>
              <a:xfrm>
                <a:off x="7623404" y="4244061"/>
                <a:ext cx="2383601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𝑪𝒐𝒏𝒔𝒊𝒅𝒆𝒓𝒊𝒏𝒈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𝝅</m:t>
                          </m:r>
                        </m:num>
                        <m:den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18959FBC-3176-47C9-9794-9A6A9B3ABD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3404" y="4244061"/>
                <a:ext cx="2383601" cy="51860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Rectangle 105">
            <a:extLst>
              <a:ext uri="{FF2B5EF4-FFF2-40B4-BE49-F238E27FC236}">
                <a16:creationId xmlns:a16="http://schemas.microsoft.com/office/drawing/2014/main" id="{359FE2F2-9334-4C80-B2F2-270542B3BF92}"/>
              </a:ext>
            </a:extLst>
          </p:cNvPr>
          <p:cNvSpPr/>
          <p:nvPr/>
        </p:nvSpPr>
        <p:spPr>
          <a:xfrm>
            <a:off x="572070" y="2982850"/>
            <a:ext cx="194134" cy="4837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bject 13">
            <a:extLst>
              <a:ext uri="{FF2B5EF4-FFF2-40B4-BE49-F238E27FC236}">
                <a16:creationId xmlns:a16="http://schemas.microsoft.com/office/drawing/2014/main" id="{BCDE9A77-3FCF-4381-ABD5-9A11B9E945F3}"/>
              </a:ext>
            </a:extLst>
          </p:cNvPr>
          <p:cNvSpPr/>
          <p:nvPr/>
        </p:nvSpPr>
        <p:spPr>
          <a:xfrm>
            <a:off x="378764" y="2550794"/>
            <a:ext cx="6974840" cy="1718945"/>
          </a:xfrm>
          <a:custGeom>
            <a:avLst/>
            <a:gdLst/>
            <a:ahLst/>
            <a:cxnLst/>
            <a:rect l="l" t="t" r="r" b="b"/>
            <a:pathLst>
              <a:path w="6974840" h="1718945">
                <a:moveTo>
                  <a:pt x="6974535" y="963041"/>
                </a:moveTo>
                <a:lnTo>
                  <a:pt x="6936435" y="943991"/>
                </a:lnTo>
                <a:lnTo>
                  <a:pt x="6860235" y="905891"/>
                </a:lnTo>
                <a:lnTo>
                  <a:pt x="6860235" y="943991"/>
                </a:lnTo>
                <a:lnTo>
                  <a:pt x="421665" y="943991"/>
                </a:lnTo>
                <a:lnTo>
                  <a:pt x="420827" y="114300"/>
                </a:lnTo>
                <a:lnTo>
                  <a:pt x="458927" y="114300"/>
                </a:lnTo>
                <a:lnTo>
                  <a:pt x="449376" y="95250"/>
                </a:lnTo>
                <a:lnTo>
                  <a:pt x="401662" y="0"/>
                </a:lnTo>
                <a:lnTo>
                  <a:pt x="344627" y="114300"/>
                </a:lnTo>
                <a:lnTo>
                  <a:pt x="382727" y="114300"/>
                </a:lnTo>
                <a:lnTo>
                  <a:pt x="383565" y="943991"/>
                </a:lnTo>
                <a:lnTo>
                  <a:pt x="0" y="943991"/>
                </a:lnTo>
                <a:lnTo>
                  <a:pt x="0" y="982091"/>
                </a:lnTo>
                <a:lnTo>
                  <a:pt x="383603" y="982091"/>
                </a:lnTo>
                <a:lnTo>
                  <a:pt x="384352" y="1718437"/>
                </a:lnTo>
                <a:lnTo>
                  <a:pt x="422452" y="1718449"/>
                </a:lnTo>
                <a:lnTo>
                  <a:pt x="421703" y="982091"/>
                </a:lnTo>
                <a:lnTo>
                  <a:pt x="6860235" y="982091"/>
                </a:lnTo>
                <a:lnTo>
                  <a:pt x="6860235" y="1020191"/>
                </a:lnTo>
                <a:lnTo>
                  <a:pt x="6936435" y="982091"/>
                </a:lnTo>
                <a:lnTo>
                  <a:pt x="6974535" y="963041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1B6AB707-7E90-4F65-91D9-D1BE7BC6162D}"/>
                  </a:ext>
                </a:extLst>
              </p:cNvPr>
              <p:cNvSpPr txBox="1"/>
              <p:nvPr/>
            </p:nvSpPr>
            <p:spPr>
              <a:xfrm>
                <a:off x="4841979" y="2590800"/>
                <a:ext cx="369242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𝑪𝒂𝒓𝒓𝒊𝒆𝒓</m:t>
                      </m:r>
                      <m:r>
                        <a:rPr lang="en-US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𝑺𝒊𝒈𝒏𝒂𝒍</m:t>
                      </m:r>
                      <m:r>
                        <a:rPr lang="en-US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US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en-US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𝐜𝐨𝐬</m:t>
                      </m:r>
                      <m:r>
                        <a:rPr lang="en-US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en-US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1B6AB707-7E90-4F65-91D9-D1BE7BC616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1979" y="2590800"/>
                <a:ext cx="3692421" cy="276999"/>
              </a:xfrm>
              <a:prstGeom prst="rect">
                <a:avLst/>
              </a:prstGeom>
              <a:blipFill>
                <a:blip r:embed="rId10"/>
                <a:stretch>
                  <a:fillRect l="-825" t="-2222" r="-1650" b="-3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9" name="object 36">
            <a:extLst>
              <a:ext uri="{FF2B5EF4-FFF2-40B4-BE49-F238E27FC236}">
                <a16:creationId xmlns:a16="http://schemas.microsoft.com/office/drawing/2014/main" id="{9D08FBC3-ECFB-4B4B-95CD-08DB6AAD08AA}"/>
              </a:ext>
            </a:extLst>
          </p:cNvPr>
          <p:cNvSpPr txBox="1"/>
          <p:nvPr/>
        </p:nvSpPr>
        <p:spPr>
          <a:xfrm>
            <a:off x="395159" y="2803069"/>
            <a:ext cx="3035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𝐕</a:t>
            </a:r>
            <a:r>
              <a:rPr sz="1950" spc="-37" baseline="-14957" dirty="0">
                <a:latin typeface="Cambria Math"/>
                <a:cs typeface="Cambria Math"/>
              </a:rPr>
              <a:t>𝐂</a:t>
            </a:r>
            <a:endParaRPr sz="1950" baseline="-14957" dirty="0">
              <a:latin typeface="Cambria Math"/>
              <a:cs typeface="Cambria Math"/>
            </a:endParaRPr>
          </a:p>
        </p:txBody>
      </p:sp>
      <p:sp>
        <p:nvSpPr>
          <p:cNvPr id="110" name="object 37">
            <a:extLst>
              <a:ext uri="{FF2B5EF4-FFF2-40B4-BE49-F238E27FC236}">
                <a16:creationId xmlns:a16="http://schemas.microsoft.com/office/drawing/2014/main" id="{458ED8E0-5F20-4621-B25B-33A6B1DE996A}"/>
              </a:ext>
            </a:extLst>
          </p:cNvPr>
          <p:cNvSpPr txBox="1"/>
          <p:nvPr/>
        </p:nvSpPr>
        <p:spPr>
          <a:xfrm>
            <a:off x="250531" y="3788791"/>
            <a:ext cx="4756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−𝐕</a:t>
            </a:r>
            <a:r>
              <a:rPr sz="1950" spc="-37" baseline="-14957" dirty="0">
                <a:latin typeface="Cambria Math"/>
                <a:cs typeface="Cambria Math"/>
              </a:rPr>
              <a:t>𝐂</a:t>
            </a:r>
            <a:endParaRPr sz="1950" baseline="-14957" dirty="0">
              <a:latin typeface="Cambria Math"/>
              <a:cs typeface="Cambria Math"/>
            </a:endParaRPr>
          </a:p>
        </p:txBody>
      </p:sp>
      <p:sp>
        <p:nvSpPr>
          <p:cNvPr id="111" name="object 2">
            <a:extLst>
              <a:ext uri="{FF2B5EF4-FFF2-40B4-BE49-F238E27FC236}">
                <a16:creationId xmlns:a16="http://schemas.microsoft.com/office/drawing/2014/main" id="{49BD3B97-27F9-4400-9098-6B6A540C90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7492"/>
            <a:ext cx="1219200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3200" spc="-55" dirty="0">
                <a:solidFill>
                  <a:srgbClr val="006600"/>
                </a:solidFill>
                <a:latin typeface="Trebuchet MS"/>
                <a:cs typeface="Trebuchet MS"/>
              </a:rPr>
              <a:t>Ambiguity in Demodulation</a:t>
            </a:r>
            <a:endParaRPr sz="3200" dirty="0">
              <a:latin typeface="Trebuchet MS"/>
              <a:cs typeface="Trebuchet MS"/>
            </a:endParaRPr>
          </a:p>
        </p:txBody>
      </p:sp>
      <p:sp>
        <p:nvSpPr>
          <p:cNvPr id="112" name="object 36">
            <a:extLst>
              <a:ext uri="{FF2B5EF4-FFF2-40B4-BE49-F238E27FC236}">
                <a16:creationId xmlns:a16="http://schemas.microsoft.com/office/drawing/2014/main" id="{DECB0CCF-D4EF-46B7-80B8-42960A6CCA63}"/>
              </a:ext>
            </a:extLst>
          </p:cNvPr>
          <p:cNvSpPr txBox="1"/>
          <p:nvPr/>
        </p:nvSpPr>
        <p:spPr>
          <a:xfrm>
            <a:off x="381000" y="990600"/>
            <a:ext cx="3035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lang="en-US" sz="1800" b="1" spc="-25" dirty="0">
                <a:latin typeface="Cambria Math"/>
                <a:cs typeface="Cambria Math"/>
              </a:rPr>
              <a:t>1</a:t>
            </a:r>
            <a:endParaRPr sz="1950" b="1" baseline="-14957" dirty="0">
              <a:latin typeface="Cambria Math"/>
              <a:cs typeface="Cambria Math"/>
            </a:endParaRPr>
          </a:p>
        </p:txBody>
      </p:sp>
      <p:sp>
        <p:nvSpPr>
          <p:cNvPr id="113" name="object 36">
            <a:extLst>
              <a:ext uri="{FF2B5EF4-FFF2-40B4-BE49-F238E27FC236}">
                <a16:creationId xmlns:a16="http://schemas.microsoft.com/office/drawing/2014/main" id="{0B18FBCE-161A-4297-BCCB-1D379599DC6E}"/>
              </a:ext>
            </a:extLst>
          </p:cNvPr>
          <p:cNvSpPr txBox="1"/>
          <p:nvPr/>
        </p:nvSpPr>
        <p:spPr>
          <a:xfrm>
            <a:off x="205763" y="1745170"/>
            <a:ext cx="528181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lang="en-US" sz="1800" b="1" spc="-25" dirty="0">
                <a:latin typeface="Cambria Math"/>
                <a:cs typeface="Cambria Math"/>
              </a:rPr>
              <a:t>-1/3</a:t>
            </a:r>
            <a:endParaRPr sz="1950" b="1" baseline="-14957" dirty="0">
              <a:latin typeface="Cambria Math"/>
              <a:cs typeface="Cambria Math"/>
            </a:endParaRPr>
          </a:p>
        </p:txBody>
      </p:sp>
      <p:sp>
        <p:nvSpPr>
          <p:cNvPr id="114" name="object 34">
            <a:extLst>
              <a:ext uri="{FF2B5EF4-FFF2-40B4-BE49-F238E27FC236}">
                <a16:creationId xmlns:a16="http://schemas.microsoft.com/office/drawing/2014/main" id="{28C5214E-D427-4E1F-B0BB-F84A42E1F462}"/>
              </a:ext>
            </a:extLst>
          </p:cNvPr>
          <p:cNvSpPr/>
          <p:nvPr/>
        </p:nvSpPr>
        <p:spPr>
          <a:xfrm>
            <a:off x="762000" y="1905000"/>
            <a:ext cx="5647690" cy="0"/>
          </a:xfrm>
          <a:custGeom>
            <a:avLst/>
            <a:gdLst/>
            <a:ahLst/>
            <a:cxnLst/>
            <a:rect l="l" t="t" r="r" b="b"/>
            <a:pathLst>
              <a:path w="5647690">
                <a:moveTo>
                  <a:pt x="0" y="0"/>
                </a:moveTo>
                <a:lnTo>
                  <a:pt x="5647296" y="0"/>
                </a:lnTo>
              </a:path>
            </a:pathLst>
          </a:custGeom>
          <a:ln w="19050">
            <a:solidFill>
              <a:srgbClr val="4471C4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F3E8ADB-BED4-409F-8893-98ABC6AD1857}"/>
                  </a:ext>
                </a:extLst>
              </p:cNvPr>
              <p:cNvSpPr txBox="1"/>
              <p:nvPr/>
            </p:nvSpPr>
            <p:spPr>
              <a:xfrm>
                <a:off x="8387284" y="4813633"/>
                <a:ext cx="3202095" cy="4145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𝑃𝑀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F3E8ADB-BED4-409F-8893-98ABC6AD1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7284" y="4813633"/>
                <a:ext cx="3202095" cy="414537"/>
              </a:xfrm>
              <a:prstGeom prst="rect">
                <a:avLst/>
              </a:prstGeom>
              <a:blipFill>
                <a:blip r:embed="rId11"/>
                <a:stretch>
                  <a:fillRect l="-1143"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29D2B561-34E4-411D-A955-40B811EB7BFC}"/>
                  </a:ext>
                </a:extLst>
              </p:cNvPr>
              <p:cNvSpPr txBox="1"/>
              <p:nvPr/>
            </p:nvSpPr>
            <p:spPr>
              <a:xfrm>
                <a:off x="8387284" y="5245050"/>
                <a:ext cx="3633046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𝑃𝑀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29D2B561-34E4-411D-A955-40B811EB7B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7284" y="5245050"/>
                <a:ext cx="3633046" cy="62235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21B2D221-1286-4445-AAAC-E76E851F0680}"/>
                  </a:ext>
                </a:extLst>
              </p:cNvPr>
              <p:cNvSpPr txBox="1"/>
              <p:nvPr/>
            </p:nvSpPr>
            <p:spPr>
              <a:xfrm>
                <a:off x="228600" y="6159450"/>
                <a:ext cx="5821786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𝑤h𝑒𝑛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𝑃𝑀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sub>
                          </m:sSub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𝝎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sub>
                          </m:s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21B2D221-1286-4445-AAAC-E76E851F06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6159450"/>
                <a:ext cx="5821786" cy="62235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E1E0F225-5AFC-4D0B-B51C-353E24534E1C}"/>
                  </a:ext>
                </a:extLst>
              </p:cNvPr>
              <p:cNvSpPr txBox="1"/>
              <p:nvPr/>
            </p:nvSpPr>
            <p:spPr>
              <a:xfrm>
                <a:off x="6251005" y="6200368"/>
                <a:ext cx="5906938" cy="5262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𝑤h𝑒𝑛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𝑃𝑀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sub>
                          </m:sSub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𝝎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sub>
                          </m:s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E1E0F225-5AFC-4D0B-B51C-353E24534E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1005" y="6200368"/>
                <a:ext cx="5906938" cy="52629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8" name="object 67">
            <a:extLst>
              <a:ext uri="{FF2B5EF4-FFF2-40B4-BE49-F238E27FC236}">
                <a16:creationId xmlns:a16="http://schemas.microsoft.com/office/drawing/2014/main" id="{51B0B094-817B-4823-8DB6-5C8FA6E4CDF3}"/>
              </a:ext>
            </a:extLst>
          </p:cNvPr>
          <p:cNvSpPr/>
          <p:nvPr/>
        </p:nvSpPr>
        <p:spPr>
          <a:xfrm>
            <a:off x="790765" y="4854822"/>
            <a:ext cx="322580" cy="970280"/>
          </a:xfrm>
          <a:custGeom>
            <a:avLst/>
            <a:gdLst/>
            <a:ahLst/>
            <a:cxnLst/>
            <a:rect l="l" t="t" r="r" b="b"/>
            <a:pathLst>
              <a:path w="322580" h="970279">
                <a:moveTo>
                  <a:pt x="0" y="504070"/>
                </a:moveTo>
                <a:lnTo>
                  <a:pt x="5942" y="438729"/>
                </a:lnTo>
                <a:lnTo>
                  <a:pt x="11913" y="374363"/>
                </a:lnTo>
                <a:lnTo>
                  <a:pt x="17943" y="311953"/>
                </a:lnTo>
                <a:lnTo>
                  <a:pt x="24058" y="252479"/>
                </a:lnTo>
                <a:lnTo>
                  <a:pt x="30289" y="196920"/>
                </a:lnTo>
                <a:lnTo>
                  <a:pt x="36665" y="146259"/>
                </a:lnTo>
                <a:lnTo>
                  <a:pt x="43213" y="101473"/>
                </a:lnTo>
                <a:lnTo>
                  <a:pt x="49964" y="63545"/>
                </a:lnTo>
                <a:lnTo>
                  <a:pt x="64186" y="12178"/>
                </a:lnTo>
                <a:lnTo>
                  <a:pt x="79563" y="0"/>
                </a:lnTo>
                <a:lnTo>
                  <a:pt x="87757" y="11056"/>
                </a:lnTo>
                <a:lnTo>
                  <a:pt x="99785" y="56405"/>
                </a:lnTo>
                <a:lnTo>
                  <a:pt x="112796" y="138784"/>
                </a:lnTo>
                <a:lnTo>
                  <a:pt x="119596" y="190811"/>
                </a:lnTo>
                <a:lnTo>
                  <a:pt x="126552" y="248438"/>
                </a:lnTo>
                <a:lnTo>
                  <a:pt x="133635" y="310445"/>
                </a:lnTo>
                <a:lnTo>
                  <a:pt x="140815" y="375612"/>
                </a:lnTo>
                <a:lnTo>
                  <a:pt x="148063" y="442720"/>
                </a:lnTo>
                <a:lnTo>
                  <a:pt x="155348" y="510550"/>
                </a:lnTo>
                <a:lnTo>
                  <a:pt x="162642" y="577882"/>
                </a:lnTo>
                <a:lnTo>
                  <a:pt x="169913" y="643497"/>
                </a:lnTo>
                <a:lnTo>
                  <a:pt x="177134" y="706175"/>
                </a:lnTo>
                <a:lnTo>
                  <a:pt x="184273" y="764698"/>
                </a:lnTo>
                <a:lnTo>
                  <a:pt x="191302" y="817845"/>
                </a:lnTo>
                <a:lnTo>
                  <a:pt x="198190" y="864397"/>
                </a:lnTo>
                <a:lnTo>
                  <a:pt x="204908" y="903135"/>
                </a:lnTo>
                <a:lnTo>
                  <a:pt x="217716" y="952291"/>
                </a:lnTo>
                <a:lnTo>
                  <a:pt x="236732" y="969732"/>
                </a:lnTo>
                <a:lnTo>
                  <a:pt x="245895" y="960239"/>
                </a:lnTo>
                <a:lnTo>
                  <a:pt x="263644" y="910700"/>
                </a:lnTo>
                <a:lnTo>
                  <a:pt x="272273" y="873004"/>
                </a:lnTo>
                <a:lnTo>
                  <a:pt x="280769" y="828257"/>
                </a:lnTo>
                <a:lnTo>
                  <a:pt x="289154" y="777634"/>
                </a:lnTo>
                <a:lnTo>
                  <a:pt x="297449" y="722311"/>
                </a:lnTo>
                <a:lnTo>
                  <a:pt x="305677" y="663461"/>
                </a:lnTo>
                <a:lnTo>
                  <a:pt x="313860" y="602261"/>
                </a:lnTo>
                <a:lnTo>
                  <a:pt x="322021" y="539884"/>
                </a:lnTo>
              </a:path>
            </a:pathLst>
          </a:custGeom>
          <a:ln w="2857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68">
            <a:extLst>
              <a:ext uri="{FF2B5EF4-FFF2-40B4-BE49-F238E27FC236}">
                <a16:creationId xmlns:a16="http://schemas.microsoft.com/office/drawing/2014/main" id="{C9BBAC60-C2ED-41DA-B0CD-A6BED1FE600B}"/>
              </a:ext>
            </a:extLst>
          </p:cNvPr>
          <p:cNvSpPr/>
          <p:nvPr/>
        </p:nvSpPr>
        <p:spPr>
          <a:xfrm>
            <a:off x="1112787" y="4854822"/>
            <a:ext cx="322580" cy="970280"/>
          </a:xfrm>
          <a:custGeom>
            <a:avLst/>
            <a:gdLst/>
            <a:ahLst/>
            <a:cxnLst/>
            <a:rect l="l" t="t" r="r" b="b"/>
            <a:pathLst>
              <a:path w="322580" h="970279">
                <a:moveTo>
                  <a:pt x="0" y="504070"/>
                </a:moveTo>
                <a:lnTo>
                  <a:pt x="5942" y="438729"/>
                </a:lnTo>
                <a:lnTo>
                  <a:pt x="11913" y="374363"/>
                </a:lnTo>
                <a:lnTo>
                  <a:pt x="17942" y="311953"/>
                </a:lnTo>
                <a:lnTo>
                  <a:pt x="24058" y="252479"/>
                </a:lnTo>
                <a:lnTo>
                  <a:pt x="30289" y="196920"/>
                </a:lnTo>
                <a:lnTo>
                  <a:pt x="36664" y="146259"/>
                </a:lnTo>
                <a:lnTo>
                  <a:pt x="43211" y="101473"/>
                </a:lnTo>
                <a:lnTo>
                  <a:pt x="49961" y="63545"/>
                </a:lnTo>
                <a:lnTo>
                  <a:pt x="64181" y="12178"/>
                </a:lnTo>
                <a:lnTo>
                  <a:pt x="79553" y="0"/>
                </a:lnTo>
                <a:lnTo>
                  <a:pt x="87744" y="11056"/>
                </a:lnTo>
                <a:lnTo>
                  <a:pt x="99771" y="56405"/>
                </a:lnTo>
                <a:lnTo>
                  <a:pt x="112778" y="138784"/>
                </a:lnTo>
                <a:lnTo>
                  <a:pt x="119576" y="190811"/>
                </a:lnTo>
                <a:lnTo>
                  <a:pt x="126530" y="248438"/>
                </a:lnTo>
                <a:lnTo>
                  <a:pt x="133610" y="310445"/>
                </a:lnTo>
                <a:lnTo>
                  <a:pt x="140789" y="375612"/>
                </a:lnTo>
                <a:lnTo>
                  <a:pt x="148035" y="442720"/>
                </a:lnTo>
                <a:lnTo>
                  <a:pt x="155319" y="510550"/>
                </a:lnTo>
                <a:lnTo>
                  <a:pt x="162612" y="577882"/>
                </a:lnTo>
                <a:lnTo>
                  <a:pt x="169885" y="643497"/>
                </a:lnTo>
                <a:lnTo>
                  <a:pt x="177107" y="706175"/>
                </a:lnTo>
                <a:lnTo>
                  <a:pt x="184249" y="764698"/>
                </a:lnTo>
                <a:lnTo>
                  <a:pt x="191282" y="817845"/>
                </a:lnTo>
                <a:lnTo>
                  <a:pt x="198176" y="864397"/>
                </a:lnTo>
                <a:lnTo>
                  <a:pt x="204901" y="903135"/>
                </a:lnTo>
                <a:lnTo>
                  <a:pt x="217728" y="952291"/>
                </a:lnTo>
                <a:lnTo>
                  <a:pt x="236723" y="969732"/>
                </a:lnTo>
                <a:lnTo>
                  <a:pt x="245879" y="960239"/>
                </a:lnTo>
                <a:lnTo>
                  <a:pt x="263617" y="910700"/>
                </a:lnTo>
                <a:lnTo>
                  <a:pt x="272243" y="873004"/>
                </a:lnTo>
                <a:lnTo>
                  <a:pt x="280737" y="828257"/>
                </a:lnTo>
                <a:lnTo>
                  <a:pt x="289121" y="777634"/>
                </a:lnTo>
                <a:lnTo>
                  <a:pt x="297417" y="722311"/>
                </a:lnTo>
                <a:lnTo>
                  <a:pt x="305646" y="663461"/>
                </a:lnTo>
                <a:lnTo>
                  <a:pt x="313832" y="602261"/>
                </a:lnTo>
                <a:lnTo>
                  <a:pt x="321995" y="539884"/>
                </a:lnTo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69">
            <a:extLst>
              <a:ext uri="{FF2B5EF4-FFF2-40B4-BE49-F238E27FC236}">
                <a16:creationId xmlns:a16="http://schemas.microsoft.com/office/drawing/2014/main" id="{07837319-5D4E-43D9-8BFC-D3DBC3AB9558}"/>
              </a:ext>
            </a:extLst>
          </p:cNvPr>
          <p:cNvSpPr/>
          <p:nvPr/>
        </p:nvSpPr>
        <p:spPr>
          <a:xfrm>
            <a:off x="1440624" y="4854822"/>
            <a:ext cx="322580" cy="970280"/>
          </a:xfrm>
          <a:custGeom>
            <a:avLst/>
            <a:gdLst/>
            <a:ahLst/>
            <a:cxnLst/>
            <a:rect l="l" t="t" r="r" b="b"/>
            <a:pathLst>
              <a:path w="322580" h="970279">
                <a:moveTo>
                  <a:pt x="0" y="504070"/>
                </a:moveTo>
                <a:lnTo>
                  <a:pt x="5952" y="438729"/>
                </a:lnTo>
                <a:lnTo>
                  <a:pt x="11929" y="374363"/>
                </a:lnTo>
                <a:lnTo>
                  <a:pt x="17960" y="311953"/>
                </a:lnTo>
                <a:lnTo>
                  <a:pt x="24076" y="252479"/>
                </a:lnTo>
                <a:lnTo>
                  <a:pt x="30305" y="196920"/>
                </a:lnTo>
                <a:lnTo>
                  <a:pt x="36676" y="146259"/>
                </a:lnTo>
                <a:lnTo>
                  <a:pt x="43221" y="101473"/>
                </a:lnTo>
                <a:lnTo>
                  <a:pt x="49967" y="63545"/>
                </a:lnTo>
                <a:lnTo>
                  <a:pt x="64182" y="12178"/>
                </a:lnTo>
                <a:lnTo>
                  <a:pt x="79559" y="0"/>
                </a:lnTo>
                <a:lnTo>
                  <a:pt x="87757" y="11056"/>
                </a:lnTo>
                <a:lnTo>
                  <a:pt x="99795" y="56405"/>
                </a:lnTo>
                <a:lnTo>
                  <a:pt x="112812" y="138784"/>
                </a:lnTo>
                <a:lnTo>
                  <a:pt x="119613" y="190811"/>
                </a:lnTo>
                <a:lnTo>
                  <a:pt x="126570" y="248438"/>
                </a:lnTo>
                <a:lnTo>
                  <a:pt x="133653" y="310445"/>
                </a:lnTo>
                <a:lnTo>
                  <a:pt x="140832" y="375612"/>
                </a:lnTo>
                <a:lnTo>
                  <a:pt x="148078" y="442720"/>
                </a:lnTo>
                <a:lnTo>
                  <a:pt x="155361" y="510550"/>
                </a:lnTo>
                <a:lnTo>
                  <a:pt x="162651" y="577882"/>
                </a:lnTo>
                <a:lnTo>
                  <a:pt x="169919" y="643497"/>
                </a:lnTo>
                <a:lnTo>
                  <a:pt x="177135" y="706175"/>
                </a:lnTo>
                <a:lnTo>
                  <a:pt x="184269" y="764698"/>
                </a:lnTo>
                <a:lnTo>
                  <a:pt x="191292" y="817845"/>
                </a:lnTo>
                <a:lnTo>
                  <a:pt x="198174" y="864397"/>
                </a:lnTo>
                <a:lnTo>
                  <a:pt x="204885" y="903135"/>
                </a:lnTo>
                <a:lnTo>
                  <a:pt x="217678" y="952291"/>
                </a:lnTo>
                <a:lnTo>
                  <a:pt x="236726" y="969732"/>
                </a:lnTo>
                <a:lnTo>
                  <a:pt x="245901" y="960239"/>
                </a:lnTo>
                <a:lnTo>
                  <a:pt x="263668" y="910700"/>
                </a:lnTo>
                <a:lnTo>
                  <a:pt x="272303" y="873004"/>
                </a:lnTo>
                <a:lnTo>
                  <a:pt x="280804" y="828257"/>
                </a:lnTo>
                <a:lnTo>
                  <a:pt x="289193" y="777634"/>
                </a:lnTo>
                <a:lnTo>
                  <a:pt x="297491" y="722311"/>
                </a:lnTo>
                <a:lnTo>
                  <a:pt x="305722" y="663461"/>
                </a:lnTo>
                <a:lnTo>
                  <a:pt x="313908" y="602261"/>
                </a:lnTo>
                <a:lnTo>
                  <a:pt x="322072" y="539884"/>
                </a:lnTo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70">
            <a:extLst>
              <a:ext uri="{FF2B5EF4-FFF2-40B4-BE49-F238E27FC236}">
                <a16:creationId xmlns:a16="http://schemas.microsoft.com/office/drawing/2014/main" id="{D020AD82-64EE-45ED-BB7D-FBE13FC18A43}"/>
              </a:ext>
            </a:extLst>
          </p:cNvPr>
          <p:cNvSpPr/>
          <p:nvPr/>
        </p:nvSpPr>
        <p:spPr>
          <a:xfrm>
            <a:off x="1772156" y="4869366"/>
            <a:ext cx="314744" cy="970280"/>
          </a:xfrm>
          <a:custGeom>
            <a:avLst/>
            <a:gdLst/>
            <a:ahLst/>
            <a:cxnLst/>
            <a:rect l="l" t="t" r="r" b="b"/>
            <a:pathLst>
              <a:path w="321944" h="970279">
                <a:moveTo>
                  <a:pt x="0" y="504172"/>
                </a:moveTo>
                <a:lnTo>
                  <a:pt x="5927" y="438806"/>
                </a:lnTo>
                <a:lnTo>
                  <a:pt x="11886" y="374422"/>
                </a:lnTo>
                <a:lnTo>
                  <a:pt x="17907" y="312001"/>
                </a:lnTo>
                <a:lnTo>
                  <a:pt x="24016" y="252521"/>
                </a:lnTo>
                <a:lnTo>
                  <a:pt x="30242" y="196960"/>
                </a:lnTo>
                <a:lnTo>
                  <a:pt x="36613" y="146297"/>
                </a:lnTo>
                <a:lnTo>
                  <a:pt x="43157" y="101512"/>
                </a:lnTo>
                <a:lnTo>
                  <a:pt x="49902" y="63583"/>
                </a:lnTo>
                <a:lnTo>
                  <a:pt x="64109" y="12207"/>
                </a:lnTo>
                <a:lnTo>
                  <a:pt x="79457" y="0"/>
                </a:lnTo>
                <a:lnTo>
                  <a:pt x="87630" y="11031"/>
                </a:lnTo>
                <a:lnTo>
                  <a:pt x="99668" y="56415"/>
                </a:lnTo>
                <a:lnTo>
                  <a:pt x="112686" y="138821"/>
                </a:lnTo>
                <a:lnTo>
                  <a:pt x="119489" y="190858"/>
                </a:lnTo>
                <a:lnTo>
                  <a:pt x="126447" y="248493"/>
                </a:lnTo>
                <a:lnTo>
                  <a:pt x="133532" y="310507"/>
                </a:lnTo>
                <a:lnTo>
                  <a:pt x="140715" y="375679"/>
                </a:lnTo>
                <a:lnTo>
                  <a:pt x="147965" y="442792"/>
                </a:lnTo>
                <a:lnTo>
                  <a:pt x="155253" y="510625"/>
                </a:lnTo>
                <a:lnTo>
                  <a:pt x="162549" y="577959"/>
                </a:lnTo>
                <a:lnTo>
                  <a:pt x="169824" y="643575"/>
                </a:lnTo>
                <a:lnTo>
                  <a:pt x="177049" y="706254"/>
                </a:lnTo>
                <a:lnTo>
                  <a:pt x="184193" y="764776"/>
                </a:lnTo>
                <a:lnTo>
                  <a:pt x="191228" y="817923"/>
                </a:lnTo>
                <a:lnTo>
                  <a:pt x="198123" y="864475"/>
                </a:lnTo>
                <a:lnTo>
                  <a:pt x="204849" y="903213"/>
                </a:lnTo>
                <a:lnTo>
                  <a:pt x="217678" y="952368"/>
                </a:lnTo>
                <a:lnTo>
                  <a:pt x="236672" y="969809"/>
                </a:lnTo>
                <a:lnTo>
                  <a:pt x="245828" y="960316"/>
                </a:lnTo>
                <a:lnTo>
                  <a:pt x="263566" y="910778"/>
                </a:lnTo>
                <a:lnTo>
                  <a:pt x="272192" y="873083"/>
                </a:lnTo>
                <a:lnTo>
                  <a:pt x="280686" y="828339"/>
                </a:lnTo>
                <a:lnTo>
                  <a:pt x="289070" y="777719"/>
                </a:lnTo>
                <a:lnTo>
                  <a:pt x="297366" y="722398"/>
                </a:lnTo>
                <a:lnTo>
                  <a:pt x="305596" y="663553"/>
                </a:lnTo>
                <a:lnTo>
                  <a:pt x="313781" y="602357"/>
                </a:lnTo>
                <a:lnTo>
                  <a:pt x="321945" y="539986"/>
                </a:lnTo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67">
            <a:extLst>
              <a:ext uri="{FF2B5EF4-FFF2-40B4-BE49-F238E27FC236}">
                <a16:creationId xmlns:a16="http://schemas.microsoft.com/office/drawing/2014/main" id="{7CE3C195-7D64-46B4-8AC2-8405F01C214A}"/>
              </a:ext>
            </a:extLst>
          </p:cNvPr>
          <p:cNvSpPr/>
          <p:nvPr/>
        </p:nvSpPr>
        <p:spPr>
          <a:xfrm>
            <a:off x="3401458" y="4871621"/>
            <a:ext cx="322580" cy="970280"/>
          </a:xfrm>
          <a:custGeom>
            <a:avLst/>
            <a:gdLst/>
            <a:ahLst/>
            <a:cxnLst/>
            <a:rect l="l" t="t" r="r" b="b"/>
            <a:pathLst>
              <a:path w="322580" h="970279">
                <a:moveTo>
                  <a:pt x="0" y="504070"/>
                </a:moveTo>
                <a:lnTo>
                  <a:pt x="5942" y="438729"/>
                </a:lnTo>
                <a:lnTo>
                  <a:pt x="11913" y="374363"/>
                </a:lnTo>
                <a:lnTo>
                  <a:pt x="17943" y="311953"/>
                </a:lnTo>
                <a:lnTo>
                  <a:pt x="24058" y="252479"/>
                </a:lnTo>
                <a:lnTo>
                  <a:pt x="30289" y="196920"/>
                </a:lnTo>
                <a:lnTo>
                  <a:pt x="36665" y="146259"/>
                </a:lnTo>
                <a:lnTo>
                  <a:pt x="43213" y="101473"/>
                </a:lnTo>
                <a:lnTo>
                  <a:pt x="49964" y="63545"/>
                </a:lnTo>
                <a:lnTo>
                  <a:pt x="64186" y="12178"/>
                </a:lnTo>
                <a:lnTo>
                  <a:pt x="79563" y="0"/>
                </a:lnTo>
                <a:lnTo>
                  <a:pt x="87757" y="11056"/>
                </a:lnTo>
                <a:lnTo>
                  <a:pt x="99785" y="56405"/>
                </a:lnTo>
                <a:lnTo>
                  <a:pt x="112796" y="138784"/>
                </a:lnTo>
                <a:lnTo>
                  <a:pt x="119596" y="190811"/>
                </a:lnTo>
                <a:lnTo>
                  <a:pt x="126552" y="248438"/>
                </a:lnTo>
                <a:lnTo>
                  <a:pt x="133635" y="310445"/>
                </a:lnTo>
                <a:lnTo>
                  <a:pt x="140815" y="375612"/>
                </a:lnTo>
                <a:lnTo>
                  <a:pt x="148063" y="442720"/>
                </a:lnTo>
                <a:lnTo>
                  <a:pt x="155348" y="510550"/>
                </a:lnTo>
                <a:lnTo>
                  <a:pt x="162642" y="577882"/>
                </a:lnTo>
                <a:lnTo>
                  <a:pt x="169913" y="643497"/>
                </a:lnTo>
                <a:lnTo>
                  <a:pt x="177134" y="706175"/>
                </a:lnTo>
                <a:lnTo>
                  <a:pt x="184273" y="764698"/>
                </a:lnTo>
                <a:lnTo>
                  <a:pt x="191302" y="817845"/>
                </a:lnTo>
                <a:lnTo>
                  <a:pt x="198190" y="864397"/>
                </a:lnTo>
                <a:lnTo>
                  <a:pt x="204908" y="903135"/>
                </a:lnTo>
                <a:lnTo>
                  <a:pt x="217716" y="952291"/>
                </a:lnTo>
                <a:lnTo>
                  <a:pt x="236732" y="969732"/>
                </a:lnTo>
                <a:lnTo>
                  <a:pt x="245895" y="960239"/>
                </a:lnTo>
                <a:lnTo>
                  <a:pt x="263644" y="910700"/>
                </a:lnTo>
                <a:lnTo>
                  <a:pt x="272273" y="873004"/>
                </a:lnTo>
                <a:lnTo>
                  <a:pt x="280769" y="828257"/>
                </a:lnTo>
                <a:lnTo>
                  <a:pt x="289154" y="777634"/>
                </a:lnTo>
                <a:lnTo>
                  <a:pt x="297449" y="722311"/>
                </a:lnTo>
                <a:lnTo>
                  <a:pt x="305677" y="663461"/>
                </a:lnTo>
                <a:lnTo>
                  <a:pt x="313860" y="602261"/>
                </a:lnTo>
                <a:lnTo>
                  <a:pt x="322021" y="539884"/>
                </a:lnTo>
              </a:path>
            </a:pathLst>
          </a:custGeom>
          <a:ln w="2857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68">
            <a:extLst>
              <a:ext uri="{FF2B5EF4-FFF2-40B4-BE49-F238E27FC236}">
                <a16:creationId xmlns:a16="http://schemas.microsoft.com/office/drawing/2014/main" id="{A2F67BD5-B5E8-48D3-9DC3-3C1D65A3C434}"/>
              </a:ext>
            </a:extLst>
          </p:cNvPr>
          <p:cNvSpPr/>
          <p:nvPr/>
        </p:nvSpPr>
        <p:spPr>
          <a:xfrm>
            <a:off x="3723480" y="4871621"/>
            <a:ext cx="322580" cy="970280"/>
          </a:xfrm>
          <a:custGeom>
            <a:avLst/>
            <a:gdLst/>
            <a:ahLst/>
            <a:cxnLst/>
            <a:rect l="l" t="t" r="r" b="b"/>
            <a:pathLst>
              <a:path w="322580" h="970279">
                <a:moveTo>
                  <a:pt x="0" y="504070"/>
                </a:moveTo>
                <a:lnTo>
                  <a:pt x="5942" y="438729"/>
                </a:lnTo>
                <a:lnTo>
                  <a:pt x="11913" y="374363"/>
                </a:lnTo>
                <a:lnTo>
                  <a:pt x="17942" y="311953"/>
                </a:lnTo>
                <a:lnTo>
                  <a:pt x="24058" y="252479"/>
                </a:lnTo>
                <a:lnTo>
                  <a:pt x="30289" y="196920"/>
                </a:lnTo>
                <a:lnTo>
                  <a:pt x="36664" y="146259"/>
                </a:lnTo>
                <a:lnTo>
                  <a:pt x="43211" y="101473"/>
                </a:lnTo>
                <a:lnTo>
                  <a:pt x="49961" y="63545"/>
                </a:lnTo>
                <a:lnTo>
                  <a:pt x="64181" y="12178"/>
                </a:lnTo>
                <a:lnTo>
                  <a:pt x="79553" y="0"/>
                </a:lnTo>
                <a:lnTo>
                  <a:pt x="87744" y="11056"/>
                </a:lnTo>
                <a:lnTo>
                  <a:pt x="99771" y="56405"/>
                </a:lnTo>
                <a:lnTo>
                  <a:pt x="112778" y="138784"/>
                </a:lnTo>
                <a:lnTo>
                  <a:pt x="119576" y="190811"/>
                </a:lnTo>
                <a:lnTo>
                  <a:pt x="126530" y="248438"/>
                </a:lnTo>
                <a:lnTo>
                  <a:pt x="133610" y="310445"/>
                </a:lnTo>
                <a:lnTo>
                  <a:pt x="140789" y="375612"/>
                </a:lnTo>
                <a:lnTo>
                  <a:pt x="148035" y="442720"/>
                </a:lnTo>
                <a:lnTo>
                  <a:pt x="155319" y="510550"/>
                </a:lnTo>
                <a:lnTo>
                  <a:pt x="162612" y="577882"/>
                </a:lnTo>
                <a:lnTo>
                  <a:pt x="169885" y="643497"/>
                </a:lnTo>
                <a:lnTo>
                  <a:pt x="177107" y="706175"/>
                </a:lnTo>
                <a:lnTo>
                  <a:pt x="184249" y="764698"/>
                </a:lnTo>
                <a:lnTo>
                  <a:pt x="191282" y="817845"/>
                </a:lnTo>
                <a:lnTo>
                  <a:pt x="198176" y="864397"/>
                </a:lnTo>
                <a:lnTo>
                  <a:pt x="204901" y="903135"/>
                </a:lnTo>
                <a:lnTo>
                  <a:pt x="217728" y="952291"/>
                </a:lnTo>
                <a:lnTo>
                  <a:pt x="236723" y="969732"/>
                </a:lnTo>
                <a:lnTo>
                  <a:pt x="245879" y="960239"/>
                </a:lnTo>
                <a:lnTo>
                  <a:pt x="263617" y="910700"/>
                </a:lnTo>
                <a:lnTo>
                  <a:pt x="272243" y="873004"/>
                </a:lnTo>
                <a:lnTo>
                  <a:pt x="280737" y="828257"/>
                </a:lnTo>
                <a:lnTo>
                  <a:pt x="289121" y="777634"/>
                </a:lnTo>
                <a:lnTo>
                  <a:pt x="297417" y="722311"/>
                </a:lnTo>
                <a:lnTo>
                  <a:pt x="305646" y="663461"/>
                </a:lnTo>
                <a:lnTo>
                  <a:pt x="313832" y="602261"/>
                </a:lnTo>
                <a:lnTo>
                  <a:pt x="321995" y="539884"/>
                </a:lnTo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69">
            <a:extLst>
              <a:ext uri="{FF2B5EF4-FFF2-40B4-BE49-F238E27FC236}">
                <a16:creationId xmlns:a16="http://schemas.microsoft.com/office/drawing/2014/main" id="{F787A735-5CE7-4CE6-9503-DA357F754C4A}"/>
              </a:ext>
            </a:extLst>
          </p:cNvPr>
          <p:cNvSpPr/>
          <p:nvPr/>
        </p:nvSpPr>
        <p:spPr>
          <a:xfrm>
            <a:off x="4051317" y="4871621"/>
            <a:ext cx="322580" cy="970280"/>
          </a:xfrm>
          <a:custGeom>
            <a:avLst/>
            <a:gdLst/>
            <a:ahLst/>
            <a:cxnLst/>
            <a:rect l="l" t="t" r="r" b="b"/>
            <a:pathLst>
              <a:path w="322580" h="970279">
                <a:moveTo>
                  <a:pt x="0" y="504070"/>
                </a:moveTo>
                <a:lnTo>
                  <a:pt x="5952" y="438729"/>
                </a:lnTo>
                <a:lnTo>
                  <a:pt x="11929" y="374363"/>
                </a:lnTo>
                <a:lnTo>
                  <a:pt x="17960" y="311953"/>
                </a:lnTo>
                <a:lnTo>
                  <a:pt x="24076" y="252479"/>
                </a:lnTo>
                <a:lnTo>
                  <a:pt x="30305" y="196920"/>
                </a:lnTo>
                <a:lnTo>
                  <a:pt x="36676" y="146259"/>
                </a:lnTo>
                <a:lnTo>
                  <a:pt x="43221" y="101473"/>
                </a:lnTo>
                <a:lnTo>
                  <a:pt x="49967" y="63545"/>
                </a:lnTo>
                <a:lnTo>
                  <a:pt x="64182" y="12178"/>
                </a:lnTo>
                <a:lnTo>
                  <a:pt x="79559" y="0"/>
                </a:lnTo>
                <a:lnTo>
                  <a:pt x="87757" y="11056"/>
                </a:lnTo>
                <a:lnTo>
                  <a:pt x="99795" y="56405"/>
                </a:lnTo>
                <a:lnTo>
                  <a:pt x="112812" y="138784"/>
                </a:lnTo>
                <a:lnTo>
                  <a:pt x="119613" y="190811"/>
                </a:lnTo>
                <a:lnTo>
                  <a:pt x="126570" y="248438"/>
                </a:lnTo>
                <a:lnTo>
                  <a:pt x="133653" y="310445"/>
                </a:lnTo>
                <a:lnTo>
                  <a:pt x="140832" y="375612"/>
                </a:lnTo>
                <a:lnTo>
                  <a:pt x="148078" y="442720"/>
                </a:lnTo>
                <a:lnTo>
                  <a:pt x="155361" y="510550"/>
                </a:lnTo>
                <a:lnTo>
                  <a:pt x="162651" y="577882"/>
                </a:lnTo>
                <a:lnTo>
                  <a:pt x="169919" y="643497"/>
                </a:lnTo>
                <a:lnTo>
                  <a:pt x="177135" y="706175"/>
                </a:lnTo>
                <a:lnTo>
                  <a:pt x="184269" y="764698"/>
                </a:lnTo>
                <a:lnTo>
                  <a:pt x="191292" y="817845"/>
                </a:lnTo>
                <a:lnTo>
                  <a:pt x="198174" y="864397"/>
                </a:lnTo>
                <a:lnTo>
                  <a:pt x="204885" y="903135"/>
                </a:lnTo>
                <a:lnTo>
                  <a:pt x="217678" y="952291"/>
                </a:lnTo>
                <a:lnTo>
                  <a:pt x="236726" y="969732"/>
                </a:lnTo>
                <a:lnTo>
                  <a:pt x="245901" y="960239"/>
                </a:lnTo>
                <a:lnTo>
                  <a:pt x="263668" y="910700"/>
                </a:lnTo>
                <a:lnTo>
                  <a:pt x="272303" y="873004"/>
                </a:lnTo>
                <a:lnTo>
                  <a:pt x="280804" y="828257"/>
                </a:lnTo>
                <a:lnTo>
                  <a:pt x="289193" y="777634"/>
                </a:lnTo>
                <a:lnTo>
                  <a:pt x="297491" y="722311"/>
                </a:lnTo>
                <a:lnTo>
                  <a:pt x="305722" y="663461"/>
                </a:lnTo>
                <a:lnTo>
                  <a:pt x="313908" y="602261"/>
                </a:lnTo>
                <a:lnTo>
                  <a:pt x="322072" y="539884"/>
                </a:lnTo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70">
            <a:extLst>
              <a:ext uri="{FF2B5EF4-FFF2-40B4-BE49-F238E27FC236}">
                <a16:creationId xmlns:a16="http://schemas.microsoft.com/office/drawing/2014/main" id="{19D82D70-EC71-46F3-AE7C-C79E1B7FB3F0}"/>
              </a:ext>
            </a:extLst>
          </p:cNvPr>
          <p:cNvSpPr/>
          <p:nvPr/>
        </p:nvSpPr>
        <p:spPr>
          <a:xfrm>
            <a:off x="4382849" y="4886165"/>
            <a:ext cx="314744" cy="970280"/>
          </a:xfrm>
          <a:custGeom>
            <a:avLst/>
            <a:gdLst/>
            <a:ahLst/>
            <a:cxnLst/>
            <a:rect l="l" t="t" r="r" b="b"/>
            <a:pathLst>
              <a:path w="321944" h="970279">
                <a:moveTo>
                  <a:pt x="0" y="504172"/>
                </a:moveTo>
                <a:lnTo>
                  <a:pt x="5927" y="438806"/>
                </a:lnTo>
                <a:lnTo>
                  <a:pt x="11886" y="374422"/>
                </a:lnTo>
                <a:lnTo>
                  <a:pt x="17907" y="312001"/>
                </a:lnTo>
                <a:lnTo>
                  <a:pt x="24016" y="252521"/>
                </a:lnTo>
                <a:lnTo>
                  <a:pt x="30242" y="196960"/>
                </a:lnTo>
                <a:lnTo>
                  <a:pt x="36613" y="146297"/>
                </a:lnTo>
                <a:lnTo>
                  <a:pt x="43157" y="101512"/>
                </a:lnTo>
                <a:lnTo>
                  <a:pt x="49902" y="63583"/>
                </a:lnTo>
                <a:lnTo>
                  <a:pt x="64109" y="12207"/>
                </a:lnTo>
                <a:lnTo>
                  <a:pt x="79457" y="0"/>
                </a:lnTo>
                <a:lnTo>
                  <a:pt x="87630" y="11031"/>
                </a:lnTo>
                <a:lnTo>
                  <a:pt x="99668" y="56415"/>
                </a:lnTo>
                <a:lnTo>
                  <a:pt x="112686" y="138821"/>
                </a:lnTo>
                <a:lnTo>
                  <a:pt x="119489" y="190858"/>
                </a:lnTo>
                <a:lnTo>
                  <a:pt x="126447" y="248493"/>
                </a:lnTo>
                <a:lnTo>
                  <a:pt x="133532" y="310507"/>
                </a:lnTo>
                <a:lnTo>
                  <a:pt x="140715" y="375679"/>
                </a:lnTo>
                <a:lnTo>
                  <a:pt x="147965" y="442792"/>
                </a:lnTo>
                <a:lnTo>
                  <a:pt x="155253" y="510625"/>
                </a:lnTo>
                <a:lnTo>
                  <a:pt x="162549" y="577959"/>
                </a:lnTo>
                <a:lnTo>
                  <a:pt x="169824" y="643575"/>
                </a:lnTo>
                <a:lnTo>
                  <a:pt x="177049" y="706254"/>
                </a:lnTo>
                <a:lnTo>
                  <a:pt x="184193" y="764776"/>
                </a:lnTo>
                <a:lnTo>
                  <a:pt x="191228" y="817923"/>
                </a:lnTo>
                <a:lnTo>
                  <a:pt x="198123" y="864475"/>
                </a:lnTo>
                <a:lnTo>
                  <a:pt x="204849" y="903213"/>
                </a:lnTo>
                <a:lnTo>
                  <a:pt x="217678" y="952368"/>
                </a:lnTo>
                <a:lnTo>
                  <a:pt x="236672" y="969809"/>
                </a:lnTo>
                <a:lnTo>
                  <a:pt x="245828" y="960316"/>
                </a:lnTo>
                <a:lnTo>
                  <a:pt x="263566" y="910778"/>
                </a:lnTo>
                <a:lnTo>
                  <a:pt x="272192" y="873083"/>
                </a:lnTo>
                <a:lnTo>
                  <a:pt x="280686" y="828339"/>
                </a:lnTo>
                <a:lnTo>
                  <a:pt x="289070" y="777719"/>
                </a:lnTo>
                <a:lnTo>
                  <a:pt x="297366" y="722398"/>
                </a:lnTo>
                <a:lnTo>
                  <a:pt x="305596" y="663553"/>
                </a:lnTo>
                <a:lnTo>
                  <a:pt x="313781" y="602357"/>
                </a:lnTo>
                <a:lnTo>
                  <a:pt x="321945" y="539986"/>
                </a:lnTo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86843C2-D51C-48C0-99D4-061366631C60}"/>
                  </a:ext>
                </a:extLst>
              </p:cNvPr>
              <p:cNvSpPr/>
              <p:nvPr/>
            </p:nvSpPr>
            <p:spPr>
              <a:xfrm>
                <a:off x="1772156" y="2209800"/>
                <a:ext cx="8403064" cy="318286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For both values of m(t), PM signal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𝒔𝒊𝒏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/>
              </a:p>
              <a:p>
                <a:pPr algn="ctr"/>
                <a:r>
                  <a:rPr lang="en-US" b="1" dirty="0">
                    <a:solidFill>
                      <a:srgbClr val="FF0000"/>
                    </a:solidFill>
                  </a:rPr>
                  <a:t> How can we distinguish between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d>
                      <m:d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𝒂𝒏𝒅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d>
                      <m:d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during demodulation?</a:t>
                </a:r>
              </a:p>
              <a:p>
                <a:pPr algn="ctr"/>
                <a:endParaRPr lang="en-US" b="1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US" b="1" dirty="0">
                    <a:solidFill>
                      <a:srgbClr val="FF0000"/>
                    </a:solidFill>
                  </a:rPr>
                  <a:t>Such ambiguity never arises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is restricted to the range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l-G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e>
                    </m:d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algn="ctr"/>
                <a:endParaRPr lang="en-US" b="1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US" b="1" dirty="0">
                    <a:solidFill>
                      <a:srgbClr val="FF0000"/>
                    </a:solidFill>
                  </a:rPr>
                  <a:t>In this case, phase Discontinuity/shift in PM wave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sub>
                    </m:sSub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𝝅</m:t>
                            </m:r>
                          </m:num>
                          <m:den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en-US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𝝅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86843C2-D51C-48C0-99D4-061366631C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2156" y="2209800"/>
                <a:ext cx="8403064" cy="318286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4123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27492"/>
            <a:ext cx="1219200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3200" spc="-55" dirty="0">
                <a:solidFill>
                  <a:srgbClr val="006600"/>
                </a:solidFill>
                <a:latin typeface="Trebuchet MS"/>
                <a:cs typeface="Trebuchet MS"/>
              </a:rPr>
              <a:t>Block Diagrams of FM &amp; PM Wave</a:t>
            </a:r>
            <a:endParaRPr sz="3200" dirty="0">
              <a:latin typeface="Trebuchet MS"/>
              <a:cs typeface="Trebuchet MS"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DFE1351D-1C0C-4D4E-A174-E6AFBA07255A}"/>
              </a:ext>
            </a:extLst>
          </p:cNvPr>
          <p:cNvGrpSpPr/>
          <p:nvPr/>
        </p:nvGrpSpPr>
        <p:grpSpPr>
          <a:xfrm>
            <a:off x="2254720" y="1613459"/>
            <a:ext cx="5764530" cy="1474470"/>
            <a:chOff x="539965" y="4648200"/>
            <a:chExt cx="5764530" cy="147447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581E3B7-BB16-41AB-B90B-A9667B80C5D9}"/>
                </a:ext>
              </a:extLst>
            </p:cNvPr>
            <p:cNvSpPr/>
            <p:nvPr/>
          </p:nvSpPr>
          <p:spPr>
            <a:xfrm>
              <a:off x="679780" y="4934965"/>
              <a:ext cx="5624830" cy="1187450"/>
            </a:xfrm>
            <a:custGeom>
              <a:avLst/>
              <a:gdLst/>
              <a:ahLst/>
              <a:cxnLst/>
              <a:rect l="l" t="t" r="r" b="b"/>
              <a:pathLst>
                <a:path w="5624830" h="1187450">
                  <a:moveTo>
                    <a:pt x="1491665" y="57150"/>
                  </a:moveTo>
                  <a:lnTo>
                    <a:pt x="1453565" y="38100"/>
                  </a:lnTo>
                  <a:lnTo>
                    <a:pt x="1377365" y="0"/>
                  </a:lnTo>
                  <a:lnTo>
                    <a:pt x="1377365" y="38100"/>
                  </a:lnTo>
                  <a:lnTo>
                    <a:pt x="0" y="38100"/>
                  </a:lnTo>
                  <a:lnTo>
                    <a:pt x="0" y="76200"/>
                  </a:lnTo>
                  <a:lnTo>
                    <a:pt x="1377365" y="76200"/>
                  </a:lnTo>
                  <a:lnTo>
                    <a:pt x="1377365" y="114300"/>
                  </a:lnTo>
                  <a:lnTo>
                    <a:pt x="1453565" y="76200"/>
                  </a:lnTo>
                  <a:lnTo>
                    <a:pt x="1491665" y="57150"/>
                  </a:lnTo>
                  <a:close/>
                </a:path>
                <a:path w="5624830" h="1187450">
                  <a:moveTo>
                    <a:pt x="5624246" y="592328"/>
                  </a:moveTo>
                  <a:lnTo>
                    <a:pt x="5614721" y="573278"/>
                  </a:lnTo>
                  <a:lnTo>
                    <a:pt x="5567096" y="478028"/>
                  </a:lnTo>
                  <a:lnTo>
                    <a:pt x="5509946" y="592328"/>
                  </a:lnTo>
                  <a:lnTo>
                    <a:pt x="5548046" y="592328"/>
                  </a:lnTo>
                  <a:lnTo>
                    <a:pt x="5548046" y="1187272"/>
                  </a:lnTo>
                  <a:lnTo>
                    <a:pt x="5586146" y="1187272"/>
                  </a:lnTo>
                  <a:lnTo>
                    <a:pt x="5586146" y="592328"/>
                  </a:lnTo>
                  <a:lnTo>
                    <a:pt x="5624246" y="592328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FD948388-C861-4043-B91F-85B6AAF96785}"/>
                </a:ext>
              </a:extLst>
            </p:cNvPr>
            <p:cNvSpPr/>
            <p:nvPr/>
          </p:nvSpPr>
          <p:spPr>
            <a:xfrm>
              <a:off x="539965" y="4648200"/>
              <a:ext cx="315595" cy="282575"/>
            </a:xfrm>
            <a:custGeom>
              <a:avLst/>
              <a:gdLst/>
              <a:ahLst/>
              <a:cxnLst/>
              <a:rect l="l" t="t" r="r" b="b"/>
              <a:pathLst>
                <a:path w="315594" h="282575">
                  <a:moveTo>
                    <a:pt x="225196" y="0"/>
                  </a:moveTo>
                  <a:lnTo>
                    <a:pt x="221170" y="11557"/>
                  </a:lnTo>
                  <a:lnTo>
                    <a:pt x="237515" y="18631"/>
                  </a:lnTo>
                  <a:lnTo>
                    <a:pt x="251572" y="28432"/>
                  </a:lnTo>
                  <a:lnTo>
                    <a:pt x="280112" y="73925"/>
                  </a:lnTo>
                  <a:lnTo>
                    <a:pt x="288389" y="115359"/>
                  </a:lnTo>
                  <a:lnTo>
                    <a:pt x="288442" y="115732"/>
                  </a:lnTo>
                  <a:lnTo>
                    <a:pt x="288438" y="164707"/>
                  </a:lnTo>
                  <a:lnTo>
                    <a:pt x="280070" y="207656"/>
                  </a:lnTo>
                  <a:lnTo>
                    <a:pt x="251591" y="253857"/>
                  </a:lnTo>
                  <a:lnTo>
                    <a:pt x="221627" y="270891"/>
                  </a:lnTo>
                  <a:lnTo>
                    <a:pt x="225196" y="282321"/>
                  </a:lnTo>
                  <a:lnTo>
                    <a:pt x="263705" y="264302"/>
                  </a:lnTo>
                  <a:lnTo>
                    <a:pt x="292023" y="233045"/>
                  </a:lnTo>
                  <a:lnTo>
                    <a:pt x="309432" y="191134"/>
                  </a:lnTo>
                  <a:lnTo>
                    <a:pt x="315239" y="141224"/>
                  </a:lnTo>
                  <a:lnTo>
                    <a:pt x="313803" y="115732"/>
                  </a:lnTo>
                  <a:lnTo>
                    <a:pt x="302134" y="69536"/>
                  </a:lnTo>
                  <a:lnTo>
                    <a:pt x="279038" y="32164"/>
                  </a:lnTo>
                  <a:lnTo>
                    <a:pt x="245663" y="7435"/>
                  </a:lnTo>
                  <a:lnTo>
                    <a:pt x="225196" y="0"/>
                  </a:lnTo>
                  <a:close/>
                </a:path>
                <a:path w="315594" h="282575">
                  <a:moveTo>
                    <a:pt x="90030" y="0"/>
                  </a:moveTo>
                  <a:lnTo>
                    <a:pt x="51617" y="18145"/>
                  </a:lnTo>
                  <a:lnTo>
                    <a:pt x="23291" y="49530"/>
                  </a:lnTo>
                  <a:lnTo>
                    <a:pt x="5821" y="91471"/>
                  </a:lnTo>
                  <a:lnTo>
                    <a:pt x="78" y="139827"/>
                  </a:lnTo>
                  <a:lnTo>
                    <a:pt x="0" y="141224"/>
                  </a:lnTo>
                  <a:lnTo>
                    <a:pt x="5802" y="191134"/>
                  </a:lnTo>
                  <a:lnTo>
                    <a:pt x="23215" y="233045"/>
                  </a:lnTo>
                  <a:lnTo>
                    <a:pt x="51522" y="264302"/>
                  </a:lnTo>
                  <a:lnTo>
                    <a:pt x="90030" y="282321"/>
                  </a:lnTo>
                  <a:lnTo>
                    <a:pt x="93611" y="270891"/>
                  </a:lnTo>
                  <a:lnTo>
                    <a:pt x="77521" y="263773"/>
                  </a:lnTo>
                  <a:lnTo>
                    <a:pt x="63636" y="253857"/>
                  </a:lnTo>
                  <a:lnTo>
                    <a:pt x="35156" y="207656"/>
                  </a:lnTo>
                  <a:lnTo>
                    <a:pt x="26788" y="164707"/>
                  </a:lnTo>
                  <a:lnTo>
                    <a:pt x="25742" y="139827"/>
                  </a:lnTo>
                  <a:lnTo>
                    <a:pt x="26788" y="115732"/>
                  </a:lnTo>
                  <a:lnTo>
                    <a:pt x="35156" y="73925"/>
                  </a:lnTo>
                  <a:lnTo>
                    <a:pt x="63749" y="28432"/>
                  </a:lnTo>
                  <a:lnTo>
                    <a:pt x="94056" y="11557"/>
                  </a:lnTo>
                  <a:lnTo>
                    <a:pt x="900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8">
            <a:extLst>
              <a:ext uri="{FF2B5EF4-FFF2-40B4-BE49-F238E27FC236}">
                <a16:creationId xmlns:a16="http://schemas.microsoft.com/office/drawing/2014/main" id="{652EE59C-2EFA-4921-B1EA-B6F93F5B3CB5}"/>
              </a:ext>
            </a:extLst>
          </p:cNvPr>
          <p:cNvSpPr txBox="1"/>
          <p:nvPr/>
        </p:nvSpPr>
        <p:spPr>
          <a:xfrm>
            <a:off x="1939494" y="1524000"/>
            <a:ext cx="1493520" cy="1122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𝐦</a:t>
            </a:r>
            <a:r>
              <a:rPr sz="2400" spc="434" dirty="0">
                <a:latin typeface="Cambria Math"/>
                <a:cs typeface="Cambria Math"/>
              </a:rPr>
              <a:t> </a:t>
            </a:r>
            <a:r>
              <a:rPr sz="2400" spc="-60" dirty="0">
                <a:latin typeface="Cambria Math"/>
                <a:cs typeface="Cambria Math"/>
              </a:rPr>
              <a:t>𝐭 </a:t>
            </a:r>
            <a:r>
              <a:rPr sz="2400" b="1" spc="-10" dirty="0">
                <a:latin typeface="Calibri"/>
                <a:cs typeface="Calibri"/>
              </a:rPr>
              <a:t>Modulating Signal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8" name="object 9">
            <a:extLst>
              <a:ext uri="{FF2B5EF4-FFF2-40B4-BE49-F238E27FC236}">
                <a16:creationId xmlns:a16="http://schemas.microsoft.com/office/drawing/2014/main" id="{CA4391D6-B7D3-4C17-8262-071135B78D9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86200" y="1538554"/>
            <a:ext cx="2100072" cy="8417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10">
                <a:extLst>
                  <a:ext uri="{FF2B5EF4-FFF2-40B4-BE49-F238E27FC236}">
                    <a16:creationId xmlns:a16="http://schemas.microsoft.com/office/drawing/2014/main" id="{D53568D0-B097-4018-BB03-997D151BE739}"/>
                  </a:ext>
                </a:extLst>
              </p:cNvPr>
              <p:cNvSpPr txBox="1"/>
              <p:nvPr/>
            </p:nvSpPr>
            <p:spPr>
              <a:xfrm>
                <a:off x="3886200" y="1537259"/>
                <a:ext cx="2100580" cy="631648"/>
              </a:xfrm>
              <a:prstGeom prst="rect">
                <a:avLst/>
              </a:prstGeom>
              <a:ln w="6350">
                <a:solidFill>
                  <a:srgbClr val="6FAC46"/>
                </a:solidFill>
              </a:ln>
            </p:spPr>
            <p:txBody>
              <a:bodyPr vert="horz" wrap="square" lIns="0" tIns="203200" rIns="0" bIns="0" rtlCol="0">
                <a:spAutoFit/>
              </a:bodyPr>
              <a:lstStyle/>
              <a:p>
                <a:pPr marL="116205">
                  <a:lnSpc>
                    <a:spcPct val="100000"/>
                  </a:lnSpc>
                  <a:spcBef>
                    <a:spcPts val="1600"/>
                  </a:spcBef>
                </a:pPr>
                <a:r>
                  <a:rPr sz="2400" b="1" spc="-20" dirty="0">
                    <a:latin typeface="Calibri"/>
                    <a:cs typeface="Calibri"/>
                  </a:rPr>
                  <a:t>Integrator</a:t>
                </a:r>
                <a:r>
                  <a:rPr sz="2400" b="1" spc="-3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grow m:val="on"/>
                        <m:subHide m:val="on"/>
                        <m:supHide m:val="on"/>
                        <m:ctrlPr>
                          <a:rPr lang="en-US" sz="2400" b="1" i="1" spc="-25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sz="2400" b="1" i="0" spc="-25" smtClean="0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en-US" sz="2400" b="1" i="1" spc="-25" smtClean="0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nary>
                  </m:oMath>
                </a14:m>
                <a:endParaRPr sz="2400" b="1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9" name="object 10">
                <a:extLst>
                  <a:ext uri="{FF2B5EF4-FFF2-40B4-BE49-F238E27FC236}">
                    <a16:creationId xmlns:a16="http://schemas.microsoft.com/office/drawing/2014/main" id="{D53568D0-B097-4018-BB03-997D151BE7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200" y="1537259"/>
                <a:ext cx="2100580" cy="631648"/>
              </a:xfrm>
              <a:prstGeom prst="rect">
                <a:avLst/>
              </a:prstGeom>
              <a:blipFill>
                <a:blip r:embed="rId4"/>
                <a:stretch>
                  <a:fillRect l="-3478" t="-90476" r="-29855" b="-170476"/>
                </a:stretch>
              </a:blipFill>
              <a:ln w="6350">
                <a:solidFill>
                  <a:srgbClr val="6FAC4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object 11">
            <a:extLst>
              <a:ext uri="{FF2B5EF4-FFF2-40B4-BE49-F238E27FC236}">
                <a16:creationId xmlns:a16="http://schemas.microsoft.com/office/drawing/2014/main" id="{0821490C-E7DF-4DB8-B108-269F19197FF9}"/>
              </a:ext>
            </a:extLst>
          </p:cNvPr>
          <p:cNvGrpSpPr/>
          <p:nvPr/>
        </p:nvGrpSpPr>
        <p:grpSpPr>
          <a:xfrm>
            <a:off x="5986145" y="1536522"/>
            <a:ext cx="3025775" cy="842010"/>
            <a:chOff x="4271390" y="4571263"/>
            <a:chExt cx="3025775" cy="842010"/>
          </a:xfrm>
        </p:grpSpPr>
        <p:sp>
          <p:nvSpPr>
            <p:cNvPr id="11" name="object 12">
              <a:extLst>
                <a:ext uri="{FF2B5EF4-FFF2-40B4-BE49-F238E27FC236}">
                  <a16:creationId xmlns:a16="http://schemas.microsoft.com/office/drawing/2014/main" id="{528A089F-DFCC-4174-93D4-E5A039B928BC}"/>
                </a:ext>
              </a:extLst>
            </p:cNvPr>
            <p:cNvSpPr/>
            <p:nvPr/>
          </p:nvSpPr>
          <p:spPr>
            <a:xfrm>
              <a:off x="4271390" y="4935219"/>
              <a:ext cx="931544" cy="114300"/>
            </a:xfrm>
            <a:custGeom>
              <a:avLst/>
              <a:gdLst/>
              <a:ahLst/>
              <a:cxnLst/>
              <a:rect l="l" t="t" r="r" b="b"/>
              <a:pathLst>
                <a:path w="931545" h="114300">
                  <a:moveTo>
                    <a:pt x="816990" y="0"/>
                  </a:moveTo>
                  <a:lnTo>
                    <a:pt x="817075" y="38140"/>
                  </a:lnTo>
                  <a:lnTo>
                    <a:pt x="817160" y="76240"/>
                  </a:lnTo>
                  <a:lnTo>
                    <a:pt x="817244" y="114299"/>
                  </a:lnTo>
                  <a:lnTo>
                    <a:pt x="892943" y="76240"/>
                  </a:lnTo>
                  <a:lnTo>
                    <a:pt x="836167" y="76240"/>
                  </a:lnTo>
                  <a:lnTo>
                    <a:pt x="836167" y="38140"/>
                  </a:lnTo>
                  <a:lnTo>
                    <a:pt x="893697" y="38140"/>
                  </a:lnTo>
                  <a:lnTo>
                    <a:pt x="816990" y="0"/>
                  </a:lnTo>
                  <a:close/>
                </a:path>
                <a:path w="931545" h="114300">
                  <a:moveTo>
                    <a:pt x="817075" y="38140"/>
                  </a:moveTo>
                  <a:lnTo>
                    <a:pt x="0" y="39877"/>
                  </a:lnTo>
                  <a:lnTo>
                    <a:pt x="126" y="77977"/>
                  </a:lnTo>
                  <a:lnTo>
                    <a:pt x="817160" y="76240"/>
                  </a:lnTo>
                  <a:lnTo>
                    <a:pt x="817075" y="38140"/>
                  </a:lnTo>
                  <a:close/>
                </a:path>
                <a:path w="931545" h="114300">
                  <a:moveTo>
                    <a:pt x="893697" y="38140"/>
                  </a:moveTo>
                  <a:lnTo>
                    <a:pt x="836167" y="38140"/>
                  </a:lnTo>
                  <a:lnTo>
                    <a:pt x="836167" y="76240"/>
                  </a:lnTo>
                  <a:lnTo>
                    <a:pt x="892943" y="76240"/>
                  </a:lnTo>
                  <a:lnTo>
                    <a:pt x="931417" y="56895"/>
                  </a:lnTo>
                  <a:lnTo>
                    <a:pt x="893697" y="3814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3">
              <a:extLst>
                <a:ext uri="{FF2B5EF4-FFF2-40B4-BE49-F238E27FC236}">
                  <a16:creationId xmlns:a16="http://schemas.microsoft.com/office/drawing/2014/main" id="{804D20E1-3F40-4049-830A-FE717772E69A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96839" y="4571263"/>
              <a:ext cx="2100071" cy="841730"/>
            </a:xfrm>
            <a:prstGeom prst="rect">
              <a:avLst/>
            </a:prstGeom>
          </p:spPr>
        </p:pic>
      </p:grpSp>
      <p:sp>
        <p:nvSpPr>
          <p:cNvPr id="13" name="object 14">
            <a:extLst>
              <a:ext uri="{FF2B5EF4-FFF2-40B4-BE49-F238E27FC236}">
                <a16:creationId xmlns:a16="http://schemas.microsoft.com/office/drawing/2014/main" id="{5CAB100F-1D1B-440F-A925-8E83B243219B}"/>
              </a:ext>
            </a:extLst>
          </p:cNvPr>
          <p:cNvSpPr txBox="1"/>
          <p:nvPr/>
        </p:nvSpPr>
        <p:spPr>
          <a:xfrm>
            <a:off x="6911595" y="1536522"/>
            <a:ext cx="2100580" cy="842010"/>
          </a:xfrm>
          <a:prstGeom prst="rect">
            <a:avLst/>
          </a:prstGeom>
          <a:ln w="6350">
            <a:solidFill>
              <a:srgbClr val="6FAC46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372745" marR="364490" indent="301625">
              <a:lnSpc>
                <a:spcPct val="100000"/>
              </a:lnSpc>
              <a:spcBef>
                <a:spcPts val="285"/>
              </a:spcBef>
            </a:pPr>
            <a:r>
              <a:rPr sz="2400" b="1" spc="-10" dirty="0">
                <a:latin typeface="Calibri"/>
                <a:cs typeface="Calibri"/>
              </a:rPr>
              <a:t>Phase Modulator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4" name="object 15">
            <a:extLst>
              <a:ext uri="{FF2B5EF4-FFF2-40B4-BE49-F238E27FC236}">
                <a16:creationId xmlns:a16="http://schemas.microsoft.com/office/drawing/2014/main" id="{97A21695-D73F-4216-85F9-C00B444E30F2}"/>
              </a:ext>
            </a:extLst>
          </p:cNvPr>
          <p:cNvSpPr/>
          <p:nvPr/>
        </p:nvSpPr>
        <p:spPr>
          <a:xfrm>
            <a:off x="9011666" y="1898447"/>
            <a:ext cx="931544" cy="114300"/>
          </a:xfrm>
          <a:custGeom>
            <a:avLst/>
            <a:gdLst/>
            <a:ahLst/>
            <a:cxnLst/>
            <a:rect l="l" t="t" r="r" b="b"/>
            <a:pathLst>
              <a:path w="931545" h="114300">
                <a:moveTo>
                  <a:pt x="816991" y="0"/>
                </a:moveTo>
                <a:lnTo>
                  <a:pt x="817075" y="38140"/>
                </a:lnTo>
                <a:lnTo>
                  <a:pt x="817160" y="76240"/>
                </a:lnTo>
                <a:lnTo>
                  <a:pt x="817244" y="114299"/>
                </a:lnTo>
                <a:lnTo>
                  <a:pt x="892943" y="76240"/>
                </a:lnTo>
                <a:lnTo>
                  <a:pt x="836168" y="76240"/>
                </a:lnTo>
                <a:lnTo>
                  <a:pt x="836168" y="38140"/>
                </a:lnTo>
                <a:lnTo>
                  <a:pt x="893697" y="38140"/>
                </a:lnTo>
                <a:lnTo>
                  <a:pt x="816991" y="0"/>
                </a:lnTo>
                <a:close/>
              </a:path>
              <a:path w="931545" h="114300">
                <a:moveTo>
                  <a:pt x="817075" y="38140"/>
                </a:moveTo>
                <a:lnTo>
                  <a:pt x="0" y="39877"/>
                </a:lnTo>
                <a:lnTo>
                  <a:pt x="0" y="77977"/>
                </a:lnTo>
                <a:lnTo>
                  <a:pt x="817160" y="76240"/>
                </a:lnTo>
                <a:lnTo>
                  <a:pt x="817075" y="38140"/>
                </a:lnTo>
                <a:close/>
              </a:path>
              <a:path w="931545" h="114300">
                <a:moveTo>
                  <a:pt x="893697" y="38140"/>
                </a:moveTo>
                <a:lnTo>
                  <a:pt x="836168" y="38140"/>
                </a:lnTo>
                <a:lnTo>
                  <a:pt x="836168" y="76240"/>
                </a:lnTo>
                <a:lnTo>
                  <a:pt x="892943" y="76240"/>
                </a:lnTo>
                <a:lnTo>
                  <a:pt x="931418" y="56895"/>
                </a:lnTo>
                <a:lnTo>
                  <a:pt x="893697" y="3814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6">
            <a:extLst>
              <a:ext uri="{FF2B5EF4-FFF2-40B4-BE49-F238E27FC236}">
                <a16:creationId xmlns:a16="http://schemas.microsoft.com/office/drawing/2014/main" id="{6169EF39-1189-4224-B1A0-379FAE615AB1}"/>
              </a:ext>
            </a:extLst>
          </p:cNvPr>
          <p:cNvSpPr txBox="1"/>
          <p:nvPr/>
        </p:nvSpPr>
        <p:spPr>
          <a:xfrm>
            <a:off x="9500998" y="1542592"/>
            <a:ext cx="73279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latin typeface="Calibri"/>
                <a:cs typeface="Calibri"/>
              </a:rPr>
              <a:t>F.M.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spc="-30" dirty="0">
                <a:latin typeface="Calibri"/>
                <a:cs typeface="Calibri"/>
              </a:rPr>
              <a:t>Wave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6" name="object 20">
            <a:extLst>
              <a:ext uri="{FF2B5EF4-FFF2-40B4-BE49-F238E27FC236}">
                <a16:creationId xmlns:a16="http://schemas.microsoft.com/office/drawing/2014/main" id="{74BE3A66-F086-4448-882C-D3C281882FA5}"/>
              </a:ext>
            </a:extLst>
          </p:cNvPr>
          <p:cNvGrpSpPr/>
          <p:nvPr/>
        </p:nvGrpSpPr>
        <p:grpSpPr>
          <a:xfrm>
            <a:off x="8272908" y="2595778"/>
            <a:ext cx="1711325" cy="212090"/>
            <a:chOff x="6558153" y="5630519"/>
            <a:chExt cx="1711325" cy="212090"/>
          </a:xfrm>
        </p:grpSpPr>
        <p:pic>
          <p:nvPicPr>
            <p:cNvPr id="17" name="object 21">
              <a:extLst>
                <a:ext uri="{FF2B5EF4-FFF2-40B4-BE49-F238E27FC236}">
                  <a16:creationId xmlns:a16="http://schemas.microsoft.com/office/drawing/2014/main" id="{D4CFC9CB-44E2-47F4-8794-C0B816E52570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58153" y="5630519"/>
              <a:ext cx="236093" cy="211747"/>
            </a:xfrm>
            <a:prstGeom prst="rect">
              <a:avLst/>
            </a:prstGeom>
          </p:spPr>
        </p:pic>
        <p:sp>
          <p:nvSpPr>
            <p:cNvPr id="18" name="object 22">
              <a:extLst>
                <a:ext uri="{FF2B5EF4-FFF2-40B4-BE49-F238E27FC236}">
                  <a16:creationId xmlns:a16="http://schemas.microsoft.com/office/drawing/2014/main" id="{9BC7CC5B-F6B4-404A-9E43-53D4611E87EB}"/>
                </a:ext>
              </a:extLst>
            </p:cNvPr>
            <p:cNvSpPr/>
            <p:nvPr/>
          </p:nvSpPr>
          <p:spPr>
            <a:xfrm>
              <a:off x="7759065" y="5630519"/>
              <a:ext cx="510540" cy="212090"/>
            </a:xfrm>
            <a:custGeom>
              <a:avLst/>
              <a:gdLst/>
              <a:ahLst/>
              <a:cxnLst/>
              <a:rect l="l" t="t" r="r" b="b"/>
              <a:pathLst>
                <a:path w="510540" h="212089">
                  <a:moveTo>
                    <a:pt x="442849" y="0"/>
                  </a:moveTo>
                  <a:lnTo>
                    <a:pt x="439801" y="8597"/>
                  </a:lnTo>
                  <a:lnTo>
                    <a:pt x="452068" y="13917"/>
                  </a:lnTo>
                  <a:lnTo>
                    <a:pt x="462597" y="21282"/>
                  </a:lnTo>
                  <a:lnTo>
                    <a:pt x="484016" y="55414"/>
                  </a:lnTo>
                  <a:lnTo>
                    <a:pt x="490982" y="104813"/>
                  </a:lnTo>
                  <a:lnTo>
                    <a:pt x="490198" y="123491"/>
                  </a:lnTo>
                  <a:lnTo>
                    <a:pt x="478536" y="169227"/>
                  </a:lnTo>
                  <a:lnTo>
                    <a:pt x="452229" y="197813"/>
                  </a:lnTo>
                  <a:lnTo>
                    <a:pt x="440182" y="203161"/>
                  </a:lnTo>
                  <a:lnTo>
                    <a:pt x="442849" y="211747"/>
                  </a:lnTo>
                  <a:lnTo>
                    <a:pt x="483246" y="187715"/>
                  </a:lnTo>
                  <a:lnTo>
                    <a:pt x="506031" y="143341"/>
                  </a:lnTo>
                  <a:lnTo>
                    <a:pt x="510413" y="105930"/>
                  </a:lnTo>
                  <a:lnTo>
                    <a:pt x="509330" y="86751"/>
                  </a:lnTo>
                  <a:lnTo>
                    <a:pt x="509317" y="86521"/>
                  </a:lnTo>
                  <a:lnTo>
                    <a:pt x="492887" y="37122"/>
                  </a:lnTo>
                  <a:lnTo>
                    <a:pt x="458186" y="5548"/>
                  </a:lnTo>
                  <a:lnTo>
                    <a:pt x="442849" y="0"/>
                  </a:lnTo>
                  <a:close/>
                </a:path>
                <a:path w="510540" h="212089">
                  <a:moveTo>
                    <a:pt x="67564" y="0"/>
                  </a:moveTo>
                  <a:lnTo>
                    <a:pt x="27094" y="24108"/>
                  </a:lnTo>
                  <a:lnTo>
                    <a:pt x="4365" y="68583"/>
                  </a:lnTo>
                  <a:lnTo>
                    <a:pt x="0" y="105930"/>
                  </a:lnTo>
                  <a:lnTo>
                    <a:pt x="986" y="123491"/>
                  </a:lnTo>
                  <a:lnTo>
                    <a:pt x="1093" y="125385"/>
                  </a:lnTo>
                  <a:lnTo>
                    <a:pt x="17399" y="174751"/>
                  </a:lnTo>
                  <a:lnTo>
                    <a:pt x="52135" y="206213"/>
                  </a:lnTo>
                  <a:lnTo>
                    <a:pt x="67564" y="211747"/>
                  </a:lnTo>
                  <a:lnTo>
                    <a:pt x="70231" y="203161"/>
                  </a:lnTo>
                  <a:lnTo>
                    <a:pt x="58130" y="197813"/>
                  </a:lnTo>
                  <a:lnTo>
                    <a:pt x="47720" y="190376"/>
                  </a:lnTo>
                  <a:lnTo>
                    <a:pt x="26376" y="155699"/>
                  </a:lnTo>
                  <a:lnTo>
                    <a:pt x="19351" y="105930"/>
                  </a:lnTo>
                  <a:lnTo>
                    <a:pt x="19304" y="104813"/>
                  </a:lnTo>
                  <a:lnTo>
                    <a:pt x="26376" y="55414"/>
                  </a:lnTo>
                  <a:lnTo>
                    <a:pt x="47799" y="21282"/>
                  </a:lnTo>
                  <a:lnTo>
                    <a:pt x="70485" y="8597"/>
                  </a:lnTo>
                  <a:lnTo>
                    <a:pt x="675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23">
            <a:extLst>
              <a:ext uri="{FF2B5EF4-FFF2-40B4-BE49-F238E27FC236}">
                <a16:creationId xmlns:a16="http://schemas.microsoft.com/office/drawing/2014/main" id="{DD2D1DBD-88F2-40BE-8A46-978DC3BB5350}"/>
              </a:ext>
            </a:extLst>
          </p:cNvPr>
          <p:cNvSpPr txBox="1"/>
          <p:nvPr/>
        </p:nvSpPr>
        <p:spPr>
          <a:xfrm>
            <a:off x="7463283" y="2525826"/>
            <a:ext cx="2498725" cy="911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4685">
              <a:lnSpc>
                <a:spcPct val="100000"/>
              </a:lnSpc>
              <a:spcBef>
                <a:spcPts val="100"/>
              </a:spcBef>
              <a:tabLst>
                <a:tab pos="1129665" algn="l"/>
              </a:tabLst>
            </a:pPr>
            <a:r>
              <a:rPr sz="1800" dirty="0">
                <a:latin typeface="Cambria Math"/>
                <a:cs typeface="Cambria Math"/>
              </a:rPr>
              <a:t>𝐂</a:t>
            </a:r>
            <a:r>
              <a:rPr sz="1800" spc="34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=</a:t>
            </a:r>
            <a:r>
              <a:rPr sz="1800" spc="60" dirty="0">
                <a:latin typeface="Cambria Math"/>
                <a:cs typeface="Cambria Math"/>
              </a:rPr>
              <a:t> </a:t>
            </a:r>
            <a:r>
              <a:rPr sz="1800" spc="-20" dirty="0">
                <a:latin typeface="Cambria Math"/>
                <a:cs typeface="Cambria Math"/>
              </a:rPr>
              <a:t>𝐕</a:t>
            </a:r>
            <a:r>
              <a:rPr sz="1950" spc="-30" baseline="-14957" dirty="0">
                <a:latin typeface="Cambria Math"/>
                <a:cs typeface="Cambria Math"/>
              </a:rPr>
              <a:t>𝐂</a:t>
            </a:r>
            <a:r>
              <a:rPr sz="1950" spc="82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𝐜𝐨𝐬</a:t>
            </a:r>
            <a:r>
              <a:rPr sz="1800" spc="28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𝛚</a:t>
            </a:r>
            <a:r>
              <a:rPr sz="1950" spc="-37" baseline="-14957" dirty="0">
                <a:latin typeface="Cambria Math"/>
                <a:cs typeface="Cambria Math"/>
              </a:rPr>
              <a:t>𝐜</a:t>
            </a:r>
            <a:r>
              <a:rPr sz="1800" spc="-25" dirty="0">
                <a:latin typeface="Cambria Math"/>
                <a:cs typeface="Cambria Math"/>
              </a:rPr>
              <a:t>𝐭</a:t>
            </a:r>
            <a:endParaRPr sz="1800" dirty="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1940"/>
              </a:spcBef>
            </a:pPr>
            <a:r>
              <a:rPr lang="en-US" sz="2400" b="1" dirty="0">
                <a:latin typeface="Calibri"/>
                <a:cs typeface="Calibri"/>
              </a:rPr>
              <a:t>C(t) </a:t>
            </a:r>
            <a:r>
              <a:rPr sz="2400" b="1" dirty="0">
                <a:latin typeface="Calibri"/>
                <a:cs typeface="Calibri"/>
              </a:rPr>
              <a:t>Carrier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Signal</a:t>
            </a:r>
            <a:endParaRPr sz="24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E08BC08-E457-4F87-8AE9-9797158EA8F0}"/>
                  </a:ext>
                </a:extLst>
              </p:cNvPr>
              <p:cNvSpPr txBox="1"/>
              <p:nvPr/>
            </p:nvSpPr>
            <p:spPr>
              <a:xfrm>
                <a:off x="5789099" y="2184861"/>
                <a:ext cx="1367597" cy="9223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grow m:val="on"/>
                          <m:ctrlPr>
                            <a:rPr lang="en-US" sz="18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800" b="1" i="0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sz="18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p>
                        <m:e>
                          <m:r>
                            <a:rPr lang="en-US" sz="18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  <m:d>
                            <m:dPr>
                              <m:ctrlPr>
                                <a:rPr lang="en-US" sz="1800" b="1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1" i="1" smtClean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  <m:r>
                            <a:rPr lang="en-US" sz="1800" b="1" i="0" smtClean="0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en-US" sz="18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E08BC08-E457-4F87-8AE9-9797158EA8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9099" y="2184861"/>
                <a:ext cx="1367597" cy="92236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object 7">
            <a:extLst>
              <a:ext uri="{FF2B5EF4-FFF2-40B4-BE49-F238E27FC236}">
                <a16:creationId xmlns:a16="http://schemas.microsoft.com/office/drawing/2014/main" id="{0495B205-AE59-4435-A349-4E08D70A2544}"/>
              </a:ext>
            </a:extLst>
          </p:cNvPr>
          <p:cNvGrpSpPr/>
          <p:nvPr/>
        </p:nvGrpSpPr>
        <p:grpSpPr>
          <a:xfrm>
            <a:off x="2254835" y="3753384"/>
            <a:ext cx="5764530" cy="1492250"/>
            <a:chOff x="557885" y="4450969"/>
            <a:chExt cx="5764530" cy="1492250"/>
          </a:xfrm>
        </p:grpSpPr>
        <p:sp>
          <p:nvSpPr>
            <p:cNvPr id="23" name="object 8">
              <a:extLst>
                <a:ext uri="{FF2B5EF4-FFF2-40B4-BE49-F238E27FC236}">
                  <a16:creationId xmlns:a16="http://schemas.microsoft.com/office/drawing/2014/main" id="{1D7D1F71-D9AD-40EA-BB1A-BE0CC2B5D05D}"/>
                </a:ext>
              </a:extLst>
            </p:cNvPr>
            <p:cNvSpPr/>
            <p:nvPr/>
          </p:nvSpPr>
          <p:spPr>
            <a:xfrm>
              <a:off x="697712" y="4737734"/>
              <a:ext cx="5624830" cy="1205230"/>
            </a:xfrm>
            <a:custGeom>
              <a:avLst/>
              <a:gdLst/>
              <a:ahLst/>
              <a:cxnLst/>
              <a:rect l="l" t="t" r="r" b="b"/>
              <a:pathLst>
                <a:path w="5624830" h="1205229">
                  <a:moveTo>
                    <a:pt x="1491640" y="57150"/>
                  </a:moveTo>
                  <a:lnTo>
                    <a:pt x="1453540" y="38100"/>
                  </a:lnTo>
                  <a:lnTo>
                    <a:pt x="1377340" y="0"/>
                  </a:lnTo>
                  <a:lnTo>
                    <a:pt x="1377340" y="38100"/>
                  </a:lnTo>
                  <a:lnTo>
                    <a:pt x="0" y="38100"/>
                  </a:lnTo>
                  <a:lnTo>
                    <a:pt x="0" y="76200"/>
                  </a:lnTo>
                  <a:lnTo>
                    <a:pt x="1377340" y="76200"/>
                  </a:lnTo>
                  <a:lnTo>
                    <a:pt x="1377340" y="114300"/>
                  </a:lnTo>
                  <a:lnTo>
                    <a:pt x="1453540" y="76200"/>
                  </a:lnTo>
                  <a:lnTo>
                    <a:pt x="1491640" y="57150"/>
                  </a:lnTo>
                  <a:close/>
                </a:path>
                <a:path w="5624830" h="1205229">
                  <a:moveTo>
                    <a:pt x="5624347" y="610235"/>
                  </a:moveTo>
                  <a:lnTo>
                    <a:pt x="5614822" y="591185"/>
                  </a:lnTo>
                  <a:lnTo>
                    <a:pt x="5567197" y="495935"/>
                  </a:lnTo>
                  <a:lnTo>
                    <a:pt x="5510047" y="610235"/>
                  </a:lnTo>
                  <a:lnTo>
                    <a:pt x="5548134" y="610235"/>
                  </a:lnTo>
                  <a:lnTo>
                    <a:pt x="5548020" y="1205204"/>
                  </a:lnTo>
                  <a:lnTo>
                    <a:pt x="5586120" y="1205204"/>
                  </a:lnTo>
                  <a:lnTo>
                    <a:pt x="5586234" y="610235"/>
                  </a:lnTo>
                  <a:lnTo>
                    <a:pt x="5624347" y="610235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9">
              <a:extLst>
                <a:ext uri="{FF2B5EF4-FFF2-40B4-BE49-F238E27FC236}">
                  <a16:creationId xmlns:a16="http://schemas.microsoft.com/office/drawing/2014/main" id="{2891BF35-8F2E-49FA-9950-30C9A742CDDB}"/>
                </a:ext>
              </a:extLst>
            </p:cNvPr>
            <p:cNvSpPr/>
            <p:nvPr/>
          </p:nvSpPr>
          <p:spPr>
            <a:xfrm>
              <a:off x="557885" y="4450969"/>
              <a:ext cx="315595" cy="282575"/>
            </a:xfrm>
            <a:custGeom>
              <a:avLst/>
              <a:gdLst/>
              <a:ahLst/>
              <a:cxnLst/>
              <a:rect l="l" t="t" r="r" b="b"/>
              <a:pathLst>
                <a:path w="315594" h="282575">
                  <a:moveTo>
                    <a:pt x="225209" y="0"/>
                  </a:moveTo>
                  <a:lnTo>
                    <a:pt x="221183" y="11556"/>
                  </a:lnTo>
                  <a:lnTo>
                    <a:pt x="237527" y="18631"/>
                  </a:lnTo>
                  <a:lnTo>
                    <a:pt x="251585" y="28432"/>
                  </a:lnTo>
                  <a:lnTo>
                    <a:pt x="280125" y="73925"/>
                  </a:lnTo>
                  <a:lnTo>
                    <a:pt x="288410" y="115413"/>
                  </a:lnTo>
                  <a:lnTo>
                    <a:pt x="289496" y="139826"/>
                  </a:lnTo>
                  <a:lnTo>
                    <a:pt x="288450" y="164707"/>
                  </a:lnTo>
                  <a:lnTo>
                    <a:pt x="280082" y="207656"/>
                  </a:lnTo>
                  <a:lnTo>
                    <a:pt x="251602" y="253857"/>
                  </a:lnTo>
                  <a:lnTo>
                    <a:pt x="221627" y="270890"/>
                  </a:lnTo>
                  <a:lnTo>
                    <a:pt x="225209" y="282320"/>
                  </a:lnTo>
                  <a:lnTo>
                    <a:pt x="263717" y="264302"/>
                  </a:lnTo>
                  <a:lnTo>
                    <a:pt x="292023" y="233044"/>
                  </a:lnTo>
                  <a:lnTo>
                    <a:pt x="309443" y="191150"/>
                  </a:lnTo>
                  <a:lnTo>
                    <a:pt x="315252" y="141350"/>
                  </a:lnTo>
                  <a:lnTo>
                    <a:pt x="313813" y="115732"/>
                  </a:lnTo>
                  <a:lnTo>
                    <a:pt x="302146" y="69538"/>
                  </a:lnTo>
                  <a:lnTo>
                    <a:pt x="279051" y="32164"/>
                  </a:lnTo>
                  <a:lnTo>
                    <a:pt x="245675" y="7435"/>
                  </a:lnTo>
                  <a:lnTo>
                    <a:pt x="225209" y="0"/>
                  </a:lnTo>
                  <a:close/>
                </a:path>
                <a:path w="315594" h="282575">
                  <a:moveTo>
                    <a:pt x="90043" y="0"/>
                  </a:moveTo>
                  <a:lnTo>
                    <a:pt x="51628" y="18145"/>
                  </a:lnTo>
                  <a:lnTo>
                    <a:pt x="23291" y="49529"/>
                  </a:lnTo>
                  <a:lnTo>
                    <a:pt x="5826" y="91487"/>
                  </a:lnTo>
                  <a:lnTo>
                    <a:pt x="85" y="139826"/>
                  </a:lnTo>
                  <a:lnTo>
                    <a:pt x="0" y="141350"/>
                  </a:lnTo>
                  <a:lnTo>
                    <a:pt x="5807" y="191150"/>
                  </a:lnTo>
                  <a:lnTo>
                    <a:pt x="23215" y="233044"/>
                  </a:lnTo>
                  <a:lnTo>
                    <a:pt x="51533" y="264302"/>
                  </a:lnTo>
                  <a:lnTo>
                    <a:pt x="90043" y="282320"/>
                  </a:lnTo>
                  <a:lnTo>
                    <a:pt x="93611" y="270890"/>
                  </a:lnTo>
                  <a:lnTo>
                    <a:pt x="77528" y="263773"/>
                  </a:lnTo>
                  <a:lnTo>
                    <a:pt x="63647" y="253857"/>
                  </a:lnTo>
                  <a:lnTo>
                    <a:pt x="35169" y="207656"/>
                  </a:lnTo>
                  <a:lnTo>
                    <a:pt x="26801" y="164707"/>
                  </a:lnTo>
                  <a:lnTo>
                    <a:pt x="25819" y="141350"/>
                  </a:lnTo>
                  <a:lnTo>
                    <a:pt x="25755" y="139826"/>
                  </a:lnTo>
                  <a:lnTo>
                    <a:pt x="29938" y="93757"/>
                  </a:lnTo>
                  <a:lnTo>
                    <a:pt x="42494" y="56260"/>
                  </a:lnTo>
                  <a:lnTo>
                    <a:pt x="77780" y="18631"/>
                  </a:lnTo>
                  <a:lnTo>
                    <a:pt x="94068" y="11556"/>
                  </a:lnTo>
                  <a:lnTo>
                    <a:pt x="900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11">
            <a:extLst>
              <a:ext uri="{FF2B5EF4-FFF2-40B4-BE49-F238E27FC236}">
                <a16:creationId xmlns:a16="http://schemas.microsoft.com/office/drawing/2014/main" id="{BE92815F-AAC1-48F1-AC7D-213080737B02}"/>
              </a:ext>
            </a:extLst>
          </p:cNvPr>
          <p:cNvSpPr txBox="1"/>
          <p:nvPr/>
        </p:nvSpPr>
        <p:spPr>
          <a:xfrm>
            <a:off x="1939672" y="3664230"/>
            <a:ext cx="1494155" cy="1121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99800"/>
              </a:lnSpc>
              <a:spcBef>
                <a:spcPts val="105"/>
              </a:spcBef>
            </a:pPr>
            <a:r>
              <a:rPr sz="2400" dirty="0">
                <a:latin typeface="Cambria Math"/>
                <a:cs typeface="Cambria Math"/>
              </a:rPr>
              <a:t>𝐦</a:t>
            </a:r>
            <a:r>
              <a:rPr sz="2400" spc="434" dirty="0">
                <a:latin typeface="Cambria Math"/>
                <a:cs typeface="Cambria Math"/>
              </a:rPr>
              <a:t> </a:t>
            </a:r>
            <a:r>
              <a:rPr sz="2400" spc="-60" dirty="0">
                <a:latin typeface="Cambria Math"/>
                <a:cs typeface="Cambria Math"/>
              </a:rPr>
              <a:t>𝐭 </a:t>
            </a:r>
            <a:r>
              <a:rPr sz="2400" b="1" spc="-10" dirty="0">
                <a:latin typeface="Calibri"/>
                <a:cs typeface="Calibri"/>
              </a:rPr>
              <a:t>Modulating Signal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27" name="object 12">
            <a:extLst>
              <a:ext uri="{FF2B5EF4-FFF2-40B4-BE49-F238E27FC236}">
                <a16:creationId xmlns:a16="http://schemas.microsoft.com/office/drawing/2014/main" id="{F6C7DB26-FC5C-445E-8329-5D10AFB20986}"/>
              </a:ext>
            </a:extLst>
          </p:cNvPr>
          <p:cNvGrpSpPr/>
          <p:nvPr/>
        </p:nvGrpSpPr>
        <p:grpSpPr>
          <a:xfrm>
            <a:off x="3886302" y="3536213"/>
            <a:ext cx="2100580" cy="1153795"/>
            <a:chOff x="2189352" y="4233798"/>
            <a:chExt cx="2100580" cy="1153795"/>
          </a:xfrm>
        </p:grpSpPr>
        <p:pic>
          <p:nvPicPr>
            <p:cNvPr id="28" name="object 13">
              <a:extLst>
                <a:ext uri="{FF2B5EF4-FFF2-40B4-BE49-F238E27FC236}">
                  <a16:creationId xmlns:a16="http://schemas.microsoft.com/office/drawing/2014/main" id="{ADBAB277-1256-4332-9278-4C1CB80E1D1A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89352" y="4233798"/>
              <a:ext cx="2100072" cy="1153795"/>
            </a:xfrm>
            <a:prstGeom prst="rect">
              <a:avLst/>
            </a:prstGeom>
          </p:spPr>
        </p:pic>
        <p:sp>
          <p:nvSpPr>
            <p:cNvPr id="29" name="object 14">
              <a:extLst>
                <a:ext uri="{FF2B5EF4-FFF2-40B4-BE49-F238E27FC236}">
                  <a16:creationId xmlns:a16="http://schemas.microsoft.com/office/drawing/2014/main" id="{96A4328A-08C9-46CF-B9F8-FECB2987B24F}"/>
                </a:ext>
              </a:extLst>
            </p:cNvPr>
            <p:cNvSpPr/>
            <p:nvPr/>
          </p:nvSpPr>
          <p:spPr>
            <a:xfrm>
              <a:off x="3128644" y="5010149"/>
              <a:ext cx="220979" cy="20320"/>
            </a:xfrm>
            <a:custGeom>
              <a:avLst/>
              <a:gdLst/>
              <a:ahLst/>
              <a:cxnLst/>
              <a:rect l="l" t="t" r="r" b="b"/>
              <a:pathLst>
                <a:path w="220979" h="20320">
                  <a:moveTo>
                    <a:pt x="220980" y="0"/>
                  </a:moveTo>
                  <a:lnTo>
                    <a:pt x="0" y="0"/>
                  </a:lnTo>
                  <a:lnTo>
                    <a:pt x="0" y="19812"/>
                  </a:lnTo>
                  <a:lnTo>
                    <a:pt x="220980" y="19812"/>
                  </a:lnTo>
                  <a:lnTo>
                    <a:pt x="2209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15">
            <a:extLst>
              <a:ext uri="{FF2B5EF4-FFF2-40B4-BE49-F238E27FC236}">
                <a16:creationId xmlns:a16="http://schemas.microsoft.com/office/drawing/2014/main" id="{725C5D6C-466C-44B5-9701-3554DE6E4EFE}"/>
              </a:ext>
            </a:extLst>
          </p:cNvPr>
          <p:cNvSpPr txBox="1"/>
          <p:nvPr/>
        </p:nvSpPr>
        <p:spPr>
          <a:xfrm>
            <a:off x="3886302" y="3536213"/>
            <a:ext cx="2100580" cy="1153795"/>
          </a:xfrm>
          <a:prstGeom prst="rect">
            <a:avLst/>
          </a:prstGeom>
          <a:ln w="6350">
            <a:solidFill>
              <a:srgbClr val="6FAC46"/>
            </a:solidFill>
          </a:ln>
        </p:spPr>
        <p:txBody>
          <a:bodyPr vert="horz" wrap="square" lIns="0" tIns="107950" rIns="0" bIns="0" rtlCol="0">
            <a:spAutoFit/>
          </a:bodyPr>
          <a:lstStyle/>
          <a:p>
            <a:pPr algn="ctr">
              <a:lnSpc>
                <a:spcPts val="2875"/>
              </a:lnSpc>
              <a:spcBef>
                <a:spcPts val="850"/>
              </a:spcBef>
            </a:pPr>
            <a:r>
              <a:rPr sz="2400" b="1" spc="-10" dirty="0">
                <a:latin typeface="Calibri"/>
                <a:cs typeface="Calibri"/>
              </a:rPr>
              <a:t>Differentiator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ts val="2095"/>
              </a:lnSpc>
            </a:pPr>
            <a:r>
              <a:rPr sz="1750" spc="-50" dirty="0">
                <a:latin typeface="Cambria Math"/>
                <a:cs typeface="Cambria Math"/>
              </a:rPr>
              <a:t>𝐝</a:t>
            </a:r>
            <a:endParaRPr sz="1750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spcBef>
                <a:spcPts val="515"/>
              </a:spcBef>
            </a:pPr>
            <a:r>
              <a:rPr sz="1750" spc="-25" dirty="0">
                <a:latin typeface="Cambria Math"/>
                <a:cs typeface="Cambria Math"/>
              </a:rPr>
              <a:t>𝐝𝐭</a:t>
            </a:r>
            <a:endParaRPr sz="1750">
              <a:latin typeface="Cambria Math"/>
              <a:cs typeface="Cambria Math"/>
            </a:endParaRPr>
          </a:p>
        </p:txBody>
      </p:sp>
      <p:grpSp>
        <p:nvGrpSpPr>
          <p:cNvPr id="31" name="object 16">
            <a:extLst>
              <a:ext uri="{FF2B5EF4-FFF2-40B4-BE49-F238E27FC236}">
                <a16:creationId xmlns:a16="http://schemas.microsoft.com/office/drawing/2014/main" id="{B966A81E-150D-438D-BA0F-AAC90269EFD9}"/>
              </a:ext>
            </a:extLst>
          </p:cNvPr>
          <p:cNvGrpSpPr/>
          <p:nvPr/>
        </p:nvGrpSpPr>
        <p:grpSpPr>
          <a:xfrm>
            <a:off x="5986247" y="3694354"/>
            <a:ext cx="3025775" cy="842010"/>
            <a:chOff x="4289297" y="4391939"/>
            <a:chExt cx="3025775" cy="842010"/>
          </a:xfrm>
        </p:grpSpPr>
        <p:sp>
          <p:nvSpPr>
            <p:cNvPr id="32" name="object 17">
              <a:extLst>
                <a:ext uri="{FF2B5EF4-FFF2-40B4-BE49-F238E27FC236}">
                  <a16:creationId xmlns:a16="http://schemas.microsoft.com/office/drawing/2014/main" id="{F157177F-DF70-4DB6-9264-764A164D3676}"/>
                </a:ext>
              </a:extLst>
            </p:cNvPr>
            <p:cNvSpPr/>
            <p:nvPr/>
          </p:nvSpPr>
          <p:spPr>
            <a:xfrm>
              <a:off x="4289297" y="4755387"/>
              <a:ext cx="925830" cy="114300"/>
            </a:xfrm>
            <a:custGeom>
              <a:avLst/>
              <a:gdLst/>
              <a:ahLst/>
              <a:cxnLst/>
              <a:rect l="l" t="t" r="r" b="b"/>
              <a:pathLst>
                <a:path w="925829" h="114300">
                  <a:moveTo>
                    <a:pt x="811402" y="0"/>
                  </a:moveTo>
                  <a:lnTo>
                    <a:pt x="811322" y="36194"/>
                  </a:lnTo>
                  <a:lnTo>
                    <a:pt x="811275" y="57530"/>
                  </a:lnTo>
                  <a:lnTo>
                    <a:pt x="811148" y="114299"/>
                  </a:lnTo>
                  <a:lnTo>
                    <a:pt x="887689" y="76326"/>
                  </a:lnTo>
                  <a:lnTo>
                    <a:pt x="830198" y="76326"/>
                  </a:lnTo>
                  <a:lnTo>
                    <a:pt x="830261" y="57530"/>
                  </a:lnTo>
                  <a:lnTo>
                    <a:pt x="830326" y="38226"/>
                  </a:lnTo>
                  <a:lnTo>
                    <a:pt x="887266" y="38226"/>
                  </a:lnTo>
                  <a:lnTo>
                    <a:pt x="811402" y="0"/>
                  </a:lnTo>
                  <a:close/>
                </a:path>
                <a:path w="925829" h="114300">
                  <a:moveTo>
                    <a:pt x="126" y="36194"/>
                  </a:moveTo>
                  <a:lnTo>
                    <a:pt x="0" y="74294"/>
                  </a:lnTo>
                  <a:lnTo>
                    <a:pt x="830199" y="76326"/>
                  </a:lnTo>
                  <a:lnTo>
                    <a:pt x="811233" y="76326"/>
                  </a:lnTo>
                  <a:lnTo>
                    <a:pt x="811318" y="38226"/>
                  </a:lnTo>
                  <a:lnTo>
                    <a:pt x="830326" y="38226"/>
                  </a:lnTo>
                  <a:lnTo>
                    <a:pt x="126" y="36194"/>
                  </a:lnTo>
                  <a:close/>
                </a:path>
                <a:path w="925829" h="114300">
                  <a:moveTo>
                    <a:pt x="887266" y="38226"/>
                  </a:moveTo>
                  <a:lnTo>
                    <a:pt x="830326" y="38226"/>
                  </a:lnTo>
                  <a:lnTo>
                    <a:pt x="830261" y="57530"/>
                  </a:lnTo>
                  <a:lnTo>
                    <a:pt x="830198" y="76326"/>
                  </a:lnTo>
                  <a:lnTo>
                    <a:pt x="887689" y="76326"/>
                  </a:lnTo>
                  <a:lnTo>
                    <a:pt x="925576" y="57530"/>
                  </a:lnTo>
                  <a:lnTo>
                    <a:pt x="887266" y="38226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18">
              <a:extLst>
                <a:ext uri="{FF2B5EF4-FFF2-40B4-BE49-F238E27FC236}">
                  <a16:creationId xmlns:a16="http://schemas.microsoft.com/office/drawing/2014/main" id="{3C257BF2-8179-46B0-9FC2-95B88FF51C3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14873" y="4391939"/>
              <a:ext cx="2100072" cy="841730"/>
            </a:xfrm>
            <a:prstGeom prst="rect">
              <a:avLst/>
            </a:prstGeom>
          </p:spPr>
        </p:pic>
      </p:grpSp>
      <p:sp>
        <p:nvSpPr>
          <p:cNvPr id="34" name="object 19">
            <a:extLst>
              <a:ext uri="{FF2B5EF4-FFF2-40B4-BE49-F238E27FC236}">
                <a16:creationId xmlns:a16="http://schemas.microsoft.com/office/drawing/2014/main" id="{5F0F4631-8C16-4A41-A449-B531C48AFA2B}"/>
              </a:ext>
            </a:extLst>
          </p:cNvPr>
          <p:cNvSpPr txBox="1"/>
          <p:nvPr/>
        </p:nvSpPr>
        <p:spPr>
          <a:xfrm>
            <a:off x="6911823" y="3694354"/>
            <a:ext cx="2100580" cy="842010"/>
          </a:xfrm>
          <a:prstGeom prst="rect">
            <a:avLst/>
          </a:prstGeom>
          <a:ln w="6350">
            <a:solidFill>
              <a:srgbClr val="6FAC46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372745" marR="365125" indent="19685">
              <a:lnSpc>
                <a:spcPct val="100000"/>
              </a:lnSpc>
              <a:spcBef>
                <a:spcPts val="285"/>
              </a:spcBef>
            </a:pPr>
            <a:r>
              <a:rPr sz="2400" b="1" spc="-10" dirty="0">
                <a:latin typeface="Calibri"/>
                <a:cs typeface="Calibri"/>
              </a:rPr>
              <a:t>Frequency Modulator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5" name="object 20">
            <a:extLst>
              <a:ext uri="{FF2B5EF4-FFF2-40B4-BE49-F238E27FC236}">
                <a16:creationId xmlns:a16="http://schemas.microsoft.com/office/drawing/2014/main" id="{351D4FE3-E30E-45BF-87E0-9D5C8631454C}"/>
              </a:ext>
            </a:extLst>
          </p:cNvPr>
          <p:cNvSpPr/>
          <p:nvPr/>
        </p:nvSpPr>
        <p:spPr>
          <a:xfrm>
            <a:off x="9011768" y="4056279"/>
            <a:ext cx="931544" cy="114300"/>
          </a:xfrm>
          <a:custGeom>
            <a:avLst/>
            <a:gdLst/>
            <a:ahLst/>
            <a:cxnLst/>
            <a:rect l="l" t="t" r="r" b="b"/>
            <a:pathLst>
              <a:path w="931545" h="114300">
                <a:moveTo>
                  <a:pt x="816990" y="0"/>
                </a:moveTo>
                <a:lnTo>
                  <a:pt x="817075" y="38143"/>
                </a:lnTo>
                <a:lnTo>
                  <a:pt x="817160" y="76243"/>
                </a:lnTo>
                <a:lnTo>
                  <a:pt x="817244" y="114300"/>
                </a:lnTo>
                <a:lnTo>
                  <a:pt x="892937" y="76243"/>
                </a:lnTo>
                <a:lnTo>
                  <a:pt x="836167" y="76243"/>
                </a:lnTo>
                <a:lnTo>
                  <a:pt x="836167" y="38143"/>
                </a:lnTo>
                <a:lnTo>
                  <a:pt x="893703" y="38143"/>
                </a:lnTo>
                <a:lnTo>
                  <a:pt x="816990" y="0"/>
                </a:lnTo>
                <a:close/>
              </a:path>
              <a:path w="931545" h="114300">
                <a:moveTo>
                  <a:pt x="817075" y="38143"/>
                </a:moveTo>
                <a:lnTo>
                  <a:pt x="0" y="40005"/>
                </a:lnTo>
                <a:lnTo>
                  <a:pt x="126" y="78105"/>
                </a:lnTo>
                <a:lnTo>
                  <a:pt x="817160" y="76243"/>
                </a:lnTo>
                <a:lnTo>
                  <a:pt x="817075" y="38143"/>
                </a:lnTo>
                <a:close/>
              </a:path>
              <a:path w="931545" h="114300">
                <a:moveTo>
                  <a:pt x="893703" y="38143"/>
                </a:moveTo>
                <a:lnTo>
                  <a:pt x="836167" y="38143"/>
                </a:lnTo>
                <a:lnTo>
                  <a:pt x="836167" y="76243"/>
                </a:lnTo>
                <a:lnTo>
                  <a:pt x="892937" y="76243"/>
                </a:lnTo>
                <a:lnTo>
                  <a:pt x="931417" y="56896"/>
                </a:lnTo>
                <a:lnTo>
                  <a:pt x="893703" y="38143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21">
            <a:extLst>
              <a:ext uri="{FF2B5EF4-FFF2-40B4-BE49-F238E27FC236}">
                <a16:creationId xmlns:a16="http://schemas.microsoft.com/office/drawing/2014/main" id="{A5743AE7-48E5-44B7-ACD0-5B1C10D9F281}"/>
              </a:ext>
            </a:extLst>
          </p:cNvPr>
          <p:cNvSpPr txBox="1"/>
          <p:nvPr/>
        </p:nvSpPr>
        <p:spPr>
          <a:xfrm>
            <a:off x="9501100" y="3682518"/>
            <a:ext cx="73215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latin typeface="Calibri"/>
                <a:cs typeface="Calibri"/>
              </a:rPr>
              <a:t>P.M.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spc="-30" dirty="0">
                <a:latin typeface="Calibri"/>
                <a:cs typeface="Calibri"/>
              </a:rPr>
              <a:t>Wave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37" name="object 22">
            <a:extLst>
              <a:ext uri="{FF2B5EF4-FFF2-40B4-BE49-F238E27FC236}">
                <a16:creationId xmlns:a16="http://schemas.microsoft.com/office/drawing/2014/main" id="{3F3A2D44-85B1-4192-B8B4-E93AE0526BFA}"/>
              </a:ext>
            </a:extLst>
          </p:cNvPr>
          <p:cNvGrpSpPr/>
          <p:nvPr/>
        </p:nvGrpSpPr>
        <p:grpSpPr>
          <a:xfrm>
            <a:off x="6065115" y="4451884"/>
            <a:ext cx="623570" cy="286385"/>
            <a:chOff x="4368165" y="5149469"/>
            <a:chExt cx="623570" cy="286385"/>
          </a:xfrm>
        </p:grpSpPr>
        <p:sp>
          <p:nvSpPr>
            <p:cNvPr id="38" name="object 23">
              <a:extLst>
                <a:ext uri="{FF2B5EF4-FFF2-40B4-BE49-F238E27FC236}">
                  <a16:creationId xmlns:a16="http://schemas.microsoft.com/office/drawing/2014/main" id="{F13BF05F-2BE3-4D23-AAD8-C379C5BC37A6}"/>
                </a:ext>
              </a:extLst>
            </p:cNvPr>
            <p:cNvSpPr/>
            <p:nvPr/>
          </p:nvSpPr>
          <p:spPr>
            <a:xfrm>
              <a:off x="4368165" y="5420487"/>
              <a:ext cx="623570" cy="15240"/>
            </a:xfrm>
            <a:custGeom>
              <a:avLst/>
              <a:gdLst/>
              <a:ahLst/>
              <a:cxnLst/>
              <a:rect l="l" t="t" r="r" b="b"/>
              <a:pathLst>
                <a:path w="623570" h="15239">
                  <a:moveTo>
                    <a:pt x="623316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623316" y="15240"/>
                  </a:lnTo>
                  <a:lnTo>
                    <a:pt x="6233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24">
              <a:extLst>
                <a:ext uri="{FF2B5EF4-FFF2-40B4-BE49-F238E27FC236}">
                  <a16:creationId xmlns:a16="http://schemas.microsoft.com/office/drawing/2014/main" id="{ADE7EBB7-D047-471A-A5B1-520D96C5F6AF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35830" y="5149469"/>
              <a:ext cx="235965" cy="211836"/>
            </a:xfrm>
            <a:prstGeom prst="rect">
              <a:avLst/>
            </a:prstGeom>
          </p:spPr>
        </p:pic>
      </p:grpSp>
      <p:sp>
        <p:nvSpPr>
          <p:cNvPr id="40" name="object 25">
            <a:extLst>
              <a:ext uri="{FF2B5EF4-FFF2-40B4-BE49-F238E27FC236}">
                <a16:creationId xmlns:a16="http://schemas.microsoft.com/office/drawing/2014/main" id="{E3A45657-4279-4367-837E-CD55A73AE663}"/>
              </a:ext>
            </a:extLst>
          </p:cNvPr>
          <p:cNvSpPr txBox="1"/>
          <p:nvPr/>
        </p:nvSpPr>
        <p:spPr>
          <a:xfrm>
            <a:off x="6052922" y="4382287"/>
            <a:ext cx="554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𝐝𝐦</a:t>
            </a:r>
            <a:r>
              <a:rPr sz="1800" spc="35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𝐭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1" name="object 26">
            <a:extLst>
              <a:ext uri="{FF2B5EF4-FFF2-40B4-BE49-F238E27FC236}">
                <a16:creationId xmlns:a16="http://schemas.microsoft.com/office/drawing/2014/main" id="{C2F76C89-B281-477D-8A4E-AD6B3EFE8761}"/>
              </a:ext>
            </a:extLst>
          </p:cNvPr>
          <p:cNvSpPr txBox="1"/>
          <p:nvPr/>
        </p:nvSpPr>
        <p:spPr>
          <a:xfrm>
            <a:off x="6251042" y="4708449"/>
            <a:ext cx="253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𝐝𝐭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42" name="object 27">
            <a:extLst>
              <a:ext uri="{FF2B5EF4-FFF2-40B4-BE49-F238E27FC236}">
                <a16:creationId xmlns:a16="http://schemas.microsoft.com/office/drawing/2014/main" id="{28E51C0D-B1F2-40B2-990E-D9215E9057B6}"/>
              </a:ext>
            </a:extLst>
          </p:cNvPr>
          <p:cNvGrpSpPr/>
          <p:nvPr/>
        </p:nvGrpSpPr>
        <p:grpSpPr>
          <a:xfrm>
            <a:off x="8273009" y="4735729"/>
            <a:ext cx="1711325" cy="212090"/>
            <a:chOff x="6576059" y="5433314"/>
            <a:chExt cx="1711325" cy="212090"/>
          </a:xfrm>
        </p:grpSpPr>
        <p:pic>
          <p:nvPicPr>
            <p:cNvPr id="43" name="object 28">
              <a:extLst>
                <a:ext uri="{FF2B5EF4-FFF2-40B4-BE49-F238E27FC236}">
                  <a16:creationId xmlns:a16="http://schemas.microsoft.com/office/drawing/2014/main" id="{417FC147-DE17-4127-995F-D1D0F29F0782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76059" y="5433314"/>
              <a:ext cx="236093" cy="211734"/>
            </a:xfrm>
            <a:prstGeom prst="rect">
              <a:avLst/>
            </a:prstGeom>
          </p:spPr>
        </p:pic>
        <p:sp>
          <p:nvSpPr>
            <p:cNvPr id="44" name="object 29">
              <a:extLst>
                <a:ext uri="{FF2B5EF4-FFF2-40B4-BE49-F238E27FC236}">
                  <a16:creationId xmlns:a16="http://schemas.microsoft.com/office/drawing/2014/main" id="{EC934925-4A5E-407E-888C-516E22E6A269}"/>
                </a:ext>
              </a:extLst>
            </p:cNvPr>
            <p:cNvSpPr/>
            <p:nvPr/>
          </p:nvSpPr>
          <p:spPr>
            <a:xfrm>
              <a:off x="7776971" y="5433314"/>
              <a:ext cx="510540" cy="212090"/>
            </a:xfrm>
            <a:custGeom>
              <a:avLst/>
              <a:gdLst/>
              <a:ahLst/>
              <a:cxnLst/>
              <a:rect l="l" t="t" r="r" b="b"/>
              <a:pathLst>
                <a:path w="510540" h="212089">
                  <a:moveTo>
                    <a:pt x="442849" y="0"/>
                  </a:moveTo>
                  <a:lnTo>
                    <a:pt x="439801" y="8636"/>
                  </a:lnTo>
                  <a:lnTo>
                    <a:pt x="452086" y="13946"/>
                  </a:lnTo>
                  <a:lnTo>
                    <a:pt x="462645" y="21304"/>
                  </a:lnTo>
                  <a:lnTo>
                    <a:pt x="484036" y="55429"/>
                  </a:lnTo>
                  <a:lnTo>
                    <a:pt x="490288" y="86483"/>
                  </a:lnTo>
                  <a:lnTo>
                    <a:pt x="490323" y="86723"/>
                  </a:lnTo>
                  <a:lnTo>
                    <a:pt x="491109" y="104775"/>
                  </a:lnTo>
                  <a:lnTo>
                    <a:pt x="490323" y="123444"/>
                  </a:lnTo>
                  <a:lnTo>
                    <a:pt x="487965" y="140403"/>
                  </a:lnTo>
                  <a:lnTo>
                    <a:pt x="471418" y="180824"/>
                  </a:lnTo>
                  <a:lnTo>
                    <a:pt x="440182" y="203136"/>
                  </a:lnTo>
                  <a:lnTo>
                    <a:pt x="442849" y="211734"/>
                  </a:lnTo>
                  <a:lnTo>
                    <a:pt x="483318" y="187692"/>
                  </a:lnTo>
                  <a:lnTo>
                    <a:pt x="506047" y="143317"/>
                  </a:lnTo>
                  <a:lnTo>
                    <a:pt x="510413" y="105918"/>
                  </a:lnTo>
                  <a:lnTo>
                    <a:pt x="509331" y="86723"/>
                  </a:lnTo>
                  <a:lnTo>
                    <a:pt x="509317" y="86483"/>
                  </a:lnTo>
                  <a:lnTo>
                    <a:pt x="492887" y="37084"/>
                  </a:lnTo>
                  <a:lnTo>
                    <a:pt x="458186" y="5526"/>
                  </a:lnTo>
                  <a:lnTo>
                    <a:pt x="442849" y="0"/>
                  </a:lnTo>
                  <a:close/>
                </a:path>
                <a:path w="510540" h="212089">
                  <a:moveTo>
                    <a:pt x="67564" y="0"/>
                  </a:moveTo>
                  <a:lnTo>
                    <a:pt x="27166" y="24056"/>
                  </a:lnTo>
                  <a:lnTo>
                    <a:pt x="4381" y="68548"/>
                  </a:lnTo>
                  <a:lnTo>
                    <a:pt x="64" y="104775"/>
                  </a:lnTo>
                  <a:lnTo>
                    <a:pt x="0" y="105918"/>
                  </a:lnTo>
                  <a:lnTo>
                    <a:pt x="985" y="123444"/>
                  </a:lnTo>
                  <a:lnTo>
                    <a:pt x="1093" y="125365"/>
                  </a:lnTo>
                  <a:lnTo>
                    <a:pt x="4365" y="143317"/>
                  </a:lnTo>
                  <a:lnTo>
                    <a:pt x="27094" y="187692"/>
                  </a:lnTo>
                  <a:lnTo>
                    <a:pt x="67564" y="211734"/>
                  </a:lnTo>
                  <a:lnTo>
                    <a:pt x="70231" y="203136"/>
                  </a:lnTo>
                  <a:lnTo>
                    <a:pt x="58183" y="197793"/>
                  </a:lnTo>
                  <a:lnTo>
                    <a:pt x="47767" y="190355"/>
                  </a:lnTo>
                  <a:lnTo>
                    <a:pt x="26376" y="155654"/>
                  </a:lnTo>
                  <a:lnTo>
                    <a:pt x="19352" y="105918"/>
                  </a:lnTo>
                  <a:lnTo>
                    <a:pt x="19304" y="104775"/>
                  </a:lnTo>
                  <a:lnTo>
                    <a:pt x="26376" y="55429"/>
                  </a:lnTo>
                  <a:lnTo>
                    <a:pt x="47799" y="21304"/>
                  </a:lnTo>
                  <a:lnTo>
                    <a:pt x="70485" y="8636"/>
                  </a:lnTo>
                  <a:lnTo>
                    <a:pt x="675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30">
            <a:extLst>
              <a:ext uri="{FF2B5EF4-FFF2-40B4-BE49-F238E27FC236}">
                <a16:creationId xmlns:a16="http://schemas.microsoft.com/office/drawing/2014/main" id="{ED171BD9-7C71-41FD-AE24-E344D8A78202}"/>
              </a:ext>
            </a:extLst>
          </p:cNvPr>
          <p:cNvSpPr txBox="1"/>
          <p:nvPr/>
        </p:nvSpPr>
        <p:spPr>
          <a:xfrm>
            <a:off x="7463511" y="4666082"/>
            <a:ext cx="2510790" cy="911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4685">
              <a:lnSpc>
                <a:spcPct val="100000"/>
              </a:lnSpc>
              <a:spcBef>
                <a:spcPts val="100"/>
              </a:spcBef>
              <a:tabLst>
                <a:tab pos="1129665" algn="l"/>
              </a:tabLst>
            </a:pPr>
            <a:r>
              <a:rPr sz="1800" dirty="0">
                <a:latin typeface="Cambria Math"/>
                <a:cs typeface="Cambria Math"/>
              </a:rPr>
              <a:t>𝐂</a:t>
            </a:r>
            <a:r>
              <a:rPr sz="1800" spc="34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=</a:t>
            </a:r>
            <a:r>
              <a:rPr sz="1800" spc="60" dirty="0">
                <a:latin typeface="Cambria Math"/>
                <a:cs typeface="Cambria Math"/>
              </a:rPr>
              <a:t> </a:t>
            </a:r>
            <a:r>
              <a:rPr sz="1800" spc="-20" dirty="0">
                <a:latin typeface="Cambria Math"/>
                <a:cs typeface="Cambria Math"/>
              </a:rPr>
              <a:t>𝐕</a:t>
            </a:r>
            <a:r>
              <a:rPr sz="1950" spc="-30" baseline="-14957" dirty="0">
                <a:latin typeface="Cambria Math"/>
                <a:cs typeface="Cambria Math"/>
              </a:rPr>
              <a:t>𝐂</a:t>
            </a:r>
            <a:r>
              <a:rPr sz="1950" spc="82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𝐜𝐨𝐬</a:t>
            </a:r>
            <a:r>
              <a:rPr sz="1800" spc="28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𝛚</a:t>
            </a:r>
            <a:r>
              <a:rPr sz="1950" spc="-37" baseline="-14957" dirty="0">
                <a:latin typeface="Cambria Math"/>
                <a:cs typeface="Cambria Math"/>
              </a:rPr>
              <a:t>𝐜</a:t>
            </a:r>
            <a:r>
              <a:rPr sz="1800" spc="-25" dirty="0">
                <a:latin typeface="Cambria Math"/>
                <a:cs typeface="Cambria Math"/>
              </a:rPr>
              <a:t>𝐭</a:t>
            </a:r>
            <a:endParaRPr sz="18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1935"/>
              </a:spcBef>
            </a:pPr>
            <a:r>
              <a:rPr sz="2400" b="1" dirty="0">
                <a:latin typeface="Calibri"/>
                <a:cs typeface="Calibri"/>
              </a:rPr>
              <a:t>Carrier</a:t>
            </a:r>
            <a:r>
              <a:rPr sz="2400" b="1" spc="-10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Signal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C8EE9C-6EC7-4FCC-B84F-175ECAEE6D86}"/>
              </a:ext>
            </a:extLst>
          </p:cNvPr>
          <p:cNvSpPr/>
          <p:nvPr/>
        </p:nvSpPr>
        <p:spPr>
          <a:xfrm>
            <a:off x="1752600" y="1536522"/>
            <a:ext cx="9220200" cy="40414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Not a generalized block diagram!!!</a:t>
            </a:r>
          </a:p>
        </p:txBody>
      </p:sp>
    </p:spTree>
    <p:extLst>
      <p:ext uri="{BB962C8B-B14F-4D97-AF65-F5344CB8AC3E}">
        <p14:creationId xmlns:p14="http://schemas.microsoft.com/office/powerpoint/2010/main" val="362064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27492"/>
            <a:ext cx="1219200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3200" spc="-55" dirty="0">
                <a:solidFill>
                  <a:srgbClr val="006600"/>
                </a:solidFill>
                <a:latin typeface="Trebuchet MS"/>
                <a:cs typeface="Trebuchet MS"/>
              </a:rPr>
              <a:t>Generalized Angle Modulation: Concept</a:t>
            </a:r>
            <a:endParaRPr sz="3200" dirty="0">
              <a:latin typeface="Trebuchet MS"/>
              <a:cs typeface="Trebuchet M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/>
              <p:cNvSpPr txBox="1"/>
              <p:nvPr/>
            </p:nvSpPr>
            <p:spPr>
              <a:xfrm>
                <a:off x="228600" y="685800"/>
                <a:ext cx="11658600" cy="4128374"/>
              </a:xfrm>
              <a:prstGeom prst="rect">
                <a:avLst/>
              </a:prstGeom>
            </p:spPr>
            <p:txBody>
              <a:bodyPr vert="horz" wrap="square" lIns="0" tIns="92710" rIns="0" bIns="0" rtlCol="0">
                <a:spAutoFit/>
              </a:bodyPr>
              <a:lstStyle/>
              <a:p>
                <a:pPr marL="520065" indent="-457200" algn="just">
                  <a:lnSpc>
                    <a:spcPct val="100000"/>
                  </a:lnSpc>
                  <a:spcBef>
                    <a:spcPts val="470"/>
                  </a:spcBef>
                  <a:buFont typeface="Wingdings"/>
                  <a:buChar char=""/>
                  <a:tabLst>
                    <a:tab pos="520065" algn="l"/>
                  </a:tabLst>
                </a:pP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The General Equation: </a:t>
                </a:r>
                <a:r>
                  <a:rPr lang="en-US" sz="2400" dirty="0">
                    <a:solidFill>
                      <a:srgbClr val="6F2F9F"/>
                    </a:solidFill>
                    <a:latin typeface="Calibri"/>
                    <a:cs typeface="Calibri"/>
                  </a:rPr>
                  <a:t>The generalized angle-modulated signal is defined as:</a:t>
                </a:r>
              </a:p>
              <a:p>
                <a:pPr marL="62865" algn="just">
                  <a:lnSpc>
                    <a:spcPct val="100000"/>
                  </a:lnSpc>
                  <a:spcBef>
                    <a:spcPts val="470"/>
                  </a:spcBef>
                  <a:tabLst>
                    <a:tab pos="52006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6F2F9F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6F2F9F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  <m:t>𝜙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6F2F9F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  <m:t>𝐸𝑀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solidFill>
                                <a:srgbClr val="6F2F9F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6F2F9F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rgbClr val="6F2F9F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rgbClr val="6F2F9F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𝐴𝑐𝑜𝑠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solidFill>
                                <a:srgbClr val="6F2F9F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6F2F9F"/>
                                  </a:solidFill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6F2F9F"/>
                                  </a:solidFill>
                                  <a:latin typeface="Cambria Math" panose="02040503050406030204" pitchFamily="18" charset="0"/>
                                  <a:cs typeface="Calibri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6F2F9F"/>
                                  </a:solidFill>
                                  <a:latin typeface="Cambria Math" panose="02040503050406030204" pitchFamily="18" charset="0"/>
                                  <a:cs typeface="Calibri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rgbClr val="6F2F9F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  <m:t>𝑡</m:t>
                          </m:r>
                          <m:r>
                            <a:rPr lang="en-US" sz="2400" b="0" i="1" smtClean="0">
                              <a:solidFill>
                                <a:srgbClr val="6F2F9F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  <m:t>+</m:t>
                          </m:r>
                          <m:r>
                            <a:rPr lang="en-US" sz="2400" b="0" i="1" smtClean="0">
                              <a:solidFill>
                                <a:srgbClr val="6F2F9F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  <m:t>𝜓</m:t>
                          </m:r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rgbClr val="6F2F9F"/>
                                  </a:solidFill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rgbClr val="6F2F9F"/>
                                  </a:solidFill>
                                  <a:latin typeface="Cambria Math" panose="02040503050406030204" pitchFamily="18" charset="0"/>
                                  <a:cs typeface="Calibri"/>
                                </a:rPr>
                                <m:t>𝑡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400" b="0" dirty="0">
                  <a:solidFill>
                    <a:srgbClr val="6F2F9F"/>
                  </a:solidFill>
                  <a:latin typeface="Calibri"/>
                  <a:cs typeface="Calibri"/>
                </a:endParaRPr>
              </a:p>
              <a:p>
                <a:pPr marL="62865" algn="just">
                  <a:lnSpc>
                    <a:spcPct val="100000"/>
                  </a:lnSpc>
                  <a:spcBef>
                    <a:spcPts val="470"/>
                  </a:spcBef>
                  <a:tabLst>
                    <a:tab pos="520065" algn="l"/>
                  </a:tabLst>
                </a:pPr>
                <a:endParaRPr lang="en-US" sz="2400" b="0" dirty="0">
                  <a:solidFill>
                    <a:srgbClr val="6F2F9F"/>
                  </a:solidFill>
                  <a:latin typeface="Calibri"/>
                  <a:cs typeface="Calibri"/>
                </a:endParaRPr>
              </a:p>
              <a:p>
                <a:pPr marL="405765" indent="-342900" algn="just">
                  <a:lnSpc>
                    <a:spcPct val="100000"/>
                  </a:lnSpc>
                  <a:spcBef>
                    <a:spcPts val="470"/>
                  </a:spcBef>
                  <a:buFont typeface="Wingdings" panose="05000000000000000000" pitchFamily="2" charset="2"/>
                  <a:buChar char="q"/>
                  <a:tabLst>
                    <a:tab pos="520065" algn="l"/>
                  </a:tabLst>
                </a:pP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Defining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𝝍</m:t>
                    </m:r>
                    <m:d>
                      <m:dPr>
                        <m:ctrlPr>
                          <a:rPr lang="en-US" sz="2400" b="1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en-US" sz="2400" b="1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𝒕</m:t>
                        </m:r>
                      </m:e>
                    </m:d>
                    <m:r>
                      <a:rPr lang="en-US" sz="2400" b="1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: </m:t>
                    </m:r>
                  </m:oMath>
                </a14:m>
                <a:r>
                  <a:rPr lang="en-US" sz="2400" dirty="0">
                    <a:solidFill>
                      <a:srgbClr val="6F2F9F"/>
                    </a:solidFill>
                    <a:latin typeface="Calibri"/>
                    <a:cs typeface="Calibri"/>
                  </a:rPr>
                  <a:t>The term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𝜓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𝑡</m:t>
                        </m:r>
                      </m:e>
                    </m:d>
                    <m:r>
                      <a:rPr lang="en-US" sz="24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rgbClr val="6F2F9F"/>
                    </a:solidFill>
                    <a:latin typeface="Calibri"/>
                    <a:cs typeface="Calibri"/>
                  </a:rPr>
                  <a:t>represents the processed message. It is obtained by convolving the message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𝑚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𝑡</m:t>
                        </m:r>
                      </m:e>
                    </m:d>
                    <m:r>
                      <a:rPr lang="en-US" sz="24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rgbClr val="6F2F9F"/>
                    </a:solidFill>
                    <a:latin typeface="Calibri"/>
                    <a:cs typeface="Calibri"/>
                  </a:rPr>
                  <a:t>with an impulse response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h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𝑡</m:t>
                        </m:r>
                      </m:e>
                    </m:d>
                    <m:r>
                      <a:rPr lang="en-US" sz="24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:</m:t>
                    </m:r>
                  </m:oMath>
                </a14:m>
                <a:endParaRPr lang="en-US" sz="2400" b="0" dirty="0">
                  <a:solidFill>
                    <a:srgbClr val="6F2F9F"/>
                  </a:solidFill>
                  <a:latin typeface="Calibri"/>
                  <a:cs typeface="Calibri"/>
                </a:endParaRPr>
              </a:p>
              <a:p>
                <a:pPr marL="62865" algn="just">
                  <a:lnSpc>
                    <a:spcPct val="100000"/>
                  </a:lnSpc>
                  <a:spcBef>
                    <a:spcPts val="470"/>
                  </a:spcBef>
                  <a:tabLst>
                    <a:tab pos="52006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6F2F9F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𝜓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6F2F9F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6F2F9F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rgbClr val="6F2F9F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=</m:t>
                      </m:r>
                      <m:nary>
                        <m:naryPr>
                          <m:ctrlPr>
                            <a:rPr lang="en-US" sz="2400" b="0" i="1" smtClean="0">
                              <a:solidFill>
                                <a:srgbClr val="6F2F9F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solidFill>
                                <a:srgbClr val="6F2F9F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  <m:t>0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6F2F9F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  <m:t>𝑡</m:t>
                          </m:r>
                        </m:sup>
                        <m:e>
                          <m:r>
                            <a:rPr lang="en-US" sz="2400" b="0" i="1" smtClean="0">
                              <a:solidFill>
                                <a:srgbClr val="6F2F9F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  <m:t>𝑚</m:t>
                          </m:r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rgbClr val="6F2F9F"/>
                                  </a:solidFill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rgbClr val="6F2F9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  <m:t>𝛼</m:t>
                              </m:r>
                            </m:e>
                          </m:d>
                          <m:r>
                            <a:rPr lang="en-US" sz="2400" b="0" i="1" smtClean="0">
                              <a:solidFill>
                                <a:srgbClr val="6F2F9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h</m:t>
                          </m:r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rgbClr val="6F2F9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rgbClr val="6F2F9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  <m:t>𝑡</m:t>
                              </m:r>
                              <m:r>
                                <a:rPr lang="en-US" sz="2400" b="0" i="1" smtClean="0">
                                  <a:solidFill>
                                    <a:srgbClr val="6F2F9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solidFill>
                                    <a:srgbClr val="6F2F9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  <m:t>𝛼</m:t>
                              </m:r>
                            </m:e>
                          </m:d>
                          <m:r>
                            <a:rPr lang="en-US" sz="2400" b="0" i="1" smtClean="0">
                              <a:solidFill>
                                <a:srgbClr val="6F2F9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𝑑</m:t>
                          </m:r>
                          <m:r>
                            <a:rPr lang="en-US" sz="2400" b="0" i="1" smtClean="0">
                              <a:solidFill>
                                <a:srgbClr val="6F2F9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𝛼</m:t>
                          </m:r>
                        </m:e>
                      </m:nary>
                    </m:oMath>
                  </m:oMathPara>
                </a14:m>
                <a:endParaRPr lang="en-US" sz="2400" dirty="0">
                  <a:latin typeface="Calibri"/>
                  <a:cs typeface="Calibri"/>
                </a:endParaRPr>
              </a:p>
              <a:p>
                <a:pPr marL="405765" indent="-342900" algn="just">
                  <a:lnSpc>
                    <a:spcPct val="100000"/>
                  </a:lnSpc>
                  <a:spcBef>
                    <a:spcPts val="470"/>
                  </a:spcBef>
                  <a:buFont typeface="Wingdings" panose="05000000000000000000" pitchFamily="2" charset="2"/>
                  <a:buChar char="q"/>
                  <a:tabLst>
                    <a:tab pos="520065" algn="l"/>
                  </a:tabLst>
                </a:pPr>
                <a:endParaRPr lang="en-US" sz="2400" b="1" dirty="0">
                  <a:solidFill>
                    <a:srgbClr val="6F2F9F"/>
                  </a:solidFill>
                  <a:latin typeface="Calibri"/>
                  <a:cs typeface="Calibri"/>
                </a:endParaRPr>
              </a:p>
              <a:p>
                <a:pPr marL="405765" indent="-342900" algn="just">
                  <a:lnSpc>
                    <a:spcPct val="100000"/>
                  </a:lnSpc>
                  <a:spcBef>
                    <a:spcPts val="470"/>
                  </a:spcBef>
                  <a:buFont typeface="Wingdings" panose="05000000000000000000" pitchFamily="2" charset="2"/>
                  <a:buChar char="q"/>
                  <a:tabLst>
                    <a:tab pos="520065" algn="l"/>
                  </a:tabLst>
                </a:pP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Interpretation: </a:t>
                </a:r>
                <a:r>
                  <a:rPr lang="en-US" sz="2400" dirty="0">
                    <a:solidFill>
                      <a:srgbClr val="6F2F9F"/>
                    </a:solidFill>
                    <a:latin typeface="Calibri"/>
                    <a:cs typeface="Calibri"/>
                  </a:rPr>
                  <a:t>This integral means that the phase of the carrier is being altered by a "filtered" version of the original message, rather than just the raw message itself.</a:t>
                </a:r>
                <a:endParaRPr lang="en-US" sz="24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685800"/>
                <a:ext cx="11658600" cy="4128374"/>
              </a:xfrm>
              <a:prstGeom prst="rect">
                <a:avLst/>
              </a:prstGeom>
              <a:blipFill>
                <a:blip r:embed="rId2"/>
                <a:stretch>
                  <a:fillRect l="-994" t="-148" r="-1621" b="-3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496310B7-3DB2-451F-95D5-CC5A97F5F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0" y="5756267"/>
            <a:ext cx="7148179" cy="10135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1FA5CB5-6B2F-4574-897C-69D77D047066}"/>
              </a:ext>
            </a:extLst>
          </p:cNvPr>
          <p:cNvSpPr txBox="1"/>
          <p:nvPr/>
        </p:nvSpPr>
        <p:spPr>
          <a:xfrm>
            <a:off x="3604975" y="4957049"/>
            <a:ext cx="11464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+mn-lt"/>
              </a:rPr>
              <a:t>Invertible</a:t>
            </a:r>
          </a:p>
          <a:p>
            <a:pPr algn="ctr"/>
            <a:r>
              <a:rPr lang="en-US" b="1" dirty="0">
                <a:latin typeface="+mn-lt"/>
              </a:rPr>
              <a:t>LTI System</a:t>
            </a:r>
          </a:p>
        </p:txBody>
      </p:sp>
    </p:spTree>
    <p:extLst>
      <p:ext uri="{BB962C8B-B14F-4D97-AF65-F5344CB8AC3E}">
        <p14:creationId xmlns:p14="http://schemas.microsoft.com/office/powerpoint/2010/main" val="7862459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27492"/>
            <a:ext cx="1219200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3200" spc="-55" dirty="0">
                <a:solidFill>
                  <a:srgbClr val="006600"/>
                </a:solidFill>
                <a:latin typeface="Trebuchet MS"/>
                <a:cs typeface="Trebuchet MS"/>
              </a:rPr>
              <a:t>Generalized Angle Modulation: System Architecture</a:t>
            </a:r>
            <a:endParaRPr sz="3200" dirty="0">
              <a:latin typeface="Trebuchet MS"/>
              <a:cs typeface="Trebuchet M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/>
              <p:cNvSpPr txBox="1"/>
              <p:nvPr/>
            </p:nvSpPr>
            <p:spPr>
              <a:xfrm>
                <a:off x="228600" y="649814"/>
                <a:ext cx="11658600" cy="5934510"/>
              </a:xfrm>
              <a:prstGeom prst="rect">
                <a:avLst/>
              </a:prstGeom>
            </p:spPr>
            <p:txBody>
              <a:bodyPr vert="horz" wrap="square" lIns="0" tIns="92710" rIns="0" bIns="0" rtlCol="0">
                <a:spAutoFit/>
              </a:bodyPr>
              <a:lstStyle/>
              <a:p>
                <a:pPr marL="62865" algn="just">
                  <a:lnSpc>
                    <a:spcPct val="100000"/>
                  </a:lnSpc>
                  <a:spcBef>
                    <a:spcPts val="470"/>
                  </a:spcBef>
                  <a:tabLst>
                    <a:tab pos="520065" algn="l"/>
                  </a:tabLst>
                </a:pPr>
                <a:r>
                  <a:rPr lang="en-US" sz="22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The Modulation Process (Transmitter)</a:t>
                </a:r>
              </a:p>
              <a:p>
                <a:pPr marL="520065" indent="-457200" algn="just">
                  <a:lnSpc>
                    <a:spcPct val="100000"/>
                  </a:lnSpc>
                  <a:spcBef>
                    <a:spcPts val="470"/>
                  </a:spcBef>
                  <a:buFont typeface="Wingdings"/>
                  <a:buChar char=""/>
                  <a:tabLst>
                    <a:tab pos="520065" algn="l"/>
                  </a:tabLst>
                </a:pPr>
                <a:r>
                  <a:rPr lang="en-US" sz="22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Input Signal: </a:t>
                </a:r>
                <a:r>
                  <a:rPr lang="en-US" sz="2200" dirty="0">
                    <a:solidFill>
                      <a:srgbClr val="6F2F9F"/>
                    </a:solidFill>
                    <a:latin typeface="Calibri"/>
                    <a:cs typeface="Calibri"/>
                  </a:rPr>
                  <a:t>The process starts with the original message signal,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𝑚</m:t>
                    </m:r>
                    <m:d>
                      <m:dPr>
                        <m:ctrlPr>
                          <a:rPr lang="en-US" sz="22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en-US" sz="22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2200" dirty="0">
                    <a:solidFill>
                      <a:srgbClr val="6F2F9F"/>
                    </a:solidFill>
                    <a:latin typeface="Calibri"/>
                    <a:cs typeface="Calibri"/>
                  </a:rPr>
                  <a:t>.</a:t>
                </a:r>
              </a:p>
              <a:p>
                <a:pPr marL="520065" indent="-457200" algn="just">
                  <a:lnSpc>
                    <a:spcPct val="100000"/>
                  </a:lnSpc>
                  <a:spcBef>
                    <a:spcPts val="470"/>
                  </a:spcBef>
                  <a:buFont typeface="Wingdings"/>
                  <a:buChar char=""/>
                  <a:tabLst>
                    <a:tab pos="520065" algn="l"/>
                  </a:tabLst>
                </a:pPr>
                <a:r>
                  <a:rPr lang="en-US" sz="2200" dirty="0">
                    <a:solidFill>
                      <a:srgbClr val="6F2F9F"/>
                    </a:solidFill>
                    <a:latin typeface="Calibri"/>
                    <a:cs typeface="Calibri"/>
                  </a:rPr>
                  <a:t>The Pre-processor (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𝐻</m:t>
                    </m:r>
                    <m:r>
                      <a:rPr lang="en-US" sz="22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(</m:t>
                    </m:r>
                    <m:r>
                      <a:rPr lang="en-US" sz="22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𝑠</m:t>
                    </m:r>
                    <m:r>
                      <a:rPr lang="en-US" sz="22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)</m:t>
                    </m:r>
                  </m:oMath>
                </a14:m>
                <a:r>
                  <a:rPr lang="en-US" sz="2200" dirty="0">
                    <a:solidFill>
                      <a:srgbClr val="6F2F9F"/>
                    </a:solidFill>
                    <a:latin typeface="Calibri"/>
                    <a:cs typeface="Calibri"/>
                  </a:rPr>
                  <a:t>): The signal passes through a linear, time-invariant system with transfer function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𝐻</m:t>
                    </m:r>
                    <m:r>
                      <a:rPr lang="en-US" sz="22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(</m:t>
                    </m:r>
                    <m:r>
                      <a:rPr lang="en-US" sz="22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𝑠</m:t>
                    </m:r>
                    <m:r>
                      <a:rPr lang="en-US" sz="22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)</m:t>
                    </m:r>
                  </m:oMath>
                </a14:m>
                <a:r>
                  <a:rPr lang="en-US" sz="2200" dirty="0">
                    <a:solidFill>
                      <a:srgbClr val="6F2F9F"/>
                    </a:solidFill>
                    <a:latin typeface="Calibri"/>
                    <a:cs typeface="Calibri"/>
                  </a:rPr>
                  <a:t>. This block transforms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𝑚</m:t>
                    </m:r>
                    <m:d>
                      <m:dPr>
                        <m:ctrlPr>
                          <a:rPr lang="en-US" sz="22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en-US" sz="22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2200" dirty="0">
                    <a:solidFill>
                      <a:srgbClr val="6F2F9F"/>
                    </a:solidFill>
                    <a:latin typeface="Calibri"/>
                    <a:cs typeface="Calibri"/>
                  </a:rPr>
                  <a:t> into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𝜓</m:t>
                    </m:r>
                    <m:d>
                      <m:dPr>
                        <m:ctrlPr>
                          <a:rPr lang="en-US" sz="22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en-US" sz="22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2200" dirty="0">
                    <a:solidFill>
                      <a:srgbClr val="6F2F9F"/>
                    </a:solidFill>
                    <a:latin typeface="Calibri"/>
                    <a:cs typeface="Calibri"/>
                  </a:rPr>
                  <a:t>.</a:t>
                </a:r>
              </a:p>
              <a:p>
                <a:pPr marL="520065" indent="-457200" algn="just">
                  <a:lnSpc>
                    <a:spcPct val="100000"/>
                  </a:lnSpc>
                  <a:spcBef>
                    <a:spcPts val="470"/>
                  </a:spcBef>
                  <a:buFont typeface="Wingdings"/>
                  <a:buChar char=""/>
                  <a:tabLst>
                    <a:tab pos="520065" algn="l"/>
                  </a:tabLst>
                </a:pPr>
                <a:r>
                  <a:rPr lang="en-US" sz="2200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2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The Modulator</a:t>
                </a:r>
                <a:r>
                  <a:rPr lang="en-US" sz="2200" dirty="0">
                    <a:solidFill>
                      <a:srgbClr val="6F2F9F"/>
                    </a:solidFill>
                    <a:latin typeface="Calibri"/>
                    <a:cs typeface="Calibri"/>
                  </a:rPr>
                  <a:t>: The processed signal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𝜓</m:t>
                    </m:r>
                    <m:d>
                      <m:dPr>
                        <m:ctrlPr>
                          <a:rPr lang="en-US" sz="22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en-US" sz="22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𝑡</m:t>
                        </m:r>
                      </m:e>
                    </m:d>
                    <m:r>
                      <a:rPr lang="en-US" sz="22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 </m:t>
                    </m:r>
                  </m:oMath>
                </a14:m>
                <a:r>
                  <a:rPr lang="en-US" sz="2200" dirty="0">
                    <a:solidFill>
                      <a:srgbClr val="6F2F9F"/>
                    </a:solidFill>
                    <a:latin typeface="Calibri"/>
                    <a:cs typeface="Calibri"/>
                  </a:rPr>
                  <a:t> is then used to modulate the angle of the carrier, producing the output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𝜙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𝐸𝑀</m:t>
                        </m:r>
                      </m:sub>
                    </m:sSub>
                    <m:d>
                      <m:dPr>
                        <m:ctrlPr>
                          <a:rPr lang="en-US" sz="22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en-US" sz="22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2200" dirty="0">
                    <a:solidFill>
                      <a:srgbClr val="6F2F9F"/>
                    </a:solidFill>
                    <a:latin typeface="Calibri"/>
                    <a:cs typeface="Calibri"/>
                  </a:rPr>
                  <a:t>.</a:t>
                </a:r>
              </a:p>
              <a:p>
                <a:pPr marL="520065" indent="-457200" algn="just">
                  <a:lnSpc>
                    <a:spcPct val="100000"/>
                  </a:lnSpc>
                  <a:spcBef>
                    <a:spcPts val="470"/>
                  </a:spcBef>
                  <a:buFont typeface="Wingdings"/>
                  <a:buChar char=""/>
                  <a:tabLst>
                    <a:tab pos="520065" algn="l"/>
                  </a:tabLst>
                </a:pPr>
                <a:endParaRPr lang="en-US" sz="2200" dirty="0">
                  <a:solidFill>
                    <a:srgbClr val="6F2F9F"/>
                  </a:solidFill>
                  <a:latin typeface="Calibri"/>
                  <a:cs typeface="Calibri"/>
                </a:endParaRPr>
              </a:p>
              <a:p>
                <a:pPr marL="62865" algn="just">
                  <a:lnSpc>
                    <a:spcPct val="100000"/>
                  </a:lnSpc>
                  <a:spcBef>
                    <a:spcPts val="470"/>
                  </a:spcBef>
                  <a:tabLst>
                    <a:tab pos="520065" algn="l"/>
                  </a:tabLst>
                </a:pPr>
                <a:r>
                  <a:rPr lang="en-US" sz="22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The Demodulation Process (Receiver) </a:t>
                </a:r>
              </a:p>
              <a:p>
                <a:pPr marL="520065" indent="-457200" algn="just">
                  <a:lnSpc>
                    <a:spcPct val="100000"/>
                  </a:lnSpc>
                  <a:spcBef>
                    <a:spcPts val="470"/>
                  </a:spcBef>
                  <a:buFont typeface="Wingdings"/>
                  <a:buChar char=""/>
                  <a:tabLst>
                    <a:tab pos="520065" algn="l"/>
                  </a:tabLst>
                </a:pPr>
                <a:r>
                  <a:rPr lang="en-US" sz="22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Recovery Requirement: </a:t>
                </a:r>
                <a:r>
                  <a:rPr lang="en-US" sz="2200" dirty="0">
                    <a:solidFill>
                      <a:srgbClr val="6F2F9F"/>
                    </a:solidFill>
                    <a:latin typeface="Calibri"/>
                    <a:cs typeface="Calibri"/>
                  </a:rPr>
                  <a:t>To get the original message back, we must reverse the processing done at the transmitter.</a:t>
                </a:r>
              </a:p>
              <a:p>
                <a:pPr marL="520065" indent="-457200" algn="just">
                  <a:lnSpc>
                    <a:spcPct val="100000"/>
                  </a:lnSpc>
                  <a:spcBef>
                    <a:spcPts val="470"/>
                  </a:spcBef>
                  <a:buFont typeface="Wingdings"/>
                  <a:buChar char=""/>
                  <a:tabLst>
                    <a:tab pos="520065" algn="l"/>
                  </a:tabLst>
                </a:pPr>
                <a:r>
                  <a:rPr lang="en-US" sz="22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The Inverse System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b="1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fPr>
                      <m:num>
                        <m:r>
                          <a:rPr lang="en-US" sz="2200" b="1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𝟏</m:t>
                        </m:r>
                      </m:num>
                      <m:den>
                        <m:r>
                          <a:rPr lang="en-US" sz="2200" b="1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𝑯</m:t>
                        </m:r>
                        <m:d>
                          <m:dPr>
                            <m:ctrlPr>
                              <a:rPr lang="en-US" sz="2200" b="1" i="1" smtClean="0">
                                <a:solidFill>
                                  <a:srgbClr val="6F2F9F"/>
                                </a:solidFill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dPr>
                          <m:e>
                            <m:r>
                              <a:rPr lang="en-US" sz="2200" b="1" i="1" smtClean="0">
                                <a:solidFill>
                                  <a:srgbClr val="6F2F9F"/>
                                </a:solidFill>
                                <a:latin typeface="Cambria Math" panose="02040503050406030204" pitchFamily="18" charset="0"/>
                                <a:cs typeface="Calibri"/>
                              </a:rPr>
                              <m:t>𝒔</m:t>
                            </m:r>
                          </m:e>
                        </m:d>
                      </m:den>
                    </m:f>
                  </m:oMath>
                </a14:m>
                <a:r>
                  <a:rPr lang="en-US" sz="22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)</a:t>
                </a:r>
                <a:r>
                  <a:rPr lang="en-US" sz="2200" dirty="0">
                    <a:solidFill>
                      <a:srgbClr val="6F2F9F"/>
                    </a:solidFill>
                    <a:latin typeface="Calibri"/>
                    <a:cs typeface="Calibri"/>
                  </a:rPr>
                  <a:t>: The received signal (or the recovered phase) is passed through a system with the inverse transfer function,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200" b="0" i="1" smtClean="0">
                                <a:solidFill>
                                  <a:srgbClr val="6F2F9F"/>
                                </a:solidFill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dPr>
                          <m:e>
                            <m:r>
                              <a:rPr lang="en-US" sz="2200" b="0" i="1" smtClean="0">
                                <a:solidFill>
                                  <a:srgbClr val="6F2F9F"/>
                                </a:solidFill>
                                <a:latin typeface="Cambria Math" panose="02040503050406030204" pitchFamily="18" charset="0"/>
                                <a:cs typeface="Calibri"/>
                              </a:rPr>
                              <m:t>𝐻</m:t>
                            </m:r>
                            <m:d>
                              <m:dPr>
                                <m:ctrlPr>
                                  <a:rPr lang="en-US" sz="2200" b="0" i="1" smtClean="0">
                                    <a:solidFill>
                                      <a:srgbClr val="6F2F9F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</a:rPr>
                                </m:ctrlPr>
                              </m:dPr>
                              <m:e>
                                <m:r>
                                  <a:rPr lang="en-US" sz="2200" b="0" i="1" smtClean="0">
                                    <a:solidFill>
                                      <a:srgbClr val="6F2F9F"/>
                                    </a:solidFill>
                                    <a:latin typeface="Cambria Math" panose="02040503050406030204" pitchFamily="18" charset="0"/>
                                    <a:cs typeface="Calibri"/>
                                  </a:rPr>
                                  <m:t>𝑠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sz="22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200" dirty="0">
                    <a:solidFill>
                      <a:srgbClr val="6F2F9F"/>
                    </a:solidFill>
                    <a:latin typeface="Calibri"/>
                    <a:cs typeface="Calibri"/>
                  </a:rPr>
                  <a:t>.</a:t>
                </a:r>
              </a:p>
              <a:p>
                <a:pPr marL="520065" indent="-457200" algn="just">
                  <a:lnSpc>
                    <a:spcPct val="100000"/>
                  </a:lnSpc>
                  <a:spcBef>
                    <a:spcPts val="470"/>
                  </a:spcBef>
                  <a:buFont typeface="Wingdings"/>
                  <a:buChar char=""/>
                  <a:tabLst>
                    <a:tab pos="520065" algn="l"/>
                  </a:tabLst>
                </a:pPr>
                <a:r>
                  <a:rPr lang="en-US" sz="22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Output</a:t>
                </a:r>
                <a:r>
                  <a:rPr lang="en-US" sz="2200" dirty="0">
                    <a:solidFill>
                      <a:srgbClr val="6F2F9F"/>
                    </a:solidFill>
                    <a:latin typeface="Calibri"/>
                    <a:cs typeface="Calibri"/>
                  </a:rPr>
                  <a:t>: This successfully recovers the original message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𝑚</m:t>
                    </m:r>
                    <m:d>
                      <m:dPr>
                        <m:ctrlPr>
                          <a:rPr lang="en-US" sz="22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en-US" sz="22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2200" dirty="0">
                    <a:solidFill>
                      <a:srgbClr val="6F2F9F"/>
                    </a:solidFill>
                    <a:latin typeface="Calibri"/>
                    <a:cs typeface="Calibri"/>
                  </a:rPr>
                  <a:t>.</a:t>
                </a:r>
              </a:p>
              <a:p>
                <a:pPr marL="520065" indent="-457200" algn="just">
                  <a:lnSpc>
                    <a:spcPct val="100000"/>
                  </a:lnSpc>
                  <a:spcBef>
                    <a:spcPts val="470"/>
                  </a:spcBef>
                  <a:buFont typeface="Wingdings"/>
                  <a:buChar char=""/>
                  <a:tabLst>
                    <a:tab pos="520065" algn="l"/>
                  </a:tabLst>
                </a:pPr>
                <a:r>
                  <a:rPr lang="en-US" sz="22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Crucial Constraint</a:t>
                </a:r>
                <a:r>
                  <a:rPr lang="en-US" sz="2200" dirty="0">
                    <a:solidFill>
                      <a:srgbClr val="6F2F9F"/>
                    </a:solidFill>
                    <a:latin typeface="Calibri"/>
                    <a:cs typeface="Calibri"/>
                  </a:rPr>
                  <a:t>: This recovery is only possible if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𝐻</m:t>
                    </m:r>
                    <m:r>
                      <a:rPr lang="en-US" sz="22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(</m:t>
                    </m:r>
                    <m:r>
                      <a:rPr lang="en-US" sz="22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𝑠</m:t>
                    </m:r>
                    <m:r>
                      <a:rPr lang="en-US" sz="22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)</m:t>
                    </m:r>
                  </m:oMath>
                </a14:m>
                <a:r>
                  <a:rPr lang="en-US" sz="2200" dirty="0">
                    <a:solidFill>
                      <a:srgbClr val="6F2F9F"/>
                    </a:solidFill>
                    <a:latin typeface="Calibri"/>
                    <a:cs typeface="Calibri"/>
                  </a:rPr>
                  <a:t> is an </a:t>
                </a:r>
                <a:r>
                  <a:rPr lang="en-US" sz="22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invertible</a:t>
                </a:r>
                <a:r>
                  <a:rPr lang="en-US" sz="2200" dirty="0">
                    <a:solidFill>
                      <a:srgbClr val="6F2F9F"/>
                    </a:solidFill>
                    <a:latin typeface="Calibri"/>
                    <a:cs typeface="Calibri"/>
                  </a:rPr>
                  <a:t> operation (meaning no information was lost during the initial processing).</a:t>
                </a:r>
              </a:p>
            </p:txBody>
          </p:sp>
        </mc:Choice>
        <mc:Fallback xmlns=""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649814"/>
                <a:ext cx="11658600" cy="5934510"/>
              </a:xfrm>
              <a:prstGeom prst="rect">
                <a:avLst/>
              </a:prstGeom>
              <a:blipFill>
                <a:blip r:embed="rId2"/>
                <a:stretch>
                  <a:fillRect l="-941" r="-1464" b="-1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21523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27492"/>
            <a:ext cx="1219200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3200" spc="-55" dirty="0">
                <a:solidFill>
                  <a:srgbClr val="006600"/>
                </a:solidFill>
                <a:latin typeface="Trebuchet MS"/>
                <a:cs typeface="Trebuchet MS"/>
              </a:rPr>
              <a:t>Generalized Angle Modulation: FM and PM as Special Cases</a:t>
            </a:r>
            <a:endParaRPr sz="3200" dirty="0">
              <a:latin typeface="Trebuchet MS"/>
              <a:cs typeface="Trebuchet M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/>
              <p:cNvSpPr txBox="1"/>
              <p:nvPr/>
            </p:nvSpPr>
            <p:spPr>
              <a:xfrm>
                <a:off x="228600" y="2209800"/>
                <a:ext cx="11658600" cy="4764894"/>
              </a:xfrm>
              <a:prstGeom prst="rect">
                <a:avLst/>
              </a:prstGeom>
            </p:spPr>
            <p:txBody>
              <a:bodyPr vert="horz" wrap="square" lIns="0" tIns="92710" rIns="0" bIns="0" rtlCol="0">
                <a:spAutoFit/>
              </a:bodyPr>
              <a:lstStyle/>
              <a:p>
                <a:pPr marL="520065" indent="-457200" algn="just">
                  <a:lnSpc>
                    <a:spcPct val="100000"/>
                  </a:lnSpc>
                  <a:spcBef>
                    <a:spcPts val="470"/>
                  </a:spcBef>
                  <a:buFont typeface="Wingdings"/>
                  <a:buChar char=""/>
                  <a:tabLst>
                    <a:tab pos="520065" algn="l"/>
                  </a:tabLst>
                </a:pP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Phase Modulation (PM): </a:t>
                </a:r>
                <a:r>
                  <a:rPr lang="en-US" sz="2400" dirty="0">
                    <a:solidFill>
                      <a:srgbClr val="6F2F9F"/>
                    </a:solidFill>
                    <a:latin typeface="Calibri"/>
                    <a:cs typeface="Calibri"/>
                  </a:rPr>
                  <a:t>This is just a special case where the filter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𝐻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rgbClr val="6F2F9F"/>
                    </a:solidFill>
                    <a:latin typeface="Calibri"/>
                    <a:cs typeface="Calibri"/>
                  </a:rPr>
                  <a:t> acts as a simple scaler.</a:t>
                </a:r>
              </a:p>
              <a:p>
                <a:pPr marL="62865" algn="ctr">
                  <a:lnSpc>
                    <a:spcPct val="100000"/>
                  </a:lnSpc>
                  <a:spcBef>
                    <a:spcPts val="470"/>
                  </a:spcBef>
                  <a:tabLst>
                    <a:tab pos="520065" algn="l"/>
                  </a:tabLst>
                </a:pP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Impulse Response: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h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𝑡</m:t>
                        </m:r>
                      </m:e>
                    </m:d>
                    <m:r>
                      <a:rPr lang="en-US" sz="24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𝑘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𝑝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𝛿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𝑡</m:t>
                        </m:r>
                      </m:e>
                    </m:d>
                  </m:oMath>
                </a14:m>
                <a:endParaRPr lang="en-US" sz="2400" b="0" dirty="0">
                  <a:solidFill>
                    <a:srgbClr val="6F2F9F"/>
                  </a:solidFill>
                  <a:latin typeface="Calibri"/>
                  <a:cs typeface="Calibri"/>
                </a:endParaRPr>
              </a:p>
              <a:p>
                <a:pPr marL="62865" algn="ctr">
                  <a:lnSpc>
                    <a:spcPct val="100000"/>
                  </a:lnSpc>
                  <a:spcBef>
                    <a:spcPts val="470"/>
                  </a:spcBef>
                  <a:tabLst>
                    <a:tab pos="520065" algn="l"/>
                  </a:tabLst>
                </a:pP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Transfer function: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𝐻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𝑠</m:t>
                        </m:r>
                      </m:e>
                    </m:d>
                    <m:r>
                      <a:rPr lang="en-US" sz="24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𝑘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𝑝</m:t>
                        </m:r>
                      </m:sub>
                    </m:sSub>
                  </m:oMath>
                </a14:m>
                <a:endParaRPr lang="en-US" sz="2400" b="1" dirty="0">
                  <a:solidFill>
                    <a:srgbClr val="6F2F9F"/>
                  </a:solidFill>
                  <a:latin typeface="Calibri"/>
                  <a:cs typeface="Calibri"/>
                </a:endParaRPr>
              </a:p>
              <a:p>
                <a:pPr marL="62865" algn="ctr">
                  <a:lnSpc>
                    <a:spcPct val="100000"/>
                  </a:lnSpc>
                  <a:spcBef>
                    <a:spcPts val="470"/>
                  </a:spcBef>
                  <a:tabLst>
                    <a:tab pos="520065" algn="l"/>
                  </a:tabLst>
                </a:pP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Effect: </a:t>
                </a:r>
                <a:r>
                  <a:rPr lang="en-US" sz="2400" dirty="0">
                    <a:solidFill>
                      <a:srgbClr val="6F2F9F"/>
                    </a:solidFill>
                    <a:latin typeface="Calibri"/>
                    <a:cs typeface="Calibri"/>
                  </a:rPr>
                  <a:t>The phase is directly proportional 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𝑚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𝑡</m:t>
                        </m:r>
                      </m:e>
                    </m:d>
                    <m:r>
                      <a:rPr lang="en-US" sz="2400" b="0" i="0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⇒</m:t>
                    </m:r>
                    <m:r>
                      <a:rPr lang="en-US" sz="24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𝜓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𝑡</m:t>
                        </m:r>
                      </m:e>
                    </m:d>
                    <m:r>
                      <a:rPr lang="en-US" sz="24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𝑘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𝑝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𝑚</m:t>
                    </m:r>
                    <m:r>
                      <a:rPr lang="en-US" sz="24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(</m:t>
                    </m:r>
                    <m:r>
                      <a:rPr lang="en-US" sz="24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𝑡</m:t>
                    </m:r>
                    <m:r>
                      <a:rPr lang="en-US" sz="24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)</m:t>
                    </m:r>
                  </m:oMath>
                </a14:m>
                <a:endParaRPr lang="en-US" sz="2400" dirty="0">
                  <a:solidFill>
                    <a:srgbClr val="6F2F9F"/>
                  </a:solidFill>
                  <a:latin typeface="Calibri"/>
                  <a:cs typeface="Calibri"/>
                </a:endParaRPr>
              </a:p>
              <a:p>
                <a:pPr marL="62865" algn="just">
                  <a:lnSpc>
                    <a:spcPct val="100000"/>
                  </a:lnSpc>
                  <a:spcBef>
                    <a:spcPts val="470"/>
                  </a:spcBef>
                  <a:tabLst>
                    <a:tab pos="520065" algn="l"/>
                  </a:tabLst>
                </a:pPr>
                <a:endParaRPr lang="en-US" sz="2400" b="1" dirty="0">
                  <a:solidFill>
                    <a:srgbClr val="6F2F9F"/>
                  </a:solidFill>
                  <a:latin typeface="Calibri"/>
                  <a:cs typeface="Calibri"/>
                </a:endParaRPr>
              </a:p>
              <a:p>
                <a:pPr marL="405765" indent="-342900" algn="just">
                  <a:lnSpc>
                    <a:spcPct val="100000"/>
                  </a:lnSpc>
                  <a:spcBef>
                    <a:spcPts val="470"/>
                  </a:spcBef>
                  <a:buFont typeface="Wingdings" panose="05000000000000000000" pitchFamily="2" charset="2"/>
                  <a:buChar char="q"/>
                  <a:tabLst>
                    <a:tab pos="520065" algn="l"/>
                  </a:tabLst>
                </a:pP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Frequency Modulation (FM): </a:t>
                </a:r>
                <a:r>
                  <a:rPr lang="en-US" sz="2400" dirty="0">
                    <a:solidFill>
                      <a:srgbClr val="6F2F9F"/>
                    </a:solidFill>
                    <a:latin typeface="Calibri"/>
                    <a:cs typeface="Calibri"/>
                  </a:rPr>
                  <a:t>This is a special case where the filter acts as an integrator.</a:t>
                </a:r>
              </a:p>
              <a:p>
                <a:pPr marL="62865" algn="ctr">
                  <a:lnSpc>
                    <a:spcPct val="100000"/>
                  </a:lnSpc>
                  <a:spcBef>
                    <a:spcPts val="470"/>
                  </a:spcBef>
                  <a:tabLst>
                    <a:tab pos="520065" algn="l"/>
                  </a:tabLst>
                </a:pP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Impulse Response: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h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𝑡</m:t>
                        </m:r>
                      </m:e>
                    </m:d>
                    <m:r>
                      <a:rPr lang="en-US" sz="24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𝑘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𝑓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𝑢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𝑡</m:t>
                        </m:r>
                      </m:e>
                    </m:d>
                    <m:r>
                      <a:rPr lang="en-US" sz="24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 </m:t>
                    </m:r>
                  </m:oMath>
                </a14:m>
                <a:endParaRPr lang="en-US" sz="2400" b="0" dirty="0">
                  <a:solidFill>
                    <a:srgbClr val="6F2F9F"/>
                  </a:solidFill>
                  <a:latin typeface="Calibri"/>
                  <a:cs typeface="Calibri"/>
                </a:endParaRPr>
              </a:p>
              <a:p>
                <a:pPr marL="62865" algn="ctr">
                  <a:lnSpc>
                    <a:spcPct val="100000"/>
                  </a:lnSpc>
                  <a:spcBef>
                    <a:spcPts val="470"/>
                  </a:spcBef>
                  <a:tabLst>
                    <a:tab pos="520065" algn="l"/>
                  </a:tabLst>
                </a:pP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Transfer function: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𝐻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𝑠</m:t>
                        </m:r>
                      </m:e>
                    </m:d>
                    <m:r>
                      <a:rPr lang="en-US" sz="24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6F2F9F"/>
                                </a:solidFill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6F2F9F"/>
                                </a:solidFill>
                                <a:latin typeface="Cambria Math" panose="02040503050406030204" pitchFamily="18" charset="0"/>
                                <a:cs typeface="Calibri"/>
                              </a:rPr>
                              <m:t>𝑘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6F2F9F"/>
                                </a:solidFill>
                                <a:latin typeface="Cambria Math" panose="02040503050406030204" pitchFamily="18" charset="0"/>
                                <a:cs typeface="Calibri"/>
                              </a:rPr>
                              <m:t>𝑓</m:t>
                            </m:r>
                          </m:sub>
                        </m:sSub>
                      </m:num>
                      <m:den>
                        <m: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𝑠</m:t>
                        </m:r>
                      </m:den>
                    </m:f>
                  </m:oMath>
                </a14:m>
                <a:endParaRPr lang="en-US" sz="2400" b="1" dirty="0">
                  <a:solidFill>
                    <a:srgbClr val="6F2F9F"/>
                  </a:solidFill>
                  <a:latin typeface="Calibri"/>
                  <a:cs typeface="Calibri"/>
                </a:endParaRPr>
              </a:p>
              <a:p>
                <a:pPr marL="62865" algn="ctr">
                  <a:lnSpc>
                    <a:spcPct val="100000"/>
                  </a:lnSpc>
                  <a:spcBef>
                    <a:spcPts val="470"/>
                  </a:spcBef>
                  <a:tabLst>
                    <a:tab pos="520065" algn="l"/>
                  </a:tabLst>
                </a:pP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Effect: </a:t>
                </a:r>
                <a:r>
                  <a:rPr lang="en-US" sz="2400" dirty="0">
                    <a:solidFill>
                      <a:srgbClr val="6F2F9F"/>
                    </a:solidFill>
                    <a:latin typeface="Calibri"/>
                    <a:cs typeface="Calibri"/>
                  </a:rPr>
                  <a:t>The phase is proportional to the integral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𝑚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𝑡</m:t>
                        </m:r>
                      </m:e>
                    </m:d>
                    <m:r>
                      <a:rPr lang="en-US" sz="24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⇒</m:t>
                    </m:r>
                    <m:r>
                      <a:rPr lang="en-US" sz="24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𝜓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𝑡</m:t>
                        </m:r>
                      </m:e>
                    </m:d>
                    <m:r>
                      <a:rPr lang="en-US" sz="2400" b="0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𝑘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𝑓</m:t>
                        </m:r>
                      </m:sub>
                    </m:sSub>
                    <m:nary>
                      <m:naryPr>
                        <m:ctrlP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0</m:t>
                        </m:r>
                      </m:sub>
                      <m:sup>
                        <m: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𝑡</m:t>
                        </m:r>
                      </m:sup>
                      <m:e>
                        <m: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𝑚</m:t>
                        </m:r>
                        <m:d>
                          <m:dPr>
                            <m:ctrlPr>
                              <a:rPr lang="en-US" sz="2400" b="0" i="1" smtClean="0">
                                <a:solidFill>
                                  <a:srgbClr val="6F2F9F"/>
                                </a:solidFill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rgbClr val="6F2F9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  <m:t>𝛼</m:t>
                            </m:r>
                          </m:e>
                        </m:d>
                        <m: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  <m:t>𝑑</m:t>
                        </m:r>
                        <m:r>
                          <a:rPr lang="en-US" sz="2400" b="0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  <m:t>𝛼</m:t>
                        </m:r>
                      </m:e>
                    </m:nary>
                  </m:oMath>
                </a14:m>
                <a:endParaRPr lang="en-US" sz="24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2209800"/>
                <a:ext cx="11658600" cy="4764894"/>
              </a:xfrm>
              <a:prstGeom prst="rect">
                <a:avLst/>
              </a:prstGeom>
              <a:blipFill>
                <a:blip r:embed="rId2"/>
                <a:stretch>
                  <a:fillRect l="-994" t="-128" r="-1621" b="-1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496310B7-3DB2-451F-95D5-CC5A97F5F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0" y="1332618"/>
            <a:ext cx="7148179" cy="10135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1FA5CB5-6B2F-4574-897C-69D77D047066}"/>
              </a:ext>
            </a:extLst>
          </p:cNvPr>
          <p:cNvSpPr txBox="1"/>
          <p:nvPr/>
        </p:nvSpPr>
        <p:spPr>
          <a:xfrm>
            <a:off x="3604975" y="533400"/>
            <a:ext cx="11464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+mn-lt"/>
              </a:rPr>
              <a:t>Invertible</a:t>
            </a:r>
          </a:p>
          <a:p>
            <a:pPr algn="ctr"/>
            <a:r>
              <a:rPr lang="en-US" b="1" dirty="0">
                <a:latin typeface="+mn-lt"/>
              </a:rPr>
              <a:t>LTI System</a:t>
            </a:r>
          </a:p>
        </p:txBody>
      </p:sp>
    </p:spTree>
    <p:extLst>
      <p:ext uri="{BB962C8B-B14F-4D97-AF65-F5344CB8AC3E}">
        <p14:creationId xmlns:p14="http://schemas.microsoft.com/office/powerpoint/2010/main" val="16602510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-45643"/>
            <a:ext cx="12192000" cy="971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6200" spc="-55" dirty="0">
                <a:solidFill>
                  <a:srgbClr val="006600"/>
                </a:solidFill>
                <a:latin typeface="Trebuchet MS"/>
                <a:cs typeface="Trebuchet MS"/>
              </a:rPr>
              <a:t>Why PM is Practically Superior?</a:t>
            </a:r>
            <a:endParaRPr sz="62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9100" y="575734"/>
            <a:ext cx="11353800" cy="2319866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endParaRPr lang="en-US" sz="3200" dirty="0">
              <a:latin typeface="Calibri"/>
              <a:cs typeface="Calibri"/>
            </a:endParaRPr>
          </a:p>
          <a:p>
            <a:pPr marL="520065" indent="-457200">
              <a:lnSpc>
                <a:spcPct val="100000"/>
              </a:lnSpc>
              <a:spcBef>
                <a:spcPts val="470"/>
              </a:spcBef>
              <a:buFont typeface="Wingdings"/>
              <a:buChar char=""/>
              <a:tabLst>
                <a:tab pos="520065" algn="l"/>
              </a:tabLst>
            </a:pPr>
            <a:r>
              <a:rPr lang="en-US" sz="2400" b="1" dirty="0">
                <a:solidFill>
                  <a:srgbClr val="6F2F9F"/>
                </a:solidFill>
                <a:latin typeface="Calibri"/>
                <a:cs typeface="Calibri"/>
              </a:rPr>
              <a:t>No DC Drift: </a:t>
            </a:r>
            <a:r>
              <a:rPr lang="en-US" sz="2400" dirty="0">
                <a:solidFill>
                  <a:srgbClr val="6F2F9F"/>
                </a:solidFill>
                <a:latin typeface="Calibri"/>
                <a:cs typeface="Calibri"/>
              </a:rPr>
              <a:t>FM's integration can cause carrier frequency drift</a:t>
            </a:r>
          </a:p>
          <a:p>
            <a:pPr marL="520065" indent="-457200">
              <a:lnSpc>
                <a:spcPct val="100000"/>
              </a:lnSpc>
              <a:spcBef>
                <a:spcPts val="470"/>
              </a:spcBef>
              <a:buFont typeface="Wingdings"/>
              <a:buChar char=""/>
              <a:tabLst>
                <a:tab pos="520065" algn="l"/>
              </a:tabLst>
            </a:pPr>
            <a:r>
              <a:rPr lang="en-US" sz="2400" b="1" dirty="0">
                <a:solidFill>
                  <a:srgbClr val="6F2F9F"/>
                </a:solidFill>
                <a:latin typeface="Calibri"/>
                <a:cs typeface="Calibri"/>
              </a:rPr>
              <a:t>Better Phase Stability: </a:t>
            </a:r>
            <a:r>
              <a:rPr lang="en-US" sz="2400" dirty="0">
                <a:solidFill>
                  <a:srgbClr val="6F2F9F"/>
                </a:solidFill>
                <a:latin typeface="Calibri"/>
                <a:cs typeface="Calibri"/>
              </a:rPr>
              <a:t>PM maintains better phase relationships</a:t>
            </a:r>
          </a:p>
          <a:p>
            <a:pPr marL="520065" indent="-457200">
              <a:lnSpc>
                <a:spcPct val="100000"/>
              </a:lnSpc>
              <a:spcBef>
                <a:spcPts val="470"/>
              </a:spcBef>
              <a:buFont typeface="Wingdings"/>
              <a:buChar char=""/>
              <a:tabLst>
                <a:tab pos="520065" algn="l"/>
              </a:tabLst>
            </a:pPr>
            <a:r>
              <a:rPr lang="en-US" sz="2400" b="1" dirty="0">
                <a:solidFill>
                  <a:srgbClr val="6F2F9F"/>
                </a:solidFill>
                <a:latin typeface="Calibri"/>
                <a:cs typeface="Calibri"/>
              </a:rPr>
              <a:t>Easier Synchronization: </a:t>
            </a:r>
            <a:r>
              <a:rPr lang="en-US" sz="2400" dirty="0">
                <a:solidFill>
                  <a:srgbClr val="6F2F9F"/>
                </a:solidFill>
                <a:latin typeface="Calibri"/>
                <a:cs typeface="Calibri"/>
              </a:rPr>
              <a:t>PM systems often have cleaner phase references</a:t>
            </a:r>
          </a:p>
          <a:p>
            <a:pPr marL="520065" indent="-457200">
              <a:lnSpc>
                <a:spcPct val="100000"/>
              </a:lnSpc>
              <a:spcBef>
                <a:spcPts val="470"/>
              </a:spcBef>
              <a:buFont typeface="Wingdings"/>
              <a:buChar char=""/>
              <a:tabLst>
                <a:tab pos="520065" algn="l"/>
              </a:tabLst>
            </a:pPr>
            <a:r>
              <a:rPr lang="en-US" sz="2400" b="1" dirty="0">
                <a:solidFill>
                  <a:srgbClr val="6F2F9F"/>
                </a:solidFill>
                <a:latin typeface="Calibri"/>
                <a:cs typeface="Calibri"/>
              </a:rPr>
              <a:t>Spectrum Efficiency: </a:t>
            </a:r>
            <a:r>
              <a:rPr lang="en-US" sz="2400" dirty="0">
                <a:solidFill>
                  <a:srgbClr val="6F2F9F"/>
                </a:solidFill>
                <a:latin typeface="Calibri"/>
                <a:cs typeface="Calibri"/>
              </a:rPr>
              <a:t>PM can have more compact spectrum in some cases</a:t>
            </a:r>
            <a:endParaRPr sz="24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69929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1789</TotalTime>
  <Words>2526</Words>
  <Application>Microsoft Office PowerPoint</Application>
  <PresentationFormat>Widescreen</PresentationFormat>
  <Paragraphs>323</Paragraphs>
  <Slides>37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Office Theme</vt:lpstr>
      <vt:lpstr>Angle Modulation</vt:lpstr>
      <vt:lpstr>Angle Modulation</vt:lpstr>
      <vt:lpstr>Basics of Angle Modulation</vt:lpstr>
      <vt:lpstr>Advantages of Angle Modulation</vt:lpstr>
      <vt:lpstr>Advantages of Angle Modulation</vt:lpstr>
      <vt:lpstr>Applications of Angle Modulation</vt:lpstr>
      <vt:lpstr>Instantaneous Angular Frequency</vt:lpstr>
      <vt:lpstr>General Carrier Signal</vt:lpstr>
      <vt:lpstr>Derivation of Phase Modulation (PM)</vt:lpstr>
      <vt:lpstr>Derivation of Frequency Modulation (FM)</vt:lpstr>
      <vt:lpstr>Important Concept</vt:lpstr>
      <vt:lpstr>Frequency Modulation</vt:lpstr>
      <vt:lpstr>Basics of Frequency Modulation</vt:lpstr>
      <vt:lpstr>Block Diagram of Frequency Modulator</vt:lpstr>
      <vt:lpstr>Waveforms of Frequency Modulator</vt:lpstr>
      <vt:lpstr>Square Wave Frequency Modulation</vt:lpstr>
      <vt:lpstr>Phase Modulation</vt:lpstr>
      <vt:lpstr>Basics of Phase Modulation</vt:lpstr>
      <vt:lpstr>Block Diagram of Phase Modulator</vt:lpstr>
      <vt:lpstr>Waveforms of Phase Modulator</vt:lpstr>
      <vt:lpstr>Square Wave Phase Modulation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Phase Discontinuity and Phase Shift</vt:lpstr>
      <vt:lpstr>Ambiguity in Demodulation</vt:lpstr>
      <vt:lpstr>Block Diagrams of FM &amp; PM Wave</vt:lpstr>
      <vt:lpstr>Generalized Angle Modulation: Concept</vt:lpstr>
      <vt:lpstr>Generalized Angle Modulation: System Architecture</vt:lpstr>
      <vt:lpstr>Generalized Angle Modulation: FM and PM as Special Cases</vt:lpstr>
      <vt:lpstr>Why PM is Practically Superior?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Angle Modulation</dc:title>
  <cp:lastModifiedBy>Rifat Rahman</cp:lastModifiedBy>
  <cp:revision>57</cp:revision>
  <dcterms:created xsi:type="dcterms:W3CDTF">2026-03-06T09:28:36Z</dcterms:created>
  <dcterms:modified xsi:type="dcterms:W3CDTF">2026-03-29T12:45:46Z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2026-03-06T00:00:00Z</vt:filetime>
  </property>
  <property fmtid="{D5CDD505-2E9C-101B-9397-08002B2CF9AE}" pid="3" name="LastSaved">
    <vt:filetime>2026-03-06T00:00:00Z</vt:filetime>
  </property>
  <property fmtid="{D5CDD505-2E9C-101B-9397-08002B2CF9AE}" pid="4" name="Producer">
    <vt:lpwstr>3-Heights™ PDF Merge Split Shell 6.12.1.11 (http://www.pdf-tools.com)</vt:lpwstr>
  </property>
</Properties>
</file>