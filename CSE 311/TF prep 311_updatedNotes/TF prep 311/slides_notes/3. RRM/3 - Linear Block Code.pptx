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97" r:id="rId2"/>
    <p:sldId id="279" r:id="rId3"/>
    <p:sldId id="298" r:id="rId4"/>
    <p:sldId id="281" r:id="rId5"/>
    <p:sldId id="282" r:id="rId6"/>
    <p:sldId id="283" r:id="rId7"/>
    <p:sldId id="284" r:id="rId8"/>
    <p:sldId id="285" r:id="rId9"/>
    <p:sldId id="286" r:id="rId10"/>
    <p:sldId id="287" r:id="rId11"/>
    <p:sldId id="288" r:id="rId12"/>
    <p:sldId id="299" r:id="rId13"/>
    <p:sldId id="301" r:id="rId14"/>
    <p:sldId id="300" r:id="rId15"/>
    <p:sldId id="289" r:id="rId16"/>
    <p:sldId id="290" r:id="rId17"/>
    <p:sldId id="291" r:id="rId18"/>
    <p:sldId id="292" r:id="rId19"/>
    <p:sldId id="293" r:id="rId20"/>
    <p:sldId id="294" r:id="rId21"/>
    <p:sldId id="295" r:id="rId22"/>
    <p:sldId id="296" r:id="rId23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754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98221" y="48260"/>
            <a:ext cx="11800205" cy="7264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 u="sng">
                <a:solidFill>
                  <a:srgbClr val="843B0B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 u="sng">
                <a:solidFill>
                  <a:srgbClr val="843B0B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 u="sng">
                <a:solidFill>
                  <a:srgbClr val="843B0B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 u="sng">
                <a:solidFill>
                  <a:srgbClr val="843B0B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74142" y="49530"/>
            <a:ext cx="11843715" cy="5137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 u="sng">
                <a:solidFill>
                  <a:srgbClr val="843B0B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86639" y="1157605"/>
            <a:ext cx="11905919" cy="41151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8221" y="1559560"/>
            <a:ext cx="11800205" cy="677108"/>
          </a:xfrm>
        </p:spPr>
        <p:txBody>
          <a:bodyPr/>
          <a:lstStyle/>
          <a:p>
            <a:pPr algn="ctr"/>
            <a:r>
              <a:rPr lang="en-US" sz="4400" u="none" dirty="0"/>
              <a:t>Linear Block Code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4"/>
          </p:nvPr>
        </p:nvSpPr>
        <p:spPr>
          <a:xfrm>
            <a:off x="1828800" y="3352800"/>
            <a:ext cx="8534400" cy="1938992"/>
          </a:xfrm>
        </p:spPr>
        <p:txBody>
          <a:bodyPr/>
          <a:lstStyle/>
          <a:p>
            <a:pPr algn="ctr"/>
            <a:r>
              <a:rPr lang="en-US" dirty="0"/>
              <a:t>Prepared by</a:t>
            </a:r>
          </a:p>
          <a:p>
            <a:pPr algn="ctr"/>
            <a:r>
              <a:rPr lang="en-US" dirty="0"/>
              <a:t>Prof. Hitesh </a:t>
            </a:r>
            <a:r>
              <a:rPr lang="en-US" dirty="0" err="1"/>
              <a:t>Dholakiya</a:t>
            </a:r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>Modified by</a:t>
            </a:r>
          </a:p>
          <a:p>
            <a:pPr algn="ctr"/>
            <a:r>
              <a:rPr lang="en-US" dirty="0" err="1"/>
              <a:t>Rifat</a:t>
            </a:r>
            <a:r>
              <a:rPr lang="en-US" dirty="0"/>
              <a:t> </a:t>
            </a:r>
            <a:r>
              <a:rPr lang="en-US" dirty="0" err="1"/>
              <a:t>Rahman</a:t>
            </a:r>
            <a:endParaRPr lang="en-US" dirty="0"/>
          </a:p>
          <a:p>
            <a:pPr algn="ctr"/>
            <a:r>
              <a:rPr lang="en-US" dirty="0"/>
              <a:t>Assistant Professor</a:t>
            </a:r>
          </a:p>
          <a:p>
            <a:pPr algn="ctr"/>
            <a:r>
              <a:rPr lang="en-US" dirty="0"/>
              <a:t>Institute of Appropriate Technology, BUET</a:t>
            </a:r>
          </a:p>
        </p:txBody>
      </p:sp>
    </p:spTree>
    <p:extLst>
      <p:ext uri="{BB962C8B-B14F-4D97-AF65-F5344CB8AC3E}">
        <p14:creationId xmlns:p14="http://schemas.microsoft.com/office/powerpoint/2010/main" val="31009372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08529" y="-62357"/>
            <a:ext cx="6776084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u="none" spc="-145" dirty="0">
                <a:solidFill>
                  <a:srgbClr val="006600"/>
                </a:solidFill>
                <a:latin typeface="Arial"/>
                <a:cs typeface="Arial"/>
              </a:rPr>
              <a:t>Linear</a:t>
            </a:r>
            <a:r>
              <a:rPr sz="6600" u="none" spc="-30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6600" u="none" spc="-400" dirty="0">
                <a:solidFill>
                  <a:srgbClr val="006600"/>
                </a:solidFill>
                <a:latin typeface="Arial"/>
                <a:cs typeface="Arial"/>
              </a:rPr>
              <a:t>Block</a:t>
            </a:r>
            <a:r>
              <a:rPr sz="6600" u="none" spc="-18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6600" u="none" spc="-475" dirty="0">
                <a:solidFill>
                  <a:srgbClr val="006600"/>
                </a:solidFill>
                <a:latin typeface="Arial"/>
                <a:cs typeface="Arial"/>
              </a:rPr>
              <a:t>Code</a:t>
            </a:r>
            <a:endParaRPr sz="6600" dirty="0">
              <a:latin typeface="Arial"/>
              <a:cs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3"/>
              <p:cNvSpPr txBox="1"/>
              <p:nvPr/>
            </p:nvSpPr>
            <p:spPr>
              <a:xfrm>
                <a:off x="174142" y="811225"/>
                <a:ext cx="11805285" cy="3867084"/>
              </a:xfrm>
              <a:prstGeom prst="rect">
                <a:avLst/>
              </a:prstGeom>
            </p:spPr>
            <p:txBody>
              <a:bodyPr vert="horz" wrap="square" lIns="0" tIns="13335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5"/>
                  </a:spcBef>
                </a:pPr>
                <a:r>
                  <a:rPr lang="en-US" sz="3200" b="1" u="sng" dirty="0">
                    <a:solidFill>
                      <a:srgbClr val="843B0B"/>
                    </a:solidFill>
                    <a:uFill>
                      <a:solidFill>
                        <a:srgbClr val="843B0B"/>
                      </a:solidFill>
                    </a:uFill>
                    <a:latin typeface="Calibri"/>
                    <a:cs typeface="Calibri"/>
                  </a:rPr>
                  <a:t>Definition</a:t>
                </a:r>
                <a:r>
                  <a:rPr lang="en-US" sz="3200" b="1" u="sng" spc="-40" dirty="0">
                    <a:solidFill>
                      <a:srgbClr val="843B0B"/>
                    </a:solidFill>
                    <a:uFill>
                      <a:solidFill>
                        <a:srgbClr val="843B0B"/>
                      </a:solidFill>
                    </a:uFill>
                    <a:latin typeface="Calibri"/>
                    <a:cs typeface="Calibri"/>
                  </a:rPr>
                  <a:t> </a:t>
                </a:r>
                <a:r>
                  <a:rPr lang="en-US" sz="3200" b="1" u="sng" dirty="0">
                    <a:solidFill>
                      <a:srgbClr val="843B0B"/>
                    </a:solidFill>
                    <a:uFill>
                      <a:solidFill>
                        <a:srgbClr val="843B0B"/>
                      </a:solidFill>
                    </a:uFill>
                    <a:latin typeface="Calibri"/>
                    <a:cs typeface="Calibri"/>
                  </a:rPr>
                  <a:t>of</a:t>
                </a:r>
                <a:r>
                  <a:rPr lang="en-US" sz="3200" b="1" u="sng" spc="-30" dirty="0">
                    <a:solidFill>
                      <a:srgbClr val="843B0B"/>
                    </a:solidFill>
                    <a:uFill>
                      <a:solidFill>
                        <a:srgbClr val="843B0B"/>
                      </a:solidFill>
                    </a:uFill>
                    <a:latin typeface="Calibri"/>
                    <a:cs typeface="Calibri"/>
                  </a:rPr>
                  <a:t> </a:t>
                </a:r>
                <a:r>
                  <a:rPr lang="en-US" sz="3200" b="1" u="sng" dirty="0">
                    <a:solidFill>
                      <a:srgbClr val="843B0B"/>
                    </a:solidFill>
                    <a:uFill>
                      <a:solidFill>
                        <a:srgbClr val="843B0B"/>
                      </a:solidFill>
                    </a:uFill>
                    <a:latin typeface="Calibri"/>
                    <a:cs typeface="Calibri"/>
                  </a:rPr>
                  <a:t>Linear</a:t>
                </a:r>
                <a:r>
                  <a:rPr lang="en-US" sz="3200" b="1" u="sng" spc="-45" dirty="0">
                    <a:solidFill>
                      <a:srgbClr val="843B0B"/>
                    </a:solidFill>
                    <a:uFill>
                      <a:solidFill>
                        <a:srgbClr val="843B0B"/>
                      </a:solidFill>
                    </a:uFill>
                    <a:latin typeface="Calibri"/>
                    <a:cs typeface="Calibri"/>
                  </a:rPr>
                  <a:t> </a:t>
                </a:r>
                <a:r>
                  <a:rPr lang="en-US" sz="3200" b="1" u="sng" dirty="0">
                    <a:solidFill>
                      <a:srgbClr val="843B0B"/>
                    </a:solidFill>
                    <a:uFill>
                      <a:solidFill>
                        <a:srgbClr val="843B0B"/>
                      </a:solidFill>
                    </a:uFill>
                    <a:latin typeface="Calibri"/>
                    <a:cs typeface="Calibri"/>
                  </a:rPr>
                  <a:t>Block</a:t>
                </a:r>
                <a:r>
                  <a:rPr lang="en-US" sz="3200" b="1" u="sng" spc="-45" dirty="0">
                    <a:solidFill>
                      <a:srgbClr val="843B0B"/>
                    </a:solidFill>
                    <a:uFill>
                      <a:solidFill>
                        <a:srgbClr val="843B0B"/>
                      </a:solidFill>
                    </a:uFill>
                    <a:latin typeface="Calibri"/>
                    <a:cs typeface="Calibri"/>
                  </a:rPr>
                  <a:t> </a:t>
                </a:r>
                <a:r>
                  <a:rPr lang="en-US" sz="3200" b="1" u="sng" spc="-20" dirty="0">
                    <a:solidFill>
                      <a:srgbClr val="843B0B"/>
                    </a:solidFill>
                    <a:uFill>
                      <a:solidFill>
                        <a:srgbClr val="843B0B"/>
                      </a:solidFill>
                    </a:uFill>
                    <a:latin typeface="Calibri"/>
                    <a:cs typeface="Calibri"/>
                  </a:rPr>
                  <a:t>Code</a:t>
                </a:r>
                <a:endParaRPr lang="en-US" sz="3200" dirty="0">
                  <a:latin typeface="Calibri"/>
                  <a:cs typeface="Calibri"/>
                </a:endParaRPr>
              </a:p>
              <a:p>
                <a:pPr marL="520065" marR="5080" indent="-457200">
                  <a:lnSpc>
                    <a:spcPct val="100000"/>
                  </a:lnSpc>
                  <a:spcBef>
                    <a:spcPts val="55"/>
                  </a:spcBef>
                  <a:buFont typeface="Wingdings"/>
                  <a:buChar char=""/>
                  <a:tabLst>
                    <a:tab pos="520065" algn="l"/>
                  </a:tabLst>
                </a:pPr>
                <a:r>
                  <a:rPr lang="en-US" sz="2400" b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A</a:t>
                </a:r>
                <a:r>
                  <a:rPr lang="en-US" sz="2400" b="1" spc="130" dirty="0">
                    <a:solidFill>
                      <a:srgbClr val="6F2F9F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block</a:t>
                </a:r>
                <a:r>
                  <a:rPr lang="en-US" sz="2400" b="1" spc="120" dirty="0">
                    <a:solidFill>
                      <a:srgbClr val="6F2F9F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code</a:t>
                </a:r>
                <a:r>
                  <a:rPr lang="en-US" sz="2400" b="1" spc="135" dirty="0">
                    <a:solidFill>
                      <a:srgbClr val="6F2F9F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is</a:t>
                </a:r>
                <a:r>
                  <a:rPr lang="en-US" sz="2400" b="1" spc="135" dirty="0">
                    <a:solidFill>
                      <a:srgbClr val="6F2F9F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said</a:t>
                </a:r>
                <a:r>
                  <a:rPr lang="en-US" sz="2400" b="1" spc="130" dirty="0">
                    <a:solidFill>
                      <a:srgbClr val="6F2F9F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to</a:t>
                </a:r>
                <a:r>
                  <a:rPr lang="en-US" sz="2400" b="1" spc="110" dirty="0">
                    <a:solidFill>
                      <a:srgbClr val="6F2F9F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be</a:t>
                </a:r>
                <a:r>
                  <a:rPr lang="en-US" sz="2400" b="1" spc="140" dirty="0">
                    <a:solidFill>
                      <a:srgbClr val="6F2F9F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a</a:t>
                </a:r>
                <a:r>
                  <a:rPr lang="en-US" sz="2400" b="1" spc="135" dirty="0">
                    <a:solidFill>
                      <a:srgbClr val="6F2F9F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linear</a:t>
                </a:r>
                <a:r>
                  <a:rPr lang="en-US" sz="2400" b="1" spc="105" dirty="0">
                    <a:solidFill>
                      <a:srgbClr val="6F2F9F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block</a:t>
                </a:r>
                <a:r>
                  <a:rPr lang="en-US" sz="2400" b="1" spc="110" dirty="0">
                    <a:solidFill>
                      <a:srgbClr val="6F2F9F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code</a:t>
                </a:r>
                <a:r>
                  <a:rPr lang="en-US" sz="2400" b="1" spc="130" dirty="0">
                    <a:solidFill>
                      <a:srgbClr val="6F2F9F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if</a:t>
                </a:r>
                <a:r>
                  <a:rPr lang="en-US" sz="2400" b="1" spc="130" dirty="0">
                    <a:solidFill>
                      <a:srgbClr val="6F2F9F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its</a:t>
                </a:r>
                <a:r>
                  <a:rPr lang="en-US" sz="2400" b="1" spc="135" dirty="0">
                    <a:solidFill>
                      <a:srgbClr val="6F2F9F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codewords</a:t>
                </a:r>
                <a:r>
                  <a:rPr lang="en-US" sz="2400" b="1" spc="135" dirty="0">
                    <a:solidFill>
                      <a:srgbClr val="6F2F9F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satisfy</a:t>
                </a:r>
                <a:r>
                  <a:rPr lang="en-US" sz="2400" b="1" spc="135" dirty="0">
                    <a:solidFill>
                      <a:srgbClr val="6F2F9F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the</a:t>
                </a:r>
                <a:r>
                  <a:rPr lang="en-US" sz="2400" b="1" spc="135" dirty="0">
                    <a:solidFill>
                      <a:srgbClr val="6F2F9F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condition</a:t>
                </a:r>
                <a:r>
                  <a:rPr lang="en-US" sz="2400" b="1" spc="130" dirty="0">
                    <a:solidFill>
                      <a:srgbClr val="6F2F9F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spc="-20" dirty="0">
                    <a:solidFill>
                      <a:srgbClr val="6F2F9F"/>
                    </a:solidFill>
                    <a:latin typeface="Calibri"/>
                    <a:cs typeface="Calibri"/>
                  </a:rPr>
                  <a:t>that </a:t>
                </a:r>
                <a:r>
                  <a:rPr lang="en-US" sz="2400" b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the</a:t>
                </a:r>
                <a:r>
                  <a:rPr lang="en-US" sz="2400" b="1" spc="-35" dirty="0">
                    <a:solidFill>
                      <a:srgbClr val="6F2F9F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sum</a:t>
                </a:r>
                <a:r>
                  <a:rPr lang="en-US" sz="2400" b="1" spc="-50" dirty="0">
                    <a:solidFill>
                      <a:srgbClr val="6F2F9F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spc="-10" dirty="0">
                    <a:solidFill>
                      <a:srgbClr val="6F2F9F"/>
                    </a:solidFill>
                    <a:latin typeface="Calibri"/>
                    <a:cs typeface="Calibri"/>
                  </a:rPr>
                  <a:t>(modulo-</a:t>
                </a:r>
                <a:r>
                  <a:rPr lang="en-US" sz="2400" b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2</a:t>
                </a:r>
                <a:r>
                  <a:rPr lang="en-US" sz="2400" b="1" spc="-65" dirty="0">
                    <a:solidFill>
                      <a:srgbClr val="6F2F9F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addition)</a:t>
                </a:r>
                <a:r>
                  <a:rPr lang="en-US" sz="2400" b="1" spc="-45" dirty="0">
                    <a:solidFill>
                      <a:srgbClr val="6F2F9F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of</a:t>
                </a:r>
                <a:r>
                  <a:rPr lang="en-US" sz="2400" b="1" spc="-55" dirty="0">
                    <a:solidFill>
                      <a:srgbClr val="6F2F9F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any</a:t>
                </a:r>
                <a:r>
                  <a:rPr lang="en-US" sz="2400" b="1" spc="-45" dirty="0">
                    <a:solidFill>
                      <a:srgbClr val="6F2F9F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two</a:t>
                </a:r>
                <a:r>
                  <a:rPr lang="en-US" sz="2400" b="1" spc="-50" dirty="0">
                    <a:solidFill>
                      <a:srgbClr val="6F2F9F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spc="-10" dirty="0">
                    <a:solidFill>
                      <a:srgbClr val="6F2F9F"/>
                    </a:solidFill>
                    <a:latin typeface="Calibri"/>
                    <a:cs typeface="Calibri"/>
                  </a:rPr>
                  <a:t>codewords</a:t>
                </a:r>
                <a:r>
                  <a:rPr lang="en-US" sz="2400" b="1" spc="-55" dirty="0">
                    <a:solidFill>
                      <a:srgbClr val="6F2F9F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results</a:t>
                </a:r>
                <a:r>
                  <a:rPr lang="en-US" sz="2400" b="1" spc="-55" dirty="0">
                    <a:solidFill>
                      <a:srgbClr val="6F2F9F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in</a:t>
                </a:r>
                <a:r>
                  <a:rPr lang="en-US" sz="2400" b="1" spc="-55" dirty="0">
                    <a:solidFill>
                      <a:srgbClr val="6F2F9F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another</a:t>
                </a:r>
                <a:r>
                  <a:rPr lang="en-US" sz="2400" b="1" spc="-40" dirty="0">
                    <a:solidFill>
                      <a:srgbClr val="6F2F9F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valid</a:t>
                </a:r>
                <a:r>
                  <a:rPr lang="en-US" sz="2400" b="1" spc="-55" dirty="0">
                    <a:solidFill>
                      <a:srgbClr val="6F2F9F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spc="-10" dirty="0">
                    <a:solidFill>
                      <a:srgbClr val="6F2F9F"/>
                    </a:solidFill>
                    <a:latin typeface="Calibri"/>
                    <a:cs typeface="Calibri"/>
                  </a:rPr>
                  <a:t>codeword.</a:t>
                </a:r>
                <a:endParaRPr lang="en-US" sz="2400" dirty="0">
                  <a:latin typeface="Calibri"/>
                  <a:cs typeface="Calibri"/>
                </a:endParaRPr>
              </a:p>
              <a:p>
                <a:pPr marL="977265" lvl="1" indent="-457200">
                  <a:lnSpc>
                    <a:spcPct val="100000"/>
                  </a:lnSpc>
                  <a:buFont typeface="Wingdings"/>
                  <a:buChar char=""/>
                  <a:tabLst>
                    <a:tab pos="977265" algn="l"/>
                  </a:tabLst>
                </a:pPr>
                <a:r>
                  <a:rPr lang="en-US" sz="2400" b="1" dirty="0">
                    <a:solidFill>
                      <a:srgbClr val="006FC0"/>
                    </a:solidFill>
                    <a:latin typeface="Calibri"/>
                    <a:cs typeface="Calibri"/>
                  </a:rPr>
                  <a:t>Example:</a:t>
                </a:r>
                <a:r>
                  <a:rPr lang="en-US" sz="2400" b="1" spc="-55" dirty="0">
                    <a:solidFill>
                      <a:srgbClr val="006FC0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006FC0"/>
                    </a:solidFill>
                    <a:latin typeface="Calibri"/>
                    <a:cs typeface="Calibri"/>
                  </a:rPr>
                  <a:t>C</a:t>
                </a:r>
                <a:r>
                  <a:rPr lang="en-US" sz="1800" b="1" dirty="0">
                    <a:solidFill>
                      <a:srgbClr val="006FC0"/>
                    </a:solidFill>
                    <a:latin typeface="Calibri"/>
                    <a:cs typeface="Calibri"/>
                  </a:rPr>
                  <a:t>p</a:t>
                </a:r>
                <a:r>
                  <a:rPr lang="en-US" sz="1800" b="1" spc="95" dirty="0">
                    <a:solidFill>
                      <a:srgbClr val="006FC0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006FC0"/>
                    </a:solidFill>
                    <a:latin typeface="Calibri"/>
                    <a:cs typeface="Calibri"/>
                  </a:rPr>
                  <a:t>=</a:t>
                </a:r>
                <a:r>
                  <a:rPr lang="en-US" sz="2400" b="1" spc="-30" dirty="0">
                    <a:solidFill>
                      <a:srgbClr val="006FC0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006FC0"/>
                    </a:solidFill>
                    <a:latin typeface="Calibri"/>
                    <a:cs typeface="Calibri"/>
                  </a:rPr>
                  <a:t>C</a:t>
                </a:r>
                <a:r>
                  <a:rPr lang="en-US" sz="1800" b="1" dirty="0">
                    <a:solidFill>
                      <a:srgbClr val="006FC0"/>
                    </a:solidFill>
                    <a:latin typeface="Calibri"/>
                    <a:cs typeface="Calibri"/>
                  </a:rPr>
                  <a:t>i</a:t>
                </a:r>
                <a:r>
                  <a:rPr lang="en-US" sz="1800" b="1" spc="100" dirty="0">
                    <a:solidFill>
                      <a:srgbClr val="006FC0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006FC0"/>
                    </a:solidFill>
                    <a:latin typeface="Calibri"/>
                    <a:cs typeface="Calibri"/>
                  </a:rPr>
                  <a:t>+</a:t>
                </a:r>
                <a:r>
                  <a:rPr lang="en-US" sz="2400" b="1" spc="-30" dirty="0">
                    <a:solidFill>
                      <a:srgbClr val="006FC0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spc="-25" dirty="0">
                    <a:solidFill>
                      <a:srgbClr val="006FC0"/>
                    </a:solidFill>
                    <a:latin typeface="Calibri"/>
                    <a:cs typeface="Calibri"/>
                  </a:rPr>
                  <a:t>C</a:t>
                </a:r>
                <a:r>
                  <a:rPr lang="en-US" sz="1800" b="1" spc="-25" dirty="0">
                    <a:solidFill>
                      <a:srgbClr val="006FC0"/>
                    </a:solidFill>
                    <a:latin typeface="Calibri"/>
                    <a:cs typeface="Calibri"/>
                  </a:rPr>
                  <a:t>k</a:t>
                </a:r>
                <a:endParaRPr lang="en-US" sz="1800" dirty="0">
                  <a:latin typeface="Calibri"/>
                  <a:cs typeface="Calibri"/>
                </a:endParaRPr>
              </a:p>
              <a:p>
                <a:pPr marL="12700">
                  <a:lnSpc>
                    <a:spcPct val="100000"/>
                  </a:lnSpc>
                  <a:spcBef>
                    <a:spcPts val="640"/>
                  </a:spcBef>
                </a:pPr>
                <a:r>
                  <a:rPr lang="en-US" sz="3200" b="1" u="sng" dirty="0">
                    <a:solidFill>
                      <a:srgbClr val="843B0B"/>
                    </a:solidFill>
                    <a:uFill>
                      <a:solidFill>
                        <a:srgbClr val="843B0B"/>
                      </a:solidFill>
                    </a:uFill>
                    <a:latin typeface="Calibri"/>
                    <a:cs typeface="Calibri"/>
                  </a:rPr>
                  <a:t>Properties</a:t>
                </a:r>
                <a:r>
                  <a:rPr lang="en-US" sz="3200" b="1" u="sng" spc="-50" dirty="0">
                    <a:solidFill>
                      <a:srgbClr val="843B0B"/>
                    </a:solidFill>
                    <a:uFill>
                      <a:solidFill>
                        <a:srgbClr val="843B0B"/>
                      </a:solidFill>
                    </a:uFill>
                    <a:latin typeface="Calibri"/>
                    <a:cs typeface="Calibri"/>
                  </a:rPr>
                  <a:t> </a:t>
                </a:r>
                <a:r>
                  <a:rPr lang="en-US" sz="3200" b="1" u="sng" dirty="0">
                    <a:solidFill>
                      <a:srgbClr val="843B0B"/>
                    </a:solidFill>
                    <a:uFill>
                      <a:solidFill>
                        <a:srgbClr val="843B0B"/>
                      </a:solidFill>
                    </a:uFill>
                    <a:latin typeface="Calibri"/>
                    <a:cs typeface="Calibri"/>
                  </a:rPr>
                  <a:t>of</a:t>
                </a:r>
                <a:r>
                  <a:rPr lang="en-US" sz="3200" b="1" u="sng" spc="-35" dirty="0">
                    <a:solidFill>
                      <a:srgbClr val="843B0B"/>
                    </a:solidFill>
                    <a:uFill>
                      <a:solidFill>
                        <a:srgbClr val="843B0B"/>
                      </a:solidFill>
                    </a:uFill>
                    <a:latin typeface="Calibri"/>
                    <a:cs typeface="Calibri"/>
                  </a:rPr>
                  <a:t> </a:t>
                </a:r>
                <a:r>
                  <a:rPr lang="en-US" sz="3200" b="1" u="sng" dirty="0">
                    <a:solidFill>
                      <a:srgbClr val="843B0B"/>
                    </a:solidFill>
                    <a:uFill>
                      <a:solidFill>
                        <a:srgbClr val="843B0B"/>
                      </a:solidFill>
                    </a:uFill>
                    <a:latin typeface="Calibri"/>
                    <a:cs typeface="Calibri"/>
                  </a:rPr>
                  <a:t>Linear</a:t>
                </a:r>
                <a:r>
                  <a:rPr lang="en-US" sz="3200" b="1" u="sng" spc="-60" dirty="0">
                    <a:solidFill>
                      <a:srgbClr val="843B0B"/>
                    </a:solidFill>
                    <a:uFill>
                      <a:solidFill>
                        <a:srgbClr val="843B0B"/>
                      </a:solidFill>
                    </a:uFill>
                    <a:latin typeface="Calibri"/>
                    <a:cs typeface="Calibri"/>
                  </a:rPr>
                  <a:t> </a:t>
                </a:r>
                <a:r>
                  <a:rPr lang="en-US" sz="3200" b="1" u="sng" dirty="0">
                    <a:solidFill>
                      <a:srgbClr val="843B0B"/>
                    </a:solidFill>
                    <a:uFill>
                      <a:solidFill>
                        <a:srgbClr val="843B0B"/>
                      </a:solidFill>
                    </a:uFill>
                    <a:latin typeface="Calibri"/>
                    <a:cs typeface="Calibri"/>
                  </a:rPr>
                  <a:t>Block</a:t>
                </a:r>
                <a:r>
                  <a:rPr lang="en-US" sz="3200" b="1" u="sng" spc="-30" dirty="0">
                    <a:solidFill>
                      <a:srgbClr val="843B0B"/>
                    </a:solidFill>
                    <a:uFill>
                      <a:solidFill>
                        <a:srgbClr val="843B0B"/>
                      </a:solidFill>
                    </a:uFill>
                    <a:latin typeface="Calibri"/>
                    <a:cs typeface="Calibri"/>
                  </a:rPr>
                  <a:t> </a:t>
                </a:r>
                <a:r>
                  <a:rPr lang="en-US" sz="3200" b="1" u="sng" spc="-20" dirty="0">
                    <a:solidFill>
                      <a:srgbClr val="843B0B"/>
                    </a:solidFill>
                    <a:uFill>
                      <a:solidFill>
                        <a:srgbClr val="843B0B"/>
                      </a:solidFill>
                    </a:uFill>
                    <a:latin typeface="Calibri"/>
                    <a:cs typeface="Calibri"/>
                  </a:rPr>
                  <a:t>Code</a:t>
                </a:r>
                <a:endParaRPr lang="en-US" sz="3200" dirty="0">
                  <a:latin typeface="Calibri"/>
                  <a:cs typeface="Calibri"/>
                </a:endParaRPr>
              </a:p>
              <a:p>
                <a:pPr marL="520065" indent="-457200">
                  <a:lnSpc>
                    <a:spcPct val="100000"/>
                  </a:lnSpc>
                  <a:spcBef>
                    <a:spcPts val="170"/>
                  </a:spcBef>
                  <a:buAutoNum type="arabicPeriod"/>
                  <a:tabLst>
                    <a:tab pos="520065" algn="l"/>
                  </a:tabLst>
                </a:pP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The</a:t>
                </a:r>
                <a:r>
                  <a:rPr lang="en-US" sz="2400" b="1" spc="-40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spc="-10" dirty="0">
                    <a:solidFill>
                      <a:srgbClr val="385622"/>
                    </a:solidFill>
                    <a:latin typeface="Calibri"/>
                    <a:cs typeface="Calibri"/>
                  </a:rPr>
                  <a:t>all-</a:t>
                </a: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zero</a:t>
                </a:r>
                <a:r>
                  <a:rPr lang="en-US" sz="2400" b="1" spc="-55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word</a:t>
                </a:r>
                <a:r>
                  <a:rPr lang="en-US" sz="2400" b="1" spc="-50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[0,</a:t>
                </a:r>
                <a:r>
                  <a:rPr lang="en-US" sz="2400" b="1" spc="-35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0,</a:t>
                </a:r>
                <a:r>
                  <a:rPr lang="en-US" sz="2400" b="1" spc="-30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0,</a:t>
                </a:r>
                <a:r>
                  <a:rPr lang="en-US" sz="2400" b="1" spc="-30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……</a:t>
                </a:r>
                <a:r>
                  <a:rPr lang="en-US" sz="2400" b="1" spc="-35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,</a:t>
                </a:r>
                <a:r>
                  <a:rPr lang="en-US" sz="2400" b="1" spc="-30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0]</a:t>
                </a:r>
                <a:r>
                  <a:rPr lang="en-US" sz="2400" b="1" spc="-45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is</a:t>
                </a:r>
                <a:r>
                  <a:rPr lang="en-US" sz="2400" b="1" spc="-40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always</a:t>
                </a:r>
                <a:r>
                  <a:rPr lang="en-US" sz="2400" b="1" spc="-35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a</a:t>
                </a:r>
                <a:r>
                  <a:rPr lang="en-US" sz="2400" b="1" spc="-40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valid</a:t>
                </a:r>
                <a:r>
                  <a:rPr lang="en-US" sz="2400" b="1" spc="-60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codeword</a:t>
                </a:r>
                <a:r>
                  <a:rPr lang="en-US" sz="2400" b="1" spc="-70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in</a:t>
                </a:r>
                <a:r>
                  <a:rPr lang="en-US" sz="2400" b="1" spc="-30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a</a:t>
                </a:r>
                <a:r>
                  <a:rPr lang="en-US" sz="2400" b="1" spc="-45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Linear</a:t>
                </a:r>
                <a:r>
                  <a:rPr lang="en-US" sz="2400" b="1" spc="-35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Block</a:t>
                </a:r>
                <a:r>
                  <a:rPr lang="en-US" sz="2400" b="1" spc="-60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spc="-10" dirty="0">
                    <a:solidFill>
                      <a:srgbClr val="385622"/>
                    </a:solidFill>
                    <a:latin typeface="Calibri"/>
                    <a:cs typeface="Calibri"/>
                  </a:rPr>
                  <a:t>Code.</a:t>
                </a:r>
                <a:endParaRPr lang="en-US" sz="2400" dirty="0">
                  <a:latin typeface="Calibri"/>
                  <a:cs typeface="Calibri"/>
                </a:endParaRPr>
              </a:p>
              <a:p>
                <a:pPr marL="520065" indent="-457200">
                  <a:lnSpc>
                    <a:spcPct val="100000"/>
                  </a:lnSpc>
                  <a:spcBef>
                    <a:spcPts val="5"/>
                  </a:spcBef>
                  <a:buAutoNum type="arabicPeriod"/>
                  <a:tabLst>
                    <a:tab pos="520065" algn="l"/>
                  </a:tabLst>
                </a:pP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Minimum</a:t>
                </a:r>
                <a:r>
                  <a:rPr lang="en-US" sz="2400" b="1" spc="-45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Hamming</a:t>
                </a:r>
                <a:r>
                  <a:rPr lang="en-US" sz="2400" b="1" spc="-50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spc="-10" dirty="0">
                    <a:solidFill>
                      <a:srgbClr val="385622"/>
                    </a:solidFill>
                    <a:latin typeface="Calibri"/>
                    <a:cs typeface="Calibri"/>
                  </a:rPr>
                  <a:t>Distance</a:t>
                </a:r>
                <a:r>
                  <a:rPr lang="en-US" sz="2400" b="1" spc="-25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of</a:t>
                </a:r>
                <a:r>
                  <a:rPr lang="en-US" sz="2400" b="1" spc="-35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the</a:t>
                </a:r>
                <a:r>
                  <a:rPr lang="en-US" sz="2400" b="1" spc="-15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Code</a:t>
                </a:r>
                <a:r>
                  <a:rPr lang="en-US" sz="2400" b="1" spc="-40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d</a:t>
                </a:r>
                <a:r>
                  <a:rPr lang="en-US" sz="18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min</a:t>
                </a:r>
                <a:r>
                  <a:rPr lang="en-US" sz="1800" b="1" spc="80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=</a:t>
                </a:r>
                <a:r>
                  <a:rPr lang="en-US" sz="2400" b="1" spc="-30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spc="-10" dirty="0">
                    <a:solidFill>
                      <a:srgbClr val="385622"/>
                    </a:solidFill>
                    <a:latin typeface="Calibri"/>
                    <a:cs typeface="Calibri"/>
                  </a:rPr>
                  <a:t>W</a:t>
                </a:r>
                <a:r>
                  <a:rPr lang="en-US" sz="1800" b="1" spc="-10" dirty="0">
                    <a:solidFill>
                      <a:srgbClr val="385622"/>
                    </a:solidFill>
                    <a:latin typeface="Calibri"/>
                    <a:cs typeface="Calibri"/>
                  </a:rPr>
                  <a:t>min.</a:t>
                </a:r>
                <a:endParaRPr lang="en-US" sz="1800" dirty="0">
                  <a:latin typeface="Calibri"/>
                  <a:cs typeface="Calibri"/>
                </a:endParaRPr>
              </a:p>
              <a:p>
                <a:pPr marL="520065" indent="-457200">
                  <a:lnSpc>
                    <a:spcPct val="100000"/>
                  </a:lnSpc>
                  <a:buAutoNum type="arabicPeriod"/>
                  <a:tabLst>
                    <a:tab pos="520065" algn="l"/>
                  </a:tabLst>
                </a:pP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It</a:t>
                </a:r>
                <a:r>
                  <a:rPr lang="en-US" sz="2400" b="1" spc="-30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can</a:t>
                </a:r>
                <a:r>
                  <a:rPr lang="en-US" sz="2400" b="1" spc="-50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detect</a:t>
                </a:r>
                <a:r>
                  <a:rPr lang="en-US" sz="2400" b="1" spc="-40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up</a:t>
                </a:r>
                <a:r>
                  <a:rPr lang="en-US" sz="2400" b="1" spc="-25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to</a:t>
                </a:r>
                <a:r>
                  <a:rPr lang="en-US" sz="2400" b="1" spc="-45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(d</a:t>
                </a:r>
                <a:r>
                  <a:rPr lang="en-US" sz="18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min</a:t>
                </a:r>
                <a:r>
                  <a:rPr lang="en-US" sz="1800" b="1" spc="105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–</a:t>
                </a:r>
                <a:r>
                  <a:rPr lang="en-US" sz="2400" b="1" spc="-40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1)</a:t>
                </a:r>
                <a:r>
                  <a:rPr lang="en-US" sz="2400" b="1" spc="-30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spc="-10" dirty="0">
                    <a:solidFill>
                      <a:srgbClr val="385622"/>
                    </a:solidFill>
                    <a:latin typeface="Calibri"/>
                    <a:cs typeface="Calibri"/>
                  </a:rPr>
                  <a:t>Errors.</a:t>
                </a:r>
                <a:endParaRPr lang="en-US" sz="2400" dirty="0">
                  <a:latin typeface="Calibri"/>
                  <a:cs typeface="Calibri"/>
                </a:endParaRPr>
              </a:p>
              <a:p>
                <a:pPr marL="520065" indent="-457200">
                  <a:lnSpc>
                    <a:spcPct val="100000"/>
                  </a:lnSpc>
                  <a:buAutoNum type="arabicPeriod"/>
                  <a:tabLst>
                    <a:tab pos="520065" algn="l"/>
                  </a:tabLst>
                </a:pP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It</a:t>
                </a:r>
                <a:r>
                  <a:rPr lang="en-US" sz="2400" b="1" spc="-30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can</a:t>
                </a:r>
                <a:r>
                  <a:rPr lang="en-US" sz="2400" b="1" spc="-45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correct</a:t>
                </a:r>
                <a:r>
                  <a:rPr lang="en-US" sz="2400" b="1" spc="-55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up</a:t>
                </a:r>
                <a:r>
                  <a:rPr lang="en-US" sz="2400" b="1" spc="-35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to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sz="2400" b="1" i="1" spc="-25" smtClean="0">
                        <a:solidFill>
                          <a:srgbClr val="385622"/>
                        </a:solidFill>
                        <a:latin typeface="Cambria Math"/>
                        <a:cs typeface="Calibri"/>
                      </a:rPr>
                      <m:t> </m:t>
                    </m:r>
                    <m:r>
                      <a:rPr lang="en-US" sz="2400" b="1" i="1" spc="-25" smtClean="0">
                        <a:solidFill>
                          <a:srgbClr val="385622"/>
                        </a:solidFill>
                        <a:latin typeface="Cambria Math"/>
                        <a:cs typeface="Calibri"/>
                      </a:rPr>
                      <m:t>⌊</m:t>
                    </m:r>
                    <m:f>
                      <m:fPr>
                        <m:ctrlPr>
                          <a:rPr lang="en-US" sz="2400" b="1" i="1" spc="-25" smtClean="0">
                            <a:solidFill>
                              <a:srgbClr val="385622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b="1" i="1" spc="-25" smtClean="0">
                                <a:solidFill>
                                  <a:srgbClr val="385622"/>
                                </a:solidFill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sSubPr>
                          <m:e>
                            <m:r>
                              <a:rPr lang="en-US" sz="2400" b="1" i="1" spc="-25" smtClean="0">
                                <a:solidFill>
                                  <a:srgbClr val="385622"/>
                                </a:solidFill>
                                <a:latin typeface="Cambria Math"/>
                                <a:cs typeface="Calibri"/>
                              </a:rPr>
                              <m:t>𝒅</m:t>
                            </m:r>
                          </m:e>
                          <m:sub>
                            <m:r>
                              <a:rPr lang="en-US" sz="2400" b="1" i="1" spc="-25" smtClean="0">
                                <a:solidFill>
                                  <a:srgbClr val="385622"/>
                                </a:solidFill>
                                <a:latin typeface="Cambria Math"/>
                                <a:cs typeface="Calibri"/>
                              </a:rPr>
                              <m:t>𝒎𝒊𝒏</m:t>
                            </m:r>
                          </m:sub>
                        </m:sSub>
                        <m:r>
                          <a:rPr lang="en-US" sz="2400" b="1" i="1" spc="-25" smtClean="0">
                            <a:solidFill>
                              <a:srgbClr val="385622"/>
                            </a:solidFill>
                            <a:latin typeface="Cambria Math"/>
                            <a:cs typeface="Calibri"/>
                          </a:rPr>
                          <m:t>−</m:t>
                        </m:r>
                        <m:r>
                          <a:rPr lang="en-US" sz="2400" b="1" i="1" spc="-25" smtClean="0">
                            <a:solidFill>
                              <a:srgbClr val="385622"/>
                            </a:solidFill>
                            <a:latin typeface="Cambria Math"/>
                            <a:cs typeface="Calibri"/>
                          </a:rPr>
                          <m:t>𝟏</m:t>
                        </m:r>
                      </m:num>
                      <m:den>
                        <m:r>
                          <a:rPr lang="en-US" sz="2400" b="1" i="1" spc="-25" smtClean="0">
                            <a:solidFill>
                              <a:srgbClr val="385622"/>
                            </a:solidFill>
                            <a:latin typeface="Cambria Math"/>
                            <a:cs typeface="Calibri"/>
                          </a:rPr>
                          <m:t>𝟐</m:t>
                        </m:r>
                      </m:den>
                    </m:f>
                    <m:r>
                      <a:rPr lang="en-US" sz="2400" b="1" i="1" spc="-25" smtClean="0">
                        <a:solidFill>
                          <a:srgbClr val="385622"/>
                        </a:solidFill>
                        <a:latin typeface="Cambria Math"/>
                        <a:cs typeface="Calibri"/>
                      </a:rPr>
                      <m:t>⌋</m:t>
                    </m:r>
                    <m:r>
                      <a:rPr lang="en-US" sz="2400" b="1" i="0" spc="-25" smtClean="0">
                        <a:solidFill>
                          <a:srgbClr val="385622"/>
                        </a:solidFill>
                        <a:latin typeface="Cambria Math"/>
                        <a:cs typeface="Calibri"/>
                      </a:rPr>
                      <m:t> </m:t>
                    </m:r>
                  </m:oMath>
                </a14:m>
                <a:r>
                  <a:rPr lang="en-US" sz="2400" b="1" spc="-10" dirty="0">
                    <a:solidFill>
                      <a:srgbClr val="385622"/>
                    </a:solidFill>
                    <a:latin typeface="Calibri"/>
                    <a:cs typeface="Calibri"/>
                  </a:rPr>
                  <a:t>Errors.</a:t>
                </a:r>
                <a:endParaRPr sz="24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3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142" y="811225"/>
                <a:ext cx="11805285" cy="3867084"/>
              </a:xfrm>
              <a:prstGeom prst="rect">
                <a:avLst/>
              </a:prstGeom>
              <a:blipFill rotWithShape="1">
                <a:blip r:embed="rId2"/>
                <a:stretch>
                  <a:fillRect l="-2014" t="-2839" r="-1240" b="-20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48000" y="49530"/>
            <a:ext cx="9284056" cy="9977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Checking</a:t>
            </a:r>
            <a:r>
              <a:rPr spc="-35" dirty="0"/>
              <a:t> </a:t>
            </a:r>
            <a:r>
              <a:rPr dirty="0"/>
              <a:t>whether</a:t>
            </a:r>
            <a:r>
              <a:rPr spc="-35" dirty="0"/>
              <a:t> </a:t>
            </a:r>
            <a:r>
              <a:rPr dirty="0"/>
              <a:t>Hamming</a:t>
            </a:r>
            <a:r>
              <a:rPr spc="-55" dirty="0"/>
              <a:t> </a:t>
            </a:r>
            <a:r>
              <a:rPr dirty="0"/>
              <a:t>Code</a:t>
            </a:r>
            <a:r>
              <a:rPr spc="-40" dirty="0"/>
              <a:t> </a:t>
            </a:r>
            <a:r>
              <a:rPr dirty="0"/>
              <a:t>is</a:t>
            </a:r>
            <a:r>
              <a:rPr spc="-25" dirty="0"/>
              <a:t> </a:t>
            </a:r>
            <a:r>
              <a:rPr dirty="0"/>
              <a:t>a</a:t>
            </a:r>
            <a:r>
              <a:rPr spc="-50" dirty="0"/>
              <a:t> </a:t>
            </a:r>
            <a:r>
              <a:rPr dirty="0"/>
              <a:t>Linear</a:t>
            </a:r>
            <a:r>
              <a:rPr spc="-50" dirty="0"/>
              <a:t> </a:t>
            </a:r>
            <a:r>
              <a:rPr dirty="0"/>
              <a:t>Block</a:t>
            </a:r>
            <a:r>
              <a:rPr spc="-50" dirty="0"/>
              <a:t> </a:t>
            </a:r>
            <a:r>
              <a:rPr spc="-20" dirty="0"/>
              <a:t>Code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7"/>
              <p:cNvSpPr txBox="1"/>
              <p:nvPr/>
            </p:nvSpPr>
            <p:spPr>
              <a:xfrm>
                <a:off x="2971800" y="1174990"/>
                <a:ext cx="9248140" cy="2396810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469265" indent="-456565">
                  <a:lnSpc>
                    <a:spcPct val="100000"/>
                  </a:lnSpc>
                  <a:spcBef>
                    <a:spcPts val="100"/>
                  </a:spcBef>
                  <a:buAutoNum type="arabicPeriod"/>
                  <a:tabLst>
                    <a:tab pos="469265" algn="l"/>
                  </a:tabLst>
                </a:pP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For</a:t>
                </a:r>
                <a:r>
                  <a:rPr lang="en-US" sz="2400" b="1" spc="-50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Linear</a:t>
                </a:r>
                <a:r>
                  <a:rPr lang="en-US" sz="2400" b="1" spc="-20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Block</a:t>
                </a:r>
                <a:r>
                  <a:rPr lang="en-US" sz="2400" b="1" spc="-30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Code,</a:t>
                </a:r>
                <a:r>
                  <a:rPr lang="en-US" sz="2400" b="1" spc="-15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C</a:t>
                </a:r>
                <a:r>
                  <a:rPr lang="en-US" sz="18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p</a:t>
                </a:r>
                <a:r>
                  <a:rPr lang="en-US" sz="1800" b="1" spc="105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=</a:t>
                </a:r>
                <a:r>
                  <a:rPr lang="en-US" sz="2400" b="1" spc="-15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C</a:t>
                </a:r>
                <a:r>
                  <a:rPr lang="en-US" sz="18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i</a:t>
                </a:r>
                <a:r>
                  <a:rPr lang="en-US" sz="1800" b="1" spc="105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+</a:t>
                </a:r>
                <a:r>
                  <a:rPr lang="en-US" sz="2400" b="1" spc="-20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spc="-25" dirty="0">
                    <a:solidFill>
                      <a:srgbClr val="385622"/>
                    </a:solidFill>
                    <a:latin typeface="Calibri"/>
                    <a:cs typeface="Calibri"/>
                  </a:rPr>
                  <a:t>C</a:t>
                </a:r>
                <a:r>
                  <a:rPr lang="en-US" sz="1800" b="1" spc="-25" dirty="0">
                    <a:solidFill>
                      <a:srgbClr val="385622"/>
                    </a:solidFill>
                    <a:latin typeface="Calibri"/>
                    <a:cs typeface="Calibri"/>
                  </a:rPr>
                  <a:t>j</a:t>
                </a:r>
                <a:r>
                  <a:rPr lang="en-US" sz="2400" b="1" spc="-25" dirty="0">
                    <a:solidFill>
                      <a:srgbClr val="385622"/>
                    </a:solidFill>
                    <a:latin typeface="Calibri"/>
                    <a:cs typeface="Calibri"/>
                  </a:rPr>
                  <a:t>.</a:t>
                </a:r>
                <a:endParaRPr lang="en-US" sz="2400" dirty="0">
                  <a:latin typeface="Calibri"/>
                  <a:cs typeface="Calibri"/>
                </a:endParaRPr>
              </a:p>
              <a:p>
                <a:pPr marL="469900" marR="5080" indent="-457200">
                  <a:lnSpc>
                    <a:spcPct val="100000"/>
                  </a:lnSpc>
                  <a:buAutoNum type="arabicPeriod"/>
                  <a:tabLst>
                    <a:tab pos="469900" algn="l"/>
                  </a:tabLst>
                </a:pP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The</a:t>
                </a:r>
                <a:r>
                  <a:rPr lang="en-US" sz="2400" b="1" spc="295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spc="-10" dirty="0">
                    <a:solidFill>
                      <a:srgbClr val="385622"/>
                    </a:solidFill>
                    <a:latin typeface="Calibri"/>
                    <a:cs typeface="Calibri"/>
                  </a:rPr>
                  <a:t>all-</a:t>
                </a: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zero</a:t>
                </a:r>
                <a:r>
                  <a:rPr lang="en-US" sz="2400" b="1" spc="290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word</a:t>
                </a:r>
                <a:r>
                  <a:rPr lang="en-US" sz="2400" b="1" spc="280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[0,</a:t>
                </a:r>
                <a:r>
                  <a:rPr lang="en-US" sz="2400" b="1" spc="300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0,</a:t>
                </a:r>
                <a:r>
                  <a:rPr lang="en-US" sz="2400" b="1" spc="290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0,</a:t>
                </a:r>
                <a:r>
                  <a:rPr lang="en-US" sz="2400" b="1" spc="295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……</a:t>
                </a:r>
                <a:r>
                  <a:rPr lang="en-US" sz="2400" b="1" spc="290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,</a:t>
                </a:r>
                <a:r>
                  <a:rPr lang="en-US" sz="2400" b="1" spc="300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0]</a:t>
                </a:r>
                <a:r>
                  <a:rPr lang="en-US" sz="2400" b="1" spc="295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is</a:t>
                </a:r>
                <a:r>
                  <a:rPr lang="en-US" sz="2400" b="1" spc="300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always</a:t>
                </a:r>
                <a:r>
                  <a:rPr lang="en-US" sz="2400" b="1" spc="280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a</a:t>
                </a:r>
                <a:r>
                  <a:rPr lang="en-US" sz="2400" b="1" spc="285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valid</a:t>
                </a:r>
                <a:r>
                  <a:rPr lang="en-US" sz="2400" b="1" spc="290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codeword</a:t>
                </a:r>
                <a:r>
                  <a:rPr lang="en-US" sz="2400" b="1" spc="300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in</a:t>
                </a:r>
                <a:r>
                  <a:rPr lang="en-US" sz="2400" b="1" spc="290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spc="-50" dirty="0">
                    <a:solidFill>
                      <a:srgbClr val="385622"/>
                    </a:solidFill>
                    <a:latin typeface="Calibri"/>
                    <a:cs typeface="Calibri"/>
                  </a:rPr>
                  <a:t>a </a:t>
                </a: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Linear</a:t>
                </a:r>
                <a:r>
                  <a:rPr lang="en-US" sz="2400" b="1" spc="-20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Block</a:t>
                </a:r>
                <a:r>
                  <a:rPr lang="en-US" sz="2400" b="1" spc="-15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spc="-20" dirty="0">
                    <a:solidFill>
                      <a:srgbClr val="385622"/>
                    </a:solidFill>
                    <a:latin typeface="Calibri"/>
                    <a:cs typeface="Calibri"/>
                  </a:rPr>
                  <a:t>Code.</a:t>
                </a:r>
                <a:endParaRPr lang="en-US" sz="2400" dirty="0">
                  <a:latin typeface="Calibri"/>
                  <a:cs typeface="Calibri"/>
                </a:endParaRPr>
              </a:p>
              <a:p>
                <a:pPr marL="469265" indent="-456565">
                  <a:lnSpc>
                    <a:spcPct val="100000"/>
                  </a:lnSpc>
                  <a:buAutoNum type="arabicPeriod"/>
                  <a:tabLst>
                    <a:tab pos="469265" algn="l"/>
                  </a:tabLst>
                </a:pP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Minimum</a:t>
                </a:r>
                <a:r>
                  <a:rPr lang="en-US" sz="2400" b="1" spc="-45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Hamming</a:t>
                </a:r>
                <a:r>
                  <a:rPr lang="en-US" sz="2400" b="1" spc="-40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spc="-10" dirty="0">
                    <a:solidFill>
                      <a:srgbClr val="385622"/>
                    </a:solidFill>
                    <a:latin typeface="Calibri"/>
                    <a:cs typeface="Calibri"/>
                  </a:rPr>
                  <a:t>Distance</a:t>
                </a:r>
                <a:r>
                  <a:rPr lang="en-US" sz="2400" b="1" spc="-25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of</a:t>
                </a:r>
                <a:r>
                  <a:rPr lang="en-US" sz="2400" b="1" spc="-40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the</a:t>
                </a:r>
                <a:r>
                  <a:rPr lang="en-US" sz="2400" b="1" spc="-20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Code</a:t>
                </a:r>
                <a:r>
                  <a:rPr lang="en-US" sz="2400" b="1" spc="-35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d</a:t>
                </a:r>
                <a:r>
                  <a:rPr lang="en-US" sz="18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min</a:t>
                </a:r>
                <a:r>
                  <a:rPr lang="en-US" sz="1800" b="1" spc="80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=</a:t>
                </a:r>
                <a:r>
                  <a:rPr lang="en-US" sz="2400" b="1" spc="-35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spc="-10" dirty="0">
                    <a:solidFill>
                      <a:srgbClr val="385622"/>
                    </a:solidFill>
                    <a:latin typeface="Calibri"/>
                    <a:cs typeface="Calibri"/>
                  </a:rPr>
                  <a:t>W</a:t>
                </a:r>
                <a:r>
                  <a:rPr lang="en-US" sz="1800" b="1" spc="-10" dirty="0">
                    <a:solidFill>
                      <a:srgbClr val="385622"/>
                    </a:solidFill>
                    <a:latin typeface="Calibri"/>
                    <a:cs typeface="Calibri"/>
                  </a:rPr>
                  <a:t>min.</a:t>
                </a:r>
                <a:endParaRPr lang="en-US" sz="1800" dirty="0">
                  <a:latin typeface="Calibri"/>
                  <a:cs typeface="Calibri"/>
                </a:endParaRPr>
              </a:p>
              <a:p>
                <a:pPr marL="469265" indent="-456565">
                  <a:lnSpc>
                    <a:spcPct val="100000"/>
                  </a:lnSpc>
                  <a:buAutoNum type="arabicPeriod"/>
                  <a:tabLst>
                    <a:tab pos="469265" algn="l"/>
                  </a:tabLst>
                </a:pP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It</a:t>
                </a:r>
                <a:r>
                  <a:rPr lang="en-US" sz="2400" b="1" spc="-30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can</a:t>
                </a:r>
                <a:r>
                  <a:rPr lang="en-US" sz="2400" b="1" spc="-50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detect</a:t>
                </a:r>
                <a:r>
                  <a:rPr lang="en-US" sz="2400" b="1" spc="-40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up</a:t>
                </a:r>
                <a:r>
                  <a:rPr lang="en-US" sz="2400" b="1" spc="-25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to</a:t>
                </a:r>
                <a:r>
                  <a:rPr lang="en-US" sz="2400" b="1" spc="-45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(d</a:t>
                </a:r>
                <a:r>
                  <a:rPr lang="en-US" sz="18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min</a:t>
                </a:r>
                <a:r>
                  <a:rPr lang="en-US" sz="1800" b="1" spc="105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–</a:t>
                </a:r>
                <a:r>
                  <a:rPr lang="en-US" sz="2400" b="1" spc="-40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1)</a:t>
                </a:r>
                <a:r>
                  <a:rPr lang="en-US" sz="2400" b="1" spc="-30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spc="-10" dirty="0">
                    <a:solidFill>
                      <a:srgbClr val="385622"/>
                    </a:solidFill>
                    <a:latin typeface="Calibri"/>
                    <a:cs typeface="Calibri"/>
                  </a:rPr>
                  <a:t>Errors.</a:t>
                </a:r>
                <a:endParaRPr lang="en-US" sz="2400" dirty="0">
                  <a:latin typeface="Calibri"/>
                  <a:cs typeface="Calibri"/>
                </a:endParaRPr>
              </a:p>
              <a:p>
                <a:pPr marL="469265" indent="-456565">
                  <a:lnSpc>
                    <a:spcPct val="100000"/>
                  </a:lnSpc>
                  <a:buAutoNum type="arabicPeriod"/>
                  <a:tabLst>
                    <a:tab pos="469265" algn="l"/>
                  </a:tabLst>
                </a:pP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It</a:t>
                </a:r>
                <a:r>
                  <a:rPr lang="en-US" sz="2400" b="1" spc="-25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can</a:t>
                </a:r>
                <a:r>
                  <a:rPr lang="en-US" sz="2400" b="1" spc="-45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correct</a:t>
                </a:r>
                <a:r>
                  <a:rPr lang="en-US" sz="2400" b="1" spc="-55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up</a:t>
                </a:r>
                <a:r>
                  <a:rPr lang="en-US" sz="2400" b="1" spc="-35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to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385622"/>
                        </a:solidFill>
                        <a:latin typeface="Cambria Math"/>
                        <a:cs typeface="Calibri"/>
                      </a:rPr>
                      <m:t>⌊</m:t>
                    </m:r>
                    <m:f>
                      <m:fPr>
                        <m:ctrlPr>
                          <a:rPr lang="en-US" sz="2400" b="1" i="1" smtClean="0">
                            <a:solidFill>
                              <a:srgbClr val="385622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b="1" i="1" smtClean="0">
                                <a:solidFill>
                                  <a:srgbClr val="385622"/>
                                </a:solidFill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sSubPr>
                          <m:e>
                            <m:r>
                              <a:rPr lang="en-US" sz="2400" b="1" i="1" smtClean="0">
                                <a:solidFill>
                                  <a:srgbClr val="385622"/>
                                </a:solidFill>
                                <a:latin typeface="Cambria Math"/>
                                <a:cs typeface="Calibri"/>
                              </a:rPr>
                              <m:t>𝒅</m:t>
                            </m:r>
                          </m:e>
                          <m:sub>
                            <m:r>
                              <a:rPr lang="en-US" sz="2400" b="1" i="1" smtClean="0">
                                <a:solidFill>
                                  <a:srgbClr val="385622"/>
                                </a:solidFill>
                                <a:latin typeface="Cambria Math"/>
                                <a:cs typeface="Calibri"/>
                              </a:rPr>
                              <m:t>𝒎𝒊𝒏</m:t>
                            </m:r>
                          </m:sub>
                        </m:sSub>
                        <m:r>
                          <a:rPr lang="en-US" sz="2400" b="1" i="1" smtClean="0">
                            <a:solidFill>
                              <a:srgbClr val="385622"/>
                            </a:solidFill>
                            <a:latin typeface="Cambria Math"/>
                            <a:cs typeface="Calibri"/>
                          </a:rPr>
                          <m:t>−</m:t>
                        </m:r>
                        <m:r>
                          <a:rPr lang="en-US" sz="2400" b="1" i="1" smtClean="0">
                            <a:solidFill>
                              <a:srgbClr val="385622"/>
                            </a:solidFill>
                            <a:latin typeface="Cambria Math"/>
                            <a:cs typeface="Calibri"/>
                          </a:rPr>
                          <m:t>𝟏</m:t>
                        </m:r>
                      </m:num>
                      <m:den>
                        <m:r>
                          <a:rPr lang="en-US" sz="2400" b="1" i="1" smtClean="0">
                            <a:solidFill>
                              <a:srgbClr val="385622"/>
                            </a:solidFill>
                            <a:latin typeface="Cambria Math"/>
                            <a:cs typeface="Calibri"/>
                          </a:rPr>
                          <m:t>𝟐</m:t>
                        </m:r>
                      </m:den>
                    </m:f>
                    <m:r>
                      <a:rPr lang="en-US" sz="2400" b="1" i="1" smtClean="0">
                        <a:solidFill>
                          <a:srgbClr val="385622"/>
                        </a:solidFill>
                        <a:latin typeface="Cambria Math"/>
                        <a:cs typeface="Calibri"/>
                      </a:rPr>
                      <m:t>⌋</m:t>
                    </m:r>
                  </m:oMath>
                </a14:m>
                <a:r>
                  <a:rPr lang="en-US" sz="2400" b="1" spc="-25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spc="-10" dirty="0">
                    <a:solidFill>
                      <a:srgbClr val="385622"/>
                    </a:solidFill>
                    <a:latin typeface="Calibri"/>
                    <a:cs typeface="Calibri"/>
                  </a:rPr>
                  <a:t>Errors.</a:t>
                </a:r>
                <a:endParaRPr sz="24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7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1800" y="1174990"/>
                <a:ext cx="9248140" cy="2396810"/>
              </a:xfrm>
              <a:prstGeom prst="rect">
                <a:avLst/>
              </a:prstGeom>
              <a:blipFill rotWithShape="1">
                <a:blip r:embed="rId2"/>
                <a:stretch>
                  <a:fillRect l="-1912" t="-3817" r="-1648" b="-35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4692643"/>
              </p:ext>
            </p:extLst>
          </p:nvPr>
        </p:nvGraphicFramePr>
        <p:xfrm>
          <a:off x="3243" y="117066"/>
          <a:ext cx="2867715" cy="65570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66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6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46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46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67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0563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7489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39117">
                <a:tc gridSpan="7">
                  <a:txBody>
                    <a:bodyPr/>
                    <a:lstStyle/>
                    <a:p>
                      <a:pPr algn="ctr"/>
                      <a:r>
                        <a:rPr lang="en-US" dirty="0"/>
                        <a:t>Hamming Code (7,4)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9117">
                <a:tc>
                  <a:txBody>
                    <a:bodyPr/>
                    <a:lstStyle/>
                    <a:p>
                      <a:r>
                        <a:rPr lang="en-US" sz="1300" dirty="0"/>
                        <a:t>D4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D3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D2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FF0000"/>
                          </a:solidFill>
                        </a:rPr>
                        <a:t>P3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D1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FF0000"/>
                          </a:solidFill>
                        </a:rPr>
                        <a:t>P2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FF0000"/>
                          </a:solidFill>
                        </a:rPr>
                        <a:t>P1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117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9117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9117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9117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9117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9117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9117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9117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9117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9117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9117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39117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39117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39117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39117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339117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0" y="1905000"/>
            <a:ext cx="2819400" cy="3802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0" y="4114800"/>
            <a:ext cx="2819400" cy="3802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0" y="4495087"/>
            <a:ext cx="2819400" cy="349028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861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Example</a:t>
            </a:r>
            <a:r>
              <a:rPr spc="-65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dirty="0"/>
              <a:t>Linear</a:t>
            </a:r>
            <a:r>
              <a:rPr spc="-75" dirty="0"/>
              <a:t> </a:t>
            </a:r>
            <a:r>
              <a:rPr dirty="0"/>
              <a:t>Block</a:t>
            </a:r>
            <a:r>
              <a:rPr spc="-45" dirty="0"/>
              <a:t> </a:t>
            </a:r>
            <a:r>
              <a:rPr spc="-20" dirty="0"/>
              <a:t>Code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01066" y="1691767"/>
          <a:ext cx="3776976" cy="37090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442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42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42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42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marR="2540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Data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17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Parity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65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188772" y="579501"/>
            <a:ext cx="11757025" cy="1067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indent="-457200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469900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Example</a:t>
            </a:r>
            <a:r>
              <a:rPr sz="2400" b="1" spc="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1:</a:t>
            </a:r>
            <a:r>
              <a:rPr sz="2400" b="1" spc="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Show</a:t>
            </a:r>
            <a:r>
              <a:rPr sz="2400" b="1" spc="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that</a:t>
            </a:r>
            <a:r>
              <a:rPr sz="2400" b="1" spc="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(4,</a:t>
            </a:r>
            <a:r>
              <a:rPr sz="2400" b="1" spc="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3)</a:t>
            </a:r>
            <a:r>
              <a:rPr sz="2400" b="1" spc="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Even-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Parity</a:t>
            </a:r>
            <a:r>
              <a:rPr sz="2400" b="1" spc="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Code</a:t>
            </a:r>
            <a:r>
              <a:rPr sz="2400" b="1" spc="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sz="2400" b="1" spc="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linear</a:t>
            </a:r>
            <a:r>
              <a:rPr sz="2400" b="1" spc="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and</a:t>
            </a:r>
            <a:r>
              <a:rPr sz="2400" b="1" spc="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(4,</a:t>
            </a:r>
            <a:r>
              <a:rPr sz="2400" b="1" spc="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3)</a:t>
            </a:r>
            <a:r>
              <a:rPr sz="2400" b="1" spc="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Odd-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Parity</a:t>
            </a:r>
            <a:r>
              <a:rPr sz="2400" b="1" spc="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Code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not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linear.</a:t>
            </a:r>
            <a:endParaRPr sz="2400">
              <a:latin typeface="Calibri"/>
              <a:cs typeface="Calibri"/>
            </a:endParaRPr>
          </a:p>
          <a:p>
            <a:pPr marL="386080">
              <a:lnSpc>
                <a:spcPct val="100000"/>
              </a:lnSpc>
              <a:spcBef>
                <a:spcPts val="280"/>
              </a:spcBef>
              <a:tabLst>
                <a:tab pos="4452620" algn="l"/>
              </a:tabLst>
            </a:pPr>
            <a:r>
              <a:rPr sz="1800" b="1" dirty="0">
                <a:latin typeface="Calibri"/>
                <a:cs typeface="Calibri"/>
              </a:rPr>
              <a:t>(4,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3)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Even</a:t>
            </a:r>
            <a:r>
              <a:rPr sz="1800" b="1" spc="-4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Parity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Block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Code</a:t>
            </a:r>
            <a:r>
              <a:rPr sz="1800" b="1" dirty="0">
                <a:latin typeface="Calibri"/>
                <a:cs typeface="Calibri"/>
              </a:rPr>
              <a:t>	(4,</a:t>
            </a:r>
            <a:r>
              <a:rPr sz="1800" b="1" spc="-2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3)</a:t>
            </a:r>
            <a:r>
              <a:rPr sz="1800" b="1" spc="-2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Odd</a:t>
            </a:r>
            <a:r>
              <a:rPr sz="1800" b="1" spc="-2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Parity</a:t>
            </a:r>
            <a:r>
              <a:rPr sz="1800" b="1" spc="-2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Block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Code</a:t>
            </a:r>
            <a:endParaRPr sz="1800">
              <a:latin typeface="Calibri"/>
              <a:cs typeface="Calibri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4266438" y="1691767"/>
          <a:ext cx="3776976" cy="37090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442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42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42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42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marR="190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Data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Parity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650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224739" y="5484977"/>
            <a:ext cx="1175448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indent="-45720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469900" algn="l"/>
              </a:tabLst>
            </a:pP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C</a:t>
            </a:r>
            <a:r>
              <a:rPr sz="1800" b="1" dirty="0">
                <a:solidFill>
                  <a:srgbClr val="006FC0"/>
                </a:solidFill>
                <a:latin typeface="Calibri"/>
                <a:cs typeface="Calibri"/>
              </a:rPr>
              <a:t>p</a:t>
            </a:r>
            <a:r>
              <a:rPr sz="1800" b="1" spc="254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=</a:t>
            </a:r>
            <a:r>
              <a:rPr sz="2400" b="1" spc="1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C</a:t>
            </a:r>
            <a:r>
              <a:rPr sz="1800" b="1" dirty="0">
                <a:solidFill>
                  <a:srgbClr val="006FC0"/>
                </a:solidFill>
                <a:latin typeface="Calibri"/>
                <a:cs typeface="Calibri"/>
              </a:rPr>
              <a:t>i</a:t>
            </a:r>
            <a:r>
              <a:rPr sz="1800" b="1" spc="254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+</a:t>
            </a:r>
            <a:r>
              <a:rPr sz="2400" b="1" spc="1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C</a:t>
            </a:r>
            <a:r>
              <a:rPr sz="1800" b="1" dirty="0">
                <a:solidFill>
                  <a:srgbClr val="006FC0"/>
                </a:solidFill>
                <a:latin typeface="Calibri"/>
                <a:cs typeface="Calibri"/>
              </a:rPr>
              <a:t>k,</a:t>
            </a:r>
            <a:r>
              <a:rPr sz="1800" b="1" spc="-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It</a:t>
            </a:r>
            <a:r>
              <a:rPr sz="2400" b="1" spc="11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is</a:t>
            </a:r>
            <a:r>
              <a:rPr sz="2400" b="1" spc="1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followed</a:t>
            </a:r>
            <a:r>
              <a:rPr sz="2400" b="1" spc="114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in</a:t>
            </a:r>
            <a:r>
              <a:rPr sz="2400" b="1" spc="11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(4,</a:t>
            </a:r>
            <a:r>
              <a:rPr sz="2400" b="1" spc="1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3)</a:t>
            </a:r>
            <a:r>
              <a:rPr sz="2400" b="1" spc="11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Even</a:t>
            </a:r>
            <a:r>
              <a:rPr sz="2400" b="1" spc="114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Parity</a:t>
            </a:r>
            <a:r>
              <a:rPr sz="2400" b="1" spc="11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Block</a:t>
            </a:r>
            <a:r>
              <a:rPr sz="2400" b="1" spc="114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Code,</a:t>
            </a:r>
            <a:r>
              <a:rPr sz="2400" b="1" spc="11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but</a:t>
            </a:r>
            <a:r>
              <a:rPr sz="2400" b="1" spc="11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it</a:t>
            </a:r>
            <a:r>
              <a:rPr sz="2400" b="1" spc="11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is</a:t>
            </a:r>
            <a:r>
              <a:rPr sz="2400" b="1" spc="1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not</a:t>
            </a:r>
            <a:r>
              <a:rPr sz="2400" b="1" spc="1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followed</a:t>
            </a:r>
            <a:r>
              <a:rPr sz="2400" b="1" spc="1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in</a:t>
            </a:r>
            <a:r>
              <a:rPr sz="2400" b="1" spc="11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(4,</a:t>
            </a:r>
            <a:r>
              <a:rPr sz="2400" b="1" spc="1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006FC0"/>
                </a:solidFill>
                <a:latin typeface="Calibri"/>
                <a:cs typeface="Calibri"/>
              </a:rPr>
              <a:t>3)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Odd</a:t>
            </a:r>
            <a:r>
              <a:rPr sz="2400" b="1" spc="-5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Parity</a:t>
            </a:r>
            <a:r>
              <a:rPr sz="2400" b="1" spc="-5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Block</a:t>
            </a:r>
            <a:r>
              <a:rPr sz="2400" b="1" spc="-6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006FC0"/>
                </a:solidFill>
                <a:latin typeface="Calibri"/>
                <a:cs typeface="Calibri"/>
              </a:rPr>
              <a:t>Code.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3753" y="29413"/>
            <a:ext cx="11670030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u="none" spc="-135" dirty="0">
                <a:solidFill>
                  <a:srgbClr val="006600"/>
                </a:solidFill>
                <a:latin typeface="Arial"/>
                <a:cs typeface="Arial"/>
              </a:rPr>
              <a:t>Linear</a:t>
            </a:r>
            <a:r>
              <a:rPr sz="6000" u="none" spc="-24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6000" u="none" spc="-345" dirty="0">
                <a:solidFill>
                  <a:srgbClr val="006600"/>
                </a:solidFill>
                <a:latin typeface="Arial"/>
                <a:cs typeface="Arial"/>
              </a:rPr>
              <a:t>Block</a:t>
            </a:r>
            <a:r>
              <a:rPr sz="6000" u="none" spc="-17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6000" u="none" spc="-415" dirty="0">
                <a:solidFill>
                  <a:srgbClr val="006600"/>
                </a:solidFill>
                <a:latin typeface="Arial"/>
                <a:cs typeface="Arial"/>
              </a:rPr>
              <a:t>Code</a:t>
            </a:r>
            <a:r>
              <a:rPr sz="6000" u="none" spc="-17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6000" u="none" spc="-459" dirty="0">
                <a:solidFill>
                  <a:srgbClr val="006600"/>
                </a:solidFill>
                <a:latin typeface="Arial"/>
                <a:cs typeface="Arial"/>
              </a:rPr>
              <a:t>Solved</a:t>
            </a:r>
            <a:r>
              <a:rPr sz="6000" u="none" spc="-17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6000" u="none" spc="-135" dirty="0">
                <a:solidFill>
                  <a:srgbClr val="006600"/>
                </a:solidFill>
                <a:latin typeface="Arial"/>
                <a:cs typeface="Arial"/>
              </a:rPr>
              <a:t>Example</a:t>
            </a:r>
            <a:endParaRPr sz="60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8772" y="884301"/>
            <a:ext cx="85217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4692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Example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1: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For</a:t>
            </a:r>
            <a:r>
              <a:rPr sz="2400" b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(6,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3)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code,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Generator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Matrix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G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given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by: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188458" y="1337690"/>
            <a:ext cx="2795905" cy="904240"/>
          </a:xfrm>
          <a:custGeom>
            <a:avLst/>
            <a:gdLst/>
            <a:ahLst/>
            <a:cxnLst/>
            <a:rect l="l" t="t" r="r" b="b"/>
            <a:pathLst>
              <a:path w="2795904" h="904239">
                <a:moveTo>
                  <a:pt x="80899" y="889000"/>
                </a:moveTo>
                <a:lnTo>
                  <a:pt x="0" y="889000"/>
                </a:lnTo>
                <a:lnTo>
                  <a:pt x="0" y="904240"/>
                </a:lnTo>
                <a:lnTo>
                  <a:pt x="80899" y="904240"/>
                </a:lnTo>
                <a:lnTo>
                  <a:pt x="80899" y="889000"/>
                </a:lnTo>
                <a:close/>
              </a:path>
              <a:path w="2795904" h="904239">
                <a:moveTo>
                  <a:pt x="80899" y="0"/>
                </a:moveTo>
                <a:lnTo>
                  <a:pt x="0" y="0"/>
                </a:lnTo>
                <a:lnTo>
                  <a:pt x="0" y="13970"/>
                </a:lnTo>
                <a:lnTo>
                  <a:pt x="80899" y="13970"/>
                </a:lnTo>
                <a:lnTo>
                  <a:pt x="80899" y="0"/>
                </a:lnTo>
                <a:close/>
              </a:path>
              <a:path w="2795904" h="904239">
                <a:moveTo>
                  <a:pt x="2795397" y="889000"/>
                </a:moveTo>
                <a:lnTo>
                  <a:pt x="2714371" y="889000"/>
                </a:lnTo>
                <a:lnTo>
                  <a:pt x="2714371" y="904240"/>
                </a:lnTo>
                <a:lnTo>
                  <a:pt x="2795397" y="904240"/>
                </a:lnTo>
                <a:lnTo>
                  <a:pt x="2795397" y="889000"/>
                </a:lnTo>
                <a:close/>
              </a:path>
              <a:path w="2795904" h="904239">
                <a:moveTo>
                  <a:pt x="2795397" y="0"/>
                </a:moveTo>
                <a:lnTo>
                  <a:pt x="2714371" y="0"/>
                </a:lnTo>
                <a:lnTo>
                  <a:pt x="2714371" y="13970"/>
                </a:lnTo>
                <a:lnTo>
                  <a:pt x="2714371" y="15240"/>
                </a:lnTo>
                <a:lnTo>
                  <a:pt x="2764663" y="15240"/>
                </a:lnTo>
                <a:lnTo>
                  <a:pt x="2764663" y="13970"/>
                </a:lnTo>
                <a:lnTo>
                  <a:pt x="2795397" y="13970"/>
                </a:lnTo>
                <a:lnTo>
                  <a:pt x="279539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626922" y="1263438"/>
          <a:ext cx="7341865" cy="13792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694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76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83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76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76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70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870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0703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5560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71755" algn="ctr">
                        <a:lnSpc>
                          <a:spcPts val="260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𝟏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0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𝟎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0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𝟎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60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𝟏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0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𝟎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0645" algn="ctr">
                        <a:lnSpc>
                          <a:spcPts val="260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𝟏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1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17320">
                        <a:lnSpc>
                          <a:spcPts val="2500"/>
                        </a:lnSpc>
                      </a:pPr>
                      <a:r>
                        <a:rPr sz="2400" dirty="0">
                          <a:latin typeface="Cambria Math"/>
                          <a:cs typeface="Cambria Math"/>
                        </a:rPr>
                        <a:t>⟹</a:t>
                      </a:r>
                      <a:r>
                        <a:rPr sz="2400" spc="12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400" dirty="0">
                          <a:latin typeface="Cambria Math"/>
                          <a:cs typeface="Cambria Math"/>
                        </a:rPr>
                        <a:t>𝐆</a:t>
                      </a:r>
                      <a:r>
                        <a:rPr sz="2400" spc="13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400" spc="-60" dirty="0">
                          <a:latin typeface="Cambria Math"/>
                          <a:cs typeface="Cambria Math"/>
                        </a:rPr>
                        <a:t>=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71755" algn="ctr">
                        <a:lnSpc>
                          <a:spcPts val="262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𝟎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2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𝟏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2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𝟎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2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𝟎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2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𝟏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0645" algn="ctr">
                        <a:lnSpc>
                          <a:spcPts val="262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𝟏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49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935"/>
                        </a:spcBef>
                      </a:pPr>
                      <a:r>
                        <a:rPr sz="2400" b="1" spc="-10" dirty="0">
                          <a:solidFill>
                            <a:srgbClr val="6F2F9F"/>
                          </a:solidFill>
                          <a:latin typeface="Calibri"/>
                          <a:cs typeface="Calibri"/>
                        </a:rPr>
                        <a:t>Find,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4574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71755" algn="ctr">
                        <a:lnSpc>
                          <a:spcPts val="255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𝟎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5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𝟎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5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𝟏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5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𝟏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5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𝟏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0645" algn="ctr">
                        <a:lnSpc>
                          <a:spcPts val="255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𝟎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188772" y="2218182"/>
            <a:ext cx="6908800" cy="2220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6F2F9F"/>
                </a:solidFill>
                <a:latin typeface="Wingdings"/>
                <a:cs typeface="Wingdings"/>
              </a:rPr>
              <a:t></a:t>
            </a:r>
            <a:endParaRPr sz="2400">
              <a:latin typeface="Wingdings"/>
              <a:cs typeface="Wingdings"/>
            </a:endParaRPr>
          </a:p>
          <a:p>
            <a:pPr marL="984885" indent="-514984">
              <a:lnSpc>
                <a:spcPct val="100000"/>
              </a:lnSpc>
              <a:buAutoNum type="romanUcPeriod"/>
              <a:tabLst>
                <a:tab pos="984885" algn="l"/>
              </a:tabLst>
            </a:pP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All</a:t>
            </a:r>
            <a:r>
              <a:rPr sz="2400" b="1" spc="-5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Corresponding</a:t>
            </a:r>
            <a:r>
              <a:rPr sz="2400" b="1" spc="-5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Code</a:t>
            </a:r>
            <a:r>
              <a:rPr sz="2400" b="1" spc="-5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Vectors</a:t>
            </a:r>
            <a:endParaRPr sz="2400">
              <a:latin typeface="Calibri"/>
              <a:cs typeface="Calibri"/>
            </a:endParaRPr>
          </a:p>
          <a:p>
            <a:pPr marL="984885" indent="-514984">
              <a:lnSpc>
                <a:spcPct val="100000"/>
              </a:lnSpc>
              <a:buAutoNum type="romanUcPeriod"/>
              <a:tabLst>
                <a:tab pos="984885" algn="l"/>
              </a:tabLst>
            </a:pP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Minimum</a:t>
            </a:r>
            <a:r>
              <a:rPr sz="2400" b="1" spc="-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Hamming</a:t>
            </a:r>
            <a:r>
              <a:rPr sz="2400" b="1" spc="-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Distance</a:t>
            </a:r>
            <a:endParaRPr sz="2400">
              <a:latin typeface="Calibri"/>
              <a:cs typeface="Calibri"/>
            </a:endParaRPr>
          </a:p>
          <a:p>
            <a:pPr marL="984885" indent="-514984">
              <a:lnSpc>
                <a:spcPct val="100000"/>
              </a:lnSpc>
              <a:buAutoNum type="romanUcPeriod"/>
              <a:tabLst>
                <a:tab pos="984885" algn="l"/>
              </a:tabLst>
            </a:pP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Error</a:t>
            </a:r>
            <a:r>
              <a:rPr sz="2400" b="1" spc="-9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Detection</a:t>
            </a:r>
            <a:r>
              <a:rPr sz="2400" b="1" spc="-6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and</a:t>
            </a:r>
            <a:r>
              <a:rPr sz="2400" b="1" spc="-7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Error</a:t>
            </a:r>
            <a:r>
              <a:rPr sz="2400" b="1" spc="-8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Correction</a:t>
            </a:r>
            <a:r>
              <a:rPr sz="2400" b="1" spc="-8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Capability</a:t>
            </a:r>
            <a:endParaRPr sz="2400">
              <a:latin typeface="Calibri"/>
              <a:cs typeface="Calibri"/>
            </a:endParaRPr>
          </a:p>
          <a:p>
            <a:pPr marL="984885" indent="-514984">
              <a:lnSpc>
                <a:spcPct val="100000"/>
              </a:lnSpc>
              <a:buAutoNum type="romanUcPeriod"/>
              <a:tabLst>
                <a:tab pos="984885" algn="l"/>
              </a:tabLst>
            </a:pP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Parity</a:t>
            </a:r>
            <a:r>
              <a:rPr sz="2400" b="1" spc="-9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Check</a:t>
            </a:r>
            <a:r>
              <a:rPr sz="2400" b="1" spc="-8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Matrix</a:t>
            </a:r>
            <a:endParaRPr sz="2400">
              <a:latin typeface="Calibri"/>
              <a:cs typeface="Calibri"/>
            </a:endParaRPr>
          </a:p>
          <a:p>
            <a:pPr marL="984885" indent="-514984">
              <a:lnSpc>
                <a:spcPct val="100000"/>
              </a:lnSpc>
              <a:buAutoNum type="romanUcPeriod"/>
              <a:tabLst>
                <a:tab pos="984885" algn="l"/>
              </a:tabLst>
            </a:pP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Find</a:t>
            </a:r>
            <a:r>
              <a:rPr sz="2400" b="1" spc="-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error</a:t>
            </a:r>
            <a:r>
              <a:rPr sz="2400" b="1" spc="-4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if</a:t>
            </a:r>
            <a:r>
              <a:rPr sz="2400" b="1" spc="-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received</a:t>
            </a:r>
            <a:r>
              <a:rPr sz="2400" b="1" spc="-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code</a:t>
            </a:r>
            <a:r>
              <a:rPr sz="2400" b="1" spc="-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is</a:t>
            </a:r>
            <a:r>
              <a:rPr sz="2400" b="1" spc="-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[1</a:t>
            </a:r>
            <a:r>
              <a:rPr sz="2400" b="1" spc="-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0</a:t>
            </a:r>
            <a:r>
              <a:rPr sz="2400" b="1" spc="-4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0</a:t>
            </a:r>
            <a:r>
              <a:rPr sz="2400" b="1" spc="-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0</a:t>
            </a:r>
            <a:r>
              <a:rPr sz="2400" b="1" spc="-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1</a:t>
            </a:r>
            <a:r>
              <a:rPr sz="2400" b="1" spc="-25" dirty="0">
                <a:solidFill>
                  <a:srgbClr val="006FC0"/>
                </a:solidFill>
                <a:latin typeface="Calibri"/>
                <a:cs typeface="Calibri"/>
              </a:rPr>
              <a:t> 1]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914400" y="4724400"/>
            <a:ext cx="2667000" cy="533400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rial Narrow" pitchFamily="34" charset="0"/>
              </a:rPr>
              <a:t>Minimum Hamming Distance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117" y="29413"/>
            <a:ext cx="1193736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u="none" spc="-155" dirty="0">
                <a:solidFill>
                  <a:srgbClr val="006600"/>
                </a:solidFill>
                <a:latin typeface="Arial"/>
                <a:cs typeface="Arial"/>
              </a:rPr>
              <a:t>Linear</a:t>
            </a:r>
            <a:r>
              <a:rPr sz="6000" u="none" spc="-22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6000" u="none" spc="-335" dirty="0">
                <a:solidFill>
                  <a:srgbClr val="006600"/>
                </a:solidFill>
                <a:latin typeface="Arial"/>
                <a:cs typeface="Arial"/>
              </a:rPr>
              <a:t>Block</a:t>
            </a:r>
            <a:r>
              <a:rPr sz="6000" u="none" spc="-17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6000" u="none" spc="-415" dirty="0">
                <a:solidFill>
                  <a:srgbClr val="006600"/>
                </a:solidFill>
                <a:latin typeface="Arial"/>
                <a:cs typeface="Arial"/>
              </a:rPr>
              <a:t>Code</a:t>
            </a:r>
            <a:r>
              <a:rPr sz="6000" u="none" spc="-17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6000" u="none" spc="-459" dirty="0">
                <a:solidFill>
                  <a:srgbClr val="006600"/>
                </a:solidFill>
                <a:latin typeface="Arial"/>
                <a:cs typeface="Arial"/>
              </a:rPr>
              <a:t>Solved</a:t>
            </a:r>
            <a:r>
              <a:rPr sz="6000" u="none" spc="-17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6000" u="none" spc="-365" dirty="0">
                <a:solidFill>
                  <a:srgbClr val="006600"/>
                </a:solidFill>
                <a:latin typeface="Arial"/>
                <a:cs typeface="Arial"/>
              </a:rPr>
              <a:t>Examples</a:t>
            </a:r>
            <a:endParaRPr sz="60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8772" y="884301"/>
            <a:ext cx="1175385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indent="-457200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469900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Example</a:t>
            </a:r>
            <a:r>
              <a:rPr sz="2400" b="1" spc="114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2:</a:t>
            </a:r>
            <a:r>
              <a:rPr sz="2400" b="1" spc="9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Determine</a:t>
            </a:r>
            <a:r>
              <a:rPr sz="2400" b="1" spc="11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114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set</a:t>
            </a:r>
            <a:r>
              <a:rPr sz="2400" b="1" spc="9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spc="10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codewords</a:t>
            </a:r>
            <a:r>
              <a:rPr sz="2400" b="1" spc="114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for</a:t>
            </a:r>
            <a:r>
              <a:rPr sz="2400" b="1" spc="10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</a:t>
            </a:r>
            <a:r>
              <a:rPr sz="2400" b="1" spc="10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(6,</a:t>
            </a:r>
            <a:r>
              <a:rPr sz="2400" b="1" spc="114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3)</a:t>
            </a:r>
            <a:r>
              <a:rPr sz="2400" b="1" spc="10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code,</a:t>
            </a:r>
            <a:r>
              <a:rPr sz="2400" b="1" spc="114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114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Generator</a:t>
            </a:r>
            <a:r>
              <a:rPr sz="2400" b="1" spc="114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Matrix</a:t>
            </a:r>
            <a:r>
              <a:rPr sz="2400" b="1" spc="11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G</a:t>
            </a:r>
            <a:r>
              <a:rPr sz="2400" b="1" spc="10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is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given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by: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744218" y="1703450"/>
            <a:ext cx="2794000" cy="904240"/>
          </a:xfrm>
          <a:custGeom>
            <a:avLst/>
            <a:gdLst/>
            <a:ahLst/>
            <a:cxnLst/>
            <a:rect l="l" t="t" r="r" b="b"/>
            <a:pathLst>
              <a:path w="2794000" h="904239">
                <a:moveTo>
                  <a:pt x="80899" y="889000"/>
                </a:moveTo>
                <a:lnTo>
                  <a:pt x="0" y="889000"/>
                </a:lnTo>
                <a:lnTo>
                  <a:pt x="0" y="904240"/>
                </a:lnTo>
                <a:lnTo>
                  <a:pt x="80899" y="904240"/>
                </a:lnTo>
                <a:lnTo>
                  <a:pt x="80899" y="889000"/>
                </a:lnTo>
                <a:close/>
              </a:path>
              <a:path w="2794000" h="904239">
                <a:moveTo>
                  <a:pt x="80899" y="0"/>
                </a:moveTo>
                <a:lnTo>
                  <a:pt x="0" y="0"/>
                </a:lnTo>
                <a:lnTo>
                  <a:pt x="0" y="13970"/>
                </a:lnTo>
                <a:lnTo>
                  <a:pt x="80899" y="13970"/>
                </a:lnTo>
                <a:lnTo>
                  <a:pt x="80899" y="0"/>
                </a:lnTo>
                <a:close/>
              </a:path>
              <a:path w="2794000" h="904239">
                <a:moveTo>
                  <a:pt x="2793873" y="889000"/>
                </a:moveTo>
                <a:lnTo>
                  <a:pt x="2712847" y="889000"/>
                </a:lnTo>
                <a:lnTo>
                  <a:pt x="2712847" y="904240"/>
                </a:lnTo>
                <a:lnTo>
                  <a:pt x="2793873" y="904240"/>
                </a:lnTo>
                <a:lnTo>
                  <a:pt x="2793873" y="889000"/>
                </a:lnTo>
                <a:close/>
              </a:path>
              <a:path w="2794000" h="904239">
                <a:moveTo>
                  <a:pt x="2793873" y="0"/>
                </a:moveTo>
                <a:lnTo>
                  <a:pt x="2712847" y="0"/>
                </a:lnTo>
                <a:lnTo>
                  <a:pt x="2712847" y="13970"/>
                </a:lnTo>
                <a:lnTo>
                  <a:pt x="2712847" y="15240"/>
                </a:lnTo>
                <a:lnTo>
                  <a:pt x="2763139" y="15240"/>
                </a:lnTo>
                <a:lnTo>
                  <a:pt x="2763139" y="13970"/>
                </a:lnTo>
                <a:lnTo>
                  <a:pt x="2793873" y="13970"/>
                </a:lnTo>
                <a:lnTo>
                  <a:pt x="279387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637590" y="1629816"/>
          <a:ext cx="3884930" cy="1082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220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7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7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7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70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2595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𝟏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95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𝟎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95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𝟎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95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𝟎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595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𝟏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4135" algn="r">
                        <a:lnSpc>
                          <a:spcPts val="2595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𝟏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4490">
                <a:tc>
                  <a:txBody>
                    <a:bodyPr/>
                    <a:lstStyle/>
                    <a:p>
                      <a:pPr marL="31750">
                        <a:lnSpc>
                          <a:spcPts val="2495"/>
                        </a:lnSpc>
                      </a:pPr>
                      <a:r>
                        <a:rPr sz="2400" dirty="0">
                          <a:latin typeface="Cambria Math"/>
                          <a:cs typeface="Cambria Math"/>
                        </a:rPr>
                        <a:t>⟹</a:t>
                      </a:r>
                      <a:r>
                        <a:rPr sz="2400" spc="11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400" dirty="0">
                          <a:latin typeface="Cambria Math"/>
                          <a:cs typeface="Cambria Math"/>
                        </a:rPr>
                        <a:t>𝐆</a:t>
                      </a:r>
                      <a:r>
                        <a:rPr sz="2400" spc="13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400" spc="-60" dirty="0">
                          <a:latin typeface="Cambria Math"/>
                          <a:cs typeface="Cambria Math"/>
                        </a:rPr>
                        <a:t>=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2615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𝟎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15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𝟏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15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𝟎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15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𝟏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615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𝟎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4135" algn="r">
                        <a:lnSpc>
                          <a:spcPts val="2615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𝟏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255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𝟎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5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𝟎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5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𝟏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5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𝟏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55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𝟏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4135" algn="r">
                        <a:lnSpc>
                          <a:spcPts val="255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𝟎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8772" y="104394"/>
            <a:ext cx="81438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4692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Example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3: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(5,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3)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linear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code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has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generator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Matrix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G: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6640" y="778002"/>
            <a:ext cx="98234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 Math"/>
                <a:cs typeface="Cambria Math"/>
              </a:rPr>
              <a:t>⟹</a:t>
            </a:r>
            <a:r>
              <a:rPr sz="2400" spc="11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𝐆</a:t>
            </a:r>
            <a:r>
              <a:rPr sz="2400" spc="130" dirty="0">
                <a:latin typeface="Cambria Math"/>
                <a:cs typeface="Cambria Math"/>
              </a:rPr>
              <a:t> </a:t>
            </a:r>
            <a:r>
              <a:rPr sz="2400" spc="-60" dirty="0">
                <a:latin typeface="Cambria Math"/>
                <a:cs typeface="Cambria Math"/>
              </a:rPr>
              <a:t>=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744218" y="557783"/>
            <a:ext cx="2308225" cy="904240"/>
          </a:xfrm>
          <a:custGeom>
            <a:avLst/>
            <a:gdLst/>
            <a:ahLst/>
            <a:cxnLst/>
            <a:rect l="l" t="t" r="r" b="b"/>
            <a:pathLst>
              <a:path w="2308225" h="904240">
                <a:moveTo>
                  <a:pt x="80899" y="0"/>
                </a:moveTo>
                <a:lnTo>
                  <a:pt x="0" y="0"/>
                </a:lnTo>
                <a:lnTo>
                  <a:pt x="0" y="13970"/>
                </a:lnTo>
                <a:lnTo>
                  <a:pt x="0" y="889000"/>
                </a:lnTo>
                <a:lnTo>
                  <a:pt x="0" y="904240"/>
                </a:lnTo>
                <a:lnTo>
                  <a:pt x="80899" y="904240"/>
                </a:lnTo>
                <a:lnTo>
                  <a:pt x="80899" y="889000"/>
                </a:lnTo>
                <a:lnTo>
                  <a:pt x="30607" y="889000"/>
                </a:lnTo>
                <a:lnTo>
                  <a:pt x="30607" y="13970"/>
                </a:lnTo>
                <a:lnTo>
                  <a:pt x="80899" y="13970"/>
                </a:lnTo>
                <a:lnTo>
                  <a:pt x="80899" y="0"/>
                </a:lnTo>
                <a:close/>
              </a:path>
              <a:path w="2308225" h="904240">
                <a:moveTo>
                  <a:pt x="2307717" y="0"/>
                </a:moveTo>
                <a:lnTo>
                  <a:pt x="2226691" y="0"/>
                </a:lnTo>
                <a:lnTo>
                  <a:pt x="2226691" y="13970"/>
                </a:lnTo>
                <a:lnTo>
                  <a:pt x="2276983" y="13970"/>
                </a:lnTo>
                <a:lnTo>
                  <a:pt x="2276983" y="889000"/>
                </a:lnTo>
                <a:lnTo>
                  <a:pt x="2226691" y="889000"/>
                </a:lnTo>
                <a:lnTo>
                  <a:pt x="2226691" y="904240"/>
                </a:lnTo>
                <a:lnTo>
                  <a:pt x="2307717" y="904240"/>
                </a:lnTo>
                <a:lnTo>
                  <a:pt x="2307717" y="889000"/>
                </a:lnTo>
                <a:lnTo>
                  <a:pt x="2307717" y="13970"/>
                </a:lnTo>
                <a:lnTo>
                  <a:pt x="230771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818258" y="436626"/>
            <a:ext cx="2159000" cy="748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45"/>
              </a:lnSpc>
              <a:spcBef>
                <a:spcPts val="100"/>
              </a:spcBef>
              <a:tabLst>
                <a:tab pos="499745" algn="l"/>
                <a:tab pos="987425" algn="l"/>
                <a:tab pos="1475105" algn="l"/>
                <a:tab pos="1963420" algn="l"/>
              </a:tabLst>
            </a:pPr>
            <a:r>
              <a:rPr sz="2400" spc="-50" dirty="0">
                <a:latin typeface="Cambria Math"/>
                <a:cs typeface="Cambria Math"/>
              </a:rPr>
              <a:t>𝟏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𝟎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𝟏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𝟎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𝟎</a:t>
            </a:r>
            <a:endParaRPr sz="2400">
              <a:latin typeface="Cambria Math"/>
              <a:cs typeface="Cambria Math"/>
            </a:endParaRPr>
          </a:p>
          <a:p>
            <a:pPr marL="12700">
              <a:lnSpc>
                <a:spcPts val="2845"/>
              </a:lnSpc>
              <a:tabLst>
                <a:tab pos="499745" algn="l"/>
                <a:tab pos="987425" algn="l"/>
                <a:tab pos="1475105" algn="l"/>
                <a:tab pos="1963420" algn="l"/>
              </a:tabLst>
            </a:pPr>
            <a:r>
              <a:rPr sz="2400" spc="-50" dirty="0">
                <a:latin typeface="Cambria Math"/>
                <a:cs typeface="Cambria Math"/>
              </a:rPr>
              <a:t>𝟎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𝟏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𝟎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𝟎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8772" y="1151077"/>
            <a:ext cx="11000105" cy="1044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42110">
              <a:lnSpc>
                <a:spcPts val="2570"/>
              </a:lnSpc>
              <a:spcBef>
                <a:spcPts val="100"/>
              </a:spcBef>
              <a:tabLst>
                <a:tab pos="2129790" algn="l"/>
                <a:tab pos="2617470" algn="l"/>
                <a:tab pos="3105150" algn="l"/>
                <a:tab pos="3592829" algn="l"/>
              </a:tabLst>
            </a:pPr>
            <a:r>
              <a:rPr sz="2400" spc="-50" dirty="0">
                <a:latin typeface="Cambria Math"/>
                <a:cs typeface="Cambria Math"/>
              </a:rPr>
              <a:t>𝟎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𝟏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𝟏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𝟏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𝟎</a:t>
            </a:r>
            <a:endParaRPr sz="2400">
              <a:latin typeface="Cambria Math"/>
              <a:cs typeface="Cambria Math"/>
            </a:endParaRPr>
          </a:p>
          <a:p>
            <a:pPr marL="354965" indent="-342265">
              <a:lnSpc>
                <a:spcPts val="2570"/>
              </a:lnSpc>
              <a:buFont typeface="Wingdings"/>
              <a:buChar char=""/>
              <a:tabLst>
                <a:tab pos="354965" algn="l"/>
              </a:tabLst>
            </a:pP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Determine</a:t>
            </a:r>
            <a:r>
              <a:rPr sz="2400" b="1" spc="-6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006FC0"/>
                </a:solidFill>
                <a:latin typeface="Calibri"/>
                <a:cs typeface="Calibri"/>
              </a:rPr>
              <a:t>Systematic</a:t>
            </a:r>
            <a:r>
              <a:rPr sz="2400" b="1" spc="-6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form</a:t>
            </a:r>
            <a:r>
              <a:rPr sz="2400" b="1" spc="-6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of</a:t>
            </a:r>
            <a:r>
              <a:rPr sz="2400" b="1" spc="-7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006FC0"/>
                </a:solidFill>
                <a:latin typeface="Calibri"/>
                <a:cs typeface="Calibri"/>
              </a:rPr>
              <a:t>G.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"/>
              <a:tabLst>
                <a:tab pos="354965" algn="l"/>
              </a:tabLst>
            </a:pPr>
            <a:r>
              <a:rPr sz="2400" b="1" spc="-20" dirty="0">
                <a:solidFill>
                  <a:srgbClr val="006FC0"/>
                </a:solidFill>
                <a:latin typeface="Calibri"/>
                <a:cs typeface="Calibri"/>
              </a:rPr>
              <a:t>Generate</a:t>
            </a:r>
            <a:r>
              <a:rPr sz="2400" b="1" spc="-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Codeword</a:t>
            </a:r>
            <a:r>
              <a:rPr sz="2400" b="1" spc="-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for</a:t>
            </a:r>
            <a:r>
              <a:rPr sz="2400" b="1" spc="-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information</a:t>
            </a:r>
            <a:r>
              <a:rPr sz="2400" b="1" spc="-5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[0</a:t>
            </a:r>
            <a:r>
              <a:rPr sz="2400" b="1" spc="-4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1</a:t>
            </a:r>
            <a:r>
              <a:rPr sz="2400" b="1" spc="-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1]</a:t>
            </a:r>
            <a:r>
              <a:rPr sz="2400" b="1" spc="-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with</a:t>
            </a:r>
            <a:r>
              <a:rPr sz="2400" b="1" spc="-20" dirty="0">
                <a:solidFill>
                  <a:srgbClr val="006FC0"/>
                </a:solidFill>
                <a:latin typeface="Calibri"/>
                <a:cs typeface="Calibri"/>
              </a:rPr>
              <a:t> systematic</a:t>
            </a:r>
            <a:r>
              <a:rPr sz="2400" b="1" spc="-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G</a:t>
            </a:r>
            <a:r>
              <a:rPr sz="2400" b="1" spc="-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and</a:t>
            </a:r>
            <a:r>
              <a:rPr sz="2400" b="1" spc="-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Non-</a:t>
            </a:r>
            <a:r>
              <a:rPr sz="2400" b="1" spc="-20" dirty="0">
                <a:solidFill>
                  <a:srgbClr val="006FC0"/>
                </a:solidFill>
                <a:latin typeface="Calibri"/>
                <a:cs typeface="Calibri"/>
              </a:rPr>
              <a:t>systematic</a:t>
            </a:r>
            <a:r>
              <a:rPr sz="2400" b="1" spc="-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006FC0"/>
                </a:solidFill>
                <a:latin typeface="Calibri"/>
                <a:cs typeface="Calibri"/>
              </a:rPr>
              <a:t>G.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-62357"/>
            <a:ext cx="121920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4400" u="none" spc="-145" dirty="0">
                <a:solidFill>
                  <a:srgbClr val="006600"/>
                </a:solidFill>
                <a:latin typeface="Arial"/>
                <a:cs typeface="Arial"/>
              </a:rPr>
              <a:t>Elementary Row Operations (ERO)</a:t>
            </a:r>
            <a:endParaRPr sz="44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4142" y="811225"/>
            <a:ext cx="11805285" cy="597150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05765" marR="5080" indent="-342900" algn="just">
              <a:lnSpc>
                <a:spcPct val="100000"/>
              </a:lnSpc>
              <a:spcBef>
                <a:spcPts val="55"/>
              </a:spcBef>
              <a:buFont typeface="Wingdings" pitchFamily="2" charset="2"/>
              <a:buChar char="q"/>
              <a:tabLst>
                <a:tab pos="520065" algn="l"/>
              </a:tabLst>
            </a:pPr>
            <a:r>
              <a:rPr lang="en-US" sz="2400" b="1" dirty="0">
                <a:solidFill>
                  <a:srgbClr val="6F2F9F"/>
                </a:solidFill>
                <a:latin typeface="Calibri"/>
                <a:cs typeface="Calibri"/>
              </a:rPr>
              <a:t>Elementary row operations are the three fundamental transformations we can apply to generator matrices without changing the fundamental properties of the code they represent. </a:t>
            </a:r>
          </a:p>
          <a:p>
            <a:pPr marL="520065" marR="5080" indent="-457200" algn="just">
              <a:lnSpc>
                <a:spcPct val="100000"/>
              </a:lnSpc>
              <a:spcBef>
                <a:spcPts val="55"/>
              </a:spcBef>
              <a:buFont typeface="Wingdings"/>
              <a:buChar char=""/>
              <a:tabLst>
                <a:tab pos="520065" algn="l"/>
              </a:tabLst>
            </a:pPr>
            <a:r>
              <a:rPr lang="en-US" sz="3200" b="1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Three Types of Operations:</a:t>
            </a:r>
            <a:endParaRPr sz="3200" dirty="0">
              <a:latin typeface="Calibri"/>
              <a:cs typeface="Calibri"/>
            </a:endParaRPr>
          </a:p>
          <a:p>
            <a:pPr marL="520065" indent="-457200" algn="just">
              <a:lnSpc>
                <a:spcPct val="100000"/>
              </a:lnSpc>
              <a:spcBef>
                <a:spcPts val="170"/>
              </a:spcBef>
              <a:buAutoNum type="arabicPeriod"/>
              <a:tabLst>
                <a:tab pos="520065" algn="l"/>
              </a:tabLst>
            </a:pPr>
            <a:r>
              <a:rPr lang="en-US" sz="2400" b="1" dirty="0">
                <a:latin typeface="Calibri"/>
                <a:cs typeface="Calibri"/>
              </a:rPr>
              <a:t>Row Swapping (Type I): </a:t>
            </a:r>
            <a:r>
              <a:rPr lang="en-US" sz="2400" dirty="0">
                <a:latin typeface="Calibri"/>
                <a:cs typeface="Calibri"/>
              </a:rPr>
              <a:t>Exchanging two rows</a:t>
            </a:r>
          </a:p>
          <a:p>
            <a:pPr marL="62865" algn="just">
              <a:lnSpc>
                <a:spcPct val="100000"/>
              </a:lnSpc>
              <a:spcBef>
                <a:spcPts val="170"/>
              </a:spcBef>
              <a:tabLst>
                <a:tab pos="520065" algn="l"/>
              </a:tabLst>
            </a:pPr>
            <a:r>
              <a:rPr lang="en-US" sz="2400" b="1" dirty="0">
                <a:latin typeface="Calibri"/>
                <a:cs typeface="Calibri"/>
              </a:rPr>
              <a:t>	Symbol: </a:t>
            </a:r>
            <a:r>
              <a:rPr lang="en-US" sz="2400" dirty="0" err="1">
                <a:latin typeface="Calibri"/>
                <a:cs typeface="Calibri"/>
              </a:rPr>
              <a:t>R</a:t>
            </a:r>
            <a:r>
              <a:rPr lang="en-US" sz="1600" dirty="0" err="1">
                <a:latin typeface="Calibri"/>
                <a:cs typeface="Calibri"/>
              </a:rPr>
              <a:t>i</a:t>
            </a:r>
            <a:r>
              <a:rPr lang="en-US" sz="1600" dirty="0">
                <a:latin typeface="Calibri"/>
                <a:cs typeface="Calibri"/>
              </a:rPr>
              <a:t>​</a:t>
            </a:r>
            <a:r>
              <a:rPr lang="en-US" sz="2400" dirty="0">
                <a:latin typeface="Calibri"/>
                <a:cs typeface="Calibri"/>
              </a:rPr>
              <a:t>↔</a:t>
            </a:r>
            <a:r>
              <a:rPr lang="en-US" sz="2400" dirty="0" err="1">
                <a:latin typeface="Calibri"/>
                <a:cs typeface="Calibri"/>
              </a:rPr>
              <a:t>R</a:t>
            </a:r>
            <a:r>
              <a:rPr lang="en-US" sz="1600" dirty="0" err="1">
                <a:latin typeface="Calibri"/>
                <a:cs typeface="Calibri"/>
              </a:rPr>
              <a:t>j</a:t>
            </a:r>
            <a:r>
              <a:rPr lang="en-US" sz="2400" dirty="0">
                <a:latin typeface="Calibri"/>
                <a:cs typeface="Calibri"/>
              </a:rPr>
              <a:t>​</a:t>
            </a:r>
          </a:p>
          <a:p>
            <a:pPr marL="62865" algn="just">
              <a:lnSpc>
                <a:spcPct val="100000"/>
              </a:lnSpc>
              <a:spcBef>
                <a:spcPts val="170"/>
              </a:spcBef>
              <a:tabLst>
                <a:tab pos="520065" algn="l"/>
              </a:tabLst>
            </a:pPr>
            <a:r>
              <a:rPr lang="en-US" sz="2400" b="1" dirty="0">
                <a:latin typeface="Calibri"/>
                <a:cs typeface="Calibri"/>
              </a:rPr>
              <a:t>	Effect: </a:t>
            </a:r>
            <a:r>
              <a:rPr lang="en-US" sz="2400" dirty="0">
                <a:latin typeface="Calibri"/>
                <a:cs typeface="Calibri"/>
              </a:rPr>
              <a:t>Reorders the basis vectors of the code</a:t>
            </a:r>
          </a:p>
          <a:p>
            <a:pPr marL="62865" algn="just">
              <a:lnSpc>
                <a:spcPct val="100000"/>
              </a:lnSpc>
              <a:spcBef>
                <a:spcPts val="170"/>
              </a:spcBef>
              <a:tabLst>
                <a:tab pos="520065" algn="l"/>
              </a:tabLst>
            </a:pPr>
            <a:r>
              <a:rPr lang="en-US" sz="2400" b="1" dirty="0">
                <a:latin typeface="Calibri"/>
                <a:cs typeface="Calibri"/>
              </a:rPr>
              <a:t>2.   Row Scaling (Type II): </a:t>
            </a:r>
            <a:r>
              <a:rPr lang="en-US" sz="2400" dirty="0">
                <a:latin typeface="Calibri"/>
                <a:cs typeface="Calibri"/>
              </a:rPr>
              <a:t>Multiplying a row by a non-zero scalar</a:t>
            </a:r>
          </a:p>
          <a:p>
            <a:pPr marL="62865" algn="just">
              <a:lnSpc>
                <a:spcPct val="100000"/>
              </a:lnSpc>
              <a:spcBef>
                <a:spcPts val="170"/>
              </a:spcBef>
              <a:tabLst>
                <a:tab pos="520065" algn="l"/>
              </a:tabLst>
            </a:pPr>
            <a:r>
              <a:rPr lang="en-US" sz="2400" dirty="0">
                <a:latin typeface="Calibri"/>
                <a:cs typeface="Calibri"/>
              </a:rPr>
              <a:t>	</a:t>
            </a:r>
            <a:r>
              <a:rPr lang="en-US" sz="2400" b="1" dirty="0">
                <a:latin typeface="Calibri"/>
                <a:cs typeface="Calibri"/>
              </a:rPr>
              <a:t>Symbol: </a:t>
            </a:r>
            <a:r>
              <a:rPr lang="en-US" sz="2400" dirty="0" err="1">
                <a:latin typeface="Calibri"/>
                <a:cs typeface="Calibri"/>
              </a:rPr>
              <a:t>R</a:t>
            </a:r>
            <a:r>
              <a:rPr lang="en-US" sz="1600" dirty="0" err="1">
                <a:latin typeface="Calibri"/>
                <a:cs typeface="Calibri"/>
              </a:rPr>
              <a:t>i</a:t>
            </a:r>
            <a:r>
              <a:rPr lang="en-US" sz="2400" dirty="0">
                <a:latin typeface="Calibri"/>
                <a:cs typeface="Calibri"/>
              </a:rPr>
              <a:t>→α</a:t>
            </a:r>
            <a:r>
              <a:rPr lang="en-US" sz="2400" dirty="0" err="1">
                <a:latin typeface="Calibri"/>
                <a:cs typeface="Calibri"/>
              </a:rPr>
              <a:t>R</a:t>
            </a:r>
            <a:r>
              <a:rPr lang="en-US" sz="1600" dirty="0" err="1">
                <a:latin typeface="Calibri"/>
                <a:cs typeface="Calibri"/>
              </a:rPr>
              <a:t>i</a:t>
            </a:r>
            <a:r>
              <a:rPr lang="en-US" sz="2400" dirty="0">
                <a:latin typeface="Calibri"/>
                <a:cs typeface="Calibri"/>
              </a:rPr>
              <a:t>; where α≠0</a:t>
            </a:r>
          </a:p>
          <a:p>
            <a:pPr marL="62865" algn="just">
              <a:lnSpc>
                <a:spcPct val="100000"/>
              </a:lnSpc>
              <a:spcBef>
                <a:spcPts val="170"/>
              </a:spcBef>
              <a:tabLst>
                <a:tab pos="520065" algn="l"/>
              </a:tabLst>
            </a:pPr>
            <a:r>
              <a:rPr lang="en-US" sz="2400" dirty="0">
                <a:latin typeface="Calibri"/>
                <a:cs typeface="Calibri"/>
              </a:rPr>
              <a:t>	</a:t>
            </a:r>
            <a:r>
              <a:rPr lang="en-US" sz="2400" b="1" dirty="0">
                <a:latin typeface="Calibri"/>
                <a:cs typeface="Calibri"/>
              </a:rPr>
              <a:t>Effect: </a:t>
            </a:r>
            <a:r>
              <a:rPr lang="en-US" sz="2400" dirty="0">
                <a:latin typeface="Calibri"/>
                <a:cs typeface="Calibri"/>
              </a:rPr>
              <a:t>Changes the representation but not the code itself</a:t>
            </a:r>
          </a:p>
          <a:p>
            <a:pPr marL="62865" algn="just">
              <a:lnSpc>
                <a:spcPct val="100000"/>
              </a:lnSpc>
              <a:spcBef>
                <a:spcPts val="170"/>
              </a:spcBef>
              <a:tabLst>
                <a:tab pos="520065" algn="l"/>
              </a:tabLst>
            </a:pPr>
            <a:r>
              <a:rPr lang="en-US" sz="2400" b="1" dirty="0">
                <a:latin typeface="Calibri"/>
                <a:cs typeface="Calibri"/>
              </a:rPr>
              <a:t>3.   Row Addition (Type III): </a:t>
            </a:r>
            <a:r>
              <a:rPr lang="en-US" sz="2400" dirty="0">
                <a:latin typeface="Calibri"/>
                <a:cs typeface="Calibri"/>
              </a:rPr>
              <a:t>Adding a multiple of one row to another</a:t>
            </a:r>
          </a:p>
          <a:p>
            <a:pPr marL="62865" algn="just">
              <a:lnSpc>
                <a:spcPct val="100000"/>
              </a:lnSpc>
              <a:spcBef>
                <a:spcPts val="170"/>
              </a:spcBef>
              <a:tabLst>
                <a:tab pos="520065" algn="l"/>
              </a:tabLst>
            </a:pPr>
            <a:r>
              <a:rPr lang="en-US" sz="2400" dirty="0">
                <a:latin typeface="Calibri"/>
                <a:cs typeface="Calibri"/>
              </a:rPr>
              <a:t>	</a:t>
            </a:r>
            <a:r>
              <a:rPr lang="en-US" sz="2400" b="1" dirty="0">
                <a:latin typeface="Calibri"/>
                <a:cs typeface="Calibri"/>
              </a:rPr>
              <a:t>Symbol: </a:t>
            </a:r>
            <a:r>
              <a:rPr lang="en-US" sz="2400" dirty="0" err="1">
                <a:latin typeface="Calibri"/>
                <a:cs typeface="Calibri"/>
              </a:rPr>
              <a:t>R</a:t>
            </a:r>
            <a:r>
              <a:rPr lang="en-US" sz="1600" dirty="0" err="1">
                <a:latin typeface="Calibri"/>
                <a:cs typeface="Calibri"/>
              </a:rPr>
              <a:t>i</a:t>
            </a:r>
            <a:r>
              <a:rPr lang="en-US" sz="2400" dirty="0" err="1">
                <a:latin typeface="Calibri"/>
                <a:cs typeface="Calibri"/>
              </a:rPr>
              <a:t>→R</a:t>
            </a:r>
            <a:r>
              <a:rPr lang="en-US" sz="1600" dirty="0" err="1">
                <a:latin typeface="Calibri"/>
                <a:cs typeface="Calibri"/>
              </a:rPr>
              <a:t>i</a:t>
            </a:r>
            <a:r>
              <a:rPr lang="en-US" sz="2400" dirty="0">
                <a:latin typeface="Calibri"/>
                <a:cs typeface="Calibri"/>
              </a:rPr>
              <a:t>+α</a:t>
            </a:r>
            <a:r>
              <a:rPr lang="en-US" sz="2400" dirty="0" err="1">
                <a:latin typeface="Calibri"/>
                <a:cs typeface="Calibri"/>
              </a:rPr>
              <a:t>R</a:t>
            </a:r>
            <a:r>
              <a:rPr lang="en-US" sz="1600" dirty="0" err="1">
                <a:latin typeface="Calibri"/>
                <a:cs typeface="Calibri"/>
              </a:rPr>
              <a:t>j</a:t>
            </a:r>
            <a:r>
              <a:rPr lang="en-US" sz="2400" dirty="0">
                <a:latin typeface="Calibri"/>
                <a:cs typeface="Calibri"/>
              </a:rPr>
              <a:t>	</a:t>
            </a:r>
          </a:p>
          <a:p>
            <a:pPr marL="62865" algn="just">
              <a:lnSpc>
                <a:spcPct val="100000"/>
              </a:lnSpc>
              <a:spcBef>
                <a:spcPts val="170"/>
              </a:spcBef>
              <a:tabLst>
                <a:tab pos="520065" algn="l"/>
              </a:tabLst>
            </a:pPr>
            <a:r>
              <a:rPr lang="en-US" sz="2400" dirty="0">
                <a:latin typeface="Calibri"/>
                <a:cs typeface="Calibri"/>
              </a:rPr>
              <a:t>	​</a:t>
            </a:r>
            <a:r>
              <a:rPr lang="en-US" sz="2400" b="1" dirty="0">
                <a:latin typeface="Calibri"/>
                <a:cs typeface="Calibri"/>
              </a:rPr>
              <a:t>Effect:</a:t>
            </a:r>
            <a:r>
              <a:rPr lang="en-US" sz="2400" dirty="0">
                <a:latin typeface="Calibri"/>
                <a:cs typeface="Calibri"/>
              </a:rPr>
              <a:t> Transforms the basis while preserving the code</a:t>
            </a:r>
          </a:p>
          <a:p>
            <a:pPr marL="520065" indent="-457200" algn="just">
              <a:lnSpc>
                <a:spcPct val="100000"/>
              </a:lnSpc>
              <a:spcBef>
                <a:spcPts val="170"/>
              </a:spcBef>
              <a:buAutoNum type="arabicPeriod"/>
              <a:tabLst>
                <a:tab pos="520065" algn="l"/>
              </a:tabLst>
            </a:pPr>
            <a:endParaRPr lang="en-US" sz="2400" dirty="0">
              <a:latin typeface="Calibri"/>
              <a:cs typeface="Calibri"/>
            </a:endParaRPr>
          </a:p>
          <a:p>
            <a:pPr marL="62865" algn="just">
              <a:lnSpc>
                <a:spcPct val="100000"/>
              </a:lnSpc>
              <a:spcBef>
                <a:spcPts val="170"/>
              </a:spcBef>
              <a:tabLst>
                <a:tab pos="520065" algn="l"/>
              </a:tabLst>
            </a:pPr>
            <a:r>
              <a:rPr lang="en-US" sz="2400" b="1" dirty="0">
                <a:latin typeface="Calibri"/>
                <a:cs typeface="Calibri"/>
              </a:rPr>
              <a:t>	</a:t>
            </a:r>
            <a:endParaRPr lang="en-US" sz="24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099926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-62357"/>
            <a:ext cx="121920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4400" u="none" spc="-145" dirty="0">
                <a:solidFill>
                  <a:srgbClr val="006600"/>
                </a:solidFill>
                <a:latin typeface="Arial"/>
                <a:cs typeface="Arial"/>
              </a:rPr>
              <a:t>Conversion to Systematic Generator Matrix</a:t>
            </a:r>
            <a:endParaRPr sz="44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4142" y="811225"/>
            <a:ext cx="11805285" cy="434029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05765" marR="5080" indent="-342900">
              <a:lnSpc>
                <a:spcPct val="100000"/>
              </a:lnSpc>
              <a:spcBef>
                <a:spcPts val="55"/>
              </a:spcBef>
              <a:buFont typeface="Wingdings" pitchFamily="2" charset="2"/>
              <a:buChar char="q"/>
              <a:tabLst>
                <a:tab pos="520065" algn="l"/>
              </a:tabLst>
            </a:pPr>
            <a:r>
              <a:rPr lang="en-US" sz="2400" b="1" dirty="0">
                <a:solidFill>
                  <a:srgbClr val="6F2F9F"/>
                </a:solidFill>
                <a:latin typeface="Calibri"/>
                <a:cs typeface="Calibri"/>
              </a:rPr>
              <a:t>In coding theory, transforming a generator matrix through elementary row operations and column swaps has specific impacts on the resulting linear code</a:t>
            </a:r>
          </a:p>
          <a:p>
            <a:pPr marL="520065" marR="5080" indent="-457200">
              <a:lnSpc>
                <a:spcPct val="100000"/>
              </a:lnSpc>
              <a:spcBef>
                <a:spcPts val="55"/>
              </a:spcBef>
              <a:buFont typeface="Wingdings"/>
              <a:buChar char=""/>
              <a:tabLst>
                <a:tab pos="520065" algn="l"/>
              </a:tabLst>
            </a:pPr>
            <a:r>
              <a:rPr lang="en-US" sz="3200" b="1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Impact of Elementary Row Operations (EROs)</a:t>
            </a:r>
            <a:endParaRPr sz="3200" dirty="0">
              <a:latin typeface="Calibri"/>
              <a:cs typeface="Calibri"/>
            </a:endParaRPr>
          </a:p>
          <a:p>
            <a:pPr marL="520065" indent="-457200" algn="just">
              <a:lnSpc>
                <a:spcPct val="100000"/>
              </a:lnSpc>
              <a:spcBef>
                <a:spcPts val="170"/>
              </a:spcBef>
              <a:buAutoNum type="arabicPeriod"/>
              <a:tabLst>
                <a:tab pos="520065" algn="l"/>
              </a:tabLst>
            </a:pPr>
            <a:r>
              <a:rPr lang="en-US" sz="2400" b="1" dirty="0">
                <a:latin typeface="Calibri"/>
                <a:cs typeface="Calibri"/>
              </a:rPr>
              <a:t>Preserves the Code</a:t>
            </a:r>
            <a:r>
              <a:rPr lang="en-US" sz="2400" dirty="0">
                <a:latin typeface="Calibri"/>
                <a:cs typeface="Calibri"/>
              </a:rPr>
              <a:t>: EROs do not change the code itself. The set of all possible </a:t>
            </a:r>
            <a:r>
              <a:rPr lang="en-US" sz="2400" dirty="0" err="1">
                <a:latin typeface="Calibri"/>
                <a:cs typeface="Calibri"/>
              </a:rPr>
              <a:t>codewords</a:t>
            </a:r>
            <a:r>
              <a:rPr lang="en-US" sz="2400" dirty="0">
                <a:latin typeface="Calibri"/>
                <a:cs typeface="Calibri"/>
              </a:rPr>
              <a:t> remains exactly the same because the rows still span the same vector space.</a:t>
            </a:r>
          </a:p>
          <a:p>
            <a:pPr marL="520065" indent="-457200" algn="just">
              <a:lnSpc>
                <a:spcPct val="100000"/>
              </a:lnSpc>
              <a:spcBef>
                <a:spcPts val="170"/>
              </a:spcBef>
              <a:buAutoNum type="arabicPeriod"/>
              <a:tabLst>
                <a:tab pos="520065" algn="l"/>
              </a:tabLst>
            </a:pPr>
            <a:r>
              <a:rPr lang="en-US" sz="2400" b="1" dirty="0">
                <a:latin typeface="Calibri"/>
                <a:cs typeface="Calibri"/>
              </a:rPr>
              <a:t>Changes the Basis</a:t>
            </a:r>
            <a:r>
              <a:rPr lang="en-US" sz="2400" dirty="0">
                <a:latin typeface="Calibri"/>
                <a:cs typeface="Calibri"/>
              </a:rPr>
              <a:t>: It simply provides a different "basis" for the code.</a:t>
            </a:r>
          </a:p>
          <a:p>
            <a:pPr marL="520065" indent="-457200" algn="just">
              <a:lnSpc>
                <a:spcPct val="100000"/>
              </a:lnSpc>
              <a:spcBef>
                <a:spcPts val="170"/>
              </a:spcBef>
              <a:buAutoNum type="arabicPeriod"/>
              <a:tabLst>
                <a:tab pos="520065" algn="l"/>
              </a:tabLst>
            </a:pPr>
            <a:r>
              <a:rPr lang="en-US" sz="2400" b="1" dirty="0">
                <a:latin typeface="Calibri"/>
                <a:cs typeface="Calibri"/>
              </a:rPr>
              <a:t>Distance/Weight Properties</a:t>
            </a:r>
            <a:r>
              <a:rPr lang="en-US" sz="2400" dirty="0">
                <a:latin typeface="Calibri"/>
                <a:cs typeface="Calibri"/>
              </a:rPr>
              <a:t>: The minimum distance (</a:t>
            </a:r>
            <a:r>
              <a:rPr lang="en-US" sz="2400" dirty="0" err="1">
                <a:latin typeface="Calibri"/>
                <a:cs typeface="Calibri"/>
              </a:rPr>
              <a:t>d</a:t>
            </a:r>
            <a:r>
              <a:rPr lang="en-US" sz="2000" dirty="0" err="1">
                <a:latin typeface="Calibri"/>
                <a:cs typeface="Calibri"/>
              </a:rPr>
              <a:t>min</a:t>
            </a:r>
            <a:r>
              <a:rPr lang="en-US" sz="2400" dirty="0">
                <a:latin typeface="Calibri"/>
                <a:cs typeface="Calibri"/>
              </a:rPr>
              <a:t>) and weight distribution of the code are completely unaffected.</a:t>
            </a:r>
          </a:p>
          <a:p>
            <a:pPr marL="520065" indent="-457200" algn="just">
              <a:lnSpc>
                <a:spcPct val="100000"/>
              </a:lnSpc>
              <a:spcBef>
                <a:spcPts val="170"/>
              </a:spcBef>
              <a:buAutoNum type="arabicPeriod"/>
              <a:tabLst>
                <a:tab pos="520065" algn="l"/>
              </a:tabLst>
            </a:pPr>
            <a:r>
              <a:rPr lang="en-US" sz="2400" b="1" dirty="0">
                <a:latin typeface="Calibri"/>
                <a:cs typeface="Calibri"/>
              </a:rPr>
              <a:t>Encoding Logic</a:t>
            </a:r>
            <a:r>
              <a:rPr lang="en-US" sz="2400" dirty="0">
                <a:latin typeface="Calibri"/>
                <a:cs typeface="Calibri"/>
              </a:rPr>
              <a:t>: While the code is the same, the mapping between message bits and </a:t>
            </a:r>
            <a:r>
              <a:rPr lang="en-US" sz="2400" dirty="0" err="1">
                <a:latin typeface="Calibri"/>
                <a:cs typeface="Calibri"/>
              </a:rPr>
              <a:t>codewords</a:t>
            </a:r>
            <a:r>
              <a:rPr lang="en-US" sz="2400" dirty="0">
                <a:latin typeface="Calibri"/>
                <a:cs typeface="Calibri"/>
              </a:rPr>
              <a:t> changes.</a:t>
            </a:r>
          </a:p>
          <a:p>
            <a:pPr marL="62865" algn="just">
              <a:lnSpc>
                <a:spcPct val="100000"/>
              </a:lnSpc>
              <a:spcBef>
                <a:spcPts val="170"/>
              </a:spcBef>
              <a:tabLst>
                <a:tab pos="520065" algn="l"/>
              </a:tabLst>
            </a:pPr>
            <a:endParaRPr sz="24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194637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-62357"/>
            <a:ext cx="121920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4400" u="none" spc="-145" dirty="0">
                <a:solidFill>
                  <a:srgbClr val="006600"/>
                </a:solidFill>
                <a:latin typeface="Arial"/>
                <a:cs typeface="Arial"/>
              </a:rPr>
              <a:t>Conversion to Systematic Generator Matrix</a:t>
            </a:r>
            <a:endParaRPr sz="44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4142" y="811225"/>
            <a:ext cx="11805285" cy="47480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20065" marR="5080" indent="-457200">
              <a:lnSpc>
                <a:spcPct val="100000"/>
              </a:lnSpc>
              <a:spcBef>
                <a:spcPts val="55"/>
              </a:spcBef>
              <a:buFont typeface="Wingdings"/>
              <a:buChar char=""/>
              <a:tabLst>
                <a:tab pos="520065" algn="l"/>
              </a:tabLst>
            </a:pPr>
            <a:r>
              <a:rPr lang="en-US" sz="3200" b="1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Impact of Column Swaps</a:t>
            </a:r>
            <a:endParaRPr sz="3200" dirty="0">
              <a:latin typeface="Calibri"/>
              <a:cs typeface="Calibri"/>
            </a:endParaRPr>
          </a:p>
          <a:p>
            <a:pPr marL="520065" indent="-457200" algn="just">
              <a:lnSpc>
                <a:spcPct val="100000"/>
              </a:lnSpc>
              <a:spcBef>
                <a:spcPts val="170"/>
              </a:spcBef>
              <a:buAutoNum type="arabicPeriod"/>
              <a:tabLst>
                <a:tab pos="520065" algn="l"/>
              </a:tabLst>
            </a:pPr>
            <a:r>
              <a:rPr lang="en-US" sz="2400" b="1" dirty="0">
                <a:latin typeface="Calibri"/>
                <a:cs typeface="Calibri"/>
              </a:rPr>
              <a:t>Creates an Equivalent Code: </a:t>
            </a:r>
            <a:r>
              <a:rPr lang="en-US" sz="2400" dirty="0">
                <a:latin typeface="Calibri"/>
                <a:cs typeface="Calibri"/>
              </a:rPr>
              <a:t>Column swaps do not preserve the exact code; instead, they create a </a:t>
            </a:r>
            <a:r>
              <a:rPr lang="en-US" sz="2400" dirty="0" err="1">
                <a:latin typeface="Calibri"/>
                <a:cs typeface="Calibri"/>
              </a:rPr>
              <a:t>permutationally</a:t>
            </a:r>
            <a:r>
              <a:rPr lang="en-US" sz="2400" dirty="0">
                <a:latin typeface="Calibri"/>
                <a:cs typeface="Calibri"/>
              </a:rPr>
              <a:t> equivalent code.</a:t>
            </a:r>
          </a:p>
          <a:p>
            <a:pPr marL="520065" indent="-457200" algn="just">
              <a:lnSpc>
                <a:spcPct val="100000"/>
              </a:lnSpc>
              <a:spcBef>
                <a:spcPts val="170"/>
              </a:spcBef>
              <a:buAutoNum type="arabicPeriod"/>
              <a:tabLst>
                <a:tab pos="520065" algn="l"/>
              </a:tabLst>
            </a:pPr>
            <a:r>
              <a:rPr lang="en-US" sz="2400" b="1" dirty="0">
                <a:latin typeface="Calibri"/>
                <a:cs typeface="Calibri"/>
              </a:rPr>
              <a:t>Changes the </a:t>
            </a:r>
            <a:r>
              <a:rPr lang="en-US" sz="2400" b="1" dirty="0" err="1">
                <a:latin typeface="Calibri"/>
                <a:cs typeface="Calibri"/>
              </a:rPr>
              <a:t>Codewords</a:t>
            </a:r>
            <a:r>
              <a:rPr lang="en-US" sz="2400" b="1" dirty="0">
                <a:latin typeface="Calibri"/>
                <a:cs typeface="Calibri"/>
              </a:rPr>
              <a:t>: </a:t>
            </a:r>
            <a:r>
              <a:rPr lang="en-US" sz="2400" dirty="0">
                <a:latin typeface="Calibri"/>
                <a:cs typeface="Calibri"/>
              </a:rPr>
              <a:t>The individual </a:t>
            </a:r>
            <a:r>
              <a:rPr lang="en-US" sz="2400" dirty="0" err="1">
                <a:latin typeface="Calibri"/>
                <a:cs typeface="Calibri"/>
              </a:rPr>
              <a:t>codewords</a:t>
            </a:r>
            <a:r>
              <a:rPr lang="en-US" sz="2400" dirty="0">
                <a:latin typeface="Calibri"/>
                <a:cs typeface="Calibri"/>
              </a:rPr>
              <a:t> change because the positions of the bits are rearranged.</a:t>
            </a:r>
          </a:p>
          <a:p>
            <a:pPr marL="520065" indent="-457200" algn="just">
              <a:lnSpc>
                <a:spcPct val="100000"/>
              </a:lnSpc>
              <a:spcBef>
                <a:spcPts val="170"/>
              </a:spcBef>
              <a:buAutoNum type="arabicPeriod"/>
              <a:tabLst>
                <a:tab pos="520065" algn="l"/>
              </a:tabLst>
            </a:pPr>
            <a:r>
              <a:rPr lang="en-US" sz="2400" b="1" dirty="0">
                <a:latin typeface="Calibri"/>
                <a:cs typeface="Calibri"/>
              </a:rPr>
              <a:t>Preserves Fundamental Properties: </a:t>
            </a:r>
            <a:r>
              <a:rPr lang="en-US" sz="2400" dirty="0">
                <a:latin typeface="Calibri"/>
                <a:cs typeface="Calibri"/>
              </a:rPr>
              <a:t>Even though the </a:t>
            </a:r>
            <a:r>
              <a:rPr lang="en-US" sz="2400" dirty="0" err="1">
                <a:latin typeface="Calibri"/>
                <a:cs typeface="Calibri"/>
              </a:rPr>
              <a:t>codewords</a:t>
            </a:r>
            <a:r>
              <a:rPr lang="en-US" sz="2400" dirty="0">
                <a:latin typeface="Calibri"/>
                <a:cs typeface="Calibri"/>
              </a:rPr>
              <a:t> look different, the "quality" of the code remains the same:</a:t>
            </a:r>
          </a:p>
          <a:p>
            <a:pPr marL="62865" lvl="2" algn="just">
              <a:spcBef>
                <a:spcPts val="170"/>
              </a:spcBef>
              <a:tabLst>
                <a:tab pos="520065" algn="l"/>
              </a:tabLst>
            </a:pPr>
            <a:r>
              <a:rPr lang="en-US" sz="2400" dirty="0">
                <a:latin typeface="Calibri"/>
                <a:cs typeface="Calibri"/>
              </a:rPr>
              <a:t>		-The minimum distance (</a:t>
            </a:r>
            <a:r>
              <a:rPr lang="en-US" sz="2400" dirty="0" err="1">
                <a:latin typeface="Calibri"/>
                <a:cs typeface="Calibri"/>
              </a:rPr>
              <a:t>d</a:t>
            </a:r>
            <a:r>
              <a:rPr lang="en-US" sz="2000" dirty="0" err="1">
                <a:latin typeface="Calibri"/>
                <a:cs typeface="Calibri"/>
              </a:rPr>
              <a:t>min</a:t>
            </a:r>
            <a:r>
              <a:rPr lang="en-US" sz="2400" dirty="0">
                <a:latin typeface="Calibri"/>
                <a:cs typeface="Calibri"/>
              </a:rPr>
              <a:t>) remains unchanged.</a:t>
            </a:r>
          </a:p>
          <a:p>
            <a:pPr marL="62865" lvl="2" algn="just">
              <a:spcBef>
                <a:spcPts val="170"/>
              </a:spcBef>
              <a:tabLst>
                <a:tab pos="520065" algn="l"/>
              </a:tabLst>
            </a:pPr>
            <a:r>
              <a:rPr lang="en-US" sz="2400" dirty="0">
                <a:latin typeface="Calibri"/>
                <a:cs typeface="Calibri"/>
              </a:rPr>
              <a:t>		-The error-correcting capability remains identical.</a:t>
            </a:r>
          </a:p>
          <a:p>
            <a:pPr marL="62865" lvl="2" algn="just">
              <a:spcBef>
                <a:spcPts val="170"/>
              </a:spcBef>
              <a:tabLst>
                <a:tab pos="520065" algn="l"/>
              </a:tabLst>
            </a:pPr>
            <a:r>
              <a:rPr lang="en-US" sz="2400" dirty="0">
                <a:latin typeface="Calibri"/>
                <a:cs typeface="Calibri"/>
              </a:rPr>
              <a:t>		-The weight enumerator (how many words have how many 1s) stays the same.</a:t>
            </a:r>
          </a:p>
          <a:p>
            <a:pPr marL="62865" lvl="2" algn="just">
              <a:spcBef>
                <a:spcPts val="170"/>
              </a:spcBef>
              <a:tabLst>
                <a:tab pos="520065" algn="l"/>
              </a:tabLst>
            </a:pPr>
            <a:r>
              <a:rPr lang="en-US" sz="2400" b="1" dirty="0">
                <a:latin typeface="Calibri"/>
                <a:cs typeface="Calibri"/>
              </a:rPr>
              <a:t>4.   Hardware/Software Impact: </a:t>
            </a:r>
            <a:r>
              <a:rPr lang="en-US" sz="2400" dirty="0">
                <a:latin typeface="Calibri"/>
                <a:cs typeface="Calibri"/>
              </a:rPr>
              <a:t>Swapping columns requires you to keep track of the new bit order so that the receiver can "un-swap" them to retrieve the original message.</a:t>
            </a:r>
            <a:endParaRPr sz="24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480369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117" y="29413"/>
            <a:ext cx="1193736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u="none" spc="-155" dirty="0">
                <a:solidFill>
                  <a:srgbClr val="006600"/>
                </a:solidFill>
                <a:latin typeface="Arial"/>
                <a:cs typeface="Arial"/>
              </a:rPr>
              <a:t>Linear</a:t>
            </a:r>
            <a:r>
              <a:rPr sz="6000" u="none" spc="-22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6000" u="none" spc="-335" dirty="0">
                <a:solidFill>
                  <a:srgbClr val="006600"/>
                </a:solidFill>
                <a:latin typeface="Arial"/>
                <a:cs typeface="Arial"/>
              </a:rPr>
              <a:t>Block</a:t>
            </a:r>
            <a:r>
              <a:rPr sz="6000" u="none" spc="-17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6000" u="none" spc="-415" dirty="0">
                <a:solidFill>
                  <a:srgbClr val="006600"/>
                </a:solidFill>
                <a:latin typeface="Arial"/>
                <a:cs typeface="Arial"/>
              </a:rPr>
              <a:t>Code</a:t>
            </a:r>
            <a:r>
              <a:rPr sz="6000" u="none" spc="-17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6000" u="none" spc="-459" dirty="0">
                <a:solidFill>
                  <a:srgbClr val="006600"/>
                </a:solidFill>
                <a:latin typeface="Arial"/>
                <a:cs typeface="Arial"/>
              </a:rPr>
              <a:t>Solved</a:t>
            </a:r>
            <a:r>
              <a:rPr sz="6000" u="none" spc="-17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6000" u="none" spc="-365" dirty="0">
                <a:solidFill>
                  <a:srgbClr val="006600"/>
                </a:solidFill>
                <a:latin typeface="Arial"/>
                <a:cs typeface="Arial"/>
              </a:rPr>
              <a:t>Examples</a:t>
            </a:r>
            <a:endParaRPr sz="60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8772" y="884301"/>
            <a:ext cx="10048875" cy="1256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4692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Example</a:t>
            </a:r>
            <a:r>
              <a:rPr sz="2400" b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4: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Determine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parity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check</a:t>
            </a:r>
            <a:r>
              <a:rPr sz="2400" b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Matrix</a:t>
            </a:r>
            <a:r>
              <a:rPr sz="2400" b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for</a:t>
            </a:r>
            <a:r>
              <a:rPr sz="2400" b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(7,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4)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Generator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Matrix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G: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94"/>
              </a:spcBef>
            </a:pPr>
            <a:endParaRPr sz="2400">
              <a:latin typeface="Calibri"/>
              <a:cs typeface="Calibri"/>
            </a:endParaRPr>
          </a:p>
          <a:p>
            <a:pPr marL="480059">
              <a:lnSpc>
                <a:spcPct val="100000"/>
              </a:lnSpc>
            </a:pPr>
            <a:r>
              <a:rPr sz="2400" dirty="0">
                <a:latin typeface="Cambria Math"/>
                <a:cs typeface="Cambria Math"/>
              </a:rPr>
              <a:t>⟹</a:t>
            </a:r>
            <a:r>
              <a:rPr sz="2400" spc="11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𝐆</a:t>
            </a:r>
            <a:r>
              <a:rPr sz="2400" spc="130" dirty="0">
                <a:latin typeface="Cambria Math"/>
                <a:cs typeface="Cambria Math"/>
              </a:rPr>
              <a:t> </a:t>
            </a:r>
            <a:r>
              <a:rPr sz="2400" spc="-60" dirty="0">
                <a:latin typeface="Cambria Math"/>
                <a:cs typeface="Cambria Math"/>
              </a:rPr>
              <a:t>=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744218" y="1328673"/>
            <a:ext cx="3296285" cy="1303020"/>
          </a:xfrm>
          <a:custGeom>
            <a:avLst/>
            <a:gdLst/>
            <a:ahLst/>
            <a:cxnLst/>
            <a:rect l="l" t="t" r="r" b="b"/>
            <a:pathLst>
              <a:path w="3296285" h="1303020">
                <a:moveTo>
                  <a:pt x="87757" y="1286510"/>
                </a:moveTo>
                <a:lnTo>
                  <a:pt x="0" y="1286510"/>
                </a:lnTo>
                <a:lnTo>
                  <a:pt x="0" y="1303020"/>
                </a:lnTo>
                <a:lnTo>
                  <a:pt x="87757" y="1303020"/>
                </a:lnTo>
                <a:lnTo>
                  <a:pt x="87757" y="1286510"/>
                </a:lnTo>
                <a:close/>
              </a:path>
              <a:path w="3296285" h="1303020">
                <a:moveTo>
                  <a:pt x="87757" y="0"/>
                </a:moveTo>
                <a:lnTo>
                  <a:pt x="0" y="0"/>
                </a:lnTo>
                <a:lnTo>
                  <a:pt x="0" y="16510"/>
                </a:lnTo>
                <a:lnTo>
                  <a:pt x="87757" y="16510"/>
                </a:lnTo>
                <a:lnTo>
                  <a:pt x="87757" y="0"/>
                </a:lnTo>
                <a:close/>
              </a:path>
              <a:path w="3296285" h="1303020">
                <a:moveTo>
                  <a:pt x="3295904" y="1286510"/>
                </a:moveTo>
                <a:lnTo>
                  <a:pt x="3208147" y="1286510"/>
                </a:lnTo>
                <a:lnTo>
                  <a:pt x="3208147" y="1303020"/>
                </a:lnTo>
                <a:lnTo>
                  <a:pt x="3295904" y="1303020"/>
                </a:lnTo>
                <a:lnTo>
                  <a:pt x="3295904" y="1286510"/>
                </a:lnTo>
                <a:close/>
              </a:path>
              <a:path w="3296285" h="1303020">
                <a:moveTo>
                  <a:pt x="3295904" y="0"/>
                </a:moveTo>
                <a:lnTo>
                  <a:pt x="3208147" y="0"/>
                </a:lnTo>
                <a:lnTo>
                  <a:pt x="3208147" y="16510"/>
                </a:lnTo>
                <a:lnTo>
                  <a:pt x="3295904" y="16510"/>
                </a:lnTo>
                <a:lnTo>
                  <a:pt x="32959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744217" y="1333288"/>
          <a:ext cx="3263263" cy="13569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33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0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70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7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7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76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127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77470">
                        <a:lnSpc>
                          <a:spcPts val="2305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𝟏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305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𝟎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5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𝟎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5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𝟎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5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𝟏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5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𝟎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4295" algn="ctr">
                        <a:lnSpc>
                          <a:spcPts val="2305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𝟏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9890">
                <a:tc>
                  <a:txBody>
                    <a:bodyPr/>
                    <a:lstStyle/>
                    <a:p>
                      <a:pPr marL="77470">
                        <a:lnSpc>
                          <a:spcPts val="2335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𝟎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5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𝟏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5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𝟎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𝟎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7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𝟏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7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𝟏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4295" algn="ctr">
                        <a:lnSpc>
                          <a:spcPts val="277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𝟏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815">
                <a:tc>
                  <a:txBody>
                    <a:bodyPr/>
                    <a:lstStyle/>
                    <a:p>
                      <a:pPr marL="77470">
                        <a:lnSpc>
                          <a:spcPts val="2085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𝟎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95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𝟎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95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𝟏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95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𝟎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85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𝟏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85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𝟏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4295" algn="ctr">
                        <a:lnSpc>
                          <a:spcPts val="2085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𝟎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4490">
                <a:tc>
                  <a:txBody>
                    <a:bodyPr/>
                    <a:lstStyle/>
                    <a:p>
                      <a:pPr marL="77470">
                        <a:lnSpc>
                          <a:spcPts val="2545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𝟎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55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𝟎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55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𝟎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𝟏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45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𝟎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45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𝟏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4295" algn="ctr">
                        <a:lnSpc>
                          <a:spcPts val="2545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𝟏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3372" y="113538"/>
            <a:ext cx="58223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94665" indent="-456565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4946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Example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5: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Prove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that</a:t>
            </a:r>
            <a:r>
              <a:rPr sz="2400" b="1" spc="-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F2F9F"/>
                </a:solidFill>
                <a:latin typeface="Cambria Math"/>
                <a:cs typeface="Cambria Math"/>
              </a:rPr>
              <a:t>𝐆𝐇</a:t>
            </a:r>
            <a:r>
              <a:rPr sz="2625" baseline="28571" dirty="0">
                <a:solidFill>
                  <a:srgbClr val="6F2F9F"/>
                </a:solidFill>
                <a:latin typeface="Cambria Math"/>
                <a:cs typeface="Cambria Math"/>
              </a:rPr>
              <a:t>𝐓</a:t>
            </a:r>
            <a:r>
              <a:rPr sz="2625" spc="345" baseline="28571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and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F2F9F"/>
                </a:solidFill>
                <a:latin typeface="Cambria Math"/>
                <a:cs typeface="Cambria Math"/>
              </a:rPr>
              <a:t>𝐂𝐇</a:t>
            </a:r>
            <a:r>
              <a:rPr sz="2625" baseline="28571" dirty="0">
                <a:solidFill>
                  <a:srgbClr val="6F2F9F"/>
                </a:solidFill>
                <a:latin typeface="Cambria Math"/>
                <a:cs typeface="Cambria Math"/>
              </a:rPr>
              <a:t>𝐓</a:t>
            </a:r>
            <a:r>
              <a:rPr sz="2625" spc="502" baseline="28571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6F2F9F"/>
                </a:solidFill>
                <a:latin typeface="Cambria Math"/>
                <a:cs typeface="Cambria Math"/>
              </a:rPr>
              <a:t>=</a:t>
            </a:r>
            <a:r>
              <a:rPr sz="2400" spc="100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400" spc="-25" dirty="0">
                <a:solidFill>
                  <a:srgbClr val="6F2F9F"/>
                </a:solidFill>
                <a:latin typeface="Cambria Math"/>
                <a:cs typeface="Cambria Math"/>
              </a:rPr>
              <a:t>𝟎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8772" y="104394"/>
            <a:ext cx="1176020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indent="-457200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469900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Example</a:t>
            </a:r>
            <a:r>
              <a:rPr sz="2400" b="1" spc="-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6: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Find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Error Syndrome</a:t>
            </a:r>
            <a:r>
              <a:rPr sz="2400" b="1" spc="-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spc="-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received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codeword</a:t>
            </a:r>
            <a:r>
              <a:rPr sz="2400" b="1" spc="-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V</a:t>
            </a:r>
            <a:r>
              <a:rPr sz="2400" b="1" spc="-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=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[1</a:t>
            </a:r>
            <a:r>
              <a:rPr sz="2400" b="1" spc="-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1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0</a:t>
            </a:r>
            <a:r>
              <a:rPr sz="2400" b="1" spc="-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1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1</a:t>
            </a:r>
            <a:r>
              <a:rPr sz="2400" b="1" spc="-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0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1],</a:t>
            </a:r>
            <a:r>
              <a:rPr sz="2400" b="1" spc="-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Also</a:t>
            </a:r>
            <a:r>
              <a:rPr sz="2400" b="1" spc="-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correct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Error.</a:t>
            </a:r>
            <a:r>
              <a:rPr sz="2400" b="1" spc="-8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Here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Parity</a:t>
            </a:r>
            <a:r>
              <a:rPr sz="2400" b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Check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Matrix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given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by: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213610" y="931036"/>
            <a:ext cx="3281679" cy="904240"/>
          </a:xfrm>
          <a:custGeom>
            <a:avLst/>
            <a:gdLst/>
            <a:ahLst/>
            <a:cxnLst/>
            <a:rect l="l" t="t" r="r" b="b"/>
            <a:pathLst>
              <a:path w="3281679" h="904239">
                <a:moveTo>
                  <a:pt x="80899" y="889000"/>
                </a:moveTo>
                <a:lnTo>
                  <a:pt x="0" y="889000"/>
                </a:lnTo>
                <a:lnTo>
                  <a:pt x="0" y="904240"/>
                </a:lnTo>
                <a:lnTo>
                  <a:pt x="80899" y="904240"/>
                </a:lnTo>
                <a:lnTo>
                  <a:pt x="80899" y="889000"/>
                </a:lnTo>
                <a:close/>
              </a:path>
              <a:path w="3281679" h="904239">
                <a:moveTo>
                  <a:pt x="80899" y="0"/>
                </a:moveTo>
                <a:lnTo>
                  <a:pt x="0" y="0"/>
                </a:lnTo>
                <a:lnTo>
                  <a:pt x="0" y="13970"/>
                </a:lnTo>
                <a:lnTo>
                  <a:pt x="80899" y="13970"/>
                </a:lnTo>
                <a:lnTo>
                  <a:pt x="80899" y="0"/>
                </a:lnTo>
                <a:close/>
              </a:path>
              <a:path w="3281679" h="904239">
                <a:moveTo>
                  <a:pt x="3281553" y="889000"/>
                </a:moveTo>
                <a:lnTo>
                  <a:pt x="3200527" y="889000"/>
                </a:lnTo>
                <a:lnTo>
                  <a:pt x="3200527" y="904240"/>
                </a:lnTo>
                <a:lnTo>
                  <a:pt x="3281553" y="904240"/>
                </a:lnTo>
                <a:lnTo>
                  <a:pt x="3281553" y="889000"/>
                </a:lnTo>
                <a:close/>
              </a:path>
              <a:path w="3281679" h="904239">
                <a:moveTo>
                  <a:pt x="3281553" y="0"/>
                </a:moveTo>
                <a:lnTo>
                  <a:pt x="3200527" y="0"/>
                </a:lnTo>
                <a:lnTo>
                  <a:pt x="3200527" y="13970"/>
                </a:lnTo>
                <a:lnTo>
                  <a:pt x="3200527" y="15240"/>
                </a:lnTo>
                <a:lnTo>
                  <a:pt x="3250819" y="15240"/>
                </a:lnTo>
                <a:lnTo>
                  <a:pt x="3250819" y="13970"/>
                </a:lnTo>
                <a:lnTo>
                  <a:pt x="3281553" y="13970"/>
                </a:lnTo>
                <a:lnTo>
                  <a:pt x="328155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084122" y="849528"/>
          <a:ext cx="4396103" cy="10979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49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76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70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7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7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76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870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63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ts val="2655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𝟏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5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𝟏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5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𝟏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95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𝟎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95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𝟏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15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𝟎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9375" algn="ctr">
                        <a:lnSpc>
                          <a:spcPts val="2715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𝟎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680">
                <a:tc>
                  <a:txBody>
                    <a:bodyPr/>
                    <a:lstStyle/>
                    <a:p>
                      <a:pPr marL="31750">
                        <a:lnSpc>
                          <a:spcPts val="2470"/>
                        </a:lnSpc>
                      </a:pPr>
                      <a:r>
                        <a:rPr sz="2400" dirty="0">
                          <a:latin typeface="Cambria Math"/>
                          <a:cs typeface="Cambria Math"/>
                        </a:rPr>
                        <a:t>⟹</a:t>
                      </a:r>
                      <a:r>
                        <a:rPr sz="2400" spc="13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400" dirty="0">
                          <a:latin typeface="Cambria Math"/>
                          <a:cs typeface="Cambria Math"/>
                        </a:rPr>
                        <a:t>𝐇</a:t>
                      </a:r>
                      <a:r>
                        <a:rPr sz="2400" spc="125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400" spc="-60" dirty="0">
                          <a:latin typeface="Cambria Math"/>
                          <a:cs typeface="Cambria Math"/>
                        </a:rPr>
                        <a:t>=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ts val="259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𝟎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9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𝟏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9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𝟏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𝟏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𝟎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635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𝟏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9375" algn="ctr">
                        <a:lnSpc>
                          <a:spcPts val="2635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𝟎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ts val="256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𝟏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6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𝟏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6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𝟎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𝟏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𝟎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2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𝟎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9375" algn="ctr">
                        <a:lnSpc>
                          <a:spcPts val="262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𝟏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8772" y="104394"/>
            <a:ext cx="1175575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indent="-457200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469900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Example</a:t>
            </a:r>
            <a:r>
              <a:rPr sz="2400" b="1" spc="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7:</a:t>
            </a:r>
            <a:r>
              <a:rPr sz="2400" b="1" spc="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If</a:t>
            </a:r>
            <a:r>
              <a:rPr sz="2400" b="1" spc="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minimum</a:t>
            </a:r>
            <a:r>
              <a:rPr sz="2400" b="1" spc="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hamming</a:t>
            </a:r>
            <a:r>
              <a:rPr sz="2400" b="1" spc="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distance</a:t>
            </a:r>
            <a:r>
              <a:rPr sz="2400" b="1" spc="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spc="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</a:t>
            </a:r>
            <a:r>
              <a:rPr sz="2400" b="1" spc="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linear</a:t>
            </a:r>
            <a:r>
              <a:rPr sz="2400" b="1" spc="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block</a:t>
            </a:r>
            <a:r>
              <a:rPr sz="2400" b="1" spc="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code</a:t>
            </a:r>
            <a:r>
              <a:rPr sz="2400" b="1" spc="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sz="2400" b="1" spc="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3.</a:t>
            </a:r>
            <a:r>
              <a:rPr sz="2400" b="1" spc="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Find</a:t>
            </a:r>
            <a:r>
              <a:rPr sz="2400" b="1" spc="1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Code</a:t>
            </a:r>
            <a:r>
              <a:rPr sz="2400" b="1" spc="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error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detection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and</a:t>
            </a:r>
            <a:r>
              <a:rPr sz="2400" b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error</a:t>
            </a:r>
            <a:r>
              <a:rPr sz="2400" b="1" spc="-9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correction</a:t>
            </a:r>
            <a:r>
              <a:rPr sz="2400" b="1" spc="-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capability.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3753" y="29413"/>
            <a:ext cx="11670030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u="none" spc="-135" dirty="0">
                <a:solidFill>
                  <a:srgbClr val="006600"/>
                </a:solidFill>
                <a:latin typeface="Arial"/>
                <a:cs typeface="Arial"/>
              </a:rPr>
              <a:t>Linear</a:t>
            </a:r>
            <a:r>
              <a:rPr sz="6000" u="none" spc="-24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6000" u="none" spc="-345" dirty="0">
                <a:solidFill>
                  <a:srgbClr val="006600"/>
                </a:solidFill>
                <a:latin typeface="Arial"/>
                <a:cs typeface="Arial"/>
              </a:rPr>
              <a:t>Block</a:t>
            </a:r>
            <a:r>
              <a:rPr sz="6000" u="none" spc="-17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6000" u="none" spc="-415" dirty="0">
                <a:solidFill>
                  <a:srgbClr val="006600"/>
                </a:solidFill>
                <a:latin typeface="Arial"/>
                <a:cs typeface="Arial"/>
              </a:rPr>
              <a:t>Code</a:t>
            </a:r>
            <a:r>
              <a:rPr sz="6000" u="none" spc="-17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6000" u="none" spc="-459" dirty="0">
                <a:solidFill>
                  <a:srgbClr val="006600"/>
                </a:solidFill>
                <a:latin typeface="Arial"/>
                <a:cs typeface="Arial"/>
              </a:rPr>
              <a:t>Solved</a:t>
            </a:r>
            <a:r>
              <a:rPr sz="6000" u="none" spc="-17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6000" u="none" spc="-135" dirty="0">
                <a:solidFill>
                  <a:srgbClr val="006600"/>
                </a:solidFill>
                <a:latin typeface="Arial"/>
                <a:cs typeface="Arial"/>
              </a:rPr>
              <a:t>Example</a:t>
            </a:r>
            <a:endParaRPr sz="60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8772" y="884301"/>
            <a:ext cx="11753850" cy="3318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indent="-457200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469900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Example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8: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For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(6,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3)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Systematic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Linear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Block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code,</a:t>
            </a:r>
            <a:r>
              <a:rPr sz="2400" b="1" spc="-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three</a:t>
            </a:r>
            <a:r>
              <a:rPr sz="2400" b="1" spc="-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parity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check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digits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are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</a:t>
            </a:r>
            <a:r>
              <a:rPr sz="1800" b="1" dirty="0">
                <a:solidFill>
                  <a:srgbClr val="6F2F9F"/>
                </a:solidFill>
                <a:latin typeface="Calibri"/>
                <a:cs typeface="Calibri"/>
              </a:rPr>
              <a:t>4</a:t>
            </a:r>
            <a:r>
              <a:rPr sz="1800" b="1" spc="11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=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d</a:t>
            </a:r>
            <a:r>
              <a:rPr sz="1800" b="1" dirty="0">
                <a:solidFill>
                  <a:srgbClr val="6F2F9F"/>
                </a:solidFill>
                <a:latin typeface="Calibri"/>
                <a:cs typeface="Calibri"/>
              </a:rPr>
              <a:t>1</a:t>
            </a:r>
            <a:r>
              <a:rPr sz="1800" b="1" spc="114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+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d</a:t>
            </a:r>
            <a:r>
              <a:rPr sz="1800" b="1" dirty="0">
                <a:solidFill>
                  <a:srgbClr val="6F2F9F"/>
                </a:solidFill>
                <a:latin typeface="Calibri"/>
                <a:cs typeface="Calibri"/>
              </a:rPr>
              <a:t>2</a:t>
            </a:r>
            <a:r>
              <a:rPr sz="1800" b="1" spc="114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+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d</a:t>
            </a:r>
            <a:r>
              <a:rPr sz="1800" b="1" dirty="0">
                <a:solidFill>
                  <a:srgbClr val="6F2F9F"/>
                </a:solidFill>
                <a:latin typeface="Calibri"/>
                <a:cs typeface="Calibri"/>
              </a:rPr>
              <a:t>3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,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</a:t>
            </a:r>
            <a:r>
              <a:rPr sz="1800" b="1" dirty="0">
                <a:solidFill>
                  <a:srgbClr val="6F2F9F"/>
                </a:solidFill>
                <a:latin typeface="Calibri"/>
                <a:cs typeface="Calibri"/>
              </a:rPr>
              <a:t>5</a:t>
            </a:r>
            <a:r>
              <a:rPr sz="1800" b="1" spc="114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=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d</a:t>
            </a:r>
            <a:r>
              <a:rPr sz="1800" b="1" dirty="0">
                <a:solidFill>
                  <a:srgbClr val="6F2F9F"/>
                </a:solidFill>
                <a:latin typeface="Calibri"/>
                <a:cs typeface="Calibri"/>
              </a:rPr>
              <a:t>1</a:t>
            </a:r>
            <a:r>
              <a:rPr sz="1800" b="1" spc="1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+</a:t>
            </a:r>
            <a:r>
              <a:rPr sz="2400" b="1" spc="-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d</a:t>
            </a:r>
            <a:r>
              <a:rPr sz="1800" b="1" dirty="0">
                <a:solidFill>
                  <a:srgbClr val="6F2F9F"/>
                </a:solidFill>
                <a:latin typeface="Calibri"/>
                <a:cs typeface="Calibri"/>
              </a:rPr>
              <a:t>2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,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and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</a:t>
            </a:r>
            <a:r>
              <a:rPr sz="1800" b="1" dirty="0">
                <a:solidFill>
                  <a:srgbClr val="6F2F9F"/>
                </a:solidFill>
                <a:latin typeface="Calibri"/>
                <a:cs typeface="Calibri"/>
              </a:rPr>
              <a:t>6</a:t>
            </a:r>
            <a:r>
              <a:rPr sz="1800" b="1" spc="1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=</a:t>
            </a:r>
            <a:r>
              <a:rPr sz="2400" b="1" spc="-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d</a:t>
            </a:r>
            <a:r>
              <a:rPr sz="1800" b="1" dirty="0">
                <a:solidFill>
                  <a:srgbClr val="6F2F9F"/>
                </a:solidFill>
                <a:latin typeface="Calibri"/>
                <a:cs typeface="Calibri"/>
              </a:rPr>
              <a:t>1</a:t>
            </a:r>
            <a:r>
              <a:rPr sz="1800" b="1" spc="1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+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d</a:t>
            </a:r>
            <a:r>
              <a:rPr sz="1800" b="1" spc="-25" dirty="0">
                <a:solidFill>
                  <a:srgbClr val="6F2F9F"/>
                </a:solidFill>
                <a:latin typeface="Calibri"/>
                <a:cs typeface="Calibri"/>
              </a:rPr>
              <a:t>3</a:t>
            </a:r>
            <a:endParaRPr sz="18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"/>
              <a:tabLst>
                <a:tab pos="469265" algn="l"/>
              </a:tabLst>
            </a:pP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Find,</a:t>
            </a:r>
            <a:endParaRPr sz="2400">
              <a:latin typeface="Calibri"/>
              <a:cs typeface="Calibri"/>
            </a:endParaRPr>
          </a:p>
          <a:p>
            <a:pPr marL="984885" lvl="1" indent="-514984">
              <a:lnSpc>
                <a:spcPct val="100000"/>
              </a:lnSpc>
              <a:buAutoNum type="romanUcPeriod"/>
              <a:tabLst>
                <a:tab pos="984885" algn="l"/>
              </a:tabLst>
            </a:pP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All</a:t>
            </a:r>
            <a:r>
              <a:rPr sz="2400" b="1" spc="-7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Corresponding</a:t>
            </a:r>
            <a:r>
              <a:rPr sz="2400" b="1" spc="-7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Code</a:t>
            </a:r>
            <a:r>
              <a:rPr sz="2400" b="1" spc="-7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Vectors</a:t>
            </a:r>
            <a:endParaRPr sz="2400">
              <a:latin typeface="Calibri"/>
              <a:cs typeface="Calibri"/>
            </a:endParaRPr>
          </a:p>
          <a:p>
            <a:pPr marL="984885" lvl="1" indent="-514984">
              <a:lnSpc>
                <a:spcPct val="100000"/>
              </a:lnSpc>
              <a:buAutoNum type="romanUcPeriod"/>
              <a:tabLst>
                <a:tab pos="984885" algn="l"/>
              </a:tabLst>
            </a:pP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Minimum</a:t>
            </a:r>
            <a:r>
              <a:rPr sz="2400" b="1" spc="-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Hamming</a:t>
            </a:r>
            <a:r>
              <a:rPr sz="2400" b="1" spc="-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Distance</a:t>
            </a:r>
            <a:endParaRPr sz="2400">
              <a:latin typeface="Calibri"/>
              <a:cs typeface="Calibri"/>
            </a:endParaRPr>
          </a:p>
          <a:p>
            <a:pPr marL="984885" lvl="1" indent="-514984">
              <a:lnSpc>
                <a:spcPct val="100000"/>
              </a:lnSpc>
              <a:buAutoNum type="romanUcPeriod"/>
              <a:tabLst>
                <a:tab pos="984885" algn="l"/>
              </a:tabLst>
            </a:pP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Error</a:t>
            </a:r>
            <a:r>
              <a:rPr sz="2400" b="1" spc="-8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Detection</a:t>
            </a:r>
            <a:r>
              <a:rPr sz="2400" b="1" spc="-5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and</a:t>
            </a:r>
            <a:r>
              <a:rPr sz="2400" b="1" spc="-7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Error</a:t>
            </a:r>
            <a:r>
              <a:rPr sz="2400" b="1" spc="-7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Correction</a:t>
            </a:r>
            <a:r>
              <a:rPr sz="2400" b="1" spc="-7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Capability</a:t>
            </a:r>
            <a:endParaRPr sz="2400">
              <a:latin typeface="Calibri"/>
              <a:cs typeface="Calibri"/>
            </a:endParaRPr>
          </a:p>
          <a:p>
            <a:pPr marL="984885" lvl="1" indent="-514984">
              <a:lnSpc>
                <a:spcPct val="100000"/>
              </a:lnSpc>
              <a:spcBef>
                <a:spcPts val="5"/>
              </a:spcBef>
              <a:buAutoNum type="romanUcPeriod"/>
              <a:tabLst>
                <a:tab pos="984885" algn="l"/>
              </a:tabLst>
            </a:pP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Generator</a:t>
            </a:r>
            <a:r>
              <a:rPr sz="2400" b="1" spc="-10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Matrix</a:t>
            </a:r>
            <a:endParaRPr sz="2400">
              <a:latin typeface="Calibri"/>
              <a:cs typeface="Calibri"/>
            </a:endParaRPr>
          </a:p>
          <a:p>
            <a:pPr marL="984885" lvl="1" indent="-514984">
              <a:lnSpc>
                <a:spcPct val="100000"/>
              </a:lnSpc>
              <a:buAutoNum type="romanUcPeriod"/>
              <a:tabLst>
                <a:tab pos="984885" algn="l"/>
              </a:tabLst>
            </a:pP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Parity</a:t>
            </a:r>
            <a:r>
              <a:rPr sz="2400" b="1" spc="-9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Check</a:t>
            </a:r>
            <a:r>
              <a:rPr sz="2400" b="1" spc="-8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Matrix</a:t>
            </a:r>
            <a:endParaRPr sz="2400">
              <a:latin typeface="Calibri"/>
              <a:cs typeface="Calibri"/>
            </a:endParaRPr>
          </a:p>
          <a:p>
            <a:pPr marL="984885" lvl="1" indent="-514984">
              <a:lnSpc>
                <a:spcPct val="100000"/>
              </a:lnSpc>
              <a:buAutoNum type="romanUcPeriod"/>
              <a:tabLst>
                <a:tab pos="984885" algn="l"/>
              </a:tabLst>
            </a:pP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Find</a:t>
            </a:r>
            <a:r>
              <a:rPr sz="2400" b="1" spc="-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error</a:t>
            </a:r>
            <a:r>
              <a:rPr sz="2400" b="1" spc="-4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if</a:t>
            </a:r>
            <a:r>
              <a:rPr sz="2400" b="1" spc="-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received</a:t>
            </a:r>
            <a:r>
              <a:rPr sz="2400" b="1" spc="-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code</a:t>
            </a:r>
            <a:r>
              <a:rPr sz="2400" b="1" spc="-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is</a:t>
            </a:r>
            <a:r>
              <a:rPr sz="2400" b="1" spc="-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[1</a:t>
            </a:r>
            <a:r>
              <a:rPr sz="2400" b="1" spc="-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0</a:t>
            </a:r>
            <a:r>
              <a:rPr sz="2400" b="1" spc="-4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1</a:t>
            </a:r>
            <a:r>
              <a:rPr sz="2400" b="1" spc="-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1</a:t>
            </a:r>
            <a:r>
              <a:rPr sz="2400" b="1" spc="-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0</a:t>
            </a:r>
            <a:r>
              <a:rPr sz="2400" b="1" spc="-25" dirty="0">
                <a:solidFill>
                  <a:srgbClr val="006FC0"/>
                </a:solidFill>
                <a:latin typeface="Calibri"/>
                <a:cs typeface="Calibri"/>
              </a:rPr>
              <a:t> 0]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1433</TotalTime>
  <Words>1332</Words>
  <Application>Microsoft Office PowerPoint</Application>
  <PresentationFormat>Widescreen</PresentationFormat>
  <Paragraphs>376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Arial Narrow</vt:lpstr>
      <vt:lpstr>Calibri</vt:lpstr>
      <vt:lpstr>Cambria Math</vt:lpstr>
      <vt:lpstr>Times New Roman</vt:lpstr>
      <vt:lpstr>Wingdings</vt:lpstr>
      <vt:lpstr>Office Theme</vt:lpstr>
      <vt:lpstr>Linear Block Code</vt:lpstr>
      <vt:lpstr>Linear Block Code</vt:lpstr>
      <vt:lpstr>Checking whether Hamming Code is a Linear Block Code</vt:lpstr>
      <vt:lpstr>Example of Linear Block Code</vt:lpstr>
      <vt:lpstr>Linear Block Code Solved Example</vt:lpstr>
      <vt:lpstr>PowerPoint Presentation</vt:lpstr>
      <vt:lpstr>PowerPoint Presentation</vt:lpstr>
      <vt:lpstr>Linear Block Code Solved Examples</vt:lpstr>
      <vt:lpstr>PowerPoint Presentation</vt:lpstr>
      <vt:lpstr>PowerPoint Presentation</vt:lpstr>
      <vt:lpstr>PowerPoint Presentation</vt:lpstr>
      <vt:lpstr>Elementary Row Operations (ERO)</vt:lpstr>
      <vt:lpstr>Conversion to Systematic Generator Matrix</vt:lpstr>
      <vt:lpstr>Conversion to Systematic Generator Matrix</vt:lpstr>
      <vt:lpstr>Linear Block Code Solved Examples</vt:lpstr>
      <vt:lpstr>PowerPoint Presentation</vt:lpstr>
      <vt:lpstr>PowerPoint Presentation</vt:lpstr>
      <vt:lpstr>PowerPoint Presentation</vt:lpstr>
      <vt:lpstr>Linear Block Code Solved Example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Block Code</dc:title>
  <cp:lastModifiedBy>Rifat Rahman</cp:lastModifiedBy>
  <cp:revision>23</cp:revision>
  <dcterms:created xsi:type="dcterms:W3CDTF">2026-02-16T15:48:50Z</dcterms:created>
  <dcterms:modified xsi:type="dcterms:W3CDTF">2026-03-24T13:18:44Z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2026-02-16T00:00:00Z</vt:filetime>
  </property>
  <property fmtid="{D5CDD505-2E9C-101B-9397-08002B2CF9AE}" pid="3" name="LastSaved">
    <vt:filetime>2026-02-16T00:00:00Z</vt:filetime>
  </property>
  <property fmtid="{D5CDD505-2E9C-101B-9397-08002B2CF9AE}" pid="4" name="Producer">
    <vt:lpwstr>3-Heights™ PDF Merge Split Shell 6.12.1.11 (http://www.pdf-tools.com)</vt:lpwstr>
  </property>
</Properties>
</file>