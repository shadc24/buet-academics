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0"/>
  </p:notesMasterIdLst>
  <p:sldIdLst>
    <p:sldId id="326" r:id="rId2"/>
    <p:sldId id="272" r:id="rId3"/>
    <p:sldId id="273" r:id="rId4"/>
    <p:sldId id="274" r:id="rId5"/>
    <p:sldId id="275" r:id="rId6"/>
    <p:sldId id="335" r:id="rId7"/>
    <p:sldId id="336" r:id="rId8"/>
    <p:sldId id="337" r:id="rId9"/>
    <p:sldId id="276" r:id="rId10"/>
    <p:sldId id="277" r:id="rId11"/>
    <p:sldId id="278" r:id="rId12"/>
    <p:sldId id="279" r:id="rId13"/>
    <p:sldId id="280" r:id="rId14"/>
    <p:sldId id="345" r:id="rId15"/>
    <p:sldId id="286" r:id="rId16"/>
    <p:sldId id="287" r:id="rId17"/>
    <p:sldId id="288" r:id="rId18"/>
    <p:sldId id="289" r:id="rId19"/>
    <p:sldId id="281" r:id="rId20"/>
    <p:sldId id="282" r:id="rId21"/>
    <p:sldId id="283" r:id="rId22"/>
    <p:sldId id="284" r:id="rId23"/>
    <p:sldId id="285" r:id="rId24"/>
    <p:sldId id="290" r:id="rId25"/>
    <p:sldId id="291" r:id="rId26"/>
    <p:sldId id="292" r:id="rId27"/>
    <p:sldId id="293" r:id="rId28"/>
    <p:sldId id="294" r:id="rId29"/>
    <p:sldId id="327" r:id="rId30"/>
    <p:sldId id="296" r:id="rId31"/>
    <p:sldId id="297" r:id="rId32"/>
    <p:sldId id="298" r:id="rId33"/>
    <p:sldId id="302" r:id="rId34"/>
    <p:sldId id="299" r:id="rId35"/>
    <p:sldId id="321" r:id="rId36"/>
    <p:sldId id="322" r:id="rId37"/>
    <p:sldId id="323" r:id="rId38"/>
    <p:sldId id="324" r:id="rId3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629" y="-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A8D851-CCD0-4B79-820F-5404D817A6A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98419A-A072-4F05-9D78-18EF5D60C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513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8419A-A072-4F05-9D78-18EF5D60CF8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724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6F2F9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6F2F9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34263" y="75056"/>
            <a:ext cx="6974840" cy="1718945"/>
          </a:xfrm>
          <a:custGeom>
            <a:avLst/>
            <a:gdLst/>
            <a:ahLst/>
            <a:cxnLst/>
            <a:rect l="l" t="t" r="r" b="b"/>
            <a:pathLst>
              <a:path w="6974840" h="1718945">
                <a:moveTo>
                  <a:pt x="6974535" y="963041"/>
                </a:moveTo>
                <a:lnTo>
                  <a:pt x="6936435" y="943991"/>
                </a:lnTo>
                <a:lnTo>
                  <a:pt x="6860235" y="905891"/>
                </a:lnTo>
                <a:lnTo>
                  <a:pt x="6860235" y="943991"/>
                </a:lnTo>
                <a:lnTo>
                  <a:pt x="421665" y="943991"/>
                </a:lnTo>
                <a:lnTo>
                  <a:pt x="420827" y="114427"/>
                </a:lnTo>
                <a:lnTo>
                  <a:pt x="459003" y="114427"/>
                </a:lnTo>
                <a:lnTo>
                  <a:pt x="449389" y="95250"/>
                </a:lnTo>
                <a:lnTo>
                  <a:pt x="401662" y="0"/>
                </a:lnTo>
                <a:lnTo>
                  <a:pt x="344639" y="114427"/>
                </a:lnTo>
                <a:lnTo>
                  <a:pt x="382727" y="114427"/>
                </a:lnTo>
                <a:lnTo>
                  <a:pt x="383565" y="943991"/>
                </a:lnTo>
                <a:lnTo>
                  <a:pt x="0" y="943991"/>
                </a:lnTo>
                <a:lnTo>
                  <a:pt x="0" y="982091"/>
                </a:lnTo>
                <a:lnTo>
                  <a:pt x="383603" y="982091"/>
                </a:lnTo>
                <a:lnTo>
                  <a:pt x="384352" y="1718437"/>
                </a:lnTo>
                <a:lnTo>
                  <a:pt x="422452" y="1718437"/>
                </a:lnTo>
                <a:lnTo>
                  <a:pt x="421703" y="982091"/>
                </a:lnTo>
                <a:lnTo>
                  <a:pt x="6860235" y="982091"/>
                </a:lnTo>
                <a:lnTo>
                  <a:pt x="6860235" y="1020191"/>
                </a:lnTo>
                <a:lnTo>
                  <a:pt x="6936435" y="982091"/>
                </a:lnTo>
                <a:lnTo>
                  <a:pt x="6974535" y="963041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6F2F9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6F2F9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4142" y="74167"/>
            <a:ext cx="11615420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6F2F9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4142" y="1271269"/>
            <a:ext cx="11211356" cy="44785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rrahman007.buet.ac.bd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280.png"/><Relationship Id="rId3" Type="http://schemas.openxmlformats.org/officeDocument/2006/relationships/image" Target="../media/image22.png"/><Relationship Id="rId7" Type="http://schemas.openxmlformats.org/officeDocument/2006/relationships/image" Target="../media/image220.png"/><Relationship Id="rId12" Type="http://schemas.openxmlformats.org/officeDocument/2006/relationships/image" Target="../media/image3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5" Type="http://schemas.openxmlformats.org/officeDocument/2006/relationships/image" Target="../media/image24.png"/><Relationship Id="rId10" Type="http://schemas.openxmlformats.org/officeDocument/2006/relationships/image" Target="../media/image28.png"/><Relationship Id="rId4" Type="http://schemas.openxmlformats.org/officeDocument/2006/relationships/image" Target="../media/image23.png"/><Relationship Id="rId9" Type="http://schemas.openxmlformats.org/officeDocument/2006/relationships/image" Target="../media/image27.png"/><Relationship Id="rId1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7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9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50.png"/><Relationship Id="rId7" Type="http://schemas.openxmlformats.org/officeDocument/2006/relationships/image" Target="../media/image53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0.png"/><Relationship Id="rId3" Type="http://schemas.openxmlformats.org/officeDocument/2006/relationships/image" Target="../media/image55.png"/><Relationship Id="rId7" Type="http://schemas.openxmlformats.org/officeDocument/2006/relationships/image" Target="../media/image58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34.png"/><Relationship Id="rId9" Type="http://schemas.openxmlformats.org/officeDocument/2006/relationships/image" Target="../media/image6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0.png"/><Relationship Id="rId2" Type="http://schemas.openxmlformats.org/officeDocument/2006/relationships/image" Target="../media/image55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0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10" Type="http://schemas.openxmlformats.org/officeDocument/2006/relationships/image" Target="../media/image680.png"/><Relationship Id="rId4" Type="http://schemas.openxmlformats.org/officeDocument/2006/relationships/image" Target="../media/image67.png"/><Relationship Id="rId9" Type="http://schemas.openxmlformats.org/officeDocument/2006/relationships/image" Target="../media/image7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17" Type="http://schemas.openxmlformats.org/officeDocument/2006/relationships/image" Target="../media/image87.png"/><Relationship Id="rId2" Type="http://schemas.openxmlformats.org/officeDocument/2006/relationships/image" Target="../media/image72.png"/><Relationship Id="rId16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5" Type="http://schemas.openxmlformats.org/officeDocument/2006/relationships/image" Target="../media/image85.png"/><Relationship Id="rId10" Type="http://schemas.openxmlformats.org/officeDocument/2006/relationships/image" Target="../media/image80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Relationship Id="rId14" Type="http://schemas.openxmlformats.org/officeDocument/2006/relationships/image" Target="../media/image8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280.png"/><Relationship Id="rId3" Type="http://schemas.openxmlformats.org/officeDocument/2006/relationships/image" Target="../media/image22.png"/><Relationship Id="rId7" Type="http://schemas.openxmlformats.org/officeDocument/2006/relationships/image" Target="../media/image220.png"/><Relationship Id="rId12" Type="http://schemas.openxmlformats.org/officeDocument/2006/relationships/image" Target="../media/image3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5" Type="http://schemas.openxmlformats.org/officeDocument/2006/relationships/image" Target="../media/image24.png"/><Relationship Id="rId10" Type="http://schemas.openxmlformats.org/officeDocument/2006/relationships/image" Target="../media/image28.png"/><Relationship Id="rId4" Type="http://schemas.openxmlformats.org/officeDocument/2006/relationships/image" Target="../media/image23.png"/><Relationship Id="rId9" Type="http://schemas.openxmlformats.org/officeDocument/2006/relationships/image" Target="../media/image27.png"/><Relationship Id="rId1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2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4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102.png"/><Relationship Id="rId18" Type="http://schemas.openxmlformats.org/officeDocument/2006/relationships/image" Target="../media/image107.png"/><Relationship Id="rId3" Type="http://schemas.openxmlformats.org/officeDocument/2006/relationships/image" Target="../media/image93.png"/><Relationship Id="rId21" Type="http://schemas.openxmlformats.org/officeDocument/2006/relationships/image" Target="../media/image110.png"/><Relationship Id="rId7" Type="http://schemas.openxmlformats.org/officeDocument/2006/relationships/image" Target="../media/image97.png"/><Relationship Id="rId12" Type="http://schemas.openxmlformats.org/officeDocument/2006/relationships/image" Target="../media/image101.png"/><Relationship Id="rId17" Type="http://schemas.openxmlformats.org/officeDocument/2006/relationships/image" Target="../media/image10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05.png"/><Relationship Id="rId20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11" Type="http://schemas.openxmlformats.org/officeDocument/2006/relationships/image" Target="../media/image82.png"/><Relationship Id="rId5" Type="http://schemas.openxmlformats.org/officeDocument/2006/relationships/image" Target="../media/image95.png"/><Relationship Id="rId15" Type="http://schemas.openxmlformats.org/officeDocument/2006/relationships/image" Target="../media/image104.png"/><Relationship Id="rId23" Type="http://schemas.openxmlformats.org/officeDocument/2006/relationships/image" Target="../media/image112.png"/><Relationship Id="rId10" Type="http://schemas.openxmlformats.org/officeDocument/2006/relationships/image" Target="../media/image100.png"/><Relationship Id="rId19" Type="http://schemas.openxmlformats.org/officeDocument/2006/relationships/image" Target="../media/image108.png"/><Relationship Id="rId4" Type="http://schemas.openxmlformats.org/officeDocument/2006/relationships/image" Target="../media/image90.png"/><Relationship Id="rId9" Type="http://schemas.openxmlformats.org/officeDocument/2006/relationships/image" Target="../media/image99.png"/><Relationship Id="rId14" Type="http://schemas.openxmlformats.org/officeDocument/2006/relationships/image" Target="../media/image103.png"/><Relationship Id="rId22" Type="http://schemas.openxmlformats.org/officeDocument/2006/relationships/image" Target="../media/image111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13" Type="http://schemas.openxmlformats.org/officeDocument/2006/relationships/image" Target="../media/image124.png"/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12" Type="http://schemas.openxmlformats.org/officeDocument/2006/relationships/image" Target="../media/image123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png"/><Relationship Id="rId11" Type="http://schemas.openxmlformats.org/officeDocument/2006/relationships/image" Target="../media/image122.png"/><Relationship Id="rId5" Type="http://schemas.openxmlformats.org/officeDocument/2006/relationships/image" Target="../media/image116.png"/><Relationship Id="rId15" Type="http://schemas.openxmlformats.org/officeDocument/2006/relationships/image" Target="../media/image126.png"/><Relationship Id="rId10" Type="http://schemas.openxmlformats.org/officeDocument/2006/relationships/image" Target="../media/image121.png"/><Relationship Id="rId4" Type="http://schemas.openxmlformats.org/officeDocument/2006/relationships/image" Target="../media/image115.png"/><Relationship Id="rId9" Type="http://schemas.openxmlformats.org/officeDocument/2006/relationships/image" Target="../media/image120.png"/><Relationship Id="rId14" Type="http://schemas.openxmlformats.org/officeDocument/2006/relationships/image" Target="../media/image12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4.png"/><Relationship Id="rId5" Type="http://schemas.openxmlformats.org/officeDocument/2006/relationships/image" Target="../media/image133.png"/><Relationship Id="rId4" Type="http://schemas.openxmlformats.org/officeDocument/2006/relationships/image" Target="../media/image13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221" y="1559560"/>
            <a:ext cx="11800205" cy="677108"/>
          </a:xfrm>
        </p:spPr>
        <p:txBody>
          <a:bodyPr/>
          <a:lstStyle/>
          <a:p>
            <a:pPr algn="ctr"/>
            <a:r>
              <a:rPr lang="en-US" sz="4400" dirty="0"/>
              <a:t>A</a:t>
            </a:r>
            <a:r>
              <a:rPr lang="en-US" sz="4400" u="none" dirty="0"/>
              <a:t>ngle Modulation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1828800" y="3352800"/>
            <a:ext cx="8534400" cy="2492990"/>
          </a:xfrm>
        </p:spPr>
        <p:txBody>
          <a:bodyPr/>
          <a:lstStyle/>
          <a:p>
            <a:pPr algn="ctr"/>
            <a:r>
              <a:rPr lang="en-US" b="1" dirty="0"/>
              <a:t>Prepared by</a:t>
            </a:r>
          </a:p>
          <a:p>
            <a:pPr algn="ctr"/>
            <a:r>
              <a:rPr lang="en-US" dirty="0"/>
              <a:t>Rifat Rahman</a:t>
            </a:r>
          </a:p>
          <a:p>
            <a:pPr algn="ctr"/>
            <a:r>
              <a:rPr lang="en-US" dirty="0"/>
              <a:t>Assistant Professor</a:t>
            </a:r>
          </a:p>
          <a:p>
            <a:pPr algn="ctr"/>
            <a:r>
              <a:rPr lang="en-US" dirty="0"/>
              <a:t>Institute of Appropriate Technology, BUET</a:t>
            </a:r>
          </a:p>
          <a:p>
            <a:pPr algn="ctr"/>
            <a:r>
              <a:rPr lang="en-US" dirty="0">
                <a:hlinkClick r:id="rId2"/>
              </a:rPr>
              <a:t>https://rrahman007.buet.ac.bd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and</a:t>
            </a:r>
          </a:p>
          <a:p>
            <a:pPr algn="ctr"/>
            <a:r>
              <a:rPr lang="en-US" dirty="0"/>
              <a:t>Prof. Hitesh </a:t>
            </a:r>
            <a:r>
              <a:rPr lang="en-US" dirty="0" err="1"/>
              <a:t>Dholakiya</a:t>
            </a:r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214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977" y="140588"/>
            <a:ext cx="11886565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spc="-204" dirty="0">
                <a:solidFill>
                  <a:srgbClr val="006600"/>
                </a:solidFill>
                <a:latin typeface="Trebuchet MS"/>
                <a:cs typeface="Trebuchet MS"/>
              </a:rPr>
              <a:t>Spectral</a:t>
            </a:r>
            <a:r>
              <a:rPr sz="5000" spc="-285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5000" spc="-150" dirty="0">
                <a:solidFill>
                  <a:srgbClr val="006600"/>
                </a:solidFill>
                <a:latin typeface="Trebuchet MS"/>
                <a:cs typeface="Trebuchet MS"/>
              </a:rPr>
              <a:t>Components</a:t>
            </a:r>
            <a:r>
              <a:rPr sz="5000" spc="-250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5000" spc="-150" dirty="0">
                <a:solidFill>
                  <a:srgbClr val="006600"/>
                </a:solidFill>
                <a:latin typeface="Trebuchet MS"/>
                <a:cs typeface="Trebuchet MS"/>
              </a:rPr>
              <a:t>of</a:t>
            </a:r>
            <a:r>
              <a:rPr sz="5000" spc="-275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5000" dirty="0">
                <a:solidFill>
                  <a:srgbClr val="006600"/>
                </a:solidFill>
                <a:latin typeface="Trebuchet MS"/>
                <a:cs typeface="Trebuchet MS"/>
              </a:rPr>
              <a:t>Angle</a:t>
            </a:r>
            <a:r>
              <a:rPr sz="5000" spc="-250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5000" spc="-10" dirty="0">
                <a:solidFill>
                  <a:srgbClr val="006600"/>
                </a:solidFill>
                <a:latin typeface="Trebuchet MS"/>
                <a:cs typeface="Trebuchet MS"/>
              </a:rPr>
              <a:t>Modulation</a:t>
            </a:r>
            <a:endParaRPr sz="50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753600" y="1072034"/>
            <a:ext cx="681355" cy="282575"/>
          </a:xfrm>
          <a:custGeom>
            <a:avLst/>
            <a:gdLst/>
            <a:ahLst/>
            <a:cxnLst/>
            <a:rect l="l" t="t" r="r" b="b"/>
            <a:pathLst>
              <a:path w="681354" h="282575">
                <a:moveTo>
                  <a:pt x="590930" y="0"/>
                </a:moveTo>
                <a:lnTo>
                  <a:pt x="586866" y="11430"/>
                </a:lnTo>
                <a:lnTo>
                  <a:pt x="603230" y="18522"/>
                </a:lnTo>
                <a:lnTo>
                  <a:pt x="617283" y="28352"/>
                </a:lnTo>
                <a:lnTo>
                  <a:pt x="645816" y="73852"/>
                </a:lnTo>
                <a:lnTo>
                  <a:pt x="654107" y="115341"/>
                </a:lnTo>
                <a:lnTo>
                  <a:pt x="654147" y="115623"/>
                </a:lnTo>
                <a:lnTo>
                  <a:pt x="654145" y="164635"/>
                </a:lnTo>
                <a:lnTo>
                  <a:pt x="645763" y="207601"/>
                </a:lnTo>
                <a:lnTo>
                  <a:pt x="617283" y="253857"/>
                </a:lnTo>
                <a:lnTo>
                  <a:pt x="587374" y="270891"/>
                </a:lnTo>
                <a:lnTo>
                  <a:pt x="590930" y="282321"/>
                </a:lnTo>
                <a:lnTo>
                  <a:pt x="629427" y="264255"/>
                </a:lnTo>
                <a:lnTo>
                  <a:pt x="657732" y="233045"/>
                </a:lnTo>
                <a:lnTo>
                  <a:pt x="675163" y="191134"/>
                </a:lnTo>
                <a:lnTo>
                  <a:pt x="680973" y="141224"/>
                </a:lnTo>
                <a:lnTo>
                  <a:pt x="679535" y="115623"/>
                </a:lnTo>
                <a:lnTo>
                  <a:pt x="667847" y="69482"/>
                </a:lnTo>
                <a:lnTo>
                  <a:pt x="644723" y="32146"/>
                </a:lnTo>
                <a:lnTo>
                  <a:pt x="611385" y="7381"/>
                </a:lnTo>
                <a:lnTo>
                  <a:pt x="590930" y="0"/>
                </a:lnTo>
                <a:close/>
              </a:path>
              <a:path w="681354" h="282575">
                <a:moveTo>
                  <a:pt x="90042" y="0"/>
                </a:moveTo>
                <a:lnTo>
                  <a:pt x="51593" y="18097"/>
                </a:lnTo>
                <a:lnTo>
                  <a:pt x="23240" y="49530"/>
                </a:lnTo>
                <a:lnTo>
                  <a:pt x="5810" y="91424"/>
                </a:lnTo>
                <a:lnTo>
                  <a:pt x="85" y="139700"/>
                </a:lnTo>
                <a:lnTo>
                  <a:pt x="0" y="141224"/>
                </a:lnTo>
                <a:lnTo>
                  <a:pt x="5794" y="191134"/>
                </a:lnTo>
                <a:lnTo>
                  <a:pt x="23113" y="233045"/>
                </a:lnTo>
                <a:lnTo>
                  <a:pt x="51482" y="264255"/>
                </a:lnTo>
                <a:lnTo>
                  <a:pt x="90042" y="282321"/>
                </a:lnTo>
                <a:lnTo>
                  <a:pt x="93598" y="270891"/>
                </a:lnTo>
                <a:lnTo>
                  <a:pt x="77475" y="263773"/>
                </a:lnTo>
                <a:lnTo>
                  <a:pt x="63579" y="253857"/>
                </a:lnTo>
                <a:lnTo>
                  <a:pt x="35083" y="207601"/>
                </a:lnTo>
                <a:lnTo>
                  <a:pt x="26701" y="164635"/>
                </a:lnTo>
                <a:lnTo>
                  <a:pt x="25653" y="139700"/>
                </a:lnTo>
                <a:lnTo>
                  <a:pt x="26701" y="115623"/>
                </a:lnTo>
                <a:lnTo>
                  <a:pt x="35083" y="73852"/>
                </a:lnTo>
                <a:lnTo>
                  <a:pt x="63674" y="28352"/>
                </a:lnTo>
                <a:lnTo>
                  <a:pt x="93979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85489" y="1434909"/>
            <a:ext cx="774065" cy="282575"/>
          </a:xfrm>
          <a:custGeom>
            <a:avLst/>
            <a:gdLst/>
            <a:ahLst/>
            <a:cxnLst/>
            <a:rect l="l" t="t" r="r" b="b"/>
            <a:pathLst>
              <a:path w="774064" h="282575">
                <a:moveTo>
                  <a:pt x="683895" y="0"/>
                </a:moveTo>
                <a:lnTo>
                  <a:pt x="679831" y="11430"/>
                </a:lnTo>
                <a:lnTo>
                  <a:pt x="696194" y="18522"/>
                </a:lnTo>
                <a:lnTo>
                  <a:pt x="710247" y="28352"/>
                </a:lnTo>
                <a:lnTo>
                  <a:pt x="738780" y="73852"/>
                </a:lnTo>
                <a:lnTo>
                  <a:pt x="747071" y="115341"/>
                </a:lnTo>
                <a:lnTo>
                  <a:pt x="747111" y="115623"/>
                </a:lnTo>
                <a:lnTo>
                  <a:pt x="747109" y="164635"/>
                </a:lnTo>
                <a:lnTo>
                  <a:pt x="738727" y="207601"/>
                </a:lnTo>
                <a:lnTo>
                  <a:pt x="710247" y="253857"/>
                </a:lnTo>
                <a:lnTo>
                  <a:pt x="680339" y="270891"/>
                </a:lnTo>
                <a:lnTo>
                  <a:pt x="683895" y="282321"/>
                </a:lnTo>
                <a:lnTo>
                  <a:pt x="722391" y="264255"/>
                </a:lnTo>
                <a:lnTo>
                  <a:pt x="750697" y="233045"/>
                </a:lnTo>
                <a:lnTo>
                  <a:pt x="768127" y="191134"/>
                </a:lnTo>
                <a:lnTo>
                  <a:pt x="773938" y="141224"/>
                </a:lnTo>
                <a:lnTo>
                  <a:pt x="772499" y="115623"/>
                </a:lnTo>
                <a:lnTo>
                  <a:pt x="760811" y="69482"/>
                </a:lnTo>
                <a:lnTo>
                  <a:pt x="737687" y="32146"/>
                </a:lnTo>
                <a:lnTo>
                  <a:pt x="704349" y="7381"/>
                </a:lnTo>
                <a:lnTo>
                  <a:pt x="683895" y="0"/>
                </a:lnTo>
                <a:close/>
              </a:path>
              <a:path w="774064" h="282575">
                <a:moveTo>
                  <a:pt x="90043" y="0"/>
                </a:moveTo>
                <a:lnTo>
                  <a:pt x="51593" y="18097"/>
                </a:lnTo>
                <a:lnTo>
                  <a:pt x="23241" y="49530"/>
                </a:lnTo>
                <a:lnTo>
                  <a:pt x="5810" y="91424"/>
                </a:lnTo>
                <a:lnTo>
                  <a:pt x="85" y="139700"/>
                </a:lnTo>
                <a:lnTo>
                  <a:pt x="0" y="141224"/>
                </a:lnTo>
                <a:lnTo>
                  <a:pt x="5794" y="191134"/>
                </a:lnTo>
                <a:lnTo>
                  <a:pt x="23114" y="233045"/>
                </a:lnTo>
                <a:lnTo>
                  <a:pt x="51482" y="264255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475" y="263773"/>
                </a:lnTo>
                <a:lnTo>
                  <a:pt x="63579" y="253857"/>
                </a:lnTo>
                <a:lnTo>
                  <a:pt x="35083" y="207601"/>
                </a:lnTo>
                <a:lnTo>
                  <a:pt x="26701" y="164635"/>
                </a:lnTo>
                <a:lnTo>
                  <a:pt x="25654" y="139700"/>
                </a:lnTo>
                <a:lnTo>
                  <a:pt x="26701" y="115623"/>
                </a:lnTo>
                <a:lnTo>
                  <a:pt x="35083" y="73852"/>
                </a:lnTo>
                <a:lnTo>
                  <a:pt x="63674" y="28352"/>
                </a:lnTo>
                <a:lnTo>
                  <a:pt x="93980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/>
              <p:cNvSpPr txBox="1"/>
              <p:nvPr/>
            </p:nvSpPr>
            <p:spPr>
              <a:xfrm>
                <a:off x="186639" y="978865"/>
                <a:ext cx="11571605" cy="1187376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93700" marR="55880" indent="-342900">
                  <a:lnSpc>
                    <a:spcPct val="100000"/>
                  </a:lnSpc>
                  <a:spcBef>
                    <a:spcPts val="10"/>
                  </a:spcBef>
                  <a:buFont typeface="Wingdings" panose="05000000000000000000" pitchFamily="2" charset="2"/>
                  <a:buChar char="q"/>
                  <a:tabLst>
                    <a:tab pos="508000" algn="l"/>
                    <a:tab pos="1805939" algn="l"/>
                    <a:tab pos="2239010" algn="l"/>
                    <a:tab pos="3726815" algn="l"/>
                    <a:tab pos="5387975" algn="l"/>
                    <a:tab pos="5842000" algn="l"/>
                    <a:tab pos="6438265" algn="l"/>
                    <a:tab pos="7440930" algn="l"/>
                    <a:tab pos="8341995" algn="l"/>
                    <a:tab pos="8710930" algn="l"/>
                    <a:tab pos="10434320" algn="l"/>
                    <a:tab pos="11085195" algn="l"/>
                  </a:tabLst>
                </a:pPr>
                <a:r>
                  <a:rPr lang="en-US" sz="2400" b="1" spc="-10" dirty="0">
                    <a:solidFill>
                      <a:srgbClr val="6F2F9F"/>
                    </a:solidFill>
                    <a:latin typeface="Calibri"/>
                    <a:cs typeface="Calibri"/>
                  </a:rPr>
                  <a:t>Equation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	</a:t>
                </a:r>
                <a:r>
                  <a:rPr lang="en-US" sz="2400" b="1" spc="-25" dirty="0">
                    <a:solidFill>
                      <a:srgbClr val="6F2F9F"/>
                    </a:solidFill>
                    <a:latin typeface="Calibri"/>
                    <a:cs typeface="Calibri"/>
                  </a:rPr>
                  <a:t>of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	</a:t>
                </a:r>
                <a:r>
                  <a:rPr lang="en-US" sz="2400" b="1" spc="-10" dirty="0">
                    <a:solidFill>
                      <a:srgbClr val="6F2F9F"/>
                    </a:solidFill>
                    <a:latin typeface="Calibri"/>
                    <a:cs typeface="Calibri"/>
                  </a:rPr>
                  <a:t>Frequency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	</a:t>
                </a:r>
                <a:r>
                  <a:rPr lang="en-US" sz="2400" b="1" spc="-10" dirty="0">
                    <a:solidFill>
                      <a:srgbClr val="6F2F9F"/>
                    </a:solidFill>
                    <a:latin typeface="Calibri"/>
                    <a:cs typeface="Calibri"/>
                  </a:rPr>
                  <a:t>Modulation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	</a:t>
                </a:r>
                <a:r>
                  <a:rPr lang="en-US" sz="2400" b="1" spc="-25" dirty="0">
                    <a:solidFill>
                      <a:srgbClr val="6F2F9F"/>
                    </a:solidFill>
                    <a:latin typeface="Calibri"/>
                    <a:cs typeface="Calibri"/>
                  </a:rPr>
                  <a:t>{If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	</a:t>
                </a:r>
                <a:r>
                  <a:rPr lang="en-US" sz="2400" b="1" spc="-25" dirty="0">
                    <a:solidFill>
                      <a:srgbClr val="6F2F9F"/>
                    </a:solidFill>
                    <a:latin typeface="Calibri"/>
                    <a:cs typeface="Calibri"/>
                  </a:rPr>
                  <a:t>the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	</a:t>
                </a:r>
                <a:r>
                  <a:rPr lang="en-US" sz="2400" b="1" spc="-10" dirty="0">
                    <a:solidFill>
                      <a:srgbClr val="6F2F9F"/>
                    </a:solidFill>
                    <a:latin typeface="Calibri"/>
                    <a:cs typeface="Calibri"/>
                  </a:rPr>
                  <a:t>carrier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	</a:t>
                </a:r>
                <a:r>
                  <a:rPr lang="en-US" sz="2400" b="1" spc="-10" dirty="0">
                    <a:solidFill>
                      <a:srgbClr val="6F2F9F"/>
                    </a:solidFill>
                    <a:latin typeface="Calibri"/>
                    <a:cs typeface="Calibri"/>
                  </a:rPr>
                  <a:t>signal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	</a:t>
                </a:r>
                <a:r>
                  <a:rPr lang="en-US" sz="2400" b="1" spc="-25" dirty="0">
                    <a:solidFill>
                      <a:srgbClr val="6F2F9F"/>
                    </a:solidFill>
                    <a:latin typeface="Calibri"/>
                    <a:cs typeface="Calibri"/>
                  </a:rPr>
                  <a:t>is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	</a:t>
                </a:r>
                <a:r>
                  <a:rPr lang="en-US" sz="2400" spc="-30" dirty="0">
                    <a:solidFill>
                      <a:srgbClr val="6F2F9F"/>
                    </a:solidFill>
                    <a:latin typeface="Cambria Math"/>
                    <a:cs typeface="Cambria Math"/>
                  </a:rPr>
                  <a:t>𝐕</a:t>
                </a:r>
                <a:r>
                  <a:rPr lang="en-US" sz="2625" spc="-44" baseline="-15873" dirty="0">
                    <a:solidFill>
                      <a:srgbClr val="6F2F9F"/>
                    </a:solidFill>
                    <a:latin typeface="Cambria Math"/>
                    <a:cs typeface="Cambria Math"/>
                  </a:rPr>
                  <a:t>𝐂</a:t>
                </a:r>
                <a:r>
                  <a:rPr lang="en-US" sz="2625" spc="82" baseline="-15873" dirty="0">
                    <a:solidFill>
                      <a:srgbClr val="6F2F9F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dirty="0">
                    <a:solidFill>
                      <a:srgbClr val="6F2F9F"/>
                    </a:solidFill>
                    <a:latin typeface="Cambria Math"/>
                    <a:cs typeface="Cambria Math"/>
                  </a:rPr>
                  <a:t>𝐬𝐢𝐧</a:t>
                </a:r>
                <a:r>
                  <a:rPr lang="en-US" sz="2400" spc="330" dirty="0">
                    <a:solidFill>
                      <a:srgbClr val="6F2F9F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spc="-25" dirty="0">
                    <a:solidFill>
                      <a:srgbClr val="6F2F9F"/>
                    </a:solidFill>
                    <a:latin typeface="Cambria Math"/>
                    <a:cs typeface="Cambria Math"/>
                  </a:rPr>
                  <a:t>𝛚</a:t>
                </a:r>
                <a:r>
                  <a:rPr lang="en-US" sz="2625" spc="-37" baseline="-15873" dirty="0">
                    <a:solidFill>
                      <a:srgbClr val="6F2F9F"/>
                    </a:solidFill>
                    <a:latin typeface="Cambria Math"/>
                    <a:cs typeface="Cambria Math"/>
                  </a:rPr>
                  <a:t>𝐜</a:t>
                </a:r>
                <a:r>
                  <a:rPr lang="en-US" sz="2400" spc="-25" dirty="0">
                    <a:solidFill>
                      <a:srgbClr val="6F2F9F"/>
                    </a:solidFill>
                    <a:latin typeface="Cambria Math"/>
                    <a:cs typeface="Cambria Math"/>
                  </a:rPr>
                  <a:t>𝐭</a:t>
                </a:r>
                <a:r>
                  <a:rPr lang="en-US" sz="2400" dirty="0">
                    <a:solidFill>
                      <a:srgbClr val="6F2F9F"/>
                    </a:solidFill>
                    <a:latin typeface="Cambria Math"/>
                    <a:cs typeface="Cambria Math"/>
                  </a:rPr>
                  <a:t>	</a:t>
                </a:r>
                <a:r>
                  <a:rPr lang="en-US" sz="2400" b="1" spc="-25" dirty="0">
                    <a:solidFill>
                      <a:srgbClr val="6F2F9F"/>
                    </a:solidFill>
                    <a:latin typeface="Calibri"/>
                    <a:cs typeface="Calibri"/>
                  </a:rPr>
                  <a:t>and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	</a:t>
                </a:r>
                <a:r>
                  <a:rPr lang="en-US" sz="2400" b="1" spc="-25" dirty="0">
                    <a:solidFill>
                      <a:srgbClr val="6F2F9F"/>
                    </a:solidFill>
                    <a:latin typeface="Calibri"/>
                    <a:cs typeface="Calibri"/>
                  </a:rPr>
                  <a:t>the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Message</a:t>
                </a:r>
                <a:r>
                  <a:rPr lang="en-US" sz="2400" b="1" spc="-4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Signal</a:t>
                </a:r>
                <a:r>
                  <a:rPr lang="en-US" sz="2400" b="1" spc="-5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is</a:t>
                </a:r>
                <a:r>
                  <a:rPr lang="en-US" sz="2400" b="1" spc="-3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spc="-35" dirty="0">
                    <a:solidFill>
                      <a:srgbClr val="6F2F9F"/>
                    </a:solidFill>
                    <a:latin typeface="Cambria Math"/>
                    <a:cs typeface="Cambria Math"/>
                  </a:rPr>
                  <a:t>𝐕</a:t>
                </a:r>
                <a:r>
                  <a:rPr lang="en-US" sz="2625" spc="-52" baseline="-15873" dirty="0">
                    <a:solidFill>
                      <a:srgbClr val="6F2F9F"/>
                    </a:solidFill>
                    <a:latin typeface="Cambria Math"/>
                    <a:cs typeface="Cambria Math"/>
                  </a:rPr>
                  <a:t>𝐦</a:t>
                </a:r>
                <a:r>
                  <a:rPr lang="en-US" sz="2625" spc="127" baseline="-15873" dirty="0">
                    <a:solidFill>
                      <a:srgbClr val="6F2F9F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dirty="0">
                    <a:solidFill>
                      <a:srgbClr val="6F2F9F"/>
                    </a:solidFill>
                    <a:latin typeface="Cambria Math"/>
                    <a:cs typeface="Cambria Math"/>
                  </a:rPr>
                  <a:t>𝐜𝐨𝐬</a:t>
                </a:r>
                <a:r>
                  <a:rPr lang="en-US" sz="2400" spc="385" dirty="0">
                    <a:solidFill>
                      <a:srgbClr val="6F2F9F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dirty="0">
                    <a:solidFill>
                      <a:srgbClr val="6F2F9F"/>
                    </a:solidFill>
                    <a:latin typeface="Cambria Math"/>
                    <a:cs typeface="Cambria Math"/>
                  </a:rPr>
                  <a:t>𝛚</a:t>
                </a:r>
                <a:r>
                  <a:rPr lang="en-US" sz="2625" baseline="-15873" dirty="0">
                    <a:solidFill>
                      <a:srgbClr val="6F2F9F"/>
                    </a:solidFill>
                    <a:latin typeface="Cambria Math"/>
                    <a:cs typeface="Cambria Math"/>
                  </a:rPr>
                  <a:t>𝐦</a:t>
                </a:r>
                <a:r>
                  <a:rPr lang="en-US" sz="2400" dirty="0">
                    <a:solidFill>
                      <a:srgbClr val="6F2F9F"/>
                    </a:solidFill>
                    <a:latin typeface="Cambria Math"/>
                    <a:cs typeface="Cambria Math"/>
                  </a:rPr>
                  <a:t>𝐭</a:t>
                </a:r>
                <a:r>
                  <a:rPr lang="en-US" sz="2400" spc="395" dirty="0">
                    <a:solidFill>
                      <a:srgbClr val="6F2F9F"/>
                    </a:solidFill>
                    <a:latin typeface="Cambria Math"/>
                    <a:cs typeface="Cambria Math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}</a:t>
                </a:r>
                <a:r>
                  <a:rPr lang="en-US" sz="2400" b="1" spc="-3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is</a:t>
                </a:r>
                <a:r>
                  <a:rPr lang="en-US" sz="2400" b="1" spc="-4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given</a:t>
                </a:r>
                <a:r>
                  <a:rPr lang="en-US" sz="2400" b="1" spc="-4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spc="-25" dirty="0">
                    <a:solidFill>
                      <a:srgbClr val="6F2F9F"/>
                    </a:solidFill>
                    <a:latin typeface="Calibri"/>
                    <a:cs typeface="Calibri"/>
                  </a:rPr>
                  <a:t>by:</a:t>
                </a:r>
              </a:p>
              <a:p>
                <a:pPr marL="50800" marR="55880" algn="ctr">
                  <a:lnSpc>
                    <a:spcPct val="100000"/>
                  </a:lnSpc>
                  <a:spcBef>
                    <a:spcPts val="10"/>
                  </a:spcBef>
                  <a:tabLst>
                    <a:tab pos="508000" algn="l"/>
                    <a:tab pos="1805939" algn="l"/>
                    <a:tab pos="2239010" algn="l"/>
                    <a:tab pos="3726815" algn="l"/>
                    <a:tab pos="5387975" algn="l"/>
                    <a:tab pos="5842000" algn="l"/>
                    <a:tab pos="6438265" algn="l"/>
                    <a:tab pos="7440930" algn="l"/>
                    <a:tab pos="8341995" algn="l"/>
                    <a:tab pos="8710930" algn="l"/>
                    <a:tab pos="10434320" algn="l"/>
                    <a:tab pos="11085195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/>
                            <a:cs typeface="Calibri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Calibri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Calibri"/>
                          </a:rPr>
                          <m:t>FM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/>
                            <a:cs typeface="Calibri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Calibri"/>
                          </a:rPr>
                          <m:t>t</m:t>
                        </m:r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/>
                            <a:cs typeface="Calibri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Calibri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Calibri"/>
                          </a:rPr>
                          <m:t>c</m:t>
                        </m:r>
                      </m:sub>
                    </m:sSub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cs typeface="Calibri"/>
                      </a:rPr>
                      <m:t>sin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cs typeface="Calibri"/>
                      </a:rPr>
                      <m:t>⁡(</m:t>
                    </m:r>
                    <m:sSub>
                      <m:sSubPr>
                        <m:ctrlPr>
                          <a:rPr lang="en-US" sz="2400" b="0" i="1" smtClean="0">
                            <a:latin typeface="Cambria Math"/>
                            <a:cs typeface="Calibri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Calibri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Calibri"/>
                          </a:rPr>
                          <m:t>c</m:t>
                        </m:r>
                      </m:sub>
                    </m:sSub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cs typeface="Calibri"/>
                      </a:rPr>
                      <m:t>t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cs typeface="Calibri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/>
                            <a:cs typeface="Calibri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Calibri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Calibri"/>
                          </a:rPr>
                          <m:t>f</m:t>
                        </m:r>
                      </m:sub>
                    </m:sSub>
                    <m:func>
                      <m:funcPr>
                        <m:ctrlPr>
                          <a:rPr lang="en-US" sz="2400" b="0" i="1" smtClean="0">
                            <a:latin typeface="Cambria Math"/>
                            <a:cs typeface="Calibri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Calibri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/>
                                <a:cs typeface="Calibri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/>
                                    <a:cs typeface="Calibri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ω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m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  <a:cs typeface="Calibri"/>
                              </a:rPr>
                              <m:t>t</m:t>
                            </m:r>
                          </m:e>
                        </m:d>
                      </m:e>
                    </m:func>
                    <m:r>
                      <a:rPr lang="en-US" sz="2400" b="0" i="0" smtClean="0">
                        <a:latin typeface="Cambria Math" panose="02040503050406030204" pitchFamily="18" charset="0"/>
                        <a:cs typeface="Calibri"/>
                      </a:rPr>
                      <m:t>)</m:t>
                    </m:r>
                  </m:oMath>
                </a14:m>
                <a:r>
                  <a:rPr lang="en-US" sz="2400" dirty="0">
                    <a:latin typeface="Calibri"/>
                    <a:cs typeface="Calibri"/>
                  </a:rPr>
                  <a:t> </a:t>
                </a:r>
                <a:r>
                  <a:rPr lang="en-US" dirty="0">
                    <a:latin typeface="Calibri"/>
                    <a:cs typeface="Calibri"/>
                  </a:rPr>
                  <a:t>[Here, Modulation Index,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  <a:cs typeface="Calibri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Calibri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Calibri"/>
                          </a:rPr>
                          <m:t>𝑓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/>
                            <a:cs typeface="Calibri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Calibri"/>
                          </a:rPr>
                          <m:t>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Calibri"/>
                          </a:rPr>
                          <m:t>𝑓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𝑚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cs typeface="Calibri"/>
                      </a:rPr>
                      <m:t>]</m:t>
                    </m:r>
                  </m:oMath>
                </a14:m>
                <a:endParaRPr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39" y="978865"/>
                <a:ext cx="11571605" cy="1187376"/>
              </a:xfrm>
              <a:prstGeom prst="rect">
                <a:avLst/>
              </a:prstGeom>
              <a:blipFill>
                <a:blip r:embed="rId2"/>
                <a:stretch>
                  <a:fillRect l="-1106" t="-8247" r="-1528" b="-67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/>
              <p:cNvSpPr txBox="1"/>
              <p:nvPr/>
            </p:nvSpPr>
            <p:spPr>
              <a:xfrm>
                <a:off x="199339" y="5736742"/>
                <a:ext cx="11362690" cy="81291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494665" indent="-456565">
                  <a:lnSpc>
                    <a:spcPct val="100000"/>
                  </a:lnSpc>
                  <a:spcBef>
                    <a:spcPts val="100"/>
                  </a:spcBef>
                  <a:buFont typeface="Wingdings"/>
                  <a:buChar char=""/>
                  <a:tabLst>
                    <a:tab pos="494665" algn="l"/>
                  </a:tabLst>
                </a:pP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Here,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6F2F9F"/>
                            </a:solidFill>
                            <a:latin typeface="Cambria Math"/>
                            <a:cs typeface="Calibri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𝑱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𝟎</m:t>
                        </m:r>
                      </m:sub>
                    </m:sSub>
                    <m:d>
                      <m:dPr>
                        <m:ctrlPr>
                          <a:rPr lang="en-US" sz="2400" b="1" i="1" smtClean="0">
                            <a:solidFill>
                              <a:srgbClr val="6F2F9F"/>
                            </a:solidFill>
                            <a:latin typeface="Cambria Math"/>
                            <a:cs typeface="Calibri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rgbClr val="6F2F9F"/>
                                </a:solidFill>
                                <a:latin typeface="Cambria Math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6F2F9F"/>
                                </a:solidFill>
                                <a:latin typeface="Cambria Math" panose="02040503050406030204" pitchFamily="18" charset="0"/>
                                <a:cs typeface="Calibri"/>
                              </a:rPr>
                              <m:t>𝒎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6F2F9F"/>
                                </a:solidFill>
                                <a:latin typeface="Cambria Math" panose="02040503050406030204" pitchFamily="18" charset="0"/>
                                <a:cs typeface="Calibri"/>
                              </a:rPr>
                              <m:t>𝒇</m:t>
                            </m:r>
                          </m:sub>
                        </m:sSub>
                      </m:e>
                    </m:d>
                    <m:r>
                      <a:rPr lang="en-US" sz="2400" b="1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, 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rgbClr val="6F2F9F"/>
                            </a:solidFill>
                            <a:latin typeface="Cambria Math"/>
                            <a:cs typeface="Calibri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𝑱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n-US" sz="2400" b="1" i="1" smtClean="0">
                            <a:solidFill>
                              <a:srgbClr val="6F2F9F"/>
                            </a:solidFill>
                            <a:latin typeface="Cambria Math"/>
                            <a:cs typeface="Calibri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rgbClr val="6F2F9F"/>
                                </a:solidFill>
                                <a:latin typeface="Cambria Math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6F2F9F"/>
                                </a:solidFill>
                                <a:latin typeface="Cambria Math" panose="02040503050406030204" pitchFamily="18" charset="0"/>
                                <a:cs typeface="Calibri"/>
                              </a:rPr>
                              <m:t>𝒎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6F2F9F"/>
                                </a:solidFill>
                                <a:latin typeface="Cambria Math" panose="02040503050406030204" pitchFamily="18" charset="0"/>
                                <a:cs typeface="Calibri"/>
                              </a:rPr>
                              <m:t>𝒇</m:t>
                            </m:r>
                          </m:sub>
                        </m:sSub>
                      </m:e>
                    </m:d>
                    <m:r>
                      <a:rPr lang="en-US" sz="2400" b="1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, 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rgbClr val="6F2F9F"/>
                            </a:solidFill>
                            <a:latin typeface="Cambria Math"/>
                            <a:cs typeface="Calibri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𝑱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𝟐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rgbClr val="6F2F9F"/>
                            </a:solidFill>
                            <a:latin typeface="Cambria Math"/>
                            <a:cs typeface="Calibri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𝒎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6F2F9F"/>
                            </a:solidFill>
                            <a:latin typeface="Cambria Math" panose="02040503050406030204" pitchFamily="18" charset="0"/>
                            <a:cs typeface="Calibri"/>
                          </a:rPr>
                          <m:t>𝒇</m:t>
                        </m:r>
                      </m:sub>
                    </m:sSub>
                    <m:r>
                      <a:rPr lang="en-US" sz="2400" b="1" i="1" smtClean="0">
                        <a:solidFill>
                          <a:srgbClr val="6F2F9F"/>
                        </a:solidFill>
                        <a:latin typeface="Cambria Math" panose="02040503050406030204" pitchFamily="18" charset="0"/>
                        <a:cs typeface="Calibri"/>
                      </a:rPr>
                      <m:t>)</m:t>
                    </m:r>
                  </m:oMath>
                </a14:m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,</a:t>
                </a:r>
                <a:r>
                  <a:rPr lang="en-US" sz="2400" b="1" spc="-2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………</a:t>
                </a:r>
                <a:r>
                  <a:rPr lang="en-US" sz="2400" b="1" spc="-1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are</a:t>
                </a:r>
                <a:r>
                  <a:rPr lang="en-US" sz="2400" b="1" spc="-3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Bessel</a:t>
                </a:r>
                <a:r>
                  <a:rPr lang="en-US" sz="2400" b="1" spc="-3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Function</a:t>
                </a:r>
                <a:r>
                  <a:rPr lang="en-US" sz="2400" b="1" spc="-3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and</a:t>
                </a:r>
                <a:r>
                  <a:rPr lang="en-US" sz="2400" b="1" spc="-4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their</a:t>
                </a:r>
                <a:r>
                  <a:rPr lang="en-US" sz="2400" b="1" spc="-2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value</a:t>
                </a:r>
                <a:r>
                  <a:rPr lang="en-US" sz="2400" b="1" spc="-2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depends</a:t>
                </a:r>
                <a:r>
                  <a:rPr lang="en-US" sz="2400" b="1" spc="-2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on</a:t>
                </a:r>
                <a:r>
                  <a:rPr lang="en-US" sz="2400" b="1" spc="-4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Modulation</a:t>
                </a:r>
                <a:r>
                  <a:rPr lang="en-US" sz="2400" b="1" spc="-2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spc="-10" dirty="0">
                    <a:solidFill>
                      <a:srgbClr val="6F2F9F"/>
                    </a:solidFill>
                    <a:latin typeface="Calibri"/>
                    <a:cs typeface="Calibri"/>
                  </a:rPr>
                  <a:t>Index.</a:t>
                </a:r>
                <a:endParaRPr sz="2400" dirty="0"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339" y="5736742"/>
                <a:ext cx="11362690" cy="812915"/>
              </a:xfrm>
              <a:prstGeom prst="rect">
                <a:avLst/>
              </a:prstGeom>
              <a:blipFill>
                <a:blip r:embed="rId3"/>
                <a:stretch>
                  <a:fillRect l="-1234" t="-6015" b="-22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Picture 28">
            <a:extLst>
              <a:ext uri="{FF2B5EF4-FFF2-40B4-BE49-F238E27FC236}">
                <a16:creationId xmlns:a16="http://schemas.microsoft.com/office/drawing/2014/main" xmlns="" id="{B4EFA71A-859E-4CF7-8199-2B35417364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400" y="2188875"/>
            <a:ext cx="10497285" cy="11639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xmlns="" id="{CF284517-B705-48FF-A99C-71E392208F8D}"/>
                  </a:ext>
                </a:extLst>
              </p:cNvPr>
              <p:cNvSpPr txBox="1"/>
              <p:nvPr/>
            </p:nvSpPr>
            <p:spPr>
              <a:xfrm>
                <a:off x="381000" y="3188967"/>
                <a:ext cx="11181029" cy="1789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FM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sub>
                          </m:sSub>
                        </m:e>
                      </m:d>
                      <m:func>
                        <m:func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b="0" i="0" smtClean="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000" b="0" i="0" smtClean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</m:func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000" b="0" dirty="0"/>
              </a:p>
              <a:p>
                <a:r>
                  <a:rPr lang="en-US" sz="2000" dirty="0"/>
                  <a:t>	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J</m:t>
                        </m:r>
                      </m:e>
                      <m:sub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f</m:t>
                            </m:r>
                          </m:sub>
                        </m:sSub>
                      </m:e>
                    </m:d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0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sub>
                                </m:sSub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e>
                    </m:func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0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sub>
                                </m:sSub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2000" dirty="0"/>
                  <a:t>)</a:t>
                </a:r>
                <a:r>
                  <a:rPr lang="en-US" sz="2000" b="0" dirty="0"/>
                  <a:t>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endParaRPr lang="en-US" sz="2000" b="0" dirty="0"/>
              </a:p>
              <a:p>
                <a:r>
                  <a:rPr lang="en-US" sz="2000" b="0" dirty="0"/>
                  <a:t>	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J</m:t>
                        </m:r>
                      </m:e>
                      <m:sub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f</m:t>
                            </m:r>
                          </m:sub>
                        </m:sSub>
                      </m:e>
                    </m:d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0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sub>
                                </m:sSub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e>
                    </m:func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0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sub>
                                </m:sSub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2000" dirty="0"/>
                  <a:t>)</a:t>
                </a:r>
                <a:r>
                  <a:rPr lang="en-US" sz="2000" b="0" dirty="0"/>
                  <a:t>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endParaRPr lang="en-US" sz="2000" b="0" dirty="0"/>
              </a:p>
              <a:p>
                <a:r>
                  <a:rPr lang="en-US" sz="2000" b="0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J</m:t>
                        </m:r>
                      </m:e>
                      <m:sub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f</m:t>
                            </m:r>
                          </m:sub>
                        </m:sSub>
                      </m:e>
                    </m:d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0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sub>
                                </m:sSub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e>
                    </m:func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0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sub>
                                </m:sSub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2000" dirty="0"/>
                  <a:t>)</a:t>
                </a:r>
                <a:r>
                  <a:rPr lang="en-US" sz="2000" b="0" dirty="0"/>
                  <a:t>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endParaRPr lang="en-US" sz="2000" b="0" dirty="0"/>
              </a:p>
              <a:p>
                <a:r>
                  <a:rPr lang="en-US" sz="2000" b="0" dirty="0"/>
                  <a:t>	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J</m:t>
                        </m:r>
                      </m:e>
                      <m:sub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f</m:t>
                            </m:r>
                          </m:sub>
                        </m:sSub>
                      </m:e>
                    </m:d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0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sub>
                                </m:sSub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e>
                    </m:func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0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sub>
                                </m:sSub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2000" dirty="0"/>
                  <a:t>)</a:t>
                </a:r>
                <a:r>
                  <a:rPr lang="en-US" sz="2000" b="0" dirty="0"/>
                  <a:t>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000" dirty="0"/>
                  <a:t>…]</a:t>
                </a:r>
                <a:endParaRPr lang="en-US" sz="2000" b="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F284517-B705-48FF-A99C-71E392208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188967"/>
                <a:ext cx="11181029" cy="1789721"/>
              </a:xfrm>
              <a:prstGeom prst="rect">
                <a:avLst/>
              </a:prstGeom>
              <a:blipFill rotWithShape="1">
                <a:blip r:embed="rId5"/>
                <a:stretch>
                  <a:fillRect l="-600" t="-1361" b="-3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086600" y="3214068"/>
                <a:ext cx="5029200" cy="5959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12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latin typeface="Cambria Math"/>
                                </a:rPr>
                                <m:t>𝐴</m:t>
                              </m:r>
                              <m:r>
                                <a:rPr lang="en-US" sz="1200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1200" b="0" i="1" smtClean="0">
                                  <a:latin typeface="Cambria Math"/>
                                </a:rPr>
                                <m:t>𝑚𝐵</m:t>
                              </m:r>
                            </m:e>
                          </m:d>
                        </m:e>
                      </m:func>
                      <m:r>
                        <a:rPr lang="en-US" sz="12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/>
                            </a:rPr>
                            <m:t>𝐽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/>
                            </a:rPr>
                            <m:t>𝑚</m:t>
                          </m:r>
                        </m:e>
                      </m:d>
                      <m:r>
                        <a:rPr lang="en-US" sz="1200" b="0" i="1" smtClean="0">
                          <a:latin typeface="Cambria Math"/>
                        </a:rPr>
                        <m:t>𝑠𝑖𝑛𝐴</m:t>
                      </m:r>
                      <m:r>
                        <a:rPr lang="en-US" sz="1200" b="0" i="1" smtClean="0">
                          <a:latin typeface="Cambria Math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1200" b="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200" b="0" i="1" smtClean="0">
                              <a:latin typeface="Cambria Math"/>
                            </a:rPr>
                            <m:t>𝑛</m:t>
                          </m:r>
                          <m:r>
                            <m:rPr>
                              <m:brk m:alnAt="23"/>
                            </m:rPr>
                            <a:rPr lang="en-US" sz="1200" b="0" i="1" smtClean="0">
                              <a:latin typeface="Cambria Math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1200" b="0" i="1" smtClean="0"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1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2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latin typeface="Cambria Math"/>
                                </a:rPr>
                                <m:t>𝑚</m:t>
                              </m:r>
                            </m:e>
                          </m:d>
                          <m:func>
                            <m:funcPr>
                              <m:ctrlPr>
                                <a:rPr lang="en-US" sz="1200" b="0" i="1" smtClean="0">
                                  <a:latin typeface="Cambria Math"/>
                                </a:rPr>
                              </m:ctrlPr>
                            </m:funcPr>
                            <m:fName>
                              <m:r>
                                <a:rPr lang="en-US" sz="1200" b="0" i="0" smtClean="0">
                                  <a:latin typeface="Cambria Math"/>
                                </a:rPr>
                                <m:t>[</m:t>
                              </m:r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200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/>
                                    </a:rPr>
                                    <m:t>𝐴</m:t>
                                  </m:r>
                                  <m:r>
                                    <a:rPr lang="en-US" sz="1200" b="0" i="1" smtClean="0">
                                      <a:latin typeface="Cambria Math"/>
                                    </a:rPr>
                                    <m:t>+</m:t>
                                  </m:r>
                                  <m:r>
                                    <a:rPr lang="en-US" sz="1200" b="0" i="1" smtClean="0">
                                      <a:latin typeface="Cambria Math"/>
                                    </a:rPr>
                                    <m:t>𝑛𝐵</m:t>
                                  </m:r>
                                </m:e>
                              </m:d>
                            </m:e>
                          </m:func>
                          <m:r>
                            <a:rPr lang="en-US" sz="1200" b="0" i="1" smtClean="0"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2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200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sz="1200" b="0" i="1" smtClean="0">
                                      <a:latin typeface="Cambria Math"/>
                                    </a:rPr>
                                    <m:t>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200" b="0" i="1" smtClean="0">
                                  <a:latin typeface="Cambria Math"/>
                                </a:rPr>
                                <m:t>𝑛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1200" b="0" i="0" smtClean="0">
                              <a:latin typeface="Cambria Math"/>
                            </a:rPr>
                            <m:t>sin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⁡(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𝐴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𝑛𝐵</m:t>
                          </m:r>
                          <m:r>
                            <a:rPr lang="en-US" sz="1200" b="0" i="1" smtClean="0">
                              <a:latin typeface="Cambria Math"/>
                            </a:rPr>
                            <m:t>)]</m:t>
                          </m:r>
                        </m:e>
                      </m:nary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6600" y="3214068"/>
                <a:ext cx="5029200" cy="595932"/>
              </a:xfrm>
              <a:prstGeom prst="rect">
                <a:avLst/>
              </a:prstGeom>
              <a:blipFill rotWithShape="1">
                <a:blip r:embed="rId6"/>
                <a:stretch>
                  <a:fillRect t="-95918" r="-727" b="-147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7153642" y="3214068"/>
            <a:ext cx="4962158" cy="5959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015" y="614552"/>
            <a:ext cx="7800091" cy="612457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4142" y="74167"/>
            <a:ext cx="1161542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B</a:t>
            </a:r>
            <a:r>
              <a:rPr lang="en-US"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e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ssel</a:t>
            </a:r>
            <a:r>
              <a:rPr sz="3200" u="sng" spc="-8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Function</a:t>
            </a:r>
            <a:r>
              <a:rPr sz="3200" u="sng" spc="-8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spc="-2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Table</a:t>
            </a:r>
            <a:r>
              <a:rPr sz="3200" u="sng" spc="-7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with</a:t>
            </a:r>
            <a:r>
              <a:rPr sz="3200" u="sng" spc="-6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respect</a:t>
            </a:r>
            <a:r>
              <a:rPr sz="3200" u="sng" spc="-5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to</a:t>
            </a:r>
            <a:r>
              <a:rPr sz="3200" u="sng" spc="-5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Modulation</a:t>
            </a:r>
            <a:r>
              <a:rPr sz="3200" u="sng" spc="-7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Index</a:t>
            </a:r>
            <a:endParaRPr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Observation</a:t>
            </a:r>
            <a:r>
              <a:rPr sz="3200" u="sng" spc="-9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from</a:t>
            </a:r>
            <a:r>
              <a:rPr sz="3200" u="sng" spc="-6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Bassel</a:t>
            </a:r>
            <a:r>
              <a:rPr sz="3200" u="sng" spc="-7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Function</a:t>
            </a:r>
            <a:r>
              <a:rPr sz="3200" u="sng" spc="-7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Table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2612135" y="1775307"/>
            <a:ext cx="779145" cy="283845"/>
          </a:xfrm>
          <a:custGeom>
            <a:avLst/>
            <a:gdLst/>
            <a:ahLst/>
            <a:cxnLst/>
            <a:rect l="l" t="t" r="r" b="b"/>
            <a:pathLst>
              <a:path w="779145" h="283844">
                <a:moveTo>
                  <a:pt x="687577" y="0"/>
                </a:moveTo>
                <a:lnTo>
                  <a:pt x="683640" y="0"/>
                </a:lnTo>
                <a:lnTo>
                  <a:pt x="683640" y="11303"/>
                </a:lnTo>
                <a:lnTo>
                  <a:pt x="685926" y="11303"/>
                </a:lnTo>
                <a:lnTo>
                  <a:pt x="696116" y="12015"/>
                </a:lnTo>
                <a:lnTo>
                  <a:pt x="728852" y="37480"/>
                </a:lnTo>
                <a:lnTo>
                  <a:pt x="731900" y="59690"/>
                </a:lnTo>
                <a:lnTo>
                  <a:pt x="731809" y="62357"/>
                </a:lnTo>
                <a:lnTo>
                  <a:pt x="726947" y="95631"/>
                </a:lnTo>
                <a:lnTo>
                  <a:pt x="725931" y="102997"/>
                </a:lnTo>
                <a:lnTo>
                  <a:pt x="725931" y="115823"/>
                </a:lnTo>
                <a:lnTo>
                  <a:pt x="728344" y="122682"/>
                </a:lnTo>
                <a:lnTo>
                  <a:pt x="733297" y="128143"/>
                </a:lnTo>
                <a:lnTo>
                  <a:pt x="738377" y="133477"/>
                </a:lnTo>
                <a:lnTo>
                  <a:pt x="744219" y="137541"/>
                </a:lnTo>
                <a:lnTo>
                  <a:pt x="751077" y="140081"/>
                </a:lnTo>
                <a:lnTo>
                  <a:pt x="751077" y="142748"/>
                </a:lnTo>
                <a:lnTo>
                  <a:pt x="744219" y="145288"/>
                </a:lnTo>
                <a:lnTo>
                  <a:pt x="738377" y="149352"/>
                </a:lnTo>
                <a:lnTo>
                  <a:pt x="728344" y="160147"/>
                </a:lnTo>
                <a:lnTo>
                  <a:pt x="725931" y="167132"/>
                </a:lnTo>
                <a:lnTo>
                  <a:pt x="725931" y="179832"/>
                </a:lnTo>
                <a:lnTo>
                  <a:pt x="726947" y="187198"/>
                </a:lnTo>
                <a:lnTo>
                  <a:pt x="728852" y="197358"/>
                </a:lnTo>
                <a:lnTo>
                  <a:pt x="730186" y="204743"/>
                </a:lnTo>
                <a:lnTo>
                  <a:pt x="731138" y="211486"/>
                </a:lnTo>
                <a:lnTo>
                  <a:pt x="731710" y="217610"/>
                </a:lnTo>
                <a:lnTo>
                  <a:pt x="731809" y="220472"/>
                </a:lnTo>
                <a:lnTo>
                  <a:pt x="731900" y="223139"/>
                </a:lnTo>
                <a:lnTo>
                  <a:pt x="731150" y="235428"/>
                </a:lnTo>
                <a:lnTo>
                  <a:pt x="731138" y="235612"/>
                </a:lnTo>
                <a:lnTo>
                  <a:pt x="705151" y="269763"/>
                </a:lnTo>
                <a:lnTo>
                  <a:pt x="685926" y="272542"/>
                </a:lnTo>
                <a:lnTo>
                  <a:pt x="683640" y="272542"/>
                </a:lnTo>
                <a:lnTo>
                  <a:pt x="683640" y="283845"/>
                </a:lnTo>
                <a:lnTo>
                  <a:pt x="687577" y="283845"/>
                </a:lnTo>
                <a:lnTo>
                  <a:pt x="703913" y="282630"/>
                </a:lnTo>
                <a:lnTo>
                  <a:pt x="739774" y="267843"/>
                </a:lnTo>
                <a:lnTo>
                  <a:pt x="756033" y="235612"/>
                </a:lnTo>
                <a:lnTo>
                  <a:pt x="756080" y="235428"/>
                </a:lnTo>
                <a:lnTo>
                  <a:pt x="757173" y="220472"/>
                </a:lnTo>
                <a:lnTo>
                  <a:pt x="757077" y="217610"/>
                </a:lnTo>
                <a:lnTo>
                  <a:pt x="756957" y="214066"/>
                </a:lnTo>
                <a:lnTo>
                  <a:pt x="756300" y="207232"/>
                </a:lnTo>
                <a:lnTo>
                  <a:pt x="755191" y="199969"/>
                </a:lnTo>
                <a:lnTo>
                  <a:pt x="753617" y="192278"/>
                </a:lnTo>
                <a:lnTo>
                  <a:pt x="751331" y="181864"/>
                </a:lnTo>
                <a:lnTo>
                  <a:pt x="750188" y="174752"/>
                </a:lnTo>
                <a:lnTo>
                  <a:pt x="750188" y="164338"/>
                </a:lnTo>
                <a:lnTo>
                  <a:pt x="752474" y="158750"/>
                </a:lnTo>
                <a:lnTo>
                  <a:pt x="757300" y="154432"/>
                </a:lnTo>
                <a:lnTo>
                  <a:pt x="761999" y="150114"/>
                </a:lnTo>
                <a:lnTo>
                  <a:pt x="769111" y="147828"/>
                </a:lnTo>
                <a:lnTo>
                  <a:pt x="778636" y="147574"/>
                </a:lnTo>
                <a:lnTo>
                  <a:pt x="778636" y="135382"/>
                </a:lnTo>
                <a:lnTo>
                  <a:pt x="769111" y="135001"/>
                </a:lnTo>
                <a:lnTo>
                  <a:pt x="761999" y="132715"/>
                </a:lnTo>
                <a:lnTo>
                  <a:pt x="757300" y="128397"/>
                </a:lnTo>
                <a:lnTo>
                  <a:pt x="752474" y="124079"/>
                </a:lnTo>
                <a:lnTo>
                  <a:pt x="750188" y="118491"/>
                </a:lnTo>
                <a:lnTo>
                  <a:pt x="750188" y="108077"/>
                </a:lnTo>
                <a:lnTo>
                  <a:pt x="751331" y="101092"/>
                </a:lnTo>
                <a:lnTo>
                  <a:pt x="753617" y="90551"/>
                </a:lnTo>
                <a:lnTo>
                  <a:pt x="755191" y="82859"/>
                </a:lnTo>
                <a:lnTo>
                  <a:pt x="756300" y="75596"/>
                </a:lnTo>
                <a:lnTo>
                  <a:pt x="756957" y="68762"/>
                </a:lnTo>
                <a:lnTo>
                  <a:pt x="757076" y="65236"/>
                </a:lnTo>
                <a:lnTo>
                  <a:pt x="757173" y="62357"/>
                </a:lnTo>
                <a:lnTo>
                  <a:pt x="756080" y="47880"/>
                </a:lnTo>
                <a:lnTo>
                  <a:pt x="730011" y="9215"/>
                </a:lnTo>
                <a:lnTo>
                  <a:pt x="703913" y="1214"/>
                </a:lnTo>
                <a:lnTo>
                  <a:pt x="687577" y="0"/>
                </a:lnTo>
                <a:close/>
              </a:path>
              <a:path w="779145" h="283844">
                <a:moveTo>
                  <a:pt x="94995" y="0"/>
                </a:moveTo>
                <a:lnTo>
                  <a:pt x="91058" y="0"/>
                </a:lnTo>
                <a:lnTo>
                  <a:pt x="74703" y="1214"/>
                </a:lnTo>
                <a:lnTo>
                  <a:pt x="38734" y="16002"/>
                </a:lnTo>
                <a:lnTo>
                  <a:pt x="21661" y="59562"/>
                </a:lnTo>
                <a:lnTo>
                  <a:pt x="21677" y="68635"/>
                </a:lnTo>
                <a:lnTo>
                  <a:pt x="22320" y="75469"/>
                </a:lnTo>
                <a:lnTo>
                  <a:pt x="23391" y="82732"/>
                </a:lnTo>
                <a:lnTo>
                  <a:pt x="24891" y="90424"/>
                </a:lnTo>
                <a:lnTo>
                  <a:pt x="27304" y="100838"/>
                </a:lnTo>
                <a:lnTo>
                  <a:pt x="28447" y="107950"/>
                </a:lnTo>
                <a:lnTo>
                  <a:pt x="28447" y="118364"/>
                </a:lnTo>
                <a:lnTo>
                  <a:pt x="26034" y="123952"/>
                </a:lnTo>
                <a:lnTo>
                  <a:pt x="16636" y="132588"/>
                </a:lnTo>
                <a:lnTo>
                  <a:pt x="9524" y="134874"/>
                </a:lnTo>
                <a:lnTo>
                  <a:pt x="0" y="135128"/>
                </a:lnTo>
                <a:lnTo>
                  <a:pt x="0" y="147320"/>
                </a:lnTo>
                <a:lnTo>
                  <a:pt x="9524" y="147701"/>
                </a:lnTo>
                <a:lnTo>
                  <a:pt x="16636" y="149987"/>
                </a:lnTo>
                <a:lnTo>
                  <a:pt x="26034" y="158623"/>
                </a:lnTo>
                <a:lnTo>
                  <a:pt x="28447" y="164211"/>
                </a:lnTo>
                <a:lnTo>
                  <a:pt x="28447" y="174625"/>
                </a:lnTo>
                <a:lnTo>
                  <a:pt x="27304" y="181610"/>
                </a:lnTo>
                <a:lnTo>
                  <a:pt x="24891" y="192151"/>
                </a:lnTo>
                <a:lnTo>
                  <a:pt x="23391" y="199842"/>
                </a:lnTo>
                <a:lnTo>
                  <a:pt x="22320" y="207105"/>
                </a:lnTo>
                <a:lnTo>
                  <a:pt x="21677" y="213939"/>
                </a:lnTo>
                <a:lnTo>
                  <a:pt x="21558" y="217483"/>
                </a:lnTo>
                <a:lnTo>
                  <a:pt x="21462" y="220345"/>
                </a:lnTo>
                <a:lnTo>
                  <a:pt x="22536" y="235321"/>
                </a:lnTo>
                <a:lnTo>
                  <a:pt x="48517" y="274629"/>
                </a:lnTo>
                <a:lnTo>
                  <a:pt x="91058" y="283845"/>
                </a:lnTo>
                <a:lnTo>
                  <a:pt x="94995" y="283845"/>
                </a:lnTo>
                <a:lnTo>
                  <a:pt x="94995" y="272542"/>
                </a:lnTo>
                <a:lnTo>
                  <a:pt x="92709" y="272542"/>
                </a:lnTo>
                <a:lnTo>
                  <a:pt x="82520" y="271849"/>
                </a:lnTo>
                <a:lnTo>
                  <a:pt x="49783" y="246141"/>
                </a:lnTo>
                <a:lnTo>
                  <a:pt x="46735" y="223011"/>
                </a:lnTo>
                <a:lnTo>
                  <a:pt x="46826" y="220345"/>
                </a:lnTo>
                <a:lnTo>
                  <a:pt x="51688" y="187071"/>
                </a:lnTo>
                <a:lnTo>
                  <a:pt x="52704" y="179705"/>
                </a:lnTo>
                <a:lnTo>
                  <a:pt x="52704" y="166878"/>
                </a:lnTo>
                <a:lnTo>
                  <a:pt x="50164" y="160020"/>
                </a:lnTo>
                <a:lnTo>
                  <a:pt x="45211" y="154559"/>
                </a:lnTo>
                <a:lnTo>
                  <a:pt x="40258" y="149225"/>
                </a:lnTo>
                <a:lnTo>
                  <a:pt x="34416" y="145161"/>
                </a:lnTo>
                <a:lnTo>
                  <a:pt x="27558" y="142621"/>
                </a:lnTo>
                <a:lnTo>
                  <a:pt x="27558" y="139954"/>
                </a:lnTo>
                <a:lnTo>
                  <a:pt x="52704" y="115570"/>
                </a:lnTo>
                <a:lnTo>
                  <a:pt x="52704" y="102870"/>
                </a:lnTo>
                <a:lnTo>
                  <a:pt x="51688" y="95504"/>
                </a:lnTo>
                <a:lnTo>
                  <a:pt x="49656" y="85344"/>
                </a:lnTo>
                <a:lnTo>
                  <a:pt x="48396" y="77958"/>
                </a:lnTo>
                <a:lnTo>
                  <a:pt x="47482" y="71215"/>
                </a:lnTo>
                <a:lnTo>
                  <a:pt x="46924" y="65091"/>
                </a:lnTo>
                <a:lnTo>
                  <a:pt x="46826" y="62230"/>
                </a:lnTo>
                <a:lnTo>
                  <a:pt x="46735" y="59562"/>
                </a:lnTo>
                <a:lnTo>
                  <a:pt x="47487" y="47773"/>
                </a:lnTo>
                <a:lnTo>
                  <a:pt x="47497" y="47609"/>
                </a:lnTo>
                <a:lnTo>
                  <a:pt x="73485" y="14144"/>
                </a:lnTo>
                <a:lnTo>
                  <a:pt x="92709" y="11303"/>
                </a:lnTo>
                <a:lnTo>
                  <a:pt x="94995" y="11303"/>
                </a:lnTo>
                <a:lnTo>
                  <a:pt x="94995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600705" y="4588864"/>
            <a:ext cx="344805" cy="15240"/>
          </a:xfrm>
          <a:custGeom>
            <a:avLst/>
            <a:gdLst/>
            <a:ahLst/>
            <a:cxnLst/>
            <a:rect l="l" t="t" r="r" b="b"/>
            <a:pathLst>
              <a:path w="344805" h="15239">
                <a:moveTo>
                  <a:pt x="344424" y="0"/>
                </a:moveTo>
                <a:lnTo>
                  <a:pt x="0" y="0"/>
                </a:lnTo>
                <a:lnTo>
                  <a:pt x="0" y="15240"/>
                </a:lnTo>
                <a:lnTo>
                  <a:pt x="344424" y="15240"/>
                </a:lnTo>
                <a:lnTo>
                  <a:pt x="3444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48539" y="952981"/>
            <a:ext cx="11650345" cy="41524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54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5454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FM</a:t>
            </a:r>
            <a:r>
              <a:rPr sz="24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wave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consists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carrier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{The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first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term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equation}.</a:t>
            </a:r>
            <a:endParaRPr sz="2400" dirty="0">
              <a:latin typeface="Calibri"/>
              <a:cs typeface="Calibri"/>
            </a:endParaRPr>
          </a:p>
          <a:p>
            <a:pPr marL="545465" indent="-456565">
              <a:lnSpc>
                <a:spcPct val="100000"/>
              </a:lnSpc>
              <a:buFont typeface="Wingdings"/>
              <a:buChar char=""/>
              <a:tabLst>
                <a:tab pos="5454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FM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wave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consists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infinite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number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sidebands.</a:t>
            </a:r>
            <a:endParaRPr sz="2400" dirty="0">
              <a:latin typeface="Calibri"/>
              <a:cs typeface="Calibri"/>
            </a:endParaRPr>
          </a:p>
          <a:p>
            <a:pPr marL="545465" indent="-456565">
              <a:lnSpc>
                <a:spcPts val="2875"/>
              </a:lnSpc>
              <a:spcBef>
                <a:spcPts val="10"/>
              </a:spcBef>
              <a:buFont typeface="Wingdings"/>
              <a:buChar char=""/>
              <a:tabLst>
                <a:tab pos="545465" algn="l"/>
                <a:tab pos="2566670" algn="l"/>
                <a:tab pos="332549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 smtClean="0">
                <a:solidFill>
                  <a:srgbClr val="6F2F9F"/>
                </a:solidFill>
                <a:latin typeface="Calibri"/>
                <a:cs typeface="Calibri"/>
              </a:rPr>
              <a:t>m</a:t>
            </a:r>
            <a:r>
              <a:rPr lang="en-US" sz="2400" b="1" spc="-10" dirty="0" smtClean="0">
                <a:solidFill>
                  <a:srgbClr val="6F2F9F"/>
                </a:solidFill>
                <a:latin typeface="Calibri"/>
                <a:cs typeface="Calibri"/>
              </a:rPr>
              <a:t>agnitude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spc="-20" dirty="0">
                <a:solidFill>
                  <a:srgbClr val="6F2F9F"/>
                </a:solidFill>
                <a:latin typeface="Cambria Math"/>
                <a:cs typeface="Cambria Math"/>
              </a:rPr>
              <a:t>𝐕</a:t>
            </a:r>
            <a:r>
              <a:rPr sz="2625" spc="-30" baseline="-15873" dirty="0">
                <a:solidFill>
                  <a:srgbClr val="6F2F9F"/>
                </a:solidFill>
                <a:latin typeface="Cambria Math"/>
                <a:cs typeface="Cambria Math"/>
              </a:rPr>
              <a:t>𝐂</a:t>
            </a:r>
            <a:r>
              <a:rPr sz="2400" spc="-20" dirty="0">
                <a:solidFill>
                  <a:srgbClr val="6F2F9F"/>
                </a:solidFill>
                <a:latin typeface="Cambria Math"/>
                <a:cs typeface="Cambria Math"/>
              </a:rPr>
              <a:t>𝐉</a:t>
            </a:r>
            <a:r>
              <a:rPr sz="2625" spc="-30" baseline="-15873" dirty="0">
                <a:solidFill>
                  <a:srgbClr val="6F2F9F"/>
                </a:solidFill>
                <a:latin typeface="Cambria Math"/>
                <a:cs typeface="Cambria Math"/>
              </a:rPr>
              <a:t>𝐧</a:t>
            </a:r>
            <a:r>
              <a:rPr sz="2625" baseline="-15873" dirty="0">
                <a:solidFill>
                  <a:srgbClr val="6F2F9F"/>
                </a:solidFill>
                <a:latin typeface="Cambria Math"/>
                <a:cs typeface="Cambria Math"/>
              </a:rPr>
              <a:t>	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carrier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sidebands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depends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on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Bessel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Function.</a:t>
            </a:r>
            <a:endParaRPr sz="2400" dirty="0">
              <a:latin typeface="Calibri"/>
              <a:cs typeface="Calibri"/>
            </a:endParaRPr>
          </a:p>
          <a:p>
            <a:pPr marL="546100" marR="93980" indent="-457200">
              <a:lnSpc>
                <a:spcPts val="2880"/>
              </a:lnSpc>
              <a:spcBef>
                <a:spcPts val="90"/>
              </a:spcBef>
              <a:buFont typeface="Wingdings"/>
              <a:buChar char=""/>
              <a:tabLst>
                <a:tab pos="54610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Some</a:t>
            </a:r>
            <a:r>
              <a:rPr sz="2400" b="1" spc="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Bessel</a:t>
            </a:r>
            <a:r>
              <a:rPr sz="2400" b="1" spc="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Function</a:t>
            </a:r>
            <a:r>
              <a:rPr sz="2400" b="1" spc="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ca</a:t>
            </a:r>
            <a:r>
              <a:rPr lang="en-US" sz="2400" b="1" dirty="0">
                <a:solidFill>
                  <a:srgbClr val="6F2F9F"/>
                </a:solidFill>
                <a:latin typeface="Calibri"/>
                <a:cs typeface="Calibri"/>
              </a:rPr>
              <a:t>n</a:t>
            </a:r>
            <a:r>
              <a:rPr sz="2400" b="1" spc="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be</a:t>
            </a:r>
            <a:r>
              <a:rPr sz="2400" b="1" spc="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negative.</a:t>
            </a:r>
            <a:r>
              <a:rPr sz="2400" b="1" spc="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Therefore,</a:t>
            </a:r>
            <a:r>
              <a:rPr sz="2400" b="1" spc="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there</a:t>
            </a:r>
            <a:r>
              <a:rPr sz="2400" b="1" spc="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180</a:t>
            </a:r>
            <a:r>
              <a:rPr sz="2400" b="1" spc="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degree</a:t>
            </a:r>
            <a:r>
              <a:rPr sz="2400" b="1" spc="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phase</a:t>
            </a:r>
            <a:r>
              <a:rPr sz="2400" b="1" spc="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shift</a:t>
            </a:r>
            <a:r>
              <a:rPr sz="2400" b="1" spc="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for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that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sidebands.</a:t>
            </a:r>
            <a:endParaRPr sz="2400" dirty="0">
              <a:latin typeface="Calibri"/>
              <a:cs typeface="Calibri"/>
            </a:endParaRPr>
          </a:p>
          <a:p>
            <a:pPr marL="546100" marR="93980" indent="-457200">
              <a:lnSpc>
                <a:spcPts val="2880"/>
              </a:lnSpc>
              <a:buFont typeface="Wingdings"/>
              <a:buChar char=""/>
              <a:tabLst>
                <a:tab pos="546100" algn="l"/>
                <a:tab pos="1164590" algn="l"/>
                <a:tab pos="2289175" algn="l"/>
                <a:tab pos="3180715" algn="l"/>
                <a:tab pos="3651885" algn="l"/>
                <a:tab pos="5330190" algn="l"/>
                <a:tab pos="6309995" algn="l"/>
                <a:tab pos="6943090" algn="l"/>
                <a:tab pos="7980680" algn="l"/>
                <a:tab pos="9637395" algn="l"/>
                <a:tab pos="10299065" algn="l"/>
              </a:tabLst>
            </a:pP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Certain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value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modulation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index,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carrier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component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will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disappear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completely.</a:t>
            </a:r>
            <a:r>
              <a:rPr sz="24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These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values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are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called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eigen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values.</a:t>
            </a:r>
            <a:endParaRPr sz="2400" dirty="0">
              <a:latin typeface="Calibri"/>
              <a:cs typeface="Calibri"/>
            </a:endParaRPr>
          </a:p>
          <a:p>
            <a:pPr marL="546100" marR="93345" indent="-457200">
              <a:lnSpc>
                <a:spcPts val="2880"/>
              </a:lnSpc>
              <a:spcBef>
                <a:spcPts val="5"/>
              </a:spcBef>
              <a:buFont typeface="Wingdings"/>
              <a:buChar char=""/>
              <a:tabLst>
                <a:tab pos="54610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3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FM</a:t>
            </a:r>
            <a:r>
              <a:rPr sz="2400" b="1" spc="3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Signal,</a:t>
            </a:r>
            <a:r>
              <a:rPr sz="2400" b="1" spc="3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Transmitted</a:t>
            </a:r>
            <a:r>
              <a:rPr sz="2400" b="1" spc="3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power</a:t>
            </a:r>
            <a:r>
              <a:rPr sz="2400" b="1" spc="3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always</a:t>
            </a:r>
            <a:r>
              <a:rPr sz="2400" b="1" spc="3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remains</a:t>
            </a:r>
            <a:r>
              <a:rPr sz="2400" b="1" spc="3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constant.</a:t>
            </a:r>
            <a:r>
              <a:rPr sz="2400" b="1" spc="3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It</a:t>
            </a:r>
            <a:r>
              <a:rPr sz="2400" b="1" spc="30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3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not</a:t>
            </a:r>
            <a:r>
              <a:rPr sz="2400" b="1" spc="3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dependent</a:t>
            </a:r>
            <a:r>
              <a:rPr sz="2400" b="1" spc="30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on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modulation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index.</a:t>
            </a:r>
            <a:endParaRPr sz="2400" dirty="0">
              <a:latin typeface="Calibri"/>
              <a:cs typeface="Calibri"/>
            </a:endParaRPr>
          </a:p>
          <a:p>
            <a:pPr marL="2451735">
              <a:lnSpc>
                <a:spcPts val="1290"/>
              </a:lnSpc>
            </a:pPr>
            <a:r>
              <a:rPr sz="2700" spc="-37" baseline="-24691" dirty="0">
                <a:latin typeface="Cambria Math"/>
                <a:cs typeface="Cambria Math"/>
              </a:rPr>
              <a:t>𝐕</a:t>
            </a:r>
            <a:r>
              <a:rPr sz="1950" spc="-37" baseline="-49145" dirty="0">
                <a:latin typeface="Cambria Math"/>
                <a:cs typeface="Cambria Math"/>
              </a:rPr>
              <a:t>𝐂</a:t>
            </a:r>
            <a:r>
              <a:rPr sz="1300" spc="-25" dirty="0">
                <a:latin typeface="Cambria Math"/>
                <a:cs typeface="Cambria Math"/>
              </a:rPr>
              <a:t>𝟐</a:t>
            </a:r>
            <a:endParaRPr sz="1300" dirty="0">
              <a:latin typeface="Cambria Math"/>
              <a:cs typeface="Cambria Math"/>
            </a:endParaRPr>
          </a:p>
          <a:p>
            <a:pPr marL="1621155">
              <a:lnSpc>
                <a:spcPct val="100000"/>
              </a:lnSpc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6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𝐏</a:t>
            </a:r>
            <a:r>
              <a:rPr sz="1950" baseline="-14957" dirty="0">
                <a:latin typeface="Cambria Math"/>
                <a:cs typeface="Cambria Math"/>
              </a:rPr>
              <a:t>𝐭</a:t>
            </a:r>
            <a:r>
              <a:rPr sz="1950" spc="337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250" dirty="0">
                <a:latin typeface="Cambria Math"/>
                <a:cs typeface="Cambria Math"/>
              </a:rPr>
              <a:t> </a:t>
            </a:r>
            <a:r>
              <a:rPr sz="2700" spc="-37" baseline="-37037" dirty="0">
                <a:latin typeface="Cambria Math"/>
                <a:cs typeface="Cambria Math"/>
              </a:rPr>
              <a:t>𝟐𝐑</a:t>
            </a:r>
            <a:endParaRPr sz="2700" baseline="-37037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1800" dirty="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Bandwidth</a:t>
            </a:r>
            <a:r>
              <a:rPr sz="3200" u="sng" spc="-5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of</a:t>
            </a:r>
            <a:r>
              <a:rPr sz="3200" u="sng" spc="-2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FM</a:t>
            </a:r>
            <a:r>
              <a:rPr sz="3200" u="sng" spc="-2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wave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3895725" y="3649725"/>
            <a:ext cx="50165" cy="213360"/>
          </a:xfrm>
          <a:custGeom>
            <a:avLst/>
            <a:gdLst/>
            <a:ahLst/>
            <a:cxnLst/>
            <a:rect l="l" t="t" r="r" b="b"/>
            <a:pathLst>
              <a:path w="50164" h="213360">
                <a:moveTo>
                  <a:pt x="49784" y="0"/>
                </a:moveTo>
                <a:lnTo>
                  <a:pt x="0" y="0"/>
                </a:lnTo>
                <a:lnTo>
                  <a:pt x="0" y="8890"/>
                </a:lnTo>
                <a:lnTo>
                  <a:pt x="31242" y="8890"/>
                </a:lnTo>
                <a:lnTo>
                  <a:pt x="31242" y="204470"/>
                </a:lnTo>
                <a:lnTo>
                  <a:pt x="0" y="204470"/>
                </a:lnTo>
                <a:lnTo>
                  <a:pt x="0" y="213360"/>
                </a:lnTo>
                <a:lnTo>
                  <a:pt x="49784" y="213360"/>
                </a:lnTo>
                <a:lnTo>
                  <a:pt x="49784" y="204470"/>
                </a:lnTo>
                <a:lnTo>
                  <a:pt x="49784" y="8890"/>
                </a:lnTo>
                <a:lnTo>
                  <a:pt x="497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26410" y="3649725"/>
            <a:ext cx="50165" cy="213360"/>
          </a:xfrm>
          <a:custGeom>
            <a:avLst/>
            <a:gdLst/>
            <a:ahLst/>
            <a:cxnLst/>
            <a:rect l="l" t="t" r="r" b="b"/>
            <a:pathLst>
              <a:path w="50164" h="213360">
                <a:moveTo>
                  <a:pt x="49784" y="0"/>
                </a:moveTo>
                <a:lnTo>
                  <a:pt x="0" y="0"/>
                </a:lnTo>
                <a:lnTo>
                  <a:pt x="0" y="8890"/>
                </a:lnTo>
                <a:lnTo>
                  <a:pt x="0" y="204470"/>
                </a:lnTo>
                <a:lnTo>
                  <a:pt x="0" y="213360"/>
                </a:lnTo>
                <a:lnTo>
                  <a:pt x="49784" y="213360"/>
                </a:lnTo>
                <a:lnTo>
                  <a:pt x="49784" y="204470"/>
                </a:lnTo>
                <a:lnTo>
                  <a:pt x="18542" y="204470"/>
                </a:lnTo>
                <a:lnTo>
                  <a:pt x="18542" y="8890"/>
                </a:lnTo>
                <a:lnTo>
                  <a:pt x="49784" y="8890"/>
                </a:lnTo>
                <a:lnTo>
                  <a:pt x="497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3342" y="579246"/>
            <a:ext cx="11598910" cy="37896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0865" marR="17780" indent="-457200" algn="just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570865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Theoretically,</a:t>
            </a:r>
            <a:r>
              <a:rPr sz="2400" b="1" spc="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bandwidth</a:t>
            </a:r>
            <a:r>
              <a:rPr sz="2400" b="1" spc="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FM</a:t>
            </a:r>
            <a:r>
              <a:rPr sz="2400" b="1" spc="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wave</a:t>
            </a:r>
            <a:r>
              <a:rPr sz="2400" b="1" spc="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Infinite.</a:t>
            </a:r>
            <a:r>
              <a:rPr sz="2400" b="1" spc="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But,</a:t>
            </a:r>
            <a:r>
              <a:rPr sz="2400" b="1" spc="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practically,</a:t>
            </a:r>
            <a:r>
              <a:rPr sz="2400" b="1" spc="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it</a:t>
            </a:r>
            <a:r>
              <a:rPr sz="2400" b="1" spc="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calculated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based</a:t>
            </a:r>
            <a:r>
              <a:rPr sz="2400" b="1" spc="29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on</a:t>
            </a:r>
            <a:r>
              <a:rPr sz="2400" b="1" spc="29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how</a:t>
            </a:r>
            <a:r>
              <a:rPr sz="2400" b="1" spc="2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many</a:t>
            </a:r>
            <a:r>
              <a:rPr sz="2400" b="1" spc="3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sidebands</a:t>
            </a:r>
            <a:r>
              <a:rPr sz="2400" b="1" spc="30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have</a:t>
            </a:r>
            <a:r>
              <a:rPr sz="2400" b="1" spc="30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significant</a:t>
            </a:r>
            <a:r>
              <a:rPr sz="2400" b="1" spc="3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amplitude.</a:t>
            </a:r>
            <a:r>
              <a:rPr sz="2400" b="1" spc="2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3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Simplest</a:t>
            </a:r>
            <a:r>
              <a:rPr sz="2400" b="1" spc="3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method</a:t>
            </a:r>
            <a:r>
              <a:rPr sz="2400" b="1" spc="29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to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calculate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bandwidth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as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under:</a:t>
            </a:r>
            <a:endParaRPr sz="2400">
              <a:latin typeface="Calibri"/>
              <a:cs typeface="Calibri"/>
            </a:endParaRPr>
          </a:p>
          <a:p>
            <a:pPr marL="1784985">
              <a:lnSpc>
                <a:spcPct val="100000"/>
              </a:lnSpc>
              <a:spcBef>
                <a:spcPts val="2010"/>
              </a:spcBef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6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𝐁𝐖</a:t>
            </a:r>
            <a:r>
              <a:rPr sz="1800" spc="5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6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𝟐𝐅</a:t>
            </a:r>
            <a:r>
              <a:rPr sz="1950" baseline="-14957" dirty="0">
                <a:latin typeface="Cambria Math"/>
                <a:cs typeface="Cambria Math"/>
              </a:rPr>
              <a:t>𝐦</a:t>
            </a:r>
            <a:r>
              <a:rPr sz="1950" spc="202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×</a:t>
            </a:r>
            <a:r>
              <a:rPr sz="1800" spc="-3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𝐍𝐮𝐦𝐛𝐞𝐫</a:t>
            </a:r>
            <a:r>
              <a:rPr sz="1800" spc="-2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𝐨𝐟</a:t>
            </a:r>
            <a:r>
              <a:rPr sz="1800" spc="-3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𝐒𝐢𝐠𝐧𝐢𝐟𝐢𝐜𝐚𝐧𝐭</a:t>
            </a:r>
            <a:r>
              <a:rPr sz="1800" spc="-25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𝐒𝐢𝐝𝐞𝐛𝐚𝐧𝐝𝐬</a:t>
            </a:r>
            <a:endParaRPr sz="1800">
              <a:latin typeface="Cambria Math"/>
              <a:cs typeface="Cambria Math"/>
            </a:endParaRPr>
          </a:p>
          <a:p>
            <a:pPr marL="520065" indent="-456565">
              <a:lnSpc>
                <a:spcPct val="100000"/>
              </a:lnSpc>
              <a:spcBef>
                <a:spcPts val="865"/>
              </a:spcBef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second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method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based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on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Carson’s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Rule.</a:t>
            </a:r>
            <a:endParaRPr sz="2400">
              <a:latin typeface="Calibri"/>
              <a:cs typeface="Calibri"/>
            </a:endParaRPr>
          </a:p>
          <a:p>
            <a:pPr marL="520700" marR="68580" indent="-457200" algn="just">
              <a:lnSpc>
                <a:spcPct val="100000"/>
              </a:lnSpc>
              <a:buFont typeface="Wingdings"/>
              <a:buChar char=""/>
              <a:tabLst>
                <a:tab pos="52070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It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States</a:t>
            </a:r>
            <a:r>
              <a:rPr sz="2400" b="1" spc="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that</a:t>
            </a:r>
            <a:r>
              <a:rPr sz="2400" b="1" spc="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 bandwidth</a:t>
            </a: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FM</a:t>
            </a:r>
            <a:r>
              <a:rPr sz="2400" b="1" spc="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Wave is twice</a:t>
            </a:r>
            <a:r>
              <a:rPr sz="2400" b="1" spc="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sum</a:t>
            </a: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 deviation and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highest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modulating</a:t>
            </a:r>
            <a:r>
              <a:rPr sz="2400" b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frequency.</a:t>
            </a:r>
            <a:endParaRPr sz="2400">
              <a:latin typeface="Calibri"/>
              <a:cs typeface="Calibri"/>
            </a:endParaRPr>
          </a:p>
          <a:p>
            <a:pPr marL="1734185">
              <a:lnSpc>
                <a:spcPct val="100000"/>
              </a:lnSpc>
              <a:spcBef>
                <a:spcPts val="1325"/>
              </a:spcBef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𝐁𝐖</a:t>
            </a:r>
            <a:r>
              <a:rPr sz="1800" spc="7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𝟐</a:t>
            </a:r>
            <a:r>
              <a:rPr sz="1800" spc="22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∆𝐅</a:t>
            </a:r>
            <a:r>
              <a:rPr sz="1800" spc="-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 </a:t>
            </a:r>
            <a:r>
              <a:rPr sz="1800" spc="-25" dirty="0">
                <a:latin typeface="Cambria Math"/>
                <a:cs typeface="Cambria Math"/>
              </a:rPr>
              <a:t>𝐅</a:t>
            </a:r>
            <a:r>
              <a:rPr sz="1950" spc="-37" baseline="-14957" dirty="0">
                <a:latin typeface="Cambria Math"/>
                <a:cs typeface="Cambria Math"/>
              </a:rPr>
              <a:t>𝐦</a:t>
            </a:r>
            <a:endParaRPr sz="1950" baseline="-14957">
              <a:latin typeface="Cambria Math"/>
              <a:cs typeface="Cambria Math"/>
            </a:endParaRPr>
          </a:p>
          <a:p>
            <a:pPr marL="520065" indent="-456565">
              <a:lnSpc>
                <a:spcPct val="100000"/>
              </a:lnSpc>
              <a:spcBef>
                <a:spcPts val="960"/>
              </a:spcBef>
              <a:buFont typeface="Wingdings"/>
              <a:buChar char=""/>
              <a:tabLst>
                <a:tab pos="520065" algn="l"/>
              </a:tabLst>
            </a:pP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Carson’s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Rule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accommodates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almost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98%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Transmitted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Power.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67131" y="4483734"/>
          <a:ext cx="11819889" cy="1300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69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28219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28218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57429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57429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69570">
                <a:tc>
                  <a:txBody>
                    <a:bodyPr/>
                    <a:lstStyle/>
                    <a:p>
                      <a:pPr marL="51371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Parameters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66C62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DSB-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FC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66C62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DSB-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SC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66C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SSB-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SC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66C62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VSB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066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3091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Bandwidth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  <a:tc>
                  <a:txBody>
                    <a:bodyPr/>
                    <a:lstStyle/>
                    <a:p>
                      <a:pPr marL="377190" indent="-285750">
                        <a:lnSpc>
                          <a:spcPct val="100000"/>
                        </a:lnSpc>
                        <a:spcBef>
                          <a:spcPts val="395"/>
                        </a:spcBef>
                        <a:buFont typeface="Wingdings"/>
                        <a:buChar char=""/>
                        <a:tabLst>
                          <a:tab pos="377190" algn="l"/>
                        </a:tabLst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𝟐𝐅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𝐦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  <a:tc>
                  <a:txBody>
                    <a:bodyPr/>
                    <a:lstStyle/>
                    <a:p>
                      <a:pPr marL="377190" indent="-285750">
                        <a:lnSpc>
                          <a:spcPct val="100000"/>
                        </a:lnSpc>
                        <a:spcBef>
                          <a:spcPts val="395"/>
                        </a:spcBef>
                        <a:buFont typeface="Wingdings"/>
                        <a:buChar char=""/>
                        <a:tabLst>
                          <a:tab pos="377190" algn="l"/>
                        </a:tabLst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𝟐𝐅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𝐦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  <a:tc>
                  <a:txBody>
                    <a:bodyPr/>
                    <a:lstStyle/>
                    <a:p>
                      <a:pPr marL="377825" indent="-285750">
                        <a:lnSpc>
                          <a:spcPct val="100000"/>
                        </a:lnSpc>
                        <a:spcBef>
                          <a:spcPts val="395"/>
                        </a:spcBef>
                        <a:buFont typeface="Wingdings"/>
                        <a:buChar char=""/>
                        <a:tabLst>
                          <a:tab pos="377825" algn="l"/>
                        </a:tabLst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𝐅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𝐦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  <a:tc>
                  <a:txBody>
                    <a:bodyPr/>
                    <a:lstStyle/>
                    <a:p>
                      <a:pPr marL="377825" indent="-285750">
                        <a:lnSpc>
                          <a:spcPts val="2155"/>
                        </a:lnSpc>
                        <a:spcBef>
                          <a:spcPts val="395"/>
                        </a:spcBef>
                        <a:buFont typeface="Wingdings"/>
                        <a:buChar char=""/>
                        <a:tabLst>
                          <a:tab pos="377825" algn="l"/>
                        </a:tabLst>
                      </a:pPr>
                      <a:r>
                        <a:rPr sz="1800" dirty="0">
                          <a:latin typeface="Cambria Math"/>
                          <a:cs typeface="Cambria Math"/>
                        </a:rPr>
                        <a:t>𝐅</a:t>
                      </a:r>
                      <a:r>
                        <a:rPr sz="1950" baseline="-14957" dirty="0">
                          <a:latin typeface="Cambria Math"/>
                          <a:cs typeface="Cambria Math"/>
                        </a:rPr>
                        <a:t>𝐦</a:t>
                      </a:r>
                      <a:r>
                        <a:rPr sz="1950" spc="120" baseline="-14957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dirty="0"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1800" spc="-6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800" spc="-25" dirty="0">
                          <a:latin typeface="Cambria Math"/>
                          <a:cs typeface="Cambria Math"/>
                        </a:rPr>
                        <a:t>𝐅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𝐕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  <a:p>
                      <a:pPr marL="377825" indent="-285750">
                        <a:lnSpc>
                          <a:spcPts val="2155"/>
                        </a:lnSpc>
                        <a:buFont typeface="Wingdings"/>
                        <a:buChar char=""/>
                        <a:tabLst>
                          <a:tab pos="377825" algn="l"/>
                        </a:tabLst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25%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30%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greater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7909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then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SSB.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BF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74142" y="5811418"/>
            <a:ext cx="101390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Bandwidth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FM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greater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than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AM,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but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FM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has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better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noise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immunity.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595" y="73278"/>
            <a:ext cx="1182751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algn="just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</a:rPr>
              <a:t>Example</a:t>
            </a:r>
            <a:r>
              <a:rPr spc="130" dirty="0">
                <a:solidFill>
                  <a:srgbClr val="FF0000"/>
                </a:solidFill>
              </a:rPr>
              <a:t>  </a:t>
            </a:r>
            <a:r>
              <a:rPr dirty="0">
                <a:solidFill>
                  <a:srgbClr val="FF0000"/>
                </a:solidFill>
              </a:rPr>
              <a:t>1.</a:t>
            </a:r>
            <a:r>
              <a:rPr spc="120" dirty="0">
                <a:solidFill>
                  <a:srgbClr val="FF0000"/>
                </a:solidFill>
              </a:rPr>
              <a:t>  </a:t>
            </a:r>
            <a:r>
              <a:rPr dirty="0"/>
              <a:t>A</a:t>
            </a:r>
            <a:r>
              <a:rPr spc="125" dirty="0"/>
              <a:t>  </a:t>
            </a:r>
            <a:r>
              <a:rPr dirty="0"/>
              <a:t>carrier</a:t>
            </a:r>
            <a:r>
              <a:rPr spc="125" dirty="0"/>
              <a:t>  </a:t>
            </a:r>
            <a:r>
              <a:rPr dirty="0"/>
              <a:t>wave</a:t>
            </a:r>
            <a:r>
              <a:rPr spc="130" dirty="0"/>
              <a:t>  </a:t>
            </a:r>
            <a:r>
              <a:rPr dirty="0"/>
              <a:t>of</a:t>
            </a:r>
            <a:r>
              <a:rPr spc="125" dirty="0"/>
              <a:t>  </a:t>
            </a:r>
            <a:r>
              <a:rPr dirty="0"/>
              <a:t>amplitude</a:t>
            </a:r>
            <a:r>
              <a:rPr spc="135" dirty="0"/>
              <a:t>  </a:t>
            </a:r>
            <a:r>
              <a:rPr dirty="0"/>
              <a:t>10V</a:t>
            </a:r>
            <a:r>
              <a:rPr spc="125" dirty="0"/>
              <a:t>  </a:t>
            </a:r>
            <a:r>
              <a:rPr dirty="0"/>
              <a:t>and</a:t>
            </a:r>
            <a:r>
              <a:rPr spc="130" dirty="0"/>
              <a:t>  </a:t>
            </a:r>
            <a:r>
              <a:rPr dirty="0"/>
              <a:t>frequency</a:t>
            </a:r>
            <a:r>
              <a:rPr spc="125" dirty="0"/>
              <a:t>  </a:t>
            </a:r>
            <a:r>
              <a:rPr dirty="0"/>
              <a:t>100</a:t>
            </a:r>
            <a:r>
              <a:rPr spc="125" dirty="0"/>
              <a:t>  </a:t>
            </a:r>
            <a:r>
              <a:rPr dirty="0"/>
              <a:t>MHz</a:t>
            </a:r>
            <a:r>
              <a:rPr spc="130" dirty="0"/>
              <a:t>  </a:t>
            </a:r>
            <a:r>
              <a:rPr dirty="0"/>
              <a:t>is</a:t>
            </a:r>
            <a:r>
              <a:rPr spc="130" dirty="0"/>
              <a:t>  </a:t>
            </a:r>
            <a:r>
              <a:rPr spc="-10" dirty="0"/>
              <a:t>frequency </a:t>
            </a:r>
            <a:r>
              <a:rPr dirty="0"/>
              <a:t>modulated</a:t>
            </a:r>
            <a:r>
              <a:rPr spc="245" dirty="0"/>
              <a:t> </a:t>
            </a:r>
            <a:r>
              <a:rPr dirty="0"/>
              <a:t>by</a:t>
            </a:r>
            <a:r>
              <a:rPr spc="254" dirty="0"/>
              <a:t> </a:t>
            </a:r>
            <a:r>
              <a:rPr dirty="0"/>
              <a:t>a</a:t>
            </a:r>
            <a:r>
              <a:rPr spc="250" dirty="0"/>
              <a:t> </a:t>
            </a:r>
            <a:r>
              <a:rPr dirty="0"/>
              <a:t>sinusoidal</a:t>
            </a:r>
            <a:r>
              <a:rPr spc="250" dirty="0"/>
              <a:t> </a:t>
            </a:r>
            <a:r>
              <a:rPr dirty="0"/>
              <a:t>voltage.</a:t>
            </a:r>
            <a:r>
              <a:rPr spc="245" dirty="0"/>
              <a:t> </a:t>
            </a:r>
            <a:r>
              <a:rPr dirty="0"/>
              <a:t>The</a:t>
            </a:r>
            <a:r>
              <a:rPr spc="260" dirty="0"/>
              <a:t> </a:t>
            </a:r>
            <a:r>
              <a:rPr dirty="0"/>
              <a:t>modulating</a:t>
            </a:r>
            <a:r>
              <a:rPr spc="254" dirty="0"/>
              <a:t> </a:t>
            </a:r>
            <a:r>
              <a:rPr dirty="0"/>
              <a:t>voltage</a:t>
            </a:r>
            <a:r>
              <a:rPr spc="254" dirty="0"/>
              <a:t> </a:t>
            </a:r>
            <a:r>
              <a:rPr dirty="0"/>
              <a:t>has</a:t>
            </a:r>
            <a:r>
              <a:rPr spc="254" dirty="0"/>
              <a:t> </a:t>
            </a:r>
            <a:r>
              <a:rPr dirty="0"/>
              <a:t>an</a:t>
            </a:r>
            <a:r>
              <a:rPr spc="245" dirty="0"/>
              <a:t> </a:t>
            </a:r>
            <a:r>
              <a:rPr dirty="0"/>
              <a:t>amplitude</a:t>
            </a:r>
            <a:r>
              <a:rPr spc="250" dirty="0"/>
              <a:t> </a:t>
            </a:r>
            <a:r>
              <a:rPr dirty="0"/>
              <a:t>of</a:t>
            </a:r>
            <a:r>
              <a:rPr spc="260" dirty="0"/>
              <a:t> </a:t>
            </a:r>
            <a:r>
              <a:rPr dirty="0"/>
              <a:t>5V</a:t>
            </a:r>
            <a:r>
              <a:rPr spc="250" dirty="0"/>
              <a:t> </a:t>
            </a:r>
            <a:r>
              <a:rPr dirty="0"/>
              <a:t>and</a:t>
            </a:r>
            <a:r>
              <a:rPr spc="245" dirty="0"/>
              <a:t> </a:t>
            </a:r>
            <a:r>
              <a:rPr spc="-50" dirty="0"/>
              <a:t>a </a:t>
            </a:r>
            <a:r>
              <a:rPr dirty="0"/>
              <a:t>frequency</a:t>
            </a:r>
            <a:r>
              <a:rPr spc="-60" dirty="0"/>
              <a:t> </a:t>
            </a:r>
            <a:r>
              <a:rPr b="0" dirty="0">
                <a:latin typeface="Cambria Math"/>
                <a:cs typeface="Cambria Math"/>
              </a:rPr>
              <a:t>𝐟</a:t>
            </a:r>
            <a:r>
              <a:rPr sz="2625" b="0" baseline="-15873" dirty="0">
                <a:latin typeface="Cambria Math"/>
                <a:cs typeface="Cambria Math"/>
              </a:rPr>
              <a:t>𝐦</a:t>
            </a:r>
            <a:r>
              <a:rPr sz="2625" b="0" spc="472" baseline="-15873" dirty="0">
                <a:latin typeface="Cambria Math"/>
                <a:cs typeface="Cambria Math"/>
              </a:rPr>
              <a:t> </a:t>
            </a:r>
            <a:r>
              <a:rPr sz="2400" b="0" dirty="0">
                <a:latin typeface="Cambria Math"/>
                <a:cs typeface="Cambria Math"/>
              </a:rPr>
              <a:t>=</a:t>
            </a:r>
            <a:r>
              <a:rPr sz="2400" b="0" spc="60" dirty="0">
                <a:latin typeface="Cambria Math"/>
                <a:cs typeface="Cambria Math"/>
              </a:rPr>
              <a:t> </a:t>
            </a:r>
            <a:r>
              <a:rPr sz="2400" b="0" dirty="0">
                <a:latin typeface="Cambria Math"/>
                <a:cs typeface="Cambria Math"/>
              </a:rPr>
              <a:t>𝟐𝟎</a:t>
            </a:r>
            <a:r>
              <a:rPr sz="2400" b="0" spc="-55" dirty="0">
                <a:latin typeface="Cambria Math"/>
                <a:cs typeface="Cambria Math"/>
              </a:rPr>
              <a:t> </a:t>
            </a:r>
            <a:r>
              <a:rPr sz="2400" b="0" dirty="0">
                <a:latin typeface="Cambria Math"/>
                <a:cs typeface="Cambria Math"/>
              </a:rPr>
              <a:t>𝐤𝐇𝐳</a:t>
            </a:r>
            <a:r>
              <a:rPr sz="2400" dirty="0"/>
              <a:t>.</a:t>
            </a:r>
            <a:r>
              <a:rPr sz="2400" spc="-50" dirty="0"/>
              <a:t> </a:t>
            </a:r>
            <a:r>
              <a:rPr sz="2400" dirty="0"/>
              <a:t>The</a:t>
            </a:r>
            <a:r>
              <a:rPr sz="2400" spc="-60" dirty="0"/>
              <a:t> </a:t>
            </a:r>
            <a:r>
              <a:rPr sz="2400" dirty="0"/>
              <a:t>frequency</a:t>
            </a:r>
            <a:r>
              <a:rPr sz="2400" spc="-40" dirty="0"/>
              <a:t> </a:t>
            </a:r>
            <a:r>
              <a:rPr sz="2400" spc="-10" dirty="0"/>
              <a:t>deviation</a:t>
            </a:r>
            <a:r>
              <a:rPr sz="2400" spc="-75" dirty="0"/>
              <a:t> </a:t>
            </a:r>
            <a:r>
              <a:rPr sz="2400" spc="-10" dirty="0"/>
              <a:t>constant</a:t>
            </a:r>
            <a:r>
              <a:rPr sz="2400" spc="-60" dirty="0"/>
              <a:t> </a:t>
            </a:r>
            <a:r>
              <a:rPr sz="2400" dirty="0"/>
              <a:t>is</a:t>
            </a:r>
            <a:r>
              <a:rPr sz="2400" spc="-30" dirty="0"/>
              <a:t> </a:t>
            </a:r>
            <a:r>
              <a:rPr sz="2400" dirty="0"/>
              <a:t>2</a:t>
            </a:r>
            <a:r>
              <a:rPr sz="2400" spc="-65" dirty="0"/>
              <a:t> </a:t>
            </a:r>
            <a:r>
              <a:rPr sz="2400" spc="-10" dirty="0"/>
              <a:t>kHz/Volt.</a:t>
            </a:r>
            <a:r>
              <a:rPr sz="2400" spc="-50" dirty="0"/>
              <a:t> </a:t>
            </a:r>
            <a:r>
              <a:rPr sz="2400" dirty="0"/>
              <a:t>Draw</a:t>
            </a:r>
            <a:r>
              <a:rPr sz="2400" spc="-60" dirty="0"/>
              <a:t> </a:t>
            </a:r>
            <a:r>
              <a:rPr sz="2400" dirty="0"/>
              <a:t>the</a:t>
            </a:r>
            <a:r>
              <a:rPr sz="2400" spc="-40" dirty="0"/>
              <a:t> </a:t>
            </a:r>
            <a:r>
              <a:rPr sz="2400" spc="-10" dirty="0"/>
              <a:t>frequency </a:t>
            </a:r>
            <a:r>
              <a:rPr sz="2400" dirty="0"/>
              <a:t>spectrum</a:t>
            </a:r>
            <a:r>
              <a:rPr sz="2400" spc="-60" dirty="0"/>
              <a:t> </a:t>
            </a:r>
            <a:r>
              <a:rPr sz="2400" dirty="0"/>
              <a:t>of</a:t>
            </a:r>
            <a:r>
              <a:rPr sz="2400" spc="-65" dirty="0"/>
              <a:t> </a:t>
            </a:r>
            <a:r>
              <a:rPr sz="2400" dirty="0"/>
              <a:t>FM</a:t>
            </a:r>
            <a:r>
              <a:rPr sz="2400" spc="-75" dirty="0"/>
              <a:t> </a:t>
            </a:r>
            <a:r>
              <a:rPr sz="2400" spc="-20" dirty="0"/>
              <a:t>wave.</a:t>
            </a:r>
            <a:endParaRPr sz="2400" dirty="0">
              <a:latin typeface="Cambria Math"/>
              <a:cs typeface="Cambria Math"/>
            </a:endParaRPr>
          </a:p>
        </p:txBody>
      </p:sp>
      <p:pic>
        <p:nvPicPr>
          <p:cNvPr id="3" name="object 3"/>
          <p:cNvPicPr/>
          <p:nvPr/>
        </p:nvPicPr>
        <p:blipFill rotWithShape="1">
          <a:blip r:embed="rId2" cstate="print"/>
          <a:srcRect t="22781"/>
          <a:stretch/>
        </p:blipFill>
        <p:spPr>
          <a:xfrm>
            <a:off x="0" y="1562352"/>
            <a:ext cx="12192000" cy="5295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986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FE5E4BAC-B120-4772-98CE-0F15462CB5B5}"/>
              </a:ext>
            </a:extLst>
          </p:cNvPr>
          <p:cNvSpPr/>
          <p:nvPr/>
        </p:nvSpPr>
        <p:spPr>
          <a:xfrm>
            <a:off x="1524000" y="1066800"/>
            <a:ext cx="838200" cy="685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235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015" y="614552"/>
            <a:ext cx="7800091" cy="612457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Bassel</a:t>
            </a:r>
            <a:r>
              <a:rPr sz="3200" u="sng" spc="-8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Function</a:t>
            </a:r>
            <a:r>
              <a:rPr sz="3200" u="sng" spc="-8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spc="-2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Table</a:t>
            </a:r>
            <a:r>
              <a:rPr sz="3200" u="sng" spc="-7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with</a:t>
            </a:r>
            <a:r>
              <a:rPr sz="3200" u="sng" spc="-6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respect</a:t>
            </a:r>
            <a:r>
              <a:rPr sz="3200" u="sng" spc="-5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to</a:t>
            </a:r>
            <a:r>
              <a:rPr sz="3200" u="sng" spc="-5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Modulation</a:t>
            </a:r>
            <a:r>
              <a:rPr sz="3200" u="sng" spc="-7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Index</a:t>
            </a:r>
            <a:endParaRPr sz="32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230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89557" y="-8432"/>
            <a:ext cx="8614410" cy="1633220"/>
          </a:xfrm>
          <a:prstGeom prst="rect">
            <a:avLst/>
          </a:prstGeom>
        </p:spPr>
        <p:txBody>
          <a:bodyPr vert="horz" wrap="square" lIns="0" tIns="296545" rIns="0" bIns="0" rtlCol="0">
            <a:spAutoFit/>
          </a:bodyPr>
          <a:lstStyle/>
          <a:p>
            <a:pPr marL="788035" marR="5080" indent="-775970">
              <a:lnSpc>
                <a:spcPct val="70000"/>
              </a:lnSpc>
              <a:spcBef>
                <a:spcPts val="2335"/>
              </a:spcBef>
            </a:pPr>
            <a:r>
              <a:rPr sz="6200" spc="-25" dirty="0">
                <a:solidFill>
                  <a:srgbClr val="006600"/>
                </a:solidFill>
                <a:latin typeface="Trebuchet MS"/>
                <a:cs typeface="Trebuchet MS"/>
              </a:rPr>
              <a:t>Narrow</a:t>
            </a:r>
            <a:r>
              <a:rPr sz="6200" spc="-380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6200" spc="105" dirty="0">
                <a:solidFill>
                  <a:srgbClr val="006600"/>
                </a:solidFill>
                <a:latin typeface="Trebuchet MS"/>
                <a:cs typeface="Trebuchet MS"/>
              </a:rPr>
              <a:t>Band</a:t>
            </a:r>
            <a:r>
              <a:rPr sz="6200" spc="-345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6200" spc="-270" dirty="0">
                <a:solidFill>
                  <a:srgbClr val="006600"/>
                </a:solidFill>
                <a:latin typeface="Trebuchet MS"/>
                <a:cs typeface="Trebuchet MS"/>
              </a:rPr>
              <a:t>Frequency </a:t>
            </a:r>
            <a:r>
              <a:rPr sz="6200" spc="-30" dirty="0">
                <a:solidFill>
                  <a:srgbClr val="006600"/>
                </a:solidFill>
                <a:latin typeface="Trebuchet MS"/>
                <a:cs typeface="Trebuchet MS"/>
              </a:rPr>
              <a:t>Modulation</a:t>
            </a:r>
            <a:r>
              <a:rPr sz="6200" spc="-385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6200" spc="229" dirty="0">
                <a:solidFill>
                  <a:srgbClr val="006600"/>
                </a:solidFill>
                <a:latin typeface="Trebuchet MS"/>
                <a:cs typeface="Trebuchet MS"/>
              </a:rPr>
              <a:t>(NBFM)</a:t>
            </a:r>
            <a:endParaRPr sz="6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4142" y="1391701"/>
            <a:ext cx="5568950" cy="248221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3200" b="1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Outlines</a:t>
            </a:r>
            <a:endParaRPr sz="32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spcBef>
                <a:spcPts val="470"/>
              </a:spcBef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Basics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NBFM</a:t>
            </a:r>
            <a:endParaRPr sz="24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Derivation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Equation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NBFM</a:t>
            </a:r>
            <a:endParaRPr sz="24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Essential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Keynotes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NBFM</a:t>
            </a:r>
            <a:endParaRPr sz="24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NBFM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Generation</a:t>
            </a:r>
            <a:endParaRPr sz="24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Resolution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Issue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NBFM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Generation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4739" y="620648"/>
            <a:ext cx="895032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NBFM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used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improve</a:t>
            </a:r>
            <a:r>
              <a:rPr sz="24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spectrum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efficiency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{Narrow</a:t>
            </a:r>
            <a:r>
              <a:rPr sz="2400" b="1" spc="-1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Bandwidth}.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NBFM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used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Voice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Communication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Radio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Settings.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Modulation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Index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NBFM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less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than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1.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987535" y="2541016"/>
            <a:ext cx="681355" cy="282575"/>
          </a:xfrm>
          <a:custGeom>
            <a:avLst/>
            <a:gdLst/>
            <a:ahLst/>
            <a:cxnLst/>
            <a:rect l="l" t="t" r="r" b="b"/>
            <a:pathLst>
              <a:path w="681354" h="282575">
                <a:moveTo>
                  <a:pt x="590930" y="0"/>
                </a:moveTo>
                <a:lnTo>
                  <a:pt x="586866" y="11430"/>
                </a:lnTo>
                <a:lnTo>
                  <a:pt x="603230" y="18504"/>
                </a:lnTo>
                <a:lnTo>
                  <a:pt x="617283" y="28305"/>
                </a:lnTo>
                <a:lnTo>
                  <a:pt x="645816" y="73798"/>
                </a:lnTo>
                <a:lnTo>
                  <a:pt x="654109" y="115339"/>
                </a:lnTo>
                <a:lnTo>
                  <a:pt x="654147" y="115605"/>
                </a:lnTo>
                <a:lnTo>
                  <a:pt x="654145" y="164580"/>
                </a:lnTo>
                <a:lnTo>
                  <a:pt x="645763" y="207529"/>
                </a:lnTo>
                <a:lnTo>
                  <a:pt x="617283" y="253730"/>
                </a:lnTo>
                <a:lnTo>
                  <a:pt x="587374" y="270764"/>
                </a:lnTo>
                <a:lnTo>
                  <a:pt x="590930" y="282321"/>
                </a:lnTo>
                <a:lnTo>
                  <a:pt x="629427" y="264191"/>
                </a:lnTo>
                <a:lnTo>
                  <a:pt x="657732" y="232918"/>
                </a:lnTo>
                <a:lnTo>
                  <a:pt x="675163" y="191023"/>
                </a:lnTo>
                <a:lnTo>
                  <a:pt x="680973" y="141224"/>
                </a:lnTo>
                <a:lnTo>
                  <a:pt x="679534" y="115605"/>
                </a:lnTo>
                <a:lnTo>
                  <a:pt x="667847" y="69429"/>
                </a:lnTo>
                <a:lnTo>
                  <a:pt x="644723" y="32093"/>
                </a:lnTo>
                <a:lnTo>
                  <a:pt x="611385" y="7379"/>
                </a:lnTo>
                <a:lnTo>
                  <a:pt x="590930" y="0"/>
                </a:lnTo>
                <a:close/>
              </a:path>
              <a:path w="681354" h="282575">
                <a:moveTo>
                  <a:pt x="90042" y="0"/>
                </a:moveTo>
                <a:lnTo>
                  <a:pt x="51593" y="18081"/>
                </a:lnTo>
                <a:lnTo>
                  <a:pt x="23240" y="49403"/>
                </a:lnTo>
                <a:lnTo>
                  <a:pt x="5810" y="91408"/>
                </a:lnTo>
                <a:lnTo>
                  <a:pt x="85" y="139700"/>
                </a:lnTo>
                <a:lnTo>
                  <a:pt x="0" y="141224"/>
                </a:lnTo>
                <a:lnTo>
                  <a:pt x="5794" y="191023"/>
                </a:lnTo>
                <a:lnTo>
                  <a:pt x="23113" y="232918"/>
                </a:lnTo>
                <a:lnTo>
                  <a:pt x="51482" y="264191"/>
                </a:lnTo>
                <a:lnTo>
                  <a:pt x="90042" y="282321"/>
                </a:lnTo>
                <a:lnTo>
                  <a:pt x="93598" y="270764"/>
                </a:lnTo>
                <a:lnTo>
                  <a:pt x="77475" y="263646"/>
                </a:lnTo>
                <a:lnTo>
                  <a:pt x="63579" y="253730"/>
                </a:lnTo>
                <a:lnTo>
                  <a:pt x="35083" y="207529"/>
                </a:lnTo>
                <a:lnTo>
                  <a:pt x="26701" y="164580"/>
                </a:lnTo>
                <a:lnTo>
                  <a:pt x="25653" y="139700"/>
                </a:lnTo>
                <a:lnTo>
                  <a:pt x="26701" y="115605"/>
                </a:lnTo>
                <a:lnTo>
                  <a:pt x="35083" y="73798"/>
                </a:lnTo>
                <a:lnTo>
                  <a:pt x="63674" y="28305"/>
                </a:lnTo>
                <a:lnTo>
                  <a:pt x="93979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769220" y="2451353"/>
            <a:ext cx="2209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1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Message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10179" y="2906776"/>
            <a:ext cx="774065" cy="282575"/>
          </a:xfrm>
          <a:custGeom>
            <a:avLst/>
            <a:gdLst/>
            <a:ahLst/>
            <a:cxnLst/>
            <a:rect l="l" t="t" r="r" b="b"/>
            <a:pathLst>
              <a:path w="774064" h="282575">
                <a:moveTo>
                  <a:pt x="683894" y="0"/>
                </a:moveTo>
                <a:lnTo>
                  <a:pt x="679830" y="11430"/>
                </a:lnTo>
                <a:lnTo>
                  <a:pt x="696194" y="18504"/>
                </a:lnTo>
                <a:lnTo>
                  <a:pt x="710247" y="28305"/>
                </a:lnTo>
                <a:lnTo>
                  <a:pt x="738780" y="73798"/>
                </a:lnTo>
                <a:lnTo>
                  <a:pt x="747073" y="115339"/>
                </a:lnTo>
                <a:lnTo>
                  <a:pt x="747111" y="115605"/>
                </a:lnTo>
                <a:lnTo>
                  <a:pt x="747109" y="164580"/>
                </a:lnTo>
                <a:lnTo>
                  <a:pt x="738727" y="207529"/>
                </a:lnTo>
                <a:lnTo>
                  <a:pt x="710247" y="253730"/>
                </a:lnTo>
                <a:lnTo>
                  <a:pt x="680338" y="270764"/>
                </a:lnTo>
                <a:lnTo>
                  <a:pt x="683894" y="282321"/>
                </a:lnTo>
                <a:lnTo>
                  <a:pt x="722391" y="264191"/>
                </a:lnTo>
                <a:lnTo>
                  <a:pt x="750696" y="232918"/>
                </a:lnTo>
                <a:lnTo>
                  <a:pt x="768127" y="191023"/>
                </a:lnTo>
                <a:lnTo>
                  <a:pt x="773938" y="141224"/>
                </a:lnTo>
                <a:lnTo>
                  <a:pt x="772498" y="115605"/>
                </a:lnTo>
                <a:lnTo>
                  <a:pt x="760811" y="69429"/>
                </a:lnTo>
                <a:lnTo>
                  <a:pt x="737687" y="32093"/>
                </a:lnTo>
                <a:lnTo>
                  <a:pt x="704349" y="7379"/>
                </a:lnTo>
                <a:lnTo>
                  <a:pt x="683894" y="0"/>
                </a:lnTo>
                <a:close/>
              </a:path>
              <a:path w="774064" h="282575">
                <a:moveTo>
                  <a:pt x="90042" y="0"/>
                </a:moveTo>
                <a:lnTo>
                  <a:pt x="51593" y="18081"/>
                </a:lnTo>
                <a:lnTo>
                  <a:pt x="23240" y="49403"/>
                </a:lnTo>
                <a:lnTo>
                  <a:pt x="5810" y="91408"/>
                </a:lnTo>
                <a:lnTo>
                  <a:pt x="85" y="139700"/>
                </a:lnTo>
                <a:lnTo>
                  <a:pt x="0" y="141224"/>
                </a:lnTo>
                <a:lnTo>
                  <a:pt x="5794" y="191023"/>
                </a:lnTo>
                <a:lnTo>
                  <a:pt x="23113" y="232918"/>
                </a:lnTo>
                <a:lnTo>
                  <a:pt x="51482" y="264191"/>
                </a:lnTo>
                <a:lnTo>
                  <a:pt x="90042" y="282321"/>
                </a:lnTo>
                <a:lnTo>
                  <a:pt x="93598" y="270764"/>
                </a:lnTo>
                <a:lnTo>
                  <a:pt x="77475" y="263646"/>
                </a:lnTo>
                <a:lnTo>
                  <a:pt x="63579" y="253730"/>
                </a:lnTo>
                <a:lnTo>
                  <a:pt x="35083" y="207529"/>
                </a:lnTo>
                <a:lnTo>
                  <a:pt x="26701" y="164580"/>
                </a:lnTo>
                <a:lnTo>
                  <a:pt x="25653" y="139700"/>
                </a:lnTo>
                <a:lnTo>
                  <a:pt x="26701" y="115605"/>
                </a:lnTo>
                <a:lnTo>
                  <a:pt x="35083" y="73798"/>
                </a:lnTo>
                <a:lnTo>
                  <a:pt x="63674" y="28305"/>
                </a:lnTo>
                <a:lnTo>
                  <a:pt x="93979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99339" y="2451353"/>
            <a:ext cx="942149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46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946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Equation</a:t>
            </a:r>
            <a:r>
              <a:rPr sz="2400" b="1" spc="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Frequency</a:t>
            </a:r>
            <a:r>
              <a:rPr sz="2400" b="1" spc="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Modulation</a:t>
            </a:r>
            <a:r>
              <a:rPr sz="2400" b="1" spc="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{If</a:t>
            </a:r>
            <a:r>
              <a:rPr sz="2400" b="1" spc="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carrier</a:t>
            </a:r>
            <a:r>
              <a:rPr sz="2400" b="1" spc="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r>
              <a:rPr sz="2400" b="1" spc="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30" dirty="0">
                <a:solidFill>
                  <a:srgbClr val="6F2F9F"/>
                </a:solidFill>
                <a:latin typeface="Cambria Math"/>
                <a:cs typeface="Cambria Math"/>
              </a:rPr>
              <a:t>𝐕</a:t>
            </a:r>
            <a:r>
              <a:rPr sz="2625" spc="-44" baseline="-15873" dirty="0">
                <a:solidFill>
                  <a:srgbClr val="6F2F9F"/>
                </a:solidFill>
                <a:latin typeface="Cambria Math"/>
                <a:cs typeface="Cambria Math"/>
              </a:rPr>
              <a:t>𝐂</a:t>
            </a:r>
            <a:r>
              <a:rPr sz="2625" spc="104" baseline="-15873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𝐜𝐨𝐬</a:t>
            </a:r>
            <a:r>
              <a:rPr sz="2400" spc="36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spc="-25" dirty="0">
                <a:solidFill>
                  <a:srgbClr val="6F2F9F"/>
                </a:solidFill>
                <a:latin typeface="Cambria Math"/>
                <a:cs typeface="Cambria Math"/>
              </a:rPr>
              <a:t>𝛚</a:t>
            </a:r>
            <a:r>
              <a:rPr sz="2625" spc="-37" baseline="-15873" dirty="0">
                <a:solidFill>
                  <a:srgbClr val="6F2F9F"/>
                </a:solidFill>
                <a:latin typeface="Cambria Math"/>
                <a:cs typeface="Cambria Math"/>
              </a:rPr>
              <a:t>𝐜</a:t>
            </a:r>
            <a:r>
              <a:rPr sz="2400" spc="-25" dirty="0">
                <a:solidFill>
                  <a:srgbClr val="6F2F9F"/>
                </a:solidFill>
                <a:latin typeface="Cambria Math"/>
                <a:cs typeface="Cambria Math"/>
              </a:rPr>
              <a:t>𝐭</a:t>
            </a:r>
            <a:endParaRPr sz="2400">
              <a:latin typeface="Cambria Math"/>
              <a:cs typeface="Cambria Math"/>
            </a:endParaRPr>
          </a:p>
          <a:p>
            <a:pPr marL="495300">
              <a:lnSpc>
                <a:spcPct val="100000"/>
              </a:lnSpc>
              <a:tabLst>
                <a:tab pos="331279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40" dirty="0">
                <a:solidFill>
                  <a:srgbClr val="6F2F9F"/>
                </a:solidFill>
                <a:latin typeface="Cambria Math"/>
                <a:cs typeface="Cambria Math"/>
              </a:rPr>
              <a:t>𝐕</a:t>
            </a:r>
            <a:r>
              <a:rPr sz="2625" spc="-60" baseline="-15873" dirty="0">
                <a:solidFill>
                  <a:srgbClr val="6F2F9F"/>
                </a:solidFill>
                <a:latin typeface="Cambria Math"/>
                <a:cs typeface="Cambria Math"/>
              </a:rPr>
              <a:t>𝐦</a:t>
            </a:r>
            <a:r>
              <a:rPr sz="2625" spc="104" baseline="-15873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𝐜𝐨𝐬</a:t>
            </a:r>
            <a:r>
              <a:rPr sz="2400" spc="38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spc="-25" dirty="0">
                <a:solidFill>
                  <a:srgbClr val="6F2F9F"/>
                </a:solidFill>
                <a:latin typeface="Cambria Math"/>
                <a:cs typeface="Cambria Math"/>
              </a:rPr>
              <a:t>𝛚</a:t>
            </a:r>
            <a:r>
              <a:rPr sz="2625" spc="-37" baseline="-15873" dirty="0">
                <a:solidFill>
                  <a:srgbClr val="6F2F9F"/>
                </a:solidFill>
                <a:latin typeface="Cambria Math"/>
                <a:cs typeface="Cambria Math"/>
              </a:rPr>
              <a:t>𝐦</a:t>
            </a:r>
            <a:r>
              <a:rPr sz="2400" spc="-25" dirty="0">
                <a:solidFill>
                  <a:srgbClr val="6F2F9F"/>
                </a:solidFill>
                <a:latin typeface="Cambria Math"/>
                <a:cs typeface="Cambria Math"/>
              </a:rPr>
              <a:t>𝐭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	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}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by: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945759" y="4771008"/>
            <a:ext cx="1580515" cy="236220"/>
          </a:xfrm>
          <a:custGeom>
            <a:avLst/>
            <a:gdLst/>
            <a:ahLst/>
            <a:cxnLst/>
            <a:rect l="l" t="t" r="r" b="b"/>
            <a:pathLst>
              <a:path w="1580515" h="236220">
                <a:moveTo>
                  <a:pt x="78486" y="9525"/>
                </a:moveTo>
                <a:lnTo>
                  <a:pt x="75184" y="0"/>
                </a:lnTo>
                <a:lnTo>
                  <a:pt x="58051" y="6172"/>
                </a:lnTo>
                <a:lnTo>
                  <a:pt x="43065" y="15113"/>
                </a:lnTo>
                <a:lnTo>
                  <a:pt x="10922" y="58000"/>
                </a:lnTo>
                <a:lnTo>
                  <a:pt x="1206" y="96342"/>
                </a:lnTo>
                <a:lnTo>
                  <a:pt x="0" y="117983"/>
                </a:lnTo>
                <a:lnTo>
                  <a:pt x="1079" y="137477"/>
                </a:lnTo>
                <a:lnTo>
                  <a:pt x="10871" y="177927"/>
                </a:lnTo>
                <a:lnTo>
                  <a:pt x="43002" y="220662"/>
                </a:lnTo>
                <a:lnTo>
                  <a:pt x="75184" y="235712"/>
                </a:lnTo>
                <a:lnTo>
                  <a:pt x="78105" y="226187"/>
                </a:lnTo>
                <a:lnTo>
                  <a:pt x="64719" y="220243"/>
                </a:lnTo>
                <a:lnTo>
                  <a:pt x="53149" y="211937"/>
                </a:lnTo>
                <a:lnTo>
                  <a:pt x="29337" y="173291"/>
                </a:lnTo>
                <a:lnTo>
                  <a:pt x="21513" y="117983"/>
                </a:lnTo>
                <a:lnTo>
                  <a:pt x="21463" y="116713"/>
                </a:lnTo>
                <a:lnTo>
                  <a:pt x="22339" y="96570"/>
                </a:lnTo>
                <a:lnTo>
                  <a:pt x="35433" y="46863"/>
                </a:lnTo>
                <a:lnTo>
                  <a:pt x="64935" y="15430"/>
                </a:lnTo>
                <a:lnTo>
                  <a:pt x="78486" y="9525"/>
                </a:lnTo>
                <a:close/>
              </a:path>
              <a:path w="1580515" h="236220">
                <a:moveTo>
                  <a:pt x="907542" y="9525"/>
                </a:moveTo>
                <a:lnTo>
                  <a:pt x="904240" y="0"/>
                </a:lnTo>
                <a:lnTo>
                  <a:pt x="887107" y="6172"/>
                </a:lnTo>
                <a:lnTo>
                  <a:pt x="872121" y="15113"/>
                </a:lnTo>
                <a:lnTo>
                  <a:pt x="839978" y="58000"/>
                </a:lnTo>
                <a:lnTo>
                  <a:pt x="830262" y="96342"/>
                </a:lnTo>
                <a:lnTo>
                  <a:pt x="829056" y="117983"/>
                </a:lnTo>
                <a:lnTo>
                  <a:pt x="830135" y="137477"/>
                </a:lnTo>
                <a:lnTo>
                  <a:pt x="839927" y="177927"/>
                </a:lnTo>
                <a:lnTo>
                  <a:pt x="872058" y="220662"/>
                </a:lnTo>
                <a:lnTo>
                  <a:pt x="904240" y="235712"/>
                </a:lnTo>
                <a:lnTo>
                  <a:pt x="907161" y="226187"/>
                </a:lnTo>
                <a:lnTo>
                  <a:pt x="893775" y="220243"/>
                </a:lnTo>
                <a:lnTo>
                  <a:pt x="882205" y="211937"/>
                </a:lnTo>
                <a:lnTo>
                  <a:pt x="858393" y="173291"/>
                </a:lnTo>
                <a:lnTo>
                  <a:pt x="850569" y="117983"/>
                </a:lnTo>
                <a:lnTo>
                  <a:pt x="850519" y="116713"/>
                </a:lnTo>
                <a:lnTo>
                  <a:pt x="851395" y="96570"/>
                </a:lnTo>
                <a:lnTo>
                  <a:pt x="864489" y="46863"/>
                </a:lnTo>
                <a:lnTo>
                  <a:pt x="893991" y="15430"/>
                </a:lnTo>
                <a:lnTo>
                  <a:pt x="907542" y="9525"/>
                </a:lnTo>
                <a:close/>
              </a:path>
              <a:path w="1580515" h="236220">
                <a:moveTo>
                  <a:pt x="1475105" y="117983"/>
                </a:moveTo>
                <a:lnTo>
                  <a:pt x="1473898" y="96570"/>
                </a:lnTo>
                <a:lnTo>
                  <a:pt x="1473885" y="96342"/>
                </a:lnTo>
                <a:lnTo>
                  <a:pt x="1470240" y="76352"/>
                </a:lnTo>
                <a:lnTo>
                  <a:pt x="1444904" y="26835"/>
                </a:lnTo>
                <a:lnTo>
                  <a:pt x="1399921" y="0"/>
                </a:lnTo>
                <a:lnTo>
                  <a:pt x="1396619" y="9525"/>
                </a:lnTo>
                <a:lnTo>
                  <a:pt x="1410233" y="15430"/>
                </a:lnTo>
                <a:lnTo>
                  <a:pt x="1421955" y="23622"/>
                </a:lnTo>
                <a:lnTo>
                  <a:pt x="1445818" y="61658"/>
                </a:lnTo>
                <a:lnTo>
                  <a:pt x="1452740" y="96342"/>
                </a:lnTo>
                <a:lnTo>
                  <a:pt x="1452778" y="96570"/>
                </a:lnTo>
                <a:lnTo>
                  <a:pt x="1452753" y="137477"/>
                </a:lnTo>
                <a:lnTo>
                  <a:pt x="1439672" y="188341"/>
                </a:lnTo>
                <a:lnTo>
                  <a:pt x="1410449" y="220243"/>
                </a:lnTo>
                <a:lnTo>
                  <a:pt x="1397000" y="226187"/>
                </a:lnTo>
                <a:lnTo>
                  <a:pt x="1399921" y="235712"/>
                </a:lnTo>
                <a:lnTo>
                  <a:pt x="1445006" y="209003"/>
                </a:lnTo>
                <a:lnTo>
                  <a:pt x="1470253" y="159613"/>
                </a:lnTo>
                <a:lnTo>
                  <a:pt x="1473885" y="139636"/>
                </a:lnTo>
                <a:lnTo>
                  <a:pt x="1475105" y="117983"/>
                </a:lnTo>
                <a:close/>
              </a:path>
              <a:path w="1580515" h="236220">
                <a:moveTo>
                  <a:pt x="1580261" y="117983"/>
                </a:moveTo>
                <a:lnTo>
                  <a:pt x="1579054" y="96570"/>
                </a:lnTo>
                <a:lnTo>
                  <a:pt x="1579041" y="96342"/>
                </a:lnTo>
                <a:lnTo>
                  <a:pt x="1575396" y="76352"/>
                </a:lnTo>
                <a:lnTo>
                  <a:pt x="1550060" y="26835"/>
                </a:lnTo>
                <a:lnTo>
                  <a:pt x="1505077" y="0"/>
                </a:lnTo>
                <a:lnTo>
                  <a:pt x="1501775" y="9525"/>
                </a:lnTo>
                <a:lnTo>
                  <a:pt x="1515389" y="15430"/>
                </a:lnTo>
                <a:lnTo>
                  <a:pt x="1527111" y="23622"/>
                </a:lnTo>
                <a:lnTo>
                  <a:pt x="1550974" y="61658"/>
                </a:lnTo>
                <a:lnTo>
                  <a:pt x="1557896" y="96342"/>
                </a:lnTo>
                <a:lnTo>
                  <a:pt x="1557934" y="96570"/>
                </a:lnTo>
                <a:lnTo>
                  <a:pt x="1557909" y="137477"/>
                </a:lnTo>
                <a:lnTo>
                  <a:pt x="1544828" y="188341"/>
                </a:lnTo>
                <a:lnTo>
                  <a:pt x="1515605" y="220243"/>
                </a:lnTo>
                <a:lnTo>
                  <a:pt x="1502156" y="226187"/>
                </a:lnTo>
                <a:lnTo>
                  <a:pt x="1505077" y="235712"/>
                </a:lnTo>
                <a:lnTo>
                  <a:pt x="1550162" y="209003"/>
                </a:lnTo>
                <a:lnTo>
                  <a:pt x="1575409" y="159613"/>
                </a:lnTo>
                <a:lnTo>
                  <a:pt x="1579041" y="139636"/>
                </a:lnTo>
                <a:lnTo>
                  <a:pt x="1580261" y="117983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99339" y="4644897"/>
            <a:ext cx="71913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46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946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Small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values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Modulation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Index,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6F2F9F"/>
                </a:solidFill>
                <a:latin typeface="Cambria Math"/>
                <a:cs typeface="Cambria Math"/>
              </a:rPr>
              <a:t>𝐜𝐨𝐬</a:t>
            </a:r>
            <a:r>
              <a:rPr sz="2000" spc="30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6F2F9F"/>
                </a:solidFill>
                <a:latin typeface="Cambria Math"/>
                <a:cs typeface="Cambria Math"/>
              </a:rPr>
              <a:t>𝐦</a:t>
            </a:r>
            <a:r>
              <a:rPr sz="2175" baseline="-15325" dirty="0">
                <a:solidFill>
                  <a:srgbClr val="6F2F9F"/>
                </a:solidFill>
                <a:latin typeface="Cambria Math"/>
                <a:cs typeface="Cambria Math"/>
              </a:rPr>
              <a:t>𝐟</a:t>
            </a:r>
            <a:r>
              <a:rPr sz="2175" spc="97" baseline="-1532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6F2F9F"/>
                </a:solidFill>
                <a:latin typeface="Cambria Math"/>
                <a:cs typeface="Cambria Math"/>
              </a:rPr>
              <a:t>𝐬𝐢𝐧</a:t>
            </a:r>
            <a:r>
              <a:rPr sz="2000" spc="33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000" spc="-25" dirty="0">
                <a:solidFill>
                  <a:srgbClr val="6F2F9F"/>
                </a:solidFill>
                <a:latin typeface="Cambria Math"/>
                <a:cs typeface="Cambria Math"/>
              </a:rPr>
              <a:t>𝛚</a:t>
            </a:r>
            <a:r>
              <a:rPr sz="2175" spc="-37" baseline="-15325" dirty="0">
                <a:solidFill>
                  <a:srgbClr val="6F2F9F"/>
                </a:solidFill>
                <a:latin typeface="Cambria Math"/>
                <a:cs typeface="Cambria Math"/>
              </a:rPr>
              <a:t>𝐦</a:t>
            </a:r>
            <a:r>
              <a:rPr sz="2000" spc="-25" dirty="0">
                <a:solidFill>
                  <a:srgbClr val="6F2F9F"/>
                </a:solidFill>
                <a:latin typeface="Cambria Math"/>
                <a:cs typeface="Cambria Math"/>
              </a:rPr>
              <a:t>𝐭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539607" y="4771008"/>
            <a:ext cx="1580515" cy="236220"/>
          </a:xfrm>
          <a:custGeom>
            <a:avLst/>
            <a:gdLst/>
            <a:ahLst/>
            <a:cxnLst/>
            <a:rect l="l" t="t" r="r" b="b"/>
            <a:pathLst>
              <a:path w="1580515" h="236220">
                <a:moveTo>
                  <a:pt x="78486" y="9525"/>
                </a:moveTo>
                <a:lnTo>
                  <a:pt x="75184" y="0"/>
                </a:lnTo>
                <a:lnTo>
                  <a:pt x="58051" y="6172"/>
                </a:lnTo>
                <a:lnTo>
                  <a:pt x="43065" y="15113"/>
                </a:lnTo>
                <a:lnTo>
                  <a:pt x="10922" y="58000"/>
                </a:lnTo>
                <a:lnTo>
                  <a:pt x="1206" y="96342"/>
                </a:lnTo>
                <a:lnTo>
                  <a:pt x="0" y="117983"/>
                </a:lnTo>
                <a:lnTo>
                  <a:pt x="1079" y="137477"/>
                </a:lnTo>
                <a:lnTo>
                  <a:pt x="10871" y="177927"/>
                </a:lnTo>
                <a:lnTo>
                  <a:pt x="43002" y="220662"/>
                </a:lnTo>
                <a:lnTo>
                  <a:pt x="75184" y="235712"/>
                </a:lnTo>
                <a:lnTo>
                  <a:pt x="78105" y="226187"/>
                </a:lnTo>
                <a:lnTo>
                  <a:pt x="64719" y="220243"/>
                </a:lnTo>
                <a:lnTo>
                  <a:pt x="53149" y="211937"/>
                </a:lnTo>
                <a:lnTo>
                  <a:pt x="29337" y="173291"/>
                </a:lnTo>
                <a:lnTo>
                  <a:pt x="21513" y="117983"/>
                </a:lnTo>
                <a:lnTo>
                  <a:pt x="21463" y="116713"/>
                </a:lnTo>
                <a:lnTo>
                  <a:pt x="22339" y="96570"/>
                </a:lnTo>
                <a:lnTo>
                  <a:pt x="35433" y="46863"/>
                </a:lnTo>
                <a:lnTo>
                  <a:pt x="64935" y="15430"/>
                </a:lnTo>
                <a:lnTo>
                  <a:pt x="78486" y="9525"/>
                </a:lnTo>
                <a:close/>
              </a:path>
              <a:path w="1580515" h="236220">
                <a:moveTo>
                  <a:pt x="906018" y="9525"/>
                </a:moveTo>
                <a:lnTo>
                  <a:pt x="902716" y="0"/>
                </a:lnTo>
                <a:lnTo>
                  <a:pt x="885583" y="6172"/>
                </a:lnTo>
                <a:lnTo>
                  <a:pt x="870597" y="15113"/>
                </a:lnTo>
                <a:lnTo>
                  <a:pt x="838454" y="58000"/>
                </a:lnTo>
                <a:lnTo>
                  <a:pt x="828738" y="96342"/>
                </a:lnTo>
                <a:lnTo>
                  <a:pt x="827532" y="117983"/>
                </a:lnTo>
                <a:lnTo>
                  <a:pt x="828611" y="137477"/>
                </a:lnTo>
                <a:lnTo>
                  <a:pt x="838403" y="177927"/>
                </a:lnTo>
                <a:lnTo>
                  <a:pt x="870534" y="220662"/>
                </a:lnTo>
                <a:lnTo>
                  <a:pt x="902716" y="235712"/>
                </a:lnTo>
                <a:lnTo>
                  <a:pt x="905637" y="226187"/>
                </a:lnTo>
                <a:lnTo>
                  <a:pt x="892251" y="220243"/>
                </a:lnTo>
                <a:lnTo>
                  <a:pt x="880681" y="211937"/>
                </a:lnTo>
                <a:lnTo>
                  <a:pt x="856869" y="173291"/>
                </a:lnTo>
                <a:lnTo>
                  <a:pt x="849045" y="117983"/>
                </a:lnTo>
                <a:lnTo>
                  <a:pt x="848995" y="116713"/>
                </a:lnTo>
                <a:lnTo>
                  <a:pt x="849871" y="96570"/>
                </a:lnTo>
                <a:lnTo>
                  <a:pt x="862965" y="46863"/>
                </a:lnTo>
                <a:lnTo>
                  <a:pt x="892467" y="15430"/>
                </a:lnTo>
                <a:lnTo>
                  <a:pt x="906018" y="9525"/>
                </a:lnTo>
                <a:close/>
              </a:path>
              <a:path w="1580515" h="236220">
                <a:moveTo>
                  <a:pt x="1473581" y="117983"/>
                </a:moveTo>
                <a:lnTo>
                  <a:pt x="1472374" y="96570"/>
                </a:lnTo>
                <a:lnTo>
                  <a:pt x="1472361" y="96342"/>
                </a:lnTo>
                <a:lnTo>
                  <a:pt x="1468716" y="76352"/>
                </a:lnTo>
                <a:lnTo>
                  <a:pt x="1443380" y="26835"/>
                </a:lnTo>
                <a:lnTo>
                  <a:pt x="1398397" y="0"/>
                </a:lnTo>
                <a:lnTo>
                  <a:pt x="1395095" y="9525"/>
                </a:lnTo>
                <a:lnTo>
                  <a:pt x="1408709" y="15430"/>
                </a:lnTo>
                <a:lnTo>
                  <a:pt x="1420431" y="23622"/>
                </a:lnTo>
                <a:lnTo>
                  <a:pt x="1444294" y="61658"/>
                </a:lnTo>
                <a:lnTo>
                  <a:pt x="1451216" y="96342"/>
                </a:lnTo>
                <a:lnTo>
                  <a:pt x="1451254" y="96570"/>
                </a:lnTo>
                <a:lnTo>
                  <a:pt x="1451229" y="137477"/>
                </a:lnTo>
                <a:lnTo>
                  <a:pt x="1438148" y="188341"/>
                </a:lnTo>
                <a:lnTo>
                  <a:pt x="1408925" y="220243"/>
                </a:lnTo>
                <a:lnTo>
                  <a:pt x="1395476" y="226187"/>
                </a:lnTo>
                <a:lnTo>
                  <a:pt x="1398397" y="235712"/>
                </a:lnTo>
                <a:lnTo>
                  <a:pt x="1443482" y="209003"/>
                </a:lnTo>
                <a:lnTo>
                  <a:pt x="1468729" y="159613"/>
                </a:lnTo>
                <a:lnTo>
                  <a:pt x="1472361" y="139636"/>
                </a:lnTo>
                <a:lnTo>
                  <a:pt x="1473581" y="117983"/>
                </a:lnTo>
                <a:close/>
              </a:path>
              <a:path w="1580515" h="236220">
                <a:moveTo>
                  <a:pt x="1580261" y="117983"/>
                </a:moveTo>
                <a:lnTo>
                  <a:pt x="1579054" y="96570"/>
                </a:lnTo>
                <a:lnTo>
                  <a:pt x="1579041" y="96342"/>
                </a:lnTo>
                <a:lnTo>
                  <a:pt x="1575396" y="76352"/>
                </a:lnTo>
                <a:lnTo>
                  <a:pt x="1550060" y="26835"/>
                </a:lnTo>
                <a:lnTo>
                  <a:pt x="1505077" y="0"/>
                </a:lnTo>
                <a:lnTo>
                  <a:pt x="1501775" y="9525"/>
                </a:lnTo>
                <a:lnTo>
                  <a:pt x="1515389" y="15430"/>
                </a:lnTo>
                <a:lnTo>
                  <a:pt x="1527111" y="23622"/>
                </a:lnTo>
                <a:lnTo>
                  <a:pt x="1550974" y="61658"/>
                </a:lnTo>
                <a:lnTo>
                  <a:pt x="1557896" y="96342"/>
                </a:lnTo>
                <a:lnTo>
                  <a:pt x="1557934" y="96570"/>
                </a:lnTo>
                <a:lnTo>
                  <a:pt x="1557909" y="137477"/>
                </a:lnTo>
                <a:lnTo>
                  <a:pt x="1544828" y="188341"/>
                </a:lnTo>
                <a:lnTo>
                  <a:pt x="1515605" y="220243"/>
                </a:lnTo>
                <a:lnTo>
                  <a:pt x="1502156" y="226187"/>
                </a:lnTo>
                <a:lnTo>
                  <a:pt x="1505077" y="235712"/>
                </a:lnTo>
                <a:lnTo>
                  <a:pt x="1550162" y="209003"/>
                </a:lnTo>
                <a:lnTo>
                  <a:pt x="1575409" y="159613"/>
                </a:lnTo>
                <a:lnTo>
                  <a:pt x="1579041" y="139636"/>
                </a:lnTo>
                <a:lnTo>
                  <a:pt x="1580261" y="117983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582534" y="4695190"/>
            <a:ext cx="23876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6F2F9F"/>
                </a:solidFill>
                <a:latin typeface="Cambria Math"/>
                <a:cs typeface="Cambria Math"/>
              </a:rPr>
              <a:t>=</a:t>
            </a:r>
            <a:r>
              <a:rPr sz="2000" spc="9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6F2F9F"/>
                </a:solidFill>
                <a:latin typeface="Cambria Math"/>
                <a:cs typeface="Cambria Math"/>
              </a:rPr>
              <a:t>𝟏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0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6F2F9F"/>
                </a:solidFill>
                <a:latin typeface="Cambria Math"/>
                <a:cs typeface="Cambria Math"/>
              </a:rPr>
              <a:t>𝐬𝐢𝐧</a:t>
            </a:r>
            <a:r>
              <a:rPr sz="2000" spc="36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6F2F9F"/>
                </a:solidFill>
                <a:latin typeface="Cambria Math"/>
                <a:cs typeface="Cambria Math"/>
              </a:rPr>
              <a:t>𝐦</a:t>
            </a:r>
            <a:r>
              <a:rPr sz="2175" baseline="-15325" dirty="0">
                <a:solidFill>
                  <a:srgbClr val="6F2F9F"/>
                </a:solidFill>
                <a:latin typeface="Cambria Math"/>
                <a:cs typeface="Cambria Math"/>
              </a:rPr>
              <a:t>𝐟</a:t>
            </a:r>
            <a:r>
              <a:rPr sz="2175" spc="127" baseline="-1532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6F2F9F"/>
                </a:solidFill>
                <a:latin typeface="Cambria Math"/>
                <a:cs typeface="Cambria Math"/>
              </a:rPr>
              <a:t>𝐬𝐢𝐧</a:t>
            </a:r>
            <a:r>
              <a:rPr sz="2000" spc="35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000" spc="-25" dirty="0">
                <a:solidFill>
                  <a:srgbClr val="6F2F9F"/>
                </a:solidFill>
                <a:latin typeface="Cambria Math"/>
                <a:cs typeface="Cambria Math"/>
              </a:rPr>
              <a:t>𝛚</a:t>
            </a:r>
            <a:r>
              <a:rPr sz="2175" spc="-37" baseline="-15325" dirty="0">
                <a:solidFill>
                  <a:srgbClr val="6F2F9F"/>
                </a:solidFill>
                <a:latin typeface="Cambria Math"/>
                <a:cs typeface="Cambria Math"/>
              </a:rPr>
              <a:t>𝐦</a:t>
            </a:r>
            <a:r>
              <a:rPr sz="2000" spc="-25" dirty="0">
                <a:solidFill>
                  <a:srgbClr val="6F2F9F"/>
                </a:solidFill>
                <a:latin typeface="Cambria Math"/>
                <a:cs typeface="Cambria Math"/>
              </a:rPr>
              <a:t>𝐭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218798" y="4771009"/>
            <a:ext cx="646430" cy="236220"/>
          </a:xfrm>
          <a:custGeom>
            <a:avLst/>
            <a:gdLst/>
            <a:ahLst/>
            <a:cxnLst/>
            <a:rect l="l" t="t" r="r" b="b"/>
            <a:pathLst>
              <a:path w="646429" h="236220">
                <a:moveTo>
                  <a:pt x="570865" y="0"/>
                </a:moveTo>
                <a:lnTo>
                  <a:pt x="567563" y="9525"/>
                </a:lnTo>
                <a:lnTo>
                  <a:pt x="581183" y="15430"/>
                </a:lnTo>
                <a:lnTo>
                  <a:pt x="592899" y="23622"/>
                </a:lnTo>
                <a:lnTo>
                  <a:pt x="616763" y="61652"/>
                </a:lnTo>
                <a:lnTo>
                  <a:pt x="624586" y="116713"/>
                </a:lnTo>
                <a:lnTo>
                  <a:pt x="623706" y="137477"/>
                </a:lnTo>
                <a:lnTo>
                  <a:pt x="610616" y="188341"/>
                </a:lnTo>
                <a:lnTo>
                  <a:pt x="581398" y="220237"/>
                </a:lnTo>
                <a:lnTo>
                  <a:pt x="567944" y="226187"/>
                </a:lnTo>
                <a:lnTo>
                  <a:pt x="570865" y="235712"/>
                </a:lnTo>
                <a:lnTo>
                  <a:pt x="615959" y="208994"/>
                </a:lnTo>
                <a:lnTo>
                  <a:pt x="641207" y="159607"/>
                </a:lnTo>
                <a:lnTo>
                  <a:pt x="646049" y="117983"/>
                </a:lnTo>
                <a:lnTo>
                  <a:pt x="644847" y="96565"/>
                </a:lnTo>
                <a:lnTo>
                  <a:pt x="644834" y="96335"/>
                </a:lnTo>
                <a:lnTo>
                  <a:pt x="635119" y="57993"/>
                </a:lnTo>
                <a:lnTo>
                  <a:pt x="602980" y="15113"/>
                </a:lnTo>
                <a:lnTo>
                  <a:pt x="587988" y="6163"/>
                </a:lnTo>
                <a:lnTo>
                  <a:pt x="570865" y="0"/>
                </a:lnTo>
                <a:close/>
              </a:path>
              <a:path w="646429" h="236220">
                <a:moveTo>
                  <a:pt x="75184" y="0"/>
                </a:moveTo>
                <a:lnTo>
                  <a:pt x="30196" y="26824"/>
                </a:lnTo>
                <a:lnTo>
                  <a:pt x="4857" y="76342"/>
                </a:lnTo>
                <a:lnTo>
                  <a:pt x="71" y="116713"/>
                </a:lnTo>
                <a:lnTo>
                  <a:pt x="0" y="117983"/>
                </a:lnTo>
                <a:lnTo>
                  <a:pt x="4841" y="159607"/>
                </a:lnTo>
                <a:lnTo>
                  <a:pt x="30089" y="208994"/>
                </a:lnTo>
                <a:lnTo>
                  <a:pt x="75184" y="235712"/>
                </a:lnTo>
                <a:lnTo>
                  <a:pt x="78105" y="226187"/>
                </a:lnTo>
                <a:lnTo>
                  <a:pt x="64722" y="220237"/>
                </a:lnTo>
                <a:lnTo>
                  <a:pt x="53149" y="211931"/>
                </a:lnTo>
                <a:lnTo>
                  <a:pt x="29338" y="173291"/>
                </a:lnTo>
                <a:lnTo>
                  <a:pt x="21516" y="117983"/>
                </a:lnTo>
                <a:lnTo>
                  <a:pt x="21463" y="116713"/>
                </a:lnTo>
                <a:lnTo>
                  <a:pt x="24971" y="78216"/>
                </a:lnTo>
                <a:lnTo>
                  <a:pt x="43410" y="34099"/>
                </a:lnTo>
                <a:lnTo>
                  <a:pt x="78486" y="9525"/>
                </a:lnTo>
                <a:lnTo>
                  <a:pt x="75184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175113" y="4695190"/>
            <a:ext cx="164718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6F2F9F"/>
                </a:solidFill>
                <a:latin typeface="Cambria Math"/>
                <a:cs typeface="Cambria Math"/>
              </a:rPr>
              <a:t>=</a:t>
            </a:r>
            <a:r>
              <a:rPr sz="2000" spc="10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6F2F9F"/>
                </a:solidFill>
                <a:latin typeface="Cambria Math"/>
                <a:cs typeface="Cambria Math"/>
              </a:rPr>
              <a:t>𝐦</a:t>
            </a:r>
            <a:r>
              <a:rPr sz="2175" baseline="-15325" dirty="0">
                <a:solidFill>
                  <a:srgbClr val="6F2F9F"/>
                </a:solidFill>
                <a:latin typeface="Cambria Math"/>
                <a:cs typeface="Cambria Math"/>
              </a:rPr>
              <a:t>𝐟</a:t>
            </a:r>
            <a:r>
              <a:rPr sz="2175" spc="120" baseline="-1532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6F2F9F"/>
                </a:solidFill>
                <a:latin typeface="Cambria Math"/>
                <a:cs typeface="Cambria Math"/>
              </a:rPr>
              <a:t>𝐬𝐢𝐧</a:t>
            </a:r>
            <a:r>
              <a:rPr sz="2000" spc="36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000" spc="-25" dirty="0">
                <a:solidFill>
                  <a:srgbClr val="6F2F9F"/>
                </a:solidFill>
                <a:latin typeface="Cambria Math"/>
                <a:cs typeface="Cambria Math"/>
              </a:rPr>
              <a:t>𝛚</a:t>
            </a:r>
            <a:r>
              <a:rPr sz="2175" spc="-37" baseline="-15325" dirty="0">
                <a:solidFill>
                  <a:srgbClr val="6F2F9F"/>
                </a:solidFill>
                <a:latin typeface="Cambria Math"/>
                <a:cs typeface="Cambria Math"/>
              </a:rPr>
              <a:t>𝐦</a:t>
            </a:r>
            <a:r>
              <a:rPr sz="2000" spc="-25" dirty="0">
                <a:solidFill>
                  <a:srgbClr val="6F2F9F"/>
                </a:solidFill>
                <a:latin typeface="Cambria Math"/>
                <a:cs typeface="Cambria Math"/>
              </a:rPr>
              <a:t>𝐭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Basics</a:t>
            </a:r>
            <a:r>
              <a:rPr sz="3200" u="sng" spc="-4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of</a:t>
            </a:r>
            <a:r>
              <a:rPr sz="3200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spc="-2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NBFM</a:t>
            </a:r>
            <a:endParaRPr sz="3200"/>
          </a:p>
        </p:txBody>
      </p:sp>
      <p:sp>
        <p:nvSpPr>
          <p:cNvPr id="14" name="object 14"/>
          <p:cNvSpPr/>
          <p:nvPr/>
        </p:nvSpPr>
        <p:spPr>
          <a:xfrm>
            <a:off x="6281801" y="1423797"/>
            <a:ext cx="3458210" cy="578485"/>
          </a:xfrm>
          <a:custGeom>
            <a:avLst/>
            <a:gdLst/>
            <a:ahLst/>
            <a:cxnLst/>
            <a:rect l="l" t="t" r="r" b="b"/>
            <a:pathLst>
              <a:path w="3458209" h="578485">
                <a:moveTo>
                  <a:pt x="3362452" y="0"/>
                </a:moveTo>
                <a:lnTo>
                  <a:pt x="3362452" y="9906"/>
                </a:lnTo>
                <a:lnTo>
                  <a:pt x="3370072" y="11176"/>
                </a:lnTo>
                <a:lnTo>
                  <a:pt x="3377056" y="14350"/>
                </a:lnTo>
                <a:lnTo>
                  <a:pt x="3402405" y="46257"/>
                </a:lnTo>
                <a:lnTo>
                  <a:pt x="3412013" y="91074"/>
                </a:lnTo>
                <a:lnTo>
                  <a:pt x="3412871" y="113919"/>
                </a:lnTo>
                <a:lnTo>
                  <a:pt x="3412578" y="124332"/>
                </a:lnTo>
                <a:lnTo>
                  <a:pt x="3408299" y="169164"/>
                </a:lnTo>
                <a:lnTo>
                  <a:pt x="3406298" y="185973"/>
                </a:lnTo>
                <a:lnTo>
                  <a:pt x="3404869" y="199628"/>
                </a:lnTo>
                <a:lnTo>
                  <a:pt x="3404012" y="210115"/>
                </a:lnTo>
                <a:lnTo>
                  <a:pt x="3403727" y="217424"/>
                </a:lnTo>
                <a:lnTo>
                  <a:pt x="3404393" y="231497"/>
                </a:lnTo>
                <a:lnTo>
                  <a:pt x="3419653" y="273692"/>
                </a:lnTo>
                <a:lnTo>
                  <a:pt x="3435477" y="287909"/>
                </a:lnTo>
                <a:lnTo>
                  <a:pt x="3435477" y="290449"/>
                </a:lnTo>
                <a:lnTo>
                  <a:pt x="3409727" y="322585"/>
                </a:lnTo>
                <a:lnTo>
                  <a:pt x="3403727" y="360680"/>
                </a:lnTo>
                <a:lnTo>
                  <a:pt x="3404012" y="366299"/>
                </a:lnTo>
                <a:lnTo>
                  <a:pt x="3404869" y="376491"/>
                </a:lnTo>
                <a:lnTo>
                  <a:pt x="3406298" y="391255"/>
                </a:lnTo>
                <a:lnTo>
                  <a:pt x="3410299" y="430067"/>
                </a:lnTo>
                <a:lnTo>
                  <a:pt x="3411728" y="445436"/>
                </a:lnTo>
                <a:lnTo>
                  <a:pt x="3412585" y="456686"/>
                </a:lnTo>
                <a:lnTo>
                  <a:pt x="3412871" y="463804"/>
                </a:lnTo>
                <a:lnTo>
                  <a:pt x="3412678" y="475730"/>
                </a:lnTo>
                <a:lnTo>
                  <a:pt x="3412198" y="484903"/>
                </a:lnTo>
                <a:lnTo>
                  <a:pt x="3412093" y="486918"/>
                </a:lnTo>
                <a:lnTo>
                  <a:pt x="3402855" y="531826"/>
                </a:lnTo>
                <a:lnTo>
                  <a:pt x="3377311" y="564134"/>
                </a:lnTo>
                <a:lnTo>
                  <a:pt x="3362452" y="568452"/>
                </a:lnTo>
                <a:lnTo>
                  <a:pt x="3362452" y="578358"/>
                </a:lnTo>
                <a:lnTo>
                  <a:pt x="3404528" y="558301"/>
                </a:lnTo>
                <a:lnTo>
                  <a:pt x="3429428" y="507444"/>
                </a:lnTo>
                <a:lnTo>
                  <a:pt x="3434206" y="459613"/>
                </a:lnTo>
                <a:lnTo>
                  <a:pt x="3433897" y="448373"/>
                </a:lnTo>
                <a:lnTo>
                  <a:pt x="3432968" y="434657"/>
                </a:lnTo>
                <a:lnTo>
                  <a:pt x="3431420" y="418465"/>
                </a:lnTo>
                <a:lnTo>
                  <a:pt x="3429254" y="399796"/>
                </a:lnTo>
                <a:lnTo>
                  <a:pt x="3427087" y="381744"/>
                </a:lnTo>
                <a:lnTo>
                  <a:pt x="3425539" y="367395"/>
                </a:lnTo>
                <a:lnTo>
                  <a:pt x="3424610" y="356737"/>
                </a:lnTo>
                <a:lnTo>
                  <a:pt x="3424301" y="349758"/>
                </a:lnTo>
                <a:lnTo>
                  <a:pt x="3424848" y="337353"/>
                </a:lnTo>
                <a:lnTo>
                  <a:pt x="3443636" y="298338"/>
                </a:lnTo>
                <a:lnTo>
                  <a:pt x="3457829" y="294513"/>
                </a:lnTo>
                <a:lnTo>
                  <a:pt x="3457829" y="283845"/>
                </a:lnTo>
                <a:lnTo>
                  <a:pt x="3426491" y="252253"/>
                </a:lnTo>
                <a:lnTo>
                  <a:pt x="3424301" y="228346"/>
                </a:lnTo>
                <a:lnTo>
                  <a:pt x="3424610" y="220773"/>
                </a:lnTo>
                <a:lnTo>
                  <a:pt x="3425539" y="210439"/>
                </a:lnTo>
                <a:lnTo>
                  <a:pt x="3427087" y="197342"/>
                </a:lnTo>
                <a:lnTo>
                  <a:pt x="3429254" y="181483"/>
                </a:lnTo>
                <a:lnTo>
                  <a:pt x="3431420" y="164909"/>
                </a:lnTo>
                <a:lnTo>
                  <a:pt x="3432968" y="149860"/>
                </a:lnTo>
                <a:lnTo>
                  <a:pt x="3433860" y="136874"/>
                </a:lnTo>
                <a:lnTo>
                  <a:pt x="3433897" y="136334"/>
                </a:lnTo>
                <a:lnTo>
                  <a:pt x="3433040" y="97520"/>
                </a:lnTo>
                <a:lnTo>
                  <a:pt x="3423832" y="53768"/>
                </a:lnTo>
                <a:lnTo>
                  <a:pt x="3393013" y="11176"/>
                </a:lnTo>
                <a:lnTo>
                  <a:pt x="3378711" y="3883"/>
                </a:lnTo>
                <a:lnTo>
                  <a:pt x="3362452" y="0"/>
                </a:lnTo>
                <a:close/>
              </a:path>
              <a:path w="3458209" h="578485">
                <a:moveTo>
                  <a:pt x="95376" y="0"/>
                </a:moveTo>
                <a:lnTo>
                  <a:pt x="52550" y="21842"/>
                </a:lnTo>
                <a:lnTo>
                  <a:pt x="28162" y="73850"/>
                </a:lnTo>
                <a:lnTo>
                  <a:pt x="23494" y="124332"/>
                </a:lnTo>
                <a:lnTo>
                  <a:pt x="23804" y="136334"/>
                </a:lnTo>
                <a:lnTo>
                  <a:pt x="24733" y="149860"/>
                </a:lnTo>
                <a:lnTo>
                  <a:pt x="26281" y="164909"/>
                </a:lnTo>
                <a:lnTo>
                  <a:pt x="28448" y="181483"/>
                </a:lnTo>
                <a:lnTo>
                  <a:pt x="30614" y="197342"/>
                </a:lnTo>
                <a:lnTo>
                  <a:pt x="32124" y="210115"/>
                </a:lnTo>
                <a:lnTo>
                  <a:pt x="33091" y="220773"/>
                </a:lnTo>
                <a:lnTo>
                  <a:pt x="33400" y="228346"/>
                </a:lnTo>
                <a:lnTo>
                  <a:pt x="32853" y="241133"/>
                </a:lnTo>
                <a:lnTo>
                  <a:pt x="14081" y="280050"/>
                </a:lnTo>
                <a:lnTo>
                  <a:pt x="0" y="283845"/>
                </a:lnTo>
                <a:lnTo>
                  <a:pt x="0" y="294513"/>
                </a:lnTo>
                <a:lnTo>
                  <a:pt x="31210" y="326437"/>
                </a:lnTo>
                <a:lnTo>
                  <a:pt x="33400" y="349758"/>
                </a:lnTo>
                <a:lnTo>
                  <a:pt x="33091" y="356737"/>
                </a:lnTo>
                <a:lnTo>
                  <a:pt x="32258" y="366299"/>
                </a:lnTo>
                <a:lnTo>
                  <a:pt x="32162" y="367395"/>
                </a:lnTo>
                <a:lnTo>
                  <a:pt x="30614" y="381744"/>
                </a:lnTo>
                <a:lnTo>
                  <a:pt x="28448" y="399796"/>
                </a:lnTo>
                <a:lnTo>
                  <a:pt x="26281" y="418465"/>
                </a:lnTo>
                <a:lnTo>
                  <a:pt x="24733" y="434657"/>
                </a:lnTo>
                <a:lnTo>
                  <a:pt x="23804" y="448373"/>
                </a:lnTo>
                <a:lnTo>
                  <a:pt x="23575" y="456686"/>
                </a:lnTo>
                <a:lnTo>
                  <a:pt x="23494" y="459613"/>
                </a:lnTo>
                <a:lnTo>
                  <a:pt x="24705" y="484903"/>
                </a:lnTo>
                <a:lnTo>
                  <a:pt x="34317" y="527246"/>
                </a:lnTo>
                <a:lnTo>
                  <a:pt x="65452" y="568626"/>
                </a:lnTo>
                <a:lnTo>
                  <a:pt x="95376" y="578358"/>
                </a:lnTo>
                <a:lnTo>
                  <a:pt x="95376" y="568452"/>
                </a:lnTo>
                <a:lnTo>
                  <a:pt x="87502" y="567182"/>
                </a:lnTo>
                <a:lnTo>
                  <a:pt x="80517" y="564134"/>
                </a:lnTo>
                <a:lnTo>
                  <a:pt x="55080" y="531826"/>
                </a:lnTo>
                <a:lnTo>
                  <a:pt x="48228" y="507444"/>
                </a:lnTo>
                <a:lnTo>
                  <a:pt x="48132" y="506984"/>
                </a:lnTo>
                <a:lnTo>
                  <a:pt x="46706" y="497343"/>
                </a:lnTo>
                <a:lnTo>
                  <a:pt x="45672" y="486918"/>
                </a:lnTo>
                <a:lnTo>
                  <a:pt x="45043" y="475730"/>
                </a:lnTo>
                <a:lnTo>
                  <a:pt x="44830" y="463804"/>
                </a:lnTo>
                <a:lnTo>
                  <a:pt x="44999" y="459613"/>
                </a:lnTo>
                <a:lnTo>
                  <a:pt x="45116" y="456686"/>
                </a:lnTo>
                <a:lnTo>
                  <a:pt x="45973" y="445436"/>
                </a:lnTo>
                <a:lnTo>
                  <a:pt x="47402" y="430067"/>
                </a:lnTo>
                <a:lnTo>
                  <a:pt x="51403" y="391255"/>
                </a:lnTo>
                <a:lnTo>
                  <a:pt x="52832" y="376491"/>
                </a:lnTo>
                <a:lnTo>
                  <a:pt x="53597" y="367395"/>
                </a:lnTo>
                <a:lnTo>
                  <a:pt x="53689" y="366299"/>
                </a:lnTo>
                <a:lnTo>
                  <a:pt x="53975" y="360680"/>
                </a:lnTo>
                <a:lnTo>
                  <a:pt x="48027" y="322585"/>
                </a:lnTo>
                <a:lnTo>
                  <a:pt x="22351" y="290449"/>
                </a:lnTo>
                <a:lnTo>
                  <a:pt x="22351" y="287909"/>
                </a:lnTo>
                <a:lnTo>
                  <a:pt x="48027" y="255500"/>
                </a:lnTo>
                <a:lnTo>
                  <a:pt x="53975" y="217424"/>
                </a:lnTo>
                <a:lnTo>
                  <a:pt x="53701" y="210439"/>
                </a:lnTo>
                <a:lnTo>
                  <a:pt x="53689" y="210115"/>
                </a:lnTo>
                <a:lnTo>
                  <a:pt x="52832" y="199628"/>
                </a:lnTo>
                <a:lnTo>
                  <a:pt x="51403" y="185973"/>
                </a:lnTo>
                <a:lnTo>
                  <a:pt x="49402" y="169164"/>
                </a:lnTo>
                <a:lnTo>
                  <a:pt x="47402" y="151852"/>
                </a:lnTo>
                <a:lnTo>
                  <a:pt x="45973" y="136874"/>
                </a:lnTo>
                <a:lnTo>
                  <a:pt x="45123" y="124332"/>
                </a:lnTo>
                <a:lnTo>
                  <a:pt x="44830" y="113919"/>
                </a:lnTo>
                <a:lnTo>
                  <a:pt x="45047" y="102157"/>
                </a:lnTo>
                <a:lnTo>
                  <a:pt x="50385" y="62017"/>
                </a:lnTo>
                <a:lnTo>
                  <a:pt x="69994" y="23227"/>
                </a:lnTo>
                <a:lnTo>
                  <a:pt x="95376" y="9906"/>
                </a:lnTo>
                <a:lnTo>
                  <a:pt x="9537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889238" y="1645666"/>
            <a:ext cx="9588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solidFill>
                  <a:srgbClr val="FF0000"/>
                </a:solidFill>
                <a:latin typeface="Cambria Math"/>
                <a:cs typeface="Cambria Math"/>
              </a:rPr>
              <a:t>𝐟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277350" y="1705101"/>
            <a:ext cx="271780" cy="15240"/>
          </a:xfrm>
          <a:custGeom>
            <a:avLst/>
            <a:gdLst/>
            <a:ahLst/>
            <a:cxnLst/>
            <a:rect l="l" t="t" r="r" b="b"/>
            <a:pathLst>
              <a:path w="271779" h="15239">
                <a:moveTo>
                  <a:pt x="271272" y="0"/>
                </a:moveTo>
                <a:lnTo>
                  <a:pt x="0" y="0"/>
                </a:lnTo>
                <a:lnTo>
                  <a:pt x="0" y="15239"/>
                </a:lnTo>
                <a:lnTo>
                  <a:pt x="271272" y="15239"/>
                </a:lnTo>
                <a:lnTo>
                  <a:pt x="2712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372859" y="1363726"/>
            <a:ext cx="3186430" cy="473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1764"/>
              </a:lnSpc>
              <a:spcBef>
                <a:spcPts val="100"/>
              </a:spcBef>
            </a:pPr>
            <a:r>
              <a:rPr sz="1800" spc="-25" dirty="0">
                <a:solidFill>
                  <a:srgbClr val="FF0000"/>
                </a:solidFill>
                <a:latin typeface="Cambria Math"/>
                <a:cs typeface="Cambria Math"/>
              </a:rPr>
              <a:t>∆𝐅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ts val="1764"/>
              </a:lnSpc>
              <a:tabLst>
                <a:tab pos="2670175" algn="l"/>
              </a:tabLst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Here,</a:t>
            </a: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Modulation</a:t>
            </a: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Index</a:t>
            </a:r>
            <a:r>
              <a:rPr sz="18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ambria Math"/>
                <a:cs typeface="Cambria Math"/>
              </a:rPr>
              <a:t>𝐦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1800" spc="-5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240266" y="1689861"/>
            <a:ext cx="339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0000"/>
                </a:solidFill>
                <a:latin typeface="Cambria Math"/>
                <a:cs typeface="Cambria Math"/>
              </a:rPr>
              <a:t>𝐅</a:t>
            </a:r>
            <a:r>
              <a:rPr sz="1950" spc="-37" baseline="-14957" dirty="0">
                <a:solidFill>
                  <a:srgbClr val="FF0000"/>
                </a:solidFill>
                <a:latin typeface="Cambria Math"/>
                <a:cs typeface="Cambria Math"/>
              </a:rPr>
              <a:t>𝐦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74142" y="1894458"/>
            <a:ext cx="604901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Derivation</a:t>
            </a:r>
            <a:r>
              <a:rPr sz="3200" b="1" u="sng" spc="-9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of</a:t>
            </a:r>
            <a:r>
              <a:rPr sz="3200" b="1" u="sng" spc="-6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the</a:t>
            </a:r>
            <a:r>
              <a:rPr sz="3200" b="1" u="sng" spc="-7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Equation</a:t>
            </a:r>
            <a:r>
              <a:rPr sz="3200" b="1" u="sng" spc="-9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of</a:t>
            </a:r>
            <a:r>
              <a:rPr sz="3200" b="1" u="sng" spc="-6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spc="-2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NBFM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2917" y="3421507"/>
            <a:ext cx="236092" cy="211709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726440" y="3351403"/>
            <a:ext cx="1995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094740" algn="l"/>
              </a:tabLst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4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𝐘</a:t>
            </a:r>
            <a:r>
              <a:rPr sz="1950" baseline="-14957" dirty="0">
                <a:latin typeface="Cambria Math"/>
                <a:cs typeface="Cambria Math"/>
              </a:rPr>
              <a:t>𝐅𝐌</a:t>
            </a:r>
            <a:r>
              <a:rPr sz="1950" spc="652" baseline="-14957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1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𝐕</a:t>
            </a:r>
            <a:r>
              <a:rPr sz="1800" spc="90" dirty="0">
                <a:latin typeface="Cambria Math"/>
                <a:cs typeface="Cambria Math"/>
              </a:rPr>
              <a:t>  </a:t>
            </a:r>
            <a:r>
              <a:rPr sz="1800" spc="-25" dirty="0">
                <a:latin typeface="Cambria Math"/>
                <a:cs typeface="Cambria Math"/>
              </a:rPr>
              <a:t>𝐜𝐨𝐬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739140" y="3235070"/>
            <a:ext cx="2360295" cy="582930"/>
          </a:xfrm>
          <a:custGeom>
            <a:avLst/>
            <a:gdLst/>
            <a:ahLst/>
            <a:cxnLst/>
            <a:rect l="l" t="t" r="r" b="b"/>
            <a:pathLst>
              <a:path w="2360295" h="582929">
                <a:moveTo>
                  <a:pt x="2259960" y="0"/>
                </a:moveTo>
                <a:lnTo>
                  <a:pt x="2254753" y="8382"/>
                </a:lnTo>
                <a:lnTo>
                  <a:pt x="2273350" y="30668"/>
                </a:lnTo>
                <a:lnTo>
                  <a:pt x="2289710" y="57324"/>
                </a:lnTo>
                <a:lnTo>
                  <a:pt x="2315713" y="123698"/>
                </a:lnTo>
                <a:lnTo>
                  <a:pt x="2325141" y="162302"/>
                </a:lnTo>
                <a:lnTo>
                  <a:pt x="2331890" y="203072"/>
                </a:lnTo>
                <a:lnTo>
                  <a:pt x="2335948" y="246034"/>
                </a:lnTo>
                <a:lnTo>
                  <a:pt x="2337303" y="291211"/>
                </a:lnTo>
                <a:lnTo>
                  <a:pt x="2335950" y="335553"/>
                </a:lnTo>
                <a:lnTo>
                  <a:pt x="2331905" y="378110"/>
                </a:lnTo>
                <a:lnTo>
                  <a:pt x="2325194" y="418905"/>
                </a:lnTo>
                <a:lnTo>
                  <a:pt x="2315840" y="457962"/>
                </a:lnTo>
                <a:lnTo>
                  <a:pt x="2289821" y="525319"/>
                </a:lnTo>
                <a:lnTo>
                  <a:pt x="2254753" y="574675"/>
                </a:lnTo>
                <a:lnTo>
                  <a:pt x="2259960" y="582930"/>
                </a:lnTo>
                <a:lnTo>
                  <a:pt x="2301124" y="533812"/>
                </a:lnTo>
                <a:lnTo>
                  <a:pt x="2332858" y="464693"/>
                </a:lnTo>
                <a:lnTo>
                  <a:pt x="2344619" y="424189"/>
                </a:lnTo>
                <a:lnTo>
                  <a:pt x="2353035" y="381746"/>
                </a:lnTo>
                <a:lnTo>
                  <a:pt x="2358093" y="337373"/>
                </a:lnTo>
                <a:lnTo>
                  <a:pt x="2359777" y="291211"/>
                </a:lnTo>
                <a:lnTo>
                  <a:pt x="2358159" y="246034"/>
                </a:lnTo>
                <a:lnTo>
                  <a:pt x="2353035" y="199628"/>
                </a:lnTo>
                <a:lnTo>
                  <a:pt x="2344619" y="157299"/>
                </a:lnTo>
                <a:lnTo>
                  <a:pt x="2332858" y="117221"/>
                </a:lnTo>
                <a:lnTo>
                  <a:pt x="2318164" y="80670"/>
                </a:lnTo>
                <a:lnTo>
                  <a:pt x="2281727" y="22048"/>
                </a:lnTo>
                <a:lnTo>
                  <a:pt x="2259960" y="0"/>
                </a:lnTo>
                <a:close/>
              </a:path>
              <a:path w="2360295" h="582929">
                <a:moveTo>
                  <a:pt x="99690" y="0"/>
                </a:moveTo>
                <a:lnTo>
                  <a:pt x="58590" y="48942"/>
                </a:lnTo>
                <a:lnTo>
                  <a:pt x="26919" y="117221"/>
                </a:lnTo>
                <a:lnTo>
                  <a:pt x="15104" y="157299"/>
                </a:lnTo>
                <a:lnTo>
                  <a:pt x="6694" y="199628"/>
                </a:lnTo>
                <a:lnTo>
                  <a:pt x="1666" y="244219"/>
                </a:lnTo>
                <a:lnTo>
                  <a:pt x="0" y="291211"/>
                </a:lnTo>
                <a:lnTo>
                  <a:pt x="1600" y="335553"/>
                </a:lnTo>
                <a:lnTo>
                  <a:pt x="6694" y="381746"/>
                </a:lnTo>
                <a:lnTo>
                  <a:pt x="15104" y="424189"/>
                </a:lnTo>
                <a:lnTo>
                  <a:pt x="26919" y="464693"/>
                </a:lnTo>
                <a:lnTo>
                  <a:pt x="41558" y="501741"/>
                </a:lnTo>
                <a:lnTo>
                  <a:pt x="77979" y="560883"/>
                </a:lnTo>
                <a:lnTo>
                  <a:pt x="99690" y="582930"/>
                </a:lnTo>
                <a:lnTo>
                  <a:pt x="105024" y="574675"/>
                </a:lnTo>
                <a:lnTo>
                  <a:pt x="86335" y="552241"/>
                </a:lnTo>
                <a:lnTo>
                  <a:pt x="69908" y="525319"/>
                </a:lnTo>
                <a:lnTo>
                  <a:pt x="43937" y="457962"/>
                </a:lnTo>
                <a:lnTo>
                  <a:pt x="34529" y="418905"/>
                </a:lnTo>
                <a:lnTo>
                  <a:pt x="27824" y="378110"/>
                </a:lnTo>
                <a:lnTo>
                  <a:pt x="23809" y="335553"/>
                </a:lnTo>
                <a:lnTo>
                  <a:pt x="22474" y="291211"/>
                </a:lnTo>
                <a:lnTo>
                  <a:pt x="23827" y="246034"/>
                </a:lnTo>
                <a:lnTo>
                  <a:pt x="27871" y="203073"/>
                </a:lnTo>
                <a:lnTo>
                  <a:pt x="34583" y="162302"/>
                </a:lnTo>
                <a:lnTo>
                  <a:pt x="43937" y="123698"/>
                </a:lnTo>
                <a:lnTo>
                  <a:pt x="69956" y="57324"/>
                </a:lnTo>
                <a:lnTo>
                  <a:pt x="105024" y="8382"/>
                </a:lnTo>
                <a:lnTo>
                  <a:pt x="996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172970" y="3459607"/>
            <a:ext cx="956944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862965" algn="l"/>
              </a:tabLst>
            </a:pPr>
            <a:r>
              <a:rPr sz="1300" spc="-50" dirty="0">
                <a:latin typeface="Cambria Math"/>
                <a:cs typeface="Cambria Math"/>
              </a:rPr>
              <a:t>𝐂</a:t>
            </a:r>
            <a:r>
              <a:rPr sz="1300" dirty="0">
                <a:latin typeface="Cambria Math"/>
                <a:cs typeface="Cambria Math"/>
              </a:rPr>
              <a:t>	</a:t>
            </a:r>
            <a:r>
              <a:rPr sz="1300" spc="-50" dirty="0">
                <a:latin typeface="Cambria Math"/>
                <a:cs typeface="Cambria Math"/>
              </a:rPr>
              <a:t>𝐜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38957" y="3351403"/>
            <a:ext cx="609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𝛚</a:t>
            </a:r>
            <a:r>
              <a:rPr sz="1800" spc="3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𝐭 </a:t>
            </a:r>
            <a:r>
              <a:rPr sz="1800" spc="-50" dirty="0">
                <a:latin typeface="Cambria Math"/>
                <a:cs typeface="Cambria Math"/>
              </a:rPr>
              <a:t>+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486911" y="3518789"/>
            <a:ext cx="515620" cy="15240"/>
          </a:xfrm>
          <a:custGeom>
            <a:avLst/>
            <a:gdLst/>
            <a:ahLst/>
            <a:cxnLst/>
            <a:rect l="l" t="t" r="r" b="b"/>
            <a:pathLst>
              <a:path w="515620" h="15239">
                <a:moveTo>
                  <a:pt x="515112" y="0"/>
                </a:moveTo>
                <a:lnTo>
                  <a:pt x="0" y="0"/>
                </a:lnTo>
                <a:lnTo>
                  <a:pt x="0" y="15239"/>
                </a:lnTo>
                <a:lnTo>
                  <a:pt x="515112" y="15239"/>
                </a:lnTo>
                <a:lnTo>
                  <a:pt x="5151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474465" y="3177666"/>
            <a:ext cx="3898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𝐤</a:t>
            </a:r>
            <a:r>
              <a:rPr sz="1800" spc="29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𝐕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622294" y="3285870"/>
            <a:ext cx="38671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21615" algn="l"/>
              </a:tabLst>
            </a:pPr>
            <a:r>
              <a:rPr sz="1300" spc="-50" dirty="0">
                <a:latin typeface="Cambria Math"/>
                <a:cs typeface="Cambria Math"/>
              </a:rPr>
              <a:t>𝐟</a:t>
            </a:r>
            <a:r>
              <a:rPr sz="1300" dirty="0">
                <a:latin typeface="Cambria Math"/>
                <a:cs typeface="Cambria Math"/>
              </a:rPr>
              <a:t>	</a:t>
            </a:r>
            <a:r>
              <a:rPr sz="1300" spc="-50" dirty="0">
                <a:latin typeface="Cambria Math"/>
                <a:cs typeface="Cambria Math"/>
              </a:rPr>
              <a:t>𝐦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570985" y="3503498"/>
            <a:ext cx="3397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𝐅</a:t>
            </a:r>
            <a:r>
              <a:rPr sz="1950" spc="-37" baseline="-14957" dirty="0">
                <a:latin typeface="Cambria Math"/>
                <a:cs typeface="Cambria Math"/>
              </a:rPr>
              <a:t>𝐦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384802" y="3421507"/>
            <a:ext cx="582295" cy="212090"/>
          </a:xfrm>
          <a:custGeom>
            <a:avLst/>
            <a:gdLst/>
            <a:ahLst/>
            <a:cxnLst/>
            <a:rect l="l" t="t" r="r" b="b"/>
            <a:pathLst>
              <a:path w="582295" h="212089">
                <a:moveTo>
                  <a:pt x="514476" y="0"/>
                </a:moveTo>
                <a:lnTo>
                  <a:pt x="511428" y="8509"/>
                </a:lnTo>
                <a:lnTo>
                  <a:pt x="523714" y="13892"/>
                </a:lnTo>
                <a:lnTo>
                  <a:pt x="534273" y="21288"/>
                </a:lnTo>
                <a:lnTo>
                  <a:pt x="555664" y="55429"/>
                </a:lnTo>
                <a:lnTo>
                  <a:pt x="561916" y="86483"/>
                </a:lnTo>
                <a:lnTo>
                  <a:pt x="561951" y="86723"/>
                </a:lnTo>
                <a:lnTo>
                  <a:pt x="562736" y="104775"/>
                </a:lnTo>
                <a:lnTo>
                  <a:pt x="561951" y="123444"/>
                </a:lnTo>
                <a:lnTo>
                  <a:pt x="559593" y="140398"/>
                </a:lnTo>
                <a:lnTo>
                  <a:pt x="543046" y="180784"/>
                </a:lnTo>
                <a:lnTo>
                  <a:pt x="511809" y="203073"/>
                </a:lnTo>
                <a:lnTo>
                  <a:pt x="514476" y="211709"/>
                </a:lnTo>
                <a:lnTo>
                  <a:pt x="554946" y="187706"/>
                </a:lnTo>
                <a:lnTo>
                  <a:pt x="577675" y="143335"/>
                </a:lnTo>
                <a:lnTo>
                  <a:pt x="582040" y="105918"/>
                </a:lnTo>
                <a:lnTo>
                  <a:pt x="580959" y="86723"/>
                </a:lnTo>
                <a:lnTo>
                  <a:pt x="580945" y="86483"/>
                </a:lnTo>
                <a:lnTo>
                  <a:pt x="564514" y="37084"/>
                </a:lnTo>
                <a:lnTo>
                  <a:pt x="529832" y="5526"/>
                </a:lnTo>
                <a:lnTo>
                  <a:pt x="514476" y="0"/>
                </a:lnTo>
                <a:close/>
              </a:path>
              <a:path w="582295" h="212089">
                <a:moveTo>
                  <a:pt x="67563" y="0"/>
                </a:moveTo>
                <a:lnTo>
                  <a:pt x="27166" y="24056"/>
                </a:lnTo>
                <a:lnTo>
                  <a:pt x="4381" y="68548"/>
                </a:lnTo>
                <a:lnTo>
                  <a:pt x="64" y="104775"/>
                </a:lnTo>
                <a:lnTo>
                  <a:pt x="0" y="105918"/>
                </a:lnTo>
                <a:lnTo>
                  <a:pt x="985" y="123444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6"/>
                </a:lnTo>
                <a:lnTo>
                  <a:pt x="67563" y="211709"/>
                </a:lnTo>
                <a:lnTo>
                  <a:pt x="70230" y="203073"/>
                </a:lnTo>
                <a:lnTo>
                  <a:pt x="58183" y="197738"/>
                </a:lnTo>
                <a:lnTo>
                  <a:pt x="47767" y="190309"/>
                </a:lnTo>
                <a:lnTo>
                  <a:pt x="26376" y="155638"/>
                </a:lnTo>
                <a:lnTo>
                  <a:pt x="19352" y="105918"/>
                </a:lnTo>
                <a:lnTo>
                  <a:pt x="19303" y="104775"/>
                </a:lnTo>
                <a:lnTo>
                  <a:pt x="20089" y="86723"/>
                </a:lnTo>
                <a:lnTo>
                  <a:pt x="31876" y="42164"/>
                </a:lnTo>
                <a:lnTo>
                  <a:pt x="58398" y="13892"/>
                </a:lnTo>
                <a:lnTo>
                  <a:pt x="70611" y="8509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631563" y="3459607"/>
            <a:ext cx="17716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latin typeface="Cambria Math"/>
                <a:cs typeface="Cambria Math"/>
              </a:rPr>
              <a:t>𝐦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028059" y="3351403"/>
            <a:ext cx="87756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7240" algn="l"/>
              </a:tabLst>
            </a:pPr>
            <a:r>
              <a:rPr sz="1800" dirty="0">
                <a:latin typeface="Cambria Math"/>
                <a:cs typeface="Cambria Math"/>
              </a:rPr>
              <a:t>𝐬𝐢𝐧</a:t>
            </a:r>
            <a:r>
              <a:rPr sz="1800" spc="34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𝛚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32" name="object 3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2917" y="3965955"/>
            <a:ext cx="236092" cy="211836"/>
          </a:xfrm>
          <a:prstGeom prst="rect">
            <a:avLst/>
          </a:prstGeom>
        </p:spPr>
      </p:pic>
      <p:sp>
        <p:nvSpPr>
          <p:cNvPr id="33" name="object 33"/>
          <p:cNvSpPr/>
          <p:nvPr/>
        </p:nvSpPr>
        <p:spPr>
          <a:xfrm>
            <a:off x="2702306" y="3965955"/>
            <a:ext cx="2054225" cy="212090"/>
          </a:xfrm>
          <a:custGeom>
            <a:avLst/>
            <a:gdLst/>
            <a:ahLst/>
            <a:cxnLst/>
            <a:rect l="l" t="t" r="r" b="b"/>
            <a:pathLst>
              <a:path w="2054225" h="212089">
                <a:moveTo>
                  <a:pt x="70612" y="8636"/>
                </a:moveTo>
                <a:lnTo>
                  <a:pt x="67564" y="0"/>
                </a:lnTo>
                <a:lnTo>
                  <a:pt x="52197" y="5600"/>
                </a:lnTo>
                <a:lnTo>
                  <a:pt x="38735" y="13652"/>
                </a:lnTo>
                <a:lnTo>
                  <a:pt x="9855" y="52171"/>
                </a:lnTo>
                <a:lnTo>
                  <a:pt x="63" y="104902"/>
                </a:lnTo>
                <a:lnTo>
                  <a:pt x="0" y="106045"/>
                </a:lnTo>
                <a:lnTo>
                  <a:pt x="977" y="123571"/>
                </a:lnTo>
                <a:lnTo>
                  <a:pt x="17399" y="174752"/>
                </a:lnTo>
                <a:lnTo>
                  <a:pt x="52146" y="206311"/>
                </a:lnTo>
                <a:lnTo>
                  <a:pt x="67564" y="211836"/>
                </a:lnTo>
                <a:lnTo>
                  <a:pt x="70231" y="203200"/>
                </a:lnTo>
                <a:lnTo>
                  <a:pt x="58178" y="197866"/>
                </a:lnTo>
                <a:lnTo>
                  <a:pt x="47764" y="190436"/>
                </a:lnTo>
                <a:lnTo>
                  <a:pt x="26365" y="155765"/>
                </a:lnTo>
                <a:lnTo>
                  <a:pt x="19342" y="106045"/>
                </a:lnTo>
                <a:lnTo>
                  <a:pt x="19304" y="104902"/>
                </a:lnTo>
                <a:lnTo>
                  <a:pt x="20078" y="86842"/>
                </a:lnTo>
                <a:lnTo>
                  <a:pt x="31877" y="42164"/>
                </a:lnTo>
                <a:lnTo>
                  <a:pt x="58394" y="13957"/>
                </a:lnTo>
                <a:lnTo>
                  <a:pt x="70612" y="8636"/>
                </a:lnTo>
                <a:close/>
              </a:path>
              <a:path w="2054225" h="212089">
                <a:moveTo>
                  <a:pt x="1448308" y="8636"/>
                </a:moveTo>
                <a:lnTo>
                  <a:pt x="1445260" y="0"/>
                </a:lnTo>
                <a:lnTo>
                  <a:pt x="1429893" y="5600"/>
                </a:lnTo>
                <a:lnTo>
                  <a:pt x="1416431" y="13652"/>
                </a:lnTo>
                <a:lnTo>
                  <a:pt x="1387551" y="52171"/>
                </a:lnTo>
                <a:lnTo>
                  <a:pt x="1377759" y="104902"/>
                </a:lnTo>
                <a:lnTo>
                  <a:pt x="1377696" y="106045"/>
                </a:lnTo>
                <a:lnTo>
                  <a:pt x="1378673" y="123571"/>
                </a:lnTo>
                <a:lnTo>
                  <a:pt x="1395095" y="174752"/>
                </a:lnTo>
                <a:lnTo>
                  <a:pt x="1429842" y="206311"/>
                </a:lnTo>
                <a:lnTo>
                  <a:pt x="1445260" y="211836"/>
                </a:lnTo>
                <a:lnTo>
                  <a:pt x="1447927" y="203200"/>
                </a:lnTo>
                <a:lnTo>
                  <a:pt x="1435874" y="197866"/>
                </a:lnTo>
                <a:lnTo>
                  <a:pt x="1425460" y="190436"/>
                </a:lnTo>
                <a:lnTo>
                  <a:pt x="1404061" y="155765"/>
                </a:lnTo>
                <a:lnTo>
                  <a:pt x="1397038" y="106045"/>
                </a:lnTo>
                <a:lnTo>
                  <a:pt x="1397000" y="104902"/>
                </a:lnTo>
                <a:lnTo>
                  <a:pt x="1397774" y="86842"/>
                </a:lnTo>
                <a:lnTo>
                  <a:pt x="1409573" y="42164"/>
                </a:lnTo>
                <a:lnTo>
                  <a:pt x="1436090" y="13957"/>
                </a:lnTo>
                <a:lnTo>
                  <a:pt x="1448308" y="8636"/>
                </a:lnTo>
                <a:close/>
              </a:path>
              <a:path w="2054225" h="212089">
                <a:moveTo>
                  <a:pt x="1959737" y="106045"/>
                </a:moveTo>
                <a:lnTo>
                  <a:pt x="1958644" y="86842"/>
                </a:lnTo>
                <a:lnTo>
                  <a:pt x="1958632" y="86601"/>
                </a:lnTo>
                <a:lnTo>
                  <a:pt x="1955355" y="68630"/>
                </a:lnTo>
                <a:lnTo>
                  <a:pt x="1932559" y="24193"/>
                </a:lnTo>
                <a:lnTo>
                  <a:pt x="1892173" y="0"/>
                </a:lnTo>
                <a:lnTo>
                  <a:pt x="1889125" y="8636"/>
                </a:lnTo>
                <a:lnTo>
                  <a:pt x="1901405" y="13957"/>
                </a:lnTo>
                <a:lnTo>
                  <a:pt x="1911959" y="21310"/>
                </a:lnTo>
                <a:lnTo>
                  <a:pt x="1933359" y="55460"/>
                </a:lnTo>
                <a:lnTo>
                  <a:pt x="1939607" y="86601"/>
                </a:lnTo>
                <a:lnTo>
                  <a:pt x="1939645" y="86842"/>
                </a:lnTo>
                <a:lnTo>
                  <a:pt x="1940433" y="104902"/>
                </a:lnTo>
                <a:lnTo>
                  <a:pt x="1939645" y="123571"/>
                </a:lnTo>
                <a:lnTo>
                  <a:pt x="1937283" y="140525"/>
                </a:lnTo>
                <a:lnTo>
                  <a:pt x="1920735" y="180911"/>
                </a:lnTo>
                <a:lnTo>
                  <a:pt x="1889506" y="203200"/>
                </a:lnTo>
                <a:lnTo>
                  <a:pt x="1892173" y="211836"/>
                </a:lnTo>
                <a:lnTo>
                  <a:pt x="1932635" y="187782"/>
                </a:lnTo>
                <a:lnTo>
                  <a:pt x="1955368" y="143408"/>
                </a:lnTo>
                <a:lnTo>
                  <a:pt x="1958632" y="125488"/>
                </a:lnTo>
                <a:lnTo>
                  <a:pt x="1959737" y="106045"/>
                </a:lnTo>
                <a:close/>
              </a:path>
              <a:path w="2054225" h="212089">
                <a:moveTo>
                  <a:pt x="2054225" y="106045"/>
                </a:moveTo>
                <a:lnTo>
                  <a:pt x="2053132" y="86842"/>
                </a:lnTo>
                <a:lnTo>
                  <a:pt x="2053120" y="86601"/>
                </a:lnTo>
                <a:lnTo>
                  <a:pt x="2049843" y="68630"/>
                </a:lnTo>
                <a:lnTo>
                  <a:pt x="2027047" y="24193"/>
                </a:lnTo>
                <a:lnTo>
                  <a:pt x="1986661" y="0"/>
                </a:lnTo>
                <a:lnTo>
                  <a:pt x="1983613" y="8636"/>
                </a:lnTo>
                <a:lnTo>
                  <a:pt x="1995893" y="13957"/>
                </a:lnTo>
                <a:lnTo>
                  <a:pt x="2006447" y="21310"/>
                </a:lnTo>
                <a:lnTo>
                  <a:pt x="2027847" y="55460"/>
                </a:lnTo>
                <a:lnTo>
                  <a:pt x="2034095" y="86601"/>
                </a:lnTo>
                <a:lnTo>
                  <a:pt x="2034133" y="86842"/>
                </a:lnTo>
                <a:lnTo>
                  <a:pt x="2034921" y="104902"/>
                </a:lnTo>
                <a:lnTo>
                  <a:pt x="2034133" y="123571"/>
                </a:lnTo>
                <a:lnTo>
                  <a:pt x="2031771" y="140525"/>
                </a:lnTo>
                <a:lnTo>
                  <a:pt x="2015223" y="180911"/>
                </a:lnTo>
                <a:lnTo>
                  <a:pt x="1983994" y="203200"/>
                </a:lnTo>
                <a:lnTo>
                  <a:pt x="1986661" y="211836"/>
                </a:lnTo>
                <a:lnTo>
                  <a:pt x="2027123" y="187782"/>
                </a:lnTo>
                <a:lnTo>
                  <a:pt x="2049856" y="143408"/>
                </a:lnTo>
                <a:lnTo>
                  <a:pt x="2053120" y="125488"/>
                </a:lnTo>
                <a:lnTo>
                  <a:pt x="2054225" y="10604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739140" y="3766058"/>
            <a:ext cx="774065" cy="834390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20"/>
              </a:spcBef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8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𝐘</a:t>
            </a:r>
            <a:r>
              <a:rPr sz="1950" spc="-37" baseline="-14957" dirty="0">
                <a:latin typeface="Cambria Math"/>
                <a:cs typeface="Cambria Math"/>
              </a:rPr>
              <a:t>𝐅𝐌</a:t>
            </a:r>
            <a:endParaRPr sz="1950" baseline="-14957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025"/>
              </a:spcBef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8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𝐘</a:t>
            </a:r>
            <a:r>
              <a:rPr sz="1950" spc="-37" baseline="-14957" dirty="0">
                <a:latin typeface="Cambria Math"/>
                <a:cs typeface="Cambria Math"/>
              </a:rPr>
              <a:t>𝐅𝐌</a:t>
            </a:r>
            <a:endParaRPr sz="1950" baseline="-14957">
              <a:latin typeface="Cambria Math"/>
              <a:cs typeface="Cambria Math"/>
            </a:endParaRPr>
          </a:p>
        </p:txBody>
      </p:sp>
      <p:pic>
        <p:nvPicPr>
          <p:cNvPr id="35" name="object 3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02917" y="4370323"/>
            <a:ext cx="236092" cy="211709"/>
          </a:xfrm>
          <a:prstGeom prst="rect">
            <a:avLst/>
          </a:prstGeom>
        </p:spPr>
      </p:pic>
      <p:sp>
        <p:nvSpPr>
          <p:cNvPr id="36" name="object 36"/>
          <p:cNvSpPr/>
          <p:nvPr/>
        </p:nvSpPr>
        <p:spPr>
          <a:xfrm>
            <a:off x="2304161" y="4368291"/>
            <a:ext cx="5876925" cy="213995"/>
          </a:xfrm>
          <a:custGeom>
            <a:avLst/>
            <a:gdLst/>
            <a:ahLst/>
            <a:cxnLst/>
            <a:rect l="l" t="t" r="r" b="b"/>
            <a:pathLst>
              <a:path w="5876925" h="213995">
                <a:moveTo>
                  <a:pt x="71247" y="0"/>
                </a:moveTo>
                <a:lnTo>
                  <a:pt x="68326" y="0"/>
                </a:lnTo>
                <a:lnTo>
                  <a:pt x="56083" y="965"/>
                </a:lnTo>
                <a:lnTo>
                  <a:pt x="19367" y="26543"/>
                </a:lnTo>
                <a:lnTo>
                  <a:pt x="16979" y="35763"/>
                </a:lnTo>
                <a:lnTo>
                  <a:pt x="16929" y="35928"/>
                </a:lnTo>
                <a:lnTo>
                  <a:pt x="16129" y="46736"/>
                </a:lnTo>
                <a:lnTo>
                  <a:pt x="16129" y="52832"/>
                </a:lnTo>
                <a:lnTo>
                  <a:pt x="17018" y="59944"/>
                </a:lnTo>
                <a:lnTo>
                  <a:pt x="18796" y="67818"/>
                </a:lnTo>
                <a:lnTo>
                  <a:pt x="20447" y="75692"/>
                </a:lnTo>
                <a:lnTo>
                  <a:pt x="21336" y="81026"/>
                </a:lnTo>
                <a:lnTo>
                  <a:pt x="21336" y="88773"/>
                </a:lnTo>
                <a:lnTo>
                  <a:pt x="0" y="101473"/>
                </a:lnTo>
                <a:lnTo>
                  <a:pt x="0" y="110744"/>
                </a:lnTo>
                <a:lnTo>
                  <a:pt x="7239" y="110744"/>
                </a:lnTo>
                <a:lnTo>
                  <a:pt x="12573" y="112522"/>
                </a:lnTo>
                <a:lnTo>
                  <a:pt x="16129" y="115697"/>
                </a:lnTo>
                <a:lnTo>
                  <a:pt x="19558" y="118999"/>
                </a:lnTo>
                <a:lnTo>
                  <a:pt x="21336" y="123190"/>
                </a:lnTo>
                <a:lnTo>
                  <a:pt x="21336" y="130937"/>
                </a:lnTo>
                <a:lnTo>
                  <a:pt x="20447" y="136271"/>
                </a:lnTo>
                <a:lnTo>
                  <a:pt x="18796" y="144145"/>
                </a:lnTo>
                <a:lnTo>
                  <a:pt x="17018" y="152019"/>
                </a:lnTo>
                <a:lnTo>
                  <a:pt x="16129" y="159131"/>
                </a:lnTo>
                <a:lnTo>
                  <a:pt x="16129" y="165227"/>
                </a:lnTo>
                <a:lnTo>
                  <a:pt x="16929" y="176530"/>
                </a:lnTo>
                <a:lnTo>
                  <a:pt x="45466" y="209715"/>
                </a:lnTo>
                <a:lnTo>
                  <a:pt x="68326" y="212979"/>
                </a:lnTo>
                <a:lnTo>
                  <a:pt x="71247" y="212979"/>
                </a:lnTo>
                <a:lnTo>
                  <a:pt x="71247" y="204470"/>
                </a:lnTo>
                <a:lnTo>
                  <a:pt x="69596" y="204470"/>
                </a:lnTo>
                <a:lnTo>
                  <a:pt x="61937" y="203949"/>
                </a:lnTo>
                <a:lnTo>
                  <a:pt x="35052" y="167259"/>
                </a:lnTo>
                <a:lnTo>
                  <a:pt x="35052" y="162052"/>
                </a:lnTo>
                <a:lnTo>
                  <a:pt x="35814" y="155575"/>
                </a:lnTo>
                <a:lnTo>
                  <a:pt x="38862" y="140335"/>
                </a:lnTo>
                <a:lnTo>
                  <a:pt x="39624" y="134874"/>
                </a:lnTo>
                <a:lnTo>
                  <a:pt x="39624" y="125222"/>
                </a:lnTo>
                <a:lnTo>
                  <a:pt x="37719" y="120015"/>
                </a:lnTo>
                <a:lnTo>
                  <a:pt x="34036" y="115951"/>
                </a:lnTo>
                <a:lnTo>
                  <a:pt x="30226" y="111887"/>
                </a:lnTo>
                <a:lnTo>
                  <a:pt x="25908" y="108966"/>
                </a:lnTo>
                <a:lnTo>
                  <a:pt x="20701" y="106934"/>
                </a:lnTo>
                <a:lnTo>
                  <a:pt x="20701" y="105029"/>
                </a:lnTo>
                <a:lnTo>
                  <a:pt x="39624" y="86741"/>
                </a:lnTo>
                <a:lnTo>
                  <a:pt x="39624" y="77089"/>
                </a:lnTo>
                <a:lnTo>
                  <a:pt x="38862" y="71628"/>
                </a:lnTo>
                <a:lnTo>
                  <a:pt x="35814" y="56388"/>
                </a:lnTo>
                <a:lnTo>
                  <a:pt x="35052" y="49911"/>
                </a:lnTo>
                <a:lnTo>
                  <a:pt x="35052" y="44704"/>
                </a:lnTo>
                <a:lnTo>
                  <a:pt x="35610" y="35928"/>
                </a:lnTo>
                <a:lnTo>
                  <a:pt x="69596" y="8509"/>
                </a:lnTo>
                <a:lnTo>
                  <a:pt x="71247" y="8509"/>
                </a:lnTo>
                <a:lnTo>
                  <a:pt x="71247" y="0"/>
                </a:lnTo>
                <a:close/>
              </a:path>
              <a:path w="5876925" h="213995">
                <a:moveTo>
                  <a:pt x="519049" y="10668"/>
                </a:moveTo>
                <a:lnTo>
                  <a:pt x="516001" y="2032"/>
                </a:lnTo>
                <a:lnTo>
                  <a:pt x="500634" y="7581"/>
                </a:lnTo>
                <a:lnTo>
                  <a:pt x="487172" y="15621"/>
                </a:lnTo>
                <a:lnTo>
                  <a:pt x="458292" y="54140"/>
                </a:lnTo>
                <a:lnTo>
                  <a:pt x="448500" y="106807"/>
                </a:lnTo>
                <a:lnTo>
                  <a:pt x="448437" y="107950"/>
                </a:lnTo>
                <a:lnTo>
                  <a:pt x="449414" y="125476"/>
                </a:lnTo>
                <a:lnTo>
                  <a:pt x="465836" y="176784"/>
                </a:lnTo>
                <a:lnTo>
                  <a:pt x="500583" y="208216"/>
                </a:lnTo>
                <a:lnTo>
                  <a:pt x="516001" y="213741"/>
                </a:lnTo>
                <a:lnTo>
                  <a:pt x="518668" y="205232"/>
                </a:lnTo>
                <a:lnTo>
                  <a:pt x="506615" y="199834"/>
                </a:lnTo>
                <a:lnTo>
                  <a:pt x="496201" y="192366"/>
                </a:lnTo>
                <a:lnTo>
                  <a:pt x="474802" y="157670"/>
                </a:lnTo>
                <a:lnTo>
                  <a:pt x="467779" y="107950"/>
                </a:lnTo>
                <a:lnTo>
                  <a:pt x="467741" y="106807"/>
                </a:lnTo>
                <a:lnTo>
                  <a:pt x="468515" y="88760"/>
                </a:lnTo>
                <a:lnTo>
                  <a:pt x="480314" y="44196"/>
                </a:lnTo>
                <a:lnTo>
                  <a:pt x="506831" y="15989"/>
                </a:lnTo>
                <a:lnTo>
                  <a:pt x="519049" y="10668"/>
                </a:lnTo>
                <a:close/>
              </a:path>
              <a:path w="5876925" h="213995">
                <a:moveTo>
                  <a:pt x="960374" y="107950"/>
                </a:moveTo>
                <a:lnTo>
                  <a:pt x="950506" y="54140"/>
                </a:lnTo>
                <a:lnTo>
                  <a:pt x="921639" y="15621"/>
                </a:lnTo>
                <a:lnTo>
                  <a:pt x="892810" y="2032"/>
                </a:lnTo>
                <a:lnTo>
                  <a:pt x="889762" y="10668"/>
                </a:lnTo>
                <a:lnTo>
                  <a:pt x="902042" y="15989"/>
                </a:lnTo>
                <a:lnTo>
                  <a:pt x="912596" y="23342"/>
                </a:lnTo>
                <a:lnTo>
                  <a:pt x="933996" y="57467"/>
                </a:lnTo>
                <a:lnTo>
                  <a:pt x="941070" y="106807"/>
                </a:lnTo>
                <a:lnTo>
                  <a:pt x="940282" y="125476"/>
                </a:lnTo>
                <a:lnTo>
                  <a:pt x="928497" y="171196"/>
                </a:lnTo>
                <a:lnTo>
                  <a:pt x="902182" y="199834"/>
                </a:lnTo>
                <a:lnTo>
                  <a:pt x="890143" y="205232"/>
                </a:lnTo>
                <a:lnTo>
                  <a:pt x="892810" y="213741"/>
                </a:lnTo>
                <a:lnTo>
                  <a:pt x="933272" y="189738"/>
                </a:lnTo>
                <a:lnTo>
                  <a:pt x="956005" y="145376"/>
                </a:lnTo>
                <a:lnTo>
                  <a:pt x="959269" y="127406"/>
                </a:lnTo>
                <a:lnTo>
                  <a:pt x="960374" y="107950"/>
                </a:lnTo>
                <a:close/>
              </a:path>
              <a:path w="5876925" h="213995">
                <a:moveTo>
                  <a:pt x="1462405" y="10668"/>
                </a:moveTo>
                <a:lnTo>
                  <a:pt x="1459357" y="2032"/>
                </a:lnTo>
                <a:lnTo>
                  <a:pt x="1443990" y="7581"/>
                </a:lnTo>
                <a:lnTo>
                  <a:pt x="1430528" y="15621"/>
                </a:lnTo>
                <a:lnTo>
                  <a:pt x="1401648" y="54140"/>
                </a:lnTo>
                <a:lnTo>
                  <a:pt x="1391856" y="106807"/>
                </a:lnTo>
                <a:lnTo>
                  <a:pt x="1391793" y="107950"/>
                </a:lnTo>
                <a:lnTo>
                  <a:pt x="1392770" y="125476"/>
                </a:lnTo>
                <a:lnTo>
                  <a:pt x="1409192" y="176784"/>
                </a:lnTo>
                <a:lnTo>
                  <a:pt x="1443939" y="208216"/>
                </a:lnTo>
                <a:lnTo>
                  <a:pt x="1459357" y="213741"/>
                </a:lnTo>
                <a:lnTo>
                  <a:pt x="1462024" y="205232"/>
                </a:lnTo>
                <a:lnTo>
                  <a:pt x="1449971" y="199834"/>
                </a:lnTo>
                <a:lnTo>
                  <a:pt x="1439557" y="192366"/>
                </a:lnTo>
                <a:lnTo>
                  <a:pt x="1418158" y="157670"/>
                </a:lnTo>
                <a:lnTo>
                  <a:pt x="1411135" y="107950"/>
                </a:lnTo>
                <a:lnTo>
                  <a:pt x="1411097" y="106807"/>
                </a:lnTo>
                <a:lnTo>
                  <a:pt x="1411871" y="88760"/>
                </a:lnTo>
                <a:lnTo>
                  <a:pt x="1423670" y="44196"/>
                </a:lnTo>
                <a:lnTo>
                  <a:pt x="1450187" y="15989"/>
                </a:lnTo>
                <a:lnTo>
                  <a:pt x="1462405" y="10668"/>
                </a:lnTo>
                <a:close/>
              </a:path>
              <a:path w="5876925" h="213995">
                <a:moveTo>
                  <a:pt x="2204593" y="10668"/>
                </a:moveTo>
                <a:lnTo>
                  <a:pt x="2201545" y="2032"/>
                </a:lnTo>
                <a:lnTo>
                  <a:pt x="2186178" y="7581"/>
                </a:lnTo>
                <a:lnTo>
                  <a:pt x="2172716" y="15621"/>
                </a:lnTo>
                <a:lnTo>
                  <a:pt x="2143836" y="54140"/>
                </a:lnTo>
                <a:lnTo>
                  <a:pt x="2134044" y="106807"/>
                </a:lnTo>
                <a:lnTo>
                  <a:pt x="2133981" y="107950"/>
                </a:lnTo>
                <a:lnTo>
                  <a:pt x="2134959" y="125476"/>
                </a:lnTo>
                <a:lnTo>
                  <a:pt x="2151380" y="176784"/>
                </a:lnTo>
                <a:lnTo>
                  <a:pt x="2186127" y="208216"/>
                </a:lnTo>
                <a:lnTo>
                  <a:pt x="2201545" y="213741"/>
                </a:lnTo>
                <a:lnTo>
                  <a:pt x="2204212" y="205232"/>
                </a:lnTo>
                <a:lnTo>
                  <a:pt x="2192159" y="199834"/>
                </a:lnTo>
                <a:lnTo>
                  <a:pt x="2181745" y="192366"/>
                </a:lnTo>
                <a:lnTo>
                  <a:pt x="2160346" y="157670"/>
                </a:lnTo>
                <a:lnTo>
                  <a:pt x="2153323" y="107950"/>
                </a:lnTo>
                <a:lnTo>
                  <a:pt x="2153285" y="106807"/>
                </a:lnTo>
                <a:lnTo>
                  <a:pt x="2154059" y="88760"/>
                </a:lnTo>
                <a:lnTo>
                  <a:pt x="2165858" y="44196"/>
                </a:lnTo>
                <a:lnTo>
                  <a:pt x="2192375" y="15989"/>
                </a:lnTo>
                <a:lnTo>
                  <a:pt x="2204593" y="10668"/>
                </a:lnTo>
                <a:close/>
              </a:path>
              <a:path w="5876925" h="213995">
                <a:moveTo>
                  <a:pt x="2716022" y="107950"/>
                </a:moveTo>
                <a:lnTo>
                  <a:pt x="2706154" y="54140"/>
                </a:lnTo>
                <a:lnTo>
                  <a:pt x="2677287" y="15621"/>
                </a:lnTo>
                <a:lnTo>
                  <a:pt x="2648458" y="2032"/>
                </a:lnTo>
                <a:lnTo>
                  <a:pt x="2645410" y="10668"/>
                </a:lnTo>
                <a:lnTo>
                  <a:pt x="2657691" y="15989"/>
                </a:lnTo>
                <a:lnTo>
                  <a:pt x="2668244" y="23342"/>
                </a:lnTo>
                <a:lnTo>
                  <a:pt x="2689644" y="57467"/>
                </a:lnTo>
                <a:lnTo>
                  <a:pt x="2696718" y="106807"/>
                </a:lnTo>
                <a:lnTo>
                  <a:pt x="2695930" y="125476"/>
                </a:lnTo>
                <a:lnTo>
                  <a:pt x="2684145" y="171196"/>
                </a:lnTo>
                <a:lnTo>
                  <a:pt x="2657830" y="199834"/>
                </a:lnTo>
                <a:lnTo>
                  <a:pt x="2645791" y="205232"/>
                </a:lnTo>
                <a:lnTo>
                  <a:pt x="2648458" y="213741"/>
                </a:lnTo>
                <a:lnTo>
                  <a:pt x="2688920" y="189738"/>
                </a:lnTo>
                <a:lnTo>
                  <a:pt x="2711653" y="145376"/>
                </a:lnTo>
                <a:lnTo>
                  <a:pt x="2714917" y="127406"/>
                </a:lnTo>
                <a:lnTo>
                  <a:pt x="2716022" y="107950"/>
                </a:lnTo>
                <a:close/>
              </a:path>
              <a:path w="5876925" h="213995">
                <a:moveTo>
                  <a:pt x="2810510" y="107950"/>
                </a:moveTo>
                <a:lnTo>
                  <a:pt x="2800642" y="54140"/>
                </a:lnTo>
                <a:lnTo>
                  <a:pt x="2771775" y="15621"/>
                </a:lnTo>
                <a:lnTo>
                  <a:pt x="2742946" y="2032"/>
                </a:lnTo>
                <a:lnTo>
                  <a:pt x="2739898" y="10668"/>
                </a:lnTo>
                <a:lnTo>
                  <a:pt x="2752179" y="15989"/>
                </a:lnTo>
                <a:lnTo>
                  <a:pt x="2762732" y="23342"/>
                </a:lnTo>
                <a:lnTo>
                  <a:pt x="2784132" y="57467"/>
                </a:lnTo>
                <a:lnTo>
                  <a:pt x="2791206" y="106807"/>
                </a:lnTo>
                <a:lnTo>
                  <a:pt x="2790418" y="125476"/>
                </a:lnTo>
                <a:lnTo>
                  <a:pt x="2778633" y="171196"/>
                </a:lnTo>
                <a:lnTo>
                  <a:pt x="2752318" y="199834"/>
                </a:lnTo>
                <a:lnTo>
                  <a:pt x="2740279" y="205232"/>
                </a:lnTo>
                <a:lnTo>
                  <a:pt x="2742946" y="213741"/>
                </a:lnTo>
                <a:lnTo>
                  <a:pt x="2783408" y="189738"/>
                </a:lnTo>
                <a:lnTo>
                  <a:pt x="2806141" y="145376"/>
                </a:lnTo>
                <a:lnTo>
                  <a:pt x="2809405" y="127406"/>
                </a:lnTo>
                <a:lnTo>
                  <a:pt x="2810510" y="107950"/>
                </a:lnTo>
                <a:close/>
              </a:path>
              <a:path w="5876925" h="213995">
                <a:moveTo>
                  <a:pt x="5876798" y="101473"/>
                </a:moveTo>
                <a:lnTo>
                  <a:pt x="5870067" y="101473"/>
                </a:lnTo>
                <a:lnTo>
                  <a:pt x="5864352" y="99568"/>
                </a:lnTo>
                <a:lnTo>
                  <a:pt x="5860796" y="96393"/>
                </a:lnTo>
                <a:lnTo>
                  <a:pt x="5857367" y="93091"/>
                </a:lnTo>
                <a:lnTo>
                  <a:pt x="5855589" y="88900"/>
                </a:lnTo>
                <a:lnTo>
                  <a:pt x="5855589" y="81153"/>
                </a:lnTo>
                <a:lnTo>
                  <a:pt x="5856351" y="75819"/>
                </a:lnTo>
                <a:lnTo>
                  <a:pt x="5859907" y="60071"/>
                </a:lnTo>
                <a:lnTo>
                  <a:pt x="5860796" y="52959"/>
                </a:lnTo>
                <a:lnTo>
                  <a:pt x="5860796" y="46863"/>
                </a:lnTo>
                <a:lnTo>
                  <a:pt x="5859983" y="35979"/>
                </a:lnTo>
                <a:lnTo>
                  <a:pt x="5831459" y="3276"/>
                </a:lnTo>
                <a:lnTo>
                  <a:pt x="5808599" y="0"/>
                </a:lnTo>
                <a:lnTo>
                  <a:pt x="5805678" y="0"/>
                </a:lnTo>
                <a:lnTo>
                  <a:pt x="5805678" y="8509"/>
                </a:lnTo>
                <a:lnTo>
                  <a:pt x="5807329" y="8509"/>
                </a:lnTo>
                <a:lnTo>
                  <a:pt x="5814974" y="9042"/>
                </a:lnTo>
                <a:lnTo>
                  <a:pt x="5841746" y="44831"/>
                </a:lnTo>
                <a:lnTo>
                  <a:pt x="5841746" y="50038"/>
                </a:lnTo>
                <a:lnTo>
                  <a:pt x="5841111" y="56515"/>
                </a:lnTo>
                <a:lnTo>
                  <a:pt x="5838063" y="71755"/>
                </a:lnTo>
                <a:lnTo>
                  <a:pt x="5837301" y="77216"/>
                </a:lnTo>
                <a:lnTo>
                  <a:pt x="5837301" y="86868"/>
                </a:lnTo>
                <a:lnTo>
                  <a:pt x="5839206" y="92075"/>
                </a:lnTo>
                <a:lnTo>
                  <a:pt x="5842889" y="96139"/>
                </a:lnTo>
                <a:lnTo>
                  <a:pt x="5846699" y="100203"/>
                </a:lnTo>
                <a:lnTo>
                  <a:pt x="5851017" y="103124"/>
                </a:lnTo>
                <a:lnTo>
                  <a:pt x="5856224" y="105156"/>
                </a:lnTo>
                <a:lnTo>
                  <a:pt x="5856224" y="107061"/>
                </a:lnTo>
                <a:lnTo>
                  <a:pt x="5837301" y="125349"/>
                </a:lnTo>
                <a:lnTo>
                  <a:pt x="5837301" y="134874"/>
                </a:lnTo>
                <a:lnTo>
                  <a:pt x="5838063" y="140462"/>
                </a:lnTo>
                <a:lnTo>
                  <a:pt x="5841111" y="155702"/>
                </a:lnTo>
                <a:lnTo>
                  <a:pt x="5841746" y="162179"/>
                </a:lnTo>
                <a:lnTo>
                  <a:pt x="5841746" y="167386"/>
                </a:lnTo>
                <a:lnTo>
                  <a:pt x="5841174" y="176580"/>
                </a:lnTo>
                <a:lnTo>
                  <a:pt x="5841174" y="176745"/>
                </a:lnTo>
                <a:lnTo>
                  <a:pt x="5807329" y="204470"/>
                </a:lnTo>
                <a:lnTo>
                  <a:pt x="5805678" y="204470"/>
                </a:lnTo>
                <a:lnTo>
                  <a:pt x="5805678" y="212979"/>
                </a:lnTo>
                <a:lnTo>
                  <a:pt x="5808599" y="212979"/>
                </a:lnTo>
                <a:lnTo>
                  <a:pt x="5820829" y="212026"/>
                </a:lnTo>
                <a:lnTo>
                  <a:pt x="5857557" y="186232"/>
                </a:lnTo>
                <a:lnTo>
                  <a:pt x="5859932" y="176745"/>
                </a:lnTo>
                <a:lnTo>
                  <a:pt x="5859983" y="176580"/>
                </a:lnTo>
                <a:lnTo>
                  <a:pt x="5860796" y="165354"/>
                </a:lnTo>
                <a:lnTo>
                  <a:pt x="5860796" y="159131"/>
                </a:lnTo>
                <a:lnTo>
                  <a:pt x="5859907" y="152146"/>
                </a:lnTo>
                <a:lnTo>
                  <a:pt x="5856351" y="136398"/>
                </a:lnTo>
                <a:lnTo>
                  <a:pt x="5855589" y="131064"/>
                </a:lnTo>
                <a:lnTo>
                  <a:pt x="5855589" y="123317"/>
                </a:lnTo>
                <a:lnTo>
                  <a:pt x="5857367" y="119126"/>
                </a:lnTo>
                <a:lnTo>
                  <a:pt x="5860796" y="115824"/>
                </a:lnTo>
                <a:lnTo>
                  <a:pt x="5864352" y="112649"/>
                </a:lnTo>
                <a:lnTo>
                  <a:pt x="5869686" y="110871"/>
                </a:lnTo>
                <a:lnTo>
                  <a:pt x="5876798" y="110617"/>
                </a:lnTo>
                <a:lnTo>
                  <a:pt x="5876798" y="1014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1539494" y="3766058"/>
            <a:ext cx="3457575" cy="834390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20"/>
              </a:spcBef>
              <a:tabLst>
                <a:tab pos="281305" algn="l"/>
              </a:tabLst>
            </a:pP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𝐕</a:t>
            </a:r>
            <a:r>
              <a:rPr sz="1950" spc="-30" baseline="-14957" dirty="0">
                <a:latin typeface="Cambria Math"/>
                <a:cs typeface="Cambria Math"/>
              </a:rPr>
              <a:t>𝐂</a:t>
            </a:r>
            <a:r>
              <a:rPr sz="1950" spc="97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33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𝛚</a:t>
            </a:r>
            <a:r>
              <a:rPr sz="1950" baseline="-14957" dirty="0">
                <a:latin typeface="Cambria Math"/>
                <a:cs typeface="Cambria Math"/>
              </a:rPr>
              <a:t>𝐜</a:t>
            </a:r>
            <a:r>
              <a:rPr sz="1800" dirty="0">
                <a:latin typeface="Cambria Math"/>
                <a:cs typeface="Cambria Math"/>
              </a:rPr>
              <a:t>𝐭</a:t>
            </a:r>
            <a:r>
              <a:rPr sz="1800" spc="-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𝐦</a:t>
            </a:r>
            <a:r>
              <a:rPr sz="1950" baseline="-14957" dirty="0">
                <a:latin typeface="Cambria Math"/>
                <a:cs typeface="Cambria Math"/>
              </a:rPr>
              <a:t>𝐟</a:t>
            </a:r>
            <a:r>
              <a:rPr sz="1950" spc="120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𝐬𝐢𝐧</a:t>
            </a:r>
            <a:r>
              <a:rPr sz="1800" spc="32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4957" dirty="0">
                <a:latin typeface="Cambria Math"/>
                <a:cs typeface="Cambria Math"/>
              </a:rPr>
              <a:t>𝐦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025"/>
              </a:spcBef>
              <a:tabLst>
                <a:tab pos="281305" algn="l"/>
                <a:tab pos="1782445" algn="l"/>
              </a:tabLst>
            </a:pP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7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𝐕</a:t>
            </a:r>
            <a:r>
              <a:rPr sz="1950" baseline="-14957" dirty="0">
                <a:latin typeface="Cambria Math"/>
                <a:cs typeface="Cambria Math"/>
              </a:rPr>
              <a:t>𝐂</a:t>
            </a:r>
            <a:r>
              <a:rPr sz="1950" spc="622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28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4957" dirty="0">
                <a:latin typeface="Cambria Math"/>
                <a:cs typeface="Cambria Math"/>
              </a:rPr>
              <a:t>𝐜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𝐜𝐨𝐬</a:t>
            </a:r>
            <a:r>
              <a:rPr sz="1800" spc="34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𝐦</a:t>
            </a:r>
            <a:r>
              <a:rPr sz="1950" baseline="-14957" dirty="0">
                <a:latin typeface="Cambria Math"/>
                <a:cs typeface="Cambria Math"/>
              </a:rPr>
              <a:t>𝐟</a:t>
            </a:r>
            <a:r>
              <a:rPr sz="1950" spc="112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𝐬𝐢𝐧</a:t>
            </a:r>
            <a:r>
              <a:rPr sz="1800" spc="35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4957" dirty="0">
                <a:latin typeface="Cambria Math"/>
                <a:cs typeface="Cambria Math"/>
              </a:rPr>
              <a:t>𝐦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750306" y="4370323"/>
            <a:ext cx="2333625" cy="212090"/>
          </a:xfrm>
          <a:custGeom>
            <a:avLst/>
            <a:gdLst/>
            <a:ahLst/>
            <a:cxnLst/>
            <a:rect l="l" t="t" r="r" b="b"/>
            <a:pathLst>
              <a:path w="2333625" h="212089">
                <a:moveTo>
                  <a:pt x="70612" y="8636"/>
                </a:moveTo>
                <a:lnTo>
                  <a:pt x="67564" y="0"/>
                </a:lnTo>
                <a:lnTo>
                  <a:pt x="52197" y="5549"/>
                </a:lnTo>
                <a:lnTo>
                  <a:pt x="38735" y="13589"/>
                </a:lnTo>
                <a:lnTo>
                  <a:pt x="9855" y="52108"/>
                </a:lnTo>
                <a:lnTo>
                  <a:pt x="63" y="104775"/>
                </a:lnTo>
                <a:lnTo>
                  <a:pt x="0" y="105918"/>
                </a:lnTo>
                <a:lnTo>
                  <a:pt x="977" y="123444"/>
                </a:lnTo>
                <a:lnTo>
                  <a:pt x="17399" y="174752"/>
                </a:lnTo>
                <a:lnTo>
                  <a:pt x="52146" y="206184"/>
                </a:lnTo>
                <a:lnTo>
                  <a:pt x="67564" y="211709"/>
                </a:lnTo>
                <a:lnTo>
                  <a:pt x="70231" y="203200"/>
                </a:lnTo>
                <a:lnTo>
                  <a:pt x="58178" y="197802"/>
                </a:lnTo>
                <a:lnTo>
                  <a:pt x="47764" y="190334"/>
                </a:lnTo>
                <a:lnTo>
                  <a:pt x="26365" y="155638"/>
                </a:lnTo>
                <a:lnTo>
                  <a:pt x="19342" y="105918"/>
                </a:lnTo>
                <a:lnTo>
                  <a:pt x="19304" y="104775"/>
                </a:lnTo>
                <a:lnTo>
                  <a:pt x="20078" y="86728"/>
                </a:lnTo>
                <a:lnTo>
                  <a:pt x="31877" y="42164"/>
                </a:lnTo>
                <a:lnTo>
                  <a:pt x="58394" y="13957"/>
                </a:lnTo>
                <a:lnTo>
                  <a:pt x="70612" y="8636"/>
                </a:lnTo>
                <a:close/>
              </a:path>
              <a:path w="2333625" h="212089">
                <a:moveTo>
                  <a:pt x="511937" y="105918"/>
                </a:moveTo>
                <a:lnTo>
                  <a:pt x="502069" y="52108"/>
                </a:lnTo>
                <a:lnTo>
                  <a:pt x="473202" y="13589"/>
                </a:lnTo>
                <a:lnTo>
                  <a:pt x="444373" y="0"/>
                </a:lnTo>
                <a:lnTo>
                  <a:pt x="441325" y="8636"/>
                </a:lnTo>
                <a:lnTo>
                  <a:pt x="453605" y="13957"/>
                </a:lnTo>
                <a:lnTo>
                  <a:pt x="464159" y="21310"/>
                </a:lnTo>
                <a:lnTo>
                  <a:pt x="485559" y="55435"/>
                </a:lnTo>
                <a:lnTo>
                  <a:pt x="492633" y="104775"/>
                </a:lnTo>
                <a:lnTo>
                  <a:pt x="491845" y="123444"/>
                </a:lnTo>
                <a:lnTo>
                  <a:pt x="480060" y="169164"/>
                </a:lnTo>
                <a:lnTo>
                  <a:pt x="453745" y="197802"/>
                </a:lnTo>
                <a:lnTo>
                  <a:pt x="441706" y="203200"/>
                </a:lnTo>
                <a:lnTo>
                  <a:pt x="444373" y="211709"/>
                </a:lnTo>
                <a:lnTo>
                  <a:pt x="484835" y="187706"/>
                </a:lnTo>
                <a:lnTo>
                  <a:pt x="507568" y="143344"/>
                </a:lnTo>
                <a:lnTo>
                  <a:pt x="510832" y="125374"/>
                </a:lnTo>
                <a:lnTo>
                  <a:pt x="511937" y="105918"/>
                </a:lnTo>
                <a:close/>
              </a:path>
              <a:path w="2333625" h="212089">
                <a:moveTo>
                  <a:pt x="985012" y="8636"/>
                </a:moveTo>
                <a:lnTo>
                  <a:pt x="981964" y="0"/>
                </a:lnTo>
                <a:lnTo>
                  <a:pt x="966597" y="5549"/>
                </a:lnTo>
                <a:lnTo>
                  <a:pt x="953135" y="13589"/>
                </a:lnTo>
                <a:lnTo>
                  <a:pt x="924255" y="52108"/>
                </a:lnTo>
                <a:lnTo>
                  <a:pt x="914463" y="104775"/>
                </a:lnTo>
                <a:lnTo>
                  <a:pt x="914400" y="105918"/>
                </a:lnTo>
                <a:lnTo>
                  <a:pt x="915377" y="123444"/>
                </a:lnTo>
                <a:lnTo>
                  <a:pt x="931799" y="174752"/>
                </a:lnTo>
                <a:lnTo>
                  <a:pt x="966546" y="206184"/>
                </a:lnTo>
                <a:lnTo>
                  <a:pt x="981964" y="211709"/>
                </a:lnTo>
                <a:lnTo>
                  <a:pt x="984631" y="203200"/>
                </a:lnTo>
                <a:lnTo>
                  <a:pt x="972578" y="197802"/>
                </a:lnTo>
                <a:lnTo>
                  <a:pt x="962164" y="190334"/>
                </a:lnTo>
                <a:lnTo>
                  <a:pt x="940765" y="155638"/>
                </a:lnTo>
                <a:lnTo>
                  <a:pt x="933742" y="105918"/>
                </a:lnTo>
                <a:lnTo>
                  <a:pt x="933704" y="104775"/>
                </a:lnTo>
                <a:lnTo>
                  <a:pt x="934478" y="86728"/>
                </a:lnTo>
                <a:lnTo>
                  <a:pt x="946277" y="42164"/>
                </a:lnTo>
                <a:lnTo>
                  <a:pt x="972794" y="13957"/>
                </a:lnTo>
                <a:lnTo>
                  <a:pt x="985012" y="8636"/>
                </a:lnTo>
                <a:close/>
              </a:path>
              <a:path w="2333625" h="212089">
                <a:moveTo>
                  <a:pt x="1727200" y="8636"/>
                </a:moveTo>
                <a:lnTo>
                  <a:pt x="1724152" y="0"/>
                </a:lnTo>
                <a:lnTo>
                  <a:pt x="1708785" y="5549"/>
                </a:lnTo>
                <a:lnTo>
                  <a:pt x="1695323" y="13589"/>
                </a:lnTo>
                <a:lnTo>
                  <a:pt x="1666443" y="52108"/>
                </a:lnTo>
                <a:lnTo>
                  <a:pt x="1656651" y="104775"/>
                </a:lnTo>
                <a:lnTo>
                  <a:pt x="1656588" y="105918"/>
                </a:lnTo>
                <a:lnTo>
                  <a:pt x="1657565" y="123444"/>
                </a:lnTo>
                <a:lnTo>
                  <a:pt x="1673987" y="174752"/>
                </a:lnTo>
                <a:lnTo>
                  <a:pt x="1708734" y="206184"/>
                </a:lnTo>
                <a:lnTo>
                  <a:pt x="1724152" y="211709"/>
                </a:lnTo>
                <a:lnTo>
                  <a:pt x="1726819" y="203200"/>
                </a:lnTo>
                <a:lnTo>
                  <a:pt x="1714766" y="197802"/>
                </a:lnTo>
                <a:lnTo>
                  <a:pt x="1704352" y="190334"/>
                </a:lnTo>
                <a:lnTo>
                  <a:pt x="1682953" y="155638"/>
                </a:lnTo>
                <a:lnTo>
                  <a:pt x="1675930" y="105918"/>
                </a:lnTo>
                <a:lnTo>
                  <a:pt x="1675892" y="104775"/>
                </a:lnTo>
                <a:lnTo>
                  <a:pt x="1676666" y="86728"/>
                </a:lnTo>
                <a:lnTo>
                  <a:pt x="1688465" y="42164"/>
                </a:lnTo>
                <a:lnTo>
                  <a:pt x="1714982" y="13957"/>
                </a:lnTo>
                <a:lnTo>
                  <a:pt x="1727200" y="8636"/>
                </a:lnTo>
                <a:close/>
              </a:path>
              <a:path w="2333625" h="212089">
                <a:moveTo>
                  <a:pt x="2238629" y="105918"/>
                </a:moveTo>
                <a:lnTo>
                  <a:pt x="2228761" y="52108"/>
                </a:lnTo>
                <a:lnTo>
                  <a:pt x="2199894" y="13589"/>
                </a:lnTo>
                <a:lnTo>
                  <a:pt x="2171065" y="0"/>
                </a:lnTo>
                <a:lnTo>
                  <a:pt x="2168017" y="8636"/>
                </a:lnTo>
                <a:lnTo>
                  <a:pt x="2180298" y="13957"/>
                </a:lnTo>
                <a:lnTo>
                  <a:pt x="2190851" y="21310"/>
                </a:lnTo>
                <a:lnTo>
                  <a:pt x="2212251" y="55435"/>
                </a:lnTo>
                <a:lnTo>
                  <a:pt x="2219325" y="104775"/>
                </a:lnTo>
                <a:lnTo>
                  <a:pt x="2218537" y="123444"/>
                </a:lnTo>
                <a:lnTo>
                  <a:pt x="2206752" y="169164"/>
                </a:lnTo>
                <a:lnTo>
                  <a:pt x="2180437" y="197802"/>
                </a:lnTo>
                <a:lnTo>
                  <a:pt x="2168398" y="203200"/>
                </a:lnTo>
                <a:lnTo>
                  <a:pt x="2171065" y="211709"/>
                </a:lnTo>
                <a:lnTo>
                  <a:pt x="2211527" y="187706"/>
                </a:lnTo>
                <a:lnTo>
                  <a:pt x="2234260" y="143344"/>
                </a:lnTo>
                <a:lnTo>
                  <a:pt x="2237524" y="125374"/>
                </a:lnTo>
                <a:lnTo>
                  <a:pt x="2238629" y="105918"/>
                </a:lnTo>
                <a:close/>
              </a:path>
              <a:path w="2333625" h="212089">
                <a:moveTo>
                  <a:pt x="2333117" y="105918"/>
                </a:moveTo>
                <a:lnTo>
                  <a:pt x="2323249" y="52108"/>
                </a:lnTo>
                <a:lnTo>
                  <a:pt x="2294382" y="13589"/>
                </a:lnTo>
                <a:lnTo>
                  <a:pt x="2265553" y="0"/>
                </a:lnTo>
                <a:lnTo>
                  <a:pt x="2262505" y="8636"/>
                </a:lnTo>
                <a:lnTo>
                  <a:pt x="2274786" y="13957"/>
                </a:lnTo>
                <a:lnTo>
                  <a:pt x="2285339" y="21310"/>
                </a:lnTo>
                <a:lnTo>
                  <a:pt x="2306739" y="55435"/>
                </a:lnTo>
                <a:lnTo>
                  <a:pt x="2313813" y="104775"/>
                </a:lnTo>
                <a:lnTo>
                  <a:pt x="2313025" y="123444"/>
                </a:lnTo>
                <a:lnTo>
                  <a:pt x="2301240" y="169164"/>
                </a:lnTo>
                <a:lnTo>
                  <a:pt x="2274925" y="197802"/>
                </a:lnTo>
                <a:lnTo>
                  <a:pt x="2262886" y="203200"/>
                </a:lnTo>
                <a:lnTo>
                  <a:pt x="2265553" y="211709"/>
                </a:lnTo>
                <a:lnTo>
                  <a:pt x="2306015" y="187706"/>
                </a:lnTo>
                <a:lnTo>
                  <a:pt x="2328748" y="143344"/>
                </a:lnTo>
                <a:lnTo>
                  <a:pt x="2332012" y="125374"/>
                </a:lnTo>
                <a:lnTo>
                  <a:pt x="2333117" y="1059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5147183" y="4300473"/>
            <a:ext cx="2806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173480" algn="l"/>
              </a:tabLst>
            </a:pPr>
            <a:r>
              <a:rPr sz="1800" dirty="0">
                <a:latin typeface="Cambria Math"/>
                <a:cs typeface="Cambria Math"/>
              </a:rPr>
              <a:t>− 𝐬𝐢𝐧</a:t>
            </a:r>
            <a:r>
              <a:rPr sz="1800" spc="34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4957" dirty="0">
                <a:latin typeface="Cambria Math"/>
                <a:cs typeface="Cambria Math"/>
              </a:rPr>
              <a:t>𝐜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𝐬𝐢𝐧</a:t>
            </a:r>
            <a:r>
              <a:rPr sz="1800" spc="34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𝐦</a:t>
            </a:r>
            <a:r>
              <a:rPr sz="1950" baseline="-14957" dirty="0">
                <a:latin typeface="Cambria Math"/>
                <a:cs typeface="Cambria Math"/>
              </a:rPr>
              <a:t>𝐟</a:t>
            </a:r>
            <a:r>
              <a:rPr sz="1950" spc="120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𝐬𝐢𝐧</a:t>
            </a:r>
            <a:r>
              <a:rPr sz="1800" spc="335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4957" dirty="0">
                <a:latin typeface="Cambria Math"/>
                <a:cs typeface="Cambria Math"/>
              </a:rPr>
              <a:t>𝐦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40" name="object 4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02917" y="5140325"/>
            <a:ext cx="236092" cy="211709"/>
          </a:xfrm>
          <a:prstGeom prst="rect">
            <a:avLst/>
          </a:prstGeom>
        </p:spPr>
      </p:pic>
      <p:sp>
        <p:nvSpPr>
          <p:cNvPr id="41" name="object 41"/>
          <p:cNvSpPr/>
          <p:nvPr/>
        </p:nvSpPr>
        <p:spPr>
          <a:xfrm>
            <a:off x="2304161" y="5138292"/>
            <a:ext cx="3514725" cy="213995"/>
          </a:xfrm>
          <a:custGeom>
            <a:avLst/>
            <a:gdLst/>
            <a:ahLst/>
            <a:cxnLst/>
            <a:rect l="l" t="t" r="r" b="b"/>
            <a:pathLst>
              <a:path w="3514725" h="213995">
                <a:moveTo>
                  <a:pt x="71247" y="0"/>
                </a:moveTo>
                <a:lnTo>
                  <a:pt x="68326" y="0"/>
                </a:lnTo>
                <a:lnTo>
                  <a:pt x="56083" y="914"/>
                </a:lnTo>
                <a:lnTo>
                  <a:pt x="19367" y="26454"/>
                </a:lnTo>
                <a:lnTo>
                  <a:pt x="16129" y="46736"/>
                </a:lnTo>
                <a:lnTo>
                  <a:pt x="16129" y="52832"/>
                </a:lnTo>
                <a:lnTo>
                  <a:pt x="17018" y="59944"/>
                </a:lnTo>
                <a:lnTo>
                  <a:pt x="18796" y="67818"/>
                </a:lnTo>
                <a:lnTo>
                  <a:pt x="20447" y="75692"/>
                </a:lnTo>
                <a:lnTo>
                  <a:pt x="21336" y="80899"/>
                </a:lnTo>
                <a:lnTo>
                  <a:pt x="21336" y="88773"/>
                </a:lnTo>
                <a:lnTo>
                  <a:pt x="19558" y="92964"/>
                </a:lnTo>
                <a:lnTo>
                  <a:pt x="12573" y="99441"/>
                </a:lnTo>
                <a:lnTo>
                  <a:pt x="7239" y="101092"/>
                </a:lnTo>
                <a:lnTo>
                  <a:pt x="0" y="101346"/>
                </a:lnTo>
                <a:lnTo>
                  <a:pt x="0" y="110490"/>
                </a:lnTo>
                <a:lnTo>
                  <a:pt x="21336" y="123190"/>
                </a:lnTo>
                <a:lnTo>
                  <a:pt x="21336" y="130937"/>
                </a:lnTo>
                <a:lnTo>
                  <a:pt x="20447" y="136271"/>
                </a:lnTo>
                <a:lnTo>
                  <a:pt x="18796" y="144145"/>
                </a:lnTo>
                <a:lnTo>
                  <a:pt x="17018" y="152019"/>
                </a:lnTo>
                <a:lnTo>
                  <a:pt x="16129" y="159004"/>
                </a:lnTo>
                <a:lnTo>
                  <a:pt x="16129" y="165227"/>
                </a:lnTo>
                <a:lnTo>
                  <a:pt x="16929" y="176466"/>
                </a:lnTo>
                <a:lnTo>
                  <a:pt x="45466" y="209651"/>
                </a:lnTo>
                <a:lnTo>
                  <a:pt x="68326" y="212852"/>
                </a:lnTo>
                <a:lnTo>
                  <a:pt x="71247" y="212852"/>
                </a:lnTo>
                <a:lnTo>
                  <a:pt x="71247" y="204343"/>
                </a:lnTo>
                <a:lnTo>
                  <a:pt x="69596" y="204343"/>
                </a:lnTo>
                <a:lnTo>
                  <a:pt x="61937" y="203822"/>
                </a:lnTo>
                <a:lnTo>
                  <a:pt x="35052" y="167259"/>
                </a:lnTo>
                <a:lnTo>
                  <a:pt x="35052" y="162052"/>
                </a:lnTo>
                <a:lnTo>
                  <a:pt x="35814" y="155575"/>
                </a:lnTo>
                <a:lnTo>
                  <a:pt x="38862" y="140208"/>
                </a:lnTo>
                <a:lnTo>
                  <a:pt x="39624" y="134747"/>
                </a:lnTo>
                <a:lnTo>
                  <a:pt x="39624" y="125222"/>
                </a:lnTo>
                <a:lnTo>
                  <a:pt x="37719" y="120015"/>
                </a:lnTo>
                <a:lnTo>
                  <a:pt x="34036" y="115951"/>
                </a:lnTo>
                <a:lnTo>
                  <a:pt x="30226" y="111887"/>
                </a:lnTo>
                <a:lnTo>
                  <a:pt x="25908" y="108839"/>
                </a:lnTo>
                <a:lnTo>
                  <a:pt x="20701" y="106934"/>
                </a:lnTo>
                <a:lnTo>
                  <a:pt x="20701" y="104902"/>
                </a:lnTo>
                <a:lnTo>
                  <a:pt x="39624" y="86741"/>
                </a:lnTo>
                <a:lnTo>
                  <a:pt x="39624" y="77089"/>
                </a:lnTo>
                <a:lnTo>
                  <a:pt x="38862" y="71628"/>
                </a:lnTo>
                <a:lnTo>
                  <a:pt x="35814" y="56261"/>
                </a:lnTo>
                <a:lnTo>
                  <a:pt x="35052" y="49911"/>
                </a:lnTo>
                <a:lnTo>
                  <a:pt x="35052" y="44704"/>
                </a:lnTo>
                <a:lnTo>
                  <a:pt x="35610" y="35864"/>
                </a:lnTo>
                <a:lnTo>
                  <a:pt x="69596" y="8509"/>
                </a:lnTo>
                <a:lnTo>
                  <a:pt x="71247" y="8509"/>
                </a:lnTo>
                <a:lnTo>
                  <a:pt x="71247" y="0"/>
                </a:lnTo>
                <a:close/>
              </a:path>
              <a:path w="3514725" h="213995">
                <a:moveTo>
                  <a:pt x="519049" y="10541"/>
                </a:moveTo>
                <a:lnTo>
                  <a:pt x="516001" y="2032"/>
                </a:lnTo>
                <a:lnTo>
                  <a:pt x="500634" y="7569"/>
                </a:lnTo>
                <a:lnTo>
                  <a:pt x="487172" y="15582"/>
                </a:lnTo>
                <a:lnTo>
                  <a:pt x="458292" y="54127"/>
                </a:lnTo>
                <a:lnTo>
                  <a:pt x="448500" y="106807"/>
                </a:lnTo>
                <a:lnTo>
                  <a:pt x="448437" y="107950"/>
                </a:lnTo>
                <a:lnTo>
                  <a:pt x="449414" y="125476"/>
                </a:lnTo>
                <a:lnTo>
                  <a:pt x="465836" y="176784"/>
                </a:lnTo>
                <a:lnTo>
                  <a:pt x="500583" y="208216"/>
                </a:lnTo>
                <a:lnTo>
                  <a:pt x="516001" y="213741"/>
                </a:lnTo>
                <a:lnTo>
                  <a:pt x="518668" y="205105"/>
                </a:lnTo>
                <a:lnTo>
                  <a:pt x="506615" y="199771"/>
                </a:lnTo>
                <a:lnTo>
                  <a:pt x="496201" y="192341"/>
                </a:lnTo>
                <a:lnTo>
                  <a:pt x="474802" y="157670"/>
                </a:lnTo>
                <a:lnTo>
                  <a:pt x="467779" y="107950"/>
                </a:lnTo>
                <a:lnTo>
                  <a:pt x="467741" y="106807"/>
                </a:lnTo>
                <a:lnTo>
                  <a:pt x="468515" y="88747"/>
                </a:lnTo>
                <a:lnTo>
                  <a:pt x="480314" y="44069"/>
                </a:lnTo>
                <a:lnTo>
                  <a:pt x="506831" y="15862"/>
                </a:lnTo>
                <a:lnTo>
                  <a:pt x="519049" y="10541"/>
                </a:lnTo>
                <a:close/>
              </a:path>
              <a:path w="3514725" h="213995">
                <a:moveTo>
                  <a:pt x="960374" y="107950"/>
                </a:moveTo>
                <a:lnTo>
                  <a:pt x="959281" y="88747"/>
                </a:lnTo>
                <a:lnTo>
                  <a:pt x="959269" y="88519"/>
                </a:lnTo>
                <a:lnTo>
                  <a:pt x="955992" y="70586"/>
                </a:lnTo>
                <a:lnTo>
                  <a:pt x="933196" y="26098"/>
                </a:lnTo>
                <a:lnTo>
                  <a:pt x="892810" y="2032"/>
                </a:lnTo>
                <a:lnTo>
                  <a:pt x="889762" y="10541"/>
                </a:lnTo>
                <a:lnTo>
                  <a:pt x="902042" y="15862"/>
                </a:lnTo>
                <a:lnTo>
                  <a:pt x="912596" y="23215"/>
                </a:lnTo>
                <a:lnTo>
                  <a:pt x="933996" y="57365"/>
                </a:lnTo>
                <a:lnTo>
                  <a:pt x="940244" y="88519"/>
                </a:lnTo>
                <a:lnTo>
                  <a:pt x="940282" y="88747"/>
                </a:lnTo>
                <a:lnTo>
                  <a:pt x="941070" y="106807"/>
                </a:lnTo>
                <a:lnTo>
                  <a:pt x="940282" y="125476"/>
                </a:lnTo>
                <a:lnTo>
                  <a:pt x="937920" y="142430"/>
                </a:lnTo>
                <a:lnTo>
                  <a:pt x="921372" y="182816"/>
                </a:lnTo>
                <a:lnTo>
                  <a:pt x="890143" y="205105"/>
                </a:lnTo>
                <a:lnTo>
                  <a:pt x="892810" y="213741"/>
                </a:lnTo>
                <a:lnTo>
                  <a:pt x="933272" y="189738"/>
                </a:lnTo>
                <a:lnTo>
                  <a:pt x="956005" y="145326"/>
                </a:lnTo>
                <a:lnTo>
                  <a:pt x="959269" y="127393"/>
                </a:lnTo>
                <a:lnTo>
                  <a:pt x="960374" y="107950"/>
                </a:lnTo>
                <a:close/>
              </a:path>
              <a:path w="3514725" h="213995">
                <a:moveTo>
                  <a:pt x="1991233" y="10541"/>
                </a:moveTo>
                <a:lnTo>
                  <a:pt x="1988185" y="2032"/>
                </a:lnTo>
                <a:lnTo>
                  <a:pt x="1972818" y="7569"/>
                </a:lnTo>
                <a:lnTo>
                  <a:pt x="1959356" y="15582"/>
                </a:lnTo>
                <a:lnTo>
                  <a:pt x="1930476" y="54127"/>
                </a:lnTo>
                <a:lnTo>
                  <a:pt x="1920684" y="106807"/>
                </a:lnTo>
                <a:lnTo>
                  <a:pt x="1920621" y="107950"/>
                </a:lnTo>
                <a:lnTo>
                  <a:pt x="1921598" y="125476"/>
                </a:lnTo>
                <a:lnTo>
                  <a:pt x="1938020" y="176784"/>
                </a:lnTo>
                <a:lnTo>
                  <a:pt x="1972767" y="208216"/>
                </a:lnTo>
                <a:lnTo>
                  <a:pt x="1988185" y="213741"/>
                </a:lnTo>
                <a:lnTo>
                  <a:pt x="1990852" y="205105"/>
                </a:lnTo>
                <a:lnTo>
                  <a:pt x="1978799" y="199771"/>
                </a:lnTo>
                <a:lnTo>
                  <a:pt x="1968385" y="192341"/>
                </a:lnTo>
                <a:lnTo>
                  <a:pt x="1946986" y="157670"/>
                </a:lnTo>
                <a:lnTo>
                  <a:pt x="1939963" y="107950"/>
                </a:lnTo>
                <a:lnTo>
                  <a:pt x="1939925" y="106807"/>
                </a:lnTo>
                <a:lnTo>
                  <a:pt x="1940699" y="88747"/>
                </a:lnTo>
                <a:lnTo>
                  <a:pt x="1952498" y="44069"/>
                </a:lnTo>
                <a:lnTo>
                  <a:pt x="1979015" y="15862"/>
                </a:lnTo>
                <a:lnTo>
                  <a:pt x="1991233" y="10541"/>
                </a:lnTo>
                <a:close/>
              </a:path>
              <a:path w="3514725" h="213995">
                <a:moveTo>
                  <a:pt x="2432558" y="107950"/>
                </a:moveTo>
                <a:lnTo>
                  <a:pt x="2431465" y="88747"/>
                </a:lnTo>
                <a:lnTo>
                  <a:pt x="2431453" y="88519"/>
                </a:lnTo>
                <a:lnTo>
                  <a:pt x="2428176" y="70586"/>
                </a:lnTo>
                <a:lnTo>
                  <a:pt x="2405380" y="26098"/>
                </a:lnTo>
                <a:lnTo>
                  <a:pt x="2364994" y="2032"/>
                </a:lnTo>
                <a:lnTo>
                  <a:pt x="2361946" y="10541"/>
                </a:lnTo>
                <a:lnTo>
                  <a:pt x="2374227" y="15862"/>
                </a:lnTo>
                <a:lnTo>
                  <a:pt x="2384780" y="23215"/>
                </a:lnTo>
                <a:lnTo>
                  <a:pt x="2406180" y="57365"/>
                </a:lnTo>
                <a:lnTo>
                  <a:pt x="2412428" y="88519"/>
                </a:lnTo>
                <a:lnTo>
                  <a:pt x="2412466" y="88747"/>
                </a:lnTo>
                <a:lnTo>
                  <a:pt x="2413254" y="106807"/>
                </a:lnTo>
                <a:lnTo>
                  <a:pt x="2412466" y="125476"/>
                </a:lnTo>
                <a:lnTo>
                  <a:pt x="2410104" y="142430"/>
                </a:lnTo>
                <a:lnTo>
                  <a:pt x="2393556" y="182816"/>
                </a:lnTo>
                <a:lnTo>
                  <a:pt x="2362327" y="205105"/>
                </a:lnTo>
                <a:lnTo>
                  <a:pt x="2364994" y="213741"/>
                </a:lnTo>
                <a:lnTo>
                  <a:pt x="2405456" y="189738"/>
                </a:lnTo>
                <a:lnTo>
                  <a:pt x="2428189" y="145326"/>
                </a:lnTo>
                <a:lnTo>
                  <a:pt x="2431453" y="127393"/>
                </a:lnTo>
                <a:lnTo>
                  <a:pt x="2432558" y="107950"/>
                </a:lnTo>
                <a:close/>
              </a:path>
              <a:path w="3514725" h="213995">
                <a:moveTo>
                  <a:pt x="2905633" y="10541"/>
                </a:moveTo>
                <a:lnTo>
                  <a:pt x="2902585" y="2032"/>
                </a:lnTo>
                <a:lnTo>
                  <a:pt x="2887218" y="7569"/>
                </a:lnTo>
                <a:lnTo>
                  <a:pt x="2873756" y="15582"/>
                </a:lnTo>
                <a:lnTo>
                  <a:pt x="2844876" y="54127"/>
                </a:lnTo>
                <a:lnTo>
                  <a:pt x="2835084" y="106807"/>
                </a:lnTo>
                <a:lnTo>
                  <a:pt x="2835021" y="107950"/>
                </a:lnTo>
                <a:lnTo>
                  <a:pt x="2835999" y="125476"/>
                </a:lnTo>
                <a:lnTo>
                  <a:pt x="2852420" y="176784"/>
                </a:lnTo>
                <a:lnTo>
                  <a:pt x="2887167" y="208216"/>
                </a:lnTo>
                <a:lnTo>
                  <a:pt x="2902585" y="213741"/>
                </a:lnTo>
                <a:lnTo>
                  <a:pt x="2905252" y="205105"/>
                </a:lnTo>
                <a:lnTo>
                  <a:pt x="2893199" y="199771"/>
                </a:lnTo>
                <a:lnTo>
                  <a:pt x="2882785" y="192341"/>
                </a:lnTo>
                <a:lnTo>
                  <a:pt x="2861386" y="157670"/>
                </a:lnTo>
                <a:lnTo>
                  <a:pt x="2854363" y="107950"/>
                </a:lnTo>
                <a:lnTo>
                  <a:pt x="2854325" y="106807"/>
                </a:lnTo>
                <a:lnTo>
                  <a:pt x="2855099" y="88747"/>
                </a:lnTo>
                <a:lnTo>
                  <a:pt x="2866898" y="44069"/>
                </a:lnTo>
                <a:lnTo>
                  <a:pt x="2893415" y="15862"/>
                </a:lnTo>
                <a:lnTo>
                  <a:pt x="2905633" y="10541"/>
                </a:lnTo>
                <a:close/>
              </a:path>
              <a:path w="3514725" h="213995">
                <a:moveTo>
                  <a:pt x="3417062" y="107950"/>
                </a:moveTo>
                <a:lnTo>
                  <a:pt x="3415969" y="88747"/>
                </a:lnTo>
                <a:lnTo>
                  <a:pt x="3415957" y="88519"/>
                </a:lnTo>
                <a:lnTo>
                  <a:pt x="3412680" y="70586"/>
                </a:lnTo>
                <a:lnTo>
                  <a:pt x="3389884" y="26098"/>
                </a:lnTo>
                <a:lnTo>
                  <a:pt x="3349498" y="2032"/>
                </a:lnTo>
                <a:lnTo>
                  <a:pt x="3346450" y="10541"/>
                </a:lnTo>
                <a:lnTo>
                  <a:pt x="3358731" y="15862"/>
                </a:lnTo>
                <a:lnTo>
                  <a:pt x="3369284" y="23215"/>
                </a:lnTo>
                <a:lnTo>
                  <a:pt x="3390684" y="57365"/>
                </a:lnTo>
                <a:lnTo>
                  <a:pt x="3396932" y="88519"/>
                </a:lnTo>
                <a:lnTo>
                  <a:pt x="3396970" y="88747"/>
                </a:lnTo>
                <a:lnTo>
                  <a:pt x="3397758" y="106807"/>
                </a:lnTo>
                <a:lnTo>
                  <a:pt x="3396970" y="125476"/>
                </a:lnTo>
                <a:lnTo>
                  <a:pt x="3394608" y="142430"/>
                </a:lnTo>
                <a:lnTo>
                  <a:pt x="3378060" y="182816"/>
                </a:lnTo>
                <a:lnTo>
                  <a:pt x="3346831" y="205105"/>
                </a:lnTo>
                <a:lnTo>
                  <a:pt x="3349498" y="213741"/>
                </a:lnTo>
                <a:lnTo>
                  <a:pt x="3389960" y="189738"/>
                </a:lnTo>
                <a:lnTo>
                  <a:pt x="3412693" y="145326"/>
                </a:lnTo>
                <a:lnTo>
                  <a:pt x="3415957" y="127393"/>
                </a:lnTo>
                <a:lnTo>
                  <a:pt x="3417062" y="107950"/>
                </a:lnTo>
                <a:close/>
              </a:path>
              <a:path w="3514725" h="213995">
                <a:moveTo>
                  <a:pt x="3514598" y="101473"/>
                </a:moveTo>
                <a:lnTo>
                  <a:pt x="3507486" y="101219"/>
                </a:lnTo>
                <a:lnTo>
                  <a:pt x="3502152" y="99568"/>
                </a:lnTo>
                <a:lnTo>
                  <a:pt x="3495167" y="93091"/>
                </a:lnTo>
                <a:lnTo>
                  <a:pt x="3493389" y="88900"/>
                </a:lnTo>
                <a:lnTo>
                  <a:pt x="3493389" y="81026"/>
                </a:lnTo>
                <a:lnTo>
                  <a:pt x="3494151" y="75819"/>
                </a:lnTo>
                <a:lnTo>
                  <a:pt x="3495929" y="67945"/>
                </a:lnTo>
                <a:lnTo>
                  <a:pt x="3497707" y="59944"/>
                </a:lnTo>
                <a:lnTo>
                  <a:pt x="3498596" y="52959"/>
                </a:lnTo>
                <a:lnTo>
                  <a:pt x="3498596" y="46736"/>
                </a:lnTo>
                <a:lnTo>
                  <a:pt x="3478250" y="6959"/>
                </a:lnTo>
                <a:lnTo>
                  <a:pt x="3446399" y="0"/>
                </a:lnTo>
                <a:lnTo>
                  <a:pt x="3443478" y="0"/>
                </a:lnTo>
                <a:lnTo>
                  <a:pt x="3443478" y="8509"/>
                </a:lnTo>
                <a:lnTo>
                  <a:pt x="3445129" y="8509"/>
                </a:lnTo>
                <a:lnTo>
                  <a:pt x="3452774" y="9042"/>
                </a:lnTo>
                <a:lnTo>
                  <a:pt x="3479546" y="44831"/>
                </a:lnTo>
                <a:lnTo>
                  <a:pt x="3479546" y="50038"/>
                </a:lnTo>
                <a:lnTo>
                  <a:pt x="3478911" y="56388"/>
                </a:lnTo>
                <a:lnTo>
                  <a:pt x="3475863" y="71755"/>
                </a:lnTo>
                <a:lnTo>
                  <a:pt x="3475101" y="77216"/>
                </a:lnTo>
                <a:lnTo>
                  <a:pt x="3475101" y="86868"/>
                </a:lnTo>
                <a:lnTo>
                  <a:pt x="3477006" y="92075"/>
                </a:lnTo>
                <a:lnTo>
                  <a:pt x="3484499" y="100076"/>
                </a:lnTo>
                <a:lnTo>
                  <a:pt x="3488817" y="103124"/>
                </a:lnTo>
                <a:lnTo>
                  <a:pt x="3494024" y="105029"/>
                </a:lnTo>
                <a:lnTo>
                  <a:pt x="3494024" y="107061"/>
                </a:lnTo>
                <a:lnTo>
                  <a:pt x="3475101" y="125349"/>
                </a:lnTo>
                <a:lnTo>
                  <a:pt x="3475101" y="134874"/>
                </a:lnTo>
                <a:lnTo>
                  <a:pt x="3475863" y="140335"/>
                </a:lnTo>
                <a:lnTo>
                  <a:pt x="3478911" y="155702"/>
                </a:lnTo>
                <a:lnTo>
                  <a:pt x="3479546" y="162179"/>
                </a:lnTo>
                <a:lnTo>
                  <a:pt x="3479546" y="167386"/>
                </a:lnTo>
                <a:lnTo>
                  <a:pt x="3478974" y="176580"/>
                </a:lnTo>
                <a:lnTo>
                  <a:pt x="3478974" y="176745"/>
                </a:lnTo>
                <a:lnTo>
                  <a:pt x="3445129" y="204343"/>
                </a:lnTo>
                <a:lnTo>
                  <a:pt x="3443478" y="204343"/>
                </a:lnTo>
                <a:lnTo>
                  <a:pt x="3443478" y="212852"/>
                </a:lnTo>
                <a:lnTo>
                  <a:pt x="3446399" y="212852"/>
                </a:lnTo>
                <a:lnTo>
                  <a:pt x="3458629" y="211963"/>
                </a:lnTo>
                <a:lnTo>
                  <a:pt x="3495357" y="186232"/>
                </a:lnTo>
                <a:lnTo>
                  <a:pt x="3497732" y="176745"/>
                </a:lnTo>
                <a:lnTo>
                  <a:pt x="3497783" y="176580"/>
                </a:lnTo>
                <a:lnTo>
                  <a:pt x="3498596" y="165354"/>
                </a:lnTo>
                <a:lnTo>
                  <a:pt x="3498596" y="159131"/>
                </a:lnTo>
                <a:lnTo>
                  <a:pt x="3497707" y="152146"/>
                </a:lnTo>
                <a:lnTo>
                  <a:pt x="3494151" y="136398"/>
                </a:lnTo>
                <a:lnTo>
                  <a:pt x="3493389" y="131064"/>
                </a:lnTo>
                <a:lnTo>
                  <a:pt x="3493389" y="123190"/>
                </a:lnTo>
                <a:lnTo>
                  <a:pt x="3495167" y="118999"/>
                </a:lnTo>
                <a:lnTo>
                  <a:pt x="3498596" y="115824"/>
                </a:lnTo>
                <a:lnTo>
                  <a:pt x="3502152" y="112649"/>
                </a:lnTo>
                <a:lnTo>
                  <a:pt x="3507486" y="110871"/>
                </a:lnTo>
                <a:lnTo>
                  <a:pt x="3514598" y="110617"/>
                </a:lnTo>
                <a:lnTo>
                  <a:pt x="3514598" y="1014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739140" y="4958686"/>
            <a:ext cx="774065" cy="79883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80"/>
              </a:spcBef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8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𝐘</a:t>
            </a:r>
            <a:r>
              <a:rPr sz="1950" spc="-37" baseline="-14957" dirty="0">
                <a:latin typeface="Cambria Math"/>
                <a:cs typeface="Cambria Math"/>
              </a:rPr>
              <a:t>𝐅𝐌</a:t>
            </a:r>
            <a:endParaRPr sz="1950" baseline="-14957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885"/>
              </a:spcBef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𝐘</a:t>
            </a:r>
            <a:r>
              <a:rPr sz="1950" spc="-37" baseline="-14957" dirty="0">
                <a:latin typeface="Cambria Math"/>
                <a:cs typeface="Cambria Math"/>
              </a:rPr>
              <a:t>𝐅𝐌</a:t>
            </a:r>
            <a:endParaRPr sz="1950" baseline="-14957">
              <a:latin typeface="Cambria Math"/>
              <a:cs typeface="Cambria Math"/>
            </a:endParaRPr>
          </a:p>
        </p:txBody>
      </p:sp>
      <p:pic>
        <p:nvPicPr>
          <p:cNvPr id="43" name="object 4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02917" y="5527294"/>
            <a:ext cx="236092" cy="211696"/>
          </a:xfrm>
          <a:prstGeom prst="rect">
            <a:avLst/>
          </a:prstGeom>
        </p:spPr>
      </p:pic>
      <p:sp>
        <p:nvSpPr>
          <p:cNvPr id="44" name="object 44"/>
          <p:cNvSpPr/>
          <p:nvPr/>
        </p:nvSpPr>
        <p:spPr>
          <a:xfrm>
            <a:off x="2702305" y="5527294"/>
            <a:ext cx="512445" cy="212090"/>
          </a:xfrm>
          <a:custGeom>
            <a:avLst/>
            <a:gdLst/>
            <a:ahLst/>
            <a:cxnLst/>
            <a:rect l="l" t="t" r="r" b="b"/>
            <a:pathLst>
              <a:path w="512444" h="212089">
                <a:moveTo>
                  <a:pt x="444373" y="0"/>
                </a:moveTo>
                <a:lnTo>
                  <a:pt x="441325" y="8508"/>
                </a:lnTo>
                <a:lnTo>
                  <a:pt x="453610" y="13819"/>
                </a:lnTo>
                <a:lnTo>
                  <a:pt x="464169" y="21177"/>
                </a:lnTo>
                <a:lnTo>
                  <a:pt x="485560" y="55320"/>
                </a:lnTo>
                <a:lnTo>
                  <a:pt x="492633" y="104774"/>
                </a:lnTo>
                <a:lnTo>
                  <a:pt x="491847" y="123445"/>
                </a:lnTo>
                <a:lnTo>
                  <a:pt x="480060" y="169176"/>
                </a:lnTo>
                <a:lnTo>
                  <a:pt x="453753" y="197767"/>
                </a:lnTo>
                <a:lnTo>
                  <a:pt x="441706" y="203111"/>
                </a:lnTo>
                <a:lnTo>
                  <a:pt x="444373" y="211696"/>
                </a:lnTo>
                <a:lnTo>
                  <a:pt x="484842" y="187664"/>
                </a:lnTo>
                <a:lnTo>
                  <a:pt x="507571" y="143295"/>
                </a:lnTo>
                <a:lnTo>
                  <a:pt x="511937" y="105879"/>
                </a:lnTo>
                <a:lnTo>
                  <a:pt x="510854" y="86697"/>
                </a:lnTo>
                <a:lnTo>
                  <a:pt x="510841" y="86477"/>
                </a:lnTo>
                <a:lnTo>
                  <a:pt x="494411" y="37083"/>
                </a:lnTo>
                <a:lnTo>
                  <a:pt x="459728" y="5526"/>
                </a:lnTo>
                <a:lnTo>
                  <a:pt x="444373" y="0"/>
                </a:lnTo>
                <a:close/>
              </a:path>
              <a:path w="512444" h="212089">
                <a:moveTo>
                  <a:pt x="67564" y="0"/>
                </a:moveTo>
                <a:lnTo>
                  <a:pt x="27166" y="24056"/>
                </a:lnTo>
                <a:lnTo>
                  <a:pt x="4381" y="68553"/>
                </a:lnTo>
                <a:lnTo>
                  <a:pt x="0" y="105879"/>
                </a:lnTo>
                <a:lnTo>
                  <a:pt x="986" y="123445"/>
                </a:lnTo>
                <a:lnTo>
                  <a:pt x="17399" y="174701"/>
                </a:lnTo>
                <a:lnTo>
                  <a:pt x="52153" y="206162"/>
                </a:lnTo>
                <a:lnTo>
                  <a:pt x="67564" y="211696"/>
                </a:lnTo>
                <a:lnTo>
                  <a:pt x="70231" y="203111"/>
                </a:lnTo>
                <a:lnTo>
                  <a:pt x="58183" y="197767"/>
                </a:lnTo>
                <a:lnTo>
                  <a:pt x="47767" y="190330"/>
                </a:lnTo>
                <a:lnTo>
                  <a:pt x="26376" y="155649"/>
                </a:lnTo>
                <a:lnTo>
                  <a:pt x="19350" y="105879"/>
                </a:lnTo>
                <a:lnTo>
                  <a:pt x="19304" y="104774"/>
                </a:lnTo>
                <a:lnTo>
                  <a:pt x="20089" y="86697"/>
                </a:lnTo>
                <a:lnTo>
                  <a:pt x="31877" y="42036"/>
                </a:lnTo>
                <a:lnTo>
                  <a:pt x="58398" y="13819"/>
                </a:lnTo>
                <a:lnTo>
                  <a:pt x="70612" y="8508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410709" y="5527294"/>
            <a:ext cx="510540" cy="212090"/>
          </a:xfrm>
          <a:custGeom>
            <a:avLst/>
            <a:gdLst/>
            <a:ahLst/>
            <a:cxnLst/>
            <a:rect l="l" t="t" r="r" b="b"/>
            <a:pathLst>
              <a:path w="510539" h="212089">
                <a:moveTo>
                  <a:pt x="442849" y="0"/>
                </a:moveTo>
                <a:lnTo>
                  <a:pt x="439801" y="8508"/>
                </a:lnTo>
                <a:lnTo>
                  <a:pt x="452086" y="13819"/>
                </a:lnTo>
                <a:lnTo>
                  <a:pt x="462645" y="21177"/>
                </a:lnTo>
                <a:lnTo>
                  <a:pt x="484036" y="55320"/>
                </a:lnTo>
                <a:lnTo>
                  <a:pt x="491109" y="104774"/>
                </a:lnTo>
                <a:lnTo>
                  <a:pt x="490323" y="123445"/>
                </a:lnTo>
                <a:lnTo>
                  <a:pt x="478536" y="169176"/>
                </a:lnTo>
                <a:lnTo>
                  <a:pt x="452229" y="197767"/>
                </a:lnTo>
                <a:lnTo>
                  <a:pt x="440182" y="203111"/>
                </a:lnTo>
                <a:lnTo>
                  <a:pt x="442849" y="211696"/>
                </a:lnTo>
                <a:lnTo>
                  <a:pt x="483318" y="187664"/>
                </a:lnTo>
                <a:lnTo>
                  <a:pt x="506047" y="143295"/>
                </a:lnTo>
                <a:lnTo>
                  <a:pt x="510413" y="105879"/>
                </a:lnTo>
                <a:lnTo>
                  <a:pt x="509330" y="86697"/>
                </a:lnTo>
                <a:lnTo>
                  <a:pt x="509317" y="86477"/>
                </a:lnTo>
                <a:lnTo>
                  <a:pt x="492887" y="37083"/>
                </a:lnTo>
                <a:lnTo>
                  <a:pt x="458204" y="5526"/>
                </a:lnTo>
                <a:lnTo>
                  <a:pt x="442849" y="0"/>
                </a:lnTo>
                <a:close/>
              </a:path>
              <a:path w="510539" h="212089">
                <a:moveTo>
                  <a:pt x="67564" y="0"/>
                </a:moveTo>
                <a:lnTo>
                  <a:pt x="27166" y="24056"/>
                </a:lnTo>
                <a:lnTo>
                  <a:pt x="4381" y="68553"/>
                </a:lnTo>
                <a:lnTo>
                  <a:pt x="0" y="105879"/>
                </a:lnTo>
                <a:lnTo>
                  <a:pt x="986" y="123445"/>
                </a:lnTo>
                <a:lnTo>
                  <a:pt x="1093" y="125339"/>
                </a:lnTo>
                <a:lnTo>
                  <a:pt x="17399" y="174701"/>
                </a:lnTo>
                <a:lnTo>
                  <a:pt x="52153" y="206162"/>
                </a:lnTo>
                <a:lnTo>
                  <a:pt x="67564" y="211696"/>
                </a:lnTo>
                <a:lnTo>
                  <a:pt x="70231" y="203111"/>
                </a:lnTo>
                <a:lnTo>
                  <a:pt x="58183" y="197767"/>
                </a:lnTo>
                <a:lnTo>
                  <a:pt x="47767" y="190330"/>
                </a:lnTo>
                <a:lnTo>
                  <a:pt x="26376" y="155649"/>
                </a:lnTo>
                <a:lnTo>
                  <a:pt x="19350" y="105879"/>
                </a:lnTo>
                <a:lnTo>
                  <a:pt x="19304" y="104774"/>
                </a:lnTo>
                <a:lnTo>
                  <a:pt x="20089" y="86697"/>
                </a:lnTo>
                <a:lnTo>
                  <a:pt x="31877" y="42036"/>
                </a:lnTo>
                <a:lnTo>
                  <a:pt x="58398" y="13819"/>
                </a:lnTo>
                <a:lnTo>
                  <a:pt x="70612" y="8508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323585" y="5527294"/>
            <a:ext cx="582295" cy="212090"/>
          </a:xfrm>
          <a:custGeom>
            <a:avLst/>
            <a:gdLst/>
            <a:ahLst/>
            <a:cxnLst/>
            <a:rect l="l" t="t" r="r" b="b"/>
            <a:pathLst>
              <a:path w="582295" h="212089">
                <a:moveTo>
                  <a:pt x="514476" y="0"/>
                </a:moveTo>
                <a:lnTo>
                  <a:pt x="511428" y="8508"/>
                </a:lnTo>
                <a:lnTo>
                  <a:pt x="523714" y="13819"/>
                </a:lnTo>
                <a:lnTo>
                  <a:pt x="534273" y="21177"/>
                </a:lnTo>
                <a:lnTo>
                  <a:pt x="555664" y="55320"/>
                </a:lnTo>
                <a:lnTo>
                  <a:pt x="562736" y="104774"/>
                </a:lnTo>
                <a:lnTo>
                  <a:pt x="561951" y="123445"/>
                </a:lnTo>
                <a:lnTo>
                  <a:pt x="550163" y="169176"/>
                </a:lnTo>
                <a:lnTo>
                  <a:pt x="523857" y="197767"/>
                </a:lnTo>
                <a:lnTo>
                  <a:pt x="511809" y="203111"/>
                </a:lnTo>
                <a:lnTo>
                  <a:pt x="514476" y="211696"/>
                </a:lnTo>
                <a:lnTo>
                  <a:pt x="554946" y="187664"/>
                </a:lnTo>
                <a:lnTo>
                  <a:pt x="577675" y="143295"/>
                </a:lnTo>
                <a:lnTo>
                  <a:pt x="582040" y="105879"/>
                </a:lnTo>
                <a:lnTo>
                  <a:pt x="580958" y="86697"/>
                </a:lnTo>
                <a:lnTo>
                  <a:pt x="580945" y="86477"/>
                </a:lnTo>
                <a:lnTo>
                  <a:pt x="564514" y="37083"/>
                </a:lnTo>
                <a:lnTo>
                  <a:pt x="529832" y="5526"/>
                </a:lnTo>
                <a:lnTo>
                  <a:pt x="514476" y="0"/>
                </a:lnTo>
                <a:close/>
              </a:path>
              <a:path w="582295" h="212089">
                <a:moveTo>
                  <a:pt x="67563" y="0"/>
                </a:moveTo>
                <a:lnTo>
                  <a:pt x="27166" y="24056"/>
                </a:lnTo>
                <a:lnTo>
                  <a:pt x="4381" y="68553"/>
                </a:lnTo>
                <a:lnTo>
                  <a:pt x="0" y="105879"/>
                </a:lnTo>
                <a:lnTo>
                  <a:pt x="986" y="123445"/>
                </a:lnTo>
                <a:lnTo>
                  <a:pt x="1093" y="125339"/>
                </a:lnTo>
                <a:lnTo>
                  <a:pt x="17398" y="174701"/>
                </a:lnTo>
                <a:lnTo>
                  <a:pt x="52153" y="206162"/>
                </a:lnTo>
                <a:lnTo>
                  <a:pt x="67563" y="211696"/>
                </a:lnTo>
                <a:lnTo>
                  <a:pt x="70230" y="203111"/>
                </a:lnTo>
                <a:lnTo>
                  <a:pt x="58183" y="197767"/>
                </a:lnTo>
                <a:lnTo>
                  <a:pt x="47767" y="190330"/>
                </a:lnTo>
                <a:lnTo>
                  <a:pt x="26376" y="155649"/>
                </a:lnTo>
                <a:lnTo>
                  <a:pt x="19350" y="105879"/>
                </a:lnTo>
                <a:lnTo>
                  <a:pt x="19303" y="104774"/>
                </a:lnTo>
                <a:lnTo>
                  <a:pt x="20089" y="86697"/>
                </a:lnTo>
                <a:lnTo>
                  <a:pt x="31876" y="42036"/>
                </a:lnTo>
                <a:lnTo>
                  <a:pt x="58398" y="13819"/>
                </a:lnTo>
                <a:lnTo>
                  <a:pt x="70611" y="8508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1539494" y="4958686"/>
            <a:ext cx="4356100" cy="79883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80"/>
              </a:spcBef>
              <a:tabLst>
                <a:tab pos="281305" algn="l"/>
                <a:tab pos="1796414" algn="l"/>
                <a:tab pos="3255010" algn="l"/>
              </a:tabLst>
            </a:pP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7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𝐕</a:t>
            </a:r>
            <a:r>
              <a:rPr sz="1950" baseline="-14957" dirty="0">
                <a:latin typeface="Cambria Math"/>
                <a:cs typeface="Cambria Math"/>
              </a:rPr>
              <a:t>𝐂</a:t>
            </a:r>
            <a:r>
              <a:rPr sz="1950" spc="622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28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4957" dirty="0">
                <a:latin typeface="Cambria Math"/>
                <a:cs typeface="Cambria Math"/>
              </a:rPr>
              <a:t>𝐜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−</a:t>
            </a:r>
            <a:r>
              <a:rPr sz="1800" spc="-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𝐦</a:t>
            </a:r>
            <a:r>
              <a:rPr sz="1950" baseline="-14957" dirty="0">
                <a:latin typeface="Cambria Math"/>
                <a:cs typeface="Cambria Math"/>
              </a:rPr>
              <a:t>𝐟</a:t>
            </a:r>
            <a:r>
              <a:rPr sz="1950" spc="127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𝐬𝐢𝐧</a:t>
            </a:r>
            <a:r>
              <a:rPr sz="1800" spc="35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4957" dirty="0">
                <a:latin typeface="Cambria Math"/>
                <a:cs typeface="Cambria Math"/>
              </a:rPr>
              <a:t>𝐜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𝐬𝐢𝐧</a:t>
            </a:r>
            <a:r>
              <a:rPr sz="1800" spc="33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4957" dirty="0">
                <a:latin typeface="Cambria Math"/>
                <a:cs typeface="Cambria Math"/>
              </a:rPr>
              <a:t>𝐦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885"/>
              </a:spcBef>
              <a:tabLst>
                <a:tab pos="281305" algn="l"/>
                <a:tab pos="1746250" algn="l"/>
                <a:tab pos="3441065" algn="l"/>
              </a:tabLst>
            </a:pP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70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𝐕</a:t>
            </a:r>
            <a:r>
              <a:rPr sz="1950" spc="-30" baseline="-14957" dirty="0">
                <a:latin typeface="Cambria Math"/>
                <a:cs typeface="Cambria Math"/>
              </a:rPr>
              <a:t>𝐂</a:t>
            </a:r>
            <a:r>
              <a:rPr sz="1950" spc="67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29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4957" dirty="0">
                <a:latin typeface="Cambria Math"/>
                <a:cs typeface="Cambria Math"/>
              </a:rPr>
              <a:t>𝐜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−</a:t>
            </a:r>
            <a:r>
              <a:rPr sz="1800" spc="-3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𝐕</a:t>
            </a:r>
            <a:r>
              <a:rPr sz="1950" baseline="-14957" dirty="0">
                <a:latin typeface="Cambria Math"/>
                <a:cs typeface="Cambria Math"/>
              </a:rPr>
              <a:t>𝐂</a:t>
            </a:r>
            <a:r>
              <a:rPr sz="1800" dirty="0">
                <a:latin typeface="Cambria Math"/>
                <a:cs typeface="Cambria Math"/>
              </a:rPr>
              <a:t>𝐦</a:t>
            </a:r>
            <a:r>
              <a:rPr sz="1950" baseline="-14957" dirty="0">
                <a:latin typeface="Cambria Math"/>
                <a:cs typeface="Cambria Math"/>
              </a:rPr>
              <a:t>𝐟</a:t>
            </a:r>
            <a:r>
              <a:rPr sz="1950" spc="75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𝐬𝐢𝐧</a:t>
            </a:r>
            <a:r>
              <a:rPr sz="1800" spc="30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4957" dirty="0">
                <a:latin typeface="Cambria Math"/>
                <a:cs typeface="Cambria Math"/>
              </a:rPr>
              <a:t>𝐜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𝐬𝐢𝐧</a:t>
            </a:r>
            <a:r>
              <a:rPr sz="1800" spc="325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4957" dirty="0">
                <a:latin typeface="Cambria Math"/>
                <a:cs typeface="Cambria Math"/>
              </a:rPr>
              <a:t>𝐦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64540" y="5968695"/>
            <a:ext cx="5003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8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𝐘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223568" y="6076899"/>
            <a:ext cx="26416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25" dirty="0">
                <a:latin typeface="Cambria Math"/>
                <a:cs typeface="Cambria Math"/>
              </a:rPr>
              <a:t>𝐅𝐌</a:t>
            </a:r>
            <a:endParaRPr sz="1300">
              <a:latin typeface="Cambria Math"/>
              <a:cs typeface="Cambria Math"/>
            </a:endParaRPr>
          </a:p>
        </p:txBody>
      </p:sp>
      <p:pic>
        <p:nvPicPr>
          <p:cNvPr id="50" name="object 5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02917" y="6038164"/>
            <a:ext cx="236092" cy="211747"/>
          </a:xfrm>
          <a:prstGeom prst="rect">
            <a:avLst/>
          </a:prstGeom>
        </p:spPr>
      </p:pic>
      <p:sp>
        <p:nvSpPr>
          <p:cNvPr id="51" name="object 51"/>
          <p:cNvSpPr/>
          <p:nvPr/>
        </p:nvSpPr>
        <p:spPr>
          <a:xfrm>
            <a:off x="2702305" y="6038164"/>
            <a:ext cx="512445" cy="212090"/>
          </a:xfrm>
          <a:custGeom>
            <a:avLst/>
            <a:gdLst/>
            <a:ahLst/>
            <a:cxnLst/>
            <a:rect l="l" t="t" r="r" b="b"/>
            <a:pathLst>
              <a:path w="512444" h="212089">
                <a:moveTo>
                  <a:pt x="444373" y="0"/>
                </a:moveTo>
                <a:lnTo>
                  <a:pt x="441325" y="8597"/>
                </a:lnTo>
                <a:lnTo>
                  <a:pt x="453610" y="13917"/>
                </a:lnTo>
                <a:lnTo>
                  <a:pt x="464169" y="21282"/>
                </a:lnTo>
                <a:lnTo>
                  <a:pt x="485560" y="55414"/>
                </a:lnTo>
                <a:lnTo>
                  <a:pt x="492633" y="104813"/>
                </a:lnTo>
                <a:lnTo>
                  <a:pt x="491847" y="123491"/>
                </a:lnTo>
                <a:lnTo>
                  <a:pt x="480060" y="169227"/>
                </a:lnTo>
                <a:lnTo>
                  <a:pt x="453753" y="197807"/>
                </a:lnTo>
                <a:lnTo>
                  <a:pt x="441706" y="203149"/>
                </a:lnTo>
                <a:lnTo>
                  <a:pt x="444373" y="211747"/>
                </a:lnTo>
                <a:lnTo>
                  <a:pt x="484842" y="187715"/>
                </a:lnTo>
                <a:lnTo>
                  <a:pt x="507571" y="143336"/>
                </a:lnTo>
                <a:lnTo>
                  <a:pt x="511937" y="105930"/>
                </a:lnTo>
                <a:lnTo>
                  <a:pt x="510854" y="86751"/>
                </a:lnTo>
                <a:lnTo>
                  <a:pt x="510841" y="86521"/>
                </a:lnTo>
                <a:lnTo>
                  <a:pt x="494411" y="37122"/>
                </a:lnTo>
                <a:lnTo>
                  <a:pt x="459728" y="5548"/>
                </a:lnTo>
                <a:lnTo>
                  <a:pt x="444373" y="0"/>
                </a:lnTo>
                <a:close/>
              </a:path>
              <a:path w="512444" h="212089">
                <a:moveTo>
                  <a:pt x="67564" y="0"/>
                </a:moveTo>
                <a:lnTo>
                  <a:pt x="27166" y="24108"/>
                </a:lnTo>
                <a:lnTo>
                  <a:pt x="4381" y="68583"/>
                </a:lnTo>
                <a:lnTo>
                  <a:pt x="63" y="104813"/>
                </a:lnTo>
                <a:lnTo>
                  <a:pt x="0" y="105930"/>
                </a:lnTo>
                <a:lnTo>
                  <a:pt x="987" y="123491"/>
                </a:lnTo>
                <a:lnTo>
                  <a:pt x="1093" y="125383"/>
                </a:lnTo>
                <a:lnTo>
                  <a:pt x="4365" y="143336"/>
                </a:lnTo>
                <a:lnTo>
                  <a:pt x="27094" y="187715"/>
                </a:lnTo>
                <a:lnTo>
                  <a:pt x="67564" y="211747"/>
                </a:lnTo>
                <a:lnTo>
                  <a:pt x="70231" y="203149"/>
                </a:lnTo>
                <a:lnTo>
                  <a:pt x="58183" y="197807"/>
                </a:lnTo>
                <a:lnTo>
                  <a:pt x="47767" y="190374"/>
                </a:lnTo>
                <a:lnTo>
                  <a:pt x="26376" y="155699"/>
                </a:lnTo>
                <a:lnTo>
                  <a:pt x="19351" y="105930"/>
                </a:lnTo>
                <a:lnTo>
                  <a:pt x="19304" y="104813"/>
                </a:lnTo>
                <a:lnTo>
                  <a:pt x="26376" y="55414"/>
                </a:lnTo>
                <a:lnTo>
                  <a:pt x="47863" y="21282"/>
                </a:lnTo>
                <a:lnTo>
                  <a:pt x="70612" y="8597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1539494" y="5968695"/>
            <a:ext cx="1968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81305" algn="l"/>
                <a:tab pos="1746250" algn="l"/>
              </a:tabLst>
            </a:pP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70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𝐕</a:t>
            </a:r>
            <a:r>
              <a:rPr sz="1950" spc="-30" baseline="-14957" dirty="0">
                <a:latin typeface="Cambria Math"/>
                <a:cs typeface="Cambria Math"/>
              </a:rPr>
              <a:t>𝐂</a:t>
            </a:r>
            <a:r>
              <a:rPr sz="1950" spc="67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295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4957" dirty="0">
                <a:latin typeface="Cambria Math"/>
                <a:cs typeface="Cambria Math"/>
              </a:rPr>
              <a:t>𝐜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+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3506723" y="6135458"/>
            <a:ext cx="521334" cy="15240"/>
          </a:xfrm>
          <a:custGeom>
            <a:avLst/>
            <a:gdLst/>
            <a:ahLst/>
            <a:cxnLst/>
            <a:rect l="l" t="t" r="r" b="b"/>
            <a:pathLst>
              <a:path w="521335" h="15239">
                <a:moveTo>
                  <a:pt x="521208" y="0"/>
                </a:moveTo>
                <a:lnTo>
                  <a:pt x="0" y="0"/>
                </a:lnTo>
                <a:lnTo>
                  <a:pt x="0" y="15240"/>
                </a:lnTo>
                <a:lnTo>
                  <a:pt x="521208" y="15240"/>
                </a:lnTo>
                <a:lnTo>
                  <a:pt x="5212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3506978" y="5794959"/>
            <a:ext cx="456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𝐕</a:t>
            </a:r>
            <a:r>
              <a:rPr sz="1800" spc="30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𝐦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634994" y="5890869"/>
            <a:ext cx="398780" cy="53022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15"/>
              </a:spcBef>
              <a:tabLst>
                <a:tab pos="315595" algn="l"/>
              </a:tabLst>
            </a:pPr>
            <a:r>
              <a:rPr sz="1300" spc="-50" dirty="0">
                <a:latin typeface="Cambria Math"/>
                <a:cs typeface="Cambria Math"/>
              </a:rPr>
              <a:t>𝐂</a:t>
            </a:r>
            <a:r>
              <a:rPr sz="1300" dirty="0">
                <a:latin typeface="Cambria Math"/>
                <a:cs typeface="Cambria Math"/>
              </a:rPr>
              <a:t>	</a:t>
            </a:r>
            <a:r>
              <a:rPr sz="1300" spc="-50" dirty="0">
                <a:latin typeface="Cambria Math"/>
                <a:cs typeface="Cambria Math"/>
              </a:rPr>
              <a:t>𝐟</a:t>
            </a:r>
            <a:endParaRPr sz="1300">
              <a:latin typeface="Cambria Math"/>
              <a:cs typeface="Cambria Math"/>
            </a:endParaRPr>
          </a:p>
          <a:p>
            <a:pPr marL="64135">
              <a:lnSpc>
                <a:spcPct val="100000"/>
              </a:lnSpc>
              <a:spcBef>
                <a:spcPts val="135"/>
              </a:spcBef>
            </a:pPr>
            <a:r>
              <a:rPr sz="1800" spc="-50" dirty="0">
                <a:latin typeface="Cambria Math"/>
                <a:cs typeface="Cambria Math"/>
              </a:rPr>
              <a:t>𝟐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4439665" y="6038164"/>
            <a:ext cx="1216025" cy="212090"/>
          </a:xfrm>
          <a:custGeom>
            <a:avLst/>
            <a:gdLst/>
            <a:ahLst/>
            <a:cxnLst/>
            <a:rect l="l" t="t" r="r" b="b"/>
            <a:pathLst>
              <a:path w="1216025" h="212089">
                <a:moveTo>
                  <a:pt x="1148461" y="0"/>
                </a:moveTo>
                <a:lnTo>
                  <a:pt x="1145413" y="8597"/>
                </a:lnTo>
                <a:lnTo>
                  <a:pt x="1157698" y="13917"/>
                </a:lnTo>
                <a:lnTo>
                  <a:pt x="1168257" y="21282"/>
                </a:lnTo>
                <a:lnTo>
                  <a:pt x="1189648" y="55414"/>
                </a:lnTo>
                <a:lnTo>
                  <a:pt x="1196721" y="104813"/>
                </a:lnTo>
                <a:lnTo>
                  <a:pt x="1195935" y="123491"/>
                </a:lnTo>
                <a:lnTo>
                  <a:pt x="1184148" y="169227"/>
                </a:lnTo>
                <a:lnTo>
                  <a:pt x="1157841" y="197807"/>
                </a:lnTo>
                <a:lnTo>
                  <a:pt x="1145794" y="203149"/>
                </a:lnTo>
                <a:lnTo>
                  <a:pt x="1148461" y="211747"/>
                </a:lnTo>
                <a:lnTo>
                  <a:pt x="1188930" y="187715"/>
                </a:lnTo>
                <a:lnTo>
                  <a:pt x="1211659" y="143336"/>
                </a:lnTo>
                <a:lnTo>
                  <a:pt x="1216025" y="105930"/>
                </a:lnTo>
                <a:lnTo>
                  <a:pt x="1214942" y="86751"/>
                </a:lnTo>
                <a:lnTo>
                  <a:pt x="1214929" y="86521"/>
                </a:lnTo>
                <a:lnTo>
                  <a:pt x="1198499" y="37122"/>
                </a:lnTo>
                <a:lnTo>
                  <a:pt x="1163816" y="5548"/>
                </a:lnTo>
                <a:lnTo>
                  <a:pt x="1148461" y="0"/>
                </a:lnTo>
                <a:close/>
              </a:path>
              <a:path w="1216025" h="212089">
                <a:moveTo>
                  <a:pt x="67564" y="0"/>
                </a:moveTo>
                <a:lnTo>
                  <a:pt x="27166" y="24108"/>
                </a:lnTo>
                <a:lnTo>
                  <a:pt x="4381" y="68583"/>
                </a:lnTo>
                <a:lnTo>
                  <a:pt x="0" y="105930"/>
                </a:lnTo>
                <a:lnTo>
                  <a:pt x="987" y="123491"/>
                </a:lnTo>
                <a:lnTo>
                  <a:pt x="1093" y="125383"/>
                </a:lnTo>
                <a:lnTo>
                  <a:pt x="17399" y="174751"/>
                </a:lnTo>
                <a:lnTo>
                  <a:pt x="52153" y="206213"/>
                </a:lnTo>
                <a:lnTo>
                  <a:pt x="67564" y="211747"/>
                </a:lnTo>
                <a:lnTo>
                  <a:pt x="70231" y="203149"/>
                </a:lnTo>
                <a:lnTo>
                  <a:pt x="58183" y="197807"/>
                </a:lnTo>
                <a:lnTo>
                  <a:pt x="47767" y="190374"/>
                </a:lnTo>
                <a:lnTo>
                  <a:pt x="26376" y="155699"/>
                </a:lnTo>
                <a:lnTo>
                  <a:pt x="19351" y="105930"/>
                </a:lnTo>
                <a:lnTo>
                  <a:pt x="19304" y="104813"/>
                </a:lnTo>
                <a:lnTo>
                  <a:pt x="26376" y="55414"/>
                </a:lnTo>
                <a:lnTo>
                  <a:pt x="47863" y="21282"/>
                </a:lnTo>
                <a:lnTo>
                  <a:pt x="70612" y="8597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4699127" y="6076899"/>
            <a:ext cx="9398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latin typeface="Cambria Math"/>
                <a:cs typeface="Cambria Math"/>
              </a:rPr>
              <a:t>𝐜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066666" y="5968695"/>
            <a:ext cx="12788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34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𝛚</a:t>
            </a:r>
            <a:r>
              <a:rPr sz="1800" spc="3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𝐭 +</a:t>
            </a:r>
            <a:r>
              <a:rPr sz="1800" spc="-1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𝛚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333110" y="6076899"/>
            <a:ext cx="16446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latin typeface="Cambria Math"/>
                <a:cs typeface="Cambria Math"/>
              </a:rPr>
              <a:t>𝐦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494654" y="5968695"/>
            <a:ext cx="415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231140" algn="l"/>
              </a:tabLst>
            </a:pP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−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5948171" y="6135458"/>
            <a:ext cx="521334" cy="15240"/>
          </a:xfrm>
          <a:custGeom>
            <a:avLst/>
            <a:gdLst/>
            <a:ahLst/>
            <a:cxnLst/>
            <a:rect l="l" t="t" r="r" b="b"/>
            <a:pathLst>
              <a:path w="521335" h="15239">
                <a:moveTo>
                  <a:pt x="521208" y="0"/>
                </a:moveTo>
                <a:lnTo>
                  <a:pt x="0" y="0"/>
                </a:lnTo>
                <a:lnTo>
                  <a:pt x="0" y="15240"/>
                </a:lnTo>
                <a:lnTo>
                  <a:pt x="521208" y="15240"/>
                </a:lnTo>
                <a:lnTo>
                  <a:pt x="5212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5948807" y="5794959"/>
            <a:ext cx="456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𝐕</a:t>
            </a:r>
            <a:r>
              <a:rPr sz="1800" spc="30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𝐦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076822" y="5890869"/>
            <a:ext cx="398780" cy="53022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15"/>
              </a:spcBef>
              <a:tabLst>
                <a:tab pos="315595" algn="l"/>
              </a:tabLst>
            </a:pPr>
            <a:r>
              <a:rPr sz="1300" spc="-50" dirty="0">
                <a:latin typeface="Cambria Math"/>
                <a:cs typeface="Cambria Math"/>
              </a:rPr>
              <a:t>𝐂</a:t>
            </a:r>
            <a:r>
              <a:rPr sz="1300" dirty="0">
                <a:latin typeface="Cambria Math"/>
                <a:cs typeface="Cambria Math"/>
              </a:rPr>
              <a:t>	</a:t>
            </a:r>
            <a:r>
              <a:rPr sz="1300" spc="-50" dirty="0">
                <a:latin typeface="Cambria Math"/>
                <a:cs typeface="Cambria Math"/>
              </a:rPr>
              <a:t>𝐟</a:t>
            </a:r>
            <a:endParaRPr sz="1300">
              <a:latin typeface="Cambria Math"/>
              <a:cs typeface="Cambria Math"/>
            </a:endParaRPr>
          </a:p>
          <a:p>
            <a:pPr marL="63500">
              <a:lnSpc>
                <a:spcPct val="100000"/>
              </a:lnSpc>
              <a:spcBef>
                <a:spcPts val="135"/>
              </a:spcBef>
            </a:pPr>
            <a:r>
              <a:rPr sz="1800" spc="-50" dirty="0">
                <a:latin typeface="Cambria Math"/>
                <a:cs typeface="Cambria Math"/>
              </a:rPr>
              <a:t>𝟐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6879590" y="6038164"/>
            <a:ext cx="1217930" cy="212090"/>
          </a:xfrm>
          <a:custGeom>
            <a:avLst/>
            <a:gdLst/>
            <a:ahLst/>
            <a:cxnLst/>
            <a:rect l="l" t="t" r="r" b="b"/>
            <a:pathLst>
              <a:path w="1217929" h="212089">
                <a:moveTo>
                  <a:pt x="1149984" y="0"/>
                </a:moveTo>
                <a:lnTo>
                  <a:pt x="1146936" y="8597"/>
                </a:lnTo>
                <a:lnTo>
                  <a:pt x="1159222" y="13917"/>
                </a:lnTo>
                <a:lnTo>
                  <a:pt x="1169781" y="21282"/>
                </a:lnTo>
                <a:lnTo>
                  <a:pt x="1191172" y="55414"/>
                </a:lnTo>
                <a:lnTo>
                  <a:pt x="1198244" y="104813"/>
                </a:lnTo>
                <a:lnTo>
                  <a:pt x="1197459" y="123491"/>
                </a:lnTo>
                <a:lnTo>
                  <a:pt x="1185671" y="169227"/>
                </a:lnTo>
                <a:lnTo>
                  <a:pt x="1159365" y="197807"/>
                </a:lnTo>
                <a:lnTo>
                  <a:pt x="1147317" y="203149"/>
                </a:lnTo>
                <a:lnTo>
                  <a:pt x="1149984" y="211747"/>
                </a:lnTo>
                <a:lnTo>
                  <a:pt x="1190454" y="187715"/>
                </a:lnTo>
                <a:lnTo>
                  <a:pt x="1213183" y="143336"/>
                </a:lnTo>
                <a:lnTo>
                  <a:pt x="1217548" y="105930"/>
                </a:lnTo>
                <a:lnTo>
                  <a:pt x="1216466" y="86751"/>
                </a:lnTo>
                <a:lnTo>
                  <a:pt x="1216453" y="86521"/>
                </a:lnTo>
                <a:lnTo>
                  <a:pt x="1200022" y="37122"/>
                </a:lnTo>
                <a:lnTo>
                  <a:pt x="1165340" y="5548"/>
                </a:lnTo>
                <a:lnTo>
                  <a:pt x="1149984" y="0"/>
                </a:lnTo>
                <a:close/>
              </a:path>
              <a:path w="1217929" h="212089">
                <a:moveTo>
                  <a:pt x="67563" y="0"/>
                </a:moveTo>
                <a:lnTo>
                  <a:pt x="27166" y="24108"/>
                </a:lnTo>
                <a:lnTo>
                  <a:pt x="4381" y="68583"/>
                </a:lnTo>
                <a:lnTo>
                  <a:pt x="0" y="105930"/>
                </a:lnTo>
                <a:lnTo>
                  <a:pt x="987" y="123491"/>
                </a:lnTo>
                <a:lnTo>
                  <a:pt x="1093" y="125383"/>
                </a:lnTo>
                <a:lnTo>
                  <a:pt x="17398" y="174751"/>
                </a:lnTo>
                <a:lnTo>
                  <a:pt x="52153" y="206213"/>
                </a:lnTo>
                <a:lnTo>
                  <a:pt x="67563" y="211747"/>
                </a:lnTo>
                <a:lnTo>
                  <a:pt x="70230" y="203149"/>
                </a:lnTo>
                <a:lnTo>
                  <a:pt x="58183" y="197807"/>
                </a:lnTo>
                <a:lnTo>
                  <a:pt x="47767" y="190374"/>
                </a:lnTo>
                <a:lnTo>
                  <a:pt x="26376" y="155699"/>
                </a:lnTo>
                <a:lnTo>
                  <a:pt x="19351" y="105930"/>
                </a:lnTo>
                <a:lnTo>
                  <a:pt x="19303" y="104813"/>
                </a:lnTo>
                <a:lnTo>
                  <a:pt x="26376" y="55414"/>
                </a:lnTo>
                <a:lnTo>
                  <a:pt x="47863" y="21282"/>
                </a:lnTo>
                <a:lnTo>
                  <a:pt x="70611" y="8597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7140829" y="6076899"/>
            <a:ext cx="9398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latin typeface="Cambria Math"/>
                <a:cs typeface="Cambria Math"/>
              </a:rPr>
              <a:t>𝐜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774813" y="6076899"/>
            <a:ext cx="16446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latin typeface="Cambria Math"/>
                <a:cs typeface="Cambria Math"/>
              </a:rPr>
              <a:t>𝐦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508368" y="5968695"/>
            <a:ext cx="1527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427480" algn="l"/>
              </a:tabLst>
            </a:pP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34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𝛚</a:t>
            </a:r>
            <a:r>
              <a:rPr sz="1800" spc="3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𝐭</a:t>
            </a:r>
            <a:r>
              <a:rPr sz="1800" spc="-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−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𝛚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1971675" y="5927725"/>
            <a:ext cx="1295400" cy="413384"/>
          </a:xfrm>
          <a:custGeom>
            <a:avLst/>
            <a:gdLst/>
            <a:ahLst/>
            <a:cxnLst/>
            <a:rect l="l" t="t" r="r" b="b"/>
            <a:pathLst>
              <a:path w="1295400" h="413385">
                <a:moveTo>
                  <a:pt x="0" y="412927"/>
                </a:moveTo>
                <a:lnTo>
                  <a:pt x="1295400" y="412927"/>
                </a:lnTo>
                <a:lnTo>
                  <a:pt x="1295400" y="0"/>
                </a:lnTo>
                <a:lnTo>
                  <a:pt x="0" y="0"/>
                </a:lnTo>
                <a:lnTo>
                  <a:pt x="0" y="412927"/>
                </a:lnTo>
                <a:close/>
              </a:path>
            </a:pathLst>
          </a:custGeom>
          <a:ln w="19050">
            <a:solidFill>
              <a:srgbClr val="9DC3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2280030" y="6311290"/>
            <a:ext cx="673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Carrier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3467608" y="5834875"/>
            <a:ext cx="2238375" cy="545465"/>
          </a:xfrm>
          <a:custGeom>
            <a:avLst/>
            <a:gdLst/>
            <a:ahLst/>
            <a:cxnLst/>
            <a:rect l="l" t="t" r="r" b="b"/>
            <a:pathLst>
              <a:path w="2238375" h="545464">
                <a:moveTo>
                  <a:pt x="0" y="544918"/>
                </a:moveTo>
                <a:lnTo>
                  <a:pt x="2237866" y="544918"/>
                </a:lnTo>
                <a:lnTo>
                  <a:pt x="2237866" y="0"/>
                </a:lnTo>
                <a:lnTo>
                  <a:pt x="0" y="0"/>
                </a:lnTo>
                <a:lnTo>
                  <a:pt x="0" y="544918"/>
                </a:lnTo>
                <a:close/>
              </a:path>
            </a:pathLst>
          </a:custGeom>
          <a:ln w="19050">
            <a:solidFill>
              <a:srgbClr val="9DC3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4338065" y="6347256"/>
            <a:ext cx="4114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USB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5903214" y="5834875"/>
            <a:ext cx="2238375" cy="545465"/>
          </a:xfrm>
          <a:custGeom>
            <a:avLst/>
            <a:gdLst/>
            <a:ahLst/>
            <a:cxnLst/>
            <a:rect l="l" t="t" r="r" b="b"/>
            <a:pathLst>
              <a:path w="2238375" h="545464">
                <a:moveTo>
                  <a:pt x="0" y="544918"/>
                </a:moveTo>
                <a:lnTo>
                  <a:pt x="2237866" y="544918"/>
                </a:lnTo>
                <a:lnTo>
                  <a:pt x="2237866" y="0"/>
                </a:lnTo>
                <a:lnTo>
                  <a:pt x="0" y="0"/>
                </a:lnTo>
                <a:lnTo>
                  <a:pt x="0" y="544918"/>
                </a:lnTo>
                <a:close/>
              </a:path>
            </a:pathLst>
          </a:custGeom>
          <a:ln w="19050">
            <a:solidFill>
              <a:srgbClr val="9DC3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6773926" y="6347256"/>
            <a:ext cx="3581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LSB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2088" y="4240783"/>
            <a:ext cx="2686050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6334" y="5882004"/>
            <a:ext cx="2924175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Essential</a:t>
            </a:r>
            <a:r>
              <a:rPr sz="3200" u="sng" spc="-8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Keynotes</a:t>
            </a:r>
            <a:r>
              <a:rPr sz="3200" u="sng" spc="-6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of</a:t>
            </a:r>
            <a:r>
              <a:rPr sz="3200" u="sng" spc="-5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spc="-2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NBFM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7477252" y="712216"/>
            <a:ext cx="681355" cy="282575"/>
          </a:xfrm>
          <a:custGeom>
            <a:avLst/>
            <a:gdLst/>
            <a:ahLst/>
            <a:cxnLst/>
            <a:rect l="l" t="t" r="r" b="b"/>
            <a:pathLst>
              <a:path w="681354" h="282575">
                <a:moveTo>
                  <a:pt x="590930" y="0"/>
                </a:moveTo>
                <a:lnTo>
                  <a:pt x="586866" y="11430"/>
                </a:lnTo>
                <a:lnTo>
                  <a:pt x="603230" y="18504"/>
                </a:lnTo>
                <a:lnTo>
                  <a:pt x="617283" y="28305"/>
                </a:lnTo>
                <a:lnTo>
                  <a:pt x="645816" y="73798"/>
                </a:lnTo>
                <a:lnTo>
                  <a:pt x="654109" y="115339"/>
                </a:lnTo>
                <a:lnTo>
                  <a:pt x="654147" y="115605"/>
                </a:lnTo>
                <a:lnTo>
                  <a:pt x="654145" y="164580"/>
                </a:lnTo>
                <a:lnTo>
                  <a:pt x="645763" y="207529"/>
                </a:lnTo>
                <a:lnTo>
                  <a:pt x="617283" y="253730"/>
                </a:lnTo>
                <a:lnTo>
                  <a:pt x="587374" y="270764"/>
                </a:lnTo>
                <a:lnTo>
                  <a:pt x="590930" y="282321"/>
                </a:lnTo>
                <a:lnTo>
                  <a:pt x="629427" y="264191"/>
                </a:lnTo>
                <a:lnTo>
                  <a:pt x="657732" y="232918"/>
                </a:lnTo>
                <a:lnTo>
                  <a:pt x="675163" y="191023"/>
                </a:lnTo>
                <a:lnTo>
                  <a:pt x="680973" y="141224"/>
                </a:lnTo>
                <a:lnTo>
                  <a:pt x="679534" y="115605"/>
                </a:lnTo>
                <a:lnTo>
                  <a:pt x="667847" y="69429"/>
                </a:lnTo>
                <a:lnTo>
                  <a:pt x="644723" y="32093"/>
                </a:lnTo>
                <a:lnTo>
                  <a:pt x="611385" y="7379"/>
                </a:lnTo>
                <a:lnTo>
                  <a:pt x="590930" y="0"/>
                </a:lnTo>
                <a:close/>
              </a:path>
              <a:path w="681354" h="282575">
                <a:moveTo>
                  <a:pt x="90042" y="0"/>
                </a:moveTo>
                <a:lnTo>
                  <a:pt x="51593" y="18081"/>
                </a:lnTo>
                <a:lnTo>
                  <a:pt x="23240" y="49403"/>
                </a:lnTo>
                <a:lnTo>
                  <a:pt x="5810" y="91408"/>
                </a:lnTo>
                <a:lnTo>
                  <a:pt x="85" y="139700"/>
                </a:lnTo>
                <a:lnTo>
                  <a:pt x="0" y="141224"/>
                </a:lnTo>
                <a:lnTo>
                  <a:pt x="5794" y="191023"/>
                </a:lnTo>
                <a:lnTo>
                  <a:pt x="23113" y="232918"/>
                </a:lnTo>
                <a:lnTo>
                  <a:pt x="51482" y="264191"/>
                </a:lnTo>
                <a:lnTo>
                  <a:pt x="90042" y="282321"/>
                </a:lnTo>
                <a:lnTo>
                  <a:pt x="93598" y="270764"/>
                </a:lnTo>
                <a:lnTo>
                  <a:pt x="77475" y="263646"/>
                </a:lnTo>
                <a:lnTo>
                  <a:pt x="63579" y="253730"/>
                </a:lnTo>
                <a:lnTo>
                  <a:pt x="35083" y="207529"/>
                </a:lnTo>
                <a:lnTo>
                  <a:pt x="26701" y="164580"/>
                </a:lnTo>
                <a:lnTo>
                  <a:pt x="25653" y="139700"/>
                </a:lnTo>
                <a:lnTo>
                  <a:pt x="26701" y="115605"/>
                </a:lnTo>
                <a:lnTo>
                  <a:pt x="35083" y="73798"/>
                </a:lnTo>
                <a:lnTo>
                  <a:pt x="63674" y="28305"/>
                </a:lnTo>
                <a:lnTo>
                  <a:pt x="93979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344027" y="622172"/>
            <a:ext cx="363410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2145" algn="l"/>
                <a:tab pos="1237615" algn="l"/>
                <a:tab pos="2510155" algn="l"/>
                <a:tab pos="3424554" algn="l"/>
              </a:tabLst>
            </a:pP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Message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26616" y="1077975"/>
            <a:ext cx="774065" cy="282575"/>
          </a:xfrm>
          <a:custGeom>
            <a:avLst/>
            <a:gdLst/>
            <a:ahLst/>
            <a:cxnLst/>
            <a:rect l="l" t="t" r="r" b="b"/>
            <a:pathLst>
              <a:path w="774064" h="282575">
                <a:moveTo>
                  <a:pt x="683894" y="0"/>
                </a:moveTo>
                <a:lnTo>
                  <a:pt x="679830" y="11430"/>
                </a:lnTo>
                <a:lnTo>
                  <a:pt x="696194" y="18504"/>
                </a:lnTo>
                <a:lnTo>
                  <a:pt x="710247" y="28305"/>
                </a:lnTo>
                <a:lnTo>
                  <a:pt x="738780" y="73798"/>
                </a:lnTo>
                <a:lnTo>
                  <a:pt x="747073" y="115339"/>
                </a:lnTo>
                <a:lnTo>
                  <a:pt x="747111" y="115605"/>
                </a:lnTo>
                <a:lnTo>
                  <a:pt x="747109" y="164580"/>
                </a:lnTo>
                <a:lnTo>
                  <a:pt x="738727" y="207529"/>
                </a:lnTo>
                <a:lnTo>
                  <a:pt x="710247" y="253730"/>
                </a:lnTo>
                <a:lnTo>
                  <a:pt x="680338" y="270764"/>
                </a:lnTo>
                <a:lnTo>
                  <a:pt x="683894" y="282321"/>
                </a:lnTo>
                <a:lnTo>
                  <a:pt x="722391" y="264191"/>
                </a:lnTo>
                <a:lnTo>
                  <a:pt x="750696" y="232918"/>
                </a:lnTo>
                <a:lnTo>
                  <a:pt x="768127" y="191023"/>
                </a:lnTo>
                <a:lnTo>
                  <a:pt x="773938" y="141224"/>
                </a:lnTo>
                <a:lnTo>
                  <a:pt x="772498" y="115605"/>
                </a:lnTo>
                <a:lnTo>
                  <a:pt x="760811" y="69429"/>
                </a:lnTo>
                <a:lnTo>
                  <a:pt x="737687" y="32093"/>
                </a:lnTo>
                <a:lnTo>
                  <a:pt x="704349" y="7379"/>
                </a:lnTo>
                <a:lnTo>
                  <a:pt x="683894" y="0"/>
                </a:lnTo>
                <a:close/>
              </a:path>
              <a:path w="774064" h="282575">
                <a:moveTo>
                  <a:pt x="90042" y="0"/>
                </a:moveTo>
                <a:lnTo>
                  <a:pt x="51593" y="18081"/>
                </a:lnTo>
                <a:lnTo>
                  <a:pt x="23240" y="49403"/>
                </a:lnTo>
                <a:lnTo>
                  <a:pt x="5810" y="91408"/>
                </a:lnTo>
                <a:lnTo>
                  <a:pt x="85" y="139700"/>
                </a:lnTo>
                <a:lnTo>
                  <a:pt x="0" y="141224"/>
                </a:lnTo>
                <a:lnTo>
                  <a:pt x="5794" y="191023"/>
                </a:lnTo>
                <a:lnTo>
                  <a:pt x="23113" y="232918"/>
                </a:lnTo>
                <a:lnTo>
                  <a:pt x="51482" y="264191"/>
                </a:lnTo>
                <a:lnTo>
                  <a:pt x="90042" y="282321"/>
                </a:lnTo>
                <a:lnTo>
                  <a:pt x="93598" y="270764"/>
                </a:lnTo>
                <a:lnTo>
                  <a:pt x="77475" y="263646"/>
                </a:lnTo>
                <a:lnTo>
                  <a:pt x="63579" y="253730"/>
                </a:lnTo>
                <a:lnTo>
                  <a:pt x="35083" y="207529"/>
                </a:lnTo>
                <a:lnTo>
                  <a:pt x="26701" y="164580"/>
                </a:lnTo>
                <a:lnTo>
                  <a:pt x="25653" y="139700"/>
                </a:lnTo>
                <a:lnTo>
                  <a:pt x="26701" y="115605"/>
                </a:lnTo>
                <a:lnTo>
                  <a:pt x="35083" y="73798"/>
                </a:lnTo>
                <a:lnTo>
                  <a:pt x="63674" y="28305"/>
                </a:lnTo>
                <a:lnTo>
                  <a:pt x="93979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12039" y="622172"/>
            <a:ext cx="78733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19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81965" algn="l"/>
                <a:tab pos="1769745" algn="l"/>
                <a:tab pos="2193925" algn="l"/>
                <a:tab pos="3134360" algn="l"/>
                <a:tab pos="3577590" algn="l"/>
                <a:tab pos="4161154" algn="l"/>
                <a:tab pos="5153660" algn="l"/>
                <a:tab pos="6045200" algn="l"/>
                <a:tab pos="6405245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Equation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NBFM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{If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carrier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spc="-30" dirty="0">
                <a:solidFill>
                  <a:srgbClr val="6F2F9F"/>
                </a:solidFill>
                <a:latin typeface="Cambria Math"/>
                <a:cs typeface="Cambria Math"/>
              </a:rPr>
              <a:t>𝐕</a:t>
            </a:r>
            <a:r>
              <a:rPr sz="2625" spc="-44" baseline="-15873" dirty="0">
                <a:solidFill>
                  <a:srgbClr val="6F2F9F"/>
                </a:solidFill>
                <a:latin typeface="Cambria Math"/>
                <a:cs typeface="Cambria Math"/>
              </a:rPr>
              <a:t>𝐂</a:t>
            </a:r>
            <a:r>
              <a:rPr sz="2625" spc="75" baseline="-15873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𝐜𝐨𝐬</a:t>
            </a:r>
            <a:r>
              <a:rPr sz="2400" spc="32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spc="-25" dirty="0">
                <a:solidFill>
                  <a:srgbClr val="6F2F9F"/>
                </a:solidFill>
                <a:latin typeface="Cambria Math"/>
                <a:cs typeface="Cambria Math"/>
              </a:rPr>
              <a:t>𝛚</a:t>
            </a:r>
            <a:r>
              <a:rPr sz="2625" spc="-37" baseline="-15873" dirty="0">
                <a:solidFill>
                  <a:srgbClr val="6F2F9F"/>
                </a:solidFill>
                <a:latin typeface="Cambria Math"/>
                <a:cs typeface="Cambria Math"/>
              </a:rPr>
              <a:t>𝐜</a:t>
            </a:r>
            <a:r>
              <a:rPr sz="2400" spc="-25" dirty="0">
                <a:solidFill>
                  <a:srgbClr val="6F2F9F"/>
                </a:solidFill>
                <a:latin typeface="Cambria Math"/>
                <a:cs typeface="Cambria Math"/>
              </a:rPr>
              <a:t>𝐭</a:t>
            </a:r>
            <a:endParaRPr sz="2400">
              <a:latin typeface="Cambria Math"/>
              <a:cs typeface="Cambria Math"/>
            </a:endParaRPr>
          </a:p>
          <a:p>
            <a:pPr marL="482600">
              <a:lnSpc>
                <a:spcPct val="100000"/>
              </a:lnSpc>
            </a:pPr>
            <a:r>
              <a:rPr sz="2400" spc="-35" dirty="0">
                <a:solidFill>
                  <a:srgbClr val="6F2F9F"/>
                </a:solidFill>
                <a:latin typeface="Cambria Math"/>
                <a:cs typeface="Cambria Math"/>
              </a:rPr>
              <a:t>𝐕</a:t>
            </a:r>
            <a:r>
              <a:rPr sz="2625" spc="-52" baseline="-15873" dirty="0">
                <a:solidFill>
                  <a:srgbClr val="6F2F9F"/>
                </a:solidFill>
                <a:latin typeface="Cambria Math"/>
                <a:cs typeface="Cambria Math"/>
              </a:rPr>
              <a:t>𝐦</a:t>
            </a:r>
            <a:r>
              <a:rPr sz="2625" spc="142" baseline="-15873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𝐜𝐨𝐬</a:t>
            </a:r>
            <a:r>
              <a:rPr sz="2400" spc="409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𝛚</a:t>
            </a:r>
            <a:r>
              <a:rPr sz="2625" baseline="-15873" dirty="0">
                <a:solidFill>
                  <a:srgbClr val="6F2F9F"/>
                </a:solidFill>
                <a:latin typeface="Cambria Math"/>
                <a:cs typeface="Cambria Math"/>
              </a:rPr>
              <a:t>𝐦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𝐭</a:t>
            </a:r>
            <a:r>
              <a:rPr sz="2400" spc="409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}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by: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3717" y="1655698"/>
            <a:ext cx="236092" cy="211709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2753105" y="1655698"/>
            <a:ext cx="512445" cy="212090"/>
          </a:xfrm>
          <a:custGeom>
            <a:avLst/>
            <a:gdLst/>
            <a:ahLst/>
            <a:cxnLst/>
            <a:rect l="l" t="t" r="r" b="b"/>
            <a:pathLst>
              <a:path w="512445" h="212089">
                <a:moveTo>
                  <a:pt x="444373" y="0"/>
                </a:moveTo>
                <a:lnTo>
                  <a:pt x="441325" y="8509"/>
                </a:lnTo>
                <a:lnTo>
                  <a:pt x="453610" y="13892"/>
                </a:lnTo>
                <a:lnTo>
                  <a:pt x="464169" y="21288"/>
                </a:lnTo>
                <a:lnTo>
                  <a:pt x="485560" y="55429"/>
                </a:lnTo>
                <a:lnTo>
                  <a:pt x="491812" y="86483"/>
                </a:lnTo>
                <a:lnTo>
                  <a:pt x="491847" y="86723"/>
                </a:lnTo>
                <a:lnTo>
                  <a:pt x="492633" y="104775"/>
                </a:lnTo>
                <a:lnTo>
                  <a:pt x="491847" y="123444"/>
                </a:lnTo>
                <a:lnTo>
                  <a:pt x="489489" y="140398"/>
                </a:lnTo>
                <a:lnTo>
                  <a:pt x="472942" y="180784"/>
                </a:lnTo>
                <a:lnTo>
                  <a:pt x="441706" y="203073"/>
                </a:lnTo>
                <a:lnTo>
                  <a:pt x="444373" y="211709"/>
                </a:lnTo>
                <a:lnTo>
                  <a:pt x="484842" y="187706"/>
                </a:lnTo>
                <a:lnTo>
                  <a:pt x="507571" y="143335"/>
                </a:lnTo>
                <a:lnTo>
                  <a:pt x="511937" y="105918"/>
                </a:lnTo>
                <a:lnTo>
                  <a:pt x="510855" y="86723"/>
                </a:lnTo>
                <a:lnTo>
                  <a:pt x="510841" y="86483"/>
                </a:lnTo>
                <a:lnTo>
                  <a:pt x="494411" y="37084"/>
                </a:lnTo>
                <a:lnTo>
                  <a:pt x="459728" y="5526"/>
                </a:lnTo>
                <a:lnTo>
                  <a:pt x="444373" y="0"/>
                </a:lnTo>
                <a:close/>
              </a:path>
              <a:path w="512445" h="212089">
                <a:moveTo>
                  <a:pt x="67564" y="0"/>
                </a:moveTo>
                <a:lnTo>
                  <a:pt x="27166" y="24056"/>
                </a:lnTo>
                <a:lnTo>
                  <a:pt x="4381" y="68548"/>
                </a:lnTo>
                <a:lnTo>
                  <a:pt x="64" y="104775"/>
                </a:lnTo>
                <a:lnTo>
                  <a:pt x="0" y="105918"/>
                </a:lnTo>
                <a:lnTo>
                  <a:pt x="985" y="123444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6"/>
                </a:lnTo>
                <a:lnTo>
                  <a:pt x="67564" y="211709"/>
                </a:lnTo>
                <a:lnTo>
                  <a:pt x="70231" y="203073"/>
                </a:lnTo>
                <a:lnTo>
                  <a:pt x="58183" y="197738"/>
                </a:lnTo>
                <a:lnTo>
                  <a:pt x="47767" y="190309"/>
                </a:lnTo>
                <a:lnTo>
                  <a:pt x="26376" y="155638"/>
                </a:lnTo>
                <a:lnTo>
                  <a:pt x="19352" y="105918"/>
                </a:lnTo>
                <a:lnTo>
                  <a:pt x="19304" y="104775"/>
                </a:lnTo>
                <a:lnTo>
                  <a:pt x="20089" y="86723"/>
                </a:lnTo>
                <a:lnTo>
                  <a:pt x="31877" y="42164"/>
                </a:lnTo>
                <a:lnTo>
                  <a:pt x="58398" y="13892"/>
                </a:lnTo>
                <a:lnTo>
                  <a:pt x="70612" y="8509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223897" y="1693544"/>
            <a:ext cx="883919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789305" algn="l"/>
              </a:tabLst>
            </a:pPr>
            <a:r>
              <a:rPr sz="1300" spc="-50" dirty="0">
                <a:latin typeface="Cambria Math"/>
                <a:cs typeface="Cambria Math"/>
              </a:rPr>
              <a:t>𝐂</a:t>
            </a:r>
            <a:r>
              <a:rPr sz="1300" dirty="0">
                <a:latin typeface="Cambria Math"/>
                <a:cs typeface="Cambria Math"/>
              </a:rPr>
              <a:t>	</a:t>
            </a:r>
            <a:r>
              <a:rPr sz="1300" spc="-50" dirty="0">
                <a:latin typeface="Cambria Math"/>
                <a:cs typeface="Cambria Math"/>
              </a:rPr>
              <a:t>𝐜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7341" y="1585340"/>
            <a:ext cx="2451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094105" algn="l"/>
              </a:tabLst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4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𝐘</a:t>
            </a:r>
            <a:r>
              <a:rPr sz="1950" baseline="-14957" dirty="0">
                <a:latin typeface="Cambria Math"/>
                <a:cs typeface="Cambria Math"/>
              </a:rPr>
              <a:t>𝐅𝐌</a:t>
            </a:r>
            <a:r>
              <a:rPr sz="1950" spc="652" baseline="-14957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1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𝐕</a:t>
            </a:r>
            <a:r>
              <a:rPr sz="1800" spc="90" dirty="0">
                <a:latin typeface="Cambria Math"/>
                <a:cs typeface="Cambria Math"/>
              </a:rPr>
              <a:t>  </a:t>
            </a: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34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𝛚</a:t>
            </a:r>
            <a:r>
              <a:rPr sz="1800" spc="30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24225" y="1585340"/>
            <a:ext cx="196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+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557523" y="1752980"/>
            <a:ext cx="521334" cy="15240"/>
          </a:xfrm>
          <a:custGeom>
            <a:avLst/>
            <a:gdLst/>
            <a:ahLst/>
            <a:cxnLst/>
            <a:rect l="l" t="t" r="r" b="b"/>
            <a:pathLst>
              <a:path w="521335" h="15239">
                <a:moveTo>
                  <a:pt x="521208" y="0"/>
                </a:moveTo>
                <a:lnTo>
                  <a:pt x="0" y="0"/>
                </a:lnTo>
                <a:lnTo>
                  <a:pt x="0" y="15239"/>
                </a:lnTo>
                <a:lnTo>
                  <a:pt x="521208" y="15239"/>
                </a:lnTo>
                <a:lnTo>
                  <a:pt x="5212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685921" y="1506792"/>
            <a:ext cx="398780" cy="53086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20"/>
              </a:spcBef>
              <a:tabLst>
                <a:tab pos="314960" algn="l"/>
              </a:tabLst>
            </a:pPr>
            <a:r>
              <a:rPr sz="1300" spc="-50" dirty="0">
                <a:latin typeface="Cambria Math"/>
                <a:cs typeface="Cambria Math"/>
              </a:rPr>
              <a:t>𝐂</a:t>
            </a:r>
            <a:r>
              <a:rPr sz="1300" dirty="0">
                <a:latin typeface="Cambria Math"/>
                <a:cs typeface="Cambria Math"/>
              </a:rPr>
              <a:t>	</a:t>
            </a:r>
            <a:r>
              <a:rPr sz="1300" spc="-50" dirty="0">
                <a:latin typeface="Cambria Math"/>
                <a:cs typeface="Cambria Math"/>
              </a:rPr>
              <a:t>𝐟</a:t>
            </a:r>
            <a:endParaRPr sz="1300">
              <a:latin typeface="Cambria Math"/>
              <a:cs typeface="Cambria Math"/>
            </a:endParaRPr>
          </a:p>
          <a:p>
            <a:pPr marL="63500">
              <a:lnSpc>
                <a:spcPct val="100000"/>
              </a:lnSpc>
              <a:spcBef>
                <a:spcPts val="135"/>
              </a:spcBef>
            </a:pPr>
            <a:r>
              <a:rPr sz="1800" spc="-50" dirty="0">
                <a:latin typeface="Cambria Math"/>
                <a:cs typeface="Cambria Math"/>
              </a:rPr>
              <a:t>𝟐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490465" y="1655698"/>
            <a:ext cx="1216025" cy="212090"/>
          </a:xfrm>
          <a:custGeom>
            <a:avLst/>
            <a:gdLst/>
            <a:ahLst/>
            <a:cxnLst/>
            <a:rect l="l" t="t" r="r" b="b"/>
            <a:pathLst>
              <a:path w="1216025" h="212089">
                <a:moveTo>
                  <a:pt x="1148461" y="0"/>
                </a:moveTo>
                <a:lnTo>
                  <a:pt x="1145413" y="8509"/>
                </a:lnTo>
                <a:lnTo>
                  <a:pt x="1157698" y="13892"/>
                </a:lnTo>
                <a:lnTo>
                  <a:pt x="1168257" y="21288"/>
                </a:lnTo>
                <a:lnTo>
                  <a:pt x="1189648" y="55429"/>
                </a:lnTo>
                <a:lnTo>
                  <a:pt x="1195900" y="86483"/>
                </a:lnTo>
                <a:lnTo>
                  <a:pt x="1195935" y="86723"/>
                </a:lnTo>
                <a:lnTo>
                  <a:pt x="1196721" y="104775"/>
                </a:lnTo>
                <a:lnTo>
                  <a:pt x="1195935" y="123444"/>
                </a:lnTo>
                <a:lnTo>
                  <a:pt x="1193577" y="140398"/>
                </a:lnTo>
                <a:lnTo>
                  <a:pt x="1177030" y="180784"/>
                </a:lnTo>
                <a:lnTo>
                  <a:pt x="1145794" y="203073"/>
                </a:lnTo>
                <a:lnTo>
                  <a:pt x="1148461" y="211709"/>
                </a:lnTo>
                <a:lnTo>
                  <a:pt x="1188930" y="187706"/>
                </a:lnTo>
                <a:lnTo>
                  <a:pt x="1211659" y="143335"/>
                </a:lnTo>
                <a:lnTo>
                  <a:pt x="1216025" y="105918"/>
                </a:lnTo>
                <a:lnTo>
                  <a:pt x="1214943" y="86723"/>
                </a:lnTo>
                <a:lnTo>
                  <a:pt x="1214929" y="86483"/>
                </a:lnTo>
                <a:lnTo>
                  <a:pt x="1198499" y="37084"/>
                </a:lnTo>
                <a:lnTo>
                  <a:pt x="1163816" y="5526"/>
                </a:lnTo>
                <a:lnTo>
                  <a:pt x="1148461" y="0"/>
                </a:lnTo>
                <a:close/>
              </a:path>
              <a:path w="1216025" h="212089">
                <a:moveTo>
                  <a:pt x="67564" y="0"/>
                </a:moveTo>
                <a:lnTo>
                  <a:pt x="27166" y="24056"/>
                </a:lnTo>
                <a:lnTo>
                  <a:pt x="4381" y="68548"/>
                </a:lnTo>
                <a:lnTo>
                  <a:pt x="64" y="104775"/>
                </a:lnTo>
                <a:lnTo>
                  <a:pt x="0" y="105918"/>
                </a:lnTo>
                <a:lnTo>
                  <a:pt x="985" y="123444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6"/>
                </a:lnTo>
                <a:lnTo>
                  <a:pt x="67564" y="211709"/>
                </a:lnTo>
                <a:lnTo>
                  <a:pt x="70231" y="203073"/>
                </a:lnTo>
                <a:lnTo>
                  <a:pt x="58183" y="197738"/>
                </a:lnTo>
                <a:lnTo>
                  <a:pt x="47767" y="190309"/>
                </a:lnTo>
                <a:lnTo>
                  <a:pt x="26376" y="155638"/>
                </a:lnTo>
                <a:lnTo>
                  <a:pt x="19352" y="105918"/>
                </a:lnTo>
                <a:lnTo>
                  <a:pt x="19304" y="104775"/>
                </a:lnTo>
                <a:lnTo>
                  <a:pt x="26376" y="55429"/>
                </a:lnTo>
                <a:lnTo>
                  <a:pt x="47863" y="21288"/>
                </a:lnTo>
                <a:lnTo>
                  <a:pt x="70612" y="8509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117213" y="1585340"/>
            <a:ext cx="1279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34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𝛚</a:t>
            </a:r>
            <a:r>
              <a:rPr sz="1800" spc="3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𝐭 +</a:t>
            </a:r>
            <a:r>
              <a:rPr sz="1800" spc="-1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𝛚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50053" y="1693544"/>
            <a:ext cx="79883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  <a:tabLst>
                <a:tab pos="633730" algn="l"/>
              </a:tabLst>
            </a:pPr>
            <a:r>
              <a:rPr sz="1300" spc="-50" dirty="0">
                <a:latin typeface="Cambria Math"/>
                <a:cs typeface="Cambria Math"/>
              </a:rPr>
              <a:t>𝐜</a:t>
            </a:r>
            <a:r>
              <a:rPr sz="1300" dirty="0">
                <a:latin typeface="Cambria Math"/>
                <a:cs typeface="Cambria Math"/>
              </a:rPr>
              <a:t>	</a:t>
            </a:r>
            <a:r>
              <a:rPr sz="1300" spc="-50" dirty="0">
                <a:latin typeface="Cambria Math"/>
                <a:cs typeface="Cambria Math"/>
              </a:rPr>
              <a:t>𝐦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45582" y="1585340"/>
            <a:ext cx="415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231140" algn="l"/>
              </a:tabLst>
            </a:pP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−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998971" y="1752980"/>
            <a:ext cx="521334" cy="15240"/>
          </a:xfrm>
          <a:custGeom>
            <a:avLst/>
            <a:gdLst/>
            <a:ahLst/>
            <a:cxnLst/>
            <a:rect l="l" t="t" r="r" b="b"/>
            <a:pathLst>
              <a:path w="521334" h="15239">
                <a:moveTo>
                  <a:pt x="521207" y="0"/>
                </a:moveTo>
                <a:lnTo>
                  <a:pt x="0" y="0"/>
                </a:lnTo>
                <a:lnTo>
                  <a:pt x="0" y="15239"/>
                </a:lnTo>
                <a:lnTo>
                  <a:pt x="521207" y="15239"/>
                </a:lnTo>
                <a:lnTo>
                  <a:pt x="5212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557904" y="1411046"/>
            <a:ext cx="28981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2441575" algn="l"/>
              </a:tabLst>
            </a:pPr>
            <a:r>
              <a:rPr sz="1800" dirty="0">
                <a:latin typeface="Cambria Math"/>
                <a:cs typeface="Cambria Math"/>
              </a:rPr>
              <a:t>𝐕</a:t>
            </a:r>
            <a:r>
              <a:rPr sz="1800" spc="30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𝐦</a:t>
            </a:r>
            <a:r>
              <a:rPr sz="1800" dirty="0">
                <a:latin typeface="Cambria Math"/>
                <a:cs typeface="Cambria Math"/>
              </a:rPr>
              <a:t>	𝐕</a:t>
            </a:r>
            <a:r>
              <a:rPr sz="1800" spc="30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𝐦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27750" y="1506792"/>
            <a:ext cx="398780" cy="53086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20"/>
              </a:spcBef>
              <a:tabLst>
                <a:tab pos="314960" algn="l"/>
              </a:tabLst>
            </a:pPr>
            <a:r>
              <a:rPr sz="1300" spc="-50" dirty="0">
                <a:latin typeface="Cambria Math"/>
                <a:cs typeface="Cambria Math"/>
              </a:rPr>
              <a:t>𝐂</a:t>
            </a:r>
            <a:r>
              <a:rPr sz="1300" dirty="0">
                <a:latin typeface="Cambria Math"/>
                <a:cs typeface="Cambria Math"/>
              </a:rPr>
              <a:t>	</a:t>
            </a:r>
            <a:r>
              <a:rPr sz="1300" spc="-50" dirty="0">
                <a:latin typeface="Cambria Math"/>
                <a:cs typeface="Cambria Math"/>
              </a:rPr>
              <a:t>𝐟</a:t>
            </a:r>
            <a:endParaRPr sz="1300">
              <a:latin typeface="Cambria Math"/>
              <a:cs typeface="Cambria Math"/>
            </a:endParaRPr>
          </a:p>
          <a:p>
            <a:pPr marL="63500">
              <a:lnSpc>
                <a:spcPct val="100000"/>
              </a:lnSpc>
              <a:spcBef>
                <a:spcPts val="135"/>
              </a:spcBef>
            </a:pPr>
            <a:r>
              <a:rPr sz="1800" spc="-50" dirty="0">
                <a:latin typeface="Cambria Math"/>
                <a:cs typeface="Cambria Math"/>
              </a:rPr>
              <a:t>𝟐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930390" y="1655698"/>
            <a:ext cx="1217930" cy="212090"/>
          </a:xfrm>
          <a:custGeom>
            <a:avLst/>
            <a:gdLst/>
            <a:ahLst/>
            <a:cxnLst/>
            <a:rect l="l" t="t" r="r" b="b"/>
            <a:pathLst>
              <a:path w="1217929" h="212089">
                <a:moveTo>
                  <a:pt x="1149984" y="0"/>
                </a:moveTo>
                <a:lnTo>
                  <a:pt x="1146936" y="8509"/>
                </a:lnTo>
                <a:lnTo>
                  <a:pt x="1159222" y="13892"/>
                </a:lnTo>
                <a:lnTo>
                  <a:pt x="1169781" y="21288"/>
                </a:lnTo>
                <a:lnTo>
                  <a:pt x="1191172" y="55429"/>
                </a:lnTo>
                <a:lnTo>
                  <a:pt x="1197424" y="86483"/>
                </a:lnTo>
                <a:lnTo>
                  <a:pt x="1197459" y="86723"/>
                </a:lnTo>
                <a:lnTo>
                  <a:pt x="1198244" y="104775"/>
                </a:lnTo>
                <a:lnTo>
                  <a:pt x="1197459" y="123444"/>
                </a:lnTo>
                <a:lnTo>
                  <a:pt x="1195101" y="140398"/>
                </a:lnTo>
                <a:lnTo>
                  <a:pt x="1178554" y="180784"/>
                </a:lnTo>
                <a:lnTo>
                  <a:pt x="1147317" y="203073"/>
                </a:lnTo>
                <a:lnTo>
                  <a:pt x="1149984" y="211709"/>
                </a:lnTo>
                <a:lnTo>
                  <a:pt x="1190454" y="187706"/>
                </a:lnTo>
                <a:lnTo>
                  <a:pt x="1213183" y="143335"/>
                </a:lnTo>
                <a:lnTo>
                  <a:pt x="1217548" y="105918"/>
                </a:lnTo>
                <a:lnTo>
                  <a:pt x="1216467" y="86723"/>
                </a:lnTo>
                <a:lnTo>
                  <a:pt x="1216453" y="86483"/>
                </a:lnTo>
                <a:lnTo>
                  <a:pt x="1200022" y="37084"/>
                </a:lnTo>
                <a:lnTo>
                  <a:pt x="1165340" y="5526"/>
                </a:lnTo>
                <a:lnTo>
                  <a:pt x="1149984" y="0"/>
                </a:lnTo>
                <a:close/>
              </a:path>
              <a:path w="1217929" h="212089">
                <a:moveTo>
                  <a:pt x="67563" y="0"/>
                </a:moveTo>
                <a:lnTo>
                  <a:pt x="27166" y="24056"/>
                </a:lnTo>
                <a:lnTo>
                  <a:pt x="4381" y="68548"/>
                </a:lnTo>
                <a:lnTo>
                  <a:pt x="64" y="104775"/>
                </a:lnTo>
                <a:lnTo>
                  <a:pt x="0" y="105918"/>
                </a:lnTo>
                <a:lnTo>
                  <a:pt x="985" y="123444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6"/>
                </a:lnTo>
                <a:lnTo>
                  <a:pt x="67563" y="211709"/>
                </a:lnTo>
                <a:lnTo>
                  <a:pt x="70230" y="203073"/>
                </a:lnTo>
                <a:lnTo>
                  <a:pt x="58183" y="197738"/>
                </a:lnTo>
                <a:lnTo>
                  <a:pt x="47767" y="190309"/>
                </a:lnTo>
                <a:lnTo>
                  <a:pt x="26376" y="155638"/>
                </a:lnTo>
                <a:lnTo>
                  <a:pt x="19352" y="105918"/>
                </a:lnTo>
                <a:lnTo>
                  <a:pt x="19303" y="104775"/>
                </a:lnTo>
                <a:lnTo>
                  <a:pt x="26376" y="55429"/>
                </a:lnTo>
                <a:lnTo>
                  <a:pt x="47863" y="21288"/>
                </a:lnTo>
                <a:lnTo>
                  <a:pt x="70611" y="8509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191756" y="1693544"/>
            <a:ext cx="9398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latin typeface="Cambria Math"/>
                <a:cs typeface="Cambria Math"/>
              </a:rPr>
              <a:t>𝐜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25740" y="1693544"/>
            <a:ext cx="16446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latin typeface="Cambria Math"/>
                <a:cs typeface="Cambria Math"/>
              </a:rPr>
              <a:t>𝐦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559042" y="1585340"/>
            <a:ext cx="1527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428115" algn="l"/>
              </a:tabLst>
            </a:pP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34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𝛚</a:t>
            </a:r>
            <a:r>
              <a:rPr sz="1800" spc="3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𝐭</a:t>
            </a:r>
            <a:r>
              <a:rPr sz="1800" spc="-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−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𝛚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022475" y="1545285"/>
            <a:ext cx="1295400" cy="413384"/>
          </a:xfrm>
          <a:custGeom>
            <a:avLst/>
            <a:gdLst/>
            <a:ahLst/>
            <a:cxnLst/>
            <a:rect l="l" t="t" r="r" b="b"/>
            <a:pathLst>
              <a:path w="1295400" h="413385">
                <a:moveTo>
                  <a:pt x="0" y="412927"/>
                </a:moveTo>
                <a:lnTo>
                  <a:pt x="1295400" y="412927"/>
                </a:lnTo>
                <a:lnTo>
                  <a:pt x="1295400" y="0"/>
                </a:lnTo>
                <a:lnTo>
                  <a:pt x="0" y="0"/>
                </a:lnTo>
                <a:lnTo>
                  <a:pt x="0" y="412927"/>
                </a:lnTo>
                <a:close/>
              </a:path>
            </a:pathLst>
          </a:custGeom>
          <a:ln w="19050">
            <a:solidFill>
              <a:srgbClr val="9DC3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518408" y="1452410"/>
            <a:ext cx="2238375" cy="545465"/>
          </a:xfrm>
          <a:custGeom>
            <a:avLst/>
            <a:gdLst/>
            <a:ahLst/>
            <a:cxnLst/>
            <a:rect l="l" t="t" r="r" b="b"/>
            <a:pathLst>
              <a:path w="2238375" h="545464">
                <a:moveTo>
                  <a:pt x="0" y="544918"/>
                </a:moveTo>
                <a:lnTo>
                  <a:pt x="2237866" y="544918"/>
                </a:lnTo>
                <a:lnTo>
                  <a:pt x="2237866" y="0"/>
                </a:lnTo>
                <a:lnTo>
                  <a:pt x="0" y="0"/>
                </a:lnTo>
                <a:lnTo>
                  <a:pt x="0" y="544918"/>
                </a:lnTo>
                <a:close/>
              </a:path>
            </a:pathLst>
          </a:custGeom>
          <a:ln w="19050">
            <a:solidFill>
              <a:srgbClr val="9DC3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954014" y="1452410"/>
            <a:ext cx="2238375" cy="545465"/>
          </a:xfrm>
          <a:custGeom>
            <a:avLst/>
            <a:gdLst/>
            <a:ahLst/>
            <a:cxnLst/>
            <a:rect l="l" t="t" r="r" b="b"/>
            <a:pathLst>
              <a:path w="2238375" h="545464">
                <a:moveTo>
                  <a:pt x="0" y="544918"/>
                </a:moveTo>
                <a:lnTo>
                  <a:pt x="2237866" y="544918"/>
                </a:lnTo>
                <a:lnTo>
                  <a:pt x="2237866" y="0"/>
                </a:lnTo>
                <a:lnTo>
                  <a:pt x="0" y="0"/>
                </a:lnTo>
                <a:lnTo>
                  <a:pt x="0" y="544918"/>
                </a:lnTo>
                <a:close/>
              </a:path>
            </a:pathLst>
          </a:custGeom>
          <a:ln w="19050">
            <a:solidFill>
              <a:srgbClr val="9DC3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824853" y="1963928"/>
            <a:ext cx="3581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LSB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9" name="object 2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3717" y="2349245"/>
            <a:ext cx="236092" cy="211709"/>
          </a:xfrm>
          <a:prstGeom prst="rect">
            <a:avLst/>
          </a:prstGeom>
        </p:spPr>
      </p:pic>
      <p:sp>
        <p:nvSpPr>
          <p:cNvPr id="30" name="object 30"/>
          <p:cNvSpPr/>
          <p:nvPr/>
        </p:nvSpPr>
        <p:spPr>
          <a:xfrm>
            <a:off x="2753105" y="2349245"/>
            <a:ext cx="512445" cy="212090"/>
          </a:xfrm>
          <a:custGeom>
            <a:avLst/>
            <a:gdLst/>
            <a:ahLst/>
            <a:cxnLst/>
            <a:rect l="l" t="t" r="r" b="b"/>
            <a:pathLst>
              <a:path w="512445" h="212089">
                <a:moveTo>
                  <a:pt x="444373" y="0"/>
                </a:moveTo>
                <a:lnTo>
                  <a:pt x="441325" y="8509"/>
                </a:lnTo>
                <a:lnTo>
                  <a:pt x="453610" y="13892"/>
                </a:lnTo>
                <a:lnTo>
                  <a:pt x="464169" y="21288"/>
                </a:lnTo>
                <a:lnTo>
                  <a:pt x="485560" y="55429"/>
                </a:lnTo>
                <a:lnTo>
                  <a:pt x="491812" y="86483"/>
                </a:lnTo>
                <a:lnTo>
                  <a:pt x="491847" y="86723"/>
                </a:lnTo>
                <a:lnTo>
                  <a:pt x="492633" y="104775"/>
                </a:lnTo>
                <a:lnTo>
                  <a:pt x="491847" y="123444"/>
                </a:lnTo>
                <a:lnTo>
                  <a:pt x="489489" y="140398"/>
                </a:lnTo>
                <a:lnTo>
                  <a:pt x="472942" y="180784"/>
                </a:lnTo>
                <a:lnTo>
                  <a:pt x="441706" y="203073"/>
                </a:lnTo>
                <a:lnTo>
                  <a:pt x="444373" y="211709"/>
                </a:lnTo>
                <a:lnTo>
                  <a:pt x="484842" y="187706"/>
                </a:lnTo>
                <a:lnTo>
                  <a:pt x="507571" y="143335"/>
                </a:lnTo>
                <a:lnTo>
                  <a:pt x="511937" y="105918"/>
                </a:lnTo>
                <a:lnTo>
                  <a:pt x="510855" y="86723"/>
                </a:lnTo>
                <a:lnTo>
                  <a:pt x="510841" y="86483"/>
                </a:lnTo>
                <a:lnTo>
                  <a:pt x="494411" y="37084"/>
                </a:lnTo>
                <a:lnTo>
                  <a:pt x="459728" y="5526"/>
                </a:lnTo>
                <a:lnTo>
                  <a:pt x="444373" y="0"/>
                </a:lnTo>
                <a:close/>
              </a:path>
              <a:path w="512445" h="212089">
                <a:moveTo>
                  <a:pt x="67564" y="0"/>
                </a:moveTo>
                <a:lnTo>
                  <a:pt x="27166" y="24056"/>
                </a:lnTo>
                <a:lnTo>
                  <a:pt x="4381" y="68548"/>
                </a:lnTo>
                <a:lnTo>
                  <a:pt x="64" y="104775"/>
                </a:lnTo>
                <a:lnTo>
                  <a:pt x="0" y="105918"/>
                </a:lnTo>
                <a:lnTo>
                  <a:pt x="985" y="123444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6"/>
                </a:lnTo>
                <a:lnTo>
                  <a:pt x="67564" y="211709"/>
                </a:lnTo>
                <a:lnTo>
                  <a:pt x="70231" y="203073"/>
                </a:lnTo>
                <a:lnTo>
                  <a:pt x="58183" y="197738"/>
                </a:lnTo>
                <a:lnTo>
                  <a:pt x="47767" y="190309"/>
                </a:lnTo>
                <a:lnTo>
                  <a:pt x="26376" y="155638"/>
                </a:lnTo>
                <a:lnTo>
                  <a:pt x="19352" y="105918"/>
                </a:lnTo>
                <a:lnTo>
                  <a:pt x="19304" y="104775"/>
                </a:lnTo>
                <a:lnTo>
                  <a:pt x="20089" y="86723"/>
                </a:lnTo>
                <a:lnTo>
                  <a:pt x="31877" y="42164"/>
                </a:lnTo>
                <a:lnTo>
                  <a:pt x="58398" y="13892"/>
                </a:lnTo>
                <a:lnTo>
                  <a:pt x="70612" y="8509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461509" y="2349245"/>
            <a:ext cx="510540" cy="212090"/>
          </a:xfrm>
          <a:custGeom>
            <a:avLst/>
            <a:gdLst/>
            <a:ahLst/>
            <a:cxnLst/>
            <a:rect l="l" t="t" r="r" b="b"/>
            <a:pathLst>
              <a:path w="510539" h="212089">
                <a:moveTo>
                  <a:pt x="442849" y="0"/>
                </a:moveTo>
                <a:lnTo>
                  <a:pt x="439801" y="8509"/>
                </a:lnTo>
                <a:lnTo>
                  <a:pt x="452086" y="13892"/>
                </a:lnTo>
                <a:lnTo>
                  <a:pt x="462645" y="21288"/>
                </a:lnTo>
                <a:lnTo>
                  <a:pt x="484036" y="55429"/>
                </a:lnTo>
                <a:lnTo>
                  <a:pt x="490288" y="86483"/>
                </a:lnTo>
                <a:lnTo>
                  <a:pt x="490323" y="86723"/>
                </a:lnTo>
                <a:lnTo>
                  <a:pt x="491109" y="104775"/>
                </a:lnTo>
                <a:lnTo>
                  <a:pt x="490323" y="123444"/>
                </a:lnTo>
                <a:lnTo>
                  <a:pt x="487965" y="140398"/>
                </a:lnTo>
                <a:lnTo>
                  <a:pt x="471418" y="180784"/>
                </a:lnTo>
                <a:lnTo>
                  <a:pt x="440182" y="203073"/>
                </a:lnTo>
                <a:lnTo>
                  <a:pt x="442849" y="211709"/>
                </a:lnTo>
                <a:lnTo>
                  <a:pt x="483318" y="187706"/>
                </a:lnTo>
                <a:lnTo>
                  <a:pt x="506047" y="143335"/>
                </a:lnTo>
                <a:lnTo>
                  <a:pt x="510413" y="105918"/>
                </a:lnTo>
                <a:lnTo>
                  <a:pt x="509331" y="86723"/>
                </a:lnTo>
                <a:lnTo>
                  <a:pt x="509317" y="86483"/>
                </a:lnTo>
                <a:lnTo>
                  <a:pt x="492887" y="37084"/>
                </a:lnTo>
                <a:lnTo>
                  <a:pt x="458204" y="5526"/>
                </a:lnTo>
                <a:lnTo>
                  <a:pt x="442849" y="0"/>
                </a:lnTo>
                <a:close/>
              </a:path>
              <a:path w="510539" h="212089">
                <a:moveTo>
                  <a:pt x="67564" y="0"/>
                </a:moveTo>
                <a:lnTo>
                  <a:pt x="27166" y="24056"/>
                </a:lnTo>
                <a:lnTo>
                  <a:pt x="4381" y="68548"/>
                </a:lnTo>
                <a:lnTo>
                  <a:pt x="64" y="104775"/>
                </a:lnTo>
                <a:lnTo>
                  <a:pt x="0" y="105918"/>
                </a:lnTo>
                <a:lnTo>
                  <a:pt x="985" y="123444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6"/>
                </a:lnTo>
                <a:lnTo>
                  <a:pt x="67564" y="211709"/>
                </a:lnTo>
                <a:lnTo>
                  <a:pt x="70231" y="203073"/>
                </a:lnTo>
                <a:lnTo>
                  <a:pt x="58183" y="197738"/>
                </a:lnTo>
                <a:lnTo>
                  <a:pt x="47767" y="190309"/>
                </a:lnTo>
                <a:lnTo>
                  <a:pt x="26376" y="155638"/>
                </a:lnTo>
                <a:lnTo>
                  <a:pt x="19352" y="105918"/>
                </a:lnTo>
                <a:lnTo>
                  <a:pt x="19304" y="104775"/>
                </a:lnTo>
                <a:lnTo>
                  <a:pt x="20089" y="86723"/>
                </a:lnTo>
                <a:lnTo>
                  <a:pt x="31877" y="42164"/>
                </a:lnTo>
                <a:lnTo>
                  <a:pt x="58398" y="13892"/>
                </a:lnTo>
                <a:lnTo>
                  <a:pt x="70612" y="8509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374385" y="2349245"/>
            <a:ext cx="582295" cy="212090"/>
          </a:xfrm>
          <a:custGeom>
            <a:avLst/>
            <a:gdLst/>
            <a:ahLst/>
            <a:cxnLst/>
            <a:rect l="l" t="t" r="r" b="b"/>
            <a:pathLst>
              <a:path w="582295" h="212089">
                <a:moveTo>
                  <a:pt x="514476" y="0"/>
                </a:moveTo>
                <a:lnTo>
                  <a:pt x="511428" y="8509"/>
                </a:lnTo>
                <a:lnTo>
                  <a:pt x="523714" y="13892"/>
                </a:lnTo>
                <a:lnTo>
                  <a:pt x="534273" y="21288"/>
                </a:lnTo>
                <a:lnTo>
                  <a:pt x="555664" y="55429"/>
                </a:lnTo>
                <a:lnTo>
                  <a:pt x="561916" y="86483"/>
                </a:lnTo>
                <a:lnTo>
                  <a:pt x="561951" y="86723"/>
                </a:lnTo>
                <a:lnTo>
                  <a:pt x="562736" y="104775"/>
                </a:lnTo>
                <a:lnTo>
                  <a:pt x="561951" y="123444"/>
                </a:lnTo>
                <a:lnTo>
                  <a:pt x="559593" y="140398"/>
                </a:lnTo>
                <a:lnTo>
                  <a:pt x="543046" y="180784"/>
                </a:lnTo>
                <a:lnTo>
                  <a:pt x="511809" y="203073"/>
                </a:lnTo>
                <a:lnTo>
                  <a:pt x="514476" y="211709"/>
                </a:lnTo>
                <a:lnTo>
                  <a:pt x="554946" y="187706"/>
                </a:lnTo>
                <a:lnTo>
                  <a:pt x="577675" y="143335"/>
                </a:lnTo>
                <a:lnTo>
                  <a:pt x="582040" y="105918"/>
                </a:lnTo>
                <a:lnTo>
                  <a:pt x="580959" y="86723"/>
                </a:lnTo>
                <a:lnTo>
                  <a:pt x="580945" y="86483"/>
                </a:lnTo>
                <a:lnTo>
                  <a:pt x="564514" y="37084"/>
                </a:lnTo>
                <a:lnTo>
                  <a:pt x="529832" y="5526"/>
                </a:lnTo>
                <a:lnTo>
                  <a:pt x="514476" y="0"/>
                </a:lnTo>
                <a:close/>
              </a:path>
              <a:path w="582295" h="212089">
                <a:moveTo>
                  <a:pt x="67563" y="0"/>
                </a:moveTo>
                <a:lnTo>
                  <a:pt x="27166" y="24056"/>
                </a:lnTo>
                <a:lnTo>
                  <a:pt x="4381" y="68548"/>
                </a:lnTo>
                <a:lnTo>
                  <a:pt x="64" y="104775"/>
                </a:lnTo>
                <a:lnTo>
                  <a:pt x="0" y="105918"/>
                </a:lnTo>
                <a:lnTo>
                  <a:pt x="985" y="123444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6"/>
                </a:lnTo>
                <a:lnTo>
                  <a:pt x="67563" y="211709"/>
                </a:lnTo>
                <a:lnTo>
                  <a:pt x="70230" y="203073"/>
                </a:lnTo>
                <a:lnTo>
                  <a:pt x="58183" y="197738"/>
                </a:lnTo>
                <a:lnTo>
                  <a:pt x="47767" y="190309"/>
                </a:lnTo>
                <a:lnTo>
                  <a:pt x="26376" y="155638"/>
                </a:lnTo>
                <a:lnTo>
                  <a:pt x="19352" y="105918"/>
                </a:lnTo>
                <a:lnTo>
                  <a:pt x="19303" y="104775"/>
                </a:lnTo>
                <a:lnTo>
                  <a:pt x="20089" y="86723"/>
                </a:lnTo>
                <a:lnTo>
                  <a:pt x="31876" y="42164"/>
                </a:lnTo>
                <a:lnTo>
                  <a:pt x="58398" y="13892"/>
                </a:lnTo>
                <a:lnTo>
                  <a:pt x="70611" y="8509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790041" y="2173856"/>
            <a:ext cx="773430" cy="783590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25"/>
              </a:spcBef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𝐘</a:t>
            </a:r>
            <a:r>
              <a:rPr sz="1950" spc="-37" baseline="-17094" dirty="0">
                <a:latin typeface="Cambria Math"/>
                <a:cs typeface="Cambria Math"/>
              </a:rPr>
              <a:t>𝐅𝐌</a:t>
            </a:r>
            <a:endParaRPr sz="1950" baseline="-17094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825"/>
              </a:spcBef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8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𝐘</a:t>
            </a:r>
            <a:r>
              <a:rPr sz="1950" spc="-37" baseline="-14957" dirty="0">
                <a:latin typeface="Cambria Math"/>
                <a:cs typeface="Cambria Math"/>
              </a:rPr>
              <a:t>𝐅𝐌</a:t>
            </a:r>
            <a:endParaRPr sz="1950" baseline="-14957">
              <a:latin typeface="Cambria Math"/>
              <a:cs typeface="Cambria Math"/>
            </a:endParaRPr>
          </a:p>
        </p:txBody>
      </p:sp>
      <p:pic>
        <p:nvPicPr>
          <p:cNvPr id="34" name="object 3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53717" y="2727705"/>
            <a:ext cx="236092" cy="211836"/>
          </a:xfrm>
          <a:prstGeom prst="rect">
            <a:avLst/>
          </a:prstGeom>
        </p:spPr>
      </p:pic>
      <p:sp>
        <p:nvSpPr>
          <p:cNvPr id="35" name="object 35"/>
          <p:cNvSpPr/>
          <p:nvPr/>
        </p:nvSpPr>
        <p:spPr>
          <a:xfrm>
            <a:off x="2753105" y="2727705"/>
            <a:ext cx="512445" cy="212090"/>
          </a:xfrm>
          <a:custGeom>
            <a:avLst/>
            <a:gdLst/>
            <a:ahLst/>
            <a:cxnLst/>
            <a:rect l="l" t="t" r="r" b="b"/>
            <a:pathLst>
              <a:path w="512445" h="212089">
                <a:moveTo>
                  <a:pt x="444373" y="0"/>
                </a:moveTo>
                <a:lnTo>
                  <a:pt x="441325" y="8636"/>
                </a:lnTo>
                <a:lnTo>
                  <a:pt x="453610" y="13946"/>
                </a:lnTo>
                <a:lnTo>
                  <a:pt x="464169" y="21304"/>
                </a:lnTo>
                <a:lnTo>
                  <a:pt x="485560" y="55431"/>
                </a:lnTo>
                <a:lnTo>
                  <a:pt x="492633" y="104902"/>
                </a:lnTo>
                <a:lnTo>
                  <a:pt x="491847" y="123571"/>
                </a:lnTo>
                <a:lnTo>
                  <a:pt x="480060" y="169291"/>
                </a:lnTo>
                <a:lnTo>
                  <a:pt x="453753" y="197866"/>
                </a:lnTo>
                <a:lnTo>
                  <a:pt x="441706" y="203200"/>
                </a:lnTo>
                <a:lnTo>
                  <a:pt x="444373" y="211836"/>
                </a:lnTo>
                <a:lnTo>
                  <a:pt x="484842" y="187707"/>
                </a:lnTo>
                <a:lnTo>
                  <a:pt x="507571" y="143335"/>
                </a:lnTo>
                <a:lnTo>
                  <a:pt x="511937" y="105918"/>
                </a:lnTo>
                <a:lnTo>
                  <a:pt x="510855" y="86776"/>
                </a:lnTo>
                <a:lnTo>
                  <a:pt x="510841" y="86536"/>
                </a:lnTo>
                <a:lnTo>
                  <a:pt x="494411" y="37084"/>
                </a:lnTo>
                <a:lnTo>
                  <a:pt x="459728" y="5544"/>
                </a:lnTo>
                <a:lnTo>
                  <a:pt x="444373" y="0"/>
                </a:lnTo>
                <a:close/>
              </a:path>
              <a:path w="512445" h="212089">
                <a:moveTo>
                  <a:pt x="67564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57" y="104902"/>
                </a:lnTo>
                <a:lnTo>
                  <a:pt x="0" y="105918"/>
                </a:lnTo>
                <a:lnTo>
                  <a:pt x="992" y="123571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7"/>
                </a:lnTo>
                <a:lnTo>
                  <a:pt x="67564" y="211836"/>
                </a:lnTo>
                <a:lnTo>
                  <a:pt x="70231" y="203200"/>
                </a:lnTo>
                <a:lnTo>
                  <a:pt x="58183" y="197866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46" y="105918"/>
                </a:lnTo>
                <a:lnTo>
                  <a:pt x="19304" y="104902"/>
                </a:lnTo>
                <a:lnTo>
                  <a:pt x="20089" y="86776"/>
                </a:lnTo>
                <a:lnTo>
                  <a:pt x="31877" y="42164"/>
                </a:lnTo>
                <a:lnTo>
                  <a:pt x="58398" y="13946"/>
                </a:lnTo>
                <a:lnTo>
                  <a:pt x="70612" y="8636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1590166" y="1851177"/>
            <a:ext cx="1651635" cy="110617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752475">
              <a:lnSpc>
                <a:spcPct val="100000"/>
              </a:lnSpc>
              <a:spcBef>
                <a:spcPts val="700"/>
              </a:spcBef>
            </a:pP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Carrier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605"/>
              </a:spcBef>
              <a:tabLst>
                <a:tab pos="281305" algn="l"/>
              </a:tabLst>
            </a:pP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70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𝐕</a:t>
            </a:r>
            <a:r>
              <a:rPr sz="1950" spc="-30" baseline="-17094" dirty="0">
                <a:latin typeface="Cambria Math"/>
                <a:cs typeface="Cambria Math"/>
              </a:rPr>
              <a:t>𝐂</a:t>
            </a:r>
            <a:r>
              <a:rPr sz="1950" spc="67" baseline="-17094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29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7094" dirty="0">
                <a:latin typeface="Cambria Math"/>
                <a:cs typeface="Cambria Math"/>
              </a:rPr>
              <a:t>𝐜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825"/>
              </a:spcBef>
              <a:tabLst>
                <a:tab pos="281305" algn="l"/>
              </a:tabLst>
            </a:pP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75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𝐕</a:t>
            </a:r>
            <a:r>
              <a:rPr sz="1950" spc="-30" baseline="-14957" dirty="0">
                <a:latin typeface="Cambria Math"/>
                <a:cs typeface="Cambria Math"/>
              </a:rPr>
              <a:t>𝐂</a:t>
            </a:r>
            <a:r>
              <a:rPr sz="1950" spc="67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295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4957" dirty="0">
                <a:latin typeface="Cambria Math"/>
                <a:cs typeface="Cambria Math"/>
              </a:rPr>
              <a:t>𝐜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37" name="object 3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65853" y="2727705"/>
            <a:ext cx="236092" cy="211836"/>
          </a:xfrm>
          <a:prstGeom prst="rect">
            <a:avLst/>
          </a:prstGeom>
        </p:spPr>
      </p:pic>
      <p:sp>
        <p:nvSpPr>
          <p:cNvPr id="38" name="object 38"/>
          <p:cNvSpPr/>
          <p:nvPr/>
        </p:nvSpPr>
        <p:spPr>
          <a:xfrm>
            <a:off x="4804409" y="2727705"/>
            <a:ext cx="510540" cy="212090"/>
          </a:xfrm>
          <a:custGeom>
            <a:avLst/>
            <a:gdLst/>
            <a:ahLst/>
            <a:cxnLst/>
            <a:rect l="l" t="t" r="r" b="b"/>
            <a:pathLst>
              <a:path w="510539" h="212089">
                <a:moveTo>
                  <a:pt x="442849" y="0"/>
                </a:moveTo>
                <a:lnTo>
                  <a:pt x="439801" y="8636"/>
                </a:lnTo>
                <a:lnTo>
                  <a:pt x="452086" y="13946"/>
                </a:lnTo>
                <a:lnTo>
                  <a:pt x="462645" y="21304"/>
                </a:lnTo>
                <a:lnTo>
                  <a:pt x="484036" y="55431"/>
                </a:lnTo>
                <a:lnTo>
                  <a:pt x="491109" y="104902"/>
                </a:lnTo>
                <a:lnTo>
                  <a:pt x="490323" y="123571"/>
                </a:lnTo>
                <a:lnTo>
                  <a:pt x="478536" y="169291"/>
                </a:lnTo>
                <a:lnTo>
                  <a:pt x="452229" y="197866"/>
                </a:lnTo>
                <a:lnTo>
                  <a:pt x="440182" y="203200"/>
                </a:lnTo>
                <a:lnTo>
                  <a:pt x="442849" y="211836"/>
                </a:lnTo>
                <a:lnTo>
                  <a:pt x="483318" y="187707"/>
                </a:lnTo>
                <a:lnTo>
                  <a:pt x="506047" y="143335"/>
                </a:lnTo>
                <a:lnTo>
                  <a:pt x="510413" y="105918"/>
                </a:lnTo>
                <a:lnTo>
                  <a:pt x="509331" y="86776"/>
                </a:lnTo>
                <a:lnTo>
                  <a:pt x="509317" y="86536"/>
                </a:lnTo>
                <a:lnTo>
                  <a:pt x="492887" y="37084"/>
                </a:lnTo>
                <a:lnTo>
                  <a:pt x="458204" y="5544"/>
                </a:lnTo>
                <a:lnTo>
                  <a:pt x="442849" y="0"/>
                </a:lnTo>
                <a:close/>
              </a:path>
              <a:path w="510539" h="212089">
                <a:moveTo>
                  <a:pt x="67564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57" y="104902"/>
                </a:lnTo>
                <a:lnTo>
                  <a:pt x="0" y="105918"/>
                </a:lnTo>
                <a:lnTo>
                  <a:pt x="992" y="123571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7"/>
                </a:lnTo>
                <a:lnTo>
                  <a:pt x="67564" y="211836"/>
                </a:lnTo>
                <a:lnTo>
                  <a:pt x="70231" y="203200"/>
                </a:lnTo>
                <a:lnTo>
                  <a:pt x="58183" y="197866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46" y="105918"/>
                </a:lnTo>
                <a:lnTo>
                  <a:pt x="19304" y="104902"/>
                </a:lnTo>
                <a:lnTo>
                  <a:pt x="20089" y="86776"/>
                </a:lnTo>
                <a:lnTo>
                  <a:pt x="31877" y="42164"/>
                </a:lnTo>
                <a:lnTo>
                  <a:pt x="58398" y="13946"/>
                </a:lnTo>
                <a:lnTo>
                  <a:pt x="70612" y="8636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3298825" y="1923773"/>
            <a:ext cx="2621915" cy="103378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R="22225" algn="ctr">
              <a:lnSpc>
                <a:spcPct val="100000"/>
              </a:lnSpc>
              <a:spcBef>
                <a:spcPts val="415"/>
              </a:spcBef>
            </a:pP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USB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320"/>
              </a:spcBef>
              <a:tabLst>
                <a:tab pos="1732914" algn="l"/>
              </a:tabLst>
            </a:pPr>
            <a:r>
              <a:rPr sz="1800" dirty="0">
                <a:latin typeface="Cambria Math"/>
                <a:cs typeface="Cambria Math"/>
              </a:rPr>
              <a:t>−</a:t>
            </a:r>
            <a:r>
              <a:rPr sz="1800" spc="-3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𝐕</a:t>
            </a:r>
            <a:r>
              <a:rPr sz="1950" baseline="-17094" dirty="0">
                <a:latin typeface="Cambria Math"/>
                <a:cs typeface="Cambria Math"/>
              </a:rPr>
              <a:t>𝐂</a:t>
            </a:r>
            <a:r>
              <a:rPr sz="1800" dirty="0">
                <a:latin typeface="Cambria Math"/>
                <a:cs typeface="Cambria Math"/>
              </a:rPr>
              <a:t>𝐦</a:t>
            </a:r>
            <a:r>
              <a:rPr sz="1950" baseline="-17094" dirty="0">
                <a:latin typeface="Cambria Math"/>
                <a:cs typeface="Cambria Math"/>
              </a:rPr>
              <a:t>𝐟</a:t>
            </a:r>
            <a:r>
              <a:rPr sz="1950" spc="75" baseline="-17094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𝐬𝐢𝐧</a:t>
            </a:r>
            <a:r>
              <a:rPr sz="1800" spc="305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7094" dirty="0">
                <a:latin typeface="Cambria Math"/>
                <a:cs typeface="Cambria Math"/>
              </a:rPr>
              <a:t>𝐜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𝐬𝐢𝐧</a:t>
            </a:r>
            <a:r>
              <a:rPr sz="1800" spc="335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7094" dirty="0">
                <a:latin typeface="Cambria Math"/>
                <a:cs typeface="Cambria Math"/>
              </a:rPr>
              <a:t>𝐦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819"/>
              </a:spcBef>
              <a:tabLst>
                <a:tab pos="1162685" algn="l"/>
              </a:tabLst>
            </a:pPr>
            <a:r>
              <a:rPr sz="1800" dirty="0">
                <a:latin typeface="Cambria Math"/>
                <a:cs typeface="Cambria Math"/>
              </a:rPr>
              <a:t>−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𝐕</a:t>
            </a:r>
            <a:r>
              <a:rPr sz="1950" baseline="-14957" dirty="0">
                <a:latin typeface="Cambria Math"/>
                <a:cs typeface="Cambria Math"/>
              </a:rPr>
              <a:t>𝐂</a:t>
            </a:r>
            <a:r>
              <a:rPr sz="1800" dirty="0">
                <a:latin typeface="Cambria Math"/>
                <a:cs typeface="Cambria Math"/>
              </a:rPr>
              <a:t>𝐤</a:t>
            </a:r>
            <a:r>
              <a:rPr sz="1950" baseline="-14957" dirty="0">
                <a:latin typeface="Cambria Math"/>
                <a:cs typeface="Cambria Math"/>
              </a:rPr>
              <a:t>𝐟</a:t>
            </a:r>
            <a:r>
              <a:rPr sz="1800" dirty="0">
                <a:latin typeface="Cambria Math"/>
                <a:cs typeface="Cambria Math"/>
              </a:rPr>
              <a:t>𝐠</a:t>
            </a:r>
            <a:r>
              <a:rPr sz="1800" spc="38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𝐬𝐢𝐧</a:t>
            </a:r>
            <a:r>
              <a:rPr sz="1800" spc="33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4957" dirty="0">
                <a:latin typeface="Cambria Math"/>
                <a:cs typeface="Cambria Math"/>
              </a:rPr>
              <a:t>𝐜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4783709" y="4323841"/>
            <a:ext cx="1170305" cy="283845"/>
          </a:xfrm>
          <a:custGeom>
            <a:avLst/>
            <a:gdLst/>
            <a:ahLst/>
            <a:cxnLst/>
            <a:rect l="l" t="t" r="r" b="b"/>
            <a:pathLst>
              <a:path w="1170304" h="283845">
                <a:moveTo>
                  <a:pt x="1079119" y="0"/>
                </a:moveTo>
                <a:lnTo>
                  <a:pt x="1075309" y="0"/>
                </a:lnTo>
                <a:lnTo>
                  <a:pt x="1075309" y="11302"/>
                </a:lnTo>
                <a:lnTo>
                  <a:pt x="1077468" y="11302"/>
                </a:lnTo>
                <a:lnTo>
                  <a:pt x="1087711" y="11995"/>
                </a:lnTo>
                <a:lnTo>
                  <a:pt x="1120394" y="37417"/>
                </a:lnTo>
                <a:lnTo>
                  <a:pt x="1123442" y="59689"/>
                </a:lnTo>
                <a:lnTo>
                  <a:pt x="1123358" y="62356"/>
                </a:lnTo>
                <a:lnTo>
                  <a:pt x="1123271" y="65162"/>
                </a:lnTo>
                <a:lnTo>
                  <a:pt x="1122743" y="71278"/>
                </a:lnTo>
                <a:lnTo>
                  <a:pt x="1121834" y="78013"/>
                </a:lnTo>
                <a:lnTo>
                  <a:pt x="1120521" y="85343"/>
                </a:lnTo>
                <a:lnTo>
                  <a:pt x="1118489" y="95630"/>
                </a:lnTo>
                <a:lnTo>
                  <a:pt x="1117473" y="102869"/>
                </a:lnTo>
                <a:lnTo>
                  <a:pt x="1117473" y="115696"/>
                </a:lnTo>
                <a:lnTo>
                  <a:pt x="1120013" y="122681"/>
                </a:lnTo>
                <a:lnTo>
                  <a:pt x="1124966" y="128015"/>
                </a:lnTo>
                <a:lnTo>
                  <a:pt x="1129919" y="133476"/>
                </a:lnTo>
                <a:lnTo>
                  <a:pt x="1135888" y="137413"/>
                </a:lnTo>
                <a:lnTo>
                  <a:pt x="1142746" y="139953"/>
                </a:lnTo>
                <a:lnTo>
                  <a:pt x="1142746" y="142747"/>
                </a:lnTo>
                <a:lnTo>
                  <a:pt x="1135888" y="145287"/>
                </a:lnTo>
                <a:lnTo>
                  <a:pt x="1129919" y="149224"/>
                </a:lnTo>
                <a:lnTo>
                  <a:pt x="1124966" y="154685"/>
                </a:lnTo>
                <a:lnTo>
                  <a:pt x="1120013" y="160019"/>
                </a:lnTo>
                <a:lnTo>
                  <a:pt x="1117473" y="167004"/>
                </a:lnTo>
                <a:lnTo>
                  <a:pt x="1117473" y="179831"/>
                </a:lnTo>
                <a:lnTo>
                  <a:pt x="1118489" y="187070"/>
                </a:lnTo>
                <a:lnTo>
                  <a:pt x="1120521" y="197357"/>
                </a:lnTo>
                <a:lnTo>
                  <a:pt x="1121834" y="204688"/>
                </a:lnTo>
                <a:lnTo>
                  <a:pt x="1122743" y="211423"/>
                </a:lnTo>
                <a:lnTo>
                  <a:pt x="1123271" y="217539"/>
                </a:lnTo>
                <a:lnTo>
                  <a:pt x="1123358" y="220344"/>
                </a:lnTo>
                <a:lnTo>
                  <a:pt x="1123442" y="223011"/>
                </a:lnTo>
                <a:lnTo>
                  <a:pt x="1122693" y="235319"/>
                </a:lnTo>
                <a:lnTo>
                  <a:pt x="1122680" y="235539"/>
                </a:lnTo>
                <a:lnTo>
                  <a:pt x="1120394" y="246078"/>
                </a:lnTo>
                <a:lnTo>
                  <a:pt x="1087711" y="271722"/>
                </a:lnTo>
                <a:lnTo>
                  <a:pt x="1077468" y="272414"/>
                </a:lnTo>
                <a:lnTo>
                  <a:pt x="1075309" y="272414"/>
                </a:lnTo>
                <a:lnTo>
                  <a:pt x="1075309" y="283717"/>
                </a:lnTo>
                <a:lnTo>
                  <a:pt x="1079119" y="283717"/>
                </a:lnTo>
                <a:lnTo>
                  <a:pt x="1095527" y="282503"/>
                </a:lnTo>
                <a:lnTo>
                  <a:pt x="1131443" y="267715"/>
                </a:lnTo>
                <a:lnTo>
                  <a:pt x="1147692" y="235539"/>
                </a:lnTo>
                <a:lnTo>
                  <a:pt x="1147748" y="235319"/>
                </a:lnTo>
                <a:lnTo>
                  <a:pt x="1148842" y="220344"/>
                </a:lnTo>
                <a:lnTo>
                  <a:pt x="1148607" y="213959"/>
                </a:lnTo>
                <a:lnTo>
                  <a:pt x="1147921" y="207168"/>
                </a:lnTo>
                <a:lnTo>
                  <a:pt x="1146806" y="199949"/>
                </a:lnTo>
                <a:lnTo>
                  <a:pt x="1145286" y="192277"/>
                </a:lnTo>
                <a:lnTo>
                  <a:pt x="1143000" y="181736"/>
                </a:lnTo>
                <a:lnTo>
                  <a:pt x="1141730" y="174624"/>
                </a:lnTo>
                <a:lnTo>
                  <a:pt x="1141730" y="164210"/>
                </a:lnTo>
                <a:lnTo>
                  <a:pt x="1144143" y="158622"/>
                </a:lnTo>
                <a:lnTo>
                  <a:pt x="1148842" y="154431"/>
                </a:lnTo>
                <a:lnTo>
                  <a:pt x="1153541" y="150113"/>
                </a:lnTo>
                <a:lnTo>
                  <a:pt x="1160653" y="147700"/>
                </a:lnTo>
                <a:lnTo>
                  <a:pt x="1170178" y="147446"/>
                </a:lnTo>
                <a:lnTo>
                  <a:pt x="1170178" y="135254"/>
                </a:lnTo>
                <a:lnTo>
                  <a:pt x="1160653" y="135000"/>
                </a:lnTo>
                <a:lnTo>
                  <a:pt x="1153541" y="132587"/>
                </a:lnTo>
                <a:lnTo>
                  <a:pt x="1144143" y="123951"/>
                </a:lnTo>
                <a:lnTo>
                  <a:pt x="1141730" y="118363"/>
                </a:lnTo>
                <a:lnTo>
                  <a:pt x="1141730" y="107949"/>
                </a:lnTo>
                <a:lnTo>
                  <a:pt x="1143000" y="100964"/>
                </a:lnTo>
                <a:lnTo>
                  <a:pt x="1145286" y="90423"/>
                </a:lnTo>
                <a:lnTo>
                  <a:pt x="1146806" y="82752"/>
                </a:lnTo>
                <a:lnTo>
                  <a:pt x="1147921" y="75533"/>
                </a:lnTo>
                <a:lnTo>
                  <a:pt x="1148607" y="68742"/>
                </a:lnTo>
                <a:lnTo>
                  <a:pt x="1148739" y="65162"/>
                </a:lnTo>
                <a:lnTo>
                  <a:pt x="1148842" y="62356"/>
                </a:lnTo>
                <a:lnTo>
                  <a:pt x="1147748" y="47827"/>
                </a:lnTo>
                <a:lnTo>
                  <a:pt x="1121677" y="9215"/>
                </a:lnTo>
                <a:lnTo>
                  <a:pt x="1095527" y="1214"/>
                </a:lnTo>
                <a:lnTo>
                  <a:pt x="1079119" y="0"/>
                </a:lnTo>
                <a:close/>
              </a:path>
              <a:path w="1170304" h="283845">
                <a:moveTo>
                  <a:pt x="94869" y="0"/>
                </a:moveTo>
                <a:lnTo>
                  <a:pt x="91059" y="0"/>
                </a:lnTo>
                <a:lnTo>
                  <a:pt x="74650" y="1214"/>
                </a:lnTo>
                <a:lnTo>
                  <a:pt x="38735" y="16001"/>
                </a:lnTo>
                <a:lnTo>
                  <a:pt x="21547" y="59435"/>
                </a:lnTo>
                <a:lnTo>
                  <a:pt x="21437" y="64982"/>
                </a:lnTo>
                <a:lnTo>
                  <a:pt x="21570" y="68562"/>
                </a:lnTo>
                <a:lnTo>
                  <a:pt x="22256" y="75358"/>
                </a:lnTo>
                <a:lnTo>
                  <a:pt x="23371" y="82607"/>
                </a:lnTo>
                <a:lnTo>
                  <a:pt x="24892" y="90296"/>
                </a:lnTo>
                <a:lnTo>
                  <a:pt x="27178" y="100837"/>
                </a:lnTo>
                <a:lnTo>
                  <a:pt x="28448" y="107822"/>
                </a:lnTo>
                <a:lnTo>
                  <a:pt x="28448" y="118236"/>
                </a:lnTo>
                <a:lnTo>
                  <a:pt x="26035" y="123824"/>
                </a:lnTo>
                <a:lnTo>
                  <a:pt x="16637" y="132460"/>
                </a:lnTo>
                <a:lnTo>
                  <a:pt x="9525" y="134746"/>
                </a:lnTo>
                <a:lnTo>
                  <a:pt x="0" y="135127"/>
                </a:lnTo>
                <a:lnTo>
                  <a:pt x="0" y="147319"/>
                </a:lnTo>
                <a:lnTo>
                  <a:pt x="9525" y="147573"/>
                </a:lnTo>
                <a:lnTo>
                  <a:pt x="16637" y="149859"/>
                </a:lnTo>
                <a:lnTo>
                  <a:pt x="26035" y="158495"/>
                </a:lnTo>
                <a:lnTo>
                  <a:pt x="28448" y="164083"/>
                </a:lnTo>
                <a:lnTo>
                  <a:pt x="28448" y="174497"/>
                </a:lnTo>
                <a:lnTo>
                  <a:pt x="27178" y="181609"/>
                </a:lnTo>
                <a:lnTo>
                  <a:pt x="24892" y="192150"/>
                </a:lnTo>
                <a:lnTo>
                  <a:pt x="23371" y="199769"/>
                </a:lnTo>
                <a:lnTo>
                  <a:pt x="22256" y="206994"/>
                </a:lnTo>
                <a:lnTo>
                  <a:pt x="21570" y="213814"/>
                </a:lnTo>
                <a:lnTo>
                  <a:pt x="21440" y="217356"/>
                </a:lnTo>
                <a:lnTo>
                  <a:pt x="21336" y="220217"/>
                </a:lnTo>
                <a:lnTo>
                  <a:pt x="22429" y="235265"/>
                </a:lnTo>
                <a:lnTo>
                  <a:pt x="48500" y="274502"/>
                </a:lnTo>
                <a:lnTo>
                  <a:pt x="91059" y="283717"/>
                </a:lnTo>
                <a:lnTo>
                  <a:pt x="94869" y="283717"/>
                </a:lnTo>
                <a:lnTo>
                  <a:pt x="94869" y="272414"/>
                </a:lnTo>
                <a:lnTo>
                  <a:pt x="92710" y="272414"/>
                </a:lnTo>
                <a:lnTo>
                  <a:pt x="82466" y="271722"/>
                </a:lnTo>
                <a:lnTo>
                  <a:pt x="49784" y="246014"/>
                </a:lnTo>
                <a:lnTo>
                  <a:pt x="46736" y="222884"/>
                </a:lnTo>
                <a:lnTo>
                  <a:pt x="46818" y="220217"/>
                </a:lnTo>
                <a:lnTo>
                  <a:pt x="51689" y="186943"/>
                </a:lnTo>
                <a:lnTo>
                  <a:pt x="52705" y="179704"/>
                </a:lnTo>
                <a:lnTo>
                  <a:pt x="52705" y="166877"/>
                </a:lnTo>
                <a:lnTo>
                  <a:pt x="50165" y="159892"/>
                </a:lnTo>
                <a:lnTo>
                  <a:pt x="45212" y="154558"/>
                </a:lnTo>
                <a:lnTo>
                  <a:pt x="40259" y="149097"/>
                </a:lnTo>
                <a:lnTo>
                  <a:pt x="34290" y="145160"/>
                </a:lnTo>
                <a:lnTo>
                  <a:pt x="27432" y="142493"/>
                </a:lnTo>
                <a:lnTo>
                  <a:pt x="27432" y="139826"/>
                </a:lnTo>
                <a:lnTo>
                  <a:pt x="52705" y="115569"/>
                </a:lnTo>
                <a:lnTo>
                  <a:pt x="52705" y="102742"/>
                </a:lnTo>
                <a:lnTo>
                  <a:pt x="51689" y="95503"/>
                </a:lnTo>
                <a:lnTo>
                  <a:pt x="49657" y="85216"/>
                </a:lnTo>
                <a:lnTo>
                  <a:pt x="48343" y="77884"/>
                </a:lnTo>
                <a:lnTo>
                  <a:pt x="47434" y="71135"/>
                </a:lnTo>
                <a:lnTo>
                  <a:pt x="46906" y="64982"/>
                </a:lnTo>
                <a:lnTo>
                  <a:pt x="46821" y="62229"/>
                </a:lnTo>
                <a:lnTo>
                  <a:pt x="46736" y="59435"/>
                </a:lnTo>
                <a:lnTo>
                  <a:pt x="47479" y="47773"/>
                </a:lnTo>
                <a:lnTo>
                  <a:pt x="47498" y="47482"/>
                </a:lnTo>
                <a:lnTo>
                  <a:pt x="73437" y="14081"/>
                </a:lnTo>
                <a:lnTo>
                  <a:pt x="92710" y="11302"/>
                </a:lnTo>
                <a:lnTo>
                  <a:pt x="94869" y="11302"/>
                </a:lnTo>
                <a:lnTo>
                  <a:pt x="94869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597272" y="5272532"/>
            <a:ext cx="528955" cy="20320"/>
          </a:xfrm>
          <a:custGeom>
            <a:avLst/>
            <a:gdLst/>
            <a:ahLst/>
            <a:cxnLst/>
            <a:rect l="l" t="t" r="r" b="b"/>
            <a:pathLst>
              <a:path w="528954" h="20320">
                <a:moveTo>
                  <a:pt x="528827" y="0"/>
                </a:moveTo>
                <a:lnTo>
                  <a:pt x="0" y="0"/>
                </a:lnTo>
                <a:lnTo>
                  <a:pt x="0" y="19812"/>
                </a:lnTo>
                <a:lnTo>
                  <a:pt x="528827" y="19812"/>
                </a:lnTo>
                <a:lnTo>
                  <a:pt x="528827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218338" y="3870401"/>
            <a:ext cx="6411595" cy="2471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5465" indent="-456565">
              <a:lnSpc>
                <a:spcPts val="2875"/>
              </a:lnSpc>
              <a:spcBef>
                <a:spcPts val="100"/>
              </a:spcBef>
              <a:buAutoNum type="arabicPeriod"/>
              <a:tabLst>
                <a:tab pos="545465" algn="l"/>
              </a:tabLst>
            </a:pP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LSB</a:t>
            </a:r>
            <a:r>
              <a:rPr sz="2400" b="1" spc="-5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is</a:t>
            </a:r>
            <a:r>
              <a:rPr sz="2400" b="1" spc="-40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85622"/>
                </a:solidFill>
                <a:latin typeface="Cambria Math"/>
                <a:cs typeface="Cambria Math"/>
              </a:rPr>
              <a:t>𝟏𝟖𝟎</a:t>
            </a:r>
            <a:r>
              <a:rPr sz="2625" baseline="28571" dirty="0">
                <a:solidFill>
                  <a:srgbClr val="385622"/>
                </a:solidFill>
                <a:latin typeface="Cambria Math"/>
                <a:cs typeface="Cambria Math"/>
              </a:rPr>
              <a:t>𝟎</a:t>
            </a:r>
            <a:r>
              <a:rPr sz="2625" spc="300" baseline="28571" dirty="0">
                <a:solidFill>
                  <a:srgbClr val="385622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out</a:t>
            </a:r>
            <a:r>
              <a:rPr sz="2400" b="1" spc="-4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of</a:t>
            </a:r>
            <a:r>
              <a:rPr sz="2400" b="1" spc="-40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phase</a:t>
            </a:r>
            <a:r>
              <a:rPr sz="2400" b="1" spc="-20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with</a:t>
            </a:r>
            <a:r>
              <a:rPr sz="2400" b="1" spc="-4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respect</a:t>
            </a:r>
            <a:r>
              <a:rPr sz="2400" b="1" spc="-4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to</a:t>
            </a:r>
            <a:r>
              <a:rPr sz="2400" b="1" spc="-3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385622"/>
                </a:solidFill>
                <a:latin typeface="Calibri"/>
                <a:cs typeface="Calibri"/>
              </a:rPr>
              <a:t>USB.</a:t>
            </a:r>
            <a:endParaRPr sz="2400">
              <a:latin typeface="Calibri"/>
              <a:cs typeface="Calibri"/>
            </a:endParaRPr>
          </a:p>
          <a:p>
            <a:pPr marL="545465" indent="-456565">
              <a:lnSpc>
                <a:spcPts val="2875"/>
              </a:lnSpc>
              <a:buAutoNum type="arabicPeriod"/>
              <a:tabLst>
                <a:tab pos="545465" algn="l"/>
                <a:tab pos="4670425" algn="l"/>
              </a:tabLst>
            </a:pP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Modulation</a:t>
            </a:r>
            <a:r>
              <a:rPr sz="2400" b="1" spc="-5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Index</a:t>
            </a:r>
            <a:r>
              <a:rPr sz="2400" b="1" spc="-50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is</a:t>
            </a:r>
            <a:r>
              <a:rPr sz="2400" b="1" spc="-5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less</a:t>
            </a:r>
            <a:r>
              <a:rPr sz="2400" b="1" spc="-5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then</a:t>
            </a:r>
            <a:r>
              <a:rPr sz="2400" b="1" spc="-3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385622"/>
                </a:solidFill>
                <a:latin typeface="Calibri"/>
                <a:cs typeface="Calibri"/>
              </a:rPr>
              <a:t>1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	</a:t>
            </a:r>
            <a:r>
              <a:rPr sz="2400" dirty="0">
                <a:solidFill>
                  <a:srgbClr val="385622"/>
                </a:solidFill>
                <a:latin typeface="Cambria Math"/>
                <a:cs typeface="Cambria Math"/>
              </a:rPr>
              <a:t>𝐦</a:t>
            </a:r>
            <a:r>
              <a:rPr sz="2625" baseline="-15873" dirty="0">
                <a:solidFill>
                  <a:srgbClr val="385622"/>
                </a:solidFill>
                <a:latin typeface="Cambria Math"/>
                <a:cs typeface="Cambria Math"/>
              </a:rPr>
              <a:t>𝐟</a:t>
            </a:r>
            <a:r>
              <a:rPr sz="2625" spc="525" baseline="-15873" dirty="0">
                <a:solidFill>
                  <a:srgbClr val="385622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385622"/>
                </a:solidFill>
                <a:latin typeface="Cambria Math"/>
                <a:cs typeface="Cambria Math"/>
              </a:rPr>
              <a:t>&lt;</a:t>
            </a:r>
            <a:r>
              <a:rPr sz="2400" spc="130" dirty="0">
                <a:solidFill>
                  <a:srgbClr val="385622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385622"/>
                </a:solidFill>
                <a:latin typeface="Cambria Math"/>
                <a:cs typeface="Cambria Math"/>
              </a:rPr>
              <a:t>𝟏</a:t>
            </a:r>
            <a:r>
              <a:rPr sz="2400" spc="375" dirty="0">
                <a:solidFill>
                  <a:srgbClr val="385622"/>
                </a:solidFill>
                <a:latin typeface="Cambria Math"/>
                <a:cs typeface="Cambria Math"/>
              </a:rPr>
              <a:t> </a:t>
            </a:r>
            <a:r>
              <a:rPr sz="2400" b="1" spc="-50" dirty="0">
                <a:solidFill>
                  <a:srgbClr val="385622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545465" indent="-456565">
              <a:lnSpc>
                <a:spcPts val="2840"/>
              </a:lnSpc>
              <a:buAutoNum type="arabicPeriod"/>
              <a:tabLst>
                <a:tab pos="545465" algn="l"/>
              </a:tabLst>
            </a:pP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NBFM</a:t>
            </a:r>
            <a:r>
              <a:rPr sz="2400" b="1" spc="-40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has</a:t>
            </a:r>
            <a:r>
              <a:rPr sz="2400" b="1" spc="-40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only</a:t>
            </a:r>
            <a:r>
              <a:rPr sz="2400" b="1" spc="-3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two</a:t>
            </a:r>
            <a:r>
              <a:rPr sz="2400" b="1" spc="-3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side</a:t>
            </a:r>
            <a:r>
              <a:rPr sz="2400" b="1" spc="-3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385622"/>
                </a:solidFill>
                <a:latin typeface="Calibri"/>
                <a:cs typeface="Calibri"/>
              </a:rPr>
              <a:t>bands.</a:t>
            </a:r>
            <a:endParaRPr sz="2400">
              <a:latin typeface="Calibri"/>
              <a:cs typeface="Calibri"/>
            </a:endParaRPr>
          </a:p>
          <a:p>
            <a:pPr marL="2865755" algn="ctr">
              <a:lnSpc>
                <a:spcPts val="1385"/>
              </a:lnSpc>
            </a:pPr>
            <a:r>
              <a:rPr sz="1750" spc="-20" dirty="0">
                <a:solidFill>
                  <a:srgbClr val="385622"/>
                </a:solidFill>
                <a:latin typeface="Cambria Math"/>
                <a:cs typeface="Cambria Math"/>
              </a:rPr>
              <a:t>𝐕</a:t>
            </a:r>
            <a:r>
              <a:rPr sz="2175" spc="-30" baseline="-13409" dirty="0">
                <a:solidFill>
                  <a:srgbClr val="385622"/>
                </a:solidFill>
                <a:latin typeface="Cambria Math"/>
                <a:cs typeface="Cambria Math"/>
              </a:rPr>
              <a:t>𝐂</a:t>
            </a:r>
            <a:r>
              <a:rPr sz="1750" spc="-20" dirty="0">
                <a:solidFill>
                  <a:srgbClr val="385622"/>
                </a:solidFill>
                <a:latin typeface="Cambria Math"/>
                <a:cs typeface="Cambria Math"/>
              </a:rPr>
              <a:t>𝐦</a:t>
            </a:r>
            <a:r>
              <a:rPr sz="2175" spc="-30" baseline="-13409" dirty="0">
                <a:solidFill>
                  <a:srgbClr val="385622"/>
                </a:solidFill>
                <a:latin typeface="Cambria Math"/>
                <a:cs typeface="Cambria Math"/>
              </a:rPr>
              <a:t>𝐟</a:t>
            </a:r>
            <a:endParaRPr sz="2175" baseline="-13409">
              <a:latin typeface="Cambria Math"/>
              <a:cs typeface="Cambria Math"/>
            </a:endParaRPr>
          </a:p>
          <a:p>
            <a:pPr marL="545465" indent="-456565">
              <a:lnSpc>
                <a:spcPts val="1700"/>
              </a:lnSpc>
              <a:buAutoNum type="arabicPeriod" startAt="4"/>
              <a:tabLst>
                <a:tab pos="545465" algn="l"/>
                <a:tab pos="4907915" algn="l"/>
              </a:tabLst>
            </a:pP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Amplitude</a:t>
            </a:r>
            <a:r>
              <a:rPr sz="2400" b="1" spc="-4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of</a:t>
            </a:r>
            <a:r>
              <a:rPr sz="2400" b="1" spc="-7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the</a:t>
            </a:r>
            <a:r>
              <a:rPr sz="2400" b="1" spc="-40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sidebands</a:t>
            </a:r>
            <a:r>
              <a:rPr sz="2400" b="1" spc="-40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385622"/>
                </a:solidFill>
                <a:latin typeface="Calibri"/>
                <a:cs typeface="Calibri"/>
              </a:rPr>
              <a:t>is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	</a:t>
            </a:r>
            <a:r>
              <a:rPr sz="2400" b="1" spc="-50" dirty="0">
                <a:solidFill>
                  <a:srgbClr val="385622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2874010" algn="ctr">
              <a:lnSpc>
                <a:spcPts val="1340"/>
              </a:lnSpc>
            </a:pPr>
            <a:r>
              <a:rPr sz="1750" spc="-50" dirty="0">
                <a:solidFill>
                  <a:srgbClr val="385622"/>
                </a:solidFill>
                <a:latin typeface="Cambria Math"/>
                <a:cs typeface="Cambria Math"/>
              </a:rPr>
              <a:t>𝟐</a:t>
            </a:r>
            <a:endParaRPr sz="1750">
              <a:latin typeface="Cambria Math"/>
              <a:cs typeface="Cambria Math"/>
            </a:endParaRPr>
          </a:p>
          <a:p>
            <a:pPr marL="545465" indent="-456565">
              <a:lnSpc>
                <a:spcPts val="2630"/>
              </a:lnSpc>
              <a:buAutoNum type="arabicPeriod" startAt="5"/>
              <a:tabLst>
                <a:tab pos="545465" algn="l"/>
              </a:tabLst>
            </a:pP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Frequency</a:t>
            </a:r>
            <a:r>
              <a:rPr sz="2400" b="1" spc="-70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Deviation</a:t>
            </a:r>
            <a:r>
              <a:rPr sz="2400" b="1" spc="-60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ΔF</a:t>
            </a:r>
            <a:r>
              <a:rPr sz="2400" b="1" spc="-70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is</a:t>
            </a:r>
            <a:r>
              <a:rPr sz="2400" b="1" spc="-5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limited</a:t>
            </a:r>
            <a:r>
              <a:rPr sz="2400" b="1" spc="-60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in</a:t>
            </a:r>
            <a:r>
              <a:rPr sz="2400" b="1" spc="-60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385622"/>
                </a:solidFill>
                <a:latin typeface="Calibri"/>
                <a:cs typeface="Calibri"/>
              </a:rPr>
              <a:t>NBFM.</a:t>
            </a:r>
            <a:endParaRPr sz="2400">
              <a:latin typeface="Calibri"/>
              <a:cs typeface="Calibri"/>
            </a:endParaRPr>
          </a:p>
          <a:p>
            <a:pPr marL="545465" indent="-456565">
              <a:lnSpc>
                <a:spcPct val="100000"/>
              </a:lnSpc>
              <a:spcBef>
                <a:spcPts val="735"/>
              </a:spcBef>
              <a:buAutoNum type="arabicPeriod" startAt="5"/>
              <a:tabLst>
                <a:tab pos="545465" algn="l"/>
              </a:tabLst>
            </a:pP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Modulation</a:t>
            </a:r>
            <a:r>
              <a:rPr sz="2400" b="1" spc="-80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Index</a:t>
            </a:r>
            <a:r>
              <a:rPr sz="2400" b="1" spc="-7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385622"/>
                </a:solidFill>
                <a:latin typeface="Cambria Math"/>
                <a:cs typeface="Cambria Math"/>
              </a:rPr>
              <a:t>𝐦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348990" y="6094882"/>
            <a:ext cx="11874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50" dirty="0">
                <a:solidFill>
                  <a:srgbClr val="385622"/>
                </a:solidFill>
                <a:latin typeface="Cambria Math"/>
                <a:cs typeface="Cambria Math"/>
              </a:rPr>
              <a:t>𝐟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3862704" y="6170129"/>
            <a:ext cx="528955" cy="20320"/>
          </a:xfrm>
          <a:custGeom>
            <a:avLst/>
            <a:gdLst/>
            <a:ahLst/>
            <a:cxnLst/>
            <a:rect l="l" t="t" r="r" b="b"/>
            <a:pathLst>
              <a:path w="528954" h="20320">
                <a:moveTo>
                  <a:pt x="528827" y="0"/>
                </a:moveTo>
                <a:lnTo>
                  <a:pt x="0" y="0"/>
                </a:lnTo>
                <a:lnTo>
                  <a:pt x="0" y="19812"/>
                </a:lnTo>
                <a:lnTo>
                  <a:pt x="528827" y="19812"/>
                </a:lnTo>
                <a:lnTo>
                  <a:pt x="528827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787772" y="6170129"/>
            <a:ext cx="281940" cy="20320"/>
          </a:xfrm>
          <a:custGeom>
            <a:avLst/>
            <a:gdLst/>
            <a:ahLst/>
            <a:cxnLst/>
            <a:rect l="l" t="t" r="r" b="b"/>
            <a:pathLst>
              <a:path w="281939" h="20320">
                <a:moveTo>
                  <a:pt x="281939" y="0"/>
                </a:moveTo>
                <a:lnTo>
                  <a:pt x="0" y="0"/>
                </a:lnTo>
                <a:lnTo>
                  <a:pt x="0" y="19812"/>
                </a:lnTo>
                <a:lnTo>
                  <a:pt x="281939" y="19812"/>
                </a:lnTo>
                <a:lnTo>
                  <a:pt x="281939" y="0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3514344" y="5771794"/>
            <a:ext cx="1583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baseline="-32407" dirty="0">
                <a:solidFill>
                  <a:srgbClr val="385622"/>
                </a:solidFill>
                <a:latin typeface="Cambria Math"/>
                <a:cs typeface="Cambria Math"/>
              </a:rPr>
              <a:t>=</a:t>
            </a:r>
            <a:r>
              <a:rPr sz="3600" spc="165" baseline="-32407" dirty="0">
                <a:solidFill>
                  <a:srgbClr val="385622"/>
                </a:solidFill>
                <a:latin typeface="Cambria Math"/>
                <a:cs typeface="Cambria Math"/>
              </a:rPr>
              <a:t> </a:t>
            </a:r>
            <a:r>
              <a:rPr sz="1750" dirty="0">
                <a:solidFill>
                  <a:srgbClr val="385622"/>
                </a:solidFill>
                <a:latin typeface="Cambria Math"/>
                <a:cs typeface="Cambria Math"/>
              </a:rPr>
              <a:t>𝐤</a:t>
            </a:r>
            <a:r>
              <a:rPr sz="2175" baseline="-13409" dirty="0">
                <a:solidFill>
                  <a:srgbClr val="385622"/>
                </a:solidFill>
                <a:latin typeface="Cambria Math"/>
                <a:cs typeface="Cambria Math"/>
              </a:rPr>
              <a:t>𝐟</a:t>
            </a:r>
            <a:r>
              <a:rPr sz="1750" dirty="0">
                <a:solidFill>
                  <a:srgbClr val="385622"/>
                </a:solidFill>
                <a:latin typeface="Cambria Math"/>
                <a:cs typeface="Cambria Math"/>
              </a:rPr>
              <a:t>𝐕</a:t>
            </a:r>
            <a:r>
              <a:rPr sz="2175" baseline="-13409" dirty="0">
                <a:solidFill>
                  <a:srgbClr val="385622"/>
                </a:solidFill>
                <a:latin typeface="Cambria Math"/>
                <a:cs typeface="Cambria Math"/>
              </a:rPr>
              <a:t>𝐦</a:t>
            </a:r>
            <a:r>
              <a:rPr sz="2175" spc="600" baseline="-13409" dirty="0">
                <a:solidFill>
                  <a:srgbClr val="385622"/>
                </a:solidFill>
                <a:latin typeface="Cambria Math"/>
                <a:cs typeface="Cambria Math"/>
              </a:rPr>
              <a:t> </a:t>
            </a:r>
            <a:r>
              <a:rPr sz="3600" baseline="-32407" dirty="0">
                <a:solidFill>
                  <a:srgbClr val="385622"/>
                </a:solidFill>
                <a:latin typeface="Cambria Math"/>
                <a:cs typeface="Cambria Math"/>
              </a:rPr>
              <a:t>=</a:t>
            </a:r>
            <a:r>
              <a:rPr sz="3600" spc="322" baseline="-32407" dirty="0">
                <a:solidFill>
                  <a:srgbClr val="385622"/>
                </a:solidFill>
                <a:latin typeface="Cambria Math"/>
                <a:cs typeface="Cambria Math"/>
              </a:rPr>
              <a:t> </a:t>
            </a:r>
            <a:r>
              <a:rPr sz="1750" spc="-25" dirty="0">
                <a:solidFill>
                  <a:srgbClr val="385622"/>
                </a:solidFill>
                <a:latin typeface="Cambria Math"/>
                <a:cs typeface="Cambria Math"/>
              </a:rPr>
              <a:t>∆𝐅</a:t>
            </a:r>
            <a:endParaRPr sz="1750">
              <a:latin typeface="Cambria Math"/>
              <a:cs typeface="Cambria Math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935984" y="6186322"/>
            <a:ext cx="117729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852169" algn="l"/>
              </a:tabLst>
            </a:pPr>
            <a:r>
              <a:rPr sz="1750" spc="-25" dirty="0">
                <a:solidFill>
                  <a:srgbClr val="385622"/>
                </a:solidFill>
                <a:latin typeface="Cambria Math"/>
                <a:cs typeface="Cambria Math"/>
              </a:rPr>
              <a:t>𝐅</a:t>
            </a:r>
            <a:r>
              <a:rPr sz="2175" spc="-37" baseline="-13409" dirty="0">
                <a:solidFill>
                  <a:srgbClr val="385622"/>
                </a:solidFill>
                <a:latin typeface="Cambria Math"/>
                <a:cs typeface="Cambria Math"/>
              </a:rPr>
              <a:t>𝐦</a:t>
            </a:r>
            <a:r>
              <a:rPr sz="2175" baseline="-13409" dirty="0">
                <a:solidFill>
                  <a:srgbClr val="385622"/>
                </a:solidFill>
                <a:latin typeface="Cambria Math"/>
                <a:cs typeface="Cambria Math"/>
              </a:rPr>
              <a:t>	</a:t>
            </a:r>
            <a:r>
              <a:rPr sz="1750" spc="-25" dirty="0">
                <a:solidFill>
                  <a:srgbClr val="385622"/>
                </a:solidFill>
                <a:latin typeface="Cambria Math"/>
                <a:cs typeface="Cambria Math"/>
              </a:rPr>
              <a:t>𝐅</a:t>
            </a:r>
            <a:r>
              <a:rPr sz="2175" spc="-37" baseline="-13409" dirty="0">
                <a:solidFill>
                  <a:srgbClr val="385622"/>
                </a:solidFill>
                <a:latin typeface="Cambria Math"/>
                <a:cs typeface="Cambria Math"/>
              </a:rPr>
              <a:t>𝐦</a:t>
            </a:r>
            <a:endParaRPr sz="2175" baseline="-13409">
              <a:latin typeface="Cambria Math"/>
              <a:cs typeface="Cambria Math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xmlns="" id="{7B9835E3-BF29-4CFD-9FF4-6DAA21BB5B07}"/>
                  </a:ext>
                </a:extLst>
              </p:cNvPr>
              <p:cNvSpPr txBox="1"/>
              <p:nvPr/>
            </p:nvSpPr>
            <p:spPr>
              <a:xfrm>
                <a:off x="1626616" y="3124200"/>
                <a:ext cx="3177793" cy="4637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Here,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𝐠</m:t>
                    </m:r>
                    <m:d>
                      <m:dPr>
                        <m:ctrlPr>
                          <a:rPr lang="en-US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𝐭</m:t>
                        </m:r>
                      </m:e>
                    </m:d>
                    <m:r>
                      <a:rPr lang="en-US" b="1" i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b="1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1" i="0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𝐭</m:t>
                        </m:r>
                      </m:sup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𝐦</m:t>
                        </m:r>
                        <m:d>
                          <m:dPr>
                            <m:ctrlPr>
                              <a:rPr lang="en-US" b="1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𝐭</m:t>
                            </m:r>
                          </m:e>
                        </m:d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𝐝𝐭</m:t>
                        </m:r>
                      </m:e>
                    </m:nary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B9835E3-BF29-4CFD-9FF4-6DAA21BB5B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6616" y="3124200"/>
                <a:ext cx="3177793" cy="463781"/>
              </a:xfrm>
              <a:prstGeom prst="rect">
                <a:avLst/>
              </a:prstGeom>
              <a:blipFill>
                <a:blip r:embed="rId6"/>
                <a:stretch>
                  <a:fillRect l="-1727" t="-106579" b="-17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ectangle 53">
            <a:extLst>
              <a:ext uri="{FF2B5EF4-FFF2-40B4-BE49-F238E27FC236}">
                <a16:creationId xmlns:a16="http://schemas.microsoft.com/office/drawing/2014/main" xmlns="" id="{66CC1AC9-EB8E-4B11-8F97-2B541364905F}"/>
              </a:ext>
            </a:extLst>
          </p:cNvPr>
          <p:cNvSpPr/>
          <p:nvPr/>
        </p:nvSpPr>
        <p:spPr>
          <a:xfrm>
            <a:off x="1626616" y="3124201"/>
            <a:ext cx="2765043" cy="5165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NBFM</a:t>
            </a:r>
            <a:r>
              <a:rPr sz="3200" u="sng" spc="-6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Generation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7477252" y="712216"/>
            <a:ext cx="681355" cy="282575"/>
          </a:xfrm>
          <a:custGeom>
            <a:avLst/>
            <a:gdLst/>
            <a:ahLst/>
            <a:cxnLst/>
            <a:rect l="l" t="t" r="r" b="b"/>
            <a:pathLst>
              <a:path w="681354" h="282575">
                <a:moveTo>
                  <a:pt x="590930" y="0"/>
                </a:moveTo>
                <a:lnTo>
                  <a:pt x="586866" y="11430"/>
                </a:lnTo>
                <a:lnTo>
                  <a:pt x="603230" y="18504"/>
                </a:lnTo>
                <a:lnTo>
                  <a:pt x="617283" y="28305"/>
                </a:lnTo>
                <a:lnTo>
                  <a:pt x="645816" y="73798"/>
                </a:lnTo>
                <a:lnTo>
                  <a:pt x="654109" y="115339"/>
                </a:lnTo>
                <a:lnTo>
                  <a:pt x="654147" y="115605"/>
                </a:lnTo>
                <a:lnTo>
                  <a:pt x="654145" y="164580"/>
                </a:lnTo>
                <a:lnTo>
                  <a:pt x="645763" y="207529"/>
                </a:lnTo>
                <a:lnTo>
                  <a:pt x="617283" y="253730"/>
                </a:lnTo>
                <a:lnTo>
                  <a:pt x="587374" y="270764"/>
                </a:lnTo>
                <a:lnTo>
                  <a:pt x="590930" y="282321"/>
                </a:lnTo>
                <a:lnTo>
                  <a:pt x="629427" y="264191"/>
                </a:lnTo>
                <a:lnTo>
                  <a:pt x="657732" y="232918"/>
                </a:lnTo>
                <a:lnTo>
                  <a:pt x="675163" y="191023"/>
                </a:lnTo>
                <a:lnTo>
                  <a:pt x="680973" y="141224"/>
                </a:lnTo>
                <a:lnTo>
                  <a:pt x="679534" y="115605"/>
                </a:lnTo>
                <a:lnTo>
                  <a:pt x="667847" y="69429"/>
                </a:lnTo>
                <a:lnTo>
                  <a:pt x="644723" y="32093"/>
                </a:lnTo>
                <a:lnTo>
                  <a:pt x="611385" y="7379"/>
                </a:lnTo>
                <a:lnTo>
                  <a:pt x="590930" y="0"/>
                </a:lnTo>
                <a:close/>
              </a:path>
              <a:path w="681354" h="282575">
                <a:moveTo>
                  <a:pt x="90042" y="0"/>
                </a:moveTo>
                <a:lnTo>
                  <a:pt x="51593" y="18081"/>
                </a:lnTo>
                <a:lnTo>
                  <a:pt x="23240" y="49403"/>
                </a:lnTo>
                <a:lnTo>
                  <a:pt x="5810" y="91408"/>
                </a:lnTo>
                <a:lnTo>
                  <a:pt x="85" y="139700"/>
                </a:lnTo>
                <a:lnTo>
                  <a:pt x="0" y="141224"/>
                </a:lnTo>
                <a:lnTo>
                  <a:pt x="5794" y="191023"/>
                </a:lnTo>
                <a:lnTo>
                  <a:pt x="23113" y="232918"/>
                </a:lnTo>
                <a:lnTo>
                  <a:pt x="51482" y="264191"/>
                </a:lnTo>
                <a:lnTo>
                  <a:pt x="90042" y="282321"/>
                </a:lnTo>
                <a:lnTo>
                  <a:pt x="93598" y="270764"/>
                </a:lnTo>
                <a:lnTo>
                  <a:pt x="77475" y="263646"/>
                </a:lnTo>
                <a:lnTo>
                  <a:pt x="63579" y="253730"/>
                </a:lnTo>
                <a:lnTo>
                  <a:pt x="35083" y="207529"/>
                </a:lnTo>
                <a:lnTo>
                  <a:pt x="26701" y="164580"/>
                </a:lnTo>
                <a:lnTo>
                  <a:pt x="25653" y="139700"/>
                </a:lnTo>
                <a:lnTo>
                  <a:pt x="26701" y="115605"/>
                </a:lnTo>
                <a:lnTo>
                  <a:pt x="35083" y="73798"/>
                </a:lnTo>
                <a:lnTo>
                  <a:pt x="63674" y="28305"/>
                </a:lnTo>
                <a:lnTo>
                  <a:pt x="93979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344027" y="622172"/>
            <a:ext cx="363410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2145" algn="l"/>
                <a:tab pos="1237615" algn="l"/>
                <a:tab pos="2510155" algn="l"/>
                <a:tab pos="3424554" algn="l"/>
              </a:tabLst>
            </a:pP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Message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26616" y="1077975"/>
            <a:ext cx="774065" cy="282575"/>
          </a:xfrm>
          <a:custGeom>
            <a:avLst/>
            <a:gdLst/>
            <a:ahLst/>
            <a:cxnLst/>
            <a:rect l="l" t="t" r="r" b="b"/>
            <a:pathLst>
              <a:path w="774064" h="282575">
                <a:moveTo>
                  <a:pt x="683894" y="0"/>
                </a:moveTo>
                <a:lnTo>
                  <a:pt x="679830" y="11430"/>
                </a:lnTo>
                <a:lnTo>
                  <a:pt x="696194" y="18504"/>
                </a:lnTo>
                <a:lnTo>
                  <a:pt x="710247" y="28305"/>
                </a:lnTo>
                <a:lnTo>
                  <a:pt x="738780" y="73798"/>
                </a:lnTo>
                <a:lnTo>
                  <a:pt x="747073" y="115339"/>
                </a:lnTo>
                <a:lnTo>
                  <a:pt x="747111" y="115605"/>
                </a:lnTo>
                <a:lnTo>
                  <a:pt x="747109" y="164580"/>
                </a:lnTo>
                <a:lnTo>
                  <a:pt x="738727" y="207529"/>
                </a:lnTo>
                <a:lnTo>
                  <a:pt x="710247" y="253730"/>
                </a:lnTo>
                <a:lnTo>
                  <a:pt x="680338" y="270764"/>
                </a:lnTo>
                <a:lnTo>
                  <a:pt x="683894" y="282321"/>
                </a:lnTo>
                <a:lnTo>
                  <a:pt x="722391" y="264191"/>
                </a:lnTo>
                <a:lnTo>
                  <a:pt x="750696" y="232918"/>
                </a:lnTo>
                <a:lnTo>
                  <a:pt x="768127" y="191023"/>
                </a:lnTo>
                <a:lnTo>
                  <a:pt x="773938" y="141224"/>
                </a:lnTo>
                <a:lnTo>
                  <a:pt x="772498" y="115605"/>
                </a:lnTo>
                <a:lnTo>
                  <a:pt x="760811" y="69429"/>
                </a:lnTo>
                <a:lnTo>
                  <a:pt x="737687" y="32093"/>
                </a:lnTo>
                <a:lnTo>
                  <a:pt x="704349" y="7379"/>
                </a:lnTo>
                <a:lnTo>
                  <a:pt x="683894" y="0"/>
                </a:lnTo>
                <a:close/>
              </a:path>
              <a:path w="774064" h="282575">
                <a:moveTo>
                  <a:pt x="90042" y="0"/>
                </a:moveTo>
                <a:lnTo>
                  <a:pt x="51593" y="18081"/>
                </a:lnTo>
                <a:lnTo>
                  <a:pt x="23240" y="49403"/>
                </a:lnTo>
                <a:lnTo>
                  <a:pt x="5810" y="91408"/>
                </a:lnTo>
                <a:lnTo>
                  <a:pt x="85" y="139700"/>
                </a:lnTo>
                <a:lnTo>
                  <a:pt x="0" y="141224"/>
                </a:lnTo>
                <a:lnTo>
                  <a:pt x="5794" y="191023"/>
                </a:lnTo>
                <a:lnTo>
                  <a:pt x="23113" y="232918"/>
                </a:lnTo>
                <a:lnTo>
                  <a:pt x="51482" y="264191"/>
                </a:lnTo>
                <a:lnTo>
                  <a:pt x="90042" y="282321"/>
                </a:lnTo>
                <a:lnTo>
                  <a:pt x="93598" y="270764"/>
                </a:lnTo>
                <a:lnTo>
                  <a:pt x="77475" y="263646"/>
                </a:lnTo>
                <a:lnTo>
                  <a:pt x="63579" y="253730"/>
                </a:lnTo>
                <a:lnTo>
                  <a:pt x="35083" y="207529"/>
                </a:lnTo>
                <a:lnTo>
                  <a:pt x="26701" y="164580"/>
                </a:lnTo>
                <a:lnTo>
                  <a:pt x="25653" y="139700"/>
                </a:lnTo>
                <a:lnTo>
                  <a:pt x="26701" y="115605"/>
                </a:lnTo>
                <a:lnTo>
                  <a:pt x="35083" y="73798"/>
                </a:lnTo>
                <a:lnTo>
                  <a:pt x="63674" y="28305"/>
                </a:lnTo>
                <a:lnTo>
                  <a:pt x="93979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12039" y="622172"/>
            <a:ext cx="78733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19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81965" algn="l"/>
                <a:tab pos="1769745" algn="l"/>
                <a:tab pos="2193925" algn="l"/>
                <a:tab pos="3134360" algn="l"/>
                <a:tab pos="3577590" algn="l"/>
                <a:tab pos="4161154" algn="l"/>
                <a:tab pos="5153660" algn="l"/>
                <a:tab pos="6045200" algn="l"/>
                <a:tab pos="6405245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Equation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NBFM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{If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carrier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spc="-30" dirty="0">
                <a:solidFill>
                  <a:srgbClr val="6F2F9F"/>
                </a:solidFill>
                <a:latin typeface="Cambria Math"/>
                <a:cs typeface="Cambria Math"/>
              </a:rPr>
              <a:t>𝐕</a:t>
            </a:r>
            <a:r>
              <a:rPr sz="2625" spc="-44" baseline="-15873" dirty="0">
                <a:solidFill>
                  <a:srgbClr val="6F2F9F"/>
                </a:solidFill>
                <a:latin typeface="Cambria Math"/>
                <a:cs typeface="Cambria Math"/>
              </a:rPr>
              <a:t>𝐂</a:t>
            </a:r>
            <a:r>
              <a:rPr sz="2625" spc="75" baseline="-15873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𝐜𝐨𝐬</a:t>
            </a:r>
            <a:r>
              <a:rPr sz="2400" spc="32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spc="-25" dirty="0">
                <a:solidFill>
                  <a:srgbClr val="6F2F9F"/>
                </a:solidFill>
                <a:latin typeface="Cambria Math"/>
                <a:cs typeface="Cambria Math"/>
              </a:rPr>
              <a:t>𝛚</a:t>
            </a:r>
            <a:r>
              <a:rPr sz="2625" spc="-37" baseline="-15873" dirty="0">
                <a:solidFill>
                  <a:srgbClr val="6F2F9F"/>
                </a:solidFill>
                <a:latin typeface="Cambria Math"/>
                <a:cs typeface="Cambria Math"/>
              </a:rPr>
              <a:t>𝐜</a:t>
            </a:r>
            <a:r>
              <a:rPr sz="2400" spc="-25" dirty="0">
                <a:solidFill>
                  <a:srgbClr val="6F2F9F"/>
                </a:solidFill>
                <a:latin typeface="Cambria Math"/>
                <a:cs typeface="Cambria Math"/>
              </a:rPr>
              <a:t>𝐭</a:t>
            </a:r>
            <a:endParaRPr sz="2400">
              <a:latin typeface="Cambria Math"/>
              <a:cs typeface="Cambria Math"/>
            </a:endParaRPr>
          </a:p>
          <a:p>
            <a:pPr marL="482600">
              <a:lnSpc>
                <a:spcPct val="100000"/>
              </a:lnSpc>
            </a:pPr>
            <a:r>
              <a:rPr sz="2400" spc="-35" dirty="0">
                <a:solidFill>
                  <a:srgbClr val="6F2F9F"/>
                </a:solidFill>
                <a:latin typeface="Cambria Math"/>
                <a:cs typeface="Cambria Math"/>
              </a:rPr>
              <a:t>𝐕</a:t>
            </a:r>
            <a:r>
              <a:rPr sz="2625" spc="-52" baseline="-15873" dirty="0">
                <a:solidFill>
                  <a:srgbClr val="6F2F9F"/>
                </a:solidFill>
                <a:latin typeface="Cambria Math"/>
                <a:cs typeface="Cambria Math"/>
              </a:rPr>
              <a:t>𝐦</a:t>
            </a:r>
            <a:r>
              <a:rPr sz="2625" spc="142" baseline="-15873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𝐜𝐨𝐬</a:t>
            </a:r>
            <a:r>
              <a:rPr sz="2400" spc="409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𝛚</a:t>
            </a:r>
            <a:r>
              <a:rPr sz="2625" baseline="-15873" dirty="0">
                <a:solidFill>
                  <a:srgbClr val="6F2F9F"/>
                </a:solidFill>
                <a:latin typeface="Cambria Math"/>
                <a:cs typeface="Cambria Math"/>
              </a:rPr>
              <a:t>𝐦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𝐭</a:t>
            </a:r>
            <a:r>
              <a:rPr sz="2400" spc="409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}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by: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3717" y="1572005"/>
            <a:ext cx="236092" cy="21183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77341" y="1501521"/>
            <a:ext cx="1303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094105" algn="l"/>
              </a:tabLst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4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𝐘</a:t>
            </a:r>
            <a:r>
              <a:rPr sz="1950" baseline="-14957" dirty="0">
                <a:latin typeface="Cambria Math"/>
                <a:cs typeface="Cambria Math"/>
              </a:rPr>
              <a:t>𝐅𝐌</a:t>
            </a:r>
            <a:r>
              <a:rPr sz="1950" spc="652" baseline="-14957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753105" y="1572005"/>
            <a:ext cx="512445" cy="212090"/>
          </a:xfrm>
          <a:custGeom>
            <a:avLst/>
            <a:gdLst/>
            <a:ahLst/>
            <a:cxnLst/>
            <a:rect l="l" t="t" r="r" b="b"/>
            <a:pathLst>
              <a:path w="512445" h="212089">
                <a:moveTo>
                  <a:pt x="444373" y="0"/>
                </a:moveTo>
                <a:lnTo>
                  <a:pt x="441325" y="8636"/>
                </a:lnTo>
                <a:lnTo>
                  <a:pt x="453610" y="13946"/>
                </a:lnTo>
                <a:lnTo>
                  <a:pt x="464169" y="21304"/>
                </a:lnTo>
                <a:lnTo>
                  <a:pt x="485560" y="55431"/>
                </a:lnTo>
                <a:lnTo>
                  <a:pt x="492633" y="104902"/>
                </a:lnTo>
                <a:lnTo>
                  <a:pt x="491847" y="123571"/>
                </a:lnTo>
                <a:lnTo>
                  <a:pt x="480060" y="169291"/>
                </a:lnTo>
                <a:lnTo>
                  <a:pt x="453753" y="197866"/>
                </a:lnTo>
                <a:lnTo>
                  <a:pt x="441706" y="203200"/>
                </a:lnTo>
                <a:lnTo>
                  <a:pt x="444373" y="211836"/>
                </a:lnTo>
                <a:lnTo>
                  <a:pt x="484842" y="187707"/>
                </a:lnTo>
                <a:lnTo>
                  <a:pt x="507571" y="143335"/>
                </a:lnTo>
                <a:lnTo>
                  <a:pt x="511937" y="105918"/>
                </a:lnTo>
                <a:lnTo>
                  <a:pt x="510855" y="86776"/>
                </a:lnTo>
                <a:lnTo>
                  <a:pt x="510841" y="86536"/>
                </a:lnTo>
                <a:lnTo>
                  <a:pt x="494411" y="37084"/>
                </a:lnTo>
                <a:lnTo>
                  <a:pt x="459728" y="5544"/>
                </a:lnTo>
                <a:lnTo>
                  <a:pt x="444373" y="0"/>
                </a:lnTo>
                <a:close/>
              </a:path>
              <a:path w="512445" h="212089">
                <a:moveTo>
                  <a:pt x="67564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57" y="104902"/>
                </a:lnTo>
                <a:lnTo>
                  <a:pt x="0" y="105918"/>
                </a:lnTo>
                <a:lnTo>
                  <a:pt x="992" y="123571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7"/>
                </a:lnTo>
                <a:lnTo>
                  <a:pt x="67564" y="211836"/>
                </a:lnTo>
                <a:lnTo>
                  <a:pt x="70231" y="203200"/>
                </a:lnTo>
                <a:lnTo>
                  <a:pt x="58183" y="197866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46" y="105918"/>
                </a:lnTo>
                <a:lnTo>
                  <a:pt x="19304" y="104902"/>
                </a:lnTo>
                <a:lnTo>
                  <a:pt x="20089" y="86776"/>
                </a:lnTo>
                <a:lnTo>
                  <a:pt x="31877" y="42164"/>
                </a:lnTo>
                <a:lnTo>
                  <a:pt x="58398" y="13946"/>
                </a:lnTo>
                <a:lnTo>
                  <a:pt x="70612" y="8636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063750" y="1493342"/>
            <a:ext cx="1258570" cy="413384"/>
          </a:xfrm>
          <a:prstGeom prst="rect">
            <a:avLst/>
          </a:prstGeom>
          <a:ln w="19050">
            <a:solidFill>
              <a:srgbClr val="9DC3E6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65"/>
              </a:spcBef>
            </a:pPr>
            <a:r>
              <a:rPr sz="1800" spc="-20" dirty="0">
                <a:latin typeface="Cambria Math"/>
                <a:cs typeface="Cambria Math"/>
              </a:rPr>
              <a:t>𝐕</a:t>
            </a:r>
            <a:r>
              <a:rPr sz="1950" spc="-30" baseline="-14957" dirty="0">
                <a:latin typeface="Cambria Math"/>
                <a:cs typeface="Cambria Math"/>
              </a:rPr>
              <a:t>𝐂</a:t>
            </a:r>
            <a:r>
              <a:rPr sz="1950" spc="52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27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4957" dirty="0">
                <a:latin typeface="Cambria Math"/>
                <a:cs typeface="Cambria Math"/>
              </a:rPr>
              <a:t>𝐜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165853" y="1256157"/>
            <a:ext cx="4422775" cy="842644"/>
            <a:chOff x="4165853" y="1256157"/>
            <a:chExt cx="4422775" cy="842644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65853" y="1572006"/>
              <a:ext cx="236092" cy="21183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804409" y="1572006"/>
              <a:ext cx="510540" cy="212090"/>
            </a:xfrm>
            <a:custGeom>
              <a:avLst/>
              <a:gdLst/>
              <a:ahLst/>
              <a:cxnLst/>
              <a:rect l="l" t="t" r="r" b="b"/>
              <a:pathLst>
                <a:path w="510539" h="212089">
                  <a:moveTo>
                    <a:pt x="442849" y="0"/>
                  </a:moveTo>
                  <a:lnTo>
                    <a:pt x="439801" y="8636"/>
                  </a:lnTo>
                  <a:lnTo>
                    <a:pt x="452086" y="13946"/>
                  </a:lnTo>
                  <a:lnTo>
                    <a:pt x="462645" y="21304"/>
                  </a:lnTo>
                  <a:lnTo>
                    <a:pt x="484036" y="55431"/>
                  </a:lnTo>
                  <a:lnTo>
                    <a:pt x="491109" y="104902"/>
                  </a:lnTo>
                  <a:lnTo>
                    <a:pt x="490323" y="123571"/>
                  </a:lnTo>
                  <a:lnTo>
                    <a:pt x="478536" y="169291"/>
                  </a:lnTo>
                  <a:lnTo>
                    <a:pt x="452229" y="197866"/>
                  </a:lnTo>
                  <a:lnTo>
                    <a:pt x="440182" y="203200"/>
                  </a:lnTo>
                  <a:lnTo>
                    <a:pt x="442849" y="211836"/>
                  </a:lnTo>
                  <a:lnTo>
                    <a:pt x="483318" y="187707"/>
                  </a:lnTo>
                  <a:lnTo>
                    <a:pt x="506047" y="143335"/>
                  </a:lnTo>
                  <a:lnTo>
                    <a:pt x="510413" y="105918"/>
                  </a:lnTo>
                  <a:lnTo>
                    <a:pt x="509331" y="86776"/>
                  </a:lnTo>
                  <a:lnTo>
                    <a:pt x="509317" y="86536"/>
                  </a:lnTo>
                  <a:lnTo>
                    <a:pt x="492887" y="37084"/>
                  </a:lnTo>
                  <a:lnTo>
                    <a:pt x="458204" y="5544"/>
                  </a:lnTo>
                  <a:lnTo>
                    <a:pt x="442849" y="0"/>
                  </a:lnTo>
                  <a:close/>
                </a:path>
                <a:path w="510539" h="212089">
                  <a:moveTo>
                    <a:pt x="67564" y="0"/>
                  </a:moveTo>
                  <a:lnTo>
                    <a:pt x="27166" y="24110"/>
                  </a:lnTo>
                  <a:lnTo>
                    <a:pt x="4381" y="68595"/>
                  </a:lnTo>
                  <a:lnTo>
                    <a:pt x="57" y="104902"/>
                  </a:lnTo>
                  <a:lnTo>
                    <a:pt x="0" y="105918"/>
                  </a:lnTo>
                  <a:lnTo>
                    <a:pt x="992" y="123571"/>
                  </a:lnTo>
                  <a:lnTo>
                    <a:pt x="1093" y="125370"/>
                  </a:lnTo>
                  <a:lnTo>
                    <a:pt x="4365" y="143335"/>
                  </a:lnTo>
                  <a:lnTo>
                    <a:pt x="27094" y="187707"/>
                  </a:lnTo>
                  <a:lnTo>
                    <a:pt x="67564" y="211836"/>
                  </a:lnTo>
                  <a:lnTo>
                    <a:pt x="70231" y="203200"/>
                  </a:lnTo>
                  <a:lnTo>
                    <a:pt x="58183" y="197866"/>
                  </a:lnTo>
                  <a:lnTo>
                    <a:pt x="47767" y="190436"/>
                  </a:lnTo>
                  <a:lnTo>
                    <a:pt x="26376" y="155765"/>
                  </a:lnTo>
                  <a:lnTo>
                    <a:pt x="19346" y="105918"/>
                  </a:lnTo>
                  <a:lnTo>
                    <a:pt x="19304" y="104902"/>
                  </a:lnTo>
                  <a:lnTo>
                    <a:pt x="20089" y="86776"/>
                  </a:lnTo>
                  <a:lnTo>
                    <a:pt x="31877" y="42164"/>
                  </a:lnTo>
                  <a:lnTo>
                    <a:pt x="58398" y="13946"/>
                  </a:lnTo>
                  <a:lnTo>
                    <a:pt x="70612" y="8636"/>
                  </a:lnTo>
                  <a:lnTo>
                    <a:pt x="675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42862" y="1256157"/>
              <a:ext cx="2445385" cy="842644"/>
            </a:xfrm>
            <a:custGeom>
              <a:avLst/>
              <a:gdLst/>
              <a:ahLst/>
              <a:cxnLst/>
              <a:rect l="l" t="t" r="r" b="b"/>
              <a:pathLst>
                <a:path w="2445384" h="842644">
                  <a:moveTo>
                    <a:pt x="2329053" y="0"/>
                  </a:moveTo>
                  <a:lnTo>
                    <a:pt x="2329053" y="11176"/>
                  </a:lnTo>
                  <a:lnTo>
                    <a:pt x="2336030" y="13432"/>
                  </a:lnTo>
                  <a:lnTo>
                    <a:pt x="2342673" y="16748"/>
                  </a:lnTo>
                  <a:lnTo>
                    <a:pt x="2370462" y="48365"/>
                  </a:lnTo>
                  <a:lnTo>
                    <a:pt x="2385095" y="90410"/>
                  </a:lnTo>
                  <a:lnTo>
                    <a:pt x="2390917" y="131206"/>
                  </a:lnTo>
                  <a:lnTo>
                    <a:pt x="2392045" y="162433"/>
                  </a:lnTo>
                  <a:lnTo>
                    <a:pt x="2391620" y="177176"/>
                  </a:lnTo>
                  <a:lnTo>
                    <a:pt x="2390385" y="195367"/>
                  </a:lnTo>
                  <a:lnTo>
                    <a:pt x="2388294" y="218047"/>
                  </a:lnTo>
                  <a:lnTo>
                    <a:pt x="2385441" y="244221"/>
                  </a:lnTo>
                  <a:lnTo>
                    <a:pt x="2382533" y="269767"/>
                  </a:lnTo>
                  <a:lnTo>
                    <a:pt x="2380472" y="290195"/>
                  </a:lnTo>
                  <a:lnTo>
                    <a:pt x="2379243" y="305478"/>
                  </a:lnTo>
                  <a:lnTo>
                    <a:pt x="2378836" y="315595"/>
                  </a:lnTo>
                  <a:lnTo>
                    <a:pt x="2379694" y="336143"/>
                  </a:lnTo>
                  <a:lnTo>
                    <a:pt x="2392553" y="385953"/>
                  </a:lnTo>
                  <a:lnTo>
                    <a:pt x="2421763" y="419608"/>
                  </a:lnTo>
                  <a:lnTo>
                    <a:pt x="2421763" y="422529"/>
                  </a:lnTo>
                  <a:lnTo>
                    <a:pt x="2392553" y="456056"/>
                  </a:lnTo>
                  <a:lnTo>
                    <a:pt x="2379694" y="505920"/>
                  </a:lnTo>
                  <a:lnTo>
                    <a:pt x="2378836" y="526542"/>
                  </a:lnTo>
                  <a:lnTo>
                    <a:pt x="2379243" y="534235"/>
                  </a:lnTo>
                  <a:lnTo>
                    <a:pt x="2380472" y="549132"/>
                  </a:lnTo>
                  <a:lnTo>
                    <a:pt x="2382533" y="571244"/>
                  </a:lnTo>
                  <a:lnTo>
                    <a:pt x="2385441" y="600583"/>
                  </a:lnTo>
                  <a:lnTo>
                    <a:pt x="2388294" y="630160"/>
                  </a:lnTo>
                  <a:lnTo>
                    <a:pt x="2390362" y="653176"/>
                  </a:lnTo>
                  <a:lnTo>
                    <a:pt x="2391620" y="669645"/>
                  </a:lnTo>
                  <a:lnTo>
                    <a:pt x="2392045" y="679577"/>
                  </a:lnTo>
                  <a:lnTo>
                    <a:pt x="2391783" y="695719"/>
                  </a:lnTo>
                  <a:lnTo>
                    <a:pt x="2391067" y="709628"/>
                  </a:lnTo>
                  <a:lnTo>
                    <a:pt x="2390997" y="710993"/>
                  </a:lnTo>
                  <a:lnTo>
                    <a:pt x="2385474" y="751550"/>
                  </a:lnTo>
                  <a:lnTo>
                    <a:pt x="2370478" y="794115"/>
                  </a:lnTo>
                  <a:lnTo>
                    <a:pt x="2342657" y="825531"/>
                  </a:lnTo>
                  <a:lnTo>
                    <a:pt x="2329053" y="831088"/>
                  </a:lnTo>
                  <a:lnTo>
                    <a:pt x="2329053" y="842263"/>
                  </a:lnTo>
                  <a:lnTo>
                    <a:pt x="2377130" y="812403"/>
                  </a:lnTo>
                  <a:lnTo>
                    <a:pt x="2401375" y="768111"/>
                  </a:lnTo>
                  <a:lnTo>
                    <a:pt x="2413861" y="709628"/>
                  </a:lnTo>
                  <a:lnTo>
                    <a:pt x="2415413" y="675386"/>
                  </a:lnTo>
                  <a:lnTo>
                    <a:pt x="2414980" y="658883"/>
                  </a:lnTo>
                  <a:lnTo>
                    <a:pt x="2413666" y="638524"/>
                  </a:lnTo>
                  <a:lnTo>
                    <a:pt x="2411448" y="614306"/>
                  </a:lnTo>
                  <a:lnTo>
                    <a:pt x="2408301" y="586232"/>
                  </a:lnTo>
                  <a:lnTo>
                    <a:pt x="2405227" y="559087"/>
                  </a:lnTo>
                  <a:lnTo>
                    <a:pt x="2403046" y="537479"/>
                  </a:lnTo>
                  <a:lnTo>
                    <a:pt x="2401746" y="521420"/>
                  </a:lnTo>
                  <a:lnTo>
                    <a:pt x="2401316" y="510920"/>
                  </a:lnTo>
                  <a:lnTo>
                    <a:pt x="2402054" y="491751"/>
                  </a:lnTo>
                  <a:lnTo>
                    <a:pt x="2413127" y="448818"/>
                  </a:lnTo>
                  <a:lnTo>
                    <a:pt x="2445385" y="427101"/>
                  </a:lnTo>
                  <a:lnTo>
                    <a:pt x="2445385" y="415036"/>
                  </a:lnTo>
                  <a:lnTo>
                    <a:pt x="2413127" y="393827"/>
                  </a:lnTo>
                  <a:lnTo>
                    <a:pt x="2402054" y="350982"/>
                  </a:lnTo>
                  <a:lnTo>
                    <a:pt x="2401316" y="331216"/>
                  </a:lnTo>
                  <a:lnTo>
                    <a:pt x="2401746" y="319383"/>
                  </a:lnTo>
                  <a:lnTo>
                    <a:pt x="2403046" y="303704"/>
                  </a:lnTo>
                  <a:lnTo>
                    <a:pt x="2405227" y="284192"/>
                  </a:lnTo>
                  <a:lnTo>
                    <a:pt x="2408301" y="260858"/>
                  </a:lnTo>
                  <a:lnTo>
                    <a:pt x="2411448" y="236757"/>
                  </a:lnTo>
                  <a:lnTo>
                    <a:pt x="2413666" y="214931"/>
                  </a:lnTo>
                  <a:lnTo>
                    <a:pt x="2414957" y="195706"/>
                  </a:lnTo>
                  <a:lnTo>
                    <a:pt x="2414980" y="195367"/>
                  </a:lnTo>
                  <a:lnTo>
                    <a:pt x="2414004" y="141694"/>
                  </a:lnTo>
                  <a:lnTo>
                    <a:pt x="2402661" y="80023"/>
                  </a:lnTo>
                  <a:lnTo>
                    <a:pt x="2380130" y="33807"/>
                  </a:lnTo>
                  <a:lnTo>
                    <a:pt x="2348317" y="6427"/>
                  </a:lnTo>
                  <a:lnTo>
                    <a:pt x="2329053" y="0"/>
                  </a:lnTo>
                  <a:close/>
                </a:path>
                <a:path w="2445384" h="842644">
                  <a:moveTo>
                    <a:pt x="116331" y="0"/>
                  </a:moveTo>
                  <a:lnTo>
                    <a:pt x="80041" y="17700"/>
                  </a:lnTo>
                  <a:lnTo>
                    <a:pt x="52704" y="54736"/>
                  </a:lnTo>
                  <a:lnTo>
                    <a:pt x="35671" y="109013"/>
                  </a:lnTo>
                  <a:lnTo>
                    <a:pt x="30006" y="177176"/>
                  </a:lnTo>
                  <a:lnTo>
                    <a:pt x="29971" y="178054"/>
                  </a:lnTo>
                  <a:lnTo>
                    <a:pt x="30422" y="195367"/>
                  </a:lnTo>
                  <a:lnTo>
                    <a:pt x="31765" y="214931"/>
                  </a:lnTo>
                  <a:lnTo>
                    <a:pt x="33990" y="236757"/>
                  </a:lnTo>
                  <a:lnTo>
                    <a:pt x="37083" y="260858"/>
                  </a:lnTo>
                  <a:lnTo>
                    <a:pt x="40177" y="284192"/>
                  </a:lnTo>
                  <a:lnTo>
                    <a:pt x="42402" y="303704"/>
                  </a:lnTo>
                  <a:lnTo>
                    <a:pt x="43745" y="319383"/>
                  </a:lnTo>
                  <a:lnTo>
                    <a:pt x="44195" y="331216"/>
                  </a:lnTo>
                  <a:lnTo>
                    <a:pt x="43437" y="350982"/>
                  </a:lnTo>
                  <a:lnTo>
                    <a:pt x="32257" y="393827"/>
                  </a:lnTo>
                  <a:lnTo>
                    <a:pt x="0" y="415036"/>
                  </a:lnTo>
                  <a:lnTo>
                    <a:pt x="0" y="427101"/>
                  </a:lnTo>
                  <a:lnTo>
                    <a:pt x="32257" y="448818"/>
                  </a:lnTo>
                  <a:lnTo>
                    <a:pt x="43437" y="491751"/>
                  </a:lnTo>
                  <a:lnTo>
                    <a:pt x="44195" y="510920"/>
                  </a:lnTo>
                  <a:lnTo>
                    <a:pt x="43745" y="521420"/>
                  </a:lnTo>
                  <a:lnTo>
                    <a:pt x="42402" y="537479"/>
                  </a:lnTo>
                  <a:lnTo>
                    <a:pt x="40177" y="559087"/>
                  </a:lnTo>
                  <a:lnTo>
                    <a:pt x="37083" y="586232"/>
                  </a:lnTo>
                  <a:lnTo>
                    <a:pt x="33990" y="614306"/>
                  </a:lnTo>
                  <a:lnTo>
                    <a:pt x="31765" y="638524"/>
                  </a:lnTo>
                  <a:lnTo>
                    <a:pt x="30422" y="658883"/>
                  </a:lnTo>
                  <a:lnTo>
                    <a:pt x="29971" y="675386"/>
                  </a:lnTo>
                  <a:lnTo>
                    <a:pt x="31541" y="709628"/>
                  </a:lnTo>
                  <a:lnTo>
                    <a:pt x="44063" y="768111"/>
                  </a:lnTo>
                  <a:lnTo>
                    <a:pt x="68254" y="812403"/>
                  </a:lnTo>
                  <a:lnTo>
                    <a:pt x="98925" y="837358"/>
                  </a:lnTo>
                  <a:lnTo>
                    <a:pt x="116331" y="842263"/>
                  </a:lnTo>
                  <a:lnTo>
                    <a:pt x="116331" y="831088"/>
                  </a:lnTo>
                  <a:lnTo>
                    <a:pt x="109374" y="828798"/>
                  </a:lnTo>
                  <a:lnTo>
                    <a:pt x="102774" y="825531"/>
                  </a:lnTo>
                  <a:lnTo>
                    <a:pt x="74906" y="794115"/>
                  </a:lnTo>
                  <a:lnTo>
                    <a:pt x="59910" y="751550"/>
                  </a:lnTo>
                  <a:lnTo>
                    <a:pt x="54498" y="710993"/>
                  </a:lnTo>
                  <a:lnTo>
                    <a:pt x="53466" y="679577"/>
                  </a:lnTo>
                  <a:lnTo>
                    <a:pt x="53871" y="669645"/>
                  </a:lnTo>
                  <a:lnTo>
                    <a:pt x="55086" y="653176"/>
                  </a:lnTo>
                  <a:lnTo>
                    <a:pt x="57110" y="630160"/>
                  </a:lnTo>
                  <a:lnTo>
                    <a:pt x="59943" y="600583"/>
                  </a:lnTo>
                  <a:lnTo>
                    <a:pt x="62851" y="571244"/>
                  </a:lnTo>
                  <a:lnTo>
                    <a:pt x="64912" y="549132"/>
                  </a:lnTo>
                  <a:lnTo>
                    <a:pt x="66141" y="534235"/>
                  </a:lnTo>
                  <a:lnTo>
                    <a:pt x="66547" y="526542"/>
                  </a:lnTo>
                  <a:lnTo>
                    <a:pt x="65690" y="505920"/>
                  </a:lnTo>
                  <a:lnTo>
                    <a:pt x="52831" y="456056"/>
                  </a:lnTo>
                  <a:lnTo>
                    <a:pt x="23748" y="422529"/>
                  </a:lnTo>
                  <a:lnTo>
                    <a:pt x="23748" y="419608"/>
                  </a:lnTo>
                  <a:lnTo>
                    <a:pt x="52831" y="385953"/>
                  </a:lnTo>
                  <a:lnTo>
                    <a:pt x="65690" y="336143"/>
                  </a:lnTo>
                  <a:lnTo>
                    <a:pt x="66547" y="315595"/>
                  </a:lnTo>
                  <a:lnTo>
                    <a:pt x="66141" y="305478"/>
                  </a:lnTo>
                  <a:lnTo>
                    <a:pt x="64912" y="290195"/>
                  </a:lnTo>
                  <a:lnTo>
                    <a:pt x="62851" y="269767"/>
                  </a:lnTo>
                  <a:lnTo>
                    <a:pt x="59943" y="244221"/>
                  </a:lnTo>
                  <a:lnTo>
                    <a:pt x="57110" y="218047"/>
                  </a:lnTo>
                  <a:lnTo>
                    <a:pt x="55086" y="195707"/>
                  </a:lnTo>
                  <a:lnTo>
                    <a:pt x="53929" y="178054"/>
                  </a:lnTo>
                  <a:lnTo>
                    <a:pt x="53871" y="177176"/>
                  </a:lnTo>
                  <a:lnTo>
                    <a:pt x="53466" y="162433"/>
                  </a:lnTo>
                  <a:lnTo>
                    <a:pt x="53732" y="146432"/>
                  </a:lnTo>
                  <a:lnTo>
                    <a:pt x="54546" y="131206"/>
                  </a:lnTo>
                  <a:lnTo>
                    <a:pt x="60360" y="90410"/>
                  </a:lnTo>
                  <a:lnTo>
                    <a:pt x="74922" y="48365"/>
                  </a:lnTo>
                  <a:lnTo>
                    <a:pt x="102711" y="16748"/>
                  </a:lnTo>
                  <a:lnTo>
                    <a:pt x="116331" y="11176"/>
                  </a:lnTo>
                  <a:lnTo>
                    <a:pt x="11633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77125" y="1572133"/>
              <a:ext cx="235966" cy="21170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81441" y="1572133"/>
              <a:ext cx="235966" cy="21170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2334895" y="1875790"/>
            <a:ext cx="673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Carrier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488816" y="1493342"/>
            <a:ext cx="1860550" cy="413384"/>
          </a:xfrm>
          <a:custGeom>
            <a:avLst/>
            <a:gdLst/>
            <a:ahLst/>
            <a:cxnLst/>
            <a:rect l="l" t="t" r="r" b="b"/>
            <a:pathLst>
              <a:path w="1860550" h="413385">
                <a:moveTo>
                  <a:pt x="0" y="412927"/>
                </a:moveTo>
                <a:lnTo>
                  <a:pt x="1860168" y="412927"/>
                </a:lnTo>
                <a:lnTo>
                  <a:pt x="1860168" y="0"/>
                </a:lnTo>
                <a:lnTo>
                  <a:pt x="0" y="0"/>
                </a:lnTo>
                <a:lnTo>
                  <a:pt x="0" y="412927"/>
                </a:lnTo>
                <a:close/>
              </a:path>
            </a:pathLst>
          </a:custGeom>
          <a:ln w="19050">
            <a:solidFill>
              <a:srgbClr val="9DC3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260725" y="1392038"/>
            <a:ext cx="5243195" cy="79311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960"/>
              </a:spcBef>
              <a:tabLst>
                <a:tab pos="1200785" algn="l"/>
                <a:tab pos="3006090" algn="l"/>
                <a:tab pos="4036695" algn="l"/>
              </a:tabLst>
            </a:pPr>
            <a:r>
              <a:rPr sz="1800" dirty="0">
                <a:latin typeface="Cambria Math"/>
                <a:cs typeface="Cambria Math"/>
              </a:rPr>
              <a:t>−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𝐕</a:t>
            </a:r>
            <a:r>
              <a:rPr sz="1950" baseline="-14957" dirty="0">
                <a:latin typeface="Cambria Math"/>
                <a:cs typeface="Cambria Math"/>
              </a:rPr>
              <a:t>𝐂</a:t>
            </a:r>
            <a:r>
              <a:rPr sz="1800" dirty="0">
                <a:latin typeface="Cambria Math"/>
                <a:cs typeface="Cambria Math"/>
              </a:rPr>
              <a:t>𝐤</a:t>
            </a:r>
            <a:r>
              <a:rPr sz="1950" baseline="-14957" dirty="0">
                <a:latin typeface="Cambria Math"/>
                <a:cs typeface="Cambria Math"/>
              </a:rPr>
              <a:t>𝐟</a:t>
            </a:r>
            <a:r>
              <a:rPr sz="1800" dirty="0">
                <a:latin typeface="Cambria Math"/>
                <a:cs typeface="Cambria Math"/>
              </a:rPr>
              <a:t>𝐠</a:t>
            </a:r>
            <a:r>
              <a:rPr sz="1800" spc="38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𝐬𝐢𝐧</a:t>
            </a:r>
            <a:r>
              <a:rPr sz="1800" spc="33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4957" dirty="0">
                <a:latin typeface="Cambria Math"/>
                <a:cs typeface="Cambria Math"/>
              </a:rPr>
              <a:t>𝐜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lang="en-US" sz="1800" b="1" dirty="0">
                <a:solidFill>
                  <a:srgbClr val="FF0000"/>
                </a:solidFill>
                <a:latin typeface="Calibri"/>
                <a:cs typeface="Calibri"/>
              </a:rPr>
              <a:t>Here,</a:t>
            </a:r>
            <a:r>
              <a:rPr lang="en-US" sz="18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mbria Math"/>
                <a:cs typeface="Cambria Math"/>
              </a:rPr>
              <a:t>𝐠</a:t>
            </a:r>
            <a:r>
              <a:rPr lang="en-US" sz="1800" spc="33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lang="en-US" sz="1800" spc="-50" dirty="0">
                <a:solidFill>
                  <a:srgbClr val="FF0000"/>
                </a:solidFill>
                <a:latin typeface="Cambria Math"/>
                <a:cs typeface="Cambria Math"/>
              </a:rPr>
              <a:t>𝐭</a:t>
            </a:r>
            <a:r>
              <a:rPr lang="en-US" sz="1800" dirty="0">
                <a:solidFill>
                  <a:srgbClr val="FF0000"/>
                </a:solidFill>
                <a:latin typeface="Cambria Math"/>
                <a:cs typeface="Cambria Math"/>
              </a:rPr>
              <a:t>	=</a:t>
            </a:r>
            <a:r>
              <a:rPr lang="en-US" sz="1800" spc="9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lang="si-LK" sz="1800" spc="-360" dirty="0">
                <a:solidFill>
                  <a:srgbClr val="FF0000"/>
                </a:solidFill>
                <a:latin typeface="Cambria Math"/>
                <a:cs typeface="Cambria Math"/>
              </a:rPr>
              <a:t>න</a:t>
            </a:r>
            <a:r>
              <a:rPr lang="si-LK" sz="1800" spc="-1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lang="si-LK" sz="1800" dirty="0">
                <a:solidFill>
                  <a:srgbClr val="FF0000"/>
                </a:solidFill>
                <a:latin typeface="Cambria Math"/>
                <a:cs typeface="Cambria Math"/>
              </a:rPr>
              <a:t>𝐦</a:t>
            </a:r>
            <a:r>
              <a:rPr lang="si-LK" sz="1800" spc="34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lang="si-LK" sz="1800" dirty="0">
                <a:solidFill>
                  <a:srgbClr val="FF0000"/>
                </a:solidFill>
                <a:latin typeface="Cambria Math"/>
                <a:cs typeface="Cambria Math"/>
              </a:rPr>
              <a:t>𝐭</a:t>
            </a:r>
            <a:r>
              <a:rPr lang="si-LK" sz="1800" spc="34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lang="si-LK" sz="1800" spc="-25" dirty="0">
                <a:solidFill>
                  <a:srgbClr val="FF0000"/>
                </a:solidFill>
                <a:latin typeface="Cambria Math"/>
                <a:cs typeface="Cambria Math"/>
              </a:rPr>
              <a:t>𝐝𝐭</a:t>
            </a:r>
            <a:endParaRPr lang="si-LK" sz="1800" dirty="0">
              <a:latin typeface="Cambria Math"/>
              <a:cs typeface="Cambria Math"/>
            </a:endParaRPr>
          </a:p>
          <a:p>
            <a:pPr marL="686435">
              <a:lnSpc>
                <a:spcPct val="100000"/>
              </a:lnSpc>
              <a:spcBef>
                <a:spcPts val="860"/>
              </a:spcBef>
            </a:pPr>
            <a:r>
              <a:rPr lang="en-US" sz="1800" b="1" spc="-10" dirty="0">
                <a:solidFill>
                  <a:srgbClr val="FF0000"/>
                </a:solidFill>
                <a:latin typeface="Calibri"/>
                <a:cs typeface="Calibri"/>
              </a:rPr>
              <a:t>Sidebands</a:t>
            </a:r>
            <a:endParaRPr lang="en-US" sz="1800" dirty="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83373" y="2692145"/>
            <a:ext cx="1492250" cy="384175"/>
            <a:chOff x="883373" y="2692145"/>
            <a:chExt cx="1492250" cy="384175"/>
          </a:xfrm>
        </p:grpSpPr>
        <p:sp>
          <p:nvSpPr>
            <p:cNvPr id="21" name="object 21"/>
            <p:cNvSpPr/>
            <p:nvPr/>
          </p:nvSpPr>
          <p:spPr>
            <a:xfrm>
              <a:off x="883373" y="2961512"/>
              <a:ext cx="1492250" cy="114300"/>
            </a:xfrm>
            <a:custGeom>
              <a:avLst/>
              <a:gdLst/>
              <a:ahLst/>
              <a:cxnLst/>
              <a:rect l="l" t="t" r="r" b="b"/>
              <a:pathLst>
                <a:path w="1492250" h="114300">
                  <a:moveTo>
                    <a:pt x="1377353" y="0"/>
                  </a:moveTo>
                  <a:lnTo>
                    <a:pt x="1377353" y="114300"/>
                  </a:lnTo>
                  <a:lnTo>
                    <a:pt x="1453553" y="76200"/>
                  </a:lnTo>
                  <a:lnTo>
                    <a:pt x="1396403" y="76200"/>
                  </a:lnTo>
                  <a:lnTo>
                    <a:pt x="1396403" y="38100"/>
                  </a:lnTo>
                  <a:lnTo>
                    <a:pt x="1453553" y="38100"/>
                  </a:lnTo>
                  <a:lnTo>
                    <a:pt x="1377353" y="0"/>
                  </a:lnTo>
                  <a:close/>
                </a:path>
                <a:path w="1492250" h="114300">
                  <a:moveTo>
                    <a:pt x="1377353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1377353" y="76200"/>
                  </a:lnTo>
                  <a:lnTo>
                    <a:pt x="1377353" y="38100"/>
                  </a:lnTo>
                  <a:close/>
                </a:path>
                <a:path w="1492250" h="114300">
                  <a:moveTo>
                    <a:pt x="1453553" y="38100"/>
                  </a:moveTo>
                  <a:lnTo>
                    <a:pt x="1396403" y="38100"/>
                  </a:lnTo>
                  <a:lnTo>
                    <a:pt x="1396403" y="76200"/>
                  </a:lnTo>
                  <a:lnTo>
                    <a:pt x="1453553" y="76200"/>
                  </a:lnTo>
                  <a:lnTo>
                    <a:pt x="1491653" y="57150"/>
                  </a:lnTo>
                  <a:lnTo>
                    <a:pt x="1453553" y="3810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08418" y="2692145"/>
              <a:ext cx="315595" cy="282575"/>
            </a:xfrm>
            <a:custGeom>
              <a:avLst/>
              <a:gdLst/>
              <a:ahLst/>
              <a:cxnLst/>
              <a:rect l="l" t="t" r="r" b="b"/>
              <a:pathLst>
                <a:path w="315594" h="282575">
                  <a:moveTo>
                    <a:pt x="225209" y="0"/>
                  </a:moveTo>
                  <a:lnTo>
                    <a:pt x="221183" y="11557"/>
                  </a:lnTo>
                  <a:lnTo>
                    <a:pt x="237527" y="18631"/>
                  </a:lnTo>
                  <a:lnTo>
                    <a:pt x="251585" y="28432"/>
                  </a:lnTo>
                  <a:lnTo>
                    <a:pt x="280125" y="73925"/>
                  </a:lnTo>
                  <a:lnTo>
                    <a:pt x="288402" y="115359"/>
                  </a:lnTo>
                  <a:lnTo>
                    <a:pt x="288455" y="115732"/>
                  </a:lnTo>
                  <a:lnTo>
                    <a:pt x="288450" y="164707"/>
                  </a:lnTo>
                  <a:lnTo>
                    <a:pt x="280082" y="207656"/>
                  </a:lnTo>
                  <a:lnTo>
                    <a:pt x="251602" y="253857"/>
                  </a:lnTo>
                  <a:lnTo>
                    <a:pt x="221627" y="270891"/>
                  </a:lnTo>
                  <a:lnTo>
                    <a:pt x="225209" y="282321"/>
                  </a:lnTo>
                  <a:lnTo>
                    <a:pt x="263717" y="264302"/>
                  </a:lnTo>
                  <a:lnTo>
                    <a:pt x="292023" y="233045"/>
                  </a:lnTo>
                  <a:lnTo>
                    <a:pt x="309443" y="191134"/>
                  </a:lnTo>
                  <a:lnTo>
                    <a:pt x="315252" y="141224"/>
                  </a:lnTo>
                  <a:lnTo>
                    <a:pt x="313816" y="115732"/>
                  </a:lnTo>
                  <a:lnTo>
                    <a:pt x="302146" y="69536"/>
                  </a:lnTo>
                  <a:lnTo>
                    <a:pt x="279051" y="32164"/>
                  </a:lnTo>
                  <a:lnTo>
                    <a:pt x="245675" y="7435"/>
                  </a:lnTo>
                  <a:lnTo>
                    <a:pt x="225209" y="0"/>
                  </a:lnTo>
                  <a:close/>
                </a:path>
                <a:path w="315594" h="282575">
                  <a:moveTo>
                    <a:pt x="90043" y="0"/>
                  </a:moveTo>
                  <a:lnTo>
                    <a:pt x="51628" y="18145"/>
                  </a:lnTo>
                  <a:lnTo>
                    <a:pt x="23291" y="49530"/>
                  </a:lnTo>
                  <a:lnTo>
                    <a:pt x="5826" y="91471"/>
                  </a:lnTo>
                  <a:lnTo>
                    <a:pt x="78" y="139827"/>
                  </a:lnTo>
                  <a:lnTo>
                    <a:pt x="0" y="141224"/>
                  </a:lnTo>
                  <a:lnTo>
                    <a:pt x="1452" y="167179"/>
                  </a:lnTo>
                  <a:lnTo>
                    <a:pt x="13067" y="213090"/>
                  </a:lnTo>
                  <a:lnTo>
                    <a:pt x="36105" y="250334"/>
                  </a:lnTo>
                  <a:lnTo>
                    <a:pt x="69514" y="274960"/>
                  </a:lnTo>
                  <a:lnTo>
                    <a:pt x="90043" y="282321"/>
                  </a:lnTo>
                  <a:lnTo>
                    <a:pt x="93611" y="270891"/>
                  </a:lnTo>
                  <a:lnTo>
                    <a:pt x="77528" y="263773"/>
                  </a:lnTo>
                  <a:lnTo>
                    <a:pt x="63647" y="253857"/>
                  </a:lnTo>
                  <a:lnTo>
                    <a:pt x="35169" y="207656"/>
                  </a:lnTo>
                  <a:lnTo>
                    <a:pt x="26801" y="164707"/>
                  </a:lnTo>
                  <a:lnTo>
                    <a:pt x="25755" y="139827"/>
                  </a:lnTo>
                  <a:lnTo>
                    <a:pt x="26801" y="115732"/>
                  </a:lnTo>
                  <a:lnTo>
                    <a:pt x="35169" y="73925"/>
                  </a:lnTo>
                  <a:lnTo>
                    <a:pt x="63761" y="28432"/>
                  </a:lnTo>
                  <a:lnTo>
                    <a:pt x="94068" y="11557"/>
                  </a:lnTo>
                  <a:lnTo>
                    <a:pt x="900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93242" y="2602179"/>
            <a:ext cx="1493520" cy="11220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99800"/>
              </a:lnSpc>
              <a:spcBef>
                <a:spcPts val="105"/>
              </a:spcBef>
            </a:pPr>
            <a:r>
              <a:rPr sz="2400" dirty="0">
                <a:latin typeface="Cambria Math"/>
                <a:cs typeface="Cambria Math"/>
              </a:rPr>
              <a:t>𝐦</a:t>
            </a:r>
            <a:r>
              <a:rPr sz="2400" spc="434" dirty="0">
                <a:latin typeface="Cambria Math"/>
                <a:cs typeface="Cambria Math"/>
              </a:rPr>
              <a:t> </a:t>
            </a:r>
            <a:r>
              <a:rPr sz="2400" spc="-60" dirty="0">
                <a:latin typeface="Cambria Math"/>
                <a:cs typeface="Cambria Math"/>
              </a:rPr>
              <a:t>𝐭 </a:t>
            </a:r>
            <a:r>
              <a:rPr sz="2400" b="1" spc="-10" dirty="0">
                <a:latin typeface="Calibri"/>
                <a:cs typeface="Calibri"/>
              </a:rPr>
              <a:t>Modulating Signal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24" name="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75026" y="2599842"/>
            <a:ext cx="1664589" cy="8417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25"/>
              <p:cNvSpPr txBox="1"/>
              <p:nvPr/>
            </p:nvSpPr>
            <p:spPr>
              <a:xfrm>
                <a:off x="2375026" y="2599842"/>
                <a:ext cx="1664970" cy="816314"/>
              </a:xfrm>
              <a:prstGeom prst="rect">
                <a:avLst/>
              </a:prstGeom>
              <a:ln w="6350">
                <a:solidFill>
                  <a:srgbClr val="6FAC46"/>
                </a:solidFill>
              </a:ln>
            </p:spPr>
            <p:txBody>
              <a:bodyPr vert="horz" wrap="square" lIns="0" tIns="762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60"/>
                  </a:spcBef>
                </a:pPr>
                <a:r>
                  <a:rPr lang="en-US" sz="2400" b="1" spc="-10" dirty="0">
                    <a:latin typeface="Calibri"/>
                    <a:cs typeface="Calibri"/>
                  </a:rPr>
                  <a:t>Integrator</a:t>
                </a:r>
                <a:endParaRPr lang="en-US" sz="2400" dirty="0">
                  <a:latin typeface="Calibri"/>
                  <a:cs typeface="Calibri"/>
                </a:endParaRPr>
              </a:p>
              <a:p>
                <a:pPr algn="ctr">
                  <a:lnSpc>
                    <a:spcPct val="100000"/>
                  </a:lnSpc>
                  <a:spcBef>
                    <a:spcPts val="95"/>
                  </a:spcBef>
                </a:pP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ar-AE" sz="2400" i="1" spc="-35" smtClean="0">
                            <a:latin typeface="Cambria Math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US" sz="2400" b="0" i="0" spc="-35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nary>
                  </m:oMath>
                </a14:m>
                <a:r>
                  <a:rPr lang="en-US" sz="2400" dirty="0">
                    <a:latin typeface="Cambria Math"/>
                    <a:cs typeface="Cambria Math"/>
                  </a:rPr>
                  <a:t>t</a:t>
                </a:r>
                <a:endParaRPr sz="24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25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5026" y="2599842"/>
                <a:ext cx="1664970" cy="816314"/>
              </a:xfrm>
              <a:prstGeom prst="rect">
                <a:avLst/>
              </a:prstGeom>
              <a:blipFill>
                <a:blip r:embed="rId7"/>
                <a:stretch>
                  <a:fillRect l="-5109" t="-48148" r="-12044" b="-132593"/>
                </a:stretch>
              </a:blipFill>
              <a:ln w="6350">
                <a:solidFill>
                  <a:srgbClr val="6FAC4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object 26"/>
          <p:cNvGrpSpPr/>
          <p:nvPr/>
        </p:nvGrpSpPr>
        <p:grpSpPr>
          <a:xfrm>
            <a:off x="4039615" y="2963672"/>
            <a:ext cx="1309370" cy="525145"/>
            <a:chOff x="4039615" y="2963672"/>
            <a:chExt cx="1309370" cy="525145"/>
          </a:xfrm>
        </p:grpSpPr>
        <p:sp>
          <p:nvSpPr>
            <p:cNvPr id="27" name="object 27"/>
            <p:cNvSpPr/>
            <p:nvPr/>
          </p:nvSpPr>
          <p:spPr>
            <a:xfrm>
              <a:off x="4039615" y="2963672"/>
              <a:ext cx="1309370" cy="114300"/>
            </a:xfrm>
            <a:custGeom>
              <a:avLst/>
              <a:gdLst/>
              <a:ahLst/>
              <a:cxnLst/>
              <a:rect l="l" t="t" r="r" b="b"/>
              <a:pathLst>
                <a:path w="1309370" h="114300">
                  <a:moveTo>
                    <a:pt x="1195070" y="0"/>
                  </a:moveTo>
                  <a:lnTo>
                    <a:pt x="1195070" y="114300"/>
                  </a:lnTo>
                  <a:lnTo>
                    <a:pt x="1271270" y="76200"/>
                  </a:lnTo>
                  <a:lnTo>
                    <a:pt x="1214120" y="76200"/>
                  </a:lnTo>
                  <a:lnTo>
                    <a:pt x="1214120" y="38100"/>
                  </a:lnTo>
                  <a:lnTo>
                    <a:pt x="1271270" y="38100"/>
                  </a:lnTo>
                  <a:lnTo>
                    <a:pt x="1195070" y="0"/>
                  </a:lnTo>
                  <a:close/>
                </a:path>
                <a:path w="1309370" h="114300">
                  <a:moveTo>
                    <a:pt x="1195070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1195070" y="76200"/>
                  </a:lnTo>
                  <a:lnTo>
                    <a:pt x="1195070" y="38100"/>
                  </a:lnTo>
                  <a:close/>
                </a:path>
                <a:path w="1309370" h="114300">
                  <a:moveTo>
                    <a:pt x="1271270" y="38100"/>
                  </a:moveTo>
                  <a:lnTo>
                    <a:pt x="1214120" y="38100"/>
                  </a:lnTo>
                  <a:lnTo>
                    <a:pt x="1214120" y="76200"/>
                  </a:lnTo>
                  <a:lnTo>
                    <a:pt x="1271270" y="76200"/>
                  </a:lnTo>
                  <a:lnTo>
                    <a:pt x="1309370" y="57150"/>
                  </a:lnTo>
                  <a:lnTo>
                    <a:pt x="1271270" y="3810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99558" y="3276981"/>
              <a:ext cx="235965" cy="211709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4137405" y="3206877"/>
            <a:ext cx="958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60" dirty="0">
                <a:latin typeface="Cambria Math"/>
                <a:cs typeface="Cambria Math"/>
              </a:rPr>
              <a:t>න</a:t>
            </a:r>
            <a:r>
              <a:rPr sz="1800" spc="-1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𝐦</a:t>
            </a:r>
            <a:r>
              <a:rPr sz="1800" spc="34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𝐭</a:t>
            </a:r>
            <a:r>
              <a:rPr sz="1800" spc="345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𝐝𝐭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30" name="object 3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359019" y="5259959"/>
            <a:ext cx="1664588" cy="841730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5359019" y="5259959"/>
            <a:ext cx="1664970" cy="842010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230504" marR="222885" indent="168910">
              <a:lnSpc>
                <a:spcPct val="100000"/>
              </a:lnSpc>
              <a:spcBef>
                <a:spcPts val="285"/>
              </a:spcBef>
            </a:pPr>
            <a:r>
              <a:rPr sz="2400" b="1" spc="-10" dirty="0">
                <a:latin typeface="Calibri"/>
                <a:cs typeface="Calibri"/>
              </a:rPr>
              <a:t>Carrier Oscillator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264655" y="6214719"/>
            <a:ext cx="510540" cy="212090"/>
          </a:xfrm>
          <a:custGeom>
            <a:avLst/>
            <a:gdLst/>
            <a:ahLst/>
            <a:cxnLst/>
            <a:rect l="l" t="t" r="r" b="b"/>
            <a:pathLst>
              <a:path w="510540" h="212089">
                <a:moveTo>
                  <a:pt x="442849" y="0"/>
                </a:moveTo>
                <a:lnTo>
                  <a:pt x="439801" y="8597"/>
                </a:lnTo>
                <a:lnTo>
                  <a:pt x="452068" y="13917"/>
                </a:lnTo>
                <a:lnTo>
                  <a:pt x="462597" y="21282"/>
                </a:lnTo>
                <a:lnTo>
                  <a:pt x="484016" y="55414"/>
                </a:lnTo>
                <a:lnTo>
                  <a:pt x="490982" y="104813"/>
                </a:lnTo>
                <a:lnTo>
                  <a:pt x="490196" y="123489"/>
                </a:lnTo>
                <a:lnTo>
                  <a:pt x="478409" y="169214"/>
                </a:lnTo>
                <a:lnTo>
                  <a:pt x="452227" y="197807"/>
                </a:lnTo>
                <a:lnTo>
                  <a:pt x="440182" y="203149"/>
                </a:lnTo>
                <a:lnTo>
                  <a:pt x="442849" y="211747"/>
                </a:lnTo>
                <a:lnTo>
                  <a:pt x="483246" y="187710"/>
                </a:lnTo>
                <a:lnTo>
                  <a:pt x="505968" y="143335"/>
                </a:lnTo>
                <a:lnTo>
                  <a:pt x="510286" y="105930"/>
                </a:lnTo>
                <a:lnTo>
                  <a:pt x="509223" y="86751"/>
                </a:lnTo>
                <a:lnTo>
                  <a:pt x="509210" y="86521"/>
                </a:lnTo>
                <a:lnTo>
                  <a:pt x="492887" y="37122"/>
                </a:lnTo>
                <a:lnTo>
                  <a:pt x="458186" y="5541"/>
                </a:lnTo>
                <a:lnTo>
                  <a:pt x="442849" y="0"/>
                </a:lnTo>
                <a:close/>
              </a:path>
              <a:path w="510540" h="212089">
                <a:moveTo>
                  <a:pt x="67437" y="0"/>
                </a:moveTo>
                <a:lnTo>
                  <a:pt x="27092" y="24101"/>
                </a:lnTo>
                <a:lnTo>
                  <a:pt x="4365" y="68583"/>
                </a:lnTo>
                <a:lnTo>
                  <a:pt x="0" y="105930"/>
                </a:lnTo>
                <a:lnTo>
                  <a:pt x="970" y="123489"/>
                </a:lnTo>
                <a:lnTo>
                  <a:pt x="1075" y="125383"/>
                </a:lnTo>
                <a:lnTo>
                  <a:pt x="17399" y="174739"/>
                </a:lnTo>
                <a:lnTo>
                  <a:pt x="52081" y="206212"/>
                </a:lnTo>
                <a:lnTo>
                  <a:pt x="67437" y="211747"/>
                </a:lnTo>
                <a:lnTo>
                  <a:pt x="70231" y="203149"/>
                </a:lnTo>
                <a:lnTo>
                  <a:pt x="58130" y="197807"/>
                </a:lnTo>
                <a:lnTo>
                  <a:pt x="47720" y="190372"/>
                </a:lnTo>
                <a:lnTo>
                  <a:pt x="26376" y="155689"/>
                </a:lnTo>
                <a:lnTo>
                  <a:pt x="19351" y="105930"/>
                </a:lnTo>
                <a:lnTo>
                  <a:pt x="19304" y="104813"/>
                </a:lnTo>
                <a:lnTo>
                  <a:pt x="26376" y="55414"/>
                </a:lnTo>
                <a:lnTo>
                  <a:pt x="47799" y="21282"/>
                </a:lnTo>
                <a:lnTo>
                  <a:pt x="70485" y="8597"/>
                </a:lnTo>
                <a:lnTo>
                  <a:pt x="67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580888" y="6144869"/>
            <a:ext cx="11588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mbria Math"/>
                <a:cs typeface="Cambria Math"/>
              </a:rPr>
              <a:t>𝐕</a:t>
            </a:r>
            <a:r>
              <a:rPr sz="1950" spc="-30" baseline="-14957" dirty="0">
                <a:latin typeface="Cambria Math"/>
                <a:cs typeface="Cambria Math"/>
              </a:rPr>
              <a:t>𝐂</a:t>
            </a:r>
            <a:r>
              <a:rPr sz="1950" spc="60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26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4957" dirty="0">
                <a:latin typeface="Cambria Math"/>
                <a:cs typeface="Cambria Math"/>
              </a:rPr>
              <a:t>𝐜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34" name="object 3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359019" y="3933977"/>
            <a:ext cx="1664588" cy="841730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5359019" y="3933977"/>
            <a:ext cx="1664970" cy="769891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452755">
              <a:lnSpc>
                <a:spcPts val="2875"/>
              </a:lnSpc>
              <a:spcBef>
                <a:spcPts val="295"/>
              </a:spcBef>
            </a:pPr>
            <a:r>
              <a:rPr lang="en-US" sz="2400" spc="-20" dirty="0">
                <a:latin typeface="Cambria Math"/>
                <a:cs typeface="Cambria Math"/>
              </a:rPr>
              <a:t> </a:t>
            </a:r>
            <a:r>
              <a:rPr sz="2400" spc="-20" dirty="0">
                <a:latin typeface="Cambria Math"/>
                <a:cs typeface="Cambria Math"/>
              </a:rPr>
              <a:t>𝛑/𝟐</a:t>
            </a:r>
            <a:endParaRPr sz="2400" dirty="0">
              <a:latin typeface="Cambria Math"/>
              <a:cs typeface="Cambria Math"/>
            </a:endParaRPr>
          </a:p>
          <a:p>
            <a:pPr marL="455930">
              <a:lnSpc>
                <a:spcPts val="2875"/>
              </a:lnSpc>
            </a:pPr>
            <a:r>
              <a:rPr sz="2400" b="1" spc="-10" dirty="0">
                <a:latin typeface="Calibri"/>
                <a:cs typeface="Calibri"/>
              </a:rPr>
              <a:t>Phase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134100" y="3445636"/>
            <a:ext cx="1637030" cy="1814830"/>
            <a:chOff x="6134100" y="3445636"/>
            <a:chExt cx="1637030" cy="1814830"/>
          </a:xfrm>
        </p:grpSpPr>
        <p:sp>
          <p:nvSpPr>
            <p:cNvPr id="37" name="object 37"/>
            <p:cNvSpPr/>
            <p:nvPr/>
          </p:nvSpPr>
          <p:spPr>
            <a:xfrm>
              <a:off x="6134100" y="3445636"/>
              <a:ext cx="114300" cy="1814830"/>
            </a:xfrm>
            <a:custGeom>
              <a:avLst/>
              <a:gdLst/>
              <a:ahLst/>
              <a:cxnLst/>
              <a:rect l="l" t="t" r="r" b="b"/>
              <a:pathLst>
                <a:path w="114300" h="1814829">
                  <a:moveTo>
                    <a:pt x="114300" y="1444371"/>
                  </a:moveTo>
                  <a:lnTo>
                    <a:pt x="104775" y="1425321"/>
                  </a:lnTo>
                  <a:lnTo>
                    <a:pt x="57150" y="1330071"/>
                  </a:lnTo>
                  <a:lnTo>
                    <a:pt x="0" y="1444371"/>
                  </a:lnTo>
                  <a:lnTo>
                    <a:pt x="38100" y="1444371"/>
                  </a:lnTo>
                  <a:lnTo>
                    <a:pt x="38100" y="1814322"/>
                  </a:lnTo>
                  <a:lnTo>
                    <a:pt x="76200" y="1814322"/>
                  </a:lnTo>
                  <a:lnTo>
                    <a:pt x="76200" y="1444371"/>
                  </a:lnTo>
                  <a:lnTo>
                    <a:pt x="114300" y="1444371"/>
                  </a:lnTo>
                  <a:close/>
                </a:path>
                <a:path w="114300" h="1814829">
                  <a:moveTo>
                    <a:pt x="114300" y="114300"/>
                  </a:moveTo>
                  <a:lnTo>
                    <a:pt x="104775" y="95250"/>
                  </a:lnTo>
                  <a:lnTo>
                    <a:pt x="57150" y="0"/>
                  </a:lnTo>
                  <a:lnTo>
                    <a:pt x="0" y="114300"/>
                  </a:lnTo>
                  <a:lnTo>
                    <a:pt x="38100" y="114300"/>
                  </a:lnTo>
                  <a:lnTo>
                    <a:pt x="38100" y="488315"/>
                  </a:lnTo>
                  <a:lnTo>
                    <a:pt x="76200" y="488315"/>
                  </a:lnTo>
                  <a:lnTo>
                    <a:pt x="76200" y="114300"/>
                  </a:lnTo>
                  <a:lnTo>
                    <a:pt x="114300" y="11430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260208" y="3554602"/>
              <a:ext cx="510540" cy="212090"/>
            </a:xfrm>
            <a:custGeom>
              <a:avLst/>
              <a:gdLst/>
              <a:ahLst/>
              <a:cxnLst/>
              <a:rect l="l" t="t" r="r" b="b"/>
              <a:pathLst>
                <a:path w="510540" h="212089">
                  <a:moveTo>
                    <a:pt x="442849" y="0"/>
                  </a:moveTo>
                  <a:lnTo>
                    <a:pt x="439801" y="8636"/>
                  </a:lnTo>
                  <a:lnTo>
                    <a:pt x="452068" y="13946"/>
                  </a:lnTo>
                  <a:lnTo>
                    <a:pt x="462597" y="21304"/>
                  </a:lnTo>
                  <a:lnTo>
                    <a:pt x="484016" y="55449"/>
                  </a:lnTo>
                  <a:lnTo>
                    <a:pt x="490982" y="104902"/>
                  </a:lnTo>
                  <a:lnTo>
                    <a:pt x="490216" y="123571"/>
                  </a:lnTo>
                  <a:lnTo>
                    <a:pt x="478536" y="169291"/>
                  </a:lnTo>
                  <a:lnTo>
                    <a:pt x="452229" y="197866"/>
                  </a:lnTo>
                  <a:lnTo>
                    <a:pt x="440182" y="203200"/>
                  </a:lnTo>
                  <a:lnTo>
                    <a:pt x="442849" y="211836"/>
                  </a:lnTo>
                  <a:lnTo>
                    <a:pt x="483246" y="187725"/>
                  </a:lnTo>
                  <a:lnTo>
                    <a:pt x="506031" y="143398"/>
                  </a:lnTo>
                  <a:lnTo>
                    <a:pt x="510413" y="106045"/>
                  </a:lnTo>
                  <a:lnTo>
                    <a:pt x="509331" y="86830"/>
                  </a:lnTo>
                  <a:lnTo>
                    <a:pt x="492887" y="37211"/>
                  </a:lnTo>
                  <a:lnTo>
                    <a:pt x="458186" y="5599"/>
                  </a:lnTo>
                  <a:lnTo>
                    <a:pt x="442849" y="0"/>
                  </a:lnTo>
                  <a:close/>
                </a:path>
                <a:path w="510540" h="212089">
                  <a:moveTo>
                    <a:pt x="67564" y="0"/>
                  </a:moveTo>
                  <a:lnTo>
                    <a:pt x="27112" y="24181"/>
                  </a:lnTo>
                  <a:lnTo>
                    <a:pt x="4365" y="68627"/>
                  </a:lnTo>
                  <a:lnTo>
                    <a:pt x="0" y="106045"/>
                  </a:lnTo>
                  <a:lnTo>
                    <a:pt x="986" y="123571"/>
                  </a:lnTo>
                  <a:lnTo>
                    <a:pt x="1093" y="125477"/>
                  </a:lnTo>
                  <a:lnTo>
                    <a:pt x="17399" y="174752"/>
                  </a:lnTo>
                  <a:lnTo>
                    <a:pt x="52135" y="206291"/>
                  </a:lnTo>
                  <a:lnTo>
                    <a:pt x="67564" y="211836"/>
                  </a:lnTo>
                  <a:lnTo>
                    <a:pt x="70231" y="203200"/>
                  </a:lnTo>
                  <a:lnTo>
                    <a:pt x="58130" y="197866"/>
                  </a:lnTo>
                  <a:lnTo>
                    <a:pt x="47720" y="190436"/>
                  </a:lnTo>
                  <a:lnTo>
                    <a:pt x="26376" y="155765"/>
                  </a:lnTo>
                  <a:lnTo>
                    <a:pt x="19352" y="106045"/>
                  </a:lnTo>
                  <a:lnTo>
                    <a:pt x="19304" y="104902"/>
                  </a:lnTo>
                  <a:lnTo>
                    <a:pt x="20089" y="86830"/>
                  </a:lnTo>
                  <a:lnTo>
                    <a:pt x="31877" y="42164"/>
                  </a:lnTo>
                  <a:lnTo>
                    <a:pt x="58291" y="13946"/>
                  </a:lnTo>
                  <a:lnTo>
                    <a:pt x="70485" y="8636"/>
                  </a:lnTo>
                  <a:lnTo>
                    <a:pt x="675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433058" y="3484626"/>
            <a:ext cx="1302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−𝐕</a:t>
            </a:r>
            <a:r>
              <a:rPr sz="1950" spc="-15" baseline="-14957" dirty="0">
                <a:latin typeface="Cambria Math"/>
                <a:cs typeface="Cambria Math"/>
              </a:rPr>
              <a:t>𝐂</a:t>
            </a:r>
            <a:r>
              <a:rPr sz="1950" spc="37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𝐬𝐢𝐧</a:t>
            </a:r>
            <a:r>
              <a:rPr sz="1800" spc="26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4957" dirty="0">
                <a:latin typeface="Cambria Math"/>
                <a:cs typeface="Cambria Math"/>
              </a:rPr>
              <a:t>𝐜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40" name="object 4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348985" y="2587142"/>
            <a:ext cx="1664589" cy="841730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5348985" y="2587142"/>
            <a:ext cx="1664970" cy="774571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154940" marR="147320" indent="182880">
              <a:lnSpc>
                <a:spcPct val="100000"/>
              </a:lnSpc>
              <a:spcBef>
                <a:spcPts val="280"/>
              </a:spcBef>
            </a:pPr>
            <a:r>
              <a:rPr lang="en-US" sz="2400" b="1" spc="-10" dirty="0">
                <a:latin typeface="Calibri"/>
                <a:cs typeface="Calibri"/>
              </a:rPr>
              <a:t>DSB-SC</a:t>
            </a:r>
            <a:r>
              <a:rPr sz="2400" b="1" spc="-10" dirty="0">
                <a:latin typeface="Calibri"/>
                <a:cs typeface="Calibri"/>
              </a:rPr>
              <a:t> Modulator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7013575" y="2304033"/>
            <a:ext cx="1547495" cy="761365"/>
            <a:chOff x="7013575" y="2304033"/>
            <a:chExt cx="1547495" cy="761365"/>
          </a:xfrm>
        </p:grpSpPr>
        <p:sp>
          <p:nvSpPr>
            <p:cNvPr id="43" name="object 43"/>
            <p:cNvSpPr/>
            <p:nvPr/>
          </p:nvSpPr>
          <p:spPr>
            <a:xfrm>
              <a:off x="7013575" y="2950971"/>
              <a:ext cx="1416050" cy="114300"/>
            </a:xfrm>
            <a:custGeom>
              <a:avLst/>
              <a:gdLst/>
              <a:ahLst/>
              <a:cxnLst/>
              <a:rect l="l" t="t" r="r" b="b"/>
              <a:pathLst>
                <a:path w="1416050" h="114300">
                  <a:moveTo>
                    <a:pt x="1301369" y="0"/>
                  </a:moveTo>
                  <a:lnTo>
                    <a:pt x="1301369" y="114300"/>
                  </a:lnTo>
                  <a:lnTo>
                    <a:pt x="1377569" y="76200"/>
                  </a:lnTo>
                  <a:lnTo>
                    <a:pt x="1320419" y="76200"/>
                  </a:lnTo>
                  <a:lnTo>
                    <a:pt x="1320419" y="38100"/>
                  </a:lnTo>
                  <a:lnTo>
                    <a:pt x="1377569" y="38100"/>
                  </a:lnTo>
                  <a:lnTo>
                    <a:pt x="1301369" y="0"/>
                  </a:lnTo>
                  <a:close/>
                </a:path>
                <a:path w="1416050" h="114300">
                  <a:moveTo>
                    <a:pt x="1301369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1301369" y="76200"/>
                  </a:lnTo>
                  <a:lnTo>
                    <a:pt x="1301369" y="38100"/>
                  </a:lnTo>
                  <a:close/>
                </a:path>
                <a:path w="1416050" h="114300">
                  <a:moveTo>
                    <a:pt x="1377569" y="38100"/>
                  </a:moveTo>
                  <a:lnTo>
                    <a:pt x="1320419" y="38100"/>
                  </a:lnTo>
                  <a:lnTo>
                    <a:pt x="1320419" y="76200"/>
                  </a:lnTo>
                  <a:lnTo>
                    <a:pt x="1377569" y="76200"/>
                  </a:lnTo>
                  <a:lnTo>
                    <a:pt x="1415669" y="57150"/>
                  </a:lnTo>
                  <a:lnTo>
                    <a:pt x="1377569" y="3810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410068" y="2304033"/>
              <a:ext cx="236093" cy="211709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8048625" y="2304033"/>
              <a:ext cx="512445" cy="212090"/>
            </a:xfrm>
            <a:custGeom>
              <a:avLst/>
              <a:gdLst/>
              <a:ahLst/>
              <a:cxnLst/>
              <a:rect l="l" t="t" r="r" b="b"/>
              <a:pathLst>
                <a:path w="512445" h="212089">
                  <a:moveTo>
                    <a:pt x="444373" y="0"/>
                  </a:moveTo>
                  <a:lnTo>
                    <a:pt x="441325" y="8636"/>
                  </a:lnTo>
                  <a:lnTo>
                    <a:pt x="453610" y="13946"/>
                  </a:lnTo>
                  <a:lnTo>
                    <a:pt x="464169" y="21304"/>
                  </a:lnTo>
                  <a:lnTo>
                    <a:pt x="485560" y="55429"/>
                  </a:lnTo>
                  <a:lnTo>
                    <a:pt x="491812" y="86483"/>
                  </a:lnTo>
                  <a:lnTo>
                    <a:pt x="491847" y="86723"/>
                  </a:lnTo>
                  <a:lnTo>
                    <a:pt x="492633" y="104775"/>
                  </a:lnTo>
                  <a:lnTo>
                    <a:pt x="491847" y="123444"/>
                  </a:lnTo>
                  <a:lnTo>
                    <a:pt x="489489" y="140398"/>
                  </a:lnTo>
                  <a:lnTo>
                    <a:pt x="472942" y="180784"/>
                  </a:lnTo>
                  <a:lnTo>
                    <a:pt x="441706" y="203073"/>
                  </a:lnTo>
                  <a:lnTo>
                    <a:pt x="444373" y="211709"/>
                  </a:lnTo>
                  <a:lnTo>
                    <a:pt x="484842" y="187706"/>
                  </a:lnTo>
                  <a:lnTo>
                    <a:pt x="507571" y="143335"/>
                  </a:lnTo>
                  <a:lnTo>
                    <a:pt x="511937" y="105918"/>
                  </a:lnTo>
                  <a:lnTo>
                    <a:pt x="510855" y="86723"/>
                  </a:lnTo>
                  <a:lnTo>
                    <a:pt x="510841" y="86483"/>
                  </a:lnTo>
                  <a:lnTo>
                    <a:pt x="494411" y="37084"/>
                  </a:lnTo>
                  <a:lnTo>
                    <a:pt x="459710" y="5526"/>
                  </a:lnTo>
                  <a:lnTo>
                    <a:pt x="444373" y="0"/>
                  </a:lnTo>
                  <a:close/>
                </a:path>
                <a:path w="512445" h="212089">
                  <a:moveTo>
                    <a:pt x="67564" y="0"/>
                  </a:moveTo>
                  <a:lnTo>
                    <a:pt x="27166" y="24056"/>
                  </a:lnTo>
                  <a:lnTo>
                    <a:pt x="4381" y="68548"/>
                  </a:lnTo>
                  <a:lnTo>
                    <a:pt x="64" y="104775"/>
                  </a:lnTo>
                  <a:lnTo>
                    <a:pt x="0" y="105918"/>
                  </a:lnTo>
                  <a:lnTo>
                    <a:pt x="985" y="123444"/>
                  </a:lnTo>
                  <a:lnTo>
                    <a:pt x="1093" y="125370"/>
                  </a:lnTo>
                  <a:lnTo>
                    <a:pt x="4365" y="143335"/>
                  </a:lnTo>
                  <a:lnTo>
                    <a:pt x="27094" y="187706"/>
                  </a:lnTo>
                  <a:lnTo>
                    <a:pt x="67564" y="211709"/>
                  </a:lnTo>
                  <a:lnTo>
                    <a:pt x="70231" y="203073"/>
                  </a:lnTo>
                  <a:lnTo>
                    <a:pt x="58183" y="197738"/>
                  </a:lnTo>
                  <a:lnTo>
                    <a:pt x="47767" y="190309"/>
                  </a:lnTo>
                  <a:lnTo>
                    <a:pt x="26376" y="155638"/>
                  </a:lnTo>
                  <a:lnTo>
                    <a:pt x="19352" y="105918"/>
                  </a:lnTo>
                  <a:lnTo>
                    <a:pt x="19304" y="104775"/>
                  </a:lnTo>
                  <a:lnTo>
                    <a:pt x="20089" y="86723"/>
                  </a:lnTo>
                  <a:lnTo>
                    <a:pt x="31877" y="42164"/>
                  </a:lnTo>
                  <a:lnTo>
                    <a:pt x="58344" y="13946"/>
                  </a:lnTo>
                  <a:lnTo>
                    <a:pt x="70612" y="8636"/>
                  </a:lnTo>
                  <a:lnTo>
                    <a:pt x="675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6593713" y="2233676"/>
            <a:ext cx="1931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111885" algn="l"/>
              </a:tabLst>
            </a:pPr>
            <a:r>
              <a:rPr sz="1800" dirty="0">
                <a:latin typeface="Cambria Math"/>
                <a:cs typeface="Cambria Math"/>
              </a:rPr>
              <a:t>−𝐕</a:t>
            </a:r>
            <a:r>
              <a:rPr sz="1950" baseline="-14957" dirty="0">
                <a:latin typeface="Cambria Math"/>
                <a:cs typeface="Cambria Math"/>
              </a:rPr>
              <a:t>𝐂</a:t>
            </a:r>
            <a:r>
              <a:rPr sz="1800" dirty="0">
                <a:latin typeface="Cambria Math"/>
                <a:cs typeface="Cambria Math"/>
              </a:rPr>
              <a:t>𝐤</a:t>
            </a:r>
            <a:r>
              <a:rPr sz="1950" baseline="-14957" dirty="0">
                <a:latin typeface="Cambria Math"/>
                <a:cs typeface="Cambria Math"/>
              </a:rPr>
              <a:t>𝐟</a:t>
            </a:r>
            <a:r>
              <a:rPr sz="1800" dirty="0">
                <a:latin typeface="Cambria Math"/>
                <a:cs typeface="Cambria Math"/>
              </a:rPr>
              <a:t>𝐠</a:t>
            </a:r>
            <a:r>
              <a:rPr sz="1800" spc="39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𝐬𝐢𝐧</a:t>
            </a:r>
            <a:r>
              <a:rPr sz="1800" spc="33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4957" dirty="0">
                <a:latin typeface="Cambria Math"/>
                <a:cs typeface="Cambria Math"/>
              </a:rPr>
              <a:t>𝐜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47" name="object 4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429243" y="2595524"/>
            <a:ext cx="1212189" cy="841730"/>
          </a:xfrm>
          <a:prstGeom prst="rect">
            <a:avLst/>
          </a:prstGeom>
        </p:spPr>
      </p:pic>
      <p:sp>
        <p:nvSpPr>
          <p:cNvPr id="48" name="object 48"/>
          <p:cNvSpPr txBox="1"/>
          <p:nvPr/>
        </p:nvSpPr>
        <p:spPr>
          <a:xfrm>
            <a:off x="8429243" y="2595524"/>
            <a:ext cx="1212215" cy="842010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219075" rIns="0" bIns="0" rtlCol="0">
            <a:spAutoFit/>
          </a:bodyPr>
          <a:lstStyle/>
          <a:p>
            <a:pPr marL="220345">
              <a:lnSpc>
                <a:spcPct val="100000"/>
              </a:lnSpc>
              <a:spcBef>
                <a:spcPts val="1725"/>
              </a:spcBef>
            </a:pPr>
            <a:r>
              <a:rPr sz="2400" b="1" spc="-10" dirty="0">
                <a:latin typeface="Calibri"/>
                <a:cs typeface="Calibri"/>
              </a:rPr>
              <a:t>Adder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7023608" y="2961385"/>
            <a:ext cx="4279900" cy="2738755"/>
          </a:xfrm>
          <a:custGeom>
            <a:avLst/>
            <a:gdLst/>
            <a:ahLst/>
            <a:cxnLst/>
            <a:rect l="l" t="t" r="r" b="b"/>
            <a:pathLst>
              <a:path w="4279900" h="2738754">
                <a:moveTo>
                  <a:pt x="2068957" y="590169"/>
                </a:moveTo>
                <a:lnTo>
                  <a:pt x="2059432" y="571119"/>
                </a:lnTo>
                <a:lnTo>
                  <a:pt x="2011807" y="475869"/>
                </a:lnTo>
                <a:lnTo>
                  <a:pt x="1954657" y="590169"/>
                </a:lnTo>
                <a:lnTo>
                  <a:pt x="1992757" y="590169"/>
                </a:lnTo>
                <a:lnTo>
                  <a:pt x="1992757" y="2700413"/>
                </a:lnTo>
                <a:lnTo>
                  <a:pt x="0" y="2700413"/>
                </a:lnTo>
                <a:lnTo>
                  <a:pt x="0" y="2738501"/>
                </a:lnTo>
                <a:lnTo>
                  <a:pt x="2030857" y="2738501"/>
                </a:lnTo>
                <a:lnTo>
                  <a:pt x="2030857" y="2719451"/>
                </a:lnTo>
                <a:lnTo>
                  <a:pt x="2030857" y="2700413"/>
                </a:lnTo>
                <a:lnTo>
                  <a:pt x="2030857" y="590169"/>
                </a:lnTo>
                <a:lnTo>
                  <a:pt x="2068957" y="590169"/>
                </a:lnTo>
                <a:close/>
              </a:path>
              <a:path w="4279900" h="2738754">
                <a:moveTo>
                  <a:pt x="4279392" y="57277"/>
                </a:moveTo>
                <a:lnTo>
                  <a:pt x="4241165" y="38100"/>
                </a:lnTo>
                <a:lnTo>
                  <a:pt x="4165219" y="0"/>
                </a:lnTo>
                <a:lnTo>
                  <a:pt x="4165130" y="35941"/>
                </a:lnTo>
                <a:lnTo>
                  <a:pt x="4165117" y="38074"/>
                </a:lnTo>
                <a:lnTo>
                  <a:pt x="2617851" y="35941"/>
                </a:lnTo>
                <a:lnTo>
                  <a:pt x="2617851" y="74041"/>
                </a:lnTo>
                <a:lnTo>
                  <a:pt x="4165041" y="76174"/>
                </a:lnTo>
                <a:lnTo>
                  <a:pt x="4184129" y="76200"/>
                </a:lnTo>
                <a:lnTo>
                  <a:pt x="4165041" y="76200"/>
                </a:lnTo>
                <a:lnTo>
                  <a:pt x="4164965" y="114300"/>
                </a:lnTo>
                <a:lnTo>
                  <a:pt x="4241419" y="76200"/>
                </a:lnTo>
                <a:lnTo>
                  <a:pt x="4279392" y="57277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9808591" y="3059429"/>
            <a:ext cx="1227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NBFM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Signal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xmlns="" id="{7888DC0D-7BF7-403A-898D-D7C04755DAC1}"/>
              </a:ext>
            </a:extLst>
          </p:cNvPr>
          <p:cNvSpPr/>
          <p:nvPr/>
        </p:nvSpPr>
        <p:spPr>
          <a:xfrm>
            <a:off x="5943600" y="1143000"/>
            <a:ext cx="2962784" cy="10718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xmlns="" id="{BA5DAA08-910C-4D2A-B874-EAA200AD7C43}"/>
                  </a:ext>
                </a:extLst>
              </p:cNvPr>
              <p:cNvSpPr txBox="1"/>
              <p:nvPr/>
            </p:nvSpPr>
            <p:spPr>
              <a:xfrm>
                <a:off x="5948591" y="1434194"/>
                <a:ext cx="6124574" cy="4637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Here,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𝐠</m:t>
                    </m:r>
                    <m:d>
                      <m:dPr>
                        <m:ctrlPr>
                          <a:rPr lang="en-US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𝐭</m:t>
                        </m:r>
                      </m:e>
                    </m:d>
                    <m:r>
                      <a:rPr lang="en-US" b="1" i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b="1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1" i="0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𝐭</m:t>
                        </m:r>
                      </m:sup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𝐦</m:t>
                        </m:r>
                        <m:d>
                          <m:dPr>
                            <m:ctrlPr>
                              <a:rPr lang="en-US" b="1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𝐭</m:t>
                            </m:r>
                          </m:e>
                        </m:d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𝐝𝐭</m:t>
                        </m:r>
                      </m:e>
                    </m:nary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A5DAA08-910C-4D2A-B874-EAA200AD7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591" y="1434194"/>
                <a:ext cx="6124574" cy="463781"/>
              </a:xfrm>
              <a:prstGeom prst="rect">
                <a:avLst/>
              </a:prstGeom>
              <a:blipFill>
                <a:blip r:embed="rId13"/>
                <a:stretch>
                  <a:fillRect l="-896" t="-106579" b="-172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Rectangle 55">
            <a:extLst>
              <a:ext uri="{FF2B5EF4-FFF2-40B4-BE49-F238E27FC236}">
                <a16:creationId xmlns:a16="http://schemas.microsoft.com/office/drawing/2014/main" xmlns="" id="{99FB7900-AE0D-4539-9C84-E9EC292CC2C6}"/>
              </a:ext>
            </a:extLst>
          </p:cNvPr>
          <p:cNvSpPr/>
          <p:nvPr/>
        </p:nvSpPr>
        <p:spPr>
          <a:xfrm>
            <a:off x="5867400" y="1448942"/>
            <a:ext cx="2561843" cy="5156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xmlns="" id="{36FE94B2-4488-411C-AC29-1643CBAB2F2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27686" y="3118075"/>
            <a:ext cx="1004958" cy="59616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Resolution</a:t>
            </a:r>
            <a:r>
              <a:rPr sz="3200" u="sng" spc="-6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of</a:t>
            </a:r>
            <a:r>
              <a:rPr sz="3200" u="sng" spc="-3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Issue</a:t>
            </a:r>
            <a:r>
              <a:rPr sz="3200" u="sng" spc="-6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in</a:t>
            </a:r>
            <a:r>
              <a:rPr sz="3200" u="sng" spc="-3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NBFM</a:t>
            </a:r>
            <a:r>
              <a:rPr sz="3200" u="sng" spc="-3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Generation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224739" y="620648"/>
            <a:ext cx="117544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90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Amplitude</a:t>
            </a:r>
            <a:r>
              <a:rPr sz="2400" b="1" spc="3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variation</a:t>
            </a:r>
            <a:r>
              <a:rPr sz="2400" b="1" spc="3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can</a:t>
            </a:r>
            <a:r>
              <a:rPr sz="2400" b="1" spc="3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occur</a:t>
            </a:r>
            <a:r>
              <a:rPr sz="2400" b="1" spc="30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due</a:t>
            </a:r>
            <a:r>
              <a:rPr sz="2400" b="1" spc="3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spc="3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3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adder.</a:t>
            </a:r>
            <a:r>
              <a:rPr sz="2400" b="1" spc="3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3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Bandpass</a:t>
            </a:r>
            <a:r>
              <a:rPr sz="2400" b="1" spc="3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Limiter</a:t>
            </a:r>
            <a:r>
              <a:rPr sz="2400" b="1" spc="30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can</a:t>
            </a:r>
            <a:r>
              <a:rPr sz="2400" b="1" spc="3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resolve</a:t>
            </a:r>
            <a:r>
              <a:rPr sz="2400" b="1" spc="3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that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issue.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79625" y="1829942"/>
            <a:ext cx="1491615" cy="114300"/>
          </a:xfrm>
          <a:custGeom>
            <a:avLst/>
            <a:gdLst/>
            <a:ahLst/>
            <a:cxnLst/>
            <a:rect l="l" t="t" r="r" b="b"/>
            <a:pathLst>
              <a:path w="1491614" h="114300">
                <a:moveTo>
                  <a:pt x="1377315" y="0"/>
                </a:moveTo>
                <a:lnTo>
                  <a:pt x="1377315" y="114300"/>
                </a:lnTo>
                <a:lnTo>
                  <a:pt x="1453515" y="76200"/>
                </a:lnTo>
                <a:lnTo>
                  <a:pt x="1396365" y="76200"/>
                </a:lnTo>
                <a:lnTo>
                  <a:pt x="1396365" y="38100"/>
                </a:lnTo>
                <a:lnTo>
                  <a:pt x="1453515" y="38100"/>
                </a:lnTo>
                <a:lnTo>
                  <a:pt x="1377315" y="0"/>
                </a:lnTo>
                <a:close/>
              </a:path>
              <a:path w="1491614" h="114300">
                <a:moveTo>
                  <a:pt x="137731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377315" y="76200"/>
                </a:lnTo>
                <a:lnTo>
                  <a:pt x="1377315" y="38100"/>
                </a:lnTo>
                <a:close/>
              </a:path>
              <a:path w="1491614" h="114300">
                <a:moveTo>
                  <a:pt x="1453515" y="38100"/>
                </a:moveTo>
                <a:lnTo>
                  <a:pt x="1396365" y="38100"/>
                </a:lnTo>
                <a:lnTo>
                  <a:pt x="1396365" y="76200"/>
                </a:lnTo>
                <a:lnTo>
                  <a:pt x="1453515" y="76200"/>
                </a:lnTo>
                <a:lnTo>
                  <a:pt x="1491615" y="57150"/>
                </a:lnTo>
                <a:lnTo>
                  <a:pt x="1453515" y="3810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74040" y="1887982"/>
            <a:ext cx="1624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NBFM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Signal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1241" y="1468272"/>
            <a:ext cx="2100072" cy="84173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071241" y="1468272"/>
            <a:ext cx="2100580" cy="842010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218440" rIns="0" bIns="0" rtlCol="0">
            <a:spAutoFit/>
          </a:bodyPr>
          <a:lstStyle/>
          <a:p>
            <a:pPr marL="264160">
              <a:lnSpc>
                <a:spcPct val="100000"/>
              </a:lnSpc>
              <a:spcBef>
                <a:spcPts val="1720"/>
              </a:spcBef>
            </a:pPr>
            <a:r>
              <a:rPr sz="2400" b="1" dirty="0">
                <a:latin typeface="Calibri"/>
                <a:cs typeface="Calibri"/>
              </a:rPr>
              <a:t>Hard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Limiter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171313" y="1466240"/>
            <a:ext cx="3025775" cy="842010"/>
            <a:chOff x="5171313" y="1466240"/>
            <a:chExt cx="3025775" cy="842010"/>
          </a:xfrm>
        </p:grpSpPr>
        <p:sp>
          <p:nvSpPr>
            <p:cNvPr id="9" name="object 9"/>
            <p:cNvSpPr/>
            <p:nvPr/>
          </p:nvSpPr>
          <p:spPr>
            <a:xfrm>
              <a:off x="5171313" y="1830197"/>
              <a:ext cx="931544" cy="114300"/>
            </a:xfrm>
            <a:custGeom>
              <a:avLst/>
              <a:gdLst/>
              <a:ahLst/>
              <a:cxnLst/>
              <a:rect l="l" t="t" r="r" b="b"/>
              <a:pathLst>
                <a:path w="931545" h="114300">
                  <a:moveTo>
                    <a:pt x="816991" y="0"/>
                  </a:moveTo>
                  <a:lnTo>
                    <a:pt x="817075" y="38016"/>
                  </a:lnTo>
                  <a:lnTo>
                    <a:pt x="817160" y="76116"/>
                  </a:lnTo>
                  <a:lnTo>
                    <a:pt x="817244" y="114299"/>
                  </a:lnTo>
                  <a:lnTo>
                    <a:pt x="893190" y="76116"/>
                  </a:lnTo>
                  <a:lnTo>
                    <a:pt x="836168" y="76116"/>
                  </a:lnTo>
                  <a:lnTo>
                    <a:pt x="836047" y="39877"/>
                  </a:lnTo>
                  <a:lnTo>
                    <a:pt x="836041" y="38016"/>
                  </a:lnTo>
                  <a:lnTo>
                    <a:pt x="893447" y="38016"/>
                  </a:lnTo>
                  <a:lnTo>
                    <a:pt x="816991" y="0"/>
                  </a:lnTo>
                  <a:close/>
                </a:path>
                <a:path w="931545" h="114300">
                  <a:moveTo>
                    <a:pt x="817075" y="38016"/>
                  </a:moveTo>
                  <a:lnTo>
                    <a:pt x="0" y="39877"/>
                  </a:lnTo>
                  <a:lnTo>
                    <a:pt x="0" y="77977"/>
                  </a:lnTo>
                  <a:lnTo>
                    <a:pt x="817160" y="76116"/>
                  </a:lnTo>
                  <a:lnTo>
                    <a:pt x="817075" y="38016"/>
                  </a:lnTo>
                  <a:close/>
                </a:path>
                <a:path w="931545" h="114300">
                  <a:moveTo>
                    <a:pt x="893447" y="38016"/>
                  </a:moveTo>
                  <a:lnTo>
                    <a:pt x="836041" y="38016"/>
                  </a:lnTo>
                  <a:lnTo>
                    <a:pt x="836047" y="39877"/>
                  </a:lnTo>
                  <a:lnTo>
                    <a:pt x="836168" y="76116"/>
                  </a:lnTo>
                  <a:lnTo>
                    <a:pt x="893190" y="76116"/>
                  </a:lnTo>
                  <a:lnTo>
                    <a:pt x="931418" y="56895"/>
                  </a:lnTo>
                  <a:lnTo>
                    <a:pt x="893447" y="38016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6762" y="1466240"/>
              <a:ext cx="2100072" cy="84173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6096761" y="1466240"/>
            <a:ext cx="2100580" cy="842010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2184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20"/>
              </a:spcBef>
            </a:pPr>
            <a:r>
              <a:rPr sz="2400" b="1" spc="-25" dirty="0">
                <a:latin typeface="Calibri"/>
                <a:cs typeface="Calibri"/>
              </a:rPr>
              <a:t>BPF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196833" y="1828164"/>
            <a:ext cx="931544" cy="114300"/>
          </a:xfrm>
          <a:custGeom>
            <a:avLst/>
            <a:gdLst/>
            <a:ahLst/>
            <a:cxnLst/>
            <a:rect l="l" t="t" r="r" b="b"/>
            <a:pathLst>
              <a:path w="931545" h="114300">
                <a:moveTo>
                  <a:pt x="816991" y="0"/>
                </a:moveTo>
                <a:lnTo>
                  <a:pt x="817075" y="38016"/>
                </a:lnTo>
                <a:lnTo>
                  <a:pt x="817160" y="76116"/>
                </a:lnTo>
                <a:lnTo>
                  <a:pt x="817244" y="114299"/>
                </a:lnTo>
                <a:lnTo>
                  <a:pt x="893190" y="76116"/>
                </a:lnTo>
                <a:lnTo>
                  <a:pt x="836168" y="76116"/>
                </a:lnTo>
                <a:lnTo>
                  <a:pt x="836047" y="39877"/>
                </a:lnTo>
                <a:lnTo>
                  <a:pt x="836041" y="38016"/>
                </a:lnTo>
                <a:lnTo>
                  <a:pt x="893447" y="38016"/>
                </a:lnTo>
                <a:lnTo>
                  <a:pt x="816991" y="0"/>
                </a:lnTo>
                <a:close/>
              </a:path>
              <a:path w="931545" h="114300">
                <a:moveTo>
                  <a:pt x="817075" y="38016"/>
                </a:moveTo>
                <a:lnTo>
                  <a:pt x="0" y="39877"/>
                </a:lnTo>
                <a:lnTo>
                  <a:pt x="0" y="77977"/>
                </a:lnTo>
                <a:lnTo>
                  <a:pt x="817160" y="76116"/>
                </a:lnTo>
                <a:lnTo>
                  <a:pt x="817075" y="38016"/>
                </a:lnTo>
                <a:close/>
              </a:path>
              <a:path w="931545" h="114300">
                <a:moveTo>
                  <a:pt x="893447" y="38016"/>
                </a:moveTo>
                <a:lnTo>
                  <a:pt x="836041" y="38016"/>
                </a:lnTo>
                <a:lnTo>
                  <a:pt x="836047" y="39877"/>
                </a:lnTo>
                <a:lnTo>
                  <a:pt x="836168" y="76116"/>
                </a:lnTo>
                <a:lnTo>
                  <a:pt x="893190" y="76116"/>
                </a:lnTo>
                <a:lnTo>
                  <a:pt x="931418" y="56895"/>
                </a:lnTo>
                <a:lnTo>
                  <a:pt x="893447" y="38016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742426" y="1902714"/>
            <a:ext cx="2276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Pure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NBFM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Signal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4739" y="2428747"/>
            <a:ext cx="7423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Hard</a:t>
            </a:r>
            <a:r>
              <a:rPr sz="24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Limiter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converts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NBFM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into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Square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wave.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016228" y="2988754"/>
            <a:ext cx="4999355" cy="1490345"/>
            <a:chOff x="1016228" y="2988754"/>
            <a:chExt cx="4999355" cy="1490345"/>
          </a:xfrm>
        </p:grpSpPr>
        <p:sp>
          <p:nvSpPr>
            <p:cNvPr id="16" name="object 16"/>
            <p:cNvSpPr/>
            <p:nvPr/>
          </p:nvSpPr>
          <p:spPr>
            <a:xfrm>
              <a:off x="1030516" y="3005963"/>
              <a:ext cx="0" cy="1459865"/>
            </a:xfrm>
            <a:custGeom>
              <a:avLst/>
              <a:gdLst/>
              <a:ahLst/>
              <a:cxnLst/>
              <a:rect l="l" t="t" r="r" b="b"/>
              <a:pathLst>
                <a:path h="1459864">
                  <a:moveTo>
                    <a:pt x="0" y="1459357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30516" y="3004566"/>
              <a:ext cx="493395" cy="0"/>
            </a:xfrm>
            <a:custGeom>
              <a:avLst/>
              <a:gdLst/>
              <a:ahLst/>
              <a:cxnLst/>
              <a:rect l="l" t="t" r="r" b="b"/>
              <a:pathLst>
                <a:path w="493394">
                  <a:moveTo>
                    <a:pt x="0" y="0"/>
                  </a:moveTo>
                  <a:lnTo>
                    <a:pt x="493102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23618" y="3005963"/>
              <a:ext cx="0" cy="1459865"/>
            </a:xfrm>
            <a:custGeom>
              <a:avLst/>
              <a:gdLst/>
              <a:ahLst/>
              <a:cxnLst/>
              <a:rect l="l" t="t" r="r" b="b"/>
              <a:pathLst>
                <a:path h="1459864">
                  <a:moveTo>
                    <a:pt x="0" y="1459357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010028" y="3005963"/>
              <a:ext cx="0" cy="1459865"/>
            </a:xfrm>
            <a:custGeom>
              <a:avLst/>
              <a:gdLst/>
              <a:ahLst/>
              <a:cxnLst/>
              <a:rect l="l" t="t" r="r" b="b"/>
              <a:pathLst>
                <a:path h="1459864">
                  <a:moveTo>
                    <a:pt x="0" y="1459357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325497" y="3005963"/>
              <a:ext cx="0" cy="1459865"/>
            </a:xfrm>
            <a:custGeom>
              <a:avLst/>
              <a:gdLst/>
              <a:ahLst/>
              <a:cxnLst/>
              <a:rect l="l" t="t" r="r" b="b"/>
              <a:pathLst>
                <a:path h="1459864">
                  <a:moveTo>
                    <a:pt x="0" y="1459357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652521" y="3005963"/>
              <a:ext cx="0" cy="1459865"/>
            </a:xfrm>
            <a:custGeom>
              <a:avLst/>
              <a:gdLst/>
              <a:ahLst/>
              <a:cxnLst/>
              <a:rect l="l" t="t" r="r" b="b"/>
              <a:pathLst>
                <a:path h="1459864">
                  <a:moveTo>
                    <a:pt x="0" y="1459357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049396" y="3005963"/>
              <a:ext cx="0" cy="1459865"/>
            </a:xfrm>
            <a:custGeom>
              <a:avLst/>
              <a:gdLst/>
              <a:ahLst/>
              <a:cxnLst/>
              <a:rect l="l" t="t" r="r" b="b"/>
              <a:pathLst>
                <a:path h="1459864">
                  <a:moveTo>
                    <a:pt x="0" y="1459357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443096" y="3005963"/>
              <a:ext cx="0" cy="1459865"/>
            </a:xfrm>
            <a:custGeom>
              <a:avLst/>
              <a:gdLst/>
              <a:ahLst/>
              <a:cxnLst/>
              <a:rect l="l" t="t" r="r" b="b"/>
              <a:pathLst>
                <a:path h="1459864">
                  <a:moveTo>
                    <a:pt x="0" y="1459357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639946" y="3005963"/>
              <a:ext cx="0" cy="1459865"/>
            </a:xfrm>
            <a:custGeom>
              <a:avLst/>
              <a:gdLst/>
              <a:ahLst/>
              <a:cxnLst/>
              <a:rect l="l" t="t" r="r" b="b"/>
              <a:pathLst>
                <a:path h="1459864">
                  <a:moveTo>
                    <a:pt x="0" y="1459357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966971" y="3005963"/>
              <a:ext cx="0" cy="1459865"/>
            </a:xfrm>
            <a:custGeom>
              <a:avLst/>
              <a:gdLst/>
              <a:ahLst/>
              <a:cxnLst/>
              <a:rect l="l" t="t" r="r" b="b"/>
              <a:pathLst>
                <a:path h="1459864">
                  <a:moveTo>
                    <a:pt x="0" y="1459357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07535" y="3003550"/>
              <a:ext cx="0" cy="1459865"/>
            </a:xfrm>
            <a:custGeom>
              <a:avLst/>
              <a:gdLst/>
              <a:ahLst/>
              <a:cxnLst/>
              <a:rect l="l" t="t" r="r" b="b"/>
              <a:pathLst>
                <a:path h="1459864">
                  <a:moveTo>
                    <a:pt x="0" y="1459357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750435" y="3005963"/>
              <a:ext cx="0" cy="1459865"/>
            </a:xfrm>
            <a:custGeom>
              <a:avLst/>
              <a:gdLst/>
              <a:ahLst/>
              <a:cxnLst/>
              <a:rect l="l" t="t" r="r" b="b"/>
              <a:pathLst>
                <a:path h="1459864">
                  <a:moveTo>
                    <a:pt x="0" y="1459357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014722" y="3003550"/>
              <a:ext cx="0" cy="1459865"/>
            </a:xfrm>
            <a:custGeom>
              <a:avLst/>
              <a:gdLst/>
              <a:ahLst/>
              <a:cxnLst/>
              <a:rect l="l" t="t" r="r" b="b"/>
              <a:pathLst>
                <a:path h="1459864">
                  <a:moveTo>
                    <a:pt x="0" y="1459357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224272" y="3003550"/>
              <a:ext cx="0" cy="1459865"/>
            </a:xfrm>
            <a:custGeom>
              <a:avLst/>
              <a:gdLst/>
              <a:ahLst/>
              <a:cxnLst/>
              <a:rect l="l" t="t" r="r" b="b"/>
              <a:pathLst>
                <a:path h="1459864">
                  <a:moveTo>
                    <a:pt x="0" y="1459357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531485" y="3003550"/>
              <a:ext cx="0" cy="1459865"/>
            </a:xfrm>
            <a:custGeom>
              <a:avLst/>
              <a:gdLst/>
              <a:ahLst/>
              <a:cxnLst/>
              <a:rect l="l" t="t" r="r" b="b"/>
              <a:pathLst>
                <a:path h="1459864">
                  <a:moveTo>
                    <a:pt x="0" y="1459357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795772" y="3003550"/>
              <a:ext cx="0" cy="1459865"/>
            </a:xfrm>
            <a:custGeom>
              <a:avLst/>
              <a:gdLst/>
              <a:ahLst/>
              <a:cxnLst/>
              <a:rect l="l" t="t" r="r" b="b"/>
              <a:pathLst>
                <a:path h="1459864">
                  <a:moveTo>
                    <a:pt x="0" y="1459357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10028" y="3003550"/>
              <a:ext cx="315595" cy="0"/>
            </a:xfrm>
            <a:custGeom>
              <a:avLst/>
              <a:gdLst/>
              <a:ahLst/>
              <a:cxnLst/>
              <a:rect l="l" t="t" r="r" b="b"/>
              <a:pathLst>
                <a:path w="315594">
                  <a:moveTo>
                    <a:pt x="0" y="0"/>
                  </a:moveTo>
                  <a:lnTo>
                    <a:pt x="315468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652521" y="3003042"/>
              <a:ext cx="396875" cy="0"/>
            </a:xfrm>
            <a:custGeom>
              <a:avLst/>
              <a:gdLst/>
              <a:ahLst/>
              <a:cxnLst/>
              <a:rect l="l" t="t" r="r" b="b"/>
              <a:pathLst>
                <a:path w="396875">
                  <a:moveTo>
                    <a:pt x="0" y="0"/>
                  </a:moveTo>
                  <a:lnTo>
                    <a:pt x="396875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521205" y="4459986"/>
              <a:ext cx="493395" cy="0"/>
            </a:xfrm>
            <a:custGeom>
              <a:avLst/>
              <a:gdLst/>
              <a:ahLst/>
              <a:cxnLst/>
              <a:rect l="l" t="t" r="r" b="b"/>
              <a:pathLst>
                <a:path w="493394">
                  <a:moveTo>
                    <a:pt x="0" y="0"/>
                  </a:moveTo>
                  <a:lnTo>
                    <a:pt x="493014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325497" y="4459986"/>
              <a:ext cx="327025" cy="0"/>
            </a:xfrm>
            <a:custGeom>
              <a:avLst/>
              <a:gdLst/>
              <a:ahLst/>
              <a:cxnLst/>
              <a:rect l="l" t="t" r="r" b="b"/>
              <a:pathLst>
                <a:path w="327025">
                  <a:moveTo>
                    <a:pt x="0" y="0"/>
                  </a:moveTo>
                  <a:lnTo>
                    <a:pt x="327025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966971" y="3003042"/>
              <a:ext cx="440690" cy="0"/>
            </a:xfrm>
            <a:custGeom>
              <a:avLst/>
              <a:gdLst/>
              <a:ahLst/>
              <a:cxnLst/>
              <a:rect l="l" t="t" r="r" b="b"/>
              <a:pathLst>
                <a:path w="440689">
                  <a:moveTo>
                    <a:pt x="0" y="0"/>
                  </a:moveTo>
                  <a:lnTo>
                    <a:pt x="440563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224272" y="3003042"/>
              <a:ext cx="307340" cy="0"/>
            </a:xfrm>
            <a:custGeom>
              <a:avLst/>
              <a:gdLst/>
              <a:ahLst/>
              <a:cxnLst/>
              <a:rect l="l" t="t" r="r" b="b"/>
              <a:pathLst>
                <a:path w="307339">
                  <a:moveTo>
                    <a:pt x="0" y="0"/>
                  </a:moveTo>
                  <a:lnTo>
                    <a:pt x="307213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443096" y="3005582"/>
              <a:ext cx="196850" cy="0"/>
            </a:xfrm>
            <a:custGeom>
              <a:avLst/>
              <a:gdLst/>
              <a:ahLst/>
              <a:cxnLst/>
              <a:rect l="l" t="t" r="r" b="b"/>
              <a:pathLst>
                <a:path w="196850">
                  <a:moveTo>
                    <a:pt x="0" y="0"/>
                  </a:moveTo>
                  <a:lnTo>
                    <a:pt x="19685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750435" y="3003042"/>
              <a:ext cx="264795" cy="0"/>
            </a:xfrm>
            <a:custGeom>
              <a:avLst/>
              <a:gdLst/>
              <a:ahLst/>
              <a:cxnLst/>
              <a:rect l="l" t="t" r="r" b="b"/>
              <a:pathLst>
                <a:path w="264795">
                  <a:moveTo>
                    <a:pt x="0" y="0"/>
                  </a:moveTo>
                  <a:lnTo>
                    <a:pt x="264287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795772" y="3003042"/>
              <a:ext cx="219710" cy="0"/>
            </a:xfrm>
            <a:custGeom>
              <a:avLst/>
              <a:gdLst/>
              <a:ahLst/>
              <a:cxnLst/>
              <a:rect l="l" t="t" r="r" b="b"/>
              <a:pathLst>
                <a:path w="219710">
                  <a:moveTo>
                    <a:pt x="0" y="0"/>
                  </a:moveTo>
                  <a:lnTo>
                    <a:pt x="219329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049396" y="4459986"/>
              <a:ext cx="396875" cy="0"/>
            </a:xfrm>
            <a:custGeom>
              <a:avLst/>
              <a:gdLst/>
              <a:ahLst/>
              <a:cxnLst/>
              <a:rect l="l" t="t" r="r" b="b"/>
              <a:pathLst>
                <a:path w="396875">
                  <a:moveTo>
                    <a:pt x="0" y="0"/>
                  </a:moveTo>
                  <a:lnTo>
                    <a:pt x="396875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639946" y="4459986"/>
              <a:ext cx="327025" cy="0"/>
            </a:xfrm>
            <a:custGeom>
              <a:avLst/>
              <a:gdLst/>
              <a:ahLst/>
              <a:cxnLst/>
              <a:rect l="l" t="t" r="r" b="b"/>
              <a:pathLst>
                <a:path w="327025">
                  <a:moveTo>
                    <a:pt x="0" y="0"/>
                  </a:moveTo>
                  <a:lnTo>
                    <a:pt x="327025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407535" y="4459986"/>
              <a:ext cx="342900" cy="0"/>
            </a:xfrm>
            <a:custGeom>
              <a:avLst/>
              <a:gdLst/>
              <a:ahLst/>
              <a:cxnLst/>
              <a:rect l="l" t="t" r="r" b="b"/>
              <a:pathLst>
                <a:path w="342900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531485" y="4464685"/>
              <a:ext cx="264795" cy="0"/>
            </a:xfrm>
            <a:custGeom>
              <a:avLst/>
              <a:gdLst/>
              <a:ahLst/>
              <a:cxnLst/>
              <a:rect l="l" t="t" r="r" b="b"/>
              <a:pathLst>
                <a:path w="264795">
                  <a:moveTo>
                    <a:pt x="0" y="0"/>
                  </a:moveTo>
                  <a:lnTo>
                    <a:pt x="264287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014722" y="4459986"/>
              <a:ext cx="209550" cy="0"/>
            </a:xfrm>
            <a:custGeom>
              <a:avLst/>
              <a:gdLst/>
              <a:ahLst/>
              <a:cxnLst/>
              <a:rect l="l" t="t" r="r" b="b"/>
              <a:pathLst>
                <a:path w="209550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030516" y="3069336"/>
              <a:ext cx="4906010" cy="1248410"/>
            </a:xfrm>
            <a:custGeom>
              <a:avLst/>
              <a:gdLst/>
              <a:ahLst/>
              <a:cxnLst/>
              <a:rect l="l" t="t" r="r" b="b"/>
              <a:pathLst>
                <a:path w="4906010" h="1248410">
                  <a:moveTo>
                    <a:pt x="0" y="740282"/>
                  </a:moveTo>
                  <a:lnTo>
                    <a:pt x="9748" y="677509"/>
                  </a:lnTo>
                  <a:lnTo>
                    <a:pt x="19551" y="615160"/>
                  </a:lnTo>
                  <a:lnTo>
                    <a:pt x="29461" y="553656"/>
                  </a:lnTo>
                  <a:lnTo>
                    <a:pt x="39533" y="493421"/>
                  </a:lnTo>
                  <a:lnTo>
                    <a:pt x="49821" y="434877"/>
                  </a:lnTo>
                  <a:lnTo>
                    <a:pt x="60379" y="378445"/>
                  </a:lnTo>
                  <a:lnTo>
                    <a:pt x="71260" y="324547"/>
                  </a:lnTo>
                  <a:lnTo>
                    <a:pt x="82520" y="273605"/>
                  </a:lnTo>
                  <a:lnTo>
                    <a:pt x="94210" y="226042"/>
                  </a:lnTo>
                  <a:lnTo>
                    <a:pt x="106386" y="182280"/>
                  </a:lnTo>
                  <a:lnTo>
                    <a:pt x="119102" y="142740"/>
                  </a:lnTo>
                  <a:lnTo>
                    <a:pt x="146368" y="78017"/>
                  </a:lnTo>
                  <a:lnTo>
                    <a:pt x="176439" y="35249"/>
                  </a:lnTo>
                  <a:lnTo>
                    <a:pt x="209746" y="17812"/>
                  </a:lnTo>
                  <a:lnTo>
                    <a:pt x="227749" y="19648"/>
                  </a:lnTo>
                  <a:lnTo>
                    <a:pt x="260320" y="41938"/>
                  </a:lnTo>
                  <a:lnTo>
                    <a:pt x="289598" y="88702"/>
                  </a:lnTo>
                  <a:lnTo>
                    <a:pt x="321339" y="159740"/>
                  </a:lnTo>
                  <a:lnTo>
                    <a:pt x="338013" y="202938"/>
                  </a:lnTo>
                  <a:lnTo>
                    <a:pt x="355161" y="250497"/>
                  </a:lnTo>
                  <a:lnTo>
                    <a:pt x="372733" y="301847"/>
                  </a:lnTo>
                  <a:lnTo>
                    <a:pt x="390683" y="356420"/>
                  </a:lnTo>
                  <a:lnTo>
                    <a:pt x="408964" y="413645"/>
                  </a:lnTo>
                  <a:lnTo>
                    <a:pt x="427526" y="472953"/>
                  </a:lnTo>
                  <a:lnTo>
                    <a:pt x="446324" y="533775"/>
                  </a:lnTo>
                  <a:lnTo>
                    <a:pt x="465309" y="595542"/>
                  </a:lnTo>
                  <a:lnTo>
                    <a:pt x="484435" y="657685"/>
                  </a:lnTo>
                  <a:lnTo>
                    <a:pt x="503652" y="719633"/>
                  </a:lnTo>
                  <a:lnTo>
                    <a:pt x="522914" y="780819"/>
                  </a:lnTo>
                  <a:lnTo>
                    <a:pt x="542174" y="840672"/>
                  </a:lnTo>
                  <a:lnTo>
                    <a:pt x="561383" y="898623"/>
                  </a:lnTo>
                  <a:lnTo>
                    <a:pt x="580494" y="954103"/>
                  </a:lnTo>
                  <a:lnTo>
                    <a:pt x="599460" y="1006542"/>
                  </a:lnTo>
                  <a:lnTo>
                    <a:pt x="618233" y="1055371"/>
                  </a:lnTo>
                  <a:lnTo>
                    <a:pt x="636765" y="1100022"/>
                  </a:lnTo>
                  <a:lnTo>
                    <a:pt x="655010" y="1139924"/>
                  </a:lnTo>
                  <a:lnTo>
                    <a:pt x="672918" y="1174508"/>
                  </a:lnTo>
                  <a:lnTo>
                    <a:pt x="707538" y="1225447"/>
                  </a:lnTo>
                  <a:lnTo>
                    <a:pt x="740244" y="1248283"/>
                  </a:lnTo>
                  <a:lnTo>
                    <a:pt x="757176" y="1247637"/>
                  </a:lnTo>
                  <a:lnTo>
                    <a:pt x="790478" y="1221169"/>
                  </a:lnTo>
                  <a:lnTo>
                    <a:pt x="823064" y="1165754"/>
                  </a:lnTo>
                  <a:lnTo>
                    <a:pt x="839102" y="1128926"/>
                  </a:lnTo>
                  <a:lnTo>
                    <a:pt x="854976" y="1086942"/>
                  </a:lnTo>
                  <a:lnTo>
                    <a:pt x="870691" y="1040496"/>
                  </a:lnTo>
                  <a:lnTo>
                    <a:pt x="886253" y="990283"/>
                  </a:lnTo>
                  <a:lnTo>
                    <a:pt x="901666" y="936994"/>
                  </a:lnTo>
                  <a:lnTo>
                    <a:pt x="916936" y="881325"/>
                  </a:lnTo>
                  <a:lnTo>
                    <a:pt x="932067" y="823969"/>
                  </a:lnTo>
                  <a:lnTo>
                    <a:pt x="947064" y="765619"/>
                  </a:lnTo>
                  <a:lnTo>
                    <a:pt x="961933" y="706969"/>
                  </a:lnTo>
                  <a:lnTo>
                    <a:pt x="976678" y="648713"/>
                  </a:lnTo>
                  <a:lnTo>
                    <a:pt x="991305" y="591545"/>
                  </a:lnTo>
                  <a:lnTo>
                    <a:pt x="1005819" y="536158"/>
                  </a:lnTo>
                  <a:lnTo>
                    <a:pt x="1020224" y="483246"/>
                  </a:lnTo>
                  <a:lnTo>
                    <a:pt x="1034526" y="433502"/>
                  </a:lnTo>
                  <a:lnTo>
                    <a:pt x="1048729" y="387620"/>
                  </a:lnTo>
                  <a:lnTo>
                    <a:pt x="1062839" y="346294"/>
                  </a:lnTo>
                  <a:lnTo>
                    <a:pt x="1076861" y="310218"/>
                  </a:lnTo>
                  <a:lnTo>
                    <a:pt x="1104660" y="256589"/>
                  </a:lnTo>
                  <a:lnTo>
                    <a:pt x="1132166" y="232282"/>
                  </a:lnTo>
                  <a:lnTo>
                    <a:pt x="1148121" y="233112"/>
                  </a:lnTo>
                  <a:lnTo>
                    <a:pt x="1178921" y="264435"/>
                  </a:lnTo>
                  <a:lnTo>
                    <a:pt x="1208486" y="328523"/>
                  </a:lnTo>
                  <a:lnTo>
                    <a:pt x="1222897" y="370308"/>
                  </a:lnTo>
                  <a:lnTo>
                    <a:pt x="1237110" y="417230"/>
                  </a:lnTo>
                  <a:lnTo>
                    <a:pt x="1251161" y="468270"/>
                  </a:lnTo>
                  <a:lnTo>
                    <a:pt x="1265087" y="522411"/>
                  </a:lnTo>
                  <a:lnTo>
                    <a:pt x="1278924" y="578634"/>
                  </a:lnTo>
                  <a:lnTo>
                    <a:pt x="1292710" y="635920"/>
                  </a:lnTo>
                  <a:lnTo>
                    <a:pt x="1306481" y="693252"/>
                  </a:lnTo>
                  <a:lnTo>
                    <a:pt x="1320274" y="749612"/>
                  </a:lnTo>
                  <a:lnTo>
                    <a:pt x="1334125" y="803981"/>
                  </a:lnTo>
                  <a:lnTo>
                    <a:pt x="1348071" y="855341"/>
                  </a:lnTo>
                  <a:lnTo>
                    <a:pt x="1362150" y="902674"/>
                  </a:lnTo>
                  <a:lnTo>
                    <a:pt x="1376396" y="944961"/>
                  </a:lnTo>
                  <a:lnTo>
                    <a:pt x="1390849" y="981185"/>
                  </a:lnTo>
                  <a:lnTo>
                    <a:pt x="1420516" y="1031370"/>
                  </a:lnTo>
                  <a:lnTo>
                    <a:pt x="1451444" y="1045082"/>
                  </a:lnTo>
                  <a:lnTo>
                    <a:pt x="1466065" y="1036964"/>
                  </a:lnTo>
                  <a:lnTo>
                    <a:pt x="1495926" y="994547"/>
                  </a:lnTo>
                  <a:lnTo>
                    <a:pt x="1526508" y="922853"/>
                  </a:lnTo>
                  <a:lnTo>
                    <a:pt x="1542029" y="878137"/>
                  </a:lnTo>
                  <a:lnTo>
                    <a:pt x="1557683" y="828634"/>
                  </a:lnTo>
                  <a:lnTo>
                    <a:pt x="1573454" y="775189"/>
                  </a:lnTo>
                  <a:lnTo>
                    <a:pt x="1589325" y="718644"/>
                  </a:lnTo>
                  <a:lnTo>
                    <a:pt x="1605282" y="659845"/>
                  </a:lnTo>
                  <a:lnTo>
                    <a:pt x="1621309" y="599636"/>
                  </a:lnTo>
                  <a:lnTo>
                    <a:pt x="1637388" y="538860"/>
                  </a:lnTo>
                  <a:lnTo>
                    <a:pt x="1653506" y="478363"/>
                  </a:lnTo>
                  <a:lnTo>
                    <a:pt x="1669645" y="418987"/>
                  </a:lnTo>
                  <a:lnTo>
                    <a:pt x="1685790" y="361577"/>
                  </a:lnTo>
                  <a:lnTo>
                    <a:pt x="1701926" y="306977"/>
                  </a:lnTo>
                  <a:lnTo>
                    <a:pt x="1718036" y="256032"/>
                  </a:lnTo>
                  <a:lnTo>
                    <a:pt x="1734105" y="209585"/>
                  </a:lnTo>
                  <a:lnTo>
                    <a:pt x="1750116" y="168481"/>
                  </a:lnTo>
                  <a:lnTo>
                    <a:pt x="1766055" y="133564"/>
                  </a:lnTo>
                  <a:lnTo>
                    <a:pt x="1797649" y="85665"/>
                  </a:lnTo>
                  <a:lnTo>
                    <a:pt x="1828761" y="72643"/>
                  </a:lnTo>
                  <a:lnTo>
                    <a:pt x="1843025" y="80092"/>
                  </a:lnTo>
                  <a:lnTo>
                    <a:pt x="1871647" y="119265"/>
                  </a:lnTo>
                  <a:lnTo>
                    <a:pt x="1900347" y="186282"/>
                  </a:lnTo>
                  <a:lnTo>
                    <a:pt x="1914708" y="228534"/>
                  </a:lnTo>
                  <a:lnTo>
                    <a:pt x="1929067" y="275710"/>
                  </a:lnTo>
                  <a:lnTo>
                    <a:pt x="1943415" y="327132"/>
                  </a:lnTo>
                  <a:lnTo>
                    <a:pt x="1957747" y="382120"/>
                  </a:lnTo>
                  <a:lnTo>
                    <a:pt x="1972054" y="439995"/>
                  </a:lnTo>
                  <a:lnTo>
                    <a:pt x="1986329" y="500079"/>
                  </a:lnTo>
                  <a:lnTo>
                    <a:pt x="2000564" y="561692"/>
                  </a:lnTo>
                  <a:lnTo>
                    <a:pt x="2014753" y="624157"/>
                  </a:lnTo>
                  <a:lnTo>
                    <a:pt x="2028888" y="686793"/>
                  </a:lnTo>
                  <a:lnTo>
                    <a:pt x="2042961" y="748923"/>
                  </a:lnTo>
                  <a:lnTo>
                    <a:pt x="2056965" y="809866"/>
                  </a:lnTo>
                  <a:lnTo>
                    <a:pt x="2070893" y="868945"/>
                  </a:lnTo>
                  <a:lnTo>
                    <a:pt x="2084738" y="925480"/>
                  </a:lnTo>
                  <a:lnTo>
                    <a:pt x="2098491" y="978792"/>
                  </a:lnTo>
                  <a:lnTo>
                    <a:pt x="2112147" y="1028203"/>
                  </a:lnTo>
                  <a:lnTo>
                    <a:pt x="2125696" y="1073034"/>
                  </a:lnTo>
                  <a:lnTo>
                    <a:pt x="2139133" y="1112605"/>
                  </a:lnTo>
                  <a:lnTo>
                    <a:pt x="2165637" y="1173255"/>
                  </a:lnTo>
                  <a:lnTo>
                    <a:pt x="2191600" y="1204721"/>
                  </a:lnTo>
                  <a:lnTo>
                    <a:pt x="2208181" y="1208416"/>
                  </a:lnTo>
                  <a:lnTo>
                    <a:pt x="2224522" y="1200707"/>
                  </a:lnTo>
                  <a:lnTo>
                    <a:pt x="2256547" y="1155822"/>
                  </a:lnTo>
                  <a:lnTo>
                    <a:pt x="2272265" y="1121021"/>
                  </a:lnTo>
                  <a:lnTo>
                    <a:pt x="2287809" y="1079561"/>
                  </a:lnTo>
                  <a:lnTo>
                    <a:pt x="2303195" y="1032629"/>
                  </a:lnTo>
                  <a:lnTo>
                    <a:pt x="2318440" y="981413"/>
                  </a:lnTo>
                  <a:lnTo>
                    <a:pt x="2333560" y="927098"/>
                  </a:lnTo>
                  <a:lnTo>
                    <a:pt x="2348572" y="870870"/>
                  </a:lnTo>
                  <a:lnTo>
                    <a:pt x="2363493" y="813917"/>
                  </a:lnTo>
                  <a:lnTo>
                    <a:pt x="2378339" y="757424"/>
                  </a:lnTo>
                  <a:lnTo>
                    <a:pt x="2393127" y="702579"/>
                  </a:lnTo>
                  <a:lnTo>
                    <a:pt x="2407873" y="650567"/>
                  </a:lnTo>
                  <a:lnTo>
                    <a:pt x="2422594" y="602575"/>
                  </a:lnTo>
                  <a:lnTo>
                    <a:pt x="2437306" y="559789"/>
                  </a:lnTo>
                  <a:lnTo>
                    <a:pt x="2452026" y="523396"/>
                  </a:lnTo>
                  <a:lnTo>
                    <a:pt x="2481557" y="474534"/>
                  </a:lnTo>
                  <a:lnTo>
                    <a:pt x="2496400" y="464438"/>
                  </a:lnTo>
                  <a:lnTo>
                    <a:pt x="2512740" y="465370"/>
                  </a:lnTo>
                  <a:lnTo>
                    <a:pt x="2544452" y="499783"/>
                  </a:lnTo>
                  <a:lnTo>
                    <a:pt x="2575270" y="567787"/>
                  </a:lnTo>
                  <a:lnTo>
                    <a:pt x="2590493" y="610710"/>
                  </a:lnTo>
                  <a:lnTo>
                    <a:pt x="2605671" y="657617"/>
                  </a:lnTo>
                  <a:lnTo>
                    <a:pt x="2620865" y="707040"/>
                  </a:lnTo>
                  <a:lnTo>
                    <a:pt x="2636132" y="757507"/>
                  </a:lnTo>
                  <a:lnTo>
                    <a:pt x="2651534" y="807547"/>
                  </a:lnTo>
                  <a:lnTo>
                    <a:pt x="2667129" y="855689"/>
                  </a:lnTo>
                  <a:lnTo>
                    <a:pt x="2682978" y="900462"/>
                  </a:lnTo>
                  <a:lnTo>
                    <a:pt x="2699139" y="940397"/>
                  </a:lnTo>
                  <a:lnTo>
                    <a:pt x="2732638" y="999864"/>
                  </a:lnTo>
                  <a:lnTo>
                    <a:pt x="2768103" y="1022324"/>
                  </a:lnTo>
                  <a:lnTo>
                    <a:pt x="2786722" y="1016000"/>
                  </a:lnTo>
                  <a:lnTo>
                    <a:pt x="2815954" y="979347"/>
                  </a:lnTo>
                  <a:lnTo>
                    <a:pt x="2846648" y="912377"/>
                  </a:lnTo>
                  <a:lnTo>
                    <a:pt x="2862465" y="869547"/>
                  </a:lnTo>
                  <a:lnTo>
                    <a:pt x="2878553" y="821566"/>
                  </a:lnTo>
                  <a:lnTo>
                    <a:pt x="2894881" y="769245"/>
                  </a:lnTo>
                  <a:lnTo>
                    <a:pt x="2911418" y="713391"/>
                  </a:lnTo>
                  <a:lnTo>
                    <a:pt x="2928131" y="654816"/>
                  </a:lnTo>
                  <a:lnTo>
                    <a:pt x="2944989" y="594328"/>
                  </a:lnTo>
                  <a:lnTo>
                    <a:pt x="2961962" y="532737"/>
                  </a:lnTo>
                  <a:lnTo>
                    <a:pt x="2979016" y="470852"/>
                  </a:lnTo>
                  <a:lnTo>
                    <a:pt x="2996122" y="409483"/>
                  </a:lnTo>
                  <a:lnTo>
                    <a:pt x="3013247" y="349440"/>
                  </a:lnTo>
                  <a:lnTo>
                    <a:pt x="3030360" y="291531"/>
                  </a:lnTo>
                  <a:lnTo>
                    <a:pt x="3047430" y="236568"/>
                  </a:lnTo>
                  <a:lnTo>
                    <a:pt x="3064425" y="185358"/>
                  </a:lnTo>
                  <a:lnTo>
                    <a:pt x="3081313" y="138711"/>
                  </a:lnTo>
                  <a:lnTo>
                    <a:pt x="3098063" y="97438"/>
                  </a:lnTo>
                  <a:lnTo>
                    <a:pt x="3114644" y="62347"/>
                  </a:lnTo>
                  <a:lnTo>
                    <a:pt x="3147172" y="13951"/>
                  </a:lnTo>
                  <a:lnTo>
                    <a:pt x="3178644" y="0"/>
                  </a:lnTo>
                  <a:lnTo>
                    <a:pt x="3192852" y="7010"/>
                  </a:lnTo>
                  <a:lnTo>
                    <a:pt x="3221132" y="45887"/>
                  </a:lnTo>
                  <a:lnTo>
                    <a:pt x="3249214" y="113282"/>
                  </a:lnTo>
                  <a:lnTo>
                    <a:pt x="3263175" y="155939"/>
                  </a:lnTo>
                  <a:lnTo>
                    <a:pt x="3277079" y="203645"/>
                  </a:lnTo>
                  <a:lnTo>
                    <a:pt x="3290923" y="255706"/>
                  </a:lnTo>
                  <a:lnTo>
                    <a:pt x="3304704" y="311428"/>
                  </a:lnTo>
                  <a:lnTo>
                    <a:pt x="3318422" y="370117"/>
                  </a:lnTo>
                  <a:lnTo>
                    <a:pt x="3332071" y="431080"/>
                  </a:lnTo>
                  <a:lnTo>
                    <a:pt x="3345651" y="493624"/>
                  </a:lnTo>
                  <a:lnTo>
                    <a:pt x="3359159" y="557053"/>
                  </a:lnTo>
                  <a:lnTo>
                    <a:pt x="3372592" y="620676"/>
                  </a:lnTo>
                  <a:lnTo>
                    <a:pt x="3385947" y="683797"/>
                  </a:lnTo>
                  <a:lnTo>
                    <a:pt x="3399222" y="745724"/>
                  </a:lnTo>
                  <a:lnTo>
                    <a:pt x="3412414" y="805763"/>
                  </a:lnTo>
                  <a:lnTo>
                    <a:pt x="3425521" y="863219"/>
                  </a:lnTo>
                  <a:lnTo>
                    <a:pt x="3438541" y="917401"/>
                  </a:lnTo>
                  <a:lnTo>
                    <a:pt x="3451470" y="967612"/>
                  </a:lnTo>
                  <a:lnTo>
                    <a:pt x="3464306" y="1013161"/>
                  </a:lnTo>
                  <a:lnTo>
                    <a:pt x="3477047" y="1053353"/>
                  </a:lnTo>
                  <a:lnTo>
                    <a:pt x="3502233" y="1114893"/>
                  </a:lnTo>
                  <a:lnTo>
                    <a:pt x="3527005" y="1146683"/>
                  </a:lnTo>
                  <a:lnTo>
                    <a:pt x="3542828" y="1150444"/>
                  </a:lnTo>
                  <a:lnTo>
                    <a:pt x="3558383" y="1142914"/>
                  </a:lnTo>
                  <a:lnTo>
                    <a:pt x="3588775" y="1098594"/>
                  </a:lnTo>
                  <a:lnTo>
                    <a:pt x="3618355" y="1022955"/>
                  </a:lnTo>
                  <a:lnTo>
                    <a:pt x="3632895" y="976275"/>
                  </a:lnTo>
                  <a:lnTo>
                    <a:pt x="3647296" y="925227"/>
                  </a:lnTo>
                  <a:lnTo>
                    <a:pt x="3661580" y="870964"/>
                  </a:lnTo>
                  <a:lnTo>
                    <a:pt x="3675770" y="814641"/>
                  </a:lnTo>
                  <a:lnTo>
                    <a:pt x="3689886" y="757411"/>
                  </a:lnTo>
                  <a:lnTo>
                    <a:pt x="3703951" y="700428"/>
                  </a:lnTo>
                  <a:lnTo>
                    <a:pt x="3717985" y="644846"/>
                  </a:lnTo>
                  <a:lnTo>
                    <a:pt x="3732011" y="591818"/>
                  </a:lnTo>
                  <a:lnTo>
                    <a:pt x="3746051" y="542500"/>
                  </a:lnTo>
                  <a:lnTo>
                    <a:pt x="3760125" y="498044"/>
                  </a:lnTo>
                  <a:lnTo>
                    <a:pt x="3774255" y="459604"/>
                  </a:lnTo>
                  <a:lnTo>
                    <a:pt x="3802771" y="405389"/>
                  </a:lnTo>
                  <a:lnTo>
                    <a:pt x="3838075" y="388089"/>
                  </a:lnTo>
                  <a:lnTo>
                    <a:pt x="3859181" y="398867"/>
                  </a:lnTo>
                  <a:lnTo>
                    <a:pt x="3901838" y="454856"/>
                  </a:lnTo>
                  <a:lnTo>
                    <a:pt x="3923261" y="495370"/>
                  </a:lnTo>
                  <a:lnTo>
                    <a:pt x="3944663" y="541098"/>
                  </a:lnTo>
                  <a:lnTo>
                    <a:pt x="3965981" y="589692"/>
                  </a:lnTo>
                  <a:lnTo>
                    <a:pt x="3987151" y="638804"/>
                  </a:lnTo>
                  <a:lnTo>
                    <a:pt x="4008110" y="686083"/>
                  </a:lnTo>
                  <a:lnTo>
                    <a:pt x="4028794" y="729182"/>
                  </a:lnTo>
                  <a:lnTo>
                    <a:pt x="4049141" y="765752"/>
                  </a:lnTo>
                  <a:lnTo>
                    <a:pt x="4088568" y="809910"/>
                  </a:lnTo>
                  <a:lnTo>
                    <a:pt x="4107522" y="812799"/>
                  </a:lnTo>
                  <a:lnTo>
                    <a:pt x="4125733" y="800609"/>
                  </a:lnTo>
                  <a:lnTo>
                    <a:pt x="4159834" y="738010"/>
                  </a:lnTo>
                  <a:lnTo>
                    <a:pt x="4176011" y="692267"/>
                  </a:lnTo>
                  <a:lnTo>
                    <a:pt x="4191795" y="640004"/>
                  </a:lnTo>
                  <a:lnTo>
                    <a:pt x="4207330" y="583556"/>
                  </a:lnTo>
                  <a:lnTo>
                    <a:pt x="4222759" y="525256"/>
                  </a:lnTo>
                  <a:lnTo>
                    <a:pt x="4238225" y="467435"/>
                  </a:lnTo>
                  <a:lnTo>
                    <a:pt x="4253871" y="412428"/>
                  </a:lnTo>
                  <a:lnTo>
                    <a:pt x="4269840" y="362566"/>
                  </a:lnTo>
                  <a:lnTo>
                    <a:pt x="4286275" y="320183"/>
                  </a:lnTo>
                  <a:lnTo>
                    <a:pt x="4321115" y="267187"/>
                  </a:lnTo>
                  <a:lnTo>
                    <a:pt x="4339805" y="261238"/>
                  </a:lnTo>
                  <a:lnTo>
                    <a:pt x="4355900" y="269202"/>
                  </a:lnTo>
                  <a:lnTo>
                    <a:pt x="4389773" y="317796"/>
                  </a:lnTo>
                  <a:lnTo>
                    <a:pt x="4407410" y="355255"/>
                  </a:lnTo>
                  <a:lnTo>
                    <a:pt x="4425418" y="399373"/>
                  </a:lnTo>
                  <a:lnTo>
                    <a:pt x="4443727" y="448563"/>
                  </a:lnTo>
                  <a:lnTo>
                    <a:pt x="4462266" y="501241"/>
                  </a:lnTo>
                  <a:lnTo>
                    <a:pt x="4480963" y="555820"/>
                  </a:lnTo>
                  <a:lnTo>
                    <a:pt x="4499746" y="610713"/>
                  </a:lnTo>
                  <a:lnTo>
                    <a:pt x="4518546" y="664335"/>
                  </a:lnTo>
                  <a:lnTo>
                    <a:pt x="4537290" y="715098"/>
                  </a:lnTo>
                  <a:lnTo>
                    <a:pt x="4555908" y="761418"/>
                  </a:lnTo>
                  <a:lnTo>
                    <a:pt x="4574327" y="801707"/>
                  </a:lnTo>
                  <a:lnTo>
                    <a:pt x="4610289" y="857851"/>
                  </a:lnTo>
                  <a:lnTo>
                    <a:pt x="4644605" y="870838"/>
                  </a:lnTo>
                  <a:lnTo>
                    <a:pt x="4660233" y="861540"/>
                  </a:lnTo>
                  <a:lnTo>
                    <a:pt x="4690926" y="824455"/>
                  </a:lnTo>
                  <a:lnTo>
                    <a:pt x="4720945" y="765185"/>
                  </a:lnTo>
                  <a:lnTo>
                    <a:pt x="4735730" y="728156"/>
                  </a:lnTo>
                  <a:lnTo>
                    <a:pt x="4750380" y="686691"/>
                  </a:lnTo>
                  <a:lnTo>
                    <a:pt x="4764907" y="641159"/>
                  </a:lnTo>
                  <a:lnTo>
                    <a:pt x="4779321" y="591931"/>
                  </a:lnTo>
                  <a:lnTo>
                    <a:pt x="4793634" y="539375"/>
                  </a:lnTo>
                  <a:lnTo>
                    <a:pt x="4807857" y="483864"/>
                  </a:lnTo>
                  <a:lnTo>
                    <a:pt x="4822001" y="425765"/>
                  </a:lnTo>
                  <a:lnTo>
                    <a:pt x="4836078" y="365449"/>
                  </a:lnTo>
                  <a:lnTo>
                    <a:pt x="4850099" y="303286"/>
                  </a:lnTo>
                  <a:lnTo>
                    <a:pt x="4864074" y="239646"/>
                  </a:lnTo>
                  <a:lnTo>
                    <a:pt x="4878016" y="174898"/>
                  </a:lnTo>
                  <a:lnTo>
                    <a:pt x="4891936" y="109413"/>
                  </a:lnTo>
                  <a:lnTo>
                    <a:pt x="4905844" y="43560"/>
                  </a:lnTo>
                </a:path>
              </a:pathLst>
            </a:custGeom>
            <a:ln w="28575">
              <a:solidFill>
                <a:srgbClr val="7E5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225043" y="4682997"/>
            <a:ext cx="58146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output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Hard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Limiter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by: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8" name="object 4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20419" y="5309996"/>
            <a:ext cx="236093" cy="211709"/>
          </a:xfrm>
          <a:prstGeom prst="rect">
            <a:avLst/>
          </a:prstGeom>
        </p:spPr>
      </p:pic>
      <p:sp>
        <p:nvSpPr>
          <p:cNvPr id="49" name="object 49"/>
          <p:cNvSpPr txBox="1"/>
          <p:nvPr/>
        </p:nvSpPr>
        <p:spPr>
          <a:xfrm>
            <a:off x="752957" y="5239969"/>
            <a:ext cx="12490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85825" algn="l"/>
              </a:tabLst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𝐘′</a:t>
            </a:r>
            <a:r>
              <a:rPr sz="1800" spc="34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sz="1800" spc="-969" dirty="0">
                <a:latin typeface="Cambria Math"/>
                <a:cs typeface="Cambria Math"/>
              </a:rPr>
              <a:t>ቊ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975230" y="5116829"/>
            <a:ext cx="1689735" cy="568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  <a:tabLst>
                <a:tab pos="715010" algn="l"/>
              </a:tabLst>
            </a:pPr>
            <a:r>
              <a:rPr sz="1800" spc="-25" dirty="0">
                <a:latin typeface="Cambria Math"/>
                <a:cs typeface="Cambria Math"/>
              </a:rPr>
              <a:t>+𝟏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10" dirty="0">
                <a:latin typeface="Cambria Math"/>
                <a:cs typeface="Cambria Math"/>
              </a:rPr>
              <a:t>𝐜𝐨𝐬</a:t>
            </a:r>
            <a:r>
              <a:rPr sz="1800" spc="-114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𝛉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&gt;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lang="en-US" sz="1800" spc="100" dirty="0">
                <a:latin typeface="Cambria Math"/>
                <a:cs typeface="Cambria Math"/>
              </a:rPr>
              <a:t>0</a:t>
            </a:r>
            <a:endParaRPr sz="1800" dirty="0">
              <a:latin typeface="Cambria Math"/>
              <a:cs typeface="Cambria Math"/>
            </a:endParaRPr>
          </a:p>
          <a:p>
            <a:pPr marL="12700">
              <a:lnSpc>
                <a:spcPts val="2135"/>
              </a:lnSpc>
              <a:tabLst>
                <a:tab pos="715010" algn="l"/>
              </a:tabLst>
            </a:pPr>
            <a:r>
              <a:rPr sz="1800" spc="-25" dirty="0">
                <a:latin typeface="Cambria Math"/>
                <a:cs typeface="Cambria Math"/>
              </a:rPr>
              <a:t>−𝟏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10" dirty="0">
                <a:latin typeface="Cambria Math"/>
                <a:cs typeface="Cambria Math"/>
              </a:rPr>
              <a:t>𝐜𝐨𝐬</a:t>
            </a:r>
            <a:r>
              <a:rPr sz="1800" spc="-114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𝛉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&lt;</a:t>
            </a:r>
            <a:r>
              <a:rPr sz="1800" spc="110" dirty="0">
                <a:latin typeface="Cambria Math"/>
                <a:cs typeface="Cambria Math"/>
              </a:rPr>
              <a:t> </a:t>
            </a:r>
            <a:r>
              <a:rPr lang="en-US" sz="1800" spc="110" dirty="0">
                <a:latin typeface="Cambria Math"/>
                <a:cs typeface="Cambria Math"/>
              </a:rPr>
              <a:t>0</a:t>
            </a:r>
            <a:endParaRPr sz="1800" dirty="0">
              <a:latin typeface="Cambria Math"/>
              <a:cs typeface="Cambria Math"/>
            </a:endParaRPr>
          </a:p>
        </p:txBody>
      </p:sp>
      <p:pic>
        <p:nvPicPr>
          <p:cNvPr id="51" name="object 5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20419" y="6008179"/>
            <a:ext cx="236093" cy="211747"/>
          </a:xfrm>
          <a:prstGeom prst="rect">
            <a:avLst/>
          </a:prstGeom>
        </p:spPr>
      </p:pic>
      <p:sp>
        <p:nvSpPr>
          <p:cNvPr id="52" name="object 52"/>
          <p:cNvSpPr txBox="1"/>
          <p:nvPr/>
        </p:nvSpPr>
        <p:spPr>
          <a:xfrm>
            <a:off x="752957" y="5938824"/>
            <a:ext cx="1069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85825" algn="l"/>
              </a:tabLst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𝐘′</a:t>
            </a:r>
            <a:r>
              <a:rPr sz="1800" spc="33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874901" y="6105461"/>
            <a:ext cx="149860" cy="15240"/>
          </a:xfrm>
          <a:custGeom>
            <a:avLst/>
            <a:gdLst/>
            <a:ahLst/>
            <a:cxnLst/>
            <a:rect l="l" t="t" r="r" b="b"/>
            <a:pathLst>
              <a:path w="149860" h="15239">
                <a:moveTo>
                  <a:pt x="149351" y="0"/>
                </a:moveTo>
                <a:lnTo>
                  <a:pt x="0" y="0"/>
                </a:lnTo>
                <a:lnTo>
                  <a:pt x="0" y="15239"/>
                </a:lnTo>
                <a:lnTo>
                  <a:pt x="149351" y="15239"/>
                </a:lnTo>
                <a:lnTo>
                  <a:pt x="1493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1862454" y="5713272"/>
            <a:ext cx="175895" cy="67818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505"/>
              </a:spcBef>
            </a:pPr>
            <a:r>
              <a:rPr sz="1800" spc="-50" dirty="0">
                <a:latin typeface="Cambria Math"/>
                <a:cs typeface="Cambria Math"/>
              </a:rPr>
              <a:t>𝟒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800" spc="-50" dirty="0">
                <a:latin typeface="Cambria Math"/>
                <a:cs typeface="Cambria Math"/>
              </a:rPr>
              <a:t>𝛑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2070735" y="5885497"/>
            <a:ext cx="3823970" cy="455930"/>
          </a:xfrm>
          <a:custGeom>
            <a:avLst/>
            <a:gdLst/>
            <a:ahLst/>
            <a:cxnLst/>
            <a:rect l="l" t="t" r="r" b="b"/>
            <a:pathLst>
              <a:path w="3823970" h="455929">
                <a:moveTo>
                  <a:pt x="73406" y="0"/>
                </a:moveTo>
                <a:lnTo>
                  <a:pt x="31496" y="24777"/>
                </a:lnTo>
                <a:lnTo>
                  <a:pt x="14579" y="72224"/>
                </a:lnTo>
                <a:lnTo>
                  <a:pt x="13462" y="94094"/>
                </a:lnTo>
                <a:lnTo>
                  <a:pt x="13855" y="103670"/>
                </a:lnTo>
                <a:lnTo>
                  <a:pt x="15074" y="114871"/>
                </a:lnTo>
                <a:lnTo>
                  <a:pt x="17094" y="127698"/>
                </a:lnTo>
                <a:lnTo>
                  <a:pt x="19939" y="142151"/>
                </a:lnTo>
                <a:lnTo>
                  <a:pt x="22771" y="156210"/>
                </a:lnTo>
                <a:lnTo>
                  <a:pt x="24790" y="167843"/>
                </a:lnTo>
                <a:lnTo>
                  <a:pt x="26009" y="177063"/>
                </a:lnTo>
                <a:lnTo>
                  <a:pt x="26416" y="183845"/>
                </a:lnTo>
                <a:lnTo>
                  <a:pt x="26022" y="190969"/>
                </a:lnTo>
                <a:lnTo>
                  <a:pt x="0" y="222580"/>
                </a:lnTo>
                <a:lnTo>
                  <a:pt x="0" y="233070"/>
                </a:lnTo>
                <a:lnTo>
                  <a:pt x="25933" y="263220"/>
                </a:lnTo>
                <a:lnTo>
                  <a:pt x="26416" y="271792"/>
                </a:lnTo>
                <a:lnTo>
                  <a:pt x="26009" y="278587"/>
                </a:lnTo>
                <a:lnTo>
                  <a:pt x="24790" y="287807"/>
                </a:lnTo>
                <a:lnTo>
                  <a:pt x="22771" y="299440"/>
                </a:lnTo>
                <a:lnTo>
                  <a:pt x="19939" y="313486"/>
                </a:lnTo>
                <a:lnTo>
                  <a:pt x="17094" y="327952"/>
                </a:lnTo>
                <a:lnTo>
                  <a:pt x="15074" y="340779"/>
                </a:lnTo>
                <a:lnTo>
                  <a:pt x="13855" y="351980"/>
                </a:lnTo>
                <a:lnTo>
                  <a:pt x="13462" y="361543"/>
                </a:lnTo>
                <a:lnTo>
                  <a:pt x="14579" y="383425"/>
                </a:lnTo>
                <a:lnTo>
                  <a:pt x="31496" y="430860"/>
                </a:lnTo>
                <a:lnTo>
                  <a:pt x="73406" y="455637"/>
                </a:lnTo>
                <a:lnTo>
                  <a:pt x="73406" y="446036"/>
                </a:lnTo>
                <a:lnTo>
                  <a:pt x="65989" y="444004"/>
                </a:lnTo>
                <a:lnTo>
                  <a:pt x="59016" y="440016"/>
                </a:lnTo>
                <a:lnTo>
                  <a:pt x="37490" y="403656"/>
                </a:lnTo>
                <a:lnTo>
                  <a:pt x="34544" y="371589"/>
                </a:lnTo>
                <a:lnTo>
                  <a:pt x="34925" y="362750"/>
                </a:lnTo>
                <a:lnTo>
                  <a:pt x="36042" y="351980"/>
                </a:lnTo>
                <a:lnTo>
                  <a:pt x="37973" y="338899"/>
                </a:lnTo>
                <a:lnTo>
                  <a:pt x="40640" y="323875"/>
                </a:lnTo>
                <a:lnTo>
                  <a:pt x="43294" y="309372"/>
                </a:lnTo>
                <a:lnTo>
                  <a:pt x="45199" y="297967"/>
                </a:lnTo>
                <a:lnTo>
                  <a:pt x="46355" y="289648"/>
                </a:lnTo>
                <a:lnTo>
                  <a:pt x="46736" y="284416"/>
                </a:lnTo>
                <a:lnTo>
                  <a:pt x="46342" y="274040"/>
                </a:lnTo>
                <a:lnTo>
                  <a:pt x="45173" y="264693"/>
                </a:lnTo>
                <a:lnTo>
                  <a:pt x="43192" y="256349"/>
                </a:lnTo>
                <a:lnTo>
                  <a:pt x="40436" y="249186"/>
                </a:lnTo>
                <a:lnTo>
                  <a:pt x="40386" y="249034"/>
                </a:lnTo>
                <a:lnTo>
                  <a:pt x="36614" y="242671"/>
                </a:lnTo>
                <a:lnTo>
                  <a:pt x="31788" y="237172"/>
                </a:lnTo>
                <a:lnTo>
                  <a:pt x="25895" y="232562"/>
                </a:lnTo>
                <a:lnTo>
                  <a:pt x="18923" y="228828"/>
                </a:lnTo>
                <a:lnTo>
                  <a:pt x="18923" y="226809"/>
                </a:lnTo>
                <a:lnTo>
                  <a:pt x="45173" y="190969"/>
                </a:lnTo>
                <a:lnTo>
                  <a:pt x="46736" y="171234"/>
                </a:lnTo>
                <a:lnTo>
                  <a:pt x="46355" y="166014"/>
                </a:lnTo>
                <a:lnTo>
                  <a:pt x="45212" y="157683"/>
                </a:lnTo>
                <a:lnTo>
                  <a:pt x="43294" y="146278"/>
                </a:lnTo>
                <a:lnTo>
                  <a:pt x="40640" y="131775"/>
                </a:lnTo>
                <a:lnTo>
                  <a:pt x="37960" y="116763"/>
                </a:lnTo>
                <a:lnTo>
                  <a:pt x="36068" y="103797"/>
                </a:lnTo>
                <a:lnTo>
                  <a:pt x="35039" y="94094"/>
                </a:lnTo>
                <a:lnTo>
                  <a:pt x="34925" y="92900"/>
                </a:lnTo>
                <a:lnTo>
                  <a:pt x="34544" y="84048"/>
                </a:lnTo>
                <a:lnTo>
                  <a:pt x="35280" y="66840"/>
                </a:lnTo>
                <a:lnTo>
                  <a:pt x="46355" y="29464"/>
                </a:lnTo>
                <a:lnTo>
                  <a:pt x="73406" y="9601"/>
                </a:lnTo>
                <a:lnTo>
                  <a:pt x="73406" y="0"/>
                </a:lnTo>
                <a:close/>
              </a:path>
              <a:path w="3823970" h="455929">
                <a:moveTo>
                  <a:pt x="1017270" y="219964"/>
                </a:moveTo>
                <a:lnTo>
                  <a:pt x="880110" y="219964"/>
                </a:lnTo>
                <a:lnTo>
                  <a:pt x="880110" y="235204"/>
                </a:lnTo>
                <a:lnTo>
                  <a:pt x="1017270" y="235204"/>
                </a:lnTo>
                <a:lnTo>
                  <a:pt x="1017270" y="219964"/>
                </a:lnTo>
                <a:close/>
              </a:path>
              <a:path w="3823970" h="455929">
                <a:moveTo>
                  <a:pt x="3823843" y="222580"/>
                </a:moveTo>
                <a:lnTo>
                  <a:pt x="3797998" y="192468"/>
                </a:lnTo>
                <a:lnTo>
                  <a:pt x="3797554" y="183845"/>
                </a:lnTo>
                <a:lnTo>
                  <a:pt x="3797858" y="178523"/>
                </a:lnTo>
                <a:lnTo>
                  <a:pt x="3797947" y="176974"/>
                </a:lnTo>
                <a:lnTo>
                  <a:pt x="3799167" y="167741"/>
                </a:lnTo>
                <a:lnTo>
                  <a:pt x="3801186" y="156159"/>
                </a:lnTo>
                <a:lnTo>
                  <a:pt x="3804031" y="142201"/>
                </a:lnTo>
                <a:lnTo>
                  <a:pt x="3806863" y="127825"/>
                </a:lnTo>
                <a:lnTo>
                  <a:pt x="3808882" y="115011"/>
                </a:lnTo>
                <a:lnTo>
                  <a:pt x="3810101" y="103771"/>
                </a:lnTo>
                <a:lnTo>
                  <a:pt x="3810431" y="95834"/>
                </a:lnTo>
                <a:lnTo>
                  <a:pt x="3810508" y="94094"/>
                </a:lnTo>
                <a:lnTo>
                  <a:pt x="3805948" y="53441"/>
                </a:lnTo>
                <a:lnTo>
                  <a:pt x="3782987" y="14744"/>
                </a:lnTo>
                <a:lnTo>
                  <a:pt x="3750437" y="0"/>
                </a:lnTo>
                <a:lnTo>
                  <a:pt x="3750437" y="9601"/>
                </a:lnTo>
                <a:lnTo>
                  <a:pt x="3757841" y="11684"/>
                </a:lnTo>
                <a:lnTo>
                  <a:pt x="3764826" y="15684"/>
                </a:lnTo>
                <a:lnTo>
                  <a:pt x="3786467" y="51943"/>
                </a:lnTo>
                <a:lnTo>
                  <a:pt x="3789426" y="84048"/>
                </a:lnTo>
                <a:lnTo>
                  <a:pt x="3789426" y="89255"/>
                </a:lnTo>
                <a:lnTo>
                  <a:pt x="3783203" y="131826"/>
                </a:lnTo>
                <a:lnTo>
                  <a:pt x="3781768" y="139484"/>
                </a:lnTo>
                <a:lnTo>
                  <a:pt x="3777107" y="178523"/>
                </a:lnTo>
                <a:lnTo>
                  <a:pt x="3777513" y="183845"/>
                </a:lnTo>
                <a:lnTo>
                  <a:pt x="3795649" y="221792"/>
                </a:lnTo>
                <a:lnTo>
                  <a:pt x="3805047" y="226809"/>
                </a:lnTo>
                <a:lnTo>
                  <a:pt x="3805047" y="228828"/>
                </a:lnTo>
                <a:lnTo>
                  <a:pt x="3779647" y="258889"/>
                </a:lnTo>
                <a:lnTo>
                  <a:pt x="3777107" y="277190"/>
                </a:lnTo>
                <a:lnTo>
                  <a:pt x="3777221" y="287909"/>
                </a:lnTo>
                <a:lnTo>
                  <a:pt x="3784701" y="331647"/>
                </a:lnTo>
                <a:lnTo>
                  <a:pt x="3785971" y="338937"/>
                </a:lnTo>
                <a:lnTo>
                  <a:pt x="3787038" y="345681"/>
                </a:lnTo>
                <a:lnTo>
                  <a:pt x="3787902" y="351891"/>
                </a:lnTo>
                <a:lnTo>
                  <a:pt x="3788918" y="359816"/>
                </a:lnTo>
                <a:lnTo>
                  <a:pt x="3789426" y="366382"/>
                </a:lnTo>
                <a:lnTo>
                  <a:pt x="3789426" y="371589"/>
                </a:lnTo>
                <a:lnTo>
                  <a:pt x="3782771" y="416153"/>
                </a:lnTo>
                <a:lnTo>
                  <a:pt x="3750437" y="446036"/>
                </a:lnTo>
                <a:lnTo>
                  <a:pt x="3750437" y="455637"/>
                </a:lnTo>
                <a:lnTo>
                  <a:pt x="3792347" y="430860"/>
                </a:lnTo>
                <a:lnTo>
                  <a:pt x="3809365" y="383425"/>
                </a:lnTo>
                <a:lnTo>
                  <a:pt x="3810508" y="361543"/>
                </a:lnTo>
                <a:lnTo>
                  <a:pt x="3810101" y="351891"/>
                </a:lnTo>
                <a:lnTo>
                  <a:pt x="3808882" y="340652"/>
                </a:lnTo>
                <a:lnTo>
                  <a:pt x="3806863" y="327837"/>
                </a:lnTo>
                <a:lnTo>
                  <a:pt x="3804031" y="313436"/>
                </a:lnTo>
                <a:lnTo>
                  <a:pt x="3801186" y="299491"/>
                </a:lnTo>
                <a:lnTo>
                  <a:pt x="3799167" y="287909"/>
                </a:lnTo>
                <a:lnTo>
                  <a:pt x="3797947" y="278676"/>
                </a:lnTo>
                <a:lnTo>
                  <a:pt x="3797554" y="271792"/>
                </a:lnTo>
                <a:lnTo>
                  <a:pt x="3797998" y="263271"/>
                </a:lnTo>
                <a:lnTo>
                  <a:pt x="3823843" y="233070"/>
                </a:lnTo>
                <a:lnTo>
                  <a:pt x="3823843" y="2225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2938652" y="5765088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938652" y="6091224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𝟑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4061840" y="6105461"/>
            <a:ext cx="137160" cy="15240"/>
          </a:xfrm>
          <a:custGeom>
            <a:avLst/>
            <a:gdLst/>
            <a:ahLst/>
            <a:cxnLst/>
            <a:rect l="l" t="t" r="r" b="b"/>
            <a:pathLst>
              <a:path w="137160" h="15239">
                <a:moveTo>
                  <a:pt x="137160" y="0"/>
                </a:moveTo>
                <a:lnTo>
                  <a:pt x="0" y="0"/>
                </a:lnTo>
                <a:lnTo>
                  <a:pt x="0" y="15239"/>
                </a:lnTo>
                <a:lnTo>
                  <a:pt x="137160" y="15239"/>
                </a:lnTo>
                <a:lnTo>
                  <a:pt x="1371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4049648" y="5765088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049648" y="6091224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𝟓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138298" y="5938824"/>
            <a:ext cx="3689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6155" algn="l"/>
                <a:tab pos="2097405" algn="l"/>
              </a:tabLst>
            </a:pPr>
            <a:r>
              <a:rPr sz="1800" spc="-10" dirty="0">
                <a:latin typeface="Cambria Math"/>
                <a:cs typeface="Cambria Math"/>
              </a:rPr>
              <a:t>𝐜𝐨𝐬</a:t>
            </a:r>
            <a:r>
              <a:rPr sz="1800" spc="-1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𝛉</a:t>
            </a:r>
            <a:r>
              <a:rPr sz="1800" spc="1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−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10" dirty="0">
                <a:latin typeface="Cambria Math"/>
                <a:cs typeface="Cambria Math"/>
              </a:rPr>
              <a:t>𝐜𝐨𝐬</a:t>
            </a:r>
            <a:r>
              <a:rPr sz="1800" spc="-1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𝟑𝛉</a:t>
            </a:r>
            <a:r>
              <a:rPr sz="1800" spc="1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+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10" dirty="0">
                <a:latin typeface="Cambria Math"/>
                <a:cs typeface="Cambria Math"/>
              </a:rPr>
              <a:t>𝐜𝐨𝐬</a:t>
            </a:r>
            <a:r>
              <a:rPr sz="1800" spc="-10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𝟓𝛉</a:t>
            </a:r>
            <a:r>
              <a:rPr sz="1800" spc="-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−</a:t>
            </a:r>
            <a:r>
              <a:rPr sz="1800" spc="409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…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…</a:t>
            </a:r>
            <a:r>
              <a:rPr sz="1800" spc="-11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…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6276975" y="2926842"/>
            <a:ext cx="0" cy="3693160"/>
          </a:xfrm>
          <a:custGeom>
            <a:avLst/>
            <a:gdLst/>
            <a:ahLst/>
            <a:cxnLst/>
            <a:rect l="l" t="t" r="r" b="b"/>
            <a:pathLst>
              <a:path h="3693159">
                <a:moveTo>
                  <a:pt x="0" y="3693033"/>
                </a:moveTo>
                <a:lnTo>
                  <a:pt x="0" y="0"/>
                </a:lnTo>
              </a:path>
            </a:pathLst>
          </a:custGeom>
          <a:ln w="19050">
            <a:solidFill>
              <a:srgbClr val="00AFEF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3" name="object 6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19007" y="4073144"/>
            <a:ext cx="235966" cy="211708"/>
          </a:xfrm>
          <a:prstGeom prst="rect">
            <a:avLst/>
          </a:prstGeom>
        </p:spPr>
      </p:pic>
      <p:sp>
        <p:nvSpPr>
          <p:cNvPr id="64" name="object 64"/>
          <p:cNvSpPr/>
          <p:nvPr/>
        </p:nvSpPr>
        <p:spPr>
          <a:xfrm>
            <a:off x="8873363" y="4170426"/>
            <a:ext cx="149860" cy="15240"/>
          </a:xfrm>
          <a:custGeom>
            <a:avLst/>
            <a:gdLst/>
            <a:ahLst/>
            <a:cxnLst/>
            <a:rect l="l" t="t" r="r" b="b"/>
            <a:pathLst>
              <a:path w="149859" h="15239">
                <a:moveTo>
                  <a:pt x="149351" y="0"/>
                </a:moveTo>
                <a:lnTo>
                  <a:pt x="0" y="0"/>
                </a:lnTo>
                <a:lnTo>
                  <a:pt x="0" y="15240"/>
                </a:lnTo>
                <a:lnTo>
                  <a:pt x="149351" y="15240"/>
                </a:lnTo>
                <a:lnTo>
                  <a:pt x="1493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9069958" y="4071239"/>
            <a:ext cx="683260" cy="213360"/>
          </a:xfrm>
          <a:custGeom>
            <a:avLst/>
            <a:gdLst/>
            <a:ahLst/>
            <a:cxnLst/>
            <a:rect l="l" t="t" r="r" b="b"/>
            <a:pathLst>
              <a:path w="683259" h="213360">
                <a:moveTo>
                  <a:pt x="614679" y="0"/>
                </a:moveTo>
                <a:lnTo>
                  <a:pt x="611758" y="0"/>
                </a:lnTo>
                <a:lnTo>
                  <a:pt x="611758" y="8382"/>
                </a:lnTo>
                <a:lnTo>
                  <a:pt x="613409" y="8382"/>
                </a:lnTo>
                <a:lnTo>
                  <a:pt x="621075" y="8925"/>
                </a:lnTo>
                <a:lnTo>
                  <a:pt x="647953" y="44704"/>
                </a:lnTo>
                <a:lnTo>
                  <a:pt x="647953" y="49911"/>
                </a:lnTo>
                <a:lnTo>
                  <a:pt x="647191" y="56388"/>
                </a:lnTo>
                <a:lnTo>
                  <a:pt x="645667" y="64008"/>
                </a:lnTo>
                <a:lnTo>
                  <a:pt x="644270" y="71755"/>
                </a:lnTo>
                <a:lnTo>
                  <a:pt x="643508" y="77216"/>
                </a:lnTo>
                <a:lnTo>
                  <a:pt x="643508" y="86741"/>
                </a:lnTo>
                <a:lnTo>
                  <a:pt x="645286" y="91948"/>
                </a:lnTo>
                <a:lnTo>
                  <a:pt x="649096" y="96012"/>
                </a:lnTo>
                <a:lnTo>
                  <a:pt x="652779" y="100076"/>
                </a:lnTo>
                <a:lnTo>
                  <a:pt x="657224" y="102997"/>
                </a:lnTo>
                <a:lnTo>
                  <a:pt x="662304" y="105029"/>
                </a:lnTo>
                <a:lnTo>
                  <a:pt x="662304" y="107061"/>
                </a:lnTo>
                <a:lnTo>
                  <a:pt x="657224" y="108966"/>
                </a:lnTo>
                <a:lnTo>
                  <a:pt x="652779" y="111887"/>
                </a:lnTo>
                <a:lnTo>
                  <a:pt x="649212" y="115823"/>
                </a:lnTo>
                <a:lnTo>
                  <a:pt x="645286" y="120014"/>
                </a:lnTo>
                <a:lnTo>
                  <a:pt x="643508" y="125222"/>
                </a:lnTo>
                <a:lnTo>
                  <a:pt x="643508" y="134874"/>
                </a:lnTo>
                <a:lnTo>
                  <a:pt x="644270" y="140335"/>
                </a:lnTo>
                <a:lnTo>
                  <a:pt x="645667" y="147955"/>
                </a:lnTo>
                <a:lnTo>
                  <a:pt x="647191" y="155575"/>
                </a:lnTo>
                <a:lnTo>
                  <a:pt x="647953" y="162052"/>
                </a:lnTo>
                <a:lnTo>
                  <a:pt x="647953" y="167259"/>
                </a:lnTo>
                <a:lnTo>
                  <a:pt x="647392" y="176462"/>
                </a:lnTo>
                <a:lnTo>
                  <a:pt x="613409" y="204343"/>
                </a:lnTo>
                <a:lnTo>
                  <a:pt x="611758" y="204343"/>
                </a:lnTo>
                <a:lnTo>
                  <a:pt x="611758" y="212852"/>
                </a:lnTo>
                <a:lnTo>
                  <a:pt x="614679" y="212852"/>
                </a:lnTo>
                <a:lnTo>
                  <a:pt x="626991" y="211895"/>
                </a:lnTo>
                <a:lnTo>
                  <a:pt x="663638" y="186150"/>
                </a:lnTo>
                <a:lnTo>
                  <a:pt x="666876" y="165227"/>
                </a:lnTo>
                <a:lnTo>
                  <a:pt x="666876" y="159131"/>
                </a:lnTo>
                <a:lnTo>
                  <a:pt x="665987" y="152019"/>
                </a:lnTo>
                <a:lnTo>
                  <a:pt x="664336" y="144145"/>
                </a:lnTo>
                <a:lnTo>
                  <a:pt x="662558" y="136271"/>
                </a:lnTo>
                <a:lnTo>
                  <a:pt x="661669" y="131064"/>
                </a:lnTo>
                <a:lnTo>
                  <a:pt x="661669" y="123189"/>
                </a:lnTo>
                <a:lnTo>
                  <a:pt x="663447" y="118998"/>
                </a:lnTo>
                <a:lnTo>
                  <a:pt x="667003" y="115823"/>
                </a:lnTo>
                <a:lnTo>
                  <a:pt x="670559" y="112522"/>
                </a:lnTo>
                <a:lnTo>
                  <a:pt x="675893" y="110744"/>
                </a:lnTo>
                <a:lnTo>
                  <a:pt x="683005" y="110744"/>
                </a:lnTo>
                <a:lnTo>
                  <a:pt x="683005" y="101473"/>
                </a:lnTo>
                <a:lnTo>
                  <a:pt x="661669" y="88773"/>
                </a:lnTo>
                <a:lnTo>
                  <a:pt x="661669" y="81026"/>
                </a:lnTo>
                <a:lnTo>
                  <a:pt x="662558" y="75692"/>
                </a:lnTo>
                <a:lnTo>
                  <a:pt x="664336" y="67818"/>
                </a:lnTo>
                <a:lnTo>
                  <a:pt x="665987" y="59944"/>
                </a:lnTo>
                <a:lnTo>
                  <a:pt x="666876" y="52959"/>
                </a:lnTo>
                <a:lnTo>
                  <a:pt x="666876" y="46736"/>
                </a:lnTo>
                <a:lnTo>
                  <a:pt x="646612" y="6893"/>
                </a:lnTo>
                <a:lnTo>
                  <a:pt x="626991" y="900"/>
                </a:lnTo>
                <a:lnTo>
                  <a:pt x="614679" y="0"/>
                </a:lnTo>
                <a:close/>
              </a:path>
              <a:path w="683259" h="213360">
                <a:moveTo>
                  <a:pt x="71246" y="0"/>
                </a:moveTo>
                <a:lnTo>
                  <a:pt x="68325" y="0"/>
                </a:lnTo>
                <a:lnTo>
                  <a:pt x="56014" y="900"/>
                </a:lnTo>
                <a:lnTo>
                  <a:pt x="19303" y="26416"/>
                </a:lnTo>
                <a:lnTo>
                  <a:pt x="16876" y="35625"/>
                </a:lnTo>
                <a:lnTo>
                  <a:pt x="16831" y="35798"/>
                </a:lnTo>
                <a:lnTo>
                  <a:pt x="16001" y="46609"/>
                </a:lnTo>
                <a:lnTo>
                  <a:pt x="16001" y="52832"/>
                </a:lnTo>
                <a:lnTo>
                  <a:pt x="16890" y="59817"/>
                </a:lnTo>
                <a:lnTo>
                  <a:pt x="20446" y="75565"/>
                </a:lnTo>
                <a:lnTo>
                  <a:pt x="21335" y="80899"/>
                </a:lnTo>
                <a:lnTo>
                  <a:pt x="21335" y="88646"/>
                </a:lnTo>
                <a:lnTo>
                  <a:pt x="19557" y="92837"/>
                </a:lnTo>
                <a:lnTo>
                  <a:pt x="16001" y="96139"/>
                </a:lnTo>
                <a:lnTo>
                  <a:pt x="12445" y="99314"/>
                </a:lnTo>
                <a:lnTo>
                  <a:pt x="7111" y="101092"/>
                </a:lnTo>
                <a:lnTo>
                  <a:pt x="0" y="101346"/>
                </a:lnTo>
                <a:lnTo>
                  <a:pt x="0" y="110489"/>
                </a:lnTo>
                <a:lnTo>
                  <a:pt x="7111" y="110744"/>
                </a:lnTo>
                <a:lnTo>
                  <a:pt x="12445" y="112395"/>
                </a:lnTo>
                <a:lnTo>
                  <a:pt x="16001" y="115697"/>
                </a:lnTo>
                <a:lnTo>
                  <a:pt x="19557" y="118872"/>
                </a:lnTo>
                <a:lnTo>
                  <a:pt x="21335" y="123063"/>
                </a:lnTo>
                <a:lnTo>
                  <a:pt x="21335" y="130937"/>
                </a:lnTo>
                <a:lnTo>
                  <a:pt x="20446" y="136144"/>
                </a:lnTo>
                <a:lnTo>
                  <a:pt x="16890" y="151892"/>
                </a:lnTo>
                <a:lnTo>
                  <a:pt x="16001" y="159004"/>
                </a:lnTo>
                <a:lnTo>
                  <a:pt x="16001" y="165100"/>
                </a:lnTo>
                <a:lnTo>
                  <a:pt x="16831" y="176408"/>
                </a:lnTo>
                <a:lnTo>
                  <a:pt x="45370" y="209581"/>
                </a:lnTo>
                <a:lnTo>
                  <a:pt x="68325" y="212852"/>
                </a:lnTo>
                <a:lnTo>
                  <a:pt x="71246" y="212852"/>
                </a:lnTo>
                <a:lnTo>
                  <a:pt x="71246" y="204343"/>
                </a:lnTo>
                <a:lnTo>
                  <a:pt x="69468" y="204343"/>
                </a:lnTo>
                <a:lnTo>
                  <a:pt x="61823" y="203819"/>
                </a:lnTo>
                <a:lnTo>
                  <a:pt x="35051" y="167132"/>
                </a:lnTo>
                <a:lnTo>
                  <a:pt x="35051" y="161925"/>
                </a:lnTo>
                <a:lnTo>
                  <a:pt x="35813" y="155575"/>
                </a:lnTo>
                <a:lnTo>
                  <a:pt x="37210" y="147828"/>
                </a:lnTo>
                <a:lnTo>
                  <a:pt x="38734" y="140208"/>
                </a:lnTo>
                <a:lnTo>
                  <a:pt x="39496" y="134747"/>
                </a:lnTo>
                <a:lnTo>
                  <a:pt x="39496" y="125095"/>
                </a:lnTo>
                <a:lnTo>
                  <a:pt x="37591" y="119888"/>
                </a:lnTo>
                <a:lnTo>
                  <a:pt x="30225" y="111760"/>
                </a:lnTo>
                <a:lnTo>
                  <a:pt x="25780" y="108839"/>
                </a:lnTo>
                <a:lnTo>
                  <a:pt x="20573" y="106934"/>
                </a:lnTo>
                <a:lnTo>
                  <a:pt x="20573" y="104902"/>
                </a:lnTo>
                <a:lnTo>
                  <a:pt x="25780" y="102997"/>
                </a:lnTo>
                <a:lnTo>
                  <a:pt x="30225" y="99949"/>
                </a:lnTo>
                <a:lnTo>
                  <a:pt x="37591" y="91821"/>
                </a:lnTo>
                <a:lnTo>
                  <a:pt x="39496" y="86614"/>
                </a:lnTo>
                <a:lnTo>
                  <a:pt x="39496" y="77089"/>
                </a:lnTo>
                <a:lnTo>
                  <a:pt x="38734" y="71628"/>
                </a:lnTo>
                <a:lnTo>
                  <a:pt x="37210" y="63881"/>
                </a:lnTo>
                <a:lnTo>
                  <a:pt x="35813" y="56261"/>
                </a:lnTo>
                <a:lnTo>
                  <a:pt x="35051" y="49784"/>
                </a:lnTo>
                <a:lnTo>
                  <a:pt x="35051" y="44577"/>
                </a:lnTo>
                <a:lnTo>
                  <a:pt x="35612" y="35798"/>
                </a:lnTo>
                <a:lnTo>
                  <a:pt x="35623" y="35625"/>
                </a:lnTo>
                <a:lnTo>
                  <a:pt x="69468" y="8382"/>
                </a:lnTo>
                <a:lnTo>
                  <a:pt x="71246" y="8382"/>
                </a:lnTo>
                <a:lnTo>
                  <a:pt x="712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6" name="object 66"/>
          <p:cNvGrpSpPr/>
          <p:nvPr/>
        </p:nvGrpSpPr>
        <p:grpSpPr>
          <a:xfrm>
            <a:off x="7027354" y="4395215"/>
            <a:ext cx="3969385" cy="842644"/>
            <a:chOff x="7027354" y="4395215"/>
            <a:chExt cx="3969385" cy="842644"/>
          </a:xfrm>
        </p:grpSpPr>
        <p:sp>
          <p:nvSpPr>
            <p:cNvPr id="67" name="object 67"/>
            <p:cNvSpPr/>
            <p:nvPr/>
          </p:nvSpPr>
          <p:spPr>
            <a:xfrm>
              <a:off x="7027354" y="4395215"/>
              <a:ext cx="3969385" cy="842644"/>
            </a:xfrm>
            <a:custGeom>
              <a:avLst/>
              <a:gdLst/>
              <a:ahLst/>
              <a:cxnLst/>
              <a:rect l="l" t="t" r="r" b="b"/>
              <a:pathLst>
                <a:path w="3969384" h="842645">
                  <a:moveTo>
                    <a:pt x="3852227" y="0"/>
                  </a:moveTo>
                  <a:lnTo>
                    <a:pt x="3852227" y="11175"/>
                  </a:lnTo>
                  <a:lnTo>
                    <a:pt x="3859204" y="13487"/>
                  </a:lnTo>
                  <a:lnTo>
                    <a:pt x="3865848" y="16811"/>
                  </a:lnTo>
                  <a:lnTo>
                    <a:pt x="3893619" y="48385"/>
                  </a:lnTo>
                  <a:lnTo>
                    <a:pt x="3908198" y="90463"/>
                  </a:lnTo>
                  <a:lnTo>
                    <a:pt x="3914012" y="131238"/>
                  </a:lnTo>
                  <a:lnTo>
                    <a:pt x="3915092" y="162559"/>
                  </a:lnTo>
                  <a:lnTo>
                    <a:pt x="3914685" y="177250"/>
                  </a:lnTo>
                  <a:lnTo>
                    <a:pt x="3913481" y="195423"/>
                  </a:lnTo>
                  <a:lnTo>
                    <a:pt x="3911395" y="218156"/>
                  </a:lnTo>
                  <a:lnTo>
                    <a:pt x="3905654" y="269876"/>
                  </a:lnTo>
                  <a:lnTo>
                    <a:pt x="3903630" y="290274"/>
                  </a:lnTo>
                  <a:lnTo>
                    <a:pt x="3902416" y="305552"/>
                  </a:lnTo>
                  <a:lnTo>
                    <a:pt x="3902011" y="315721"/>
                  </a:lnTo>
                  <a:lnTo>
                    <a:pt x="3902868" y="336198"/>
                  </a:lnTo>
                  <a:lnTo>
                    <a:pt x="3915727" y="386079"/>
                  </a:lnTo>
                  <a:lnTo>
                    <a:pt x="3944810" y="419734"/>
                  </a:lnTo>
                  <a:lnTo>
                    <a:pt x="3944810" y="422655"/>
                  </a:lnTo>
                  <a:lnTo>
                    <a:pt x="3915727" y="456056"/>
                  </a:lnTo>
                  <a:lnTo>
                    <a:pt x="3902868" y="505991"/>
                  </a:lnTo>
                  <a:lnTo>
                    <a:pt x="3902011" y="526541"/>
                  </a:lnTo>
                  <a:lnTo>
                    <a:pt x="3902416" y="534253"/>
                  </a:lnTo>
                  <a:lnTo>
                    <a:pt x="3903630" y="549179"/>
                  </a:lnTo>
                  <a:lnTo>
                    <a:pt x="3905654" y="571297"/>
                  </a:lnTo>
                  <a:lnTo>
                    <a:pt x="3908488" y="600582"/>
                  </a:lnTo>
                  <a:lnTo>
                    <a:pt x="3911395" y="630177"/>
                  </a:lnTo>
                  <a:lnTo>
                    <a:pt x="3913457" y="653224"/>
                  </a:lnTo>
                  <a:lnTo>
                    <a:pt x="3914685" y="669698"/>
                  </a:lnTo>
                  <a:lnTo>
                    <a:pt x="3915092" y="679576"/>
                  </a:lnTo>
                  <a:lnTo>
                    <a:pt x="3914830" y="695719"/>
                  </a:lnTo>
                  <a:lnTo>
                    <a:pt x="3914114" y="709628"/>
                  </a:lnTo>
                  <a:lnTo>
                    <a:pt x="3914044" y="710993"/>
                  </a:lnTo>
                  <a:lnTo>
                    <a:pt x="3908542" y="751605"/>
                  </a:lnTo>
                  <a:lnTo>
                    <a:pt x="3893653" y="794170"/>
                  </a:lnTo>
                  <a:lnTo>
                    <a:pt x="3865784" y="825595"/>
                  </a:lnTo>
                  <a:lnTo>
                    <a:pt x="3852227" y="831087"/>
                  </a:lnTo>
                  <a:lnTo>
                    <a:pt x="3852227" y="842263"/>
                  </a:lnTo>
                  <a:lnTo>
                    <a:pt x="3900304" y="812474"/>
                  </a:lnTo>
                  <a:lnTo>
                    <a:pt x="3924496" y="768111"/>
                  </a:lnTo>
                  <a:lnTo>
                    <a:pt x="3937017" y="709628"/>
                  </a:lnTo>
                  <a:lnTo>
                    <a:pt x="3938587" y="675385"/>
                  </a:lnTo>
                  <a:lnTo>
                    <a:pt x="3938136" y="658885"/>
                  </a:lnTo>
                  <a:lnTo>
                    <a:pt x="3936793" y="638540"/>
                  </a:lnTo>
                  <a:lnTo>
                    <a:pt x="3934569" y="614360"/>
                  </a:lnTo>
                  <a:lnTo>
                    <a:pt x="3931475" y="586358"/>
                  </a:lnTo>
                  <a:lnTo>
                    <a:pt x="3928381" y="559141"/>
                  </a:lnTo>
                  <a:lnTo>
                    <a:pt x="3926157" y="537495"/>
                  </a:lnTo>
                  <a:lnTo>
                    <a:pt x="3924813" y="521422"/>
                  </a:lnTo>
                  <a:lnTo>
                    <a:pt x="3924363" y="510920"/>
                  </a:lnTo>
                  <a:lnTo>
                    <a:pt x="3925121" y="491753"/>
                  </a:lnTo>
                  <a:lnTo>
                    <a:pt x="3936301" y="448944"/>
                  </a:lnTo>
                  <a:lnTo>
                    <a:pt x="3968432" y="427227"/>
                  </a:lnTo>
                  <a:lnTo>
                    <a:pt x="3968432" y="415280"/>
                  </a:lnTo>
                  <a:lnTo>
                    <a:pt x="3969126" y="415280"/>
                  </a:lnTo>
                  <a:lnTo>
                    <a:pt x="3958839" y="413545"/>
                  </a:lnTo>
                  <a:lnTo>
                    <a:pt x="3950271" y="409463"/>
                  </a:lnTo>
                  <a:lnTo>
                    <a:pt x="3927379" y="368077"/>
                  </a:lnTo>
                  <a:lnTo>
                    <a:pt x="3924363" y="331342"/>
                  </a:lnTo>
                  <a:lnTo>
                    <a:pt x="3924813" y="319456"/>
                  </a:lnTo>
                  <a:lnTo>
                    <a:pt x="3926157" y="303783"/>
                  </a:lnTo>
                  <a:lnTo>
                    <a:pt x="3928381" y="284301"/>
                  </a:lnTo>
                  <a:lnTo>
                    <a:pt x="3931475" y="260984"/>
                  </a:lnTo>
                  <a:lnTo>
                    <a:pt x="3934569" y="236813"/>
                  </a:lnTo>
                  <a:lnTo>
                    <a:pt x="3936793" y="214963"/>
                  </a:lnTo>
                  <a:lnTo>
                    <a:pt x="3938112" y="195786"/>
                  </a:lnTo>
                  <a:lnTo>
                    <a:pt x="3938136" y="195423"/>
                  </a:lnTo>
                  <a:lnTo>
                    <a:pt x="3938587" y="178180"/>
                  </a:lnTo>
                  <a:lnTo>
                    <a:pt x="3937160" y="141749"/>
                  </a:lnTo>
                  <a:lnTo>
                    <a:pt x="3925782" y="80079"/>
                  </a:lnTo>
                  <a:lnTo>
                    <a:pt x="3903305" y="33861"/>
                  </a:lnTo>
                  <a:lnTo>
                    <a:pt x="3871491" y="6429"/>
                  </a:lnTo>
                  <a:lnTo>
                    <a:pt x="3852227" y="0"/>
                  </a:lnTo>
                  <a:close/>
                </a:path>
                <a:path w="3969384" h="842645">
                  <a:moveTo>
                    <a:pt x="117030" y="0"/>
                  </a:moveTo>
                  <a:lnTo>
                    <a:pt x="80644" y="17716"/>
                  </a:lnTo>
                  <a:lnTo>
                    <a:pt x="53403" y="54863"/>
                  </a:lnTo>
                  <a:lnTo>
                    <a:pt x="36321" y="109045"/>
                  </a:lnTo>
                  <a:lnTo>
                    <a:pt x="30706" y="177250"/>
                  </a:lnTo>
                  <a:lnTo>
                    <a:pt x="30670" y="178180"/>
                  </a:lnTo>
                  <a:lnTo>
                    <a:pt x="31101" y="195423"/>
                  </a:lnTo>
                  <a:lnTo>
                    <a:pt x="32400" y="214963"/>
                  </a:lnTo>
                  <a:lnTo>
                    <a:pt x="34581" y="236813"/>
                  </a:lnTo>
                  <a:lnTo>
                    <a:pt x="37655" y="260984"/>
                  </a:lnTo>
                  <a:lnTo>
                    <a:pt x="40802" y="284301"/>
                  </a:lnTo>
                  <a:lnTo>
                    <a:pt x="43021" y="303783"/>
                  </a:lnTo>
                  <a:lnTo>
                    <a:pt x="44334" y="319456"/>
                  </a:lnTo>
                  <a:lnTo>
                    <a:pt x="44767" y="331342"/>
                  </a:lnTo>
                  <a:lnTo>
                    <a:pt x="44029" y="351055"/>
                  </a:lnTo>
                  <a:lnTo>
                    <a:pt x="32956" y="393953"/>
                  </a:lnTo>
                  <a:lnTo>
                    <a:pt x="0" y="415280"/>
                  </a:lnTo>
                  <a:lnTo>
                    <a:pt x="698" y="415280"/>
                  </a:lnTo>
                  <a:lnTo>
                    <a:pt x="698" y="427227"/>
                  </a:lnTo>
                  <a:lnTo>
                    <a:pt x="10346" y="428728"/>
                  </a:lnTo>
                  <a:lnTo>
                    <a:pt x="18922" y="432847"/>
                  </a:lnTo>
                  <a:lnTo>
                    <a:pt x="41814" y="475027"/>
                  </a:lnTo>
                  <a:lnTo>
                    <a:pt x="44767" y="510920"/>
                  </a:lnTo>
                  <a:lnTo>
                    <a:pt x="44334" y="521422"/>
                  </a:lnTo>
                  <a:lnTo>
                    <a:pt x="43021" y="537495"/>
                  </a:lnTo>
                  <a:lnTo>
                    <a:pt x="40802" y="559141"/>
                  </a:lnTo>
                  <a:lnTo>
                    <a:pt x="37655" y="586358"/>
                  </a:lnTo>
                  <a:lnTo>
                    <a:pt x="34581" y="614360"/>
                  </a:lnTo>
                  <a:lnTo>
                    <a:pt x="32400" y="638540"/>
                  </a:lnTo>
                  <a:lnTo>
                    <a:pt x="31101" y="658885"/>
                  </a:lnTo>
                  <a:lnTo>
                    <a:pt x="30670" y="675385"/>
                  </a:lnTo>
                  <a:lnTo>
                    <a:pt x="32222" y="709628"/>
                  </a:lnTo>
                  <a:lnTo>
                    <a:pt x="44707" y="768111"/>
                  </a:lnTo>
                  <a:lnTo>
                    <a:pt x="68881" y="812474"/>
                  </a:lnTo>
                  <a:lnTo>
                    <a:pt x="99552" y="837430"/>
                  </a:lnTo>
                  <a:lnTo>
                    <a:pt x="117030" y="842263"/>
                  </a:lnTo>
                  <a:lnTo>
                    <a:pt x="117030" y="831087"/>
                  </a:lnTo>
                  <a:lnTo>
                    <a:pt x="110055" y="828853"/>
                  </a:lnTo>
                  <a:lnTo>
                    <a:pt x="103425" y="825595"/>
                  </a:lnTo>
                  <a:lnTo>
                    <a:pt x="75533" y="794170"/>
                  </a:lnTo>
                  <a:lnTo>
                    <a:pt x="60608" y="751605"/>
                  </a:lnTo>
                  <a:lnTo>
                    <a:pt x="55086" y="710993"/>
                  </a:lnTo>
                  <a:lnTo>
                    <a:pt x="54038" y="679576"/>
                  </a:lnTo>
                  <a:lnTo>
                    <a:pt x="54445" y="669698"/>
                  </a:lnTo>
                  <a:lnTo>
                    <a:pt x="55673" y="653224"/>
                  </a:lnTo>
                  <a:lnTo>
                    <a:pt x="57735" y="630177"/>
                  </a:lnTo>
                  <a:lnTo>
                    <a:pt x="60642" y="600582"/>
                  </a:lnTo>
                  <a:lnTo>
                    <a:pt x="63549" y="571297"/>
                  </a:lnTo>
                  <a:lnTo>
                    <a:pt x="65611" y="549179"/>
                  </a:lnTo>
                  <a:lnTo>
                    <a:pt x="66839" y="534253"/>
                  </a:lnTo>
                  <a:lnTo>
                    <a:pt x="67246" y="526541"/>
                  </a:lnTo>
                  <a:lnTo>
                    <a:pt x="66389" y="505991"/>
                  </a:lnTo>
                  <a:lnTo>
                    <a:pt x="53530" y="456056"/>
                  </a:lnTo>
                  <a:lnTo>
                    <a:pt x="24320" y="422655"/>
                  </a:lnTo>
                  <a:lnTo>
                    <a:pt x="24320" y="419734"/>
                  </a:lnTo>
                  <a:lnTo>
                    <a:pt x="53530" y="386079"/>
                  </a:lnTo>
                  <a:lnTo>
                    <a:pt x="66389" y="336198"/>
                  </a:lnTo>
                  <a:lnTo>
                    <a:pt x="67246" y="315721"/>
                  </a:lnTo>
                  <a:lnTo>
                    <a:pt x="66839" y="305552"/>
                  </a:lnTo>
                  <a:lnTo>
                    <a:pt x="65611" y="290274"/>
                  </a:lnTo>
                  <a:lnTo>
                    <a:pt x="63549" y="269876"/>
                  </a:lnTo>
                  <a:lnTo>
                    <a:pt x="60642" y="244347"/>
                  </a:lnTo>
                  <a:lnTo>
                    <a:pt x="57735" y="218156"/>
                  </a:lnTo>
                  <a:lnTo>
                    <a:pt x="55673" y="195786"/>
                  </a:lnTo>
                  <a:lnTo>
                    <a:pt x="54506" y="178180"/>
                  </a:lnTo>
                  <a:lnTo>
                    <a:pt x="54445" y="177250"/>
                  </a:lnTo>
                  <a:lnTo>
                    <a:pt x="54038" y="162559"/>
                  </a:lnTo>
                  <a:lnTo>
                    <a:pt x="54322" y="146488"/>
                  </a:lnTo>
                  <a:lnTo>
                    <a:pt x="58483" y="103250"/>
                  </a:lnTo>
                  <a:lnTo>
                    <a:pt x="71310" y="57530"/>
                  </a:lnTo>
                  <a:lnTo>
                    <a:pt x="97099" y="21159"/>
                  </a:lnTo>
                  <a:lnTo>
                    <a:pt x="117030" y="11175"/>
                  </a:lnTo>
                  <a:lnTo>
                    <a:pt x="11703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388981" y="4711191"/>
              <a:ext cx="236093" cy="211836"/>
            </a:xfrm>
            <a:prstGeom prst="rect">
              <a:avLst/>
            </a:prstGeom>
          </p:spPr>
        </p:pic>
      </p:grpSp>
      <p:sp>
        <p:nvSpPr>
          <p:cNvPr id="69" name="object 69"/>
          <p:cNvSpPr txBox="1"/>
          <p:nvPr/>
        </p:nvSpPr>
        <p:spPr>
          <a:xfrm>
            <a:off x="6388861" y="3031363"/>
            <a:ext cx="5371465" cy="1910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4665" indent="-456565">
              <a:lnSpc>
                <a:spcPts val="2875"/>
              </a:lnSpc>
              <a:spcBef>
                <a:spcPts val="100"/>
              </a:spcBef>
              <a:buFont typeface="Wingdings"/>
              <a:buChar char=""/>
              <a:tabLst>
                <a:tab pos="4946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BPF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will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allow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only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6F2F9F"/>
                </a:solidFill>
                <a:latin typeface="Cambria Math"/>
                <a:cs typeface="Cambria Math"/>
              </a:rPr>
              <a:t>𝐜𝐨𝐬</a:t>
            </a:r>
            <a:r>
              <a:rPr sz="2400" spc="-14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𝛉</a:t>
            </a:r>
            <a:r>
              <a:rPr sz="2400" spc="-1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component.</a:t>
            </a:r>
            <a:endParaRPr sz="2400">
              <a:latin typeface="Calibri"/>
              <a:cs typeface="Calibri"/>
            </a:endParaRPr>
          </a:p>
          <a:p>
            <a:pPr marL="494665" indent="-456565">
              <a:lnSpc>
                <a:spcPts val="2875"/>
              </a:lnSpc>
              <a:buFont typeface="Wingdings"/>
              <a:buChar char=""/>
              <a:tabLst>
                <a:tab pos="4946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So,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Pure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NBFM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will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be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by:</a:t>
            </a:r>
            <a:endParaRPr sz="2400">
              <a:latin typeface="Calibri"/>
              <a:cs typeface="Calibri"/>
            </a:endParaRPr>
          </a:p>
          <a:p>
            <a:pPr marR="242570" algn="ctr">
              <a:lnSpc>
                <a:spcPts val="1764"/>
              </a:lnSpc>
              <a:spcBef>
                <a:spcPts val="535"/>
              </a:spcBef>
            </a:pPr>
            <a:r>
              <a:rPr sz="1800" spc="-50" dirty="0">
                <a:latin typeface="Cambria Math"/>
                <a:cs typeface="Cambria Math"/>
              </a:rPr>
              <a:t>𝟒</a:t>
            </a:r>
            <a:endParaRPr sz="1800">
              <a:latin typeface="Cambria Math"/>
              <a:cs typeface="Cambria Math"/>
            </a:endParaRPr>
          </a:p>
          <a:p>
            <a:pPr marL="1205230">
              <a:lnSpc>
                <a:spcPts val="1764"/>
              </a:lnSpc>
              <a:tabLst>
                <a:tab pos="2249170" algn="l"/>
              </a:tabLst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4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𝐘</a:t>
            </a:r>
            <a:r>
              <a:rPr sz="1950" baseline="-14957" dirty="0">
                <a:latin typeface="Cambria Math"/>
                <a:cs typeface="Cambria Math"/>
              </a:rPr>
              <a:t>𝐅𝐌</a:t>
            </a:r>
            <a:r>
              <a:rPr sz="1950" spc="644" baseline="-14957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2700" baseline="-37037" dirty="0">
                <a:latin typeface="Cambria Math"/>
                <a:cs typeface="Cambria Math"/>
              </a:rPr>
              <a:t>𝛑</a:t>
            </a:r>
            <a:r>
              <a:rPr sz="2700" spc="142" baseline="-37037" dirty="0">
                <a:latin typeface="Cambria Math"/>
                <a:cs typeface="Cambria Math"/>
              </a:rPr>
              <a:t>  </a:t>
            </a: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-10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𝛉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1800">
              <a:latin typeface="Cambria Math"/>
              <a:cs typeface="Cambria Math"/>
            </a:endParaRPr>
          </a:p>
          <a:p>
            <a:pPr marR="114300" algn="ctr">
              <a:lnSpc>
                <a:spcPct val="100000"/>
              </a:lnSpc>
            </a:pPr>
            <a:r>
              <a:rPr sz="1800" spc="-20" dirty="0">
                <a:solidFill>
                  <a:srgbClr val="FF0000"/>
                </a:solidFill>
                <a:latin typeface="Cambria Math"/>
                <a:cs typeface="Cambria Math"/>
              </a:rPr>
              <a:t>𝐖𝐡𝐞𝐫𝐞,</a:t>
            </a:r>
            <a:r>
              <a:rPr sz="1800" spc="-9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⟹</a:t>
            </a:r>
            <a:r>
              <a:rPr sz="1800" spc="11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𝛉</a:t>
            </a:r>
            <a:r>
              <a:rPr sz="1800" spc="1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2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𝛚</a:t>
            </a:r>
            <a:r>
              <a:rPr sz="1950" baseline="-14957" dirty="0">
                <a:solidFill>
                  <a:srgbClr val="FF0000"/>
                </a:solidFill>
                <a:latin typeface="Cambria Math"/>
                <a:cs typeface="Cambria Math"/>
              </a:rPr>
              <a:t>𝐜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𝐭</a:t>
            </a:r>
            <a:r>
              <a:rPr sz="1800" spc="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+</a:t>
            </a:r>
            <a:r>
              <a:rPr sz="1800" spc="1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𝟐𝛑𝐤</a:t>
            </a:r>
            <a:r>
              <a:rPr sz="1950" baseline="-14957" dirty="0">
                <a:solidFill>
                  <a:srgbClr val="FF0000"/>
                </a:solidFill>
                <a:latin typeface="Cambria Math"/>
                <a:cs typeface="Cambria Math"/>
              </a:rPr>
              <a:t>𝐅</a:t>
            </a:r>
            <a:r>
              <a:rPr sz="1950" spc="135" baseline="-14957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360" dirty="0">
                <a:solidFill>
                  <a:srgbClr val="FF0000"/>
                </a:solidFill>
                <a:latin typeface="Cambria Math"/>
                <a:cs typeface="Cambria Math"/>
              </a:rPr>
              <a:t>න</a:t>
            </a:r>
            <a:r>
              <a:rPr sz="1800" spc="-9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𝐦</a:t>
            </a:r>
            <a:r>
              <a:rPr sz="1800" spc="36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𝐭</a:t>
            </a:r>
            <a:r>
              <a:rPr sz="1800" spc="36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ambria Math"/>
                <a:cs typeface="Cambria Math"/>
              </a:rPr>
              <a:t>𝐝𝐭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xmlns="" id="{31988857-CBB8-4170-AADD-7AC36DA887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800" y="5105400"/>
            <a:ext cx="1299618" cy="649809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xmlns="" id="{B703CBDB-DCAE-4052-BD19-C71312B05A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5592" y="4385148"/>
            <a:ext cx="4783578" cy="10250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xmlns="" id="{74E252A6-2470-4343-9721-CC603317B43D}"/>
                  </a:ext>
                </a:extLst>
              </p:cNvPr>
              <p:cNvSpPr txBox="1"/>
              <p:nvPr/>
            </p:nvSpPr>
            <p:spPr>
              <a:xfrm>
                <a:off x="5317553" y="1445243"/>
                <a:ext cx="6926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𝐘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𝐭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74E252A6-2470-4343-9721-CC603317B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7553" y="1445243"/>
                <a:ext cx="692657" cy="369332"/>
              </a:xfrm>
              <a:prstGeom prst="rect">
                <a:avLst/>
              </a:prstGeom>
              <a:blipFill>
                <a:blip r:embed="rId9"/>
                <a:stretch>
                  <a:fillRect r="-877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Rectangle 73"/>
          <p:cNvSpPr/>
          <p:nvPr/>
        </p:nvSpPr>
        <p:spPr>
          <a:xfrm>
            <a:off x="1066800" y="5239969"/>
            <a:ext cx="512825" cy="4451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1090890" y="5885497"/>
            <a:ext cx="465622" cy="3724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990600" y="5224046"/>
                <a:ext cx="36821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600" b="1" i="0" smtClean="0">
                              <a:latin typeface="Cambria Math"/>
                            </a:rPr>
                            <m:t>𝐕</m:t>
                          </m:r>
                        </m:e>
                        <m:sub>
                          <m:r>
                            <a:rPr lang="en-US" sz="1600" b="1" i="0" smtClean="0">
                              <a:latin typeface="Cambria Math"/>
                            </a:rPr>
                            <m:t>𝟎</m:t>
                          </m:r>
                        </m:sub>
                      </m:sSub>
                      <m:r>
                        <a:rPr lang="en-US" sz="1600" b="1" i="0" smtClean="0">
                          <a:latin typeface="Cambria Math"/>
                        </a:rPr>
                        <m:t>(</m:t>
                      </m:r>
                      <m:r>
                        <a:rPr lang="en-US" sz="1600" b="1" i="0" smtClean="0">
                          <a:latin typeface="Cambria Math"/>
                        </a:rPr>
                        <m:t>𝛉</m:t>
                      </m:r>
                      <m:r>
                        <a:rPr lang="en-US" sz="1600" b="1" i="0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5224046"/>
                <a:ext cx="368219" cy="338554"/>
              </a:xfrm>
              <a:prstGeom prst="rect">
                <a:avLst/>
              </a:prstGeom>
              <a:blipFill rotWithShape="1">
                <a:blip r:embed="rId10"/>
                <a:stretch>
                  <a:fillRect t="-5357" r="-110000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990600" y="5909846"/>
                <a:ext cx="36821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600" b="1" i="0" smtClean="0">
                              <a:latin typeface="Cambria Math"/>
                            </a:rPr>
                            <m:t>𝐕</m:t>
                          </m:r>
                        </m:e>
                        <m:sub>
                          <m:r>
                            <a:rPr lang="en-US" sz="1600" b="1" i="0" smtClean="0">
                              <a:latin typeface="Cambria Math"/>
                            </a:rPr>
                            <m:t>𝟎</m:t>
                          </m:r>
                        </m:sub>
                      </m:sSub>
                      <m:r>
                        <a:rPr lang="en-US" sz="1600" b="1" i="0" smtClean="0">
                          <a:latin typeface="Cambria Math"/>
                        </a:rPr>
                        <m:t>(</m:t>
                      </m:r>
                      <m:r>
                        <a:rPr lang="en-US" sz="1600" b="1" i="0" smtClean="0">
                          <a:latin typeface="Cambria Math"/>
                        </a:rPr>
                        <m:t>𝛉</m:t>
                      </m:r>
                      <m:r>
                        <a:rPr lang="en-US" sz="1600" b="1" i="0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5909846"/>
                <a:ext cx="368219" cy="338554"/>
              </a:xfrm>
              <a:prstGeom prst="rect">
                <a:avLst/>
              </a:prstGeom>
              <a:blipFill rotWithShape="1">
                <a:blip r:embed="rId11"/>
                <a:stretch>
                  <a:fillRect t="-5357" r="-110000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Rectangle 78"/>
          <p:cNvSpPr/>
          <p:nvPr/>
        </p:nvSpPr>
        <p:spPr>
          <a:xfrm>
            <a:off x="5434290" y="1456347"/>
            <a:ext cx="465622" cy="3724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5334000" y="1480696"/>
                <a:ext cx="36821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600" b="1" i="0" smtClean="0">
                              <a:latin typeface="Cambria Math"/>
                            </a:rPr>
                            <m:t>𝐕</m:t>
                          </m:r>
                        </m:e>
                        <m:sub>
                          <m:r>
                            <a:rPr lang="en-US" sz="1600" b="1" i="0" smtClean="0">
                              <a:latin typeface="Cambria Math"/>
                            </a:rPr>
                            <m:t>𝟎</m:t>
                          </m:r>
                        </m:sub>
                      </m:sSub>
                      <m:r>
                        <a:rPr lang="en-US" sz="1600" b="1" i="0" smtClean="0">
                          <a:latin typeface="Cambria Math"/>
                        </a:rPr>
                        <m:t>(</m:t>
                      </m:r>
                      <m:r>
                        <a:rPr lang="en-US" sz="1600" b="1" i="0" smtClean="0">
                          <a:latin typeface="Cambria Math"/>
                        </a:rPr>
                        <m:t>𝛉</m:t>
                      </m:r>
                      <m:r>
                        <a:rPr lang="en-US" sz="1600" b="1" i="0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0" y="1480696"/>
                <a:ext cx="368219" cy="338554"/>
              </a:xfrm>
              <a:prstGeom prst="rect">
                <a:avLst/>
              </a:prstGeom>
              <a:blipFill rotWithShape="1">
                <a:blip r:embed="rId12"/>
                <a:stretch>
                  <a:fillRect t="-5455" r="-110000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89096" y="164972"/>
            <a:ext cx="681355" cy="282575"/>
          </a:xfrm>
          <a:custGeom>
            <a:avLst/>
            <a:gdLst/>
            <a:ahLst/>
            <a:cxnLst/>
            <a:rect l="l" t="t" r="r" b="b"/>
            <a:pathLst>
              <a:path w="681354" h="282575">
                <a:moveTo>
                  <a:pt x="590930" y="0"/>
                </a:moveTo>
                <a:lnTo>
                  <a:pt x="586866" y="11430"/>
                </a:lnTo>
                <a:lnTo>
                  <a:pt x="603230" y="18504"/>
                </a:lnTo>
                <a:lnTo>
                  <a:pt x="617283" y="28305"/>
                </a:lnTo>
                <a:lnTo>
                  <a:pt x="645816" y="73852"/>
                </a:lnTo>
                <a:lnTo>
                  <a:pt x="654106" y="115339"/>
                </a:lnTo>
                <a:lnTo>
                  <a:pt x="654147" y="115623"/>
                </a:lnTo>
                <a:lnTo>
                  <a:pt x="654145" y="164633"/>
                </a:lnTo>
                <a:lnTo>
                  <a:pt x="645763" y="207547"/>
                </a:lnTo>
                <a:lnTo>
                  <a:pt x="617283" y="253793"/>
                </a:lnTo>
                <a:lnTo>
                  <a:pt x="587374" y="270891"/>
                </a:lnTo>
                <a:lnTo>
                  <a:pt x="590930" y="282321"/>
                </a:lnTo>
                <a:lnTo>
                  <a:pt x="629427" y="264239"/>
                </a:lnTo>
                <a:lnTo>
                  <a:pt x="657732" y="232918"/>
                </a:lnTo>
                <a:lnTo>
                  <a:pt x="675163" y="191071"/>
                </a:lnTo>
                <a:lnTo>
                  <a:pt x="680973" y="141224"/>
                </a:lnTo>
                <a:lnTo>
                  <a:pt x="679535" y="115623"/>
                </a:lnTo>
                <a:lnTo>
                  <a:pt x="667847" y="69429"/>
                </a:lnTo>
                <a:lnTo>
                  <a:pt x="644723" y="32093"/>
                </a:lnTo>
                <a:lnTo>
                  <a:pt x="611385" y="7379"/>
                </a:lnTo>
                <a:lnTo>
                  <a:pt x="590930" y="0"/>
                </a:lnTo>
                <a:close/>
              </a:path>
              <a:path w="681354" h="282575">
                <a:moveTo>
                  <a:pt x="90042" y="0"/>
                </a:moveTo>
                <a:lnTo>
                  <a:pt x="51546" y="18081"/>
                </a:lnTo>
                <a:lnTo>
                  <a:pt x="23240" y="49403"/>
                </a:lnTo>
                <a:lnTo>
                  <a:pt x="5810" y="91408"/>
                </a:lnTo>
                <a:lnTo>
                  <a:pt x="85" y="139700"/>
                </a:lnTo>
                <a:lnTo>
                  <a:pt x="0" y="141224"/>
                </a:lnTo>
                <a:lnTo>
                  <a:pt x="5794" y="191071"/>
                </a:lnTo>
                <a:lnTo>
                  <a:pt x="23113" y="232918"/>
                </a:lnTo>
                <a:lnTo>
                  <a:pt x="51482" y="264239"/>
                </a:lnTo>
                <a:lnTo>
                  <a:pt x="90042" y="282321"/>
                </a:lnTo>
                <a:lnTo>
                  <a:pt x="93598" y="270891"/>
                </a:lnTo>
                <a:lnTo>
                  <a:pt x="77475" y="263717"/>
                </a:lnTo>
                <a:lnTo>
                  <a:pt x="63579" y="253793"/>
                </a:lnTo>
                <a:lnTo>
                  <a:pt x="35083" y="207547"/>
                </a:lnTo>
                <a:lnTo>
                  <a:pt x="26701" y="164633"/>
                </a:lnTo>
                <a:lnTo>
                  <a:pt x="25653" y="139700"/>
                </a:lnTo>
                <a:lnTo>
                  <a:pt x="26701" y="115623"/>
                </a:lnTo>
                <a:lnTo>
                  <a:pt x="35083" y="73852"/>
                </a:lnTo>
                <a:lnTo>
                  <a:pt x="63674" y="28305"/>
                </a:lnTo>
                <a:lnTo>
                  <a:pt x="93979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2905" y="67182"/>
            <a:ext cx="4112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Example</a:t>
            </a:r>
            <a:r>
              <a:rPr sz="24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400" b="1" spc="-55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.</a:t>
            </a:r>
            <a:r>
              <a:rPr sz="24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𝐜𝐨𝐬</a:t>
            </a:r>
            <a:r>
              <a:rPr sz="2400" spc="37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𝛚</a:t>
            </a:r>
            <a:r>
              <a:rPr sz="2625" spc="-37" baseline="-15873" dirty="0">
                <a:latin typeface="Cambria Math"/>
                <a:cs typeface="Cambria Math"/>
              </a:rPr>
              <a:t>𝐜</a:t>
            </a:r>
            <a:r>
              <a:rPr sz="2400" spc="-25" dirty="0">
                <a:latin typeface="Cambria Math"/>
                <a:cs typeface="Cambria Math"/>
              </a:rPr>
              <a:t>𝐭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84596" y="164972"/>
            <a:ext cx="1991995" cy="282575"/>
          </a:xfrm>
          <a:custGeom>
            <a:avLst/>
            <a:gdLst/>
            <a:ahLst/>
            <a:cxnLst/>
            <a:rect l="l" t="t" r="r" b="b"/>
            <a:pathLst>
              <a:path w="1991995" h="282575">
                <a:moveTo>
                  <a:pt x="93980" y="11430"/>
                </a:moveTo>
                <a:lnTo>
                  <a:pt x="90043" y="0"/>
                </a:lnTo>
                <a:lnTo>
                  <a:pt x="69507" y="7391"/>
                </a:lnTo>
                <a:lnTo>
                  <a:pt x="51536" y="18084"/>
                </a:lnTo>
                <a:lnTo>
                  <a:pt x="23241" y="49403"/>
                </a:lnTo>
                <a:lnTo>
                  <a:pt x="5803" y="91414"/>
                </a:lnTo>
                <a:lnTo>
                  <a:pt x="76" y="139700"/>
                </a:lnTo>
                <a:lnTo>
                  <a:pt x="0" y="141224"/>
                </a:lnTo>
                <a:lnTo>
                  <a:pt x="1447" y="167170"/>
                </a:lnTo>
                <a:lnTo>
                  <a:pt x="13017" y="212991"/>
                </a:lnTo>
                <a:lnTo>
                  <a:pt x="36017" y="250228"/>
                </a:lnTo>
                <a:lnTo>
                  <a:pt x="69494" y="274942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470" y="263728"/>
                </a:lnTo>
                <a:lnTo>
                  <a:pt x="63576" y="253796"/>
                </a:lnTo>
                <a:lnTo>
                  <a:pt x="35077" y="207556"/>
                </a:lnTo>
                <a:lnTo>
                  <a:pt x="26695" y="164642"/>
                </a:lnTo>
                <a:lnTo>
                  <a:pt x="25654" y="139700"/>
                </a:lnTo>
                <a:lnTo>
                  <a:pt x="26695" y="115633"/>
                </a:lnTo>
                <a:lnTo>
                  <a:pt x="35077" y="73863"/>
                </a:lnTo>
                <a:lnTo>
                  <a:pt x="63665" y="28308"/>
                </a:lnTo>
                <a:lnTo>
                  <a:pt x="77685" y="18516"/>
                </a:lnTo>
                <a:lnTo>
                  <a:pt x="93980" y="11430"/>
                </a:lnTo>
                <a:close/>
              </a:path>
              <a:path w="1991995" h="282575">
                <a:moveTo>
                  <a:pt x="773938" y="141224"/>
                </a:moveTo>
                <a:lnTo>
                  <a:pt x="772490" y="115633"/>
                </a:lnTo>
                <a:lnTo>
                  <a:pt x="772477" y="115341"/>
                </a:lnTo>
                <a:lnTo>
                  <a:pt x="768108" y="91414"/>
                </a:lnTo>
                <a:lnTo>
                  <a:pt x="750570" y="49403"/>
                </a:lnTo>
                <a:lnTo>
                  <a:pt x="722274" y="18084"/>
                </a:lnTo>
                <a:lnTo>
                  <a:pt x="683895" y="0"/>
                </a:lnTo>
                <a:lnTo>
                  <a:pt x="679831" y="11430"/>
                </a:lnTo>
                <a:lnTo>
                  <a:pt x="696188" y="18516"/>
                </a:lnTo>
                <a:lnTo>
                  <a:pt x="710247" y="28308"/>
                </a:lnTo>
                <a:lnTo>
                  <a:pt x="738771" y="73863"/>
                </a:lnTo>
                <a:lnTo>
                  <a:pt x="747064" y="115341"/>
                </a:lnTo>
                <a:lnTo>
                  <a:pt x="748157" y="139700"/>
                </a:lnTo>
                <a:lnTo>
                  <a:pt x="747102" y="164642"/>
                </a:lnTo>
                <a:lnTo>
                  <a:pt x="738720" y="207556"/>
                </a:lnTo>
                <a:lnTo>
                  <a:pt x="710247" y="253796"/>
                </a:lnTo>
                <a:lnTo>
                  <a:pt x="680339" y="270891"/>
                </a:lnTo>
                <a:lnTo>
                  <a:pt x="683895" y="282321"/>
                </a:lnTo>
                <a:lnTo>
                  <a:pt x="722388" y="264248"/>
                </a:lnTo>
                <a:lnTo>
                  <a:pt x="750697" y="232918"/>
                </a:lnTo>
                <a:lnTo>
                  <a:pt x="768121" y="191071"/>
                </a:lnTo>
                <a:lnTo>
                  <a:pt x="772477" y="167170"/>
                </a:lnTo>
                <a:lnTo>
                  <a:pt x="773938" y="141224"/>
                </a:lnTo>
                <a:close/>
              </a:path>
              <a:path w="1991995" h="282575">
                <a:moveTo>
                  <a:pt x="1404620" y="11430"/>
                </a:moveTo>
                <a:lnTo>
                  <a:pt x="1400683" y="0"/>
                </a:lnTo>
                <a:lnTo>
                  <a:pt x="1380147" y="7391"/>
                </a:lnTo>
                <a:lnTo>
                  <a:pt x="1362176" y="18084"/>
                </a:lnTo>
                <a:lnTo>
                  <a:pt x="1333881" y="49403"/>
                </a:lnTo>
                <a:lnTo>
                  <a:pt x="1316443" y="91414"/>
                </a:lnTo>
                <a:lnTo>
                  <a:pt x="1310716" y="139700"/>
                </a:lnTo>
                <a:lnTo>
                  <a:pt x="1310640" y="141224"/>
                </a:lnTo>
                <a:lnTo>
                  <a:pt x="1312087" y="167170"/>
                </a:lnTo>
                <a:lnTo>
                  <a:pt x="1323657" y="212991"/>
                </a:lnTo>
                <a:lnTo>
                  <a:pt x="1346657" y="250228"/>
                </a:lnTo>
                <a:lnTo>
                  <a:pt x="1380134" y="274942"/>
                </a:lnTo>
                <a:lnTo>
                  <a:pt x="1400683" y="282321"/>
                </a:lnTo>
                <a:lnTo>
                  <a:pt x="1404239" y="270891"/>
                </a:lnTo>
                <a:lnTo>
                  <a:pt x="1388110" y="263728"/>
                </a:lnTo>
                <a:lnTo>
                  <a:pt x="1374216" y="253796"/>
                </a:lnTo>
                <a:lnTo>
                  <a:pt x="1345717" y="207556"/>
                </a:lnTo>
                <a:lnTo>
                  <a:pt x="1337335" y="164642"/>
                </a:lnTo>
                <a:lnTo>
                  <a:pt x="1336294" y="139700"/>
                </a:lnTo>
                <a:lnTo>
                  <a:pt x="1337335" y="115633"/>
                </a:lnTo>
                <a:lnTo>
                  <a:pt x="1345717" y="73863"/>
                </a:lnTo>
                <a:lnTo>
                  <a:pt x="1374305" y="28308"/>
                </a:lnTo>
                <a:lnTo>
                  <a:pt x="1388325" y="18516"/>
                </a:lnTo>
                <a:lnTo>
                  <a:pt x="1404620" y="11430"/>
                </a:lnTo>
                <a:close/>
              </a:path>
              <a:path w="1991995" h="282575">
                <a:moveTo>
                  <a:pt x="1991614" y="141224"/>
                </a:moveTo>
                <a:lnTo>
                  <a:pt x="1990166" y="115633"/>
                </a:lnTo>
                <a:lnTo>
                  <a:pt x="1990153" y="115341"/>
                </a:lnTo>
                <a:lnTo>
                  <a:pt x="1985784" y="91414"/>
                </a:lnTo>
                <a:lnTo>
                  <a:pt x="1968246" y="49403"/>
                </a:lnTo>
                <a:lnTo>
                  <a:pt x="1939950" y="18084"/>
                </a:lnTo>
                <a:lnTo>
                  <a:pt x="1901571" y="0"/>
                </a:lnTo>
                <a:lnTo>
                  <a:pt x="1897507" y="11430"/>
                </a:lnTo>
                <a:lnTo>
                  <a:pt x="1913864" y="18516"/>
                </a:lnTo>
                <a:lnTo>
                  <a:pt x="1927923" y="28308"/>
                </a:lnTo>
                <a:lnTo>
                  <a:pt x="1956447" y="73863"/>
                </a:lnTo>
                <a:lnTo>
                  <a:pt x="1964740" y="115341"/>
                </a:lnTo>
                <a:lnTo>
                  <a:pt x="1965833" y="139700"/>
                </a:lnTo>
                <a:lnTo>
                  <a:pt x="1964778" y="164642"/>
                </a:lnTo>
                <a:lnTo>
                  <a:pt x="1956396" y="207556"/>
                </a:lnTo>
                <a:lnTo>
                  <a:pt x="1927923" y="253796"/>
                </a:lnTo>
                <a:lnTo>
                  <a:pt x="1898015" y="270891"/>
                </a:lnTo>
                <a:lnTo>
                  <a:pt x="1901571" y="282321"/>
                </a:lnTo>
                <a:lnTo>
                  <a:pt x="1940064" y="264248"/>
                </a:lnTo>
                <a:lnTo>
                  <a:pt x="1968373" y="232918"/>
                </a:lnTo>
                <a:lnTo>
                  <a:pt x="1985797" y="191071"/>
                </a:lnTo>
                <a:lnTo>
                  <a:pt x="1990153" y="167170"/>
                </a:lnTo>
                <a:lnTo>
                  <a:pt x="1991614" y="141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413630" y="74803"/>
            <a:ext cx="52209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471295" algn="l"/>
                <a:tab pos="2222500" algn="l"/>
                <a:tab pos="3456940" algn="l"/>
              </a:tabLst>
            </a:pPr>
            <a:r>
              <a:rPr b="0" dirty="0">
                <a:solidFill>
                  <a:srgbClr val="000000"/>
                </a:solidFill>
                <a:latin typeface="Cambria Math"/>
                <a:cs typeface="Cambria Math"/>
              </a:rPr>
              <a:t>+</a:t>
            </a:r>
            <a:r>
              <a:rPr b="0" spc="-10" dirty="0">
                <a:solidFill>
                  <a:srgbClr val="000000"/>
                </a:solidFill>
                <a:latin typeface="Cambria Math"/>
                <a:cs typeface="Cambria Math"/>
              </a:rPr>
              <a:t> 𝟎.</a:t>
            </a:r>
            <a:r>
              <a:rPr b="0" spc="-130" dirty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b="0" spc="-20" dirty="0">
                <a:solidFill>
                  <a:srgbClr val="000000"/>
                </a:solidFill>
                <a:latin typeface="Cambria Math"/>
                <a:cs typeface="Cambria Math"/>
              </a:rPr>
              <a:t>𝟓</a:t>
            </a:r>
            <a:r>
              <a:rPr b="0" spc="-125" dirty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b="0" spc="-25" dirty="0">
                <a:solidFill>
                  <a:srgbClr val="000000"/>
                </a:solidFill>
                <a:latin typeface="Cambria Math"/>
                <a:cs typeface="Cambria Math"/>
              </a:rPr>
              <a:t>𝐜𝐨𝐬</a:t>
            </a:r>
            <a:r>
              <a:rPr b="0" dirty="0">
                <a:solidFill>
                  <a:srgbClr val="000000"/>
                </a:solidFill>
                <a:latin typeface="Cambria Math"/>
                <a:cs typeface="Cambria Math"/>
              </a:rPr>
              <a:t>	</a:t>
            </a:r>
            <a:r>
              <a:rPr b="0" spc="-25" dirty="0">
                <a:solidFill>
                  <a:srgbClr val="000000"/>
                </a:solidFill>
                <a:latin typeface="Cambria Math"/>
                <a:cs typeface="Cambria Math"/>
              </a:rPr>
              <a:t>𝛚</a:t>
            </a:r>
            <a:r>
              <a:rPr sz="2625" b="0" spc="-37" baseline="-15873" dirty="0">
                <a:solidFill>
                  <a:srgbClr val="000000"/>
                </a:solidFill>
                <a:latin typeface="Cambria Math"/>
                <a:cs typeface="Cambria Math"/>
              </a:rPr>
              <a:t>𝐦</a:t>
            </a:r>
            <a:r>
              <a:rPr sz="2400" b="0" spc="-25" dirty="0">
                <a:solidFill>
                  <a:srgbClr val="000000"/>
                </a:solidFill>
                <a:latin typeface="Cambria Math"/>
                <a:cs typeface="Cambria Math"/>
              </a:rPr>
              <a:t>𝐭</a:t>
            </a:r>
            <a:r>
              <a:rPr sz="2400" b="0" dirty="0">
                <a:solidFill>
                  <a:srgbClr val="000000"/>
                </a:solidFill>
                <a:latin typeface="Cambria Math"/>
                <a:cs typeface="Cambria Math"/>
              </a:rPr>
              <a:t>	𝐬𝐢𝐧</a:t>
            </a:r>
            <a:r>
              <a:rPr sz="2400" b="0" spc="425" dirty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sz="2400" b="0" spc="-25" dirty="0">
                <a:solidFill>
                  <a:srgbClr val="000000"/>
                </a:solidFill>
                <a:latin typeface="Cambria Math"/>
                <a:cs typeface="Cambria Math"/>
              </a:rPr>
              <a:t>𝛚</a:t>
            </a:r>
            <a:r>
              <a:rPr sz="2625" b="0" spc="-37" baseline="-15873" dirty="0">
                <a:solidFill>
                  <a:srgbClr val="000000"/>
                </a:solidFill>
                <a:latin typeface="Cambria Math"/>
                <a:cs typeface="Cambria Math"/>
              </a:rPr>
              <a:t>𝐜</a:t>
            </a:r>
            <a:r>
              <a:rPr sz="2400" b="0" spc="-25" dirty="0">
                <a:solidFill>
                  <a:srgbClr val="000000"/>
                </a:solidFill>
                <a:latin typeface="Cambria Math"/>
                <a:cs typeface="Cambria Math"/>
              </a:rPr>
              <a:t>𝐭</a:t>
            </a:r>
            <a:r>
              <a:rPr sz="2400" b="0" dirty="0">
                <a:solidFill>
                  <a:srgbClr val="000000"/>
                </a:solidFill>
                <a:latin typeface="Cambria Math"/>
                <a:cs typeface="Cambria Math"/>
              </a:rPr>
              <a:t>	</a:t>
            </a:r>
            <a:r>
              <a:rPr sz="2400" dirty="0"/>
              <a:t>is</a:t>
            </a:r>
            <a:r>
              <a:rPr sz="2400" spc="-25" dirty="0"/>
              <a:t> </a:t>
            </a:r>
            <a:r>
              <a:rPr sz="2400" spc="-10" dirty="0"/>
              <a:t>………………..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1995" y="438734"/>
            <a:ext cx="294132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AutoNum type="alphaUcPeriod"/>
              <a:tabLst>
                <a:tab pos="469900" algn="l"/>
              </a:tabLst>
            </a:pP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FM</a:t>
            </a:r>
            <a:r>
              <a:rPr sz="2400" b="1" spc="-1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7E5F00"/>
                </a:solidFill>
                <a:latin typeface="Calibri"/>
                <a:cs typeface="Calibri"/>
              </a:rPr>
              <a:t>only</a:t>
            </a:r>
            <a:endParaRPr sz="24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AutoNum type="alphaUcPeriod"/>
              <a:tabLst>
                <a:tab pos="469900" algn="l"/>
              </a:tabLst>
            </a:pP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AM</a:t>
            </a:r>
            <a:r>
              <a:rPr sz="2400" b="1" spc="-1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7E5F00"/>
                </a:solidFill>
                <a:latin typeface="Calibri"/>
                <a:cs typeface="Calibri"/>
              </a:rPr>
              <a:t>only</a:t>
            </a:r>
            <a:endParaRPr sz="24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AutoNum type="alphaUcPeriod"/>
              <a:tabLst>
                <a:tab pos="469900" algn="l"/>
              </a:tabLst>
            </a:pP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Both</a:t>
            </a:r>
            <a:r>
              <a:rPr sz="2400" b="1" spc="-3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AM</a:t>
            </a:r>
            <a:r>
              <a:rPr sz="2400" b="1" spc="-4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and</a:t>
            </a:r>
            <a:r>
              <a:rPr sz="2400" b="1" spc="-3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7E5F00"/>
                </a:solidFill>
                <a:latin typeface="Calibri"/>
                <a:cs typeface="Calibri"/>
              </a:rPr>
              <a:t>FM</a:t>
            </a:r>
            <a:endParaRPr sz="24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AutoNum type="alphaUcPeriod"/>
              <a:tabLst>
                <a:tab pos="469900" algn="l"/>
              </a:tabLst>
            </a:pP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Neither</a:t>
            </a:r>
            <a:r>
              <a:rPr sz="2400" b="1" spc="-3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AM</a:t>
            </a:r>
            <a:r>
              <a:rPr sz="2400" b="1" spc="-3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nor</a:t>
            </a:r>
            <a:r>
              <a:rPr sz="2400" b="1" spc="-4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7E5F00"/>
                </a:solidFill>
                <a:latin typeface="Calibri"/>
                <a:cs typeface="Calibri"/>
              </a:rPr>
              <a:t>FM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 rotWithShape="1">
          <a:blip r:embed="rId2" cstate="print"/>
          <a:srcRect t="6795"/>
          <a:stretch/>
        </p:blipFill>
        <p:spPr>
          <a:xfrm>
            <a:off x="0" y="465962"/>
            <a:ext cx="12192000" cy="639203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2729" y="-8432"/>
            <a:ext cx="11289665" cy="1633220"/>
          </a:xfrm>
          <a:prstGeom prst="rect">
            <a:avLst/>
          </a:prstGeom>
        </p:spPr>
        <p:txBody>
          <a:bodyPr vert="horz" wrap="square" lIns="0" tIns="296545" rIns="0" bIns="0" rtlCol="0">
            <a:spAutoFit/>
          </a:bodyPr>
          <a:lstStyle/>
          <a:p>
            <a:pPr marL="4205605" marR="5080" indent="-4193540">
              <a:lnSpc>
                <a:spcPct val="70000"/>
              </a:lnSpc>
              <a:spcBef>
                <a:spcPts val="2335"/>
              </a:spcBef>
            </a:pPr>
            <a:r>
              <a:rPr sz="6200" spc="-25" dirty="0">
                <a:solidFill>
                  <a:srgbClr val="006600"/>
                </a:solidFill>
                <a:latin typeface="Trebuchet MS"/>
                <a:cs typeface="Trebuchet MS"/>
              </a:rPr>
              <a:t>Narrow</a:t>
            </a:r>
            <a:r>
              <a:rPr sz="6200" spc="-380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6200" spc="105" dirty="0">
                <a:solidFill>
                  <a:srgbClr val="006600"/>
                </a:solidFill>
                <a:latin typeface="Trebuchet MS"/>
                <a:cs typeface="Trebuchet MS"/>
              </a:rPr>
              <a:t>Band</a:t>
            </a:r>
            <a:r>
              <a:rPr sz="6200" spc="-355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6200" spc="-65" dirty="0">
                <a:solidFill>
                  <a:srgbClr val="006600"/>
                </a:solidFill>
                <a:latin typeface="Trebuchet MS"/>
                <a:cs typeface="Trebuchet MS"/>
              </a:rPr>
              <a:t>Phase</a:t>
            </a:r>
            <a:r>
              <a:rPr sz="6200" spc="-355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6200" spc="-10" dirty="0">
                <a:solidFill>
                  <a:srgbClr val="006600"/>
                </a:solidFill>
                <a:latin typeface="Trebuchet MS"/>
                <a:cs typeface="Trebuchet MS"/>
              </a:rPr>
              <a:t>Modulation </a:t>
            </a:r>
            <a:r>
              <a:rPr sz="6200" spc="295" dirty="0">
                <a:solidFill>
                  <a:srgbClr val="006600"/>
                </a:solidFill>
                <a:latin typeface="Trebuchet MS"/>
                <a:cs typeface="Trebuchet MS"/>
              </a:rPr>
              <a:t>(NBPM)</a:t>
            </a:r>
            <a:endParaRPr sz="6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4142" y="1391701"/>
            <a:ext cx="5591810" cy="211645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3200" b="1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Outlines</a:t>
            </a:r>
            <a:endParaRPr sz="32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spcBef>
                <a:spcPts val="470"/>
              </a:spcBef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Basics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NBPM</a:t>
            </a:r>
            <a:endParaRPr sz="24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Equation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NBPM</a:t>
            </a:r>
            <a:endParaRPr sz="24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NBPM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Generation</a:t>
            </a:r>
            <a:endParaRPr sz="24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Resolution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Issue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NBPM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Generation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4739" y="620648"/>
            <a:ext cx="117513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900" algn="l"/>
                <a:tab pos="1419225" algn="l"/>
                <a:tab pos="1764664" algn="l"/>
                <a:tab pos="2519680" algn="l"/>
                <a:tab pos="2935605" algn="l"/>
                <a:tab pos="4135120" algn="l"/>
                <a:tab pos="5478145" algn="l"/>
                <a:tab pos="6837045" algn="l"/>
                <a:tab pos="8044815" algn="l"/>
                <a:tab pos="9685020" algn="l"/>
                <a:tab pos="10126980" algn="l"/>
                <a:tab pos="10474325" algn="l"/>
                <a:tab pos="11475720" algn="l"/>
              </a:tabLst>
            </a:pP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NBPM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used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improve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spectrum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efficiency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{Narrow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Bandwidth}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{It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similar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to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NBFM}.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4739" y="1351864"/>
            <a:ext cx="58000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Modulation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Index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NBPM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less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than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1.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431276" y="2541016"/>
            <a:ext cx="315595" cy="282575"/>
          </a:xfrm>
          <a:custGeom>
            <a:avLst/>
            <a:gdLst/>
            <a:ahLst/>
            <a:cxnLst/>
            <a:rect l="l" t="t" r="r" b="b"/>
            <a:pathLst>
              <a:path w="315595" h="282575">
                <a:moveTo>
                  <a:pt x="225171" y="0"/>
                </a:moveTo>
                <a:lnTo>
                  <a:pt x="221107" y="11430"/>
                </a:lnTo>
                <a:lnTo>
                  <a:pt x="237470" y="18504"/>
                </a:lnTo>
                <a:lnTo>
                  <a:pt x="251523" y="28305"/>
                </a:lnTo>
                <a:lnTo>
                  <a:pt x="280056" y="73798"/>
                </a:lnTo>
                <a:lnTo>
                  <a:pt x="288349" y="115339"/>
                </a:lnTo>
                <a:lnTo>
                  <a:pt x="289433" y="139700"/>
                </a:lnTo>
                <a:lnTo>
                  <a:pt x="288385" y="164580"/>
                </a:lnTo>
                <a:lnTo>
                  <a:pt x="280003" y="207529"/>
                </a:lnTo>
                <a:lnTo>
                  <a:pt x="251523" y="253730"/>
                </a:lnTo>
                <a:lnTo>
                  <a:pt x="221615" y="270764"/>
                </a:lnTo>
                <a:lnTo>
                  <a:pt x="225171" y="282321"/>
                </a:lnTo>
                <a:lnTo>
                  <a:pt x="263667" y="264191"/>
                </a:lnTo>
                <a:lnTo>
                  <a:pt x="291973" y="232918"/>
                </a:lnTo>
                <a:lnTo>
                  <a:pt x="309403" y="191023"/>
                </a:lnTo>
                <a:lnTo>
                  <a:pt x="315214" y="141224"/>
                </a:lnTo>
                <a:lnTo>
                  <a:pt x="313774" y="115605"/>
                </a:lnTo>
                <a:lnTo>
                  <a:pt x="302087" y="69429"/>
                </a:lnTo>
                <a:lnTo>
                  <a:pt x="278963" y="32093"/>
                </a:lnTo>
                <a:lnTo>
                  <a:pt x="245625" y="7379"/>
                </a:lnTo>
                <a:lnTo>
                  <a:pt x="225171" y="0"/>
                </a:lnTo>
                <a:close/>
              </a:path>
              <a:path w="315595" h="282575">
                <a:moveTo>
                  <a:pt x="90043" y="0"/>
                </a:moveTo>
                <a:lnTo>
                  <a:pt x="51593" y="18081"/>
                </a:lnTo>
                <a:lnTo>
                  <a:pt x="23241" y="49403"/>
                </a:lnTo>
                <a:lnTo>
                  <a:pt x="5810" y="91408"/>
                </a:lnTo>
                <a:lnTo>
                  <a:pt x="85" y="139700"/>
                </a:lnTo>
                <a:lnTo>
                  <a:pt x="0" y="141224"/>
                </a:lnTo>
                <a:lnTo>
                  <a:pt x="5794" y="191023"/>
                </a:lnTo>
                <a:lnTo>
                  <a:pt x="23114" y="232918"/>
                </a:lnTo>
                <a:lnTo>
                  <a:pt x="51482" y="264191"/>
                </a:lnTo>
                <a:lnTo>
                  <a:pt x="90043" y="282321"/>
                </a:lnTo>
                <a:lnTo>
                  <a:pt x="93599" y="270764"/>
                </a:lnTo>
                <a:lnTo>
                  <a:pt x="77475" y="263646"/>
                </a:lnTo>
                <a:lnTo>
                  <a:pt x="63579" y="253730"/>
                </a:lnTo>
                <a:lnTo>
                  <a:pt x="35083" y="207529"/>
                </a:lnTo>
                <a:lnTo>
                  <a:pt x="26701" y="164580"/>
                </a:lnTo>
                <a:lnTo>
                  <a:pt x="25718" y="141224"/>
                </a:lnTo>
                <a:lnTo>
                  <a:pt x="25654" y="139700"/>
                </a:lnTo>
                <a:lnTo>
                  <a:pt x="29845" y="93630"/>
                </a:lnTo>
                <a:lnTo>
                  <a:pt x="42418" y="56134"/>
                </a:lnTo>
                <a:lnTo>
                  <a:pt x="77690" y="18504"/>
                </a:lnTo>
                <a:lnTo>
                  <a:pt x="93980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029952" y="2541016"/>
            <a:ext cx="681355" cy="282575"/>
          </a:xfrm>
          <a:custGeom>
            <a:avLst/>
            <a:gdLst/>
            <a:ahLst/>
            <a:cxnLst/>
            <a:rect l="l" t="t" r="r" b="b"/>
            <a:pathLst>
              <a:path w="681354" h="282575">
                <a:moveTo>
                  <a:pt x="590930" y="0"/>
                </a:moveTo>
                <a:lnTo>
                  <a:pt x="586866" y="11430"/>
                </a:lnTo>
                <a:lnTo>
                  <a:pt x="603230" y="18504"/>
                </a:lnTo>
                <a:lnTo>
                  <a:pt x="617283" y="28305"/>
                </a:lnTo>
                <a:lnTo>
                  <a:pt x="645816" y="73798"/>
                </a:lnTo>
                <a:lnTo>
                  <a:pt x="654109" y="115339"/>
                </a:lnTo>
                <a:lnTo>
                  <a:pt x="654147" y="115605"/>
                </a:lnTo>
                <a:lnTo>
                  <a:pt x="654145" y="164580"/>
                </a:lnTo>
                <a:lnTo>
                  <a:pt x="645763" y="207529"/>
                </a:lnTo>
                <a:lnTo>
                  <a:pt x="617283" y="253730"/>
                </a:lnTo>
                <a:lnTo>
                  <a:pt x="587374" y="270764"/>
                </a:lnTo>
                <a:lnTo>
                  <a:pt x="590930" y="282321"/>
                </a:lnTo>
                <a:lnTo>
                  <a:pt x="629427" y="264191"/>
                </a:lnTo>
                <a:lnTo>
                  <a:pt x="657732" y="232918"/>
                </a:lnTo>
                <a:lnTo>
                  <a:pt x="675163" y="191023"/>
                </a:lnTo>
                <a:lnTo>
                  <a:pt x="680973" y="141224"/>
                </a:lnTo>
                <a:lnTo>
                  <a:pt x="679534" y="115605"/>
                </a:lnTo>
                <a:lnTo>
                  <a:pt x="667847" y="69429"/>
                </a:lnTo>
                <a:lnTo>
                  <a:pt x="644723" y="32093"/>
                </a:lnTo>
                <a:lnTo>
                  <a:pt x="611385" y="7379"/>
                </a:lnTo>
                <a:lnTo>
                  <a:pt x="590930" y="0"/>
                </a:lnTo>
                <a:close/>
              </a:path>
              <a:path w="681354" h="282575">
                <a:moveTo>
                  <a:pt x="90042" y="0"/>
                </a:moveTo>
                <a:lnTo>
                  <a:pt x="51593" y="18081"/>
                </a:lnTo>
                <a:lnTo>
                  <a:pt x="23240" y="49403"/>
                </a:lnTo>
                <a:lnTo>
                  <a:pt x="5810" y="91408"/>
                </a:lnTo>
                <a:lnTo>
                  <a:pt x="85" y="139700"/>
                </a:lnTo>
                <a:lnTo>
                  <a:pt x="0" y="141224"/>
                </a:lnTo>
                <a:lnTo>
                  <a:pt x="5794" y="191023"/>
                </a:lnTo>
                <a:lnTo>
                  <a:pt x="23113" y="232918"/>
                </a:lnTo>
                <a:lnTo>
                  <a:pt x="51482" y="264191"/>
                </a:lnTo>
                <a:lnTo>
                  <a:pt x="90042" y="282321"/>
                </a:lnTo>
                <a:lnTo>
                  <a:pt x="93598" y="270764"/>
                </a:lnTo>
                <a:lnTo>
                  <a:pt x="77475" y="263646"/>
                </a:lnTo>
                <a:lnTo>
                  <a:pt x="63579" y="253730"/>
                </a:lnTo>
                <a:lnTo>
                  <a:pt x="35083" y="207529"/>
                </a:lnTo>
                <a:lnTo>
                  <a:pt x="26701" y="164580"/>
                </a:lnTo>
                <a:lnTo>
                  <a:pt x="25653" y="139700"/>
                </a:lnTo>
                <a:lnTo>
                  <a:pt x="26701" y="115605"/>
                </a:lnTo>
                <a:lnTo>
                  <a:pt x="35083" y="73798"/>
                </a:lnTo>
                <a:lnTo>
                  <a:pt x="63674" y="28305"/>
                </a:lnTo>
                <a:lnTo>
                  <a:pt x="93979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892408" y="2451353"/>
            <a:ext cx="1085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9605" algn="l"/>
              </a:tabLst>
            </a:pP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63391" y="2906776"/>
            <a:ext cx="315595" cy="282575"/>
          </a:xfrm>
          <a:custGeom>
            <a:avLst/>
            <a:gdLst/>
            <a:ahLst/>
            <a:cxnLst/>
            <a:rect l="l" t="t" r="r" b="b"/>
            <a:pathLst>
              <a:path w="315595" h="282575">
                <a:moveTo>
                  <a:pt x="225171" y="0"/>
                </a:moveTo>
                <a:lnTo>
                  <a:pt x="221107" y="11430"/>
                </a:lnTo>
                <a:lnTo>
                  <a:pt x="237470" y="18504"/>
                </a:lnTo>
                <a:lnTo>
                  <a:pt x="251523" y="28305"/>
                </a:lnTo>
                <a:lnTo>
                  <a:pt x="280056" y="73798"/>
                </a:lnTo>
                <a:lnTo>
                  <a:pt x="288349" y="115339"/>
                </a:lnTo>
                <a:lnTo>
                  <a:pt x="289433" y="139700"/>
                </a:lnTo>
                <a:lnTo>
                  <a:pt x="288385" y="164580"/>
                </a:lnTo>
                <a:lnTo>
                  <a:pt x="280003" y="207529"/>
                </a:lnTo>
                <a:lnTo>
                  <a:pt x="251523" y="253730"/>
                </a:lnTo>
                <a:lnTo>
                  <a:pt x="221615" y="270764"/>
                </a:lnTo>
                <a:lnTo>
                  <a:pt x="225171" y="282321"/>
                </a:lnTo>
                <a:lnTo>
                  <a:pt x="263667" y="264191"/>
                </a:lnTo>
                <a:lnTo>
                  <a:pt x="291973" y="232918"/>
                </a:lnTo>
                <a:lnTo>
                  <a:pt x="309403" y="191023"/>
                </a:lnTo>
                <a:lnTo>
                  <a:pt x="315214" y="141224"/>
                </a:lnTo>
                <a:lnTo>
                  <a:pt x="313774" y="115605"/>
                </a:lnTo>
                <a:lnTo>
                  <a:pt x="302087" y="69429"/>
                </a:lnTo>
                <a:lnTo>
                  <a:pt x="278963" y="32093"/>
                </a:lnTo>
                <a:lnTo>
                  <a:pt x="245625" y="7379"/>
                </a:lnTo>
                <a:lnTo>
                  <a:pt x="225171" y="0"/>
                </a:lnTo>
                <a:close/>
              </a:path>
              <a:path w="315595" h="282575">
                <a:moveTo>
                  <a:pt x="90043" y="0"/>
                </a:moveTo>
                <a:lnTo>
                  <a:pt x="51593" y="18081"/>
                </a:lnTo>
                <a:lnTo>
                  <a:pt x="23241" y="49403"/>
                </a:lnTo>
                <a:lnTo>
                  <a:pt x="5810" y="91408"/>
                </a:lnTo>
                <a:lnTo>
                  <a:pt x="85" y="139700"/>
                </a:lnTo>
                <a:lnTo>
                  <a:pt x="0" y="141224"/>
                </a:lnTo>
                <a:lnTo>
                  <a:pt x="5794" y="191023"/>
                </a:lnTo>
                <a:lnTo>
                  <a:pt x="23114" y="232918"/>
                </a:lnTo>
                <a:lnTo>
                  <a:pt x="51482" y="264191"/>
                </a:lnTo>
                <a:lnTo>
                  <a:pt x="90043" y="282321"/>
                </a:lnTo>
                <a:lnTo>
                  <a:pt x="93599" y="270764"/>
                </a:lnTo>
                <a:lnTo>
                  <a:pt x="77475" y="263646"/>
                </a:lnTo>
                <a:lnTo>
                  <a:pt x="63579" y="253730"/>
                </a:lnTo>
                <a:lnTo>
                  <a:pt x="35083" y="207529"/>
                </a:lnTo>
                <a:lnTo>
                  <a:pt x="26701" y="164580"/>
                </a:lnTo>
                <a:lnTo>
                  <a:pt x="25718" y="141224"/>
                </a:lnTo>
                <a:lnTo>
                  <a:pt x="25654" y="139700"/>
                </a:lnTo>
                <a:lnTo>
                  <a:pt x="29845" y="93630"/>
                </a:lnTo>
                <a:lnTo>
                  <a:pt x="42418" y="56134"/>
                </a:lnTo>
                <a:lnTo>
                  <a:pt x="77690" y="18504"/>
                </a:lnTo>
                <a:lnTo>
                  <a:pt x="93980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33696" y="2906776"/>
            <a:ext cx="774065" cy="282575"/>
          </a:xfrm>
          <a:custGeom>
            <a:avLst/>
            <a:gdLst/>
            <a:ahLst/>
            <a:cxnLst/>
            <a:rect l="l" t="t" r="r" b="b"/>
            <a:pathLst>
              <a:path w="774064" h="282575">
                <a:moveTo>
                  <a:pt x="683895" y="0"/>
                </a:moveTo>
                <a:lnTo>
                  <a:pt x="679831" y="11430"/>
                </a:lnTo>
                <a:lnTo>
                  <a:pt x="696194" y="18504"/>
                </a:lnTo>
                <a:lnTo>
                  <a:pt x="710247" y="28305"/>
                </a:lnTo>
                <a:lnTo>
                  <a:pt x="738780" y="73798"/>
                </a:lnTo>
                <a:lnTo>
                  <a:pt x="747073" y="115339"/>
                </a:lnTo>
                <a:lnTo>
                  <a:pt x="747111" y="115605"/>
                </a:lnTo>
                <a:lnTo>
                  <a:pt x="747109" y="164580"/>
                </a:lnTo>
                <a:lnTo>
                  <a:pt x="738727" y="207529"/>
                </a:lnTo>
                <a:lnTo>
                  <a:pt x="710247" y="253730"/>
                </a:lnTo>
                <a:lnTo>
                  <a:pt x="680339" y="270764"/>
                </a:lnTo>
                <a:lnTo>
                  <a:pt x="683895" y="282321"/>
                </a:lnTo>
                <a:lnTo>
                  <a:pt x="722391" y="264191"/>
                </a:lnTo>
                <a:lnTo>
                  <a:pt x="750697" y="232918"/>
                </a:lnTo>
                <a:lnTo>
                  <a:pt x="768127" y="191023"/>
                </a:lnTo>
                <a:lnTo>
                  <a:pt x="773938" y="141224"/>
                </a:lnTo>
                <a:lnTo>
                  <a:pt x="772498" y="115605"/>
                </a:lnTo>
                <a:lnTo>
                  <a:pt x="760811" y="69429"/>
                </a:lnTo>
                <a:lnTo>
                  <a:pt x="737687" y="32093"/>
                </a:lnTo>
                <a:lnTo>
                  <a:pt x="704349" y="7379"/>
                </a:lnTo>
                <a:lnTo>
                  <a:pt x="683895" y="0"/>
                </a:lnTo>
                <a:close/>
              </a:path>
              <a:path w="774064" h="282575">
                <a:moveTo>
                  <a:pt x="90043" y="0"/>
                </a:moveTo>
                <a:lnTo>
                  <a:pt x="51593" y="18081"/>
                </a:lnTo>
                <a:lnTo>
                  <a:pt x="23241" y="49403"/>
                </a:lnTo>
                <a:lnTo>
                  <a:pt x="5810" y="91408"/>
                </a:lnTo>
                <a:lnTo>
                  <a:pt x="85" y="139700"/>
                </a:lnTo>
                <a:lnTo>
                  <a:pt x="0" y="141224"/>
                </a:lnTo>
                <a:lnTo>
                  <a:pt x="5794" y="191023"/>
                </a:lnTo>
                <a:lnTo>
                  <a:pt x="23114" y="232918"/>
                </a:lnTo>
                <a:lnTo>
                  <a:pt x="51482" y="264191"/>
                </a:lnTo>
                <a:lnTo>
                  <a:pt x="90043" y="282321"/>
                </a:lnTo>
                <a:lnTo>
                  <a:pt x="93599" y="270764"/>
                </a:lnTo>
                <a:lnTo>
                  <a:pt x="77475" y="263646"/>
                </a:lnTo>
                <a:lnTo>
                  <a:pt x="63579" y="253730"/>
                </a:lnTo>
                <a:lnTo>
                  <a:pt x="35083" y="207529"/>
                </a:lnTo>
                <a:lnTo>
                  <a:pt x="26701" y="164580"/>
                </a:lnTo>
                <a:lnTo>
                  <a:pt x="25654" y="139700"/>
                </a:lnTo>
                <a:lnTo>
                  <a:pt x="26701" y="115605"/>
                </a:lnTo>
                <a:lnTo>
                  <a:pt x="35083" y="73798"/>
                </a:lnTo>
                <a:lnTo>
                  <a:pt x="63674" y="28305"/>
                </a:lnTo>
                <a:lnTo>
                  <a:pt x="93980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86639" y="2451353"/>
            <a:ext cx="1047686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73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507365" algn="l"/>
                <a:tab pos="1793875" algn="l"/>
                <a:tab pos="2216150" algn="l"/>
                <a:tab pos="3127375" algn="l"/>
                <a:tab pos="4775200" algn="l"/>
                <a:tab pos="5219065" algn="l"/>
                <a:tab pos="5800725" algn="l"/>
                <a:tab pos="6791325" algn="l"/>
                <a:tab pos="7682230" algn="l"/>
                <a:tab pos="8038465" algn="l"/>
                <a:tab pos="8345170" algn="l"/>
                <a:tab pos="8672830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Equation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Phase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Modulation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{If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carrier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spc="-50" dirty="0">
                <a:solidFill>
                  <a:srgbClr val="6F2F9F"/>
                </a:solidFill>
                <a:latin typeface="Cambria Math"/>
                <a:cs typeface="Cambria Math"/>
              </a:rPr>
              <a:t>𝐂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solidFill>
                  <a:srgbClr val="6F2F9F"/>
                </a:solidFill>
                <a:latin typeface="Cambria Math"/>
                <a:cs typeface="Cambria Math"/>
              </a:rPr>
              <a:t>𝐭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	=</a:t>
            </a:r>
            <a:r>
              <a:rPr sz="2400" spc="6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spc="-30" dirty="0">
                <a:solidFill>
                  <a:srgbClr val="6F2F9F"/>
                </a:solidFill>
                <a:latin typeface="Cambria Math"/>
                <a:cs typeface="Cambria Math"/>
              </a:rPr>
              <a:t>𝐕</a:t>
            </a:r>
            <a:r>
              <a:rPr sz="2625" spc="-44" baseline="-15873" dirty="0">
                <a:solidFill>
                  <a:srgbClr val="6F2F9F"/>
                </a:solidFill>
                <a:latin typeface="Cambria Math"/>
                <a:cs typeface="Cambria Math"/>
              </a:rPr>
              <a:t>𝐂</a:t>
            </a:r>
            <a:r>
              <a:rPr sz="2625" spc="112" baseline="-15873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𝐜𝐨𝐬</a:t>
            </a:r>
            <a:r>
              <a:rPr sz="2400" spc="36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spc="-25" dirty="0">
                <a:solidFill>
                  <a:srgbClr val="6F2F9F"/>
                </a:solidFill>
                <a:latin typeface="Cambria Math"/>
                <a:cs typeface="Cambria Math"/>
              </a:rPr>
              <a:t>𝛚</a:t>
            </a:r>
            <a:r>
              <a:rPr sz="2625" spc="-37" baseline="-15873" dirty="0">
                <a:solidFill>
                  <a:srgbClr val="6F2F9F"/>
                </a:solidFill>
                <a:latin typeface="Cambria Math"/>
                <a:cs typeface="Cambria Math"/>
              </a:rPr>
              <a:t>𝐜</a:t>
            </a:r>
            <a:r>
              <a:rPr sz="2400" spc="-25" dirty="0">
                <a:solidFill>
                  <a:srgbClr val="6F2F9F"/>
                </a:solidFill>
                <a:latin typeface="Cambria Math"/>
                <a:cs typeface="Cambria Math"/>
              </a:rPr>
              <a:t>𝐭</a:t>
            </a:r>
            <a:endParaRPr sz="2400">
              <a:latin typeface="Cambria Math"/>
              <a:cs typeface="Cambria Math"/>
            </a:endParaRPr>
          </a:p>
          <a:p>
            <a:pPr marL="508000">
              <a:lnSpc>
                <a:spcPct val="100000"/>
              </a:lnSpc>
              <a:tabLst>
                <a:tab pos="3176270" algn="l"/>
                <a:tab pos="350266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Message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6F2F9F"/>
                </a:solidFill>
                <a:latin typeface="Cambria Math"/>
                <a:cs typeface="Cambria Math"/>
              </a:rPr>
              <a:t>𝐦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	</a:t>
            </a:r>
            <a:r>
              <a:rPr sz="2400" spc="-50" dirty="0">
                <a:solidFill>
                  <a:srgbClr val="6F2F9F"/>
                </a:solidFill>
                <a:latin typeface="Cambria Math"/>
                <a:cs typeface="Cambria Math"/>
              </a:rPr>
              <a:t>𝐭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	=</a:t>
            </a:r>
            <a:r>
              <a:rPr sz="2400" spc="11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spc="-40" dirty="0">
                <a:solidFill>
                  <a:srgbClr val="6F2F9F"/>
                </a:solidFill>
                <a:latin typeface="Cambria Math"/>
                <a:cs typeface="Cambria Math"/>
              </a:rPr>
              <a:t>𝐕</a:t>
            </a:r>
            <a:r>
              <a:rPr sz="2625" spc="-60" baseline="-15873" dirty="0">
                <a:solidFill>
                  <a:srgbClr val="6F2F9F"/>
                </a:solidFill>
                <a:latin typeface="Cambria Math"/>
                <a:cs typeface="Cambria Math"/>
              </a:rPr>
              <a:t>𝐦</a:t>
            </a:r>
            <a:r>
              <a:rPr sz="2625" spc="142" baseline="-15873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𝐜𝐨𝐬</a:t>
            </a:r>
            <a:r>
              <a:rPr sz="2400" spc="42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𝛚</a:t>
            </a:r>
            <a:r>
              <a:rPr sz="2625" baseline="-15873" dirty="0">
                <a:solidFill>
                  <a:srgbClr val="6F2F9F"/>
                </a:solidFill>
                <a:latin typeface="Cambria Math"/>
                <a:cs typeface="Cambria Math"/>
              </a:rPr>
              <a:t>𝐦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𝐭</a:t>
            </a:r>
            <a:r>
              <a:rPr sz="2400" spc="41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}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by: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936107" y="4775326"/>
            <a:ext cx="1606550" cy="230504"/>
          </a:xfrm>
          <a:custGeom>
            <a:avLst/>
            <a:gdLst/>
            <a:ahLst/>
            <a:cxnLst/>
            <a:rect l="l" t="t" r="r" b="b"/>
            <a:pathLst>
              <a:path w="1606550" h="230504">
                <a:moveTo>
                  <a:pt x="76581" y="9271"/>
                </a:moveTo>
                <a:lnTo>
                  <a:pt x="73279" y="0"/>
                </a:lnTo>
                <a:lnTo>
                  <a:pt x="56654" y="6032"/>
                </a:lnTo>
                <a:lnTo>
                  <a:pt x="42049" y="14757"/>
                </a:lnTo>
                <a:lnTo>
                  <a:pt x="10604" y="56578"/>
                </a:lnTo>
                <a:lnTo>
                  <a:pt x="1168" y="93967"/>
                </a:lnTo>
                <a:lnTo>
                  <a:pt x="0" y="115062"/>
                </a:lnTo>
                <a:lnTo>
                  <a:pt x="1054" y="134162"/>
                </a:lnTo>
                <a:lnTo>
                  <a:pt x="1168" y="136245"/>
                </a:lnTo>
                <a:lnTo>
                  <a:pt x="10604" y="173634"/>
                </a:lnTo>
                <a:lnTo>
                  <a:pt x="41948" y="215379"/>
                </a:lnTo>
                <a:lnTo>
                  <a:pt x="73279" y="230124"/>
                </a:lnTo>
                <a:lnTo>
                  <a:pt x="76200" y="220726"/>
                </a:lnTo>
                <a:lnTo>
                  <a:pt x="63093" y="214922"/>
                </a:lnTo>
                <a:lnTo>
                  <a:pt x="51790" y="206844"/>
                </a:lnTo>
                <a:lnTo>
                  <a:pt x="28613" y="169164"/>
                </a:lnTo>
                <a:lnTo>
                  <a:pt x="20993" y="115062"/>
                </a:lnTo>
                <a:lnTo>
                  <a:pt x="20955" y="113919"/>
                </a:lnTo>
                <a:lnTo>
                  <a:pt x="21805" y="94246"/>
                </a:lnTo>
                <a:lnTo>
                  <a:pt x="34544" y="45720"/>
                </a:lnTo>
                <a:lnTo>
                  <a:pt x="63309" y="15062"/>
                </a:lnTo>
                <a:lnTo>
                  <a:pt x="76581" y="9271"/>
                </a:lnTo>
                <a:close/>
              </a:path>
              <a:path w="1606550" h="230504">
                <a:moveTo>
                  <a:pt x="949833" y="9271"/>
                </a:moveTo>
                <a:lnTo>
                  <a:pt x="946531" y="0"/>
                </a:lnTo>
                <a:lnTo>
                  <a:pt x="929906" y="6032"/>
                </a:lnTo>
                <a:lnTo>
                  <a:pt x="915301" y="14757"/>
                </a:lnTo>
                <a:lnTo>
                  <a:pt x="883856" y="56578"/>
                </a:lnTo>
                <a:lnTo>
                  <a:pt x="874420" y="93967"/>
                </a:lnTo>
                <a:lnTo>
                  <a:pt x="873252" y="115062"/>
                </a:lnTo>
                <a:lnTo>
                  <a:pt x="874306" y="134162"/>
                </a:lnTo>
                <a:lnTo>
                  <a:pt x="874420" y="136245"/>
                </a:lnTo>
                <a:lnTo>
                  <a:pt x="883856" y="173634"/>
                </a:lnTo>
                <a:lnTo>
                  <a:pt x="915200" y="215379"/>
                </a:lnTo>
                <a:lnTo>
                  <a:pt x="946531" y="230124"/>
                </a:lnTo>
                <a:lnTo>
                  <a:pt x="949452" y="220726"/>
                </a:lnTo>
                <a:lnTo>
                  <a:pt x="936345" y="214922"/>
                </a:lnTo>
                <a:lnTo>
                  <a:pt x="925042" y="206844"/>
                </a:lnTo>
                <a:lnTo>
                  <a:pt x="901865" y="169164"/>
                </a:lnTo>
                <a:lnTo>
                  <a:pt x="894245" y="115062"/>
                </a:lnTo>
                <a:lnTo>
                  <a:pt x="894207" y="113919"/>
                </a:lnTo>
                <a:lnTo>
                  <a:pt x="895057" y="94246"/>
                </a:lnTo>
                <a:lnTo>
                  <a:pt x="907796" y="45720"/>
                </a:lnTo>
                <a:lnTo>
                  <a:pt x="936561" y="15062"/>
                </a:lnTo>
                <a:lnTo>
                  <a:pt x="949833" y="9271"/>
                </a:lnTo>
                <a:close/>
              </a:path>
              <a:path w="1606550" h="230504">
                <a:moveTo>
                  <a:pt x="1502664" y="115062"/>
                </a:moveTo>
                <a:lnTo>
                  <a:pt x="1501482" y="94246"/>
                </a:lnTo>
                <a:lnTo>
                  <a:pt x="1501470" y="93967"/>
                </a:lnTo>
                <a:lnTo>
                  <a:pt x="1497901" y="74472"/>
                </a:lnTo>
                <a:lnTo>
                  <a:pt x="1473073" y="26174"/>
                </a:lnTo>
                <a:lnTo>
                  <a:pt x="1429258" y="0"/>
                </a:lnTo>
                <a:lnTo>
                  <a:pt x="1425956" y="9271"/>
                </a:lnTo>
                <a:lnTo>
                  <a:pt x="1439291" y="15062"/>
                </a:lnTo>
                <a:lnTo>
                  <a:pt x="1450733" y="23075"/>
                </a:lnTo>
                <a:lnTo>
                  <a:pt x="1473962" y="60185"/>
                </a:lnTo>
                <a:lnTo>
                  <a:pt x="1480693" y="93967"/>
                </a:lnTo>
                <a:lnTo>
                  <a:pt x="1480743" y="94246"/>
                </a:lnTo>
                <a:lnTo>
                  <a:pt x="1481582" y="113919"/>
                </a:lnTo>
                <a:lnTo>
                  <a:pt x="1480743" y="134162"/>
                </a:lnTo>
                <a:lnTo>
                  <a:pt x="1478216" y="152577"/>
                </a:lnTo>
                <a:lnTo>
                  <a:pt x="1460246" y="196494"/>
                </a:lnTo>
                <a:lnTo>
                  <a:pt x="1426337" y="220726"/>
                </a:lnTo>
                <a:lnTo>
                  <a:pt x="1429258" y="230124"/>
                </a:lnTo>
                <a:lnTo>
                  <a:pt x="1473187" y="203962"/>
                </a:lnTo>
                <a:lnTo>
                  <a:pt x="1497914" y="155752"/>
                </a:lnTo>
                <a:lnTo>
                  <a:pt x="1501470" y="136245"/>
                </a:lnTo>
                <a:lnTo>
                  <a:pt x="1502664" y="115062"/>
                </a:lnTo>
                <a:close/>
              </a:path>
              <a:path w="1606550" h="230504">
                <a:moveTo>
                  <a:pt x="1606296" y="115062"/>
                </a:moveTo>
                <a:lnTo>
                  <a:pt x="1605114" y="94246"/>
                </a:lnTo>
                <a:lnTo>
                  <a:pt x="1605102" y="93967"/>
                </a:lnTo>
                <a:lnTo>
                  <a:pt x="1601533" y="74472"/>
                </a:lnTo>
                <a:lnTo>
                  <a:pt x="1576768" y="26174"/>
                </a:lnTo>
                <a:lnTo>
                  <a:pt x="1532890" y="0"/>
                </a:lnTo>
                <a:lnTo>
                  <a:pt x="1529588" y="9271"/>
                </a:lnTo>
                <a:lnTo>
                  <a:pt x="1542923" y="15062"/>
                </a:lnTo>
                <a:lnTo>
                  <a:pt x="1554365" y="23075"/>
                </a:lnTo>
                <a:lnTo>
                  <a:pt x="1577594" y="60185"/>
                </a:lnTo>
                <a:lnTo>
                  <a:pt x="1584325" y="93967"/>
                </a:lnTo>
                <a:lnTo>
                  <a:pt x="1584375" y="94246"/>
                </a:lnTo>
                <a:lnTo>
                  <a:pt x="1585214" y="113919"/>
                </a:lnTo>
                <a:lnTo>
                  <a:pt x="1584375" y="134162"/>
                </a:lnTo>
                <a:lnTo>
                  <a:pt x="1581848" y="152577"/>
                </a:lnTo>
                <a:lnTo>
                  <a:pt x="1563878" y="196494"/>
                </a:lnTo>
                <a:lnTo>
                  <a:pt x="1529969" y="220726"/>
                </a:lnTo>
                <a:lnTo>
                  <a:pt x="1532890" y="230124"/>
                </a:lnTo>
                <a:lnTo>
                  <a:pt x="1576819" y="203962"/>
                </a:lnTo>
                <a:lnTo>
                  <a:pt x="1601546" y="155752"/>
                </a:lnTo>
                <a:lnTo>
                  <a:pt x="1605102" y="136245"/>
                </a:lnTo>
                <a:lnTo>
                  <a:pt x="1606296" y="115062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525383" y="4775326"/>
            <a:ext cx="1605280" cy="230504"/>
          </a:xfrm>
          <a:custGeom>
            <a:avLst/>
            <a:gdLst/>
            <a:ahLst/>
            <a:cxnLst/>
            <a:rect l="l" t="t" r="r" b="b"/>
            <a:pathLst>
              <a:path w="1605279" h="230504">
                <a:moveTo>
                  <a:pt x="76581" y="9271"/>
                </a:moveTo>
                <a:lnTo>
                  <a:pt x="73279" y="0"/>
                </a:lnTo>
                <a:lnTo>
                  <a:pt x="56654" y="6032"/>
                </a:lnTo>
                <a:lnTo>
                  <a:pt x="42049" y="14757"/>
                </a:lnTo>
                <a:lnTo>
                  <a:pt x="10604" y="56578"/>
                </a:lnTo>
                <a:lnTo>
                  <a:pt x="1168" y="93967"/>
                </a:lnTo>
                <a:lnTo>
                  <a:pt x="0" y="115062"/>
                </a:lnTo>
                <a:lnTo>
                  <a:pt x="1054" y="134162"/>
                </a:lnTo>
                <a:lnTo>
                  <a:pt x="1168" y="136245"/>
                </a:lnTo>
                <a:lnTo>
                  <a:pt x="10604" y="173634"/>
                </a:lnTo>
                <a:lnTo>
                  <a:pt x="41948" y="215379"/>
                </a:lnTo>
                <a:lnTo>
                  <a:pt x="73279" y="230124"/>
                </a:lnTo>
                <a:lnTo>
                  <a:pt x="76200" y="220726"/>
                </a:lnTo>
                <a:lnTo>
                  <a:pt x="63093" y="214922"/>
                </a:lnTo>
                <a:lnTo>
                  <a:pt x="51790" y="206844"/>
                </a:lnTo>
                <a:lnTo>
                  <a:pt x="28613" y="169164"/>
                </a:lnTo>
                <a:lnTo>
                  <a:pt x="20993" y="115062"/>
                </a:lnTo>
                <a:lnTo>
                  <a:pt x="20955" y="113919"/>
                </a:lnTo>
                <a:lnTo>
                  <a:pt x="21805" y="94246"/>
                </a:lnTo>
                <a:lnTo>
                  <a:pt x="34544" y="45720"/>
                </a:lnTo>
                <a:lnTo>
                  <a:pt x="63309" y="15062"/>
                </a:lnTo>
                <a:lnTo>
                  <a:pt x="76581" y="9271"/>
                </a:lnTo>
                <a:close/>
              </a:path>
              <a:path w="1605279" h="230504">
                <a:moveTo>
                  <a:pt x="949833" y="9271"/>
                </a:moveTo>
                <a:lnTo>
                  <a:pt x="946531" y="0"/>
                </a:lnTo>
                <a:lnTo>
                  <a:pt x="929906" y="6032"/>
                </a:lnTo>
                <a:lnTo>
                  <a:pt x="915301" y="14757"/>
                </a:lnTo>
                <a:lnTo>
                  <a:pt x="883856" y="56578"/>
                </a:lnTo>
                <a:lnTo>
                  <a:pt x="874420" y="93967"/>
                </a:lnTo>
                <a:lnTo>
                  <a:pt x="873252" y="115062"/>
                </a:lnTo>
                <a:lnTo>
                  <a:pt x="874306" y="134162"/>
                </a:lnTo>
                <a:lnTo>
                  <a:pt x="874420" y="136245"/>
                </a:lnTo>
                <a:lnTo>
                  <a:pt x="883856" y="173634"/>
                </a:lnTo>
                <a:lnTo>
                  <a:pt x="915200" y="215379"/>
                </a:lnTo>
                <a:lnTo>
                  <a:pt x="946531" y="230124"/>
                </a:lnTo>
                <a:lnTo>
                  <a:pt x="949452" y="220726"/>
                </a:lnTo>
                <a:lnTo>
                  <a:pt x="936345" y="214922"/>
                </a:lnTo>
                <a:lnTo>
                  <a:pt x="925042" y="206844"/>
                </a:lnTo>
                <a:lnTo>
                  <a:pt x="901865" y="169164"/>
                </a:lnTo>
                <a:lnTo>
                  <a:pt x="894245" y="115062"/>
                </a:lnTo>
                <a:lnTo>
                  <a:pt x="894207" y="113919"/>
                </a:lnTo>
                <a:lnTo>
                  <a:pt x="895057" y="94246"/>
                </a:lnTo>
                <a:lnTo>
                  <a:pt x="907796" y="45720"/>
                </a:lnTo>
                <a:lnTo>
                  <a:pt x="936561" y="15062"/>
                </a:lnTo>
                <a:lnTo>
                  <a:pt x="949833" y="9271"/>
                </a:lnTo>
                <a:close/>
              </a:path>
              <a:path w="1605279" h="230504">
                <a:moveTo>
                  <a:pt x="1502664" y="115062"/>
                </a:moveTo>
                <a:lnTo>
                  <a:pt x="1501482" y="94246"/>
                </a:lnTo>
                <a:lnTo>
                  <a:pt x="1501470" y="93967"/>
                </a:lnTo>
                <a:lnTo>
                  <a:pt x="1497901" y="74472"/>
                </a:lnTo>
                <a:lnTo>
                  <a:pt x="1473073" y="26174"/>
                </a:lnTo>
                <a:lnTo>
                  <a:pt x="1429258" y="0"/>
                </a:lnTo>
                <a:lnTo>
                  <a:pt x="1425956" y="9271"/>
                </a:lnTo>
                <a:lnTo>
                  <a:pt x="1439291" y="15062"/>
                </a:lnTo>
                <a:lnTo>
                  <a:pt x="1450733" y="23075"/>
                </a:lnTo>
                <a:lnTo>
                  <a:pt x="1473962" y="60185"/>
                </a:lnTo>
                <a:lnTo>
                  <a:pt x="1480693" y="93967"/>
                </a:lnTo>
                <a:lnTo>
                  <a:pt x="1480743" y="94246"/>
                </a:lnTo>
                <a:lnTo>
                  <a:pt x="1481582" y="113919"/>
                </a:lnTo>
                <a:lnTo>
                  <a:pt x="1480743" y="134162"/>
                </a:lnTo>
                <a:lnTo>
                  <a:pt x="1478216" y="152577"/>
                </a:lnTo>
                <a:lnTo>
                  <a:pt x="1460246" y="196494"/>
                </a:lnTo>
                <a:lnTo>
                  <a:pt x="1426337" y="220726"/>
                </a:lnTo>
                <a:lnTo>
                  <a:pt x="1429258" y="230124"/>
                </a:lnTo>
                <a:lnTo>
                  <a:pt x="1473187" y="203962"/>
                </a:lnTo>
                <a:lnTo>
                  <a:pt x="1497914" y="155752"/>
                </a:lnTo>
                <a:lnTo>
                  <a:pt x="1501470" y="136245"/>
                </a:lnTo>
                <a:lnTo>
                  <a:pt x="1502664" y="115062"/>
                </a:lnTo>
                <a:close/>
              </a:path>
              <a:path w="1605279" h="230504">
                <a:moveTo>
                  <a:pt x="1604772" y="115062"/>
                </a:moveTo>
                <a:lnTo>
                  <a:pt x="1603590" y="94246"/>
                </a:lnTo>
                <a:lnTo>
                  <a:pt x="1603578" y="93967"/>
                </a:lnTo>
                <a:lnTo>
                  <a:pt x="1600009" y="74472"/>
                </a:lnTo>
                <a:lnTo>
                  <a:pt x="1575244" y="26174"/>
                </a:lnTo>
                <a:lnTo>
                  <a:pt x="1531366" y="0"/>
                </a:lnTo>
                <a:lnTo>
                  <a:pt x="1528064" y="9271"/>
                </a:lnTo>
                <a:lnTo>
                  <a:pt x="1541399" y="15062"/>
                </a:lnTo>
                <a:lnTo>
                  <a:pt x="1552841" y="23075"/>
                </a:lnTo>
                <a:lnTo>
                  <a:pt x="1576070" y="60185"/>
                </a:lnTo>
                <a:lnTo>
                  <a:pt x="1582801" y="93967"/>
                </a:lnTo>
                <a:lnTo>
                  <a:pt x="1582851" y="94246"/>
                </a:lnTo>
                <a:lnTo>
                  <a:pt x="1583690" y="113919"/>
                </a:lnTo>
                <a:lnTo>
                  <a:pt x="1582851" y="134162"/>
                </a:lnTo>
                <a:lnTo>
                  <a:pt x="1580324" y="152577"/>
                </a:lnTo>
                <a:lnTo>
                  <a:pt x="1562354" y="196494"/>
                </a:lnTo>
                <a:lnTo>
                  <a:pt x="1528445" y="220726"/>
                </a:lnTo>
                <a:lnTo>
                  <a:pt x="1531366" y="230124"/>
                </a:lnTo>
                <a:lnTo>
                  <a:pt x="1575295" y="203962"/>
                </a:lnTo>
                <a:lnTo>
                  <a:pt x="1600022" y="155752"/>
                </a:lnTo>
                <a:lnTo>
                  <a:pt x="1603578" y="136245"/>
                </a:lnTo>
                <a:lnTo>
                  <a:pt x="1604772" y="115062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593203" y="4701285"/>
            <a:ext cx="239458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950" dirty="0">
                <a:solidFill>
                  <a:srgbClr val="6F2F9F"/>
                </a:solidFill>
                <a:latin typeface="Cambria Math"/>
                <a:cs typeface="Cambria Math"/>
              </a:rPr>
              <a:t>=</a:t>
            </a:r>
            <a:r>
              <a:rPr sz="1950" spc="10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1950" dirty="0">
                <a:solidFill>
                  <a:srgbClr val="6F2F9F"/>
                </a:solidFill>
                <a:latin typeface="Cambria Math"/>
                <a:cs typeface="Cambria Math"/>
              </a:rPr>
              <a:t>𝟏</a:t>
            </a:r>
            <a:r>
              <a:rPr sz="195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195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srgbClr val="6F2F9F"/>
                </a:solidFill>
                <a:latin typeface="Cambria Math"/>
                <a:cs typeface="Cambria Math"/>
              </a:rPr>
              <a:t>𝐬𝐢𝐧</a:t>
            </a:r>
            <a:r>
              <a:rPr sz="1950" spc="36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1950" dirty="0">
                <a:solidFill>
                  <a:srgbClr val="6F2F9F"/>
                </a:solidFill>
                <a:latin typeface="Cambria Math"/>
                <a:cs typeface="Cambria Math"/>
              </a:rPr>
              <a:t>𝐦</a:t>
            </a:r>
            <a:r>
              <a:rPr sz="2100" baseline="-15873" dirty="0">
                <a:solidFill>
                  <a:srgbClr val="6F2F9F"/>
                </a:solidFill>
                <a:latin typeface="Cambria Math"/>
                <a:cs typeface="Cambria Math"/>
              </a:rPr>
              <a:t>𝐏</a:t>
            </a:r>
            <a:r>
              <a:rPr sz="2100" spc="135" baseline="-15873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1950" dirty="0">
                <a:solidFill>
                  <a:srgbClr val="6F2F9F"/>
                </a:solidFill>
                <a:latin typeface="Cambria Math"/>
                <a:cs typeface="Cambria Math"/>
              </a:rPr>
              <a:t>𝐜𝐨𝐬</a:t>
            </a:r>
            <a:r>
              <a:rPr sz="1950" spc="35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1950" spc="-25" dirty="0">
                <a:solidFill>
                  <a:srgbClr val="6F2F9F"/>
                </a:solidFill>
                <a:latin typeface="Cambria Math"/>
                <a:cs typeface="Cambria Math"/>
              </a:rPr>
              <a:t>𝛚</a:t>
            </a:r>
            <a:r>
              <a:rPr sz="2100" spc="-37" baseline="-15873" dirty="0">
                <a:solidFill>
                  <a:srgbClr val="6F2F9F"/>
                </a:solidFill>
                <a:latin typeface="Cambria Math"/>
                <a:cs typeface="Cambria Math"/>
              </a:rPr>
              <a:t>𝐦</a:t>
            </a:r>
            <a:r>
              <a:rPr sz="1950" spc="-25" dirty="0">
                <a:solidFill>
                  <a:srgbClr val="6F2F9F"/>
                </a:solidFill>
                <a:latin typeface="Cambria Math"/>
                <a:cs typeface="Cambria Math"/>
              </a:rPr>
              <a:t>𝐭</a:t>
            </a:r>
            <a:endParaRPr sz="195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267058" y="4775327"/>
            <a:ext cx="629920" cy="230504"/>
          </a:xfrm>
          <a:custGeom>
            <a:avLst/>
            <a:gdLst/>
            <a:ahLst/>
            <a:cxnLst/>
            <a:rect l="l" t="t" r="r" b="b"/>
            <a:pathLst>
              <a:path w="629920" h="230504">
                <a:moveTo>
                  <a:pt x="556005" y="0"/>
                </a:moveTo>
                <a:lnTo>
                  <a:pt x="552703" y="9271"/>
                </a:lnTo>
                <a:lnTo>
                  <a:pt x="566040" y="15055"/>
                </a:lnTo>
                <a:lnTo>
                  <a:pt x="577484" y="23066"/>
                </a:lnTo>
                <a:lnTo>
                  <a:pt x="600721" y="60180"/>
                </a:lnTo>
                <a:lnTo>
                  <a:pt x="607452" y="93962"/>
                </a:lnTo>
                <a:lnTo>
                  <a:pt x="607492" y="94243"/>
                </a:lnTo>
                <a:lnTo>
                  <a:pt x="608329" y="113919"/>
                </a:lnTo>
                <a:lnTo>
                  <a:pt x="607492" y="134157"/>
                </a:lnTo>
                <a:lnTo>
                  <a:pt x="604964" y="152574"/>
                </a:lnTo>
                <a:lnTo>
                  <a:pt x="586999" y="196490"/>
                </a:lnTo>
                <a:lnTo>
                  <a:pt x="553084" y="220726"/>
                </a:lnTo>
                <a:lnTo>
                  <a:pt x="556005" y="230124"/>
                </a:lnTo>
                <a:lnTo>
                  <a:pt x="599940" y="203960"/>
                </a:lnTo>
                <a:lnTo>
                  <a:pt x="624665" y="155749"/>
                </a:lnTo>
                <a:lnTo>
                  <a:pt x="629411" y="115062"/>
                </a:lnTo>
                <a:lnTo>
                  <a:pt x="628237" y="94243"/>
                </a:lnTo>
                <a:lnTo>
                  <a:pt x="628221" y="93962"/>
                </a:lnTo>
                <a:lnTo>
                  <a:pt x="618696" y="56572"/>
                </a:lnTo>
                <a:lnTo>
                  <a:pt x="587279" y="14747"/>
                </a:lnTo>
                <a:lnTo>
                  <a:pt x="572678" y="6022"/>
                </a:lnTo>
                <a:lnTo>
                  <a:pt x="556005" y="0"/>
                </a:lnTo>
                <a:close/>
              </a:path>
              <a:path w="629920" h="230504">
                <a:moveTo>
                  <a:pt x="73278" y="0"/>
                </a:moveTo>
                <a:lnTo>
                  <a:pt x="29469" y="26163"/>
                </a:lnTo>
                <a:lnTo>
                  <a:pt x="4698" y="74469"/>
                </a:lnTo>
                <a:lnTo>
                  <a:pt x="63" y="113919"/>
                </a:lnTo>
                <a:lnTo>
                  <a:pt x="0" y="115062"/>
                </a:lnTo>
                <a:lnTo>
                  <a:pt x="1055" y="134157"/>
                </a:lnTo>
                <a:lnTo>
                  <a:pt x="10608" y="173622"/>
                </a:lnTo>
                <a:lnTo>
                  <a:pt x="41957" y="215376"/>
                </a:lnTo>
                <a:lnTo>
                  <a:pt x="73278" y="230124"/>
                </a:lnTo>
                <a:lnTo>
                  <a:pt x="76199" y="220726"/>
                </a:lnTo>
                <a:lnTo>
                  <a:pt x="63101" y="214917"/>
                </a:lnTo>
                <a:lnTo>
                  <a:pt x="51800" y="206835"/>
                </a:lnTo>
                <a:lnTo>
                  <a:pt x="28616" y="169158"/>
                </a:lnTo>
                <a:lnTo>
                  <a:pt x="21003" y="115062"/>
                </a:lnTo>
                <a:lnTo>
                  <a:pt x="20954" y="113919"/>
                </a:lnTo>
                <a:lnTo>
                  <a:pt x="21810" y="94243"/>
                </a:lnTo>
                <a:lnTo>
                  <a:pt x="34543" y="45720"/>
                </a:lnTo>
                <a:lnTo>
                  <a:pt x="63315" y="15055"/>
                </a:lnTo>
                <a:lnTo>
                  <a:pt x="76580" y="9271"/>
                </a:lnTo>
                <a:lnTo>
                  <a:pt x="73278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0182732" y="4701285"/>
            <a:ext cx="167195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950" dirty="0">
                <a:solidFill>
                  <a:srgbClr val="6F2F9F"/>
                </a:solidFill>
                <a:latin typeface="Cambria Math"/>
                <a:cs typeface="Cambria Math"/>
              </a:rPr>
              <a:t>=</a:t>
            </a:r>
            <a:r>
              <a:rPr sz="1950" spc="10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1950" dirty="0">
                <a:solidFill>
                  <a:srgbClr val="6F2F9F"/>
                </a:solidFill>
                <a:latin typeface="Cambria Math"/>
                <a:cs typeface="Cambria Math"/>
              </a:rPr>
              <a:t>𝐦</a:t>
            </a:r>
            <a:r>
              <a:rPr sz="2100" baseline="-15873" dirty="0">
                <a:solidFill>
                  <a:srgbClr val="6F2F9F"/>
                </a:solidFill>
                <a:latin typeface="Cambria Math"/>
                <a:cs typeface="Cambria Math"/>
              </a:rPr>
              <a:t>𝐏</a:t>
            </a:r>
            <a:r>
              <a:rPr sz="2100" spc="150" baseline="-15873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1950" dirty="0">
                <a:solidFill>
                  <a:srgbClr val="6F2F9F"/>
                </a:solidFill>
                <a:latin typeface="Cambria Math"/>
                <a:cs typeface="Cambria Math"/>
              </a:rPr>
              <a:t>𝐜𝐨𝐬</a:t>
            </a:r>
            <a:r>
              <a:rPr sz="1950" spc="36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1950" spc="-25" dirty="0">
                <a:solidFill>
                  <a:srgbClr val="6F2F9F"/>
                </a:solidFill>
                <a:latin typeface="Cambria Math"/>
                <a:cs typeface="Cambria Math"/>
              </a:rPr>
              <a:t>𝛚</a:t>
            </a:r>
            <a:r>
              <a:rPr sz="2100" spc="-37" baseline="-15873" dirty="0">
                <a:solidFill>
                  <a:srgbClr val="6F2F9F"/>
                </a:solidFill>
                <a:latin typeface="Cambria Math"/>
                <a:cs typeface="Cambria Math"/>
              </a:rPr>
              <a:t>𝐦</a:t>
            </a:r>
            <a:r>
              <a:rPr sz="1950" spc="-25" dirty="0">
                <a:solidFill>
                  <a:srgbClr val="6F2F9F"/>
                </a:solidFill>
                <a:latin typeface="Cambria Math"/>
                <a:cs typeface="Cambria Math"/>
              </a:rPr>
              <a:t>𝐭</a:t>
            </a:r>
            <a:endParaRPr sz="195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Basics</a:t>
            </a:r>
            <a:r>
              <a:rPr sz="3200" u="sng" spc="-4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of</a:t>
            </a:r>
            <a:r>
              <a:rPr sz="3200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spc="-2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NBPM</a:t>
            </a:r>
            <a:endParaRPr sz="3200"/>
          </a:p>
        </p:txBody>
      </p:sp>
      <p:sp>
        <p:nvSpPr>
          <p:cNvPr id="16" name="object 16"/>
          <p:cNvSpPr/>
          <p:nvPr/>
        </p:nvSpPr>
        <p:spPr>
          <a:xfrm>
            <a:off x="6391402" y="1483233"/>
            <a:ext cx="3635375" cy="213360"/>
          </a:xfrm>
          <a:custGeom>
            <a:avLst/>
            <a:gdLst/>
            <a:ahLst/>
            <a:cxnLst/>
            <a:rect l="l" t="t" r="r" b="b"/>
            <a:pathLst>
              <a:path w="3635375" h="213360">
                <a:moveTo>
                  <a:pt x="3566795" y="0"/>
                </a:moveTo>
                <a:lnTo>
                  <a:pt x="3563874" y="0"/>
                </a:lnTo>
                <a:lnTo>
                  <a:pt x="3563874" y="8509"/>
                </a:lnTo>
                <a:lnTo>
                  <a:pt x="3565525" y="8509"/>
                </a:lnTo>
                <a:lnTo>
                  <a:pt x="3573170" y="9032"/>
                </a:lnTo>
                <a:lnTo>
                  <a:pt x="3599941" y="44831"/>
                </a:lnTo>
                <a:lnTo>
                  <a:pt x="3599941" y="50038"/>
                </a:lnTo>
                <a:lnTo>
                  <a:pt x="3599307" y="56388"/>
                </a:lnTo>
                <a:lnTo>
                  <a:pt x="3596259" y="71755"/>
                </a:lnTo>
                <a:lnTo>
                  <a:pt x="3595497" y="77216"/>
                </a:lnTo>
                <a:lnTo>
                  <a:pt x="3595497" y="86868"/>
                </a:lnTo>
                <a:lnTo>
                  <a:pt x="3597402" y="92075"/>
                </a:lnTo>
                <a:lnTo>
                  <a:pt x="3604895" y="100076"/>
                </a:lnTo>
                <a:lnTo>
                  <a:pt x="3609213" y="103123"/>
                </a:lnTo>
                <a:lnTo>
                  <a:pt x="3614420" y="105029"/>
                </a:lnTo>
                <a:lnTo>
                  <a:pt x="3614420" y="107061"/>
                </a:lnTo>
                <a:lnTo>
                  <a:pt x="3595497" y="125348"/>
                </a:lnTo>
                <a:lnTo>
                  <a:pt x="3595497" y="134874"/>
                </a:lnTo>
                <a:lnTo>
                  <a:pt x="3596259" y="140335"/>
                </a:lnTo>
                <a:lnTo>
                  <a:pt x="3599307" y="155702"/>
                </a:lnTo>
                <a:lnTo>
                  <a:pt x="3599941" y="162179"/>
                </a:lnTo>
                <a:lnTo>
                  <a:pt x="3599941" y="167386"/>
                </a:lnTo>
                <a:lnTo>
                  <a:pt x="3599381" y="176571"/>
                </a:lnTo>
                <a:lnTo>
                  <a:pt x="3565525" y="204343"/>
                </a:lnTo>
                <a:lnTo>
                  <a:pt x="3563874" y="204343"/>
                </a:lnTo>
                <a:lnTo>
                  <a:pt x="3563874" y="212852"/>
                </a:lnTo>
                <a:lnTo>
                  <a:pt x="3566795" y="212852"/>
                </a:lnTo>
                <a:lnTo>
                  <a:pt x="3579032" y="211951"/>
                </a:lnTo>
                <a:lnTo>
                  <a:pt x="3615737" y="186229"/>
                </a:lnTo>
                <a:lnTo>
                  <a:pt x="3618991" y="165354"/>
                </a:lnTo>
                <a:lnTo>
                  <a:pt x="3618991" y="159131"/>
                </a:lnTo>
                <a:lnTo>
                  <a:pt x="3618103" y="152146"/>
                </a:lnTo>
                <a:lnTo>
                  <a:pt x="3614547" y="136398"/>
                </a:lnTo>
                <a:lnTo>
                  <a:pt x="3613785" y="131064"/>
                </a:lnTo>
                <a:lnTo>
                  <a:pt x="3613785" y="123189"/>
                </a:lnTo>
                <a:lnTo>
                  <a:pt x="3615436" y="119126"/>
                </a:lnTo>
                <a:lnTo>
                  <a:pt x="3618991" y="115823"/>
                </a:lnTo>
                <a:lnTo>
                  <a:pt x="3622548" y="112648"/>
                </a:lnTo>
                <a:lnTo>
                  <a:pt x="3627882" y="110871"/>
                </a:lnTo>
                <a:lnTo>
                  <a:pt x="3634994" y="110617"/>
                </a:lnTo>
                <a:lnTo>
                  <a:pt x="3634994" y="101473"/>
                </a:lnTo>
                <a:lnTo>
                  <a:pt x="3627882" y="101219"/>
                </a:lnTo>
                <a:lnTo>
                  <a:pt x="3622548" y="99568"/>
                </a:lnTo>
                <a:lnTo>
                  <a:pt x="3618991" y="96266"/>
                </a:lnTo>
                <a:lnTo>
                  <a:pt x="3615436" y="93091"/>
                </a:lnTo>
                <a:lnTo>
                  <a:pt x="3613785" y="88900"/>
                </a:lnTo>
                <a:lnTo>
                  <a:pt x="3613785" y="81026"/>
                </a:lnTo>
                <a:lnTo>
                  <a:pt x="3614547" y="75819"/>
                </a:lnTo>
                <a:lnTo>
                  <a:pt x="3616325" y="67945"/>
                </a:lnTo>
                <a:lnTo>
                  <a:pt x="3618103" y="59944"/>
                </a:lnTo>
                <a:lnTo>
                  <a:pt x="3618991" y="52959"/>
                </a:lnTo>
                <a:lnTo>
                  <a:pt x="3618991" y="46736"/>
                </a:lnTo>
                <a:lnTo>
                  <a:pt x="3598602" y="6965"/>
                </a:lnTo>
                <a:lnTo>
                  <a:pt x="3579032" y="956"/>
                </a:lnTo>
                <a:lnTo>
                  <a:pt x="3566795" y="0"/>
                </a:lnTo>
                <a:close/>
              </a:path>
              <a:path w="3635375" h="213360">
                <a:moveTo>
                  <a:pt x="71247" y="0"/>
                </a:moveTo>
                <a:lnTo>
                  <a:pt x="68325" y="0"/>
                </a:lnTo>
                <a:lnTo>
                  <a:pt x="56086" y="956"/>
                </a:lnTo>
                <a:lnTo>
                  <a:pt x="19367" y="26447"/>
                </a:lnTo>
                <a:lnTo>
                  <a:pt x="16979" y="35696"/>
                </a:lnTo>
                <a:lnTo>
                  <a:pt x="16938" y="35853"/>
                </a:lnTo>
                <a:lnTo>
                  <a:pt x="16128" y="46736"/>
                </a:lnTo>
                <a:lnTo>
                  <a:pt x="16128" y="52832"/>
                </a:lnTo>
                <a:lnTo>
                  <a:pt x="17018" y="59944"/>
                </a:lnTo>
                <a:lnTo>
                  <a:pt x="18796" y="67818"/>
                </a:lnTo>
                <a:lnTo>
                  <a:pt x="20447" y="75692"/>
                </a:lnTo>
                <a:lnTo>
                  <a:pt x="21336" y="80899"/>
                </a:lnTo>
                <a:lnTo>
                  <a:pt x="21336" y="88773"/>
                </a:lnTo>
                <a:lnTo>
                  <a:pt x="19558" y="92964"/>
                </a:lnTo>
                <a:lnTo>
                  <a:pt x="12573" y="99441"/>
                </a:lnTo>
                <a:lnTo>
                  <a:pt x="7238" y="101092"/>
                </a:lnTo>
                <a:lnTo>
                  <a:pt x="0" y="101346"/>
                </a:lnTo>
                <a:lnTo>
                  <a:pt x="0" y="110489"/>
                </a:lnTo>
                <a:lnTo>
                  <a:pt x="21336" y="123189"/>
                </a:lnTo>
                <a:lnTo>
                  <a:pt x="21336" y="130937"/>
                </a:lnTo>
                <a:lnTo>
                  <a:pt x="20447" y="136271"/>
                </a:lnTo>
                <a:lnTo>
                  <a:pt x="18796" y="144145"/>
                </a:lnTo>
                <a:lnTo>
                  <a:pt x="17018" y="152019"/>
                </a:lnTo>
                <a:lnTo>
                  <a:pt x="16128" y="159004"/>
                </a:lnTo>
                <a:lnTo>
                  <a:pt x="16128" y="165227"/>
                </a:lnTo>
                <a:lnTo>
                  <a:pt x="16968" y="176637"/>
                </a:lnTo>
                <a:lnTo>
                  <a:pt x="45465" y="209645"/>
                </a:lnTo>
                <a:lnTo>
                  <a:pt x="68325" y="212852"/>
                </a:lnTo>
                <a:lnTo>
                  <a:pt x="71247" y="212852"/>
                </a:lnTo>
                <a:lnTo>
                  <a:pt x="71247" y="204343"/>
                </a:lnTo>
                <a:lnTo>
                  <a:pt x="69596" y="204343"/>
                </a:lnTo>
                <a:lnTo>
                  <a:pt x="61948" y="203819"/>
                </a:lnTo>
                <a:lnTo>
                  <a:pt x="35051" y="167259"/>
                </a:lnTo>
                <a:lnTo>
                  <a:pt x="35051" y="162052"/>
                </a:lnTo>
                <a:lnTo>
                  <a:pt x="35813" y="155575"/>
                </a:lnTo>
                <a:lnTo>
                  <a:pt x="38862" y="140208"/>
                </a:lnTo>
                <a:lnTo>
                  <a:pt x="39624" y="134747"/>
                </a:lnTo>
                <a:lnTo>
                  <a:pt x="39624" y="125222"/>
                </a:lnTo>
                <a:lnTo>
                  <a:pt x="37719" y="120014"/>
                </a:lnTo>
                <a:lnTo>
                  <a:pt x="34036" y="115951"/>
                </a:lnTo>
                <a:lnTo>
                  <a:pt x="30225" y="111887"/>
                </a:lnTo>
                <a:lnTo>
                  <a:pt x="25781" y="108839"/>
                </a:lnTo>
                <a:lnTo>
                  <a:pt x="20700" y="106934"/>
                </a:lnTo>
                <a:lnTo>
                  <a:pt x="20700" y="104902"/>
                </a:lnTo>
                <a:lnTo>
                  <a:pt x="39624" y="86741"/>
                </a:lnTo>
                <a:lnTo>
                  <a:pt x="39624" y="77089"/>
                </a:lnTo>
                <a:lnTo>
                  <a:pt x="38862" y="71628"/>
                </a:lnTo>
                <a:lnTo>
                  <a:pt x="35813" y="56261"/>
                </a:lnTo>
                <a:lnTo>
                  <a:pt x="35051" y="49911"/>
                </a:lnTo>
                <a:lnTo>
                  <a:pt x="35051" y="44704"/>
                </a:lnTo>
                <a:lnTo>
                  <a:pt x="35613" y="35853"/>
                </a:lnTo>
                <a:lnTo>
                  <a:pt x="35623" y="35696"/>
                </a:lnTo>
                <a:lnTo>
                  <a:pt x="69596" y="8509"/>
                </a:lnTo>
                <a:lnTo>
                  <a:pt x="71247" y="8509"/>
                </a:lnTo>
                <a:lnTo>
                  <a:pt x="7124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431915" y="1414653"/>
            <a:ext cx="354837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Here,</a:t>
            </a: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Modulation</a:t>
            </a:r>
            <a:r>
              <a:rPr sz="18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Index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𝐦</a:t>
            </a:r>
            <a:r>
              <a:rPr sz="1950" baseline="-14957" dirty="0">
                <a:solidFill>
                  <a:srgbClr val="FF0000"/>
                </a:solidFill>
                <a:latin typeface="Cambria Math"/>
                <a:cs typeface="Cambria Math"/>
              </a:rPr>
              <a:t>𝐏</a:t>
            </a:r>
            <a:r>
              <a:rPr sz="1950" spc="375" baseline="-14957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8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Cambria Math"/>
                <a:cs typeface="Cambria Math"/>
              </a:rPr>
              <a:t>𝐤</a:t>
            </a:r>
            <a:r>
              <a:rPr sz="1950" spc="-30" baseline="-14957" dirty="0">
                <a:solidFill>
                  <a:srgbClr val="FF0000"/>
                </a:solidFill>
                <a:latin typeface="Cambria Math"/>
                <a:cs typeface="Cambria Math"/>
              </a:rPr>
              <a:t>𝐏</a:t>
            </a:r>
            <a:r>
              <a:rPr sz="1800" spc="-20" dirty="0">
                <a:solidFill>
                  <a:srgbClr val="FF0000"/>
                </a:solidFill>
                <a:latin typeface="Cambria Math"/>
                <a:cs typeface="Cambria Math"/>
              </a:rPr>
              <a:t>𝐕</a:t>
            </a:r>
            <a:r>
              <a:rPr sz="1950" spc="-30" baseline="-14957" dirty="0">
                <a:solidFill>
                  <a:srgbClr val="FF0000"/>
                </a:solidFill>
                <a:latin typeface="Cambria Math"/>
                <a:cs typeface="Cambria Math"/>
              </a:rPr>
              <a:t>𝐦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4142" y="1894458"/>
            <a:ext cx="607885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Derivation</a:t>
            </a:r>
            <a:r>
              <a:rPr sz="3200" b="1" u="sng" spc="-9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of</a:t>
            </a:r>
            <a:r>
              <a:rPr sz="3200" b="1" u="sng" spc="-6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the</a:t>
            </a:r>
            <a:r>
              <a:rPr sz="3200" b="1" u="sng" spc="-7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Equation</a:t>
            </a:r>
            <a:r>
              <a:rPr sz="3200" b="1" u="sng" spc="-9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of</a:t>
            </a:r>
            <a:r>
              <a:rPr sz="3200" b="1" u="sng" spc="-6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spc="-2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NBPM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3586" y="3340734"/>
            <a:ext cx="236092" cy="211709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2714504" y="3307715"/>
            <a:ext cx="1545590" cy="276225"/>
            <a:chOff x="2714504" y="3307715"/>
            <a:chExt cx="1545590" cy="276225"/>
          </a:xfrm>
        </p:grpSpPr>
        <p:sp>
          <p:nvSpPr>
            <p:cNvPr id="21" name="object 21"/>
            <p:cNvSpPr/>
            <p:nvPr/>
          </p:nvSpPr>
          <p:spPr>
            <a:xfrm>
              <a:off x="2714504" y="3307715"/>
              <a:ext cx="1545590" cy="276225"/>
            </a:xfrm>
            <a:custGeom>
              <a:avLst/>
              <a:gdLst/>
              <a:ahLst/>
              <a:cxnLst/>
              <a:rect l="l" t="t" r="r" b="b"/>
              <a:pathLst>
                <a:path w="1545589" h="276225">
                  <a:moveTo>
                    <a:pt x="1472813" y="0"/>
                  </a:moveTo>
                  <a:lnTo>
                    <a:pt x="1470019" y="9271"/>
                  </a:lnTo>
                  <a:lnTo>
                    <a:pt x="1482713" y="15819"/>
                  </a:lnTo>
                  <a:lnTo>
                    <a:pt x="1493752" y="25368"/>
                  </a:lnTo>
                  <a:lnTo>
                    <a:pt x="1517007" y="71616"/>
                  </a:lnTo>
                  <a:lnTo>
                    <a:pt x="1524003" y="114010"/>
                  </a:lnTo>
                  <a:lnTo>
                    <a:pt x="1524883" y="138303"/>
                  </a:lnTo>
                  <a:lnTo>
                    <a:pt x="1524003" y="162446"/>
                  </a:lnTo>
                  <a:lnTo>
                    <a:pt x="1517007" y="204686"/>
                  </a:lnTo>
                  <a:lnTo>
                    <a:pt x="1493752" y="250872"/>
                  </a:lnTo>
                  <a:lnTo>
                    <a:pt x="1470019" y="267081"/>
                  </a:lnTo>
                  <a:lnTo>
                    <a:pt x="1472813" y="276225"/>
                  </a:lnTo>
                  <a:lnTo>
                    <a:pt x="1516104" y="246060"/>
                  </a:lnTo>
                  <a:lnTo>
                    <a:pt x="1534775" y="208702"/>
                  </a:lnTo>
                  <a:lnTo>
                    <a:pt x="1544161" y="163415"/>
                  </a:lnTo>
                  <a:lnTo>
                    <a:pt x="1545324" y="138303"/>
                  </a:lnTo>
                  <a:lnTo>
                    <a:pt x="1544214" y="114010"/>
                  </a:lnTo>
                  <a:lnTo>
                    <a:pt x="1534775" y="67524"/>
                  </a:lnTo>
                  <a:lnTo>
                    <a:pt x="1516104" y="30182"/>
                  </a:lnTo>
                  <a:lnTo>
                    <a:pt x="1489243" y="6457"/>
                  </a:lnTo>
                  <a:lnTo>
                    <a:pt x="1472813" y="0"/>
                  </a:lnTo>
                  <a:close/>
                </a:path>
                <a:path w="1545589" h="276225">
                  <a:moveTo>
                    <a:pt x="72511" y="0"/>
                  </a:moveTo>
                  <a:lnTo>
                    <a:pt x="29344" y="30182"/>
                  </a:lnTo>
                  <a:lnTo>
                    <a:pt x="10656" y="67524"/>
                  </a:lnTo>
                  <a:lnTo>
                    <a:pt x="1182" y="112863"/>
                  </a:lnTo>
                  <a:lnTo>
                    <a:pt x="0" y="138303"/>
                  </a:lnTo>
                  <a:lnTo>
                    <a:pt x="1137" y="162446"/>
                  </a:lnTo>
                  <a:lnTo>
                    <a:pt x="1182" y="163415"/>
                  </a:lnTo>
                  <a:lnTo>
                    <a:pt x="10656" y="208702"/>
                  </a:lnTo>
                  <a:lnTo>
                    <a:pt x="29344" y="246060"/>
                  </a:lnTo>
                  <a:lnTo>
                    <a:pt x="72511" y="276225"/>
                  </a:lnTo>
                  <a:lnTo>
                    <a:pt x="75305" y="267081"/>
                  </a:lnTo>
                  <a:lnTo>
                    <a:pt x="62664" y="260459"/>
                  </a:lnTo>
                  <a:lnTo>
                    <a:pt x="51619" y="250872"/>
                  </a:lnTo>
                  <a:lnTo>
                    <a:pt x="28336" y="204686"/>
                  </a:lnTo>
                  <a:lnTo>
                    <a:pt x="21540" y="163415"/>
                  </a:lnTo>
                  <a:lnTo>
                    <a:pt x="21427" y="162446"/>
                  </a:lnTo>
                  <a:lnTo>
                    <a:pt x="20568" y="138303"/>
                  </a:lnTo>
                  <a:lnTo>
                    <a:pt x="21427" y="114010"/>
                  </a:lnTo>
                  <a:lnTo>
                    <a:pt x="24012" y="91789"/>
                  </a:lnTo>
                  <a:lnTo>
                    <a:pt x="34411" y="53467"/>
                  </a:lnTo>
                  <a:lnTo>
                    <a:pt x="62664" y="15819"/>
                  </a:lnTo>
                  <a:lnTo>
                    <a:pt x="75305" y="9271"/>
                  </a:lnTo>
                  <a:lnTo>
                    <a:pt x="725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21506" y="3340735"/>
              <a:ext cx="236092" cy="211709"/>
            </a:xfrm>
            <a:prstGeom prst="rect">
              <a:avLst/>
            </a:prstGeom>
          </p:spPr>
        </p:pic>
      </p:grpSp>
      <p:pic>
        <p:nvPicPr>
          <p:cNvPr id="23" name="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13586" y="3818890"/>
            <a:ext cx="236092" cy="211709"/>
          </a:xfrm>
          <a:prstGeom prst="rect">
            <a:avLst/>
          </a:prstGeom>
        </p:spPr>
      </p:pic>
      <p:sp>
        <p:nvSpPr>
          <p:cNvPr id="24" name="object 24"/>
          <p:cNvSpPr/>
          <p:nvPr/>
        </p:nvSpPr>
        <p:spPr>
          <a:xfrm>
            <a:off x="2714498" y="3818889"/>
            <a:ext cx="2117090" cy="212090"/>
          </a:xfrm>
          <a:custGeom>
            <a:avLst/>
            <a:gdLst/>
            <a:ahLst/>
            <a:cxnLst/>
            <a:rect l="l" t="t" r="r" b="b"/>
            <a:pathLst>
              <a:path w="2117090" h="212089">
                <a:moveTo>
                  <a:pt x="70612" y="8509"/>
                </a:moveTo>
                <a:lnTo>
                  <a:pt x="67564" y="0"/>
                </a:lnTo>
                <a:lnTo>
                  <a:pt x="52197" y="5537"/>
                </a:lnTo>
                <a:lnTo>
                  <a:pt x="38735" y="13550"/>
                </a:lnTo>
                <a:lnTo>
                  <a:pt x="9855" y="52095"/>
                </a:lnTo>
                <a:lnTo>
                  <a:pt x="63" y="104775"/>
                </a:lnTo>
                <a:lnTo>
                  <a:pt x="0" y="105918"/>
                </a:lnTo>
                <a:lnTo>
                  <a:pt x="977" y="123444"/>
                </a:lnTo>
                <a:lnTo>
                  <a:pt x="17399" y="174752"/>
                </a:lnTo>
                <a:lnTo>
                  <a:pt x="52146" y="206184"/>
                </a:lnTo>
                <a:lnTo>
                  <a:pt x="67564" y="211709"/>
                </a:lnTo>
                <a:lnTo>
                  <a:pt x="70231" y="203073"/>
                </a:lnTo>
                <a:lnTo>
                  <a:pt x="58178" y="197739"/>
                </a:lnTo>
                <a:lnTo>
                  <a:pt x="47764" y="190309"/>
                </a:lnTo>
                <a:lnTo>
                  <a:pt x="26365" y="155638"/>
                </a:lnTo>
                <a:lnTo>
                  <a:pt x="19342" y="105918"/>
                </a:lnTo>
                <a:lnTo>
                  <a:pt x="19304" y="104775"/>
                </a:lnTo>
                <a:lnTo>
                  <a:pt x="20078" y="86715"/>
                </a:lnTo>
                <a:lnTo>
                  <a:pt x="31877" y="42037"/>
                </a:lnTo>
                <a:lnTo>
                  <a:pt x="58394" y="13830"/>
                </a:lnTo>
                <a:lnTo>
                  <a:pt x="70612" y="8509"/>
                </a:lnTo>
                <a:close/>
              </a:path>
              <a:path w="2117090" h="212089">
                <a:moveTo>
                  <a:pt x="1510792" y="8509"/>
                </a:moveTo>
                <a:lnTo>
                  <a:pt x="1507744" y="0"/>
                </a:lnTo>
                <a:lnTo>
                  <a:pt x="1492377" y="5537"/>
                </a:lnTo>
                <a:lnTo>
                  <a:pt x="1478915" y="13550"/>
                </a:lnTo>
                <a:lnTo>
                  <a:pt x="1450035" y="52095"/>
                </a:lnTo>
                <a:lnTo>
                  <a:pt x="1440243" y="104775"/>
                </a:lnTo>
                <a:lnTo>
                  <a:pt x="1440180" y="105918"/>
                </a:lnTo>
                <a:lnTo>
                  <a:pt x="1441157" y="123444"/>
                </a:lnTo>
                <a:lnTo>
                  <a:pt x="1457579" y="174752"/>
                </a:lnTo>
                <a:lnTo>
                  <a:pt x="1492326" y="206184"/>
                </a:lnTo>
                <a:lnTo>
                  <a:pt x="1507744" y="211709"/>
                </a:lnTo>
                <a:lnTo>
                  <a:pt x="1510411" y="203073"/>
                </a:lnTo>
                <a:lnTo>
                  <a:pt x="1498358" y="197739"/>
                </a:lnTo>
                <a:lnTo>
                  <a:pt x="1487944" y="190309"/>
                </a:lnTo>
                <a:lnTo>
                  <a:pt x="1466545" y="155638"/>
                </a:lnTo>
                <a:lnTo>
                  <a:pt x="1459522" y="105918"/>
                </a:lnTo>
                <a:lnTo>
                  <a:pt x="1459484" y="104775"/>
                </a:lnTo>
                <a:lnTo>
                  <a:pt x="1460258" y="86715"/>
                </a:lnTo>
                <a:lnTo>
                  <a:pt x="1472057" y="42037"/>
                </a:lnTo>
                <a:lnTo>
                  <a:pt x="1498574" y="13830"/>
                </a:lnTo>
                <a:lnTo>
                  <a:pt x="1510792" y="8509"/>
                </a:lnTo>
                <a:close/>
              </a:path>
              <a:path w="2117090" h="212089">
                <a:moveTo>
                  <a:pt x="2022221" y="105918"/>
                </a:moveTo>
                <a:lnTo>
                  <a:pt x="2021128" y="86715"/>
                </a:lnTo>
                <a:lnTo>
                  <a:pt x="2021116" y="86487"/>
                </a:lnTo>
                <a:lnTo>
                  <a:pt x="2017839" y="68554"/>
                </a:lnTo>
                <a:lnTo>
                  <a:pt x="1995043" y="24066"/>
                </a:lnTo>
                <a:lnTo>
                  <a:pt x="1954657" y="0"/>
                </a:lnTo>
                <a:lnTo>
                  <a:pt x="1951609" y="8509"/>
                </a:lnTo>
                <a:lnTo>
                  <a:pt x="1963889" y="13830"/>
                </a:lnTo>
                <a:lnTo>
                  <a:pt x="1974443" y="21183"/>
                </a:lnTo>
                <a:lnTo>
                  <a:pt x="1995843" y="55333"/>
                </a:lnTo>
                <a:lnTo>
                  <a:pt x="2002091" y="86487"/>
                </a:lnTo>
                <a:lnTo>
                  <a:pt x="2002129" y="86715"/>
                </a:lnTo>
                <a:lnTo>
                  <a:pt x="2002917" y="104775"/>
                </a:lnTo>
                <a:lnTo>
                  <a:pt x="2002129" y="123444"/>
                </a:lnTo>
                <a:lnTo>
                  <a:pt x="1999767" y="140398"/>
                </a:lnTo>
                <a:lnTo>
                  <a:pt x="1983219" y="180784"/>
                </a:lnTo>
                <a:lnTo>
                  <a:pt x="1951990" y="203073"/>
                </a:lnTo>
                <a:lnTo>
                  <a:pt x="1954657" y="211709"/>
                </a:lnTo>
                <a:lnTo>
                  <a:pt x="1995119" y="187706"/>
                </a:lnTo>
                <a:lnTo>
                  <a:pt x="2017852" y="143294"/>
                </a:lnTo>
                <a:lnTo>
                  <a:pt x="2021116" y="125361"/>
                </a:lnTo>
                <a:lnTo>
                  <a:pt x="2022221" y="105918"/>
                </a:lnTo>
                <a:close/>
              </a:path>
              <a:path w="2117090" h="212089">
                <a:moveTo>
                  <a:pt x="2116709" y="105918"/>
                </a:moveTo>
                <a:lnTo>
                  <a:pt x="2115616" y="86715"/>
                </a:lnTo>
                <a:lnTo>
                  <a:pt x="2115604" y="86487"/>
                </a:lnTo>
                <a:lnTo>
                  <a:pt x="2112327" y="68554"/>
                </a:lnTo>
                <a:lnTo>
                  <a:pt x="2089531" y="24066"/>
                </a:lnTo>
                <a:lnTo>
                  <a:pt x="2049145" y="0"/>
                </a:lnTo>
                <a:lnTo>
                  <a:pt x="2046097" y="8509"/>
                </a:lnTo>
                <a:lnTo>
                  <a:pt x="2058377" y="13830"/>
                </a:lnTo>
                <a:lnTo>
                  <a:pt x="2068931" y="21183"/>
                </a:lnTo>
                <a:lnTo>
                  <a:pt x="2090331" y="55333"/>
                </a:lnTo>
                <a:lnTo>
                  <a:pt x="2096579" y="86487"/>
                </a:lnTo>
                <a:lnTo>
                  <a:pt x="2096617" y="86715"/>
                </a:lnTo>
                <a:lnTo>
                  <a:pt x="2097405" y="104775"/>
                </a:lnTo>
                <a:lnTo>
                  <a:pt x="2096617" y="123444"/>
                </a:lnTo>
                <a:lnTo>
                  <a:pt x="2094255" y="140398"/>
                </a:lnTo>
                <a:lnTo>
                  <a:pt x="2077707" y="180784"/>
                </a:lnTo>
                <a:lnTo>
                  <a:pt x="2046478" y="203073"/>
                </a:lnTo>
                <a:lnTo>
                  <a:pt x="2049145" y="211709"/>
                </a:lnTo>
                <a:lnTo>
                  <a:pt x="2089607" y="187706"/>
                </a:lnTo>
                <a:lnTo>
                  <a:pt x="2112340" y="143294"/>
                </a:lnTo>
                <a:lnTo>
                  <a:pt x="2115604" y="125361"/>
                </a:lnTo>
                <a:lnTo>
                  <a:pt x="2116709" y="1059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39140" y="3270630"/>
            <a:ext cx="784860" cy="1228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8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𝐘</a:t>
            </a:r>
            <a:r>
              <a:rPr sz="1950" spc="-37" baseline="-14957" dirty="0">
                <a:latin typeface="Cambria Math"/>
                <a:cs typeface="Cambria Math"/>
              </a:rPr>
              <a:t>𝐏𝐌</a:t>
            </a:r>
            <a:endParaRPr sz="1950" baseline="-14957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3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8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𝐘</a:t>
            </a:r>
            <a:r>
              <a:rPr sz="1950" spc="-37" baseline="-14957" dirty="0">
                <a:latin typeface="Cambria Math"/>
                <a:cs typeface="Cambria Math"/>
              </a:rPr>
              <a:t>𝐏𝐌</a:t>
            </a:r>
            <a:endParaRPr sz="1950" baseline="-14957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390"/>
              </a:spcBef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8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𝐘</a:t>
            </a:r>
            <a:r>
              <a:rPr sz="1950" spc="-37" baseline="-14957" dirty="0">
                <a:latin typeface="Cambria Math"/>
                <a:cs typeface="Cambria Math"/>
              </a:rPr>
              <a:t>𝐏𝐌</a:t>
            </a:r>
            <a:endParaRPr sz="1950" baseline="-14957">
              <a:latin typeface="Cambria Math"/>
              <a:cs typeface="Cambria Math"/>
            </a:endParaRPr>
          </a:p>
        </p:txBody>
      </p:sp>
      <p:pic>
        <p:nvPicPr>
          <p:cNvPr id="26" name="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13586" y="4269485"/>
            <a:ext cx="236092" cy="211709"/>
          </a:xfrm>
          <a:prstGeom prst="rect">
            <a:avLst/>
          </a:prstGeom>
        </p:spPr>
      </p:pic>
      <p:sp>
        <p:nvSpPr>
          <p:cNvPr id="27" name="object 27"/>
          <p:cNvSpPr/>
          <p:nvPr/>
        </p:nvSpPr>
        <p:spPr>
          <a:xfrm>
            <a:off x="2314829" y="4267453"/>
            <a:ext cx="6005195" cy="213995"/>
          </a:xfrm>
          <a:custGeom>
            <a:avLst/>
            <a:gdLst/>
            <a:ahLst/>
            <a:cxnLst/>
            <a:rect l="l" t="t" r="r" b="b"/>
            <a:pathLst>
              <a:path w="6005195" h="213995">
                <a:moveTo>
                  <a:pt x="71247" y="0"/>
                </a:moveTo>
                <a:lnTo>
                  <a:pt x="68326" y="0"/>
                </a:lnTo>
                <a:lnTo>
                  <a:pt x="56083" y="965"/>
                </a:lnTo>
                <a:lnTo>
                  <a:pt x="19354" y="26454"/>
                </a:lnTo>
                <a:lnTo>
                  <a:pt x="16129" y="46736"/>
                </a:lnTo>
                <a:lnTo>
                  <a:pt x="16129" y="52832"/>
                </a:lnTo>
                <a:lnTo>
                  <a:pt x="17018" y="59944"/>
                </a:lnTo>
                <a:lnTo>
                  <a:pt x="18796" y="67818"/>
                </a:lnTo>
                <a:lnTo>
                  <a:pt x="20447" y="75692"/>
                </a:lnTo>
                <a:lnTo>
                  <a:pt x="21336" y="81026"/>
                </a:lnTo>
                <a:lnTo>
                  <a:pt x="21336" y="88773"/>
                </a:lnTo>
                <a:lnTo>
                  <a:pt x="0" y="101346"/>
                </a:lnTo>
                <a:lnTo>
                  <a:pt x="0" y="110490"/>
                </a:lnTo>
                <a:lnTo>
                  <a:pt x="21336" y="123190"/>
                </a:lnTo>
                <a:lnTo>
                  <a:pt x="21336" y="130937"/>
                </a:lnTo>
                <a:lnTo>
                  <a:pt x="20447" y="136271"/>
                </a:lnTo>
                <a:lnTo>
                  <a:pt x="18796" y="144145"/>
                </a:lnTo>
                <a:lnTo>
                  <a:pt x="17018" y="152019"/>
                </a:lnTo>
                <a:lnTo>
                  <a:pt x="16129" y="159004"/>
                </a:lnTo>
                <a:lnTo>
                  <a:pt x="16129" y="165227"/>
                </a:lnTo>
                <a:lnTo>
                  <a:pt x="16929" y="176530"/>
                </a:lnTo>
                <a:lnTo>
                  <a:pt x="45466" y="209702"/>
                </a:lnTo>
                <a:lnTo>
                  <a:pt x="68326" y="212852"/>
                </a:lnTo>
                <a:lnTo>
                  <a:pt x="71247" y="212852"/>
                </a:lnTo>
                <a:lnTo>
                  <a:pt x="71247" y="204470"/>
                </a:lnTo>
                <a:lnTo>
                  <a:pt x="69596" y="204470"/>
                </a:lnTo>
                <a:lnTo>
                  <a:pt x="61937" y="203936"/>
                </a:lnTo>
                <a:lnTo>
                  <a:pt x="35052" y="167259"/>
                </a:lnTo>
                <a:lnTo>
                  <a:pt x="35052" y="162052"/>
                </a:lnTo>
                <a:lnTo>
                  <a:pt x="35814" y="155575"/>
                </a:lnTo>
                <a:lnTo>
                  <a:pt x="38862" y="140335"/>
                </a:lnTo>
                <a:lnTo>
                  <a:pt x="39624" y="134747"/>
                </a:lnTo>
                <a:lnTo>
                  <a:pt x="39624" y="125222"/>
                </a:lnTo>
                <a:lnTo>
                  <a:pt x="37719" y="120015"/>
                </a:lnTo>
                <a:lnTo>
                  <a:pt x="34036" y="115951"/>
                </a:lnTo>
                <a:lnTo>
                  <a:pt x="30226" y="111887"/>
                </a:lnTo>
                <a:lnTo>
                  <a:pt x="25908" y="108966"/>
                </a:lnTo>
                <a:lnTo>
                  <a:pt x="20701" y="106934"/>
                </a:lnTo>
                <a:lnTo>
                  <a:pt x="20701" y="105029"/>
                </a:lnTo>
                <a:lnTo>
                  <a:pt x="39624" y="86741"/>
                </a:lnTo>
                <a:lnTo>
                  <a:pt x="39624" y="77089"/>
                </a:lnTo>
                <a:lnTo>
                  <a:pt x="38862" y="71628"/>
                </a:lnTo>
                <a:lnTo>
                  <a:pt x="35814" y="56388"/>
                </a:lnTo>
                <a:lnTo>
                  <a:pt x="35052" y="49911"/>
                </a:lnTo>
                <a:lnTo>
                  <a:pt x="35052" y="44704"/>
                </a:lnTo>
                <a:lnTo>
                  <a:pt x="35610" y="35864"/>
                </a:lnTo>
                <a:lnTo>
                  <a:pt x="69596" y="8509"/>
                </a:lnTo>
                <a:lnTo>
                  <a:pt x="71247" y="8509"/>
                </a:lnTo>
                <a:lnTo>
                  <a:pt x="71247" y="0"/>
                </a:lnTo>
                <a:close/>
              </a:path>
              <a:path w="6005195" h="213995">
                <a:moveTo>
                  <a:pt x="520573" y="10668"/>
                </a:moveTo>
                <a:lnTo>
                  <a:pt x="517525" y="2032"/>
                </a:lnTo>
                <a:lnTo>
                  <a:pt x="502158" y="7569"/>
                </a:lnTo>
                <a:lnTo>
                  <a:pt x="488696" y="15582"/>
                </a:lnTo>
                <a:lnTo>
                  <a:pt x="459816" y="54127"/>
                </a:lnTo>
                <a:lnTo>
                  <a:pt x="450024" y="106807"/>
                </a:lnTo>
                <a:lnTo>
                  <a:pt x="449961" y="107950"/>
                </a:lnTo>
                <a:lnTo>
                  <a:pt x="450938" y="125476"/>
                </a:lnTo>
                <a:lnTo>
                  <a:pt x="467360" y="176784"/>
                </a:lnTo>
                <a:lnTo>
                  <a:pt x="502107" y="208216"/>
                </a:lnTo>
                <a:lnTo>
                  <a:pt x="517525" y="213741"/>
                </a:lnTo>
                <a:lnTo>
                  <a:pt x="520192" y="205105"/>
                </a:lnTo>
                <a:lnTo>
                  <a:pt x="508139" y="199771"/>
                </a:lnTo>
                <a:lnTo>
                  <a:pt x="497725" y="192341"/>
                </a:lnTo>
                <a:lnTo>
                  <a:pt x="476326" y="157670"/>
                </a:lnTo>
                <a:lnTo>
                  <a:pt x="469303" y="107950"/>
                </a:lnTo>
                <a:lnTo>
                  <a:pt x="469265" y="106807"/>
                </a:lnTo>
                <a:lnTo>
                  <a:pt x="470039" y="88760"/>
                </a:lnTo>
                <a:lnTo>
                  <a:pt x="481838" y="44196"/>
                </a:lnTo>
                <a:lnTo>
                  <a:pt x="508355" y="15989"/>
                </a:lnTo>
                <a:lnTo>
                  <a:pt x="520573" y="10668"/>
                </a:lnTo>
                <a:close/>
              </a:path>
              <a:path w="6005195" h="213995">
                <a:moveTo>
                  <a:pt x="960374" y="107950"/>
                </a:moveTo>
                <a:lnTo>
                  <a:pt x="959281" y="88760"/>
                </a:lnTo>
                <a:lnTo>
                  <a:pt x="959269" y="88519"/>
                </a:lnTo>
                <a:lnTo>
                  <a:pt x="955992" y="70586"/>
                </a:lnTo>
                <a:lnTo>
                  <a:pt x="933196" y="26098"/>
                </a:lnTo>
                <a:lnTo>
                  <a:pt x="892810" y="2032"/>
                </a:lnTo>
                <a:lnTo>
                  <a:pt x="889762" y="10668"/>
                </a:lnTo>
                <a:lnTo>
                  <a:pt x="902042" y="15989"/>
                </a:lnTo>
                <a:lnTo>
                  <a:pt x="912596" y="23342"/>
                </a:lnTo>
                <a:lnTo>
                  <a:pt x="933996" y="57467"/>
                </a:lnTo>
                <a:lnTo>
                  <a:pt x="940244" y="88519"/>
                </a:lnTo>
                <a:lnTo>
                  <a:pt x="940282" y="88760"/>
                </a:lnTo>
                <a:lnTo>
                  <a:pt x="941070" y="106807"/>
                </a:lnTo>
                <a:lnTo>
                  <a:pt x="940282" y="125476"/>
                </a:lnTo>
                <a:lnTo>
                  <a:pt x="937920" y="142430"/>
                </a:lnTo>
                <a:lnTo>
                  <a:pt x="921372" y="182816"/>
                </a:lnTo>
                <a:lnTo>
                  <a:pt x="890143" y="205105"/>
                </a:lnTo>
                <a:lnTo>
                  <a:pt x="892810" y="213741"/>
                </a:lnTo>
                <a:lnTo>
                  <a:pt x="933272" y="189738"/>
                </a:lnTo>
                <a:lnTo>
                  <a:pt x="956005" y="145376"/>
                </a:lnTo>
                <a:lnTo>
                  <a:pt x="959269" y="127406"/>
                </a:lnTo>
                <a:lnTo>
                  <a:pt x="960374" y="107950"/>
                </a:lnTo>
                <a:close/>
              </a:path>
              <a:path w="6005195" h="213995">
                <a:moveTo>
                  <a:pt x="1462405" y="10668"/>
                </a:moveTo>
                <a:lnTo>
                  <a:pt x="1459357" y="2032"/>
                </a:lnTo>
                <a:lnTo>
                  <a:pt x="1443990" y="7569"/>
                </a:lnTo>
                <a:lnTo>
                  <a:pt x="1430528" y="15582"/>
                </a:lnTo>
                <a:lnTo>
                  <a:pt x="1401648" y="54127"/>
                </a:lnTo>
                <a:lnTo>
                  <a:pt x="1391856" y="106807"/>
                </a:lnTo>
                <a:lnTo>
                  <a:pt x="1391793" y="107950"/>
                </a:lnTo>
                <a:lnTo>
                  <a:pt x="1392770" y="125476"/>
                </a:lnTo>
                <a:lnTo>
                  <a:pt x="1409192" y="176784"/>
                </a:lnTo>
                <a:lnTo>
                  <a:pt x="1443939" y="208216"/>
                </a:lnTo>
                <a:lnTo>
                  <a:pt x="1459357" y="213741"/>
                </a:lnTo>
                <a:lnTo>
                  <a:pt x="1462024" y="205105"/>
                </a:lnTo>
                <a:lnTo>
                  <a:pt x="1449971" y="199771"/>
                </a:lnTo>
                <a:lnTo>
                  <a:pt x="1439557" y="192341"/>
                </a:lnTo>
                <a:lnTo>
                  <a:pt x="1418158" y="157670"/>
                </a:lnTo>
                <a:lnTo>
                  <a:pt x="1411135" y="107950"/>
                </a:lnTo>
                <a:lnTo>
                  <a:pt x="1411097" y="106807"/>
                </a:lnTo>
                <a:lnTo>
                  <a:pt x="1411871" y="88760"/>
                </a:lnTo>
                <a:lnTo>
                  <a:pt x="1423670" y="44196"/>
                </a:lnTo>
                <a:lnTo>
                  <a:pt x="1450187" y="15989"/>
                </a:lnTo>
                <a:lnTo>
                  <a:pt x="1462405" y="10668"/>
                </a:lnTo>
                <a:close/>
              </a:path>
              <a:path w="6005195" h="213995">
                <a:moveTo>
                  <a:pt x="2268601" y="10668"/>
                </a:moveTo>
                <a:lnTo>
                  <a:pt x="2265553" y="2032"/>
                </a:lnTo>
                <a:lnTo>
                  <a:pt x="2250186" y="7569"/>
                </a:lnTo>
                <a:lnTo>
                  <a:pt x="2236724" y="15582"/>
                </a:lnTo>
                <a:lnTo>
                  <a:pt x="2207844" y="54127"/>
                </a:lnTo>
                <a:lnTo>
                  <a:pt x="2198052" y="106807"/>
                </a:lnTo>
                <a:lnTo>
                  <a:pt x="2197989" y="107950"/>
                </a:lnTo>
                <a:lnTo>
                  <a:pt x="2198967" y="125476"/>
                </a:lnTo>
                <a:lnTo>
                  <a:pt x="2215388" y="176784"/>
                </a:lnTo>
                <a:lnTo>
                  <a:pt x="2250135" y="208216"/>
                </a:lnTo>
                <a:lnTo>
                  <a:pt x="2265553" y="213741"/>
                </a:lnTo>
                <a:lnTo>
                  <a:pt x="2268220" y="205105"/>
                </a:lnTo>
                <a:lnTo>
                  <a:pt x="2256167" y="199771"/>
                </a:lnTo>
                <a:lnTo>
                  <a:pt x="2245753" y="192341"/>
                </a:lnTo>
                <a:lnTo>
                  <a:pt x="2224354" y="157670"/>
                </a:lnTo>
                <a:lnTo>
                  <a:pt x="2217331" y="107950"/>
                </a:lnTo>
                <a:lnTo>
                  <a:pt x="2217293" y="106807"/>
                </a:lnTo>
                <a:lnTo>
                  <a:pt x="2218067" y="88760"/>
                </a:lnTo>
                <a:lnTo>
                  <a:pt x="2229866" y="44196"/>
                </a:lnTo>
                <a:lnTo>
                  <a:pt x="2256383" y="15989"/>
                </a:lnTo>
                <a:lnTo>
                  <a:pt x="2268601" y="10668"/>
                </a:lnTo>
                <a:close/>
              </a:path>
              <a:path w="6005195" h="213995">
                <a:moveTo>
                  <a:pt x="2780030" y="107950"/>
                </a:moveTo>
                <a:lnTo>
                  <a:pt x="2778937" y="88760"/>
                </a:lnTo>
                <a:lnTo>
                  <a:pt x="2778925" y="88519"/>
                </a:lnTo>
                <a:lnTo>
                  <a:pt x="2775648" y="70586"/>
                </a:lnTo>
                <a:lnTo>
                  <a:pt x="2752852" y="26098"/>
                </a:lnTo>
                <a:lnTo>
                  <a:pt x="2712466" y="2032"/>
                </a:lnTo>
                <a:lnTo>
                  <a:pt x="2709418" y="10668"/>
                </a:lnTo>
                <a:lnTo>
                  <a:pt x="2721699" y="15989"/>
                </a:lnTo>
                <a:lnTo>
                  <a:pt x="2732252" y="23342"/>
                </a:lnTo>
                <a:lnTo>
                  <a:pt x="2753652" y="57467"/>
                </a:lnTo>
                <a:lnTo>
                  <a:pt x="2759900" y="88519"/>
                </a:lnTo>
                <a:lnTo>
                  <a:pt x="2759938" y="88760"/>
                </a:lnTo>
                <a:lnTo>
                  <a:pt x="2760726" y="106807"/>
                </a:lnTo>
                <a:lnTo>
                  <a:pt x="2759938" y="125476"/>
                </a:lnTo>
                <a:lnTo>
                  <a:pt x="2757576" y="142430"/>
                </a:lnTo>
                <a:lnTo>
                  <a:pt x="2741028" y="182816"/>
                </a:lnTo>
                <a:lnTo>
                  <a:pt x="2709799" y="205105"/>
                </a:lnTo>
                <a:lnTo>
                  <a:pt x="2712466" y="213741"/>
                </a:lnTo>
                <a:lnTo>
                  <a:pt x="2752928" y="189738"/>
                </a:lnTo>
                <a:lnTo>
                  <a:pt x="2775661" y="145376"/>
                </a:lnTo>
                <a:lnTo>
                  <a:pt x="2778925" y="127406"/>
                </a:lnTo>
                <a:lnTo>
                  <a:pt x="2780030" y="107950"/>
                </a:lnTo>
                <a:close/>
              </a:path>
              <a:path w="6005195" h="213995">
                <a:moveTo>
                  <a:pt x="2874518" y="107950"/>
                </a:moveTo>
                <a:lnTo>
                  <a:pt x="2873425" y="88760"/>
                </a:lnTo>
                <a:lnTo>
                  <a:pt x="2873413" y="88519"/>
                </a:lnTo>
                <a:lnTo>
                  <a:pt x="2870136" y="70586"/>
                </a:lnTo>
                <a:lnTo>
                  <a:pt x="2847340" y="26098"/>
                </a:lnTo>
                <a:lnTo>
                  <a:pt x="2806954" y="2032"/>
                </a:lnTo>
                <a:lnTo>
                  <a:pt x="2803906" y="10668"/>
                </a:lnTo>
                <a:lnTo>
                  <a:pt x="2816187" y="15989"/>
                </a:lnTo>
                <a:lnTo>
                  <a:pt x="2826740" y="23342"/>
                </a:lnTo>
                <a:lnTo>
                  <a:pt x="2848140" y="57467"/>
                </a:lnTo>
                <a:lnTo>
                  <a:pt x="2854388" y="88519"/>
                </a:lnTo>
                <a:lnTo>
                  <a:pt x="2854426" y="88760"/>
                </a:lnTo>
                <a:lnTo>
                  <a:pt x="2855214" y="106807"/>
                </a:lnTo>
                <a:lnTo>
                  <a:pt x="2854426" y="125476"/>
                </a:lnTo>
                <a:lnTo>
                  <a:pt x="2852064" y="142430"/>
                </a:lnTo>
                <a:lnTo>
                  <a:pt x="2835516" y="182816"/>
                </a:lnTo>
                <a:lnTo>
                  <a:pt x="2804287" y="205105"/>
                </a:lnTo>
                <a:lnTo>
                  <a:pt x="2806954" y="213741"/>
                </a:lnTo>
                <a:lnTo>
                  <a:pt x="2847416" y="189738"/>
                </a:lnTo>
                <a:lnTo>
                  <a:pt x="2870149" y="145376"/>
                </a:lnTo>
                <a:lnTo>
                  <a:pt x="2873413" y="127406"/>
                </a:lnTo>
                <a:lnTo>
                  <a:pt x="2874518" y="107950"/>
                </a:lnTo>
                <a:close/>
              </a:path>
              <a:path w="6005195" h="213995">
                <a:moveTo>
                  <a:pt x="6004814" y="101473"/>
                </a:moveTo>
                <a:lnTo>
                  <a:pt x="5997702" y="101219"/>
                </a:lnTo>
                <a:lnTo>
                  <a:pt x="5992368" y="99568"/>
                </a:lnTo>
                <a:lnTo>
                  <a:pt x="5985383" y="93091"/>
                </a:lnTo>
                <a:lnTo>
                  <a:pt x="5983605" y="88900"/>
                </a:lnTo>
                <a:lnTo>
                  <a:pt x="5983605" y="81026"/>
                </a:lnTo>
                <a:lnTo>
                  <a:pt x="5984367" y="75819"/>
                </a:lnTo>
                <a:lnTo>
                  <a:pt x="5987923" y="60071"/>
                </a:lnTo>
                <a:lnTo>
                  <a:pt x="5988812" y="52959"/>
                </a:lnTo>
                <a:lnTo>
                  <a:pt x="5988812" y="46863"/>
                </a:lnTo>
                <a:lnTo>
                  <a:pt x="5987999" y="35966"/>
                </a:lnTo>
                <a:lnTo>
                  <a:pt x="5959475" y="3276"/>
                </a:lnTo>
                <a:lnTo>
                  <a:pt x="5936615" y="0"/>
                </a:lnTo>
                <a:lnTo>
                  <a:pt x="5933694" y="0"/>
                </a:lnTo>
                <a:lnTo>
                  <a:pt x="5933694" y="8509"/>
                </a:lnTo>
                <a:lnTo>
                  <a:pt x="5935345" y="8509"/>
                </a:lnTo>
                <a:lnTo>
                  <a:pt x="5942990" y="9042"/>
                </a:lnTo>
                <a:lnTo>
                  <a:pt x="5969762" y="44831"/>
                </a:lnTo>
                <a:lnTo>
                  <a:pt x="5969762" y="50038"/>
                </a:lnTo>
                <a:lnTo>
                  <a:pt x="5969127" y="56388"/>
                </a:lnTo>
                <a:lnTo>
                  <a:pt x="5966079" y="71755"/>
                </a:lnTo>
                <a:lnTo>
                  <a:pt x="5965317" y="77216"/>
                </a:lnTo>
                <a:lnTo>
                  <a:pt x="5965317" y="86868"/>
                </a:lnTo>
                <a:lnTo>
                  <a:pt x="5967222" y="92075"/>
                </a:lnTo>
                <a:lnTo>
                  <a:pt x="5970905" y="96139"/>
                </a:lnTo>
                <a:lnTo>
                  <a:pt x="5974715" y="100203"/>
                </a:lnTo>
                <a:lnTo>
                  <a:pt x="5979033" y="103124"/>
                </a:lnTo>
                <a:lnTo>
                  <a:pt x="5984240" y="105029"/>
                </a:lnTo>
                <a:lnTo>
                  <a:pt x="5984240" y="107061"/>
                </a:lnTo>
                <a:lnTo>
                  <a:pt x="5965317" y="125349"/>
                </a:lnTo>
                <a:lnTo>
                  <a:pt x="5965317" y="134874"/>
                </a:lnTo>
                <a:lnTo>
                  <a:pt x="5966079" y="140335"/>
                </a:lnTo>
                <a:lnTo>
                  <a:pt x="5969127" y="155702"/>
                </a:lnTo>
                <a:lnTo>
                  <a:pt x="5969762" y="162179"/>
                </a:lnTo>
                <a:lnTo>
                  <a:pt x="5969762" y="167386"/>
                </a:lnTo>
                <a:lnTo>
                  <a:pt x="5969190" y="176580"/>
                </a:lnTo>
                <a:lnTo>
                  <a:pt x="5969190" y="176745"/>
                </a:lnTo>
                <a:lnTo>
                  <a:pt x="5935345" y="204470"/>
                </a:lnTo>
                <a:lnTo>
                  <a:pt x="5933694" y="204470"/>
                </a:lnTo>
                <a:lnTo>
                  <a:pt x="5933694" y="212852"/>
                </a:lnTo>
                <a:lnTo>
                  <a:pt x="5936615" y="212852"/>
                </a:lnTo>
                <a:lnTo>
                  <a:pt x="5948845" y="211975"/>
                </a:lnTo>
                <a:lnTo>
                  <a:pt x="5985573" y="186232"/>
                </a:lnTo>
                <a:lnTo>
                  <a:pt x="5987948" y="176745"/>
                </a:lnTo>
                <a:lnTo>
                  <a:pt x="5987999" y="176580"/>
                </a:lnTo>
                <a:lnTo>
                  <a:pt x="5988812" y="165354"/>
                </a:lnTo>
                <a:lnTo>
                  <a:pt x="5988812" y="159131"/>
                </a:lnTo>
                <a:lnTo>
                  <a:pt x="5987923" y="152146"/>
                </a:lnTo>
                <a:lnTo>
                  <a:pt x="5984367" y="136398"/>
                </a:lnTo>
                <a:lnTo>
                  <a:pt x="5983605" y="131064"/>
                </a:lnTo>
                <a:lnTo>
                  <a:pt x="5983605" y="123317"/>
                </a:lnTo>
                <a:lnTo>
                  <a:pt x="5985383" y="119126"/>
                </a:lnTo>
                <a:lnTo>
                  <a:pt x="5988812" y="115824"/>
                </a:lnTo>
                <a:lnTo>
                  <a:pt x="5992368" y="112649"/>
                </a:lnTo>
                <a:lnTo>
                  <a:pt x="5997702" y="110871"/>
                </a:lnTo>
                <a:lnTo>
                  <a:pt x="6004814" y="110617"/>
                </a:lnTo>
                <a:lnTo>
                  <a:pt x="6004814" y="1014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524761" y="3270630"/>
            <a:ext cx="3572510" cy="1228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  <a:tabLst>
                <a:tab pos="308610" algn="l"/>
              </a:tabLst>
            </a:pP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110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𝐕</a:t>
            </a:r>
            <a:r>
              <a:rPr sz="1950" spc="-30" baseline="-14957" dirty="0">
                <a:latin typeface="Cambria Math"/>
                <a:cs typeface="Cambria Math"/>
              </a:rPr>
              <a:t>𝐂</a:t>
            </a:r>
            <a:r>
              <a:rPr sz="1950" spc="120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43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𝛚</a:t>
            </a:r>
            <a:r>
              <a:rPr sz="1950" baseline="-14957" dirty="0">
                <a:latin typeface="Cambria Math"/>
                <a:cs typeface="Cambria Math"/>
              </a:rPr>
              <a:t>𝐜</a:t>
            </a:r>
            <a:r>
              <a:rPr sz="1800" dirty="0">
                <a:latin typeface="Cambria Math"/>
                <a:cs typeface="Cambria Math"/>
              </a:rPr>
              <a:t>𝐭</a:t>
            </a:r>
            <a:r>
              <a:rPr sz="1800" spc="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𝐤</a:t>
            </a:r>
            <a:r>
              <a:rPr sz="1950" baseline="-14957" dirty="0">
                <a:latin typeface="Cambria Math"/>
                <a:cs typeface="Cambria Math"/>
              </a:rPr>
              <a:t>𝐏</a:t>
            </a:r>
            <a:r>
              <a:rPr sz="1800" dirty="0">
                <a:latin typeface="Cambria Math"/>
                <a:cs typeface="Cambria Math"/>
              </a:rPr>
              <a:t>𝐦</a:t>
            </a:r>
            <a:r>
              <a:rPr sz="1800" spc="36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endParaRPr sz="1800" dirty="0">
              <a:latin typeface="Cambria Math"/>
              <a:cs typeface="Cambria Math"/>
            </a:endParaRPr>
          </a:p>
          <a:p>
            <a:pPr marL="63500">
              <a:lnSpc>
                <a:spcPct val="100000"/>
              </a:lnSpc>
              <a:spcBef>
                <a:spcPts val="1605"/>
              </a:spcBef>
              <a:tabLst>
                <a:tab pos="308610" algn="l"/>
              </a:tabLst>
            </a:pP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90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𝐕</a:t>
            </a:r>
            <a:r>
              <a:rPr sz="1950" spc="-30" baseline="-14957" dirty="0">
                <a:latin typeface="Cambria Math"/>
                <a:cs typeface="Cambria Math"/>
              </a:rPr>
              <a:t>𝐂</a:t>
            </a:r>
            <a:r>
              <a:rPr sz="1950" spc="97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34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𝛚</a:t>
            </a:r>
            <a:r>
              <a:rPr sz="1950" baseline="-14957" dirty="0">
                <a:latin typeface="Cambria Math"/>
                <a:cs typeface="Cambria Math"/>
              </a:rPr>
              <a:t>𝐜</a:t>
            </a:r>
            <a:r>
              <a:rPr sz="1800" dirty="0">
                <a:latin typeface="Cambria Math"/>
                <a:cs typeface="Cambria Math"/>
              </a:rPr>
              <a:t>𝐭 +</a:t>
            </a:r>
            <a:r>
              <a:rPr sz="1800" spc="-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𝐦</a:t>
            </a:r>
            <a:r>
              <a:rPr sz="1950" baseline="-14957" dirty="0">
                <a:latin typeface="Cambria Math"/>
                <a:cs typeface="Cambria Math"/>
              </a:rPr>
              <a:t>𝐏</a:t>
            </a:r>
            <a:r>
              <a:rPr sz="1950" spc="112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325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4957" dirty="0">
                <a:latin typeface="Cambria Math"/>
                <a:cs typeface="Cambria Math"/>
              </a:rPr>
              <a:t>𝐦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endParaRPr sz="1800" dirty="0">
              <a:latin typeface="Cambria Math"/>
              <a:cs typeface="Cambria Math"/>
            </a:endParaRPr>
          </a:p>
          <a:p>
            <a:pPr marL="63500">
              <a:lnSpc>
                <a:spcPct val="100000"/>
              </a:lnSpc>
              <a:spcBef>
                <a:spcPts val="1390"/>
              </a:spcBef>
              <a:tabLst>
                <a:tab pos="308610" algn="l"/>
                <a:tab pos="1809750" algn="l"/>
              </a:tabLst>
            </a:pP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6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𝐕</a:t>
            </a:r>
            <a:r>
              <a:rPr sz="1950" baseline="-14957" dirty="0">
                <a:latin typeface="Cambria Math"/>
                <a:cs typeface="Cambria Math"/>
              </a:rPr>
              <a:t>𝐂</a:t>
            </a:r>
            <a:r>
              <a:rPr sz="1950" spc="622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28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4957" dirty="0">
                <a:latin typeface="Cambria Math"/>
                <a:cs typeface="Cambria Math"/>
              </a:rPr>
              <a:t>𝐜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𝐜𝐨𝐬</a:t>
            </a:r>
            <a:r>
              <a:rPr sz="1800" spc="34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𝐦</a:t>
            </a:r>
            <a:r>
              <a:rPr sz="1950" baseline="-14957" dirty="0">
                <a:latin typeface="Cambria Math"/>
                <a:cs typeface="Cambria Math"/>
              </a:rPr>
              <a:t>𝐏</a:t>
            </a:r>
            <a:r>
              <a:rPr sz="1950" spc="104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35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4957" dirty="0">
                <a:latin typeface="Cambria Math"/>
                <a:cs typeface="Cambria Math"/>
              </a:rPr>
              <a:t>𝐦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824982" y="4269485"/>
            <a:ext cx="2397125" cy="212090"/>
          </a:xfrm>
          <a:custGeom>
            <a:avLst/>
            <a:gdLst/>
            <a:ahLst/>
            <a:cxnLst/>
            <a:rect l="l" t="t" r="r" b="b"/>
            <a:pathLst>
              <a:path w="2397125" h="212089">
                <a:moveTo>
                  <a:pt x="70612" y="8636"/>
                </a:moveTo>
                <a:lnTo>
                  <a:pt x="67564" y="0"/>
                </a:lnTo>
                <a:lnTo>
                  <a:pt x="52197" y="5537"/>
                </a:lnTo>
                <a:lnTo>
                  <a:pt x="38735" y="13550"/>
                </a:lnTo>
                <a:lnTo>
                  <a:pt x="9855" y="52095"/>
                </a:lnTo>
                <a:lnTo>
                  <a:pt x="63" y="104775"/>
                </a:lnTo>
                <a:lnTo>
                  <a:pt x="0" y="105918"/>
                </a:lnTo>
                <a:lnTo>
                  <a:pt x="977" y="123444"/>
                </a:lnTo>
                <a:lnTo>
                  <a:pt x="17399" y="174752"/>
                </a:lnTo>
                <a:lnTo>
                  <a:pt x="52146" y="206184"/>
                </a:lnTo>
                <a:lnTo>
                  <a:pt x="67564" y="211709"/>
                </a:lnTo>
                <a:lnTo>
                  <a:pt x="70231" y="203073"/>
                </a:lnTo>
                <a:lnTo>
                  <a:pt x="58178" y="197739"/>
                </a:lnTo>
                <a:lnTo>
                  <a:pt x="47764" y="190309"/>
                </a:lnTo>
                <a:lnTo>
                  <a:pt x="26365" y="155638"/>
                </a:lnTo>
                <a:lnTo>
                  <a:pt x="19342" y="105918"/>
                </a:lnTo>
                <a:lnTo>
                  <a:pt x="19304" y="104775"/>
                </a:lnTo>
                <a:lnTo>
                  <a:pt x="20078" y="86728"/>
                </a:lnTo>
                <a:lnTo>
                  <a:pt x="31877" y="42164"/>
                </a:lnTo>
                <a:lnTo>
                  <a:pt x="58394" y="13957"/>
                </a:lnTo>
                <a:lnTo>
                  <a:pt x="70612" y="8636"/>
                </a:lnTo>
                <a:close/>
              </a:path>
              <a:path w="2397125" h="212089">
                <a:moveTo>
                  <a:pt x="511937" y="105918"/>
                </a:moveTo>
                <a:lnTo>
                  <a:pt x="510844" y="86728"/>
                </a:lnTo>
                <a:lnTo>
                  <a:pt x="510832" y="86487"/>
                </a:lnTo>
                <a:lnTo>
                  <a:pt x="507555" y="68554"/>
                </a:lnTo>
                <a:lnTo>
                  <a:pt x="484759" y="24066"/>
                </a:lnTo>
                <a:lnTo>
                  <a:pt x="444373" y="0"/>
                </a:lnTo>
                <a:lnTo>
                  <a:pt x="441325" y="8636"/>
                </a:lnTo>
                <a:lnTo>
                  <a:pt x="453605" y="13957"/>
                </a:lnTo>
                <a:lnTo>
                  <a:pt x="464159" y="21310"/>
                </a:lnTo>
                <a:lnTo>
                  <a:pt x="485559" y="55435"/>
                </a:lnTo>
                <a:lnTo>
                  <a:pt x="491807" y="86487"/>
                </a:lnTo>
                <a:lnTo>
                  <a:pt x="491845" y="86728"/>
                </a:lnTo>
                <a:lnTo>
                  <a:pt x="492633" y="104775"/>
                </a:lnTo>
                <a:lnTo>
                  <a:pt x="491845" y="123444"/>
                </a:lnTo>
                <a:lnTo>
                  <a:pt x="489483" y="140398"/>
                </a:lnTo>
                <a:lnTo>
                  <a:pt x="472935" y="180784"/>
                </a:lnTo>
                <a:lnTo>
                  <a:pt x="441706" y="203073"/>
                </a:lnTo>
                <a:lnTo>
                  <a:pt x="444373" y="211709"/>
                </a:lnTo>
                <a:lnTo>
                  <a:pt x="484835" y="187706"/>
                </a:lnTo>
                <a:lnTo>
                  <a:pt x="507568" y="143344"/>
                </a:lnTo>
                <a:lnTo>
                  <a:pt x="510832" y="125374"/>
                </a:lnTo>
                <a:lnTo>
                  <a:pt x="511937" y="105918"/>
                </a:lnTo>
                <a:close/>
              </a:path>
              <a:path w="2397125" h="212089">
                <a:moveTo>
                  <a:pt x="985012" y="8636"/>
                </a:moveTo>
                <a:lnTo>
                  <a:pt x="981964" y="0"/>
                </a:lnTo>
                <a:lnTo>
                  <a:pt x="966597" y="5537"/>
                </a:lnTo>
                <a:lnTo>
                  <a:pt x="953135" y="13550"/>
                </a:lnTo>
                <a:lnTo>
                  <a:pt x="924255" y="52095"/>
                </a:lnTo>
                <a:lnTo>
                  <a:pt x="914463" y="104775"/>
                </a:lnTo>
                <a:lnTo>
                  <a:pt x="914400" y="105918"/>
                </a:lnTo>
                <a:lnTo>
                  <a:pt x="915377" y="123444"/>
                </a:lnTo>
                <a:lnTo>
                  <a:pt x="931799" y="174752"/>
                </a:lnTo>
                <a:lnTo>
                  <a:pt x="966546" y="206184"/>
                </a:lnTo>
                <a:lnTo>
                  <a:pt x="981964" y="211709"/>
                </a:lnTo>
                <a:lnTo>
                  <a:pt x="984631" y="203073"/>
                </a:lnTo>
                <a:lnTo>
                  <a:pt x="972578" y="197739"/>
                </a:lnTo>
                <a:lnTo>
                  <a:pt x="962164" y="190309"/>
                </a:lnTo>
                <a:lnTo>
                  <a:pt x="940765" y="155638"/>
                </a:lnTo>
                <a:lnTo>
                  <a:pt x="933742" y="105918"/>
                </a:lnTo>
                <a:lnTo>
                  <a:pt x="933704" y="104775"/>
                </a:lnTo>
                <a:lnTo>
                  <a:pt x="934478" y="86728"/>
                </a:lnTo>
                <a:lnTo>
                  <a:pt x="946277" y="42164"/>
                </a:lnTo>
                <a:lnTo>
                  <a:pt x="972794" y="13957"/>
                </a:lnTo>
                <a:lnTo>
                  <a:pt x="985012" y="8636"/>
                </a:lnTo>
                <a:close/>
              </a:path>
              <a:path w="2397125" h="212089">
                <a:moveTo>
                  <a:pt x="1791208" y="8636"/>
                </a:moveTo>
                <a:lnTo>
                  <a:pt x="1788160" y="0"/>
                </a:lnTo>
                <a:lnTo>
                  <a:pt x="1772793" y="5537"/>
                </a:lnTo>
                <a:lnTo>
                  <a:pt x="1759331" y="13550"/>
                </a:lnTo>
                <a:lnTo>
                  <a:pt x="1730451" y="52095"/>
                </a:lnTo>
                <a:lnTo>
                  <a:pt x="1720659" y="104775"/>
                </a:lnTo>
                <a:lnTo>
                  <a:pt x="1720596" y="105918"/>
                </a:lnTo>
                <a:lnTo>
                  <a:pt x="1721573" y="123444"/>
                </a:lnTo>
                <a:lnTo>
                  <a:pt x="1737995" y="174752"/>
                </a:lnTo>
                <a:lnTo>
                  <a:pt x="1772742" y="206184"/>
                </a:lnTo>
                <a:lnTo>
                  <a:pt x="1788160" y="211709"/>
                </a:lnTo>
                <a:lnTo>
                  <a:pt x="1790827" y="203073"/>
                </a:lnTo>
                <a:lnTo>
                  <a:pt x="1778774" y="197739"/>
                </a:lnTo>
                <a:lnTo>
                  <a:pt x="1768360" y="190309"/>
                </a:lnTo>
                <a:lnTo>
                  <a:pt x="1746961" y="155638"/>
                </a:lnTo>
                <a:lnTo>
                  <a:pt x="1739938" y="105918"/>
                </a:lnTo>
                <a:lnTo>
                  <a:pt x="1739900" y="104775"/>
                </a:lnTo>
                <a:lnTo>
                  <a:pt x="1740674" y="86728"/>
                </a:lnTo>
                <a:lnTo>
                  <a:pt x="1752473" y="42164"/>
                </a:lnTo>
                <a:lnTo>
                  <a:pt x="1778990" y="13957"/>
                </a:lnTo>
                <a:lnTo>
                  <a:pt x="1791208" y="8636"/>
                </a:lnTo>
                <a:close/>
              </a:path>
              <a:path w="2397125" h="212089">
                <a:moveTo>
                  <a:pt x="2302637" y="105918"/>
                </a:moveTo>
                <a:lnTo>
                  <a:pt x="2301544" y="86728"/>
                </a:lnTo>
                <a:lnTo>
                  <a:pt x="2301532" y="86487"/>
                </a:lnTo>
                <a:lnTo>
                  <a:pt x="2298255" y="68554"/>
                </a:lnTo>
                <a:lnTo>
                  <a:pt x="2275459" y="24066"/>
                </a:lnTo>
                <a:lnTo>
                  <a:pt x="2235073" y="0"/>
                </a:lnTo>
                <a:lnTo>
                  <a:pt x="2232025" y="8636"/>
                </a:lnTo>
                <a:lnTo>
                  <a:pt x="2244306" y="13957"/>
                </a:lnTo>
                <a:lnTo>
                  <a:pt x="2254859" y="21310"/>
                </a:lnTo>
                <a:lnTo>
                  <a:pt x="2276259" y="55435"/>
                </a:lnTo>
                <a:lnTo>
                  <a:pt x="2282507" y="86487"/>
                </a:lnTo>
                <a:lnTo>
                  <a:pt x="2282545" y="86728"/>
                </a:lnTo>
                <a:lnTo>
                  <a:pt x="2283333" y="104775"/>
                </a:lnTo>
                <a:lnTo>
                  <a:pt x="2282545" y="123444"/>
                </a:lnTo>
                <a:lnTo>
                  <a:pt x="2280183" y="140398"/>
                </a:lnTo>
                <a:lnTo>
                  <a:pt x="2263635" y="180784"/>
                </a:lnTo>
                <a:lnTo>
                  <a:pt x="2232406" y="203073"/>
                </a:lnTo>
                <a:lnTo>
                  <a:pt x="2235073" y="211709"/>
                </a:lnTo>
                <a:lnTo>
                  <a:pt x="2275535" y="187706"/>
                </a:lnTo>
                <a:lnTo>
                  <a:pt x="2298268" y="143344"/>
                </a:lnTo>
                <a:lnTo>
                  <a:pt x="2301532" y="125374"/>
                </a:lnTo>
                <a:lnTo>
                  <a:pt x="2302637" y="105918"/>
                </a:lnTo>
                <a:close/>
              </a:path>
              <a:path w="2397125" h="212089">
                <a:moveTo>
                  <a:pt x="2397125" y="105918"/>
                </a:moveTo>
                <a:lnTo>
                  <a:pt x="2396032" y="86728"/>
                </a:lnTo>
                <a:lnTo>
                  <a:pt x="2396020" y="86487"/>
                </a:lnTo>
                <a:lnTo>
                  <a:pt x="2392743" y="68554"/>
                </a:lnTo>
                <a:lnTo>
                  <a:pt x="2369947" y="24066"/>
                </a:lnTo>
                <a:lnTo>
                  <a:pt x="2329561" y="0"/>
                </a:lnTo>
                <a:lnTo>
                  <a:pt x="2326513" y="8636"/>
                </a:lnTo>
                <a:lnTo>
                  <a:pt x="2338794" y="13957"/>
                </a:lnTo>
                <a:lnTo>
                  <a:pt x="2349347" y="21310"/>
                </a:lnTo>
                <a:lnTo>
                  <a:pt x="2370747" y="55435"/>
                </a:lnTo>
                <a:lnTo>
                  <a:pt x="2376995" y="86487"/>
                </a:lnTo>
                <a:lnTo>
                  <a:pt x="2377033" y="86728"/>
                </a:lnTo>
                <a:lnTo>
                  <a:pt x="2377821" y="104775"/>
                </a:lnTo>
                <a:lnTo>
                  <a:pt x="2377033" y="123444"/>
                </a:lnTo>
                <a:lnTo>
                  <a:pt x="2374671" y="140398"/>
                </a:lnTo>
                <a:lnTo>
                  <a:pt x="2358123" y="180784"/>
                </a:lnTo>
                <a:lnTo>
                  <a:pt x="2326894" y="203073"/>
                </a:lnTo>
                <a:lnTo>
                  <a:pt x="2329561" y="211709"/>
                </a:lnTo>
                <a:lnTo>
                  <a:pt x="2370023" y="187706"/>
                </a:lnTo>
                <a:lnTo>
                  <a:pt x="2392756" y="143344"/>
                </a:lnTo>
                <a:lnTo>
                  <a:pt x="2396020" y="125374"/>
                </a:lnTo>
                <a:lnTo>
                  <a:pt x="2397125" y="1059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221859" y="4199635"/>
            <a:ext cx="2870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173480" algn="l"/>
              </a:tabLst>
            </a:pPr>
            <a:r>
              <a:rPr sz="1800" dirty="0">
                <a:latin typeface="Cambria Math"/>
                <a:cs typeface="Cambria Math"/>
              </a:rPr>
              <a:t>− 𝐬𝐢𝐧</a:t>
            </a:r>
            <a:r>
              <a:rPr sz="1800" spc="34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4957" dirty="0">
                <a:latin typeface="Cambria Math"/>
                <a:cs typeface="Cambria Math"/>
              </a:rPr>
              <a:t>𝐜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𝐬𝐢𝐧</a:t>
            </a:r>
            <a:r>
              <a:rPr sz="1800" spc="35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𝐦</a:t>
            </a:r>
            <a:r>
              <a:rPr sz="1950" baseline="-14957" dirty="0">
                <a:latin typeface="Cambria Math"/>
                <a:cs typeface="Cambria Math"/>
              </a:rPr>
              <a:t>𝐏</a:t>
            </a:r>
            <a:r>
              <a:rPr sz="1950" spc="120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33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4957" dirty="0">
                <a:latin typeface="Cambria Math"/>
                <a:cs typeface="Cambria Math"/>
              </a:rPr>
              <a:t>𝐦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31" name="object 3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13586" y="5209794"/>
            <a:ext cx="236092" cy="211709"/>
          </a:xfrm>
          <a:prstGeom prst="rect">
            <a:avLst/>
          </a:prstGeom>
        </p:spPr>
      </p:pic>
      <p:sp>
        <p:nvSpPr>
          <p:cNvPr id="32" name="object 32"/>
          <p:cNvSpPr/>
          <p:nvPr/>
        </p:nvSpPr>
        <p:spPr>
          <a:xfrm>
            <a:off x="2314829" y="5207761"/>
            <a:ext cx="3578860" cy="213995"/>
          </a:xfrm>
          <a:custGeom>
            <a:avLst/>
            <a:gdLst/>
            <a:ahLst/>
            <a:cxnLst/>
            <a:rect l="l" t="t" r="r" b="b"/>
            <a:pathLst>
              <a:path w="3578860" h="213995">
                <a:moveTo>
                  <a:pt x="71247" y="0"/>
                </a:moveTo>
                <a:lnTo>
                  <a:pt x="68326" y="0"/>
                </a:lnTo>
                <a:lnTo>
                  <a:pt x="56083" y="965"/>
                </a:lnTo>
                <a:lnTo>
                  <a:pt x="19367" y="26454"/>
                </a:lnTo>
                <a:lnTo>
                  <a:pt x="16129" y="46736"/>
                </a:lnTo>
                <a:lnTo>
                  <a:pt x="16129" y="52832"/>
                </a:lnTo>
                <a:lnTo>
                  <a:pt x="17018" y="59944"/>
                </a:lnTo>
                <a:lnTo>
                  <a:pt x="18796" y="67818"/>
                </a:lnTo>
                <a:lnTo>
                  <a:pt x="20447" y="75692"/>
                </a:lnTo>
                <a:lnTo>
                  <a:pt x="21336" y="80899"/>
                </a:lnTo>
                <a:lnTo>
                  <a:pt x="21336" y="88773"/>
                </a:lnTo>
                <a:lnTo>
                  <a:pt x="19558" y="92964"/>
                </a:lnTo>
                <a:lnTo>
                  <a:pt x="12573" y="99441"/>
                </a:lnTo>
                <a:lnTo>
                  <a:pt x="7239" y="101092"/>
                </a:lnTo>
                <a:lnTo>
                  <a:pt x="0" y="101346"/>
                </a:lnTo>
                <a:lnTo>
                  <a:pt x="0" y="110490"/>
                </a:lnTo>
                <a:lnTo>
                  <a:pt x="21336" y="123190"/>
                </a:lnTo>
                <a:lnTo>
                  <a:pt x="21336" y="130937"/>
                </a:lnTo>
                <a:lnTo>
                  <a:pt x="20447" y="136271"/>
                </a:lnTo>
                <a:lnTo>
                  <a:pt x="18796" y="144145"/>
                </a:lnTo>
                <a:lnTo>
                  <a:pt x="17018" y="152019"/>
                </a:lnTo>
                <a:lnTo>
                  <a:pt x="16129" y="159004"/>
                </a:lnTo>
                <a:lnTo>
                  <a:pt x="16129" y="165227"/>
                </a:lnTo>
                <a:lnTo>
                  <a:pt x="16967" y="176644"/>
                </a:lnTo>
                <a:lnTo>
                  <a:pt x="45466" y="209651"/>
                </a:lnTo>
                <a:lnTo>
                  <a:pt x="68326" y="212852"/>
                </a:lnTo>
                <a:lnTo>
                  <a:pt x="71247" y="212852"/>
                </a:lnTo>
                <a:lnTo>
                  <a:pt x="71247" y="204343"/>
                </a:lnTo>
                <a:lnTo>
                  <a:pt x="69596" y="204343"/>
                </a:lnTo>
                <a:lnTo>
                  <a:pt x="61937" y="203822"/>
                </a:lnTo>
                <a:lnTo>
                  <a:pt x="35052" y="167259"/>
                </a:lnTo>
                <a:lnTo>
                  <a:pt x="35052" y="162052"/>
                </a:lnTo>
                <a:lnTo>
                  <a:pt x="35814" y="155575"/>
                </a:lnTo>
                <a:lnTo>
                  <a:pt x="38862" y="140208"/>
                </a:lnTo>
                <a:lnTo>
                  <a:pt x="39624" y="134747"/>
                </a:lnTo>
                <a:lnTo>
                  <a:pt x="39624" y="125222"/>
                </a:lnTo>
                <a:lnTo>
                  <a:pt x="37719" y="120015"/>
                </a:lnTo>
                <a:lnTo>
                  <a:pt x="34036" y="115951"/>
                </a:lnTo>
                <a:lnTo>
                  <a:pt x="30226" y="111887"/>
                </a:lnTo>
                <a:lnTo>
                  <a:pt x="25908" y="108839"/>
                </a:lnTo>
                <a:lnTo>
                  <a:pt x="20701" y="106934"/>
                </a:lnTo>
                <a:lnTo>
                  <a:pt x="20701" y="104902"/>
                </a:lnTo>
                <a:lnTo>
                  <a:pt x="39624" y="86741"/>
                </a:lnTo>
                <a:lnTo>
                  <a:pt x="39624" y="77089"/>
                </a:lnTo>
                <a:lnTo>
                  <a:pt x="38862" y="71628"/>
                </a:lnTo>
                <a:lnTo>
                  <a:pt x="35814" y="56261"/>
                </a:lnTo>
                <a:lnTo>
                  <a:pt x="35052" y="49911"/>
                </a:lnTo>
                <a:lnTo>
                  <a:pt x="35052" y="44704"/>
                </a:lnTo>
                <a:lnTo>
                  <a:pt x="35610" y="35864"/>
                </a:lnTo>
                <a:lnTo>
                  <a:pt x="69596" y="8509"/>
                </a:lnTo>
                <a:lnTo>
                  <a:pt x="71247" y="8509"/>
                </a:lnTo>
                <a:lnTo>
                  <a:pt x="71247" y="0"/>
                </a:lnTo>
                <a:close/>
              </a:path>
              <a:path w="3578860" h="213995">
                <a:moveTo>
                  <a:pt x="520573" y="10541"/>
                </a:moveTo>
                <a:lnTo>
                  <a:pt x="517525" y="2032"/>
                </a:lnTo>
                <a:lnTo>
                  <a:pt x="502158" y="7569"/>
                </a:lnTo>
                <a:lnTo>
                  <a:pt x="488696" y="15582"/>
                </a:lnTo>
                <a:lnTo>
                  <a:pt x="459816" y="54127"/>
                </a:lnTo>
                <a:lnTo>
                  <a:pt x="450024" y="106807"/>
                </a:lnTo>
                <a:lnTo>
                  <a:pt x="449961" y="107950"/>
                </a:lnTo>
                <a:lnTo>
                  <a:pt x="450938" y="125476"/>
                </a:lnTo>
                <a:lnTo>
                  <a:pt x="467360" y="176784"/>
                </a:lnTo>
                <a:lnTo>
                  <a:pt x="502107" y="208216"/>
                </a:lnTo>
                <a:lnTo>
                  <a:pt x="517525" y="213741"/>
                </a:lnTo>
                <a:lnTo>
                  <a:pt x="520192" y="205105"/>
                </a:lnTo>
                <a:lnTo>
                  <a:pt x="508139" y="199771"/>
                </a:lnTo>
                <a:lnTo>
                  <a:pt x="497725" y="192341"/>
                </a:lnTo>
                <a:lnTo>
                  <a:pt x="476326" y="157670"/>
                </a:lnTo>
                <a:lnTo>
                  <a:pt x="469303" y="107950"/>
                </a:lnTo>
                <a:lnTo>
                  <a:pt x="469265" y="106807"/>
                </a:lnTo>
                <a:lnTo>
                  <a:pt x="470039" y="88747"/>
                </a:lnTo>
                <a:lnTo>
                  <a:pt x="481838" y="44196"/>
                </a:lnTo>
                <a:lnTo>
                  <a:pt x="508355" y="15925"/>
                </a:lnTo>
                <a:lnTo>
                  <a:pt x="520573" y="10541"/>
                </a:lnTo>
                <a:close/>
              </a:path>
              <a:path w="3578860" h="213995">
                <a:moveTo>
                  <a:pt x="960374" y="107950"/>
                </a:moveTo>
                <a:lnTo>
                  <a:pt x="959281" y="88747"/>
                </a:lnTo>
                <a:lnTo>
                  <a:pt x="959269" y="88519"/>
                </a:lnTo>
                <a:lnTo>
                  <a:pt x="955992" y="70586"/>
                </a:lnTo>
                <a:lnTo>
                  <a:pt x="933196" y="26098"/>
                </a:lnTo>
                <a:lnTo>
                  <a:pt x="892810" y="2032"/>
                </a:lnTo>
                <a:lnTo>
                  <a:pt x="889762" y="10541"/>
                </a:lnTo>
                <a:lnTo>
                  <a:pt x="902042" y="15925"/>
                </a:lnTo>
                <a:lnTo>
                  <a:pt x="912596" y="23329"/>
                </a:lnTo>
                <a:lnTo>
                  <a:pt x="933996" y="57416"/>
                </a:lnTo>
                <a:lnTo>
                  <a:pt x="940244" y="88519"/>
                </a:lnTo>
                <a:lnTo>
                  <a:pt x="940282" y="88747"/>
                </a:lnTo>
                <a:lnTo>
                  <a:pt x="941070" y="106807"/>
                </a:lnTo>
                <a:lnTo>
                  <a:pt x="940282" y="125476"/>
                </a:lnTo>
                <a:lnTo>
                  <a:pt x="937920" y="142430"/>
                </a:lnTo>
                <a:lnTo>
                  <a:pt x="921372" y="182816"/>
                </a:lnTo>
                <a:lnTo>
                  <a:pt x="890143" y="205105"/>
                </a:lnTo>
                <a:lnTo>
                  <a:pt x="892810" y="213741"/>
                </a:lnTo>
                <a:lnTo>
                  <a:pt x="933272" y="189738"/>
                </a:lnTo>
                <a:lnTo>
                  <a:pt x="956005" y="145376"/>
                </a:lnTo>
                <a:lnTo>
                  <a:pt x="959269" y="127406"/>
                </a:lnTo>
                <a:lnTo>
                  <a:pt x="960374" y="107950"/>
                </a:lnTo>
                <a:close/>
              </a:path>
              <a:path w="3578860" h="213995">
                <a:moveTo>
                  <a:pt x="2027809" y="10541"/>
                </a:moveTo>
                <a:lnTo>
                  <a:pt x="2024761" y="2032"/>
                </a:lnTo>
                <a:lnTo>
                  <a:pt x="2009394" y="7569"/>
                </a:lnTo>
                <a:lnTo>
                  <a:pt x="1995932" y="15582"/>
                </a:lnTo>
                <a:lnTo>
                  <a:pt x="1967052" y="54127"/>
                </a:lnTo>
                <a:lnTo>
                  <a:pt x="1957260" y="106807"/>
                </a:lnTo>
                <a:lnTo>
                  <a:pt x="1957197" y="107950"/>
                </a:lnTo>
                <a:lnTo>
                  <a:pt x="1958174" y="125476"/>
                </a:lnTo>
                <a:lnTo>
                  <a:pt x="1974596" y="176784"/>
                </a:lnTo>
                <a:lnTo>
                  <a:pt x="2009343" y="208216"/>
                </a:lnTo>
                <a:lnTo>
                  <a:pt x="2024761" y="213741"/>
                </a:lnTo>
                <a:lnTo>
                  <a:pt x="2027428" y="205105"/>
                </a:lnTo>
                <a:lnTo>
                  <a:pt x="2015375" y="199771"/>
                </a:lnTo>
                <a:lnTo>
                  <a:pt x="2004961" y="192341"/>
                </a:lnTo>
                <a:lnTo>
                  <a:pt x="1983562" y="157670"/>
                </a:lnTo>
                <a:lnTo>
                  <a:pt x="1976539" y="107950"/>
                </a:lnTo>
                <a:lnTo>
                  <a:pt x="1976501" y="106807"/>
                </a:lnTo>
                <a:lnTo>
                  <a:pt x="1977275" y="88747"/>
                </a:lnTo>
                <a:lnTo>
                  <a:pt x="1989074" y="44196"/>
                </a:lnTo>
                <a:lnTo>
                  <a:pt x="2015591" y="15925"/>
                </a:lnTo>
                <a:lnTo>
                  <a:pt x="2027809" y="10541"/>
                </a:lnTo>
                <a:close/>
              </a:path>
              <a:path w="3578860" h="213995">
                <a:moveTo>
                  <a:pt x="2467610" y="107950"/>
                </a:moveTo>
                <a:lnTo>
                  <a:pt x="2466517" y="88747"/>
                </a:lnTo>
                <a:lnTo>
                  <a:pt x="2466505" y="88519"/>
                </a:lnTo>
                <a:lnTo>
                  <a:pt x="2463228" y="70586"/>
                </a:lnTo>
                <a:lnTo>
                  <a:pt x="2440432" y="26098"/>
                </a:lnTo>
                <a:lnTo>
                  <a:pt x="2400046" y="2032"/>
                </a:lnTo>
                <a:lnTo>
                  <a:pt x="2396998" y="10541"/>
                </a:lnTo>
                <a:lnTo>
                  <a:pt x="2409279" y="15925"/>
                </a:lnTo>
                <a:lnTo>
                  <a:pt x="2419832" y="23329"/>
                </a:lnTo>
                <a:lnTo>
                  <a:pt x="2441232" y="57416"/>
                </a:lnTo>
                <a:lnTo>
                  <a:pt x="2447480" y="88519"/>
                </a:lnTo>
                <a:lnTo>
                  <a:pt x="2447518" y="88747"/>
                </a:lnTo>
                <a:lnTo>
                  <a:pt x="2448306" y="106807"/>
                </a:lnTo>
                <a:lnTo>
                  <a:pt x="2447518" y="125476"/>
                </a:lnTo>
                <a:lnTo>
                  <a:pt x="2445156" y="142430"/>
                </a:lnTo>
                <a:lnTo>
                  <a:pt x="2428608" y="182816"/>
                </a:lnTo>
                <a:lnTo>
                  <a:pt x="2397379" y="205105"/>
                </a:lnTo>
                <a:lnTo>
                  <a:pt x="2400046" y="213741"/>
                </a:lnTo>
                <a:lnTo>
                  <a:pt x="2440508" y="189738"/>
                </a:lnTo>
                <a:lnTo>
                  <a:pt x="2463241" y="145376"/>
                </a:lnTo>
                <a:lnTo>
                  <a:pt x="2466505" y="127406"/>
                </a:lnTo>
                <a:lnTo>
                  <a:pt x="2467610" y="107950"/>
                </a:lnTo>
                <a:close/>
              </a:path>
              <a:path w="3578860" h="213995">
                <a:moveTo>
                  <a:pt x="2969641" y="10541"/>
                </a:moveTo>
                <a:lnTo>
                  <a:pt x="2966593" y="2032"/>
                </a:lnTo>
                <a:lnTo>
                  <a:pt x="2951226" y="7569"/>
                </a:lnTo>
                <a:lnTo>
                  <a:pt x="2937764" y="15582"/>
                </a:lnTo>
                <a:lnTo>
                  <a:pt x="2908884" y="54127"/>
                </a:lnTo>
                <a:lnTo>
                  <a:pt x="2899092" y="106807"/>
                </a:lnTo>
                <a:lnTo>
                  <a:pt x="2899029" y="107950"/>
                </a:lnTo>
                <a:lnTo>
                  <a:pt x="2900007" y="125476"/>
                </a:lnTo>
                <a:lnTo>
                  <a:pt x="2916428" y="176784"/>
                </a:lnTo>
                <a:lnTo>
                  <a:pt x="2951175" y="208216"/>
                </a:lnTo>
                <a:lnTo>
                  <a:pt x="2966593" y="213741"/>
                </a:lnTo>
                <a:lnTo>
                  <a:pt x="2969260" y="205105"/>
                </a:lnTo>
                <a:lnTo>
                  <a:pt x="2957207" y="199771"/>
                </a:lnTo>
                <a:lnTo>
                  <a:pt x="2946793" y="192341"/>
                </a:lnTo>
                <a:lnTo>
                  <a:pt x="2925394" y="157670"/>
                </a:lnTo>
                <a:lnTo>
                  <a:pt x="2918371" y="107950"/>
                </a:lnTo>
                <a:lnTo>
                  <a:pt x="2918333" y="106807"/>
                </a:lnTo>
                <a:lnTo>
                  <a:pt x="2919107" y="88747"/>
                </a:lnTo>
                <a:lnTo>
                  <a:pt x="2930906" y="44196"/>
                </a:lnTo>
                <a:lnTo>
                  <a:pt x="2957423" y="15925"/>
                </a:lnTo>
                <a:lnTo>
                  <a:pt x="2969641" y="10541"/>
                </a:lnTo>
                <a:close/>
              </a:path>
              <a:path w="3578860" h="213995">
                <a:moveTo>
                  <a:pt x="3481070" y="107950"/>
                </a:moveTo>
                <a:lnTo>
                  <a:pt x="3479977" y="88747"/>
                </a:lnTo>
                <a:lnTo>
                  <a:pt x="3479965" y="88519"/>
                </a:lnTo>
                <a:lnTo>
                  <a:pt x="3476688" y="70586"/>
                </a:lnTo>
                <a:lnTo>
                  <a:pt x="3453892" y="26098"/>
                </a:lnTo>
                <a:lnTo>
                  <a:pt x="3413506" y="2032"/>
                </a:lnTo>
                <a:lnTo>
                  <a:pt x="3410458" y="10541"/>
                </a:lnTo>
                <a:lnTo>
                  <a:pt x="3422739" y="15925"/>
                </a:lnTo>
                <a:lnTo>
                  <a:pt x="3433292" y="23329"/>
                </a:lnTo>
                <a:lnTo>
                  <a:pt x="3454692" y="57416"/>
                </a:lnTo>
                <a:lnTo>
                  <a:pt x="3460940" y="88519"/>
                </a:lnTo>
                <a:lnTo>
                  <a:pt x="3460978" y="88747"/>
                </a:lnTo>
                <a:lnTo>
                  <a:pt x="3461766" y="106807"/>
                </a:lnTo>
                <a:lnTo>
                  <a:pt x="3460978" y="125476"/>
                </a:lnTo>
                <a:lnTo>
                  <a:pt x="3458616" y="142430"/>
                </a:lnTo>
                <a:lnTo>
                  <a:pt x="3442068" y="182816"/>
                </a:lnTo>
                <a:lnTo>
                  <a:pt x="3410839" y="205105"/>
                </a:lnTo>
                <a:lnTo>
                  <a:pt x="3413506" y="213741"/>
                </a:lnTo>
                <a:lnTo>
                  <a:pt x="3453968" y="189738"/>
                </a:lnTo>
                <a:lnTo>
                  <a:pt x="3476701" y="145376"/>
                </a:lnTo>
                <a:lnTo>
                  <a:pt x="3479965" y="127406"/>
                </a:lnTo>
                <a:lnTo>
                  <a:pt x="3481070" y="107950"/>
                </a:lnTo>
                <a:close/>
              </a:path>
              <a:path w="3578860" h="213995">
                <a:moveTo>
                  <a:pt x="3578606" y="101473"/>
                </a:moveTo>
                <a:lnTo>
                  <a:pt x="3571494" y="101219"/>
                </a:lnTo>
                <a:lnTo>
                  <a:pt x="3566160" y="99568"/>
                </a:lnTo>
                <a:lnTo>
                  <a:pt x="3559175" y="93091"/>
                </a:lnTo>
                <a:lnTo>
                  <a:pt x="3557397" y="88900"/>
                </a:lnTo>
                <a:lnTo>
                  <a:pt x="3557397" y="81026"/>
                </a:lnTo>
                <a:lnTo>
                  <a:pt x="3558159" y="75819"/>
                </a:lnTo>
                <a:lnTo>
                  <a:pt x="3559937" y="67945"/>
                </a:lnTo>
                <a:lnTo>
                  <a:pt x="3561715" y="59944"/>
                </a:lnTo>
                <a:lnTo>
                  <a:pt x="3562604" y="52959"/>
                </a:lnTo>
                <a:lnTo>
                  <a:pt x="3562604" y="46736"/>
                </a:lnTo>
                <a:lnTo>
                  <a:pt x="3542258" y="6972"/>
                </a:lnTo>
                <a:lnTo>
                  <a:pt x="3510407" y="0"/>
                </a:lnTo>
                <a:lnTo>
                  <a:pt x="3507486" y="0"/>
                </a:lnTo>
                <a:lnTo>
                  <a:pt x="3507486" y="8509"/>
                </a:lnTo>
                <a:lnTo>
                  <a:pt x="3509137" y="8509"/>
                </a:lnTo>
                <a:lnTo>
                  <a:pt x="3516782" y="9042"/>
                </a:lnTo>
                <a:lnTo>
                  <a:pt x="3543554" y="44831"/>
                </a:lnTo>
                <a:lnTo>
                  <a:pt x="3543554" y="50038"/>
                </a:lnTo>
                <a:lnTo>
                  <a:pt x="3542919" y="56388"/>
                </a:lnTo>
                <a:lnTo>
                  <a:pt x="3539871" y="71755"/>
                </a:lnTo>
                <a:lnTo>
                  <a:pt x="3539109" y="77216"/>
                </a:lnTo>
                <a:lnTo>
                  <a:pt x="3539109" y="86868"/>
                </a:lnTo>
                <a:lnTo>
                  <a:pt x="3541014" y="92075"/>
                </a:lnTo>
                <a:lnTo>
                  <a:pt x="3544697" y="96139"/>
                </a:lnTo>
                <a:lnTo>
                  <a:pt x="3548507" y="100076"/>
                </a:lnTo>
                <a:lnTo>
                  <a:pt x="3552825" y="103124"/>
                </a:lnTo>
                <a:lnTo>
                  <a:pt x="3558032" y="105029"/>
                </a:lnTo>
                <a:lnTo>
                  <a:pt x="3558032" y="107061"/>
                </a:lnTo>
                <a:lnTo>
                  <a:pt x="3539109" y="125349"/>
                </a:lnTo>
                <a:lnTo>
                  <a:pt x="3539109" y="134874"/>
                </a:lnTo>
                <a:lnTo>
                  <a:pt x="3539871" y="140335"/>
                </a:lnTo>
                <a:lnTo>
                  <a:pt x="3542919" y="155702"/>
                </a:lnTo>
                <a:lnTo>
                  <a:pt x="3543554" y="162179"/>
                </a:lnTo>
                <a:lnTo>
                  <a:pt x="3543554" y="167386"/>
                </a:lnTo>
                <a:lnTo>
                  <a:pt x="3542982" y="176580"/>
                </a:lnTo>
                <a:lnTo>
                  <a:pt x="3542982" y="176745"/>
                </a:lnTo>
                <a:lnTo>
                  <a:pt x="3509137" y="204343"/>
                </a:lnTo>
                <a:lnTo>
                  <a:pt x="3507486" y="204343"/>
                </a:lnTo>
                <a:lnTo>
                  <a:pt x="3507486" y="212852"/>
                </a:lnTo>
                <a:lnTo>
                  <a:pt x="3510407" y="212852"/>
                </a:lnTo>
                <a:lnTo>
                  <a:pt x="3522637" y="211963"/>
                </a:lnTo>
                <a:lnTo>
                  <a:pt x="3559365" y="186232"/>
                </a:lnTo>
                <a:lnTo>
                  <a:pt x="3561740" y="176745"/>
                </a:lnTo>
                <a:lnTo>
                  <a:pt x="3561791" y="176580"/>
                </a:lnTo>
                <a:lnTo>
                  <a:pt x="3562604" y="165354"/>
                </a:lnTo>
                <a:lnTo>
                  <a:pt x="3562604" y="159131"/>
                </a:lnTo>
                <a:lnTo>
                  <a:pt x="3561715" y="152146"/>
                </a:lnTo>
                <a:lnTo>
                  <a:pt x="3558159" y="136398"/>
                </a:lnTo>
                <a:lnTo>
                  <a:pt x="3557397" y="131064"/>
                </a:lnTo>
                <a:lnTo>
                  <a:pt x="3557397" y="123317"/>
                </a:lnTo>
                <a:lnTo>
                  <a:pt x="3559175" y="119126"/>
                </a:lnTo>
                <a:lnTo>
                  <a:pt x="3562604" y="115824"/>
                </a:lnTo>
                <a:lnTo>
                  <a:pt x="3566160" y="112649"/>
                </a:lnTo>
                <a:lnTo>
                  <a:pt x="3571494" y="110871"/>
                </a:lnTo>
                <a:lnTo>
                  <a:pt x="3578606" y="110617"/>
                </a:lnTo>
                <a:lnTo>
                  <a:pt x="3578606" y="1014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99339" y="4472178"/>
            <a:ext cx="7224395" cy="967740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494665" indent="-456565">
              <a:lnSpc>
                <a:spcPct val="100000"/>
              </a:lnSpc>
              <a:spcBef>
                <a:spcPts val="1460"/>
              </a:spcBef>
              <a:buFont typeface="Wingdings"/>
              <a:buChar char=""/>
              <a:tabLst>
                <a:tab pos="4946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Small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values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Modulation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Index,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srgbClr val="6F2F9F"/>
                </a:solidFill>
                <a:latin typeface="Cambria Math"/>
                <a:cs typeface="Cambria Math"/>
              </a:rPr>
              <a:t>𝐜𝐨𝐬</a:t>
            </a:r>
            <a:r>
              <a:rPr sz="1950" spc="31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1950" dirty="0">
                <a:solidFill>
                  <a:srgbClr val="6F2F9F"/>
                </a:solidFill>
                <a:latin typeface="Cambria Math"/>
                <a:cs typeface="Cambria Math"/>
              </a:rPr>
              <a:t>𝐦</a:t>
            </a:r>
            <a:r>
              <a:rPr sz="2100" baseline="-15873" dirty="0">
                <a:solidFill>
                  <a:srgbClr val="6F2F9F"/>
                </a:solidFill>
                <a:latin typeface="Cambria Math"/>
                <a:cs typeface="Cambria Math"/>
              </a:rPr>
              <a:t>𝐏</a:t>
            </a:r>
            <a:r>
              <a:rPr sz="2100" spc="97" baseline="-15873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1950" dirty="0">
                <a:solidFill>
                  <a:srgbClr val="6F2F9F"/>
                </a:solidFill>
                <a:latin typeface="Cambria Math"/>
                <a:cs typeface="Cambria Math"/>
              </a:rPr>
              <a:t>𝐜𝐨𝐬</a:t>
            </a:r>
            <a:r>
              <a:rPr sz="1950" spc="31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1950" spc="-25" dirty="0">
                <a:solidFill>
                  <a:srgbClr val="6F2F9F"/>
                </a:solidFill>
                <a:latin typeface="Cambria Math"/>
                <a:cs typeface="Cambria Math"/>
              </a:rPr>
              <a:t>𝛚</a:t>
            </a:r>
            <a:r>
              <a:rPr sz="2100" spc="-37" baseline="-15873" dirty="0">
                <a:solidFill>
                  <a:srgbClr val="6F2F9F"/>
                </a:solidFill>
                <a:latin typeface="Cambria Math"/>
                <a:cs typeface="Cambria Math"/>
              </a:rPr>
              <a:t>𝐦</a:t>
            </a:r>
            <a:r>
              <a:rPr sz="1950" spc="-25" dirty="0">
                <a:solidFill>
                  <a:srgbClr val="6F2F9F"/>
                </a:solidFill>
                <a:latin typeface="Cambria Math"/>
                <a:cs typeface="Cambria Math"/>
              </a:rPr>
              <a:t>𝐭</a:t>
            </a:r>
            <a:endParaRPr sz="1950">
              <a:latin typeface="Cambria Math"/>
              <a:cs typeface="Cambria Math"/>
            </a:endParaRPr>
          </a:p>
          <a:p>
            <a:pPr marL="577850">
              <a:lnSpc>
                <a:spcPct val="100000"/>
              </a:lnSpc>
              <a:spcBef>
                <a:spcPts val="1020"/>
              </a:spcBef>
              <a:tabLst>
                <a:tab pos="1633855" algn="l"/>
                <a:tab pos="3147060" algn="l"/>
                <a:tab pos="4642485" algn="l"/>
              </a:tabLst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5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𝐘</a:t>
            </a:r>
            <a:r>
              <a:rPr sz="1950" baseline="-14957" dirty="0">
                <a:latin typeface="Cambria Math"/>
                <a:cs typeface="Cambria Math"/>
              </a:rPr>
              <a:t>𝐏𝐌</a:t>
            </a:r>
            <a:r>
              <a:rPr sz="1950" spc="660" baseline="-14957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6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𝐕</a:t>
            </a:r>
            <a:r>
              <a:rPr sz="1950" baseline="-14957" dirty="0">
                <a:latin typeface="Cambria Math"/>
                <a:cs typeface="Cambria Math"/>
              </a:rPr>
              <a:t>𝐂</a:t>
            </a:r>
            <a:r>
              <a:rPr sz="1950" spc="622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28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4957" dirty="0">
                <a:latin typeface="Cambria Math"/>
                <a:cs typeface="Cambria Math"/>
              </a:rPr>
              <a:t>𝐜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−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𝐦</a:t>
            </a:r>
            <a:r>
              <a:rPr sz="1950" baseline="-14957" dirty="0">
                <a:latin typeface="Cambria Math"/>
                <a:cs typeface="Cambria Math"/>
              </a:rPr>
              <a:t>𝐏</a:t>
            </a:r>
            <a:r>
              <a:rPr sz="1950" spc="104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𝐬𝐢𝐧</a:t>
            </a:r>
            <a:r>
              <a:rPr sz="1800" spc="355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4957" dirty="0">
                <a:latin typeface="Cambria Math"/>
                <a:cs typeface="Cambria Math"/>
              </a:rPr>
              <a:t>𝐜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𝐜𝐨𝐬</a:t>
            </a:r>
            <a:r>
              <a:rPr sz="1800" spc="325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4957" dirty="0">
                <a:latin typeface="Cambria Math"/>
                <a:cs typeface="Cambria Math"/>
              </a:rPr>
              <a:t>𝐦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325116" y="6090005"/>
            <a:ext cx="673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Carrier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906773" y="6090005"/>
            <a:ext cx="1000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Sidebands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6" name="object 3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03680" y="5774334"/>
            <a:ext cx="236092" cy="211747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716686" y="5704738"/>
            <a:ext cx="1316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106805" algn="l"/>
              </a:tabLst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5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𝐘</a:t>
            </a:r>
            <a:r>
              <a:rPr sz="1950" baseline="-14957" dirty="0">
                <a:latin typeface="Cambria Math"/>
                <a:cs typeface="Cambria Math"/>
              </a:rPr>
              <a:t>𝐏𝐌</a:t>
            </a:r>
            <a:r>
              <a:rPr sz="1950" spc="652" baseline="-14957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704592" y="5774334"/>
            <a:ext cx="510540" cy="212090"/>
          </a:xfrm>
          <a:custGeom>
            <a:avLst/>
            <a:gdLst/>
            <a:ahLst/>
            <a:cxnLst/>
            <a:rect l="l" t="t" r="r" b="b"/>
            <a:pathLst>
              <a:path w="510539" h="212089">
                <a:moveTo>
                  <a:pt x="442849" y="0"/>
                </a:moveTo>
                <a:lnTo>
                  <a:pt x="439801" y="8597"/>
                </a:lnTo>
                <a:lnTo>
                  <a:pt x="452086" y="13917"/>
                </a:lnTo>
                <a:lnTo>
                  <a:pt x="462645" y="21282"/>
                </a:lnTo>
                <a:lnTo>
                  <a:pt x="484036" y="55414"/>
                </a:lnTo>
                <a:lnTo>
                  <a:pt x="491109" y="104813"/>
                </a:lnTo>
                <a:lnTo>
                  <a:pt x="490323" y="123489"/>
                </a:lnTo>
                <a:lnTo>
                  <a:pt x="478536" y="169227"/>
                </a:lnTo>
                <a:lnTo>
                  <a:pt x="452229" y="197807"/>
                </a:lnTo>
                <a:lnTo>
                  <a:pt x="440182" y="203149"/>
                </a:lnTo>
                <a:lnTo>
                  <a:pt x="442849" y="211747"/>
                </a:lnTo>
                <a:lnTo>
                  <a:pt x="483318" y="187715"/>
                </a:lnTo>
                <a:lnTo>
                  <a:pt x="506047" y="143336"/>
                </a:lnTo>
                <a:lnTo>
                  <a:pt x="510413" y="105930"/>
                </a:lnTo>
                <a:lnTo>
                  <a:pt x="509330" y="86751"/>
                </a:lnTo>
                <a:lnTo>
                  <a:pt x="509317" y="86521"/>
                </a:lnTo>
                <a:lnTo>
                  <a:pt x="492887" y="37122"/>
                </a:lnTo>
                <a:lnTo>
                  <a:pt x="458186" y="5543"/>
                </a:lnTo>
                <a:lnTo>
                  <a:pt x="442849" y="0"/>
                </a:lnTo>
                <a:close/>
              </a:path>
              <a:path w="510539" h="212089">
                <a:moveTo>
                  <a:pt x="67564" y="0"/>
                </a:moveTo>
                <a:lnTo>
                  <a:pt x="27166" y="24106"/>
                </a:lnTo>
                <a:lnTo>
                  <a:pt x="4381" y="68583"/>
                </a:lnTo>
                <a:lnTo>
                  <a:pt x="63" y="104813"/>
                </a:lnTo>
                <a:lnTo>
                  <a:pt x="0" y="105930"/>
                </a:lnTo>
                <a:lnTo>
                  <a:pt x="9804" y="159792"/>
                </a:lnTo>
                <a:lnTo>
                  <a:pt x="38671" y="198202"/>
                </a:lnTo>
                <a:lnTo>
                  <a:pt x="67564" y="211747"/>
                </a:lnTo>
                <a:lnTo>
                  <a:pt x="70231" y="203149"/>
                </a:lnTo>
                <a:lnTo>
                  <a:pt x="58183" y="197807"/>
                </a:lnTo>
                <a:lnTo>
                  <a:pt x="47767" y="190374"/>
                </a:lnTo>
                <a:lnTo>
                  <a:pt x="26376" y="155694"/>
                </a:lnTo>
                <a:lnTo>
                  <a:pt x="19351" y="105930"/>
                </a:lnTo>
                <a:lnTo>
                  <a:pt x="19304" y="104813"/>
                </a:lnTo>
                <a:lnTo>
                  <a:pt x="26376" y="55414"/>
                </a:lnTo>
                <a:lnTo>
                  <a:pt x="47815" y="21282"/>
                </a:lnTo>
                <a:lnTo>
                  <a:pt x="70612" y="8597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2017014" y="5657837"/>
            <a:ext cx="1237615" cy="413384"/>
          </a:xfrm>
          <a:prstGeom prst="rect">
            <a:avLst/>
          </a:prstGeom>
          <a:ln w="19050">
            <a:solidFill>
              <a:srgbClr val="9DC3E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470"/>
              </a:spcBef>
            </a:pPr>
            <a:r>
              <a:rPr sz="1800" spc="-20" dirty="0">
                <a:latin typeface="Cambria Math"/>
                <a:cs typeface="Cambria Math"/>
              </a:rPr>
              <a:t>𝐕</a:t>
            </a:r>
            <a:r>
              <a:rPr sz="1950" spc="-30" baseline="-14957" dirty="0">
                <a:latin typeface="Cambria Math"/>
                <a:cs typeface="Cambria Math"/>
              </a:rPr>
              <a:t>𝐂</a:t>
            </a:r>
            <a:r>
              <a:rPr sz="1950" spc="52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27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4957" dirty="0">
                <a:latin typeface="Cambria Math"/>
                <a:cs typeface="Cambria Math"/>
              </a:rPr>
              <a:t>𝐜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274314" y="5704738"/>
            <a:ext cx="196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−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41" name="object 4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234688" y="5774334"/>
            <a:ext cx="236092" cy="211747"/>
          </a:xfrm>
          <a:prstGeom prst="rect">
            <a:avLst/>
          </a:prstGeom>
        </p:spPr>
      </p:pic>
      <p:sp>
        <p:nvSpPr>
          <p:cNvPr id="42" name="object 42"/>
          <p:cNvSpPr/>
          <p:nvPr/>
        </p:nvSpPr>
        <p:spPr>
          <a:xfrm>
            <a:off x="4871720" y="5774334"/>
            <a:ext cx="512445" cy="212090"/>
          </a:xfrm>
          <a:custGeom>
            <a:avLst/>
            <a:gdLst/>
            <a:ahLst/>
            <a:cxnLst/>
            <a:rect l="l" t="t" r="r" b="b"/>
            <a:pathLst>
              <a:path w="512445" h="212089">
                <a:moveTo>
                  <a:pt x="444373" y="0"/>
                </a:moveTo>
                <a:lnTo>
                  <a:pt x="441325" y="8597"/>
                </a:lnTo>
                <a:lnTo>
                  <a:pt x="453610" y="13917"/>
                </a:lnTo>
                <a:lnTo>
                  <a:pt x="464169" y="21282"/>
                </a:lnTo>
                <a:lnTo>
                  <a:pt x="485560" y="55414"/>
                </a:lnTo>
                <a:lnTo>
                  <a:pt x="492633" y="104813"/>
                </a:lnTo>
                <a:lnTo>
                  <a:pt x="491847" y="123489"/>
                </a:lnTo>
                <a:lnTo>
                  <a:pt x="480060" y="169227"/>
                </a:lnTo>
                <a:lnTo>
                  <a:pt x="453753" y="197807"/>
                </a:lnTo>
                <a:lnTo>
                  <a:pt x="441706" y="203149"/>
                </a:lnTo>
                <a:lnTo>
                  <a:pt x="444373" y="211747"/>
                </a:lnTo>
                <a:lnTo>
                  <a:pt x="484842" y="187715"/>
                </a:lnTo>
                <a:lnTo>
                  <a:pt x="507571" y="143336"/>
                </a:lnTo>
                <a:lnTo>
                  <a:pt x="511937" y="105930"/>
                </a:lnTo>
                <a:lnTo>
                  <a:pt x="510854" y="86751"/>
                </a:lnTo>
                <a:lnTo>
                  <a:pt x="510841" y="86521"/>
                </a:lnTo>
                <a:lnTo>
                  <a:pt x="494411" y="37122"/>
                </a:lnTo>
                <a:lnTo>
                  <a:pt x="459710" y="5543"/>
                </a:lnTo>
                <a:lnTo>
                  <a:pt x="444373" y="0"/>
                </a:lnTo>
                <a:close/>
              </a:path>
              <a:path w="512445" h="212089">
                <a:moveTo>
                  <a:pt x="67564" y="0"/>
                </a:moveTo>
                <a:lnTo>
                  <a:pt x="27166" y="24106"/>
                </a:lnTo>
                <a:lnTo>
                  <a:pt x="4381" y="68583"/>
                </a:lnTo>
                <a:lnTo>
                  <a:pt x="63" y="104813"/>
                </a:lnTo>
                <a:lnTo>
                  <a:pt x="0" y="105930"/>
                </a:lnTo>
                <a:lnTo>
                  <a:pt x="9804" y="159792"/>
                </a:lnTo>
                <a:lnTo>
                  <a:pt x="38671" y="198202"/>
                </a:lnTo>
                <a:lnTo>
                  <a:pt x="67564" y="211747"/>
                </a:lnTo>
                <a:lnTo>
                  <a:pt x="70231" y="203149"/>
                </a:lnTo>
                <a:lnTo>
                  <a:pt x="58183" y="197807"/>
                </a:lnTo>
                <a:lnTo>
                  <a:pt x="47767" y="190374"/>
                </a:lnTo>
                <a:lnTo>
                  <a:pt x="26376" y="155694"/>
                </a:lnTo>
                <a:lnTo>
                  <a:pt x="19351" y="105930"/>
                </a:lnTo>
                <a:lnTo>
                  <a:pt x="19304" y="104813"/>
                </a:lnTo>
                <a:lnTo>
                  <a:pt x="26376" y="55414"/>
                </a:lnTo>
                <a:lnTo>
                  <a:pt x="47815" y="21282"/>
                </a:lnTo>
                <a:lnTo>
                  <a:pt x="70612" y="8597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3475482" y="5657824"/>
            <a:ext cx="1972945" cy="420370"/>
          </a:xfrm>
          <a:prstGeom prst="rect">
            <a:avLst/>
          </a:prstGeom>
          <a:ln w="19050">
            <a:solidFill>
              <a:srgbClr val="9DC3E6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470"/>
              </a:spcBef>
              <a:tabLst>
                <a:tab pos="1053465" algn="l"/>
              </a:tabLst>
            </a:pPr>
            <a:r>
              <a:rPr sz="1800" dirty="0">
                <a:latin typeface="Cambria Math"/>
                <a:cs typeface="Cambria Math"/>
              </a:rPr>
              <a:t>𝐕</a:t>
            </a:r>
            <a:r>
              <a:rPr sz="1950" baseline="-14957" dirty="0">
                <a:latin typeface="Cambria Math"/>
                <a:cs typeface="Cambria Math"/>
              </a:rPr>
              <a:t>𝐂</a:t>
            </a:r>
            <a:r>
              <a:rPr sz="1800" dirty="0">
                <a:latin typeface="Cambria Math"/>
                <a:cs typeface="Cambria Math"/>
              </a:rPr>
              <a:t>𝐤</a:t>
            </a:r>
            <a:r>
              <a:rPr sz="1950" baseline="-14957" dirty="0">
                <a:latin typeface="Cambria Math"/>
                <a:cs typeface="Cambria Math"/>
              </a:rPr>
              <a:t>𝐏</a:t>
            </a:r>
            <a:r>
              <a:rPr sz="1800" dirty="0">
                <a:latin typeface="Cambria Math"/>
                <a:cs typeface="Cambria Math"/>
              </a:rPr>
              <a:t>𝐦</a:t>
            </a:r>
            <a:r>
              <a:rPr sz="1800" spc="409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𝐬𝐢𝐧</a:t>
            </a:r>
            <a:r>
              <a:rPr sz="1800" spc="33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4957" dirty="0">
                <a:latin typeface="Cambria Math"/>
                <a:cs typeface="Cambria Math"/>
              </a:rPr>
              <a:t>𝐜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927" y="4139945"/>
            <a:ext cx="2686050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NBPM</a:t>
            </a:r>
            <a:r>
              <a:rPr sz="3200" u="sng" spc="-7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Generation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7487919" y="712216"/>
            <a:ext cx="681355" cy="282575"/>
          </a:xfrm>
          <a:custGeom>
            <a:avLst/>
            <a:gdLst/>
            <a:ahLst/>
            <a:cxnLst/>
            <a:rect l="l" t="t" r="r" b="b"/>
            <a:pathLst>
              <a:path w="681354" h="282575">
                <a:moveTo>
                  <a:pt x="590930" y="0"/>
                </a:moveTo>
                <a:lnTo>
                  <a:pt x="586866" y="11430"/>
                </a:lnTo>
                <a:lnTo>
                  <a:pt x="603230" y="18504"/>
                </a:lnTo>
                <a:lnTo>
                  <a:pt x="617283" y="28305"/>
                </a:lnTo>
                <a:lnTo>
                  <a:pt x="645816" y="73798"/>
                </a:lnTo>
                <a:lnTo>
                  <a:pt x="654109" y="115339"/>
                </a:lnTo>
                <a:lnTo>
                  <a:pt x="654147" y="115605"/>
                </a:lnTo>
                <a:lnTo>
                  <a:pt x="654145" y="164580"/>
                </a:lnTo>
                <a:lnTo>
                  <a:pt x="645763" y="207529"/>
                </a:lnTo>
                <a:lnTo>
                  <a:pt x="617283" y="253730"/>
                </a:lnTo>
                <a:lnTo>
                  <a:pt x="587374" y="270764"/>
                </a:lnTo>
                <a:lnTo>
                  <a:pt x="590930" y="282321"/>
                </a:lnTo>
                <a:lnTo>
                  <a:pt x="629427" y="264191"/>
                </a:lnTo>
                <a:lnTo>
                  <a:pt x="657732" y="232918"/>
                </a:lnTo>
                <a:lnTo>
                  <a:pt x="675163" y="191023"/>
                </a:lnTo>
                <a:lnTo>
                  <a:pt x="680973" y="141224"/>
                </a:lnTo>
                <a:lnTo>
                  <a:pt x="679534" y="115605"/>
                </a:lnTo>
                <a:lnTo>
                  <a:pt x="667847" y="69429"/>
                </a:lnTo>
                <a:lnTo>
                  <a:pt x="644723" y="32093"/>
                </a:lnTo>
                <a:lnTo>
                  <a:pt x="611385" y="7379"/>
                </a:lnTo>
                <a:lnTo>
                  <a:pt x="590930" y="0"/>
                </a:lnTo>
                <a:close/>
              </a:path>
              <a:path w="681354" h="282575">
                <a:moveTo>
                  <a:pt x="90042" y="0"/>
                </a:moveTo>
                <a:lnTo>
                  <a:pt x="51593" y="18081"/>
                </a:lnTo>
                <a:lnTo>
                  <a:pt x="23240" y="49403"/>
                </a:lnTo>
                <a:lnTo>
                  <a:pt x="5810" y="91408"/>
                </a:lnTo>
                <a:lnTo>
                  <a:pt x="85" y="139700"/>
                </a:lnTo>
                <a:lnTo>
                  <a:pt x="0" y="141224"/>
                </a:lnTo>
                <a:lnTo>
                  <a:pt x="5794" y="191023"/>
                </a:lnTo>
                <a:lnTo>
                  <a:pt x="23113" y="232918"/>
                </a:lnTo>
                <a:lnTo>
                  <a:pt x="51482" y="264191"/>
                </a:lnTo>
                <a:lnTo>
                  <a:pt x="90042" y="282321"/>
                </a:lnTo>
                <a:lnTo>
                  <a:pt x="93598" y="270764"/>
                </a:lnTo>
                <a:lnTo>
                  <a:pt x="77475" y="263646"/>
                </a:lnTo>
                <a:lnTo>
                  <a:pt x="63579" y="253730"/>
                </a:lnTo>
                <a:lnTo>
                  <a:pt x="35083" y="207529"/>
                </a:lnTo>
                <a:lnTo>
                  <a:pt x="26701" y="164580"/>
                </a:lnTo>
                <a:lnTo>
                  <a:pt x="25653" y="139700"/>
                </a:lnTo>
                <a:lnTo>
                  <a:pt x="26701" y="115605"/>
                </a:lnTo>
                <a:lnTo>
                  <a:pt x="35083" y="73798"/>
                </a:lnTo>
                <a:lnTo>
                  <a:pt x="63674" y="28305"/>
                </a:lnTo>
                <a:lnTo>
                  <a:pt x="93979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351646" y="622172"/>
            <a:ext cx="36277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0875" algn="l"/>
                <a:tab pos="1235075" algn="l"/>
                <a:tab pos="2505710" algn="l"/>
                <a:tab pos="3418840" algn="l"/>
              </a:tabLst>
            </a:pP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Message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26616" y="1077975"/>
            <a:ext cx="774065" cy="282575"/>
          </a:xfrm>
          <a:custGeom>
            <a:avLst/>
            <a:gdLst/>
            <a:ahLst/>
            <a:cxnLst/>
            <a:rect l="l" t="t" r="r" b="b"/>
            <a:pathLst>
              <a:path w="774064" h="282575">
                <a:moveTo>
                  <a:pt x="683894" y="0"/>
                </a:moveTo>
                <a:lnTo>
                  <a:pt x="679830" y="11430"/>
                </a:lnTo>
                <a:lnTo>
                  <a:pt x="696194" y="18504"/>
                </a:lnTo>
                <a:lnTo>
                  <a:pt x="710247" y="28305"/>
                </a:lnTo>
                <a:lnTo>
                  <a:pt x="738780" y="73798"/>
                </a:lnTo>
                <a:lnTo>
                  <a:pt x="747073" y="115339"/>
                </a:lnTo>
                <a:lnTo>
                  <a:pt x="747111" y="115605"/>
                </a:lnTo>
                <a:lnTo>
                  <a:pt x="747109" y="164580"/>
                </a:lnTo>
                <a:lnTo>
                  <a:pt x="738727" y="207529"/>
                </a:lnTo>
                <a:lnTo>
                  <a:pt x="710247" y="253730"/>
                </a:lnTo>
                <a:lnTo>
                  <a:pt x="680338" y="270764"/>
                </a:lnTo>
                <a:lnTo>
                  <a:pt x="683894" y="282321"/>
                </a:lnTo>
                <a:lnTo>
                  <a:pt x="722391" y="264191"/>
                </a:lnTo>
                <a:lnTo>
                  <a:pt x="750696" y="232918"/>
                </a:lnTo>
                <a:lnTo>
                  <a:pt x="768127" y="191023"/>
                </a:lnTo>
                <a:lnTo>
                  <a:pt x="773938" y="141224"/>
                </a:lnTo>
                <a:lnTo>
                  <a:pt x="772498" y="115605"/>
                </a:lnTo>
                <a:lnTo>
                  <a:pt x="760811" y="69429"/>
                </a:lnTo>
                <a:lnTo>
                  <a:pt x="737687" y="32093"/>
                </a:lnTo>
                <a:lnTo>
                  <a:pt x="704349" y="7379"/>
                </a:lnTo>
                <a:lnTo>
                  <a:pt x="683894" y="0"/>
                </a:lnTo>
                <a:close/>
              </a:path>
              <a:path w="774064" h="282575">
                <a:moveTo>
                  <a:pt x="90042" y="0"/>
                </a:moveTo>
                <a:lnTo>
                  <a:pt x="51593" y="18081"/>
                </a:lnTo>
                <a:lnTo>
                  <a:pt x="23240" y="49403"/>
                </a:lnTo>
                <a:lnTo>
                  <a:pt x="5810" y="91408"/>
                </a:lnTo>
                <a:lnTo>
                  <a:pt x="85" y="139700"/>
                </a:lnTo>
                <a:lnTo>
                  <a:pt x="0" y="141224"/>
                </a:lnTo>
                <a:lnTo>
                  <a:pt x="5794" y="191023"/>
                </a:lnTo>
                <a:lnTo>
                  <a:pt x="23113" y="232918"/>
                </a:lnTo>
                <a:lnTo>
                  <a:pt x="51482" y="264191"/>
                </a:lnTo>
                <a:lnTo>
                  <a:pt x="90042" y="282321"/>
                </a:lnTo>
                <a:lnTo>
                  <a:pt x="93598" y="270764"/>
                </a:lnTo>
                <a:lnTo>
                  <a:pt x="77475" y="263646"/>
                </a:lnTo>
                <a:lnTo>
                  <a:pt x="63579" y="253730"/>
                </a:lnTo>
                <a:lnTo>
                  <a:pt x="35083" y="207529"/>
                </a:lnTo>
                <a:lnTo>
                  <a:pt x="26701" y="164580"/>
                </a:lnTo>
                <a:lnTo>
                  <a:pt x="25653" y="139700"/>
                </a:lnTo>
                <a:lnTo>
                  <a:pt x="26701" y="115605"/>
                </a:lnTo>
                <a:lnTo>
                  <a:pt x="35083" y="73798"/>
                </a:lnTo>
                <a:lnTo>
                  <a:pt x="63674" y="28305"/>
                </a:lnTo>
                <a:lnTo>
                  <a:pt x="93979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12039" y="622172"/>
            <a:ext cx="788415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19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81965" algn="l"/>
                <a:tab pos="1768475" algn="l"/>
                <a:tab pos="2190750" algn="l"/>
                <a:tab pos="3150870" algn="l"/>
                <a:tab pos="3594735" algn="l"/>
                <a:tab pos="4176395" algn="l"/>
                <a:tab pos="5167630" algn="l"/>
                <a:tab pos="6057265" algn="l"/>
                <a:tab pos="6415405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Equation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NBPM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{If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carrier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spc="-30" dirty="0">
                <a:solidFill>
                  <a:srgbClr val="6F2F9F"/>
                </a:solidFill>
                <a:latin typeface="Cambria Math"/>
                <a:cs typeface="Cambria Math"/>
              </a:rPr>
              <a:t>𝐕</a:t>
            </a:r>
            <a:r>
              <a:rPr sz="2625" spc="-44" baseline="-15873" dirty="0">
                <a:solidFill>
                  <a:srgbClr val="6F2F9F"/>
                </a:solidFill>
                <a:latin typeface="Cambria Math"/>
                <a:cs typeface="Cambria Math"/>
              </a:rPr>
              <a:t>𝐂</a:t>
            </a:r>
            <a:r>
              <a:rPr sz="2625" spc="60" baseline="-15873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𝐜𝐨𝐬</a:t>
            </a:r>
            <a:r>
              <a:rPr sz="2400" spc="33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spc="-25" dirty="0">
                <a:solidFill>
                  <a:srgbClr val="6F2F9F"/>
                </a:solidFill>
                <a:latin typeface="Cambria Math"/>
                <a:cs typeface="Cambria Math"/>
              </a:rPr>
              <a:t>𝛚</a:t>
            </a:r>
            <a:r>
              <a:rPr sz="2625" spc="-37" baseline="-15873" dirty="0">
                <a:solidFill>
                  <a:srgbClr val="6F2F9F"/>
                </a:solidFill>
                <a:latin typeface="Cambria Math"/>
                <a:cs typeface="Cambria Math"/>
              </a:rPr>
              <a:t>𝐜</a:t>
            </a:r>
            <a:r>
              <a:rPr sz="2400" spc="-25" dirty="0">
                <a:solidFill>
                  <a:srgbClr val="6F2F9F"/>
                </a:solidFill>
                <a:latin typeface="Cambria Math"/>
                <a:cs typeface="Cambria Math"/>
              </a:rPr>
              <a:t>𝐭</a:t>
            </a:r>
            <a:endParaRPr sz="2400">
              <a:latin typeface="Cambria Math"/>
              <a:cs typeface="Cambria Math"/>
            </a:endParaRPr>
          </a:p>
          <a:p>
            <a:pPr marL="482600">
              <a:lnSpc>
                <a:spcPct val="100000"/>
              </a:lnSpc>
            </a:pPr>
            <a:r>
              <a:rPr sz="2400" spc="-35" dirty="0">
                <a:solidFill>
                  <a:srgbClr val="6F2F9F"/>
                </a:solidFill>
                <a:latin typeface="Cambria Math"/>
                <a:cs typeface="Cambria Math"/>
              </a:rPr>
              <a:t>𝐕</a:t>
            </a:r>
            <a:r>
              <a:rPr sz="2625" spc="-52" baseline="-15873" dirty="0">
                <a:solidFill>
                  <a:srgbClr val="6F2F9F"/>
                </a:solidFill>
                <a:latin typeface="Cambria Math"/>
                <a:cs typeface="Cambria Math"/>
              </a:rPr>
              <a:t>𝐦</a:t>
            </a:r>
            <a:r>
              <a:rPr sz="2625" spc="142" baseline="-15873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𝐜𝐨𝐬</a:t>
            </a:r>
            <a:r>
              <a:rPr sz="2400" spc="409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𝛚</a:t>
            </a:r>
            <a:r>
              <a:rPr sz="2625" baseline="-15873" dirty="0">
                <a:solidFill>
                  <a:srgbClr val="6F2F9F"/>
                </a:solidFill>
                <a:latin typeface="Cambria Math"/>
                <a:cs typeface="Cambria Math"/>
              </a:rPr>
              <a:t>𝐦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𝐭</a:t>
            </a:r>
            <a:r>
              <a:rPr sz="2400" spc="409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}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by: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29916" y="1869440"/>
            <a:ext cx="673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Carrier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8479" y="1554733"/>
            <a:ext cx="236093" cy="21170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21486" y="1484121"/>
            <a:ext cx="1316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106805" algn="l"/>
              </a:tabLst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5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𝐘</a:t>
            </a:r>
            <a:r>
              <a:rPr sz="1950" baseline="-14957" dirty="0">
                <a:latin typeface="Cambria Math"/>
                <a:cs typeface="Cambria Math"/>
              </a:rPr>
              <a:t>𝐏𝐌</a:t>
            </a:r>
            <a:r>
              <a:rPr sz="1950" spc="652" baseline="-14957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009392" y="1554733"/>
            <a:ext cx="510540" cy="212090"/>
          </a:xfrm>
          <a:custGeom>
            <a:avLst/>
            <a:gdLst/>
            <a:ahLst/>
            <a:cxnLst/>
            <a:rect l="l" t="t" r="r" b="b"/>
            <a:pathLst>
              <a:path w="510539" h="212089">
                <a:moveTo>
                  <a:pt x="442849" y="0"/>
                </a:moveTo>
                <a:lnTo>
                  <a:pt x="439801" y="8509"/>
                </a:lnTo>
                <a:lnTo>
                  <a:pt x="452086" y="13819"/>
                </a:lnTo>
                <a:lnTo>
                  <a:pt x="462645" y="21177"/>
                </a:lnTo>
                <a:lnTo>
                  <a:pt x="484036" y="55322"/>
                </a:lnTo>
                <a:lnTo>
                  <a:pt x="491109" y="104775"/>
                </a:lnTo>
                <a:lnTo>
                  <a:pt x="490323" y="123444"/>
                </a:lnTo>
                <a:lnTo>
                  <a:pt x="478536" y="169164"/>
                </a:lnTo>
                <a:lnTo>
                  <a:pt x="452229" y="197739"/>
                </a:lnTo>
                <a:lnTo>
                  <a:pt x="440182" y="203073"/>
                </a:lnTo>
                <a:lnTo>
                  <a:pt x="442849" y="211709"/>
                </a:lnTo>
                <a:lnTo>
                  <a:pt x="483318" y="187652"/>
                </a:lnTo>
                <a:lnTo>
                  <a:pt x="506047" y="143271"/>
                </a:lnTo>
                <a:lnTo>
                  <a:pt x="510413" y="105918"/>
                </a:lnTo>
                <a:lnTo>
                  <a:pt x="509331" y="86703"/>
                </a:lnTo>
                <a:lnTo>
                  <a:pt x="492887" y="37084"/>
                </a:lnTo>
                <a:lnTo>
                  <a:pt x="458186" y="5526"/>
                </a:lnTo>
                <a:lnTo>
                  <a:pt x="442849" y="0"/>
                </a:lnTo>
                <a:close/>
              </a:path>
              <a:path w="510539" h="212089">
                <a:moveTo>
                  <a:pt x="67564" y="0"/>
                </a:moveTo>
                <a:lnTo>
                  <a:pt x="27166" y="24056"/>
                </a:lnTo>
                <a:lnTo>
                  <a:pt x="4381" y="68500"/>
                </a:lnTo>
                <a:lnTo>
                  <a:pt x="0" y="105918"/>
                </a:lnTo>
                <a:lnTo>
                  <a:pt x="986" y="123444"/>
                </a:lnTo>
                <a:lnTo>
                  <a:pt x="1093" y="125350"/>
                </a:lnTo>
                <a:lnTo>
                  <a:pt x="17399" y="174625"/>
                </a:lnTo>
                <a:lnTo>
                  <a:pt x="52153" y="206182"/>
                </a:lnTo>
                <a:lnTo>
                  <a:pt x="67564" y="211709"/>
                </a:lnTo>
                <a:lnTo>
                  <a:pt x="70231" y="203073"/>
                </a:lnTo>
                <a:lnTo>
                  <a:pt x="58183" y="197738"/>
                </a:lnTo>
                <a:lnTo>
                  <a:pt x="47767" y="190309"/>
                </a:lnTo>
                <a:lnTo>
                  <a:pt x="26376" y="155638"/>
                </a:lnTo>
                <a:lnTo>
                  <a:pt x="19352" y="105918"/>
                </a:lnTo>
                <a:lnTo>
                  <a:pt x="19304" y="104775"/>
                </a:lnTo>
                <a:lnTo>
                  <a:pt x="20089" y="86703"/>
                </a:lnTo>
                <a:lnTo>
                  <a:pt x="31877" y="42037"/>
                </a:lnTo>
                <a:lnTo>
                  <a:pt x="58344" y="13819"/>
                </a:lnTo>
                <a:lnTo>
                  <a:pt x="70612" y="8509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321814" y="1438224"/>
            <a:ext cx="1237615" cy="413384"/>
          </a:xfrm>
          <a:prstGeom prst="rect">
            <a:avLst/>
          </a:prstGeom>
          <a:ln w="19050">
            <a:solidFill>
              <a:srgbClr val="9DC3E6"/>
            </a:solidFill>
          </a:ln>
        </p:spPr>
        <p:txBody>
          <a:bodyPr vert="horz" wrap="square" lIns="0" tIns="58419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459"/>
              </a:spcBef>
            </a:pPr>
            <a:r>
              <a:rPr sz="1800" spc="-20" dirty="0">
                <a:latin typeface="Cambria Math"/>
                <a:cs typeface="Cambria Math"/>
              </a:rPr>
              <a:t>𝐕</a:t>
            </a:r>
            <a:r>
              <a:rPr sz="1950" spc="-30" baseline="-14957" dirty="0">
                <a:latin typeface="Cambria Math"/>
                <a:cs typeface="Cambria Math"/>
              </a:rPr>
              <a:t>𝐂</a:t>
            </a:r>
            <a:r>
              <a:rPr sz="1950" spc="60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27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4957" dirty="0">
                <a:latin typeface="Cambria Math"/>
                <a:cs typeface="Cambria Math"/>
              </a:rPr>
              <a:t>𝐜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79114" y="1484121"/>
            <a:ext cx="196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−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39488" y="1554733"/>
            <a:ext cx="236092" cy="211709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5176520" y="1554733"/>
            <a:ext cx="512445" cy="212090"/>
          </a:xfrm>
          <a:custGeom>
            <a:avLst/>
            <a:gdLst/>
            <a:ahLst/>
            <a:cxnLst/>
            <a:rect l="l" t="t" r="r" b="b"/>
            <a:pathLst>
              <a:path w="512445" h="212089">
                <a:moveTo>
                  <a:pt x="444373" y="0"/>
                </a:moveTo>
                <a:lnTo>
                  <a:pt x="441325" y="8509"/>
                </a:lnTo>
                <a:lnTo>
                  <a:pt x="453610" y="13819"/>
                </a:lnTo>
                <a:lnTo>
                  <a:pt x="464169" y="21177"/>
                </a:lnTo>
                <a:lnTo>
                  <a:pt x="485560" y="55322"/>
                </a:lnTo>
                <a:lnTo>
                  <a:pt x="492633" y="104775"/>
                </a:lnTo>
                <a:lnTo>
                  <a:pt x="491847" y="123444"/>
                </a:lnTo>
                <a:lnTo>
                  <a:pt x="480060" y="169164"/>
                </a:lnTo>
                <a:lnTo>
                  <a:pt x="453753" y="197739"/>
                </a:lnTo>
                <a:lnTo>
                  <a:pt x="441706" y="203073"/>
                </a:lnTo>
                <a:lnTo>
                  <a:pt x="444373" y="211709"/>
                </a:lnTo>
                <a:lnTo>
                  <a:pt x="484842" y="187652"/>
                </a:lnTo>
                <a:lnTo>
                  <a:pt x="507571" y="143271"/>
                </a:lnTo>
                <a:lnTo>
                  <a:pt x="511937" y="105918"/>
                </a:lnTo>
                <a:lnTo>
                  <a:pt x="510855" y="86703"/>
                </a:lnTo>
                <a:lnTo>
                  <a:pt x="494411" y="37084"/>
                </a:lnTo>
                <a:lnTo>
                  <a:pt x="459710" y="5526"/>
                </a:lnTo>
                <a:lnTo>
                  <a:pt x="444373" y="0"/>
                </a:lnTo>
                <a:close/>
              </a:path>
              <a:path w="512445" h="212089">
                <a:moveTo>
                  <a:pt x="67564" y="0"/>
                </a:moveTo>
                <a:lnTo>
                  <a:pt x="27166" y="24056"/>
                </a:lnTo>
                <a:lnTo>
                  <a:pt x="4381" y="68500"/>
                </a:lnTo>
                <a:lnTo>
                  <a:pt x="0" y="105918"/>
                </a:lnTo>
                <a:lnTo>
                  <a:pt x="986" y="123444"/>
                </a:lnTo>
                <a:lnTo>
                  <a:pt x="1093" y="125350"/>
                </a:lnTo>
                <a:lnTo>
                  <a:pt x="17399" y="174625"/>
                </a:lnTo>
                <a:lnTo>
                  <a:pt x="52153" y="206182"/>
                </a:lnTo>
                <a:lnTo>
                  <a:pt x="67564" y="211709"/>
                </a:lnTo>
                <a:lnTo>
                  <a:pt x="70231" y="203073"/>
                </a:lnTo>
                <a:lnTo>
                  <a:pt x="58183" y="197738"/>
                </a:lnTo>
                <a:lnTo>
                  <a:pt x="47767" y="190309"/>
                </a:lnTo>
                <a:lnTo>
                  <a:pt x="26376" y="155638"/>
                </a:lnTo>
                <a:lnTo>
                  <a:pt x="19352" y="105918"/>
                </a:lnTo>
                <a:lnTo>
                  <a:pt x="19304" y="104775"/>
                </a:lnTo>
                <a:lnTo>
                  <a:pt x="20089" y="86703"/>
                </a:lnTo>
                <a:lnTo>
                  <a:pt x="31877" y="42037"/>
                </a:lnTo>
                <a:lnTo>
                  <a:pt x="58344" y="13819"/>
                </a:lnTo>
                <a:lnTo>
                  <a:pt x="70612" y="8509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780282" y="1438109"/>
            <a:ext cx="1979930" cy="420370"/>
          </a:xfrm>
          <a:prstGeom prst="rect">
            <a:avLst/>
          </a:prstGeom>
          <a:ln w="19050">
            <a:solidFill>
              <a:srgbClr val="9DC3E6"/>
            </a:solidFill>
          </a:ln>
        </p:spPr>
        <p:txBody>
          <a:bodyPr vert="horz" wrap="square" lIns="0" tIns="58419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459"/>
              </a:spcBef>
              <a:tabLst>
                <a:tab pos="1053465" algn="l"/>
              </a:tabLst>
            </a:pPr>
            <a:r>
              <a:rPr sz="1800" dirty="0">
                <a:latin typeface="Cambria Math"/>
                <a:cs typeface="Cambria Math"/>
              </a:rPr>
              <a:t>𝐕</a:t>
            </a:r>
            <a:r>
              <a:rPr sz="1950" baseline="-14957" dirty="0">
                <a:latin typeface="Cambria Math"/>
                <a:cs typeface="Cambria Math"/>
              </a:rPr>
              <a:t>𝐂</a:t>
            </a:r>
            <a:r>
              <a:rPr sz="1800" dirty="0">
                <a:latin typeface="Cambria Math"/>
                <a:cs typeface="Cambria Math"/>
              </a:rPr>
              <a:t>𝐤</a:t>
            </a:r>
            <a:r>
              <a:rPr sz="1950" baseline="-14957" dirty="0">
                <a:latin typeface="Cambria Math"/>
                <a:cs typeface="Cambria Math"/>
              </a:rPr>
              <a:t>𝐏</a:t>
            </a:r>
            <a:r>
              <a:rPr sz="1800" dirty="0">
                <a:latin typeface="Cambria Math"/>
                <a:cs typeface="Cambria Math"/>
              </a:rPr>
              <a:t>𝐦</a:t>
            </a:r>
            <a:r>
              <a:rPr sz="1800" spc="409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𝐬𝐢𝐧</a:t>
            </a:r>
            <a:r>
              <a:rPr sz="1800" spc="33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4957" dirty="0">
                <a:latin typeface="Cambria Math"/>
                <a:cs typeface="Cambria Math"/>
              </a:rPr>
              <a:t>𝐜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83373" y="2857245"/>
            <a:ext cx="1492250" cy="384175"/>
            <a:chOff x="883373" y="2857245"/>
            <a:chExt cx="1492250" cy="384175"/>
          </a:xfrm>
        </p:grpSpPr>
        <p:sp>
          <p:nvSpPr>
            <p:cNvPr id="17" name="object 17"/>
            <p:cNvSpPr/>
            <p:nvPr/>
          </p:nvSpPr>
          <p:spPr>
            <a:xfrm>
              <a:off x="883373" y="3126612"/>
              <a:ext cx="1492250" cy="114300"/>
            </a:xfrm>
            <a:custGeom>
              <a:avLst/>
              <a:gdLst/>
              <a:ahLst/>
              <a:cxnLst/>
              <a:rect l="l" t="t" r="r" b="b"/>
              <a:pathLst>
                <a:path w="1492250" h="114300">
                  <a:moveTo>
                    <a:pt x="1377353" y="0"/>
                  </a:moveTo>
                  <a:lnTo>
                    <a:pt x="1377353" y="114300"/>
                  </a:lnTo>
                  <a:lnTo>
                    <a:pt x="1453553" y="76200"/>
                  </a:lnTo>
                  <a:lnTo>
                    <a:pt x="1396403" y="76200"/>
                  </a:lnTo>
                  <a:lnTo>
                    <a:pt x="1396403" y="38100"/>
                  </a:lnTo>
                  <a:lnTo>
                    <a:pt x="1453553" y="38100"/>
                  </a:lnTo>
                  <a:lnTo>
                    <a:pt x="1377353" y="0"/>
                  </a:lnTo>
                  <a:close/>
                </a:path>
                <a:path w="1492250" h="114300">
                  <a:moveTo>
                    <a:pt x="1377353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1377353" y="76200"/>
                  </a:lnTo>
                  <a:lnTo>
                    <a:pt x="1377353" y="38100"/>
                  </a:lnTo>
                  <a:close/>
                </a:path>
                <a:path w="1492250" h="114300">
                  <a:moveTo>
                    <a:pt x="1453553" y="38100"/>
                  </a:moveTo>
                  <a:lnTo>
                    <a:pt x="1396403" y="38100"/>
                  </a:lnTo>
                  <a:lnTo>
                    <a:pt x="1396403" y="76200"/>
                  </a:lnTo>
                  <a:lnTo>
                    <a:pt x="1453553" y="76200"/>
                  </a:lnTo>
                  <a:lnTo>
                    <a:pt x="1491653" y="57150"/>
                  </a:lnTo>
                  <a:lnTo>
                    <a:pt x="1453553" y="3810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08418" y="2857245"/>
              <a:ext cx="315595" cy="282575"/>
            </a:xfrm>
            <a:custGeom>
              <a:avLst/>
              <a:gdLst/>
              <a:ahLst/>
              <a:cxnLst/>
              <a:rect l="l" t="t" r="r" b="b"/>
              <a:pathLst>
                <a:path w="315594" h="282575">
                  <a:moveTo>
                    <a:pt x="225209" y="0"/>
                  </a:moveTo>
                  <a:lnTo>
                    <a:pt x="221183" y="11557"/>
                  </a:lnTo>
                  <a:lnTo>
                    <a:pt x="237527" y="18631"/>
                  </a:lnTo>
                  <a:lnTo>
                    <a:pt x="251585" y="28432"/>
                  </a:lnTo>
                  <a:lnTo>
                    <a:pt x="280125" y="73925"/>
                  </a:lnTo>
                  <a:lnTo>
                    <a:pt x="288402" y="115359"/>
                  </a:lnTo>
                  <a:lnTo>
                    <a:pt x="288455" y="115732"/>
                  </a:lnTo>
                  <a:lnTo>
                    <a:pt x="288450" y="164707"/>
                  </a:lnTo>
                  <a:lnTo>
                    <a:pt x="280082" y="207656"/>
                  </a:lnTo>
                  <a:lnTo>
                    <a:pt x="251602" y="253857"/>
                  </a:lnTo>
                  <a:lnTo>
                    <a:pt x="221627" y="270891"/>
                  </a:lnTo>
                  <a:lnTo>
                    <a:pt x="225209" y="282321"/>
                  </a:lnTo>
                  <a:lnTo>
                    <a:pt x="263717" y="264302"/>
                  </a:lnTo>
                  <a:lnTo>
                    <a:pt x="292023" y="233045"/>
                  </a:lnTo>
                  <a:lnTo>
                    <a:pt x="309443" y="191134"/>
                  </a:lnTo>
                  <a:lnTo>
                    <a:pt x="315252" y="141224"/>
                  </a:lnTo>
                  <a:lnTo>
                    <a:pt x="313816" y="115732"/>
                  </a:lnTo>
                  <a:lnTo>
                    <a:pt x="302146" y="69536"/>
                  </a:lnTo>
                  <a:lnTo>
                    <a:pt x="279051" y="32164"/>
                  </a:lnTo>
                  <a:lnTo>
                    <a:pt x="245675" y="7435"/>
                  </a:lnTo>
                  <a:lnTo>
                    <a:pt x="225209" y="0"/>
                  </a:lnTo>
                  <a:close/>
                </a:path>
                <a:path w="315594" h="282575">
                  <a:moveTo>
                    <a:pt x="90043" y="0"/>
                  </a:moveTo>
                  <a:lnTo>
                    <a:pt x="51628" y="18145"/>
                  </a:lnTo>
                  <a:lnTo>
                    <a:pt x="23291" y="49530"/>
                  </a:lnTo>
                  <a:lnTo>
                    <a:pt x="5826" y="91471"/>
                  </a:lnTo>
                  <a:lnTo>
                    <a:pt x="78" y="139827"/>
                  </a:lnTo>
                  <a:lnTo>
                    <a:pt x="0" y="141224"/>
                  </a:lnTo>
                  <a:lnTo>
                    <a:pt x="1452" y="167179"/>
                  </a:lnTo>
                  <a:lnTo>
                    <a:pt x="13067" y="213090"/>
                  </a:lnTo>
                  <a:lnTo>
                    <a:pt x="36105" y="250334"/>
                  </a:lnTo>
                  <a:lnTo>
                    <a:pt x="69514" y="274960"/>
                  </a:lnTo>
                  <a:lnTo>
                    <a:pt x="90043" y="282321"/>
                  </a:lnTo>
                  <a:lnTo>
                    <a:pt x="93611" y="270891"/>
                  </a:lnTo>
                  <a:lnTo>
                    <a:pt x="77528" y="263773"/>
                  </a:lnTo>
                  <a:lnTo>
                    <a:pt x="63647" y="253857"/>
                  </a:lnTo>
                  <a:lnTo>
                    <a:pt x="35169" y="207656"/>
                  </a:lnTo>
                  <a:lnTo>
                    <a:pt x="26801" y="164707"/>
                  </a:lnTo>
                  <a:lnTo>
                    <a:pt x="25755" y="139827"/>
                  </a:lnTo>
                  <a:lnTo>
                    <a:pt x="26801" y="115732"/>
                  </a:lnTo>
                  <a:lnTo>
                    <a:pt x="35169" y="73925"/>
                  </a:lnTo>
                  <a:lnTo>
                    <a:pt x="63761" y="28432"/>
                  </a:lnTo>
                  <a:lnTo>
                    <a:pt x="94068" y="11557"/>
                  </a:lnTo>
                  <a:lnTo>
                    <a:pt x="900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93242" y="2767710"/>
            <a:ext cx="1494155" cy="1121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99800"/>
              </a:lnSpc>
              <a:spcBef>
                <a:spcPts val="105"/>
              </a:spcBef>
            </a:pPr>
            <a:r>
              <a:rPr sz="2400" dirty="0">
                <a:latin typeface="Cambria Math"/>
                <a:cs typeface="Cambria Math"/>
              </a:rPr>
              <a:t>𝐦</a:t>
            </a:r>
            <a:r>
              <a:rPr sz="2400" spc="434" dirty="0">
                <a:latin typeface="Cambria Math"/>
                <a:cs typeface="Cambria Math"/>
              </a:rPr>
              <a:t> </a:t>
            </a:r>
            <a:r>
              <a:rPr sz="2400" spc="-60" dirty="0">
                <a:latin typeface="Cambria Math"/>
                <a:cs typeface="Cambria Math"/>
              </a:rPr>
              <a:t>𝐭 </a:t>
            </a:r>
            <a:r>
              <a:rPr sz="2400" b="1" spc="-10" dirty="0">
                <a:latin typeface="Calibri"/>
                <a:cs typeface="Calibri"/>
              </a:rPr>
              <a:t>Modulating Signal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75026" y="5416346"/>
            <a:ext cx="1664589" cy="841730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2375026" y="5416346"/>
            <a:ext cx="1664970" cy="842010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5"/>
              </a:spcBef>
            </a:pPr>
            <a:r>
              <a:rPr sz="2400" b="1" spc="-10" dirty="0">
                <a:latin typeface="Calibri"/>
                <a:cs typeface="Calibri"/>
              </a:rPr>
              <a:t>Carrier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400" b="1" spc="-10" dirty="0">
                <a:latin typeface="Calibri"/>
                <a:cs typeface="Calibri"/>
              </a:rPr>
              <a:t>Oscillator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280664" y="6371107"/>
            <a:ext cx="510540" cy="212090"/>
          </a:xfrm>
          <a:custGeom>
            <a:avLst/>
            <a:gdLst/>
            <a:ahLst/>
            <a:cxnLst/>
            <a:rect l="l" t="t" r="r" b="b"/>
            <a:pathLst>
              <a:path w="510539" h="212090">
                <a:moveTo>
                  <a:pt x="442849" y="0"/>
                </a:moveTo>
                <a:lnTo>
                  <a:pt x="439801" y="8597"/>
                </a:lnTo>
                <a:lnTo>
                  <a:pt x="452068" y="13915"/>
                </a:lnTo>
                <a:lnTo>
                  <a:pt x="462597" y="21277"/>
                </a:lnTo>
                <a:lnTo>
                  <a:pt x="484036" y="55406"/>
                </a:lnTo>
                <a:lnTo>
                  <a:pt x="491109" y="104813"/>
                </a:lnTo>
                <a:lnTo>
                  <a:pt x="490323" y="123484"/>
                </a:lnTo>
                <a:lnTo>
                  <a:pt x="478536" y="169214"/>
                </a:lnTo>
                <a:lnTo>
                  <a:pt x="452229" y="197805"/>
                </a:lnTo>
                <a:lnTo>
                  <a:pt x="440182" y="203149"/>
                </a:lnTo>
                <a:lnTo>
                  <a:pt x="442849" y="211747"/>
                </a:lnTo>
                <a:lnTo>
                  <a:pt x="483264" y="187703"/>
                </a:lnTo>
                <a:lnTo>
                  <a:pt x="506031" y="143335"/>
                </a:lnTo>
                <a:lnTo>
                  <a:pt x="510413" y="105930"/>
                </a:lnTo>
                <a:lnTo>
                  <a:pt x="509330" y="86744"/>
                </a:lnTo>
                <a:lnTo>
                  <a:pt x="509317" y="86513"/>
                </a:lnTo>
                <a:lnTo>
                  <a:pt x="492887" y="37109"/>
                </a:lnTo>
                <a:lnTo>
                  <a:pt x="458186" y="5541"/>
                </a:lnTo>
                <a:lnTo>
                  <a:pt x="442849" y="0"/>
                </a:lnTo>
                <a:close/>
              </a:path>
              <a:path w="510539" h="212090">
                <a:moveTo>
                  <a:pt x="67564" y="0"/>
                </a:moveTo>
                <a:lnTo>
                  <a:pt x="27112" y="24095"/>
                </a:lnTo>
                <a:lnTo>
                  <a:pt x="4365" y="68572"/>
                </a:lnTo>
                <a:lnTo>
                  <a:pt x="62" y="104813"/>
                </a:lnTo>
                <a:lnTo>
                  <a:pt x="0" y="105930"/>
                </a:lnTo>
                <a:lnTo>
                  <a:pt x="986" y="123484"/>
                </a:lnTo>
                <a:lnTo>
                  <a:pt x="1093" y="125383"/>
                </a:lnTo>
                <a:lnTo>
                  <a:pt x="4365" y="143335"/>
                </a:lnTo>
                <a:lnTo>
                  <a:pt x="27041" y="187703"/>
                </a:lnTo>
                <a:lnTo>
                  <a:pt x="67564" y="211747"/>
                </a:lnTo>
                <a:lnTo>
                  <a:pt x="70231" y="203149"/>
                </a:lnTo>
                <a:lnTo>
                  <a:pt x="58130" y="197805"/>
                </a:lnTo>
                <a:lnTo>
                  <a:pt x="47720" y="190368"/>
                </a:lnTo>
                <a:lnTo>
                  <a:pt x="26376" y="155687"/>
                </a:lnTo>
                <a:lnTo>
                  <a:pt x="19351" y="105930"/>
                </a:lnTo>
                <a:lnTo>
                  <a:pt x="19304" y="104813"/>
                </a:lnTo>
                <a:lnTo>
                  <a:pt x="20089" y="86744"/>
                </a:lnTo>
                <a:lnTo>
                  <a:pt x="31877" y="42138"/>
                </a:lnTo>
                <a:lnTo>
                  <a:pt x="58291" y="13915"/>
                </a:lnTo>
                <a:lnTo>
                  <a:pt x="70485" y="8597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596260" y="6301841"/>
            <a:ext cx="1158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𝐕</a:t>
            </a:r>
            <a:r>
              <a:rPr sz="1950" spc="-15" baseline="-14957" dirty="0">
                <a:latin typeface="Cambria Math"/>
                <a:cs typeface="Cambria Math"/>
              </a:rPr>
              <a:t>𝐂</a:t>
            </a:r>
            <a:r>
              <a:rPr sz="1950" spc="52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25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4957" dirty="0">
                <a:latin typeface="Cambria Math"/>
                <a:cs typeface="Cambria Math"/>
              </a:rPr>
              <a:t>𝐜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24" name="object 2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75026" y="4086377"/>
            <a:ext cx="1664589" cy="841730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2375026" y="4086377"/>
            <a:ext cx="1664970" cy="769891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452755">
              <a:lnSpc>
                <a:spcPts val="2875"/>
              </a:lnSpc>
              <a:spcBef>
                <a:spcPts val="295"/>
              </a:spcBef>
            </a:pPr>
            <a:r>
              <a:rPr lang="en-US" sz="2400" spc="-20" dirty="0">
                <a:latin typeface="Cambria Math"/>
                <a:cs typeface="Cambria Math"/>
              </a:rPr>
              <a:t> </a:t>
            </a:r>
            <a:r>
              <a:rPr sz="2400" spc="-20" dirty="0">
                <a:latin typeface="Cambria Math"/>
                <a:cs typeface="Cambria Math"/>
              </a:rPr>
              <a:t>𝛑/𝟐</a:t>
            </a:r>
            <a:endParaRPr sz="2400" dirty="0">
              <a:latin typeface="Cambria Math"/>
              <a:cs typeface="Cambria Math"/>
            </a:endParaRPr>
          </a:p>
          <a:p>
            <a:pPr marL="455930">
              <a:lnSpc>
                <a:spcPts val="2875"/>
              </a:lnSpc>
            </a:pPr>
            <a:r>
              <a:rPr sz="2400" b="1" spc="-10" dirty="0">
                <a:latin typeface="Calibri"/>
                <a:cs typeface="Calibri"/>
              </a:rPr>
              <a:t>Phase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150107" y="3610736"/>
            <a:ext cx="1637030" cy="1802130"/>
            <a:chOff x="3150107" y="3610736"/>
            <a:chExt cx="1637030" cy="1802130"/>
          </a:xfrm>
        </p:grpSpPr>
        <p:sp>
          <p:nvSpPr>
            <p:cNvPr id="27" name="object 27"/>
            <p:cNvSpPr/>
            <p:nvPr/>
          </p:nvSpPr>
          <p:spPr>
            <a:xfrm>
              <a:off x="3150108" y="3610736"/>
              <a:ext cx="114300" cy="1802130"/>
            </a:xfrm>
            <a:custGeom>
              <a:avLst/>
              <a:gdLst/>
              <a:ahLst/>
              <a:cxnLst/>
              <a:rect l="l" t="t" r="r" b="b"/>
              <a:pathLst>
                <a:path w="114300" h="1802129">
                  <a:moveTo>
                    <a:pt x="114300" y="1431671"/>
                  </a:moveTo>
                  <a:lnTo>
                    <a:pt x="104775" y="1412621"/>
                  </a:lnTo>
                  <a:lnTo>
                    <a:pt x="57150" y="1317371"/>
                  </a:lnTo>
                  <a:lnTo>
                    <a:pt x="0" y="1431671"/>
                  </a:lnTo>
                  <a:lnTo>
                    <a:pt x="38100" y="1431671"/>
                  </a:lnTo>
                  <a:lnTo>
                    <a:pt x="38100" y="1801622"/>
                  </a:lnTo>
                  <a:lnTo>
                    <a:pt x="76200" y="1801622"/>
                  </a:lnTo>
                  <a:lnTo>
                    <a:pt x="76200" y="1431671"/>
                  </a:lnTo>
                  <a:lnTo>
                    <a:pt x="114300" y="1431671"/>
                  </a:lnTo>
                  <a:close/>
                </a:path>
                <a:path w="114300" h="1802129">
                  <a:moveTo>
                    <a:pt x="114300" y="114300"/>
                  </a:moveTo>
                  <a:lnTo>
                    <a:pt x="104775" y="95250"/>
                  </a:lnTo>
                  <a:lnTo>
                    <a:pt x="57150" y="0"/>
                  </a:lnTo>
                  <a:lnTo>
                    <a:pt x="0" y="114300"/>
                  </a:lnTo>
                  <a:lnTo>
                    <a:pt x="38100" y="114300"/>
                  </a:lnTo>
                  <a:lnTo>
                    <a:pt x="38100" y="488315"/>
                  </a:lnTo>
                  <a:lnTo>
                    <a:pt x="76200" y="488315"/>
                  </a:lnTo>
                  <a:lnTo>
                    <a:pt x="76200" y="114300"/>
                  </a:lnTo>
                  <a:lnTo>
                    <a:pt x="114300" y="11430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276216" y="3707002"/>
              <a:ext cx="510540" cy="212090"/>
            </a:xfrm>
            <a:custGeom>
              <a:avLst/>
              <a:gdLst/>
              <a:ahLst/>
              <a:cxnLst/>
              <a:rect l="l" t="t" r="r" b="b"/>
              <a:pathLst>
                <a:path w="510539" h="212089">
                  <a:moveTo>
                    <a:pt x="442849" y="0"/>
                  </a:moveTo>
                  <a:lnTo>
                    <a:pt x="439801" y="8636"/>
                  </a:lnTo>
                  <a:lnTo>
                    <a:pt x="452086" y="13946"/>
                  </a:lnTo>
                  <a:lnTo>
                    <a:pt x="462645" y="21304"/>
                  </a:lnTo>
                  <a:lnTo>
                    <a:pt x="484036" y="55429"/>
                  </a:lnTo>
                  <a:lnTo>
                    <a:pt x="491109" y="104775"/>
                  </a:lnTo>
                  <a:lnTo>
                    <a:pt x="490323" y="123517"/>
                  </a:lnTo>
                  <a:lnTo>
                    <a:pt x="478536" y="169291"/>
                  </a:lnTo>
                  <a:lnTo>
                    <a:pt x="452229" y="197866"/>
                  </a:lnTo>
                  <a:lnTo>
                    <a:pt x="440182" y="203200"/>
                  </a:lnTo>
                  <a:lnTo>
                    <a:pt x="442849" y="211709"/>
                  </a:lnTo>
                  <a:lnTo>
                    <a:pt x="483318" y="187706"/>
                  </a:lnTo>
                  <a:lnTo>
                    <a:pt x="506047" y="143335"/>
                  </a:lnTo>
                  <a:lnTo>
                    <a:pt x="510413" y="105918"/>
                  </a:lnTo>
                  <a:lnTo>
                    <a:pt x="509328" y="86723"/>
                  </a:lnTo>
                  <a:lnTo>
                    <a:pt x="492887" y="37084"/>
                  </a:lnTo>
                  <a:lnTo>
                    <a:pt x="458186" y="5544"/>
                  </a:lnTo>
                  <a:lnTo>
                    <a:pt x="442849" y="0"/>
                  </a:lnTo>
                  <a:close/>
                </a:path>
                <a:path w="510539" h="212089">
                  <a:moveTo>
                    <a:pt x="67564" y="0"/>
                  </a:moveTo>
                  <a:lnTo>
                    <a:pt x="27166" y="24110"/>
                  </a:lnTo>
                  <a:lnTo>
                    <a:pt x="4381" y="68595"/>
                  </a:lnTo>
                  <a:lnTo>
                    <a:pt x="64" y="104775"/>
                  </a:lnTo>
                  <a:lnTo>
                    <a:pt x="0" y="105918"/>
                  </a:lnTo>
                  <a:lnTo>
                    <a:pt x="989" y="123517"/>
                  </a:lnTo>
                  <a:lnTo>
                    <a:pt x="1093" y="125370"/>
                  </a:lnTo>
                  <a:lnTo>
                    <a:pt x="4365" y="143335"/>
                  </a:lnTo>
                  <a:lnTo>
                    <a:pt x="27094" y="187706"/>
                  </a:lnTo>
                  <a:lnTo>
                    <a:pt x="67564" y="211709"/>
                  </a:lnTo>
                  <a:lnTo>
                    <a:pt x="70231" y="203200"/>
                  </a:lnTo>
                  <a:lnTo>
                    <a:pt x="58183" y="197866"/>
                  </a:lnTo>
                  <a:lnTo>
                    <a:pt x="47767" y="190436"/>
                  </a:lnTo>
                  <a:lnTo>
                    <a:pt x="26376" y="155763"/>
                  </a:lnTo>
                  <a:lnTo>
                    <a:pt x="19351" y="105918"/>
                  </a:lnTo>
                  <a:lnTo>
                    <a:pt x="19304" y="104775"/>
                  </a:lnTo>
                  <a:lnTo>
                    <a:pt x="20089" y="86723"/>
                  </a:lnTo>
                  <a:lnTo>
                    <a:pt x="31877" y="42164"/>
                  </a:lnTo>
                  <a:lnTo>
                    <a:pt x="58344" y="13946"/>
                  </a:lnTo>
                  <a:lnTo>
                    <a:pt x="70612" y="8636"/>
                  </a:lnTo>
                  <a:lnTo>
                    <a:pt x="675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448811" y="3637026"/>
            <a:ext cx="1301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−𝐕</a:t>
            </a:r>
            <a:r>
              <a:rPr sz="1950" spc="-15" baseline="-14957" dirty="0">
                <a:latin typeface="Cambria Math"/>
                <a:cs typeface="Cambria Math"/>
              </a:rPr>
              <a:t>𝐂</a:t>
            </a:r>
            <a:r>
              <a:rPr sz="1950" spc="37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𝐬𝐢𝐧</a:t>
            </a:r>
            <a:r>
              <a:rPr sz="1800" spc="26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4957" dirty="0">
                <a:latin typeface="Cambria Math"/>
                <a:cs typeface="Cambria Math"/>
              </a:rPr>
              <a:t>𝐜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30" name="object 3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75026" y="2761005"/>
            <a:ext cx="1664589" cy="841730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2375026" y="2761005"/>
            <a:ext cx="1664970" cy="775211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36194" rIns="0" bIns="0" rtlCol="0">
            <a:spAutoFit/>
          </a:bodyPr>
          <a:lstStyle/>
          <a:p>
            <a:pPr marL="154305" marR="148590" indent="182880">
              <a:lnSpc>
                <a:spcPct val="100000"/>
              </a:lnSpc>
              <a:spcBef>
                <a:spcPts val="284"/>
              </a:spcBef>
            </a:pPr>
            <a:r>
              <a:rPr lang="en-US" sz="2400" b="1" spc="-10" dirty="0">
                <a:latin typeface="Calibri"/>
                <a:cs typeface="Calibri"/>
              </a:rPr>
              <a:t>DSB-SC</a:t>
            </a:r>
            <a:r>
              <a:rPr sz="2400" b="1" spc="-10" dirty="0">
                <a:latin typeface="Calibri"/>
                <a:cs typeface="Calibri"/>
              </a:rPr>
              <a:t> Modulator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32" name="object 3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51807" y="2476373"/>
            <a:ext cx="236092" cy="211709"/>
          </a:xfrm>
          <a:prstGeom prst="rect">
            <a:avLst/>
          </a:prstGeom>
        </p:spPr>
      </p:pic>
      <p:sp>
        <p:nvSpPr>
          <p:cNvPr id="33" name="object 33"/>
          <p:cNvSpPr/>
          <p:nvPr/>
        </p:nvSpPr>
        <p:spPr>
          <a:xfrm>
            <a:off x="5188839" y="2476373"/>
            <a:ext cx="512445" cy="212090"/>
          </a:xfrm>
          <a:custGeom>
            <a:avLst/>
            <a:gdLst/>
            <a:ahLst/>
            <a:cxnLst/>
            <a:rect l="l" t="t" r="r" b="b"/>
            <a:pathLst>
              <a:path w="512445" h="212089">
                <a:moveTo>
                  <a:pt x="444373" y="0"/>
                </a:moveTo>
                <a:lnTo>
                  <a:pt x="441452" y="8509"/>
                </a:lnTo>
                <a:lnTo>
                  <a:pt x="453665" y="13819"/>
                </a:lnTo>
                <a:lnTo>
                  <a:pt x="464200" y="21177"/>
                </a:lnTo>
                <a:lnTo>
                  <a:pt x="485614" y="55322"/>
                </a:lnTo>
                <a:lnTo>
                  <a:pt x="491815" y="86465"/>
                </a:lnTo>
                <a:lnTo>
                  <a:pt x="491849" y="86703"/>
                </a:lnTo>
                <a:lnTo>
                  <a:pt x="489489" y="140398"/>
                </a:lnTo>
                <a:lnTo>
                  <a:pt x="472959" y="180784"/>
                </a:lnTo>
                <a:lnTo>
                  <a:pt x="441706" y="203073"/>
                </a:lnTo>
                <a:lnTo>
                  <a:pt x="444373" y="211709"/>
                </a:lnTo>
                <a:lnTo>
                  <a:pt x="484895" y="187652"/>
                </a:lnTo>
                <a:lnTo>
                  <a:pt x="507571" y="143271"/>
                </a:lnTo>
                <a:lnTo>
                  <a:pt x="511937" y="105918"/>
                </a:lnTo>
                <a:lnTo>
                  <a:pt x="510856" y="86703"/>
                </a:lnTo>
                <a:lnTo>
                  <a:pt x="510843" y="86465"/>
                </a:lnTo>
                <a:lnTo>
                  <a:pt x="494538" y="37084"/>
                </a:lnTo>
                <a:lnTo>
                  <a:pt x="459730" y="5526"/>
                </a:lnTo>
                <a:lnTo>
                  <a:pt x="444373" y="0"/>
                </a:lnTo>
                <a:close/>
              </a:path>
              <a:path w="512445" h="212089">
                <a:moveTo>
                  <a:pt x="67564" y="0"/>
                </a:moveTo>
                <a:lnTo>
                  <a:pt x="27219" y="24056"/>
                </a:lnTo>
                <a:lnTo>
                  <a:pt x="4381" y="68500"/>
                </a:lnTo>
                <a:lnTo>
                  <a:pt x="0" y="105918"/>
                </a:lnTo>
                <a:lnTo>
                  <a:pt x="987" y="123444"/>
                </a:lnTo>
                <a:lnTo>
                  <a:pt x="1095" y="125350"/>
                </a:lnTo>
                <a:lnTo>
                  <a:pt x="17526" y="174625"/>
                </a:lnTo>
                <a:lnTo>
                  <a:pt x="52155" y="206182"/>
                </a:lnTo>
                <a:lnTo>
                  <a:pt x="67564" y="211709"/>
                </a:lnTo>
                <a:lnTo>
                  <a:pt x="70231" y="203073"/>
                </a:lnTo>
                <a:lnTo>
                  <a:pt x="58183" y="197738"/>
                </a:lnTo>
                <a:lnTo>
                  <a:pt x="47767" y="190309"/>
                </a:lnTo>
                <a:lnTo>
                  <a:pt x="26376" y="155638"/>
                </a:lnTo>
                <a:lnTo>
                  <a:pt x="19352" y="105918"/>
                </a:lnTo>
                <a:lnTo>
                  <a:pt x="19304" y="104775"/>
                </a:lnTo>
                <a:lnTo>
                  <a:pt x="20089" y="86703"/>
                </a:lnTo>
                <a:lnTo>
                  <a:pt x="31877" y="42037"/>
                </a:lnTo>
                <a:lnTo>
                  <a:pt x="58398" y="13819"/>
                </a:lnTo>
                <a:lnTo>
                  <a:pt x="70612" y="8509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4" name="object 34"/>
          <p:cNvGrpSpPr/>
          <p:nvPr/>
        </p:nvGrpSpPr>
        <p:grpSpPr>
          <a:xfrm>
            <a:off x="4039615" y="2752242"/>
            <a:ext cx="2662555" cy="842010"/>
            <a:chOff x="4039615" y="2752242"/>
            <a:chExt cx="2662555" cy="842010"/>
          </a:xfrm>
        </p:grpSpPr>
        <p:sp>
          <p:nvSpPr>
            <p:cNvPr id="35" name="object 35"/>
            <p:cNvSpPr/>
            <p:nvPr/>
          </p:nvSpPr>
          <p:spPr>
            <a:xfrm>
              <a:off x="4039615" y="3124708"/>
              <a:ext cx="1416050" cy="114300"/>
            </a:xfrm>
            <a:custGeom>
              <a:avLst/>
              <a:gdLst/>
              <a:ahLst/>
              <a:cxnLst/>
              <a:rect l="l" t="t" r="r" b="b"/>
              <a:pathLst>
                <a:path w="1416050" h="114300">
                  <a:moveTo>
                    <a:pt x="1301369" y="0"/>
                  </a:moveTo>
                  <a:lnTo>
                    <a:pt x="1301369" y="114300"/>
                  </a:lnTo>
                  <a:lnTo>
                    <a:pt x="1377569" y="76200"/>
                  </a:lnTo>
                  <a:lnTo>
                    <a:pt x="1320419" y="76200"/>
                  </a:lnTo>
                  <a:lnTo>
                    <a:pt x="1320419" y="38100"/>
                  </a:lnTo>
                  <a:lnTo>
                    <a:pt x="1377569" y="38100"/>
                  </a:lnTo>
                  <a:lnTo>
                    <a:pt x="1301369" y="0"/>
                  </a:lnTo>
                  <a:close/>
                </a:path>
                <a:path w="1416050" h="114300">
                  <a:moveTo>
                    <a:pt x="1301369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1301369" y="76200"/>
                  </a:lnTo>
                  <a:lnTo>
                    <a:pt x="1301369" y="38100"/>
                  </a:lnTo>
                  <a:close/>
                </a:path>
                <a:path w="1416050" h="114300">
                  <a:moveTo>
                    <a:pt x="1377569" y="38100"/>
                  </a:moveTo>
                  <a:lnTo>
                    <a:pt x="1320419" y="38100"/>
                  </a:lnTo>
                  <a:lnTo>
                    <a:pt x="1320419" y="76200"/>
                  </a:lnTo>
                  <a:lnTo>
                    <a:pt x="1377569" y="76200"/>
                  </a:lnTo>
                  <a:lnTo>
                    <a:pt x="1415669" y="57150"/>
                  </a:lnTo>
                  <a:lnTo>
                    <a:pt x="1377569" y="3810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89955" y="2752242"/>
              <a:ext cx="1212189" cy="841730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3593846" y="1869440"/>
            <a:ext cx="2096770" cy="836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992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Sidebands</a:t>
            </a:r>
            <a:endParaRPr sz="1800">
              <a:latin typeface="Calibri"/>
              <a:cs typeface="Calibri"/>
            </a:endParaRPr>
          </a:p>
          <a:p>
            <a:pPr marL="63500">
              <a:lnSpc>
                <a:spcPct val="100000"/>
              </a:lnSpc>
              <a:spcBef>
                <a:spcPts val="2065"/>
              </a:spcBef>
              <a:tabLst>
                <a:tab pos="1252220" algn="l"/>
              </a:tabLst>
            </a:pPr>
            <a:r>
              <a:rPr sz="1800" dirty="0">
                <a:latin typeface="Cambria Math"/>
                <a:cs typeface="Cambria Math"/>
              </a:rPr>
              <a:t>−𝐕</a:t>
            </a:r>
            <a:r>
              <a:rPr sz="1950" baseline="-14957" dirty="0">
                <a:latin typeface="Cambria Math"/>
                <a:cs typeface="Cambria Math"/>
              </a:rPr>
              <a:t>𝐂</a:t>
            </a:r>
            <a:r>
              <a:rPr sz="1800" dirty="0">
                <a:latin typeface="Cambria Math"/>
                <a:cs typeface="Cambria Math"/>
              </a:rPr>
              <a:t>𝐤</a:t>
            </a:r>
            <a:r>
              <a:rPr sz="1950" baseline="-14957" dirty="0">
                <a:latin typeface="Cambria Math"/>
                <a:cs typeface="Cambria Math"/>
              </a:rPr>
              <a:t>𝐩</a:t>
            </a:r>
            <a:r>
              <a:rPr sz="1800" dirty="0">
                <a:latin typeface="Cambria Math"/>
                <a:cs typeface="Cambria Math"/>
              </a:rPr>
              <a:t>𝐦</a:t>
            </a:r>
            <a:r>
              <a:rPr sz="1800" spc="38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𝐬𝐢𝐧</a:t>
            </a:r>
            <a:r>
              <a:rPr sz="1800" spc="325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4957" dirty="0">
                <a:latin typeface="Cambria Math"/>
                <a:cs typeface="Cambria Math"/>
              </a:rPr>
              <a:t>𝐜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489955" y="2752242"/>
            <a:ext cx="1212215" cy="842010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218440" rIns="0" bIns="0" rtlCol="0">
            <a:spAutoFit/>
          </a:bodyPr>
          <a:lstStyle/>
          <a:p>
            <a:pPr marL="220345">
              <a:lnSpc>
                <a:spcPct val="100000"/>
              </a:lnSpc>
              <a:spcBef>
                <a:spcPts val="1720"/>
              </a:spcBef>
            </a:pPr>
            <a:r>
              <a:rPr sz="2400" b="1" spc="-10" dirty="0">
                <a:latin typeface="Calibri"/>
                <a:cs typeface="Calibri"/>
              </a:rPr>
              <a:t>Adder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039616" y="3118103"/>
            <a:ext cx="4324350" cy="2738755"/>
          </a:xfrm>
          <a:custGeom>
            <a:avLst/>
            <a:gdLst/>
            <a:ahLst/>
            <a:cxnLst/>
            <a:rect l="l" t="t" r="r" b="b"/>
            <a:pathLst>
              <a:path w="4324350" h="2738754">
                <a:moveTo>
                  <a:pt x="2113534" y="590169"/>
                </a:moveTo>
                <a:lnTo>
                  <a:pt x="2104009" y="571119"/>
                </a:lnTo>
                <a:lnTo>
                  <a:pt x="2056384" y="475869"/>
                </a:lnTo>
                <a:lnTo>
                  <a:pt x="1999234" y="590169"/>
                </a:lnTo>
                <a:lnTo>
                  <a:pt x="2037334" y="590169"/>
                </a:lnTo>
                <a:lnTo>
                  <a:pt x="2037334" y="2700058"/>
                </a:lnTo>
                <a:lnTo>
                  <a:pt x="0" y="2700058"/>
                </a:lnTo>
                <a:lnTo>
                  <a:pt x="0" y="2738158"/>
                </a:lnTo>
                <a:lnTo>
                  <a:pt x="2075434" y="2738158"/>
                </a:lnTo>
                <a:lnTo>
                  <a:pt x="2075434" y="2719108"/>
                </a:lnTo>
                <a:lnTo>
                  <a:pt x="2075434" y="2700058"/>
                </a:lnTo>
                <a:lnTo>
                  <a:pt x="2075434" y="590169"/>
                </a:lnTo>
                <a:lnTo>
                  <a:pt x="2113534" y="590169"/>
                </a:lnTo>
                <a:close/>
              </a:path>
              <a:path w="4324350" h="2738754">
                <a:moveTo>
                  <a:pt x="4323969" y="57277"/>
                </a:moveTo>
                <a:lnTo>
                  <a:pt x="4285742" y="38100"/>
                </a:lnTo>
                <a:lnTo>
                  <a:pt x="4228719" y="9499"/>
                </a:lnTo>
                <a:lnTo>
                  <a:pt x="4228719" y="76200"/>
                </a:lnTo>
                <a:lnTo>
                  <a:pt x="4209707" y="76200"/>
                </a:lnTo>
                <a:lnTo>
                  <a:pt x="4228719" y="76200"/>
                </a:lnTo>
                <a:lnTo>
                  <a:pt x="4228719" y="9499"/>
                </a:lnTo>
                <a:lnTo>
                  <a:pt x="4209796" y="0"/>
                </a:lnTo>
                <a:lnTo>
                  <a:pt x="4209745" y="35941"/>
                </a:lnTo>
                <a:lnTo>
                  <a:pt x="4209732" y="38074"/>
                </a:lnTo>
                <a:lnTo>
                  <a:pt x="2662555" y="35941"/>
                </a:lnTo>
                <a:lnTo>
                  <a:pt x="2662542" y="38100"/>
                </a:lnTo>
                <a:lnTo>
                  <a:pt x="2662428" y="74041"/>
                </a:lnTo>
                <a:lnTo>
                  <a:pt x="4209694" y="76174"/>
                </a:lnTo>
                <a:lnTo>
                  <a:pt x="4209669" y="114300"/>
                </a:lnTo>
                <a:lnTo>
                  <a:pt x="4286034" y="76200"/>
                </a:lnTo>
                <a:lnTo>
                  <a:pt x="4323969" y="57277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6868794" y="3216021"/>
            <a:ext cx="1245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NBPM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Signal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Resolution</a:t>
            </a:r>
            <a:r>
              <a:rPr sz="3200" u="sng" spc="-6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of</a:t>
            </a:r>
            <a:r>
              <a:rPr sz="3200" u="sng" spc="-3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Issue</a:t>
            </a:r>
            <a:r>
              <a:rPr sz="3200" u="sng" spc="-6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in</a:t>
            </a:r>
            <a:r>
              <a:rPr sz="3200" u="sng" spc="-3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NBPM</a:t>
            </a:r>
            <a:r>
              <a:rPr sz="3200" u="sng" spc="-3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Generation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224739" y="620648"/>
            <a:ext cx="117544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90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Amplitude</a:t>
            </a:r>
            <a:r>
              <a:rPr sz="2400" b="1" spc="3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variation</a:t>
            </a:r>
            <a:r>
              <a:rPr sz="2400" b="1" spc="3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can</a:t>
            </a:r>
            <a:r>
              <a:rPr sz="2400" b="1" spc="3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occur</a:t>
            </a:r>
            <a:r>
              <a:rPr sz="2400" b="1" spc="30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due</a:t>
            </a:r>
            <a:r>
              <a:rPr sz="2400" b="1" spc="3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spc="3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3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adder.</a:t>
            </a:r>
            <a:r>
              <a:rPr sz="2400" b="1" spc="3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3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Bandpass</a:t>
            </a:r>
            <a:r>
              <a:rPr sz="2400" b="1" spc="3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Limiter</a:t>
            </a:r>
            <a:r>
              <a:rPr sz="2400" b="1" spc="30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can</a:t>
            </a:r>
            <a:r>
              <a:rPr sz="2400" b="1" spc="3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resolve</a:t>
            </a:r>
            <a:r>
              <a:rPr sz="2400" b="1" spc="3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that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issue.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79625" y="1829942"/>
            <a:ext cx="1491615" cy="114300"/>
          </a:xfrm>
          <a:custGeom>
            <a:avLst/>
            <a:gdLst/>
            <a:ahLst/>
            <a:cxnLst/>
            <a:rect l="l" t="t" r="r" b="b"/>
            <a:pathLst>
              <a:path w="1491614" h="114300">
                <a:moveTo>
                  <a:pt x="1377315" y="0"/>
                </a:moveTo>
                <a:lnTo>
                  <a:pt x="1377315" y="114300"/>
                </a:lnTo>
                <a:lnTo>
                  <a:pt x="1453515" y="76200"/>
                </a:lnTo>
                <a:lnTo>
                  <a:pt x="1396365" y="76200"/>
                </a:lnTo>
                <a:lnTo>
                  <a:pt x="1396365" y="38100"/>
                </a:lnTo>
                <a:lnTo>
                  <a:pt x="1453515" y="38100"/>
                </a:lnTo>
                <a:lnTo>
                  <a:pt x="1377315" y="0"/>
                </a:lnTo>
                <a:close/>
              </a:path>
              <a:path w="1491614" h="114300">
                <a:moveTo>
                  <a:pt x="137731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377315" y="76200"/>
                </a:lnTo>
                <a:lnTo>
                  <a:pt x="1377315" y="38100"/>
                </a:lnTo>
                <a:close/>
              </a:path>
              <a:path w="1491614" h="114300">
                <a:moveTo>
                  <a:pt x="1453515" y="38100"/>
                </a:moveTo>
                <a:lnTo>
                  <a:pt x="1396365" y="38100"/>
                </a:lnTo>
                <a:lnTo>
                  <a:pt x="1396365" y="76200"/>
                </a:lnTo>
                <a:lnTo>
                  <a:pt x="1453515" y="76200"/>
                </a:lnTo>
                <a:lnTo>
                  <a:pt x="1491615" y="57150"/>
                </a:lnTo>
                <a:lnTo>
                  <a:pt x="1453515" y="3810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74040" y="1887982"/>
            <a:ext cx="16478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NBPM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Signal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1241" y="1468272"/>
            <a:ext cx="2100072" cy="84173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071241" y="1468272"/>
            <a:ext cx="2100580" cy="842010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218440" rIns="0" bIns="0" rtlCol="0">
            <a:spAutoFit/>
          </a:bodyPr>
          <a:lstStyle/>
          <a:p>
            <a:pPr marL="264160">
              <a:lnSpc>
                <a:spcPct val="100000"/>
              </a:lnSpc>
              <a:spcBef>
                <a:spcPts val="1720"/>
              </a:spcBef>
            </a:pPr>
            <a:r>
              <a:rPr sz="2400" b="1" dirty="0">
                <a:latin typeface="Calibri"/>
                <a:cs typeface="Calibri"/>
              </a:rPr>
              <a:t>Hard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Limiter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171313" y="1466240"/>
            <a:ext cx="3025775" cy="842010"/>
            <a:chOff x="5171313" y="1466240"/>
            <a:chExt cx="3025775" cy="842010"/>
          </a:xfrm>
        </p:grpSpPr>
        <p:sp>
          <p:nvSpPr>
            <p:cNvPr id="9" name="object 9"/>
            <p:cNvSpPr/>
            <p:nvPr/>
          </p:nvSpPr>
          <p:spPr>
            <a:xfrm>
              <a:off x="5171313" y="1830197"/>
              <a:ext cx="931544" cy="114300"/>
            </a:xfrm>
            <a:custGeom>
              <a:avLst/>
              <a:gdLst/>
              <a:ahLst/>
              <a:cxnLst/>
              <a:rect l="l" t="t" r="r" b="b"/>
              <a:pathLst>
                <a:path w="931545" h="114300">
                  <a:moveTo>
                    <a:pt x="816991" y="0"/>
                  </a:moveTo>
                  <a:lnTo>
                    <a:pt x="817075" y="38016"/>
                  </a:lnTo>
                  <a:lnTo>
                    <a:pt x="817160" y="76116"/>
                  </a:lnTo>
                  <a:lnTo>
                    <a:pt x="817244" y="114299"/>
                  </a:lnTo>
                  <a:lnTo>
                    <a:pt x="893190" y="76116"/>
                  </a:lnTo>
                  <a:lnTo>
                    <a:pt x="836168" y="76116"/>
                  </a:lnTo>
                  <a:lnTo>
                    <a:pt x="836047" y="39877"/>
                  </a:lnTo>
                  <a:lnTo>
                    <a:pt x="836041" y="38016"/>
                  </a:lnTo>
                  <a:lnTo>
                    <a:pt x="893447" y="38016"/>
                  </a:lnTo>
                  <a:lnTo>
                    <a:pt x="816991" y="0"/>
                  </a:lnTo>
                  <a:close/>
                </a:path>
                <a:path w="931545" h="114300">
                  <a:moveTo>
                    <a:pt x="817075" y="38016"/>
                  </a:moveTo>
                  <a:lnTo>
                    <a:pt x="0" y="39877"/>
                  </a:lnTo>
                  <a:lnTo>
                    <a:pt x="0" y="77977"/>
                  </a:lnTo>
                  <a:lnTo>
                    <a:pt x="817160" y="76116"/>
                  </a:lnTo>
                  <a:lnTo>
                    <a:pt x="817075" y="38016"/>
                  </a:lnTo>
                  <a:close/>
                </a:path>
                <a:path w="931545" h="114300">
                  <a:moveTo>
                    <a:pt x="893447" y="38016"/>
                  </a:moveTo>
                  <a:lnTo>
                    <a:pt x="836041" y="38016"/>
                  </a:lnTo>
                  <a:lnTo>
                    <a:pt x="836047" y="39877"/>
                  </a:lnTo>
                  <a:lnTo>
                    <a:pt x="836168" y="76116"/>
                  </a:lnTo>
                  <a:lnTo>
                    <a:pt x="893190" y="76116"/>
                  </a:lnTo>
                  <a:lnTo>
                    <a:pt x="931418" y="56895"/>
                  </a:lnTo>
                  <a:lnTo>
                    <a:pt x="893447" y="38016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6762" y="1466240"/>
              <a:ext cx="2100072" cy="84173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6096761" y="1466240"/>
            <a:ext cx="2100580" cy="842010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2184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20"/>
              </a:spcBef>
            </a:pPr>
            <a:r>
              <a:rPr sz="2400" b="1" spc="-25" dirty="0">
                <a:latin typeface="Calibri"/>
                <a:cs typeface="Calibri"/>
              </a:rPr>
              <a:t>BPF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196833" y="1828164"/>
            <a:ext cx="931544" cy="114300"/>
          </a:xfrm>
          <a:custGeom>
            <a:avLst/>
            <a:gdLst/>
            <a:ahLst/>
            <a:cxnLst/>
            <a:rect l="l" t="t" r="r" b="b"/>
            <a:pathLst>
              <a:path w="931545" h="114300">
                <a:moveTo>
                  <a:pt x="816991" y="0"/>
                </a:moveTo>
                <a:lnTo>
                  <a:pt x="817075" y="38016"/>
                </a:lnTo>
                <a:lnTo>
                  <a:pt x="817160" y="76116"/>
                </a:lnTo>
                <a:lnTo>
                  <a:pt x="817244" y="114299"/>
                </a:lnTo>
                <a:lnTo>
                  <a:pt x="893190" y="76116"/>
                </a:lnTo>
                <a:lnTo>
                  <a:pt x="836168" y="76116"/>
                </a:lnTo>
                <a:lnTo>
                  <a:pt x="836047" y="39877"/>
                </a:lnTo>
                <a:lnTo>
                  <a:pt x="836041" y="38016"/>
                </a:lnTo>
                <a:lnTo>
                  <a:pt x="893447" y="38016"/>
                </a:lnTo>
                <a:lnTo>
                  <a:pt x="816991" y="0"/>
                </a:lnTo>
                <a:close/>
              </a:path>
              <a:path w="931545" h="114300">
                <a:moveTo>
                  <a:pt x="817075" y="38016"/>
                </a:moveTo>
                <a:lnTo>
                  <a:pt x="0" y="39877"/>
                </a:lnTo>
                <a:lnTo>
                  <a:pt x="0" y="77977"/>
                </a:lnTo>
                <a:lnTo>
                  <a:pt x="817160" y="76116"/>
                </a:lnTo>
                <a:lnTo>
                  <a:pt x="817075" y="38016"/>
                </a:lnTo>
                <a:close/>
              </a:path>
              <a:path w="931545" h="114300">
                <a:moveTo>
                  <a:pt x="893447" y="38016"/>
                </a:moveTo>
                <a:lnTo>
                  <a:pt x="836041" y="38016"/>
                </a:lnTo>
                <a:lnTo>
                  <a:pt x="836047" y="39877"/>
                </a:lnTo>
                <a:lnTo>
                  <a:pt x="836168" y="76116"/>
                </a:lnTo>
                <a:lnTo>
                  <a:pt x="893190" y="76116"/>
                </a:lnTo>
                <a:lnTo>
                  <a:pt x="931418" y="56895"/>
                </a:lnTo>
                <a:lnTo>
                  <a:pt x="893447" y="38016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742426" y="1902714"/>
            <a:ext cx="22999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Pure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NBPM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Signal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4739" y="2491816"/>
            <a:ext cx="74447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Hard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Limiter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converts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NBPM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into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Square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wave.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016228" y="3052254"/>
            <a:ext cx="4999355" cy="1490345"/>
            <a:chOff x="1016228" y="3052254"/>
            <a:chExt cx="4999355" cy="1490345"/>
          </a:xfrm>
        </p:grpSpPr>
        <p:sp>
          <p:nvSpPr>
            <p:cNvPr id="16" name="object 16"/>
            <p:cNvSpPr/>
            <p:nvPr/>
          </p:nvSpPr>
          <p:spPr>
            <a:xfrm>
              <a:off x="1030516" y="3069463"/>
              <a:ext cx="0" cy="1459865"/>
            </a:xfrm>
            <a:custGeom>
              <a:avLst/>
              <a:gdLst/>
              <a:ahLst/>
              <a:cxnLst/>
              <a:rect l="l" t="t" r="r" b="b"/>
              <a:pathLst>
                <a:path h="1459864">
                  <a:moveTo>
                    <a:pt x="0" y="1459357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30516" y="3068066"/>
              <a:ext cx="493395" cy="0"/>
            </a:xfrm>
            <a:custGeom>
              <a:avLst/>
              <a:gdLst/>
              <a:ahLst/>
              <a:cxnLst/>
              <a:rect l="l" t="t" r="r" b="b"/>
              <a:pathLst>
                <a:path w="493394">
                  <a:moveTo>
                    <a:pt x="0" y="0"/>
                  </a:moveTo>
                  <a:lnTo>
                    <a:pt x="493102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23618" y="3069463"/>
              <a:ext cx="0" cy="1459865"/>
            </a:xfrm>
            <a:custGeom>
              <a:avLst/>
              <a:gdLst/>
              <a:ahLst/>
              <a:cxnLst/>
              <a:rect l="l" t="t" r="r" b="b"/>
              <a:pathLst>
                <a:path h="1459864">
                  <a:moveTo>
                    <a:pt x="0" y="1459357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010028" y="3069463"/>
              <a:ext cx="0" cy="1459865"/>
            </a:xfrm>
            <a:custGeom>
              <a:avLst/>
              <a:gdLst/>
              <a:ahLst/>
              <a:cxnLst/>
              <a:rect l="l" t="t" r="r" b="b"/>
              <a:pathLst>
                <a:path h="1459864">
                  <a:moveTo>
                    <a:pt x="0" y="1459357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325497" y="3069463"/>
              <a:ext cx="0" cy="1459865"/>
            </a:xfrm>
            <a:custGeom>
              <a:avLst/>
              <a:gdLst/>
              <a:ahLst/>
              <a:cxnLst/>
              <a:rect l="l" t="t" r="r" b="b"/>
              <a:pathLst>
                <a:path h="1459864">
                  <a:moveTo>
                    <a:pt x="0" y="1459357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652521" y="3069463"/>
              <a:ext cx="0" cy="1459865"/>
            </a:xfrm>
            <a:custGeom>
              <a:avLst/>
              <a:gdLst/>
              <a:ahLst/>
              <a:cxnLst/>
              <a:rect l="l" t="t" r="r" b="b"/>
              <a:pathLst>
                <a:path h="1459864">
                  <a:moveTo>
                    <a:pt x="0" y="1459357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049396" y="3069463"/>
              <a:ext cx="0" cy="1459865"/>
            </a:xfrm>
            <a:custGeom>
              <a:avLst/>
              <a:gdLst/>
              <a:ahLst/>
              <a:cxnLst/>
              <a:rect l="l" t="t" r="r" b="b"/>
              <a:pathLst>
                <a:path h="1459864">
                  <a:moveTo>
                    <a:pt x="0" y="1459357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443096" y="3069463"/>
              <a:ext cx="0" cy="1459865"/>
            </a:xfrm>
            <a:custGeom>
              <a:avLst/>
              <a:gdLst/>
              <a:ahLst/>
              <a:cxnLst/>
              <a:rect l="l" t="t" r="r" b="b"/>
              <a:pathLst>
                <a:path h="1459864">
                  <a:moveTo>
                    <a:pt x="0" y="1459357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639946" y="3069463"/>
              <a:ext cx="0" cy="1459865"/>
            </a:xfrm>
            <a:custGeom>
              <a:avLst/>
              <a:gdLst/>
              <a:ahLst/>
              <a:cxnLst/>
              <a:rect l="l" t="t" r="r" b="b"/>
              <a:pathLst>
                <a:path h="1459864">
                  <a:moveTo>
                    <a:pt x="0" y="1459357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966971" y="3069463"/>
              <a:ext cx="0" cy="1459865"/>
            </a:xfrm>
            <a:custGeom>
              <a:avLst/>
              <a:gdLst/>
              <a:ahLst/>
              <a:cxnLst/>
              <a:rect l="l" t="t" r="r" b="b"/>
              <a:pathLst>
                <a:path h="1459864">
                  <a:moveTo>
                    <a:pt x="0" y="1459357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07535" y="3067050"/>
              <a:ext cx="0" cy="1459865"/>
            </a:xfrm>
            <a:custGeom>
              <a:avLst/>
              <a:gdLst/>
              <a:ahLst/>
              <a:cxnLst/>
              <a:rect l="l" t="t" r="r" b="b"/>
              <a:pathLst>
                <a:path h="1459864">
                  <a:moveTo>
                    <a:pt x="0" y="1459357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750435" y="3069463"/>
              <a:ext cx="0" cy="1459865"/>
            </a:xfrm>
            <a:custGeom>
              <a:avLst/>
              <a:gdLst/>
              <a:ahLst/>
              <a:cxnLst/>
              <a:rect l="l" t="t" r="r" b="b"/>
              <a:pathLst>
                <a:path h="1459864">
                  <a:moveTo>
                    <a:pt x="0" y="1459357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014722" y="3067050"/>
              <a:ext cx="0" cy="1459865"/>
            </a:xfrm>
            <a:custGeom>
              <a:avLst/>
              <a:gdLst/>
              <a:ahLst/>
              <a:cxnLst/>
              <a:rect l="l" t="t" r="r" b="b"/>
              <a:pathLst>
                <a:path h="1459864">
                  <a:moveTo>
                    <a:pt x="0" y="1459357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224272" y="3067050"/>
              <a:ext cx="0" cy="1459865"/>
            </a:xfrm>
            <a:custGeom>
              <a:avLst/>
              <a:gdLst/>
              <a:ahLst/>
              <a:cxnLst/>
              <a:rect l="l" t="t" r="r" b="b"/>
              <a:pathLst>
                <a:path h="1459864">
                  <a:moveTo>
                    <a:pt x="0" y="1459357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531485" y="3067050"/>
              <a:ext cx="0" cy="1459865"/>
            </a:xfrm>
            <a:custGeom>
              <a:avLst/>
              <a:gdLst/>
              <a:ahLst/>
              <a:cxnLst/>
              <a:rect l="l" t="t" r="r" b="b"/>
              <a:pathLst>
                <a:path h="1459864">
                  <a:moveTo>
                    <a:pt x="0" y="1459357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795772" y="3067050"/>
              <a:ext cx="0" cy="1459865"/>
            </a:xfrm>
            <a:custGeom>
              <a:avLst/>
              <a:gdLst/>
              <a:ahLst/>
              <a:cxnLst/>
              <a:rect l="l" t="t" r="r" b="b"/>
              <a:pathLst>
                <a:path h="1459864">
                  <a:moveTo>
                    <a:pt x="0" y="1459357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10028" y="3067050"/>
              <a:ext cx="315595" cy="0"/>
            </a:xfrm>
            <a:custGeom>
              <a:avLst/>
              <a:gdLst/>
              <a:ahLst/>
              <a:cxnLst/>
              <a:rect l="l" t="t" r="r" b="b"/>
              <a:pathLst>
                <a:path w="315594">
                  <a:moveTo>
                    <a:pt x="0" y="0"/>
                  </a:moveTo>
                  <a:lnTo>
                    <a:pt x="315468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652521" y="3066542"/>
              <a:ext cx="396875" cy="0"/>
            </a:xfrm>
            <a:custGeom>
              <a:avLst/>
              <a:gdLst/>
              <a:ahLst/>
              <a:cxnLst/>
              <a:rect l="l" t="t" r="r" b="b"/>
              <a:pathLst>
                <a:path w="396875">
                  <a:moveTo>
                    <a:pt x="0" y="0"/>
                  </a:moveTo>
                  <a:lnTo>
                    <a:pt x="396875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521205" y="4523486"/>
              <a:ext cx="493395" cy="0"/>
            </a:xfrm>
            <a:custGeom>
              <a:avLst/>
              <a:gdLst/>
              <a:ahLst/>
              <a:cxnLst/>
              <a:rect l="l" t="t" r="r" b="b"/>
              <a:pathLst>
                <a:path w="493394">
                  <a:moveTo>
                    <a:pt x="0" y="0"/>
                  </a:moveTo>
                  <a:lnTo>
                    <a:pt x="493014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325497" y="4523486"/>
              <a:ext cx="327025" cy="0"/>
            </a:xfrm>
            <a:custGeom>
              <a:avLst/>
              <a:gdLst/>
              <a:ahLst/>
              <a:cxnLst/>
              <a:rect l="l" t="t" r="r" b="b"/>
              <a:pathLst>
                <a:path w="327025">
                  <a:moveTo>
                    <a:pt x="0" y="0"/>
                  </a:moveTo>
                  <a:lnTo>
                    <a:pt x="327025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966971" y="3066542"/>
              <a:ext cx="440690" cy="0"/>
            </a:xfrm>
            <a:custGeom>
              <a:avLst/>
              <a:gdLst/>
              <a:ahLst/>
              <a:cxnLst/>
              <a:rect l="l" t="t" r="r" b="b"/>
              <a:pathLst>
                <a:path w="440689">
                  <a:moveTo>
                    <a:pt x="0" y="0"/>
                  </a:moveTo>
                  <a:lnTo>
                    <a:pt x="440563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224272" y="3066542"/>
              <a:ext cx="307340" cy="0"/>
            </a:xfrm>
            <a:custGeom>
              <a:avLst/>
              <a:gdLst/>
              <a:ahLst/>
              <a:cxnLst/>
              <a:rect l="l" t="t" r="r" b="b"/>
              <a:pathLst>
                <a:path w="307339">
                  <a:moveTo>
                    <a:pt x="0" y="0"/>
                  </a:moveTo>
                  <a:lnTo>
                    <a:pt x="307213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443096" y="3069082"/>
              <a:ext cx="196850" cy="0"/>
            </a:xfrm>
            <a:custGeom>
              <a:avLst/>
              <a:gdLst/>
              <a:ahLst/>
              <a:cxnLst/>
              <a:rect l="l" t="t" r="r" b="b"/>
              <a:pathLst>
                <a:path w="196850">
                  <a:moveTo>
                    <a:pt x="0" y="0"/>
                  </a:moveTo>
                  <a:lnTo>
                    <a:pt x="19685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750435" y="3066542"/>
              <a:ext cx="264795" cy="0"/>
            </a:xfrm>
            <a:custGeom>
              <a:avLst/>
              <a:gdLst/>
              <a:ahLst/>
              <a:cxnLst/>
              <a:rect l="l" t="t" r="r" b="b"/>
              <a:pathLst>
                <a:path w="264795">
                  <a:moveTo>
                    <a:pt x="0" y="0"/>
                  </a:moveTo>
                  <a:lnTo>
                    <a:pt x="264287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795772" y="3066542"/>
              <a:ext cx="219710" cy="0"/>
            </a:xfrm>
            <a:custGeom>
              <a:avLst/>
              <a:gdLst/>
              <a:ahLst/>
              <a:cxnLst/>
              <a:rect l="l" t="t" r="r" b="b"/>
              <a:pathLst>
                <a:path w="219710">
                  <a:moveTo>
                    <a:pt x="0" y="0"/>
                  </a:moveTo>
                  <a:lnTo>
                    <a:pt x="219329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049396" y="4523486"/>
              <a:ext cx="396875" cy="0"/>
            </a:xfrm>
            <a:custGeom>
              <a:avLst/>
              <a:gdLst/>
              <a:ahLst/>
              <a:cxnLst/>
              <a:rect l="l" t="t" r="r" b="b"/>
              <a:pathLst>
                <a:path w="396875">
                  <a:moveTo>
                    <a:pt x="0" y="0"/>
                  </a:moveTo>
                  <a:lnTo>
                    <a:pt x="396875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639946" y="4523486"/>
              <a:ext cx="327025" cy="0"/>
            </a:xfrm>
            <a:custGeom>
              <a:avLst/>
              <a:gdLst/>
              <a:ahLst/>
              <a:cxnLst/>
              <a:rect l="l" t="t" r="r" b="b"/>
              <a:pathLst>
                <a:path w="327025">
                  <a:moveTo>
                    <a:pt x="0" y="0"/>
                  </a:moveTo>
                  <a:lnTo>
                    <a:pt x="327025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407535" y="4523486"/>
              <a:ext cx="342900" cy="0"/>
            </a:xfrm>
            <a:custGeom>
              <a:avLst/>
              <a:gdLst/>
              <a:ahLst/>
              <a:cxnLst/>
              <a:rect l="l" t="t" r="r" b="b"/>
              <a:pathLst>
                <a:path w="342900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531485" y="4528185"/>
              <a:ext cx="264795" cy="0"/>
            </a:xfrm>
            <a:custGeom>
              <a:avLst/>
              <a:gdLst/>
              <a:ahLst/>
              <a:cxnLst/>
              <a:rect l="l" t="t" r="r" b="b"/>
              <a:pathLst>
                <a:path w="264795">
                  <a:moveTo>
                    <a:pt x="0" y="0"/>
                  </a:moveTo>
                  <a:lnTo>
                    <a:pt x="264287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014722" y="4523486"/>
              <a:ext cx="209550" cy="0"/>
            </a:xfrm>
            <a:custGeom>
              <a:avLst/>
              <a:gdLst/>
              <a:ahLst/>
              <a:cxnLst/>
              <a:rect l="l" t="t" r="r" b="b"/>
              <a:pathLst>
                <a:path w="209550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030516" y="3132836"/>
              <a:ext cx="4906010" cy="1248410"/>
            </a:xfrm>
            <a:custGeom>
              <a:avLst/>
              <a:gdLst/>
              <a:ahLst/>
              <a:cxnLst/>
              <a:rect l="l" t="t" r="r" b="b"/>
              <a:pathLst>
                <a:path w="4906010" h="1248410">
                  <a:moveTo>
                    <a:pt x="0" y="740282"/>
                  </a:moveTo>
                  <a:lnTo>
                    <a:pt x="9748" y="677509"/>
                  </a:lnTo>
                  <a:lnTo>
                    <a:pt x="19551" y="615160"/>
                  </a:lnTo>
                  <a:lnTo>
                    <a:pt x="29461" y="553656"/>
                  </a:lnTo>
                  <a:lnTo>
                    <a:pt x="39533" y="493421"/>
                  </a:lnTo>
                  <a:lnTo>
                    <a:pt x="49821" y="434877"/>
                  </a:lnTo>
                  <a:lnTo>
                    <a:pt x="60379" y="378445"/>
                  </a:lnTo>
                  <a:lnTo>
                    <a:pt x="71260" y="324547"/>
                  </a:lnTo>
                  <a:lnTo>
                    <a:pt x="82520" y="273605"/>
                  </a:lnTo>
                  <a:lnTo>
                    <a:pt x="94210" y="226042"/>
                  </a:lnTo>
                  <a:lnTo>
                    <a:pt x="106386" y="182280"/>
                  </a:lnTo>
                  <a:lnTo>
                    <a:pt x="119102" y="142740"/>
                  </a:lnTo>
                  <a:lnTo>
                    <a:pt x="146368" y="78017"/>
                  </a:lnTo>
                  <a:lnTo>
                    <a:pt x="176439" y="35249"/>
                  </a:lnTo>
                  <a:lnTo>
                    <a:pt x="209746" y="17812"/>
                  </a:lnTo>
                  <a:lnTo>
                    <a:pt x="227749" y="19648"/>
                  </a:lnTo>
                  <a:lnTo>
                    <a:pt x="260320" y="41938"/>
                  </a:lnTo>
                  <a:lnTo>
                    <a:pt x="289598" y="88702"/>
                  </a:lnTo>
                  <a:lnTo>
                    <a:pt x="321339" y="159740"/>
                  </a:lnTo>
                  <a:lnTo>
                    <a:pt x="338013" y="202938"/>
                  </a:lnTo>
                  <a:lnTo>
                    <a:pt x="355161" y="250497"/>
                  </a:lnTo>
                  <a:lnTo>
                    <a:pt x="372733" y="301847"/>
                  </a:lnTo>
                  <a:lnTo>
                    <a:pt x="390683" y="356420"/>
                  </a:lnTo>
                  <a:lnTo>
                    <a:pt x="408964" y="413645"/>
                  </a:lnTo>
                  <a:lnTo>
                    <a:pt x="427526" y="472953"/>
                  </a:lnTo>
                  <a:lnTo>
                    <a:pt x="446324" y="533775"/>
                  </a:lnTo>
                  <a:lnTo>
                    <a:pt x="465309" y="595542"/>
                  </a:lnTo>
                  <a:lnTo>
                    <a:pt x="484435" y="657685"/>
                  </a:lnTo>
                  <a:lnTo>
                    <a:pt x="503652" y="719633"/>
                  </a:lnTo>
                  <a:lnTo>
                    <a:pt x="522914" y="780819"/>
                  </a:lnTo>
                  <a:lnTo>
                    <a:pt x="542174" y="840672"/>
                  </a:lnTo>
                  <a:lnTo>
                    <a:pt x="561383" y="898623"/>
                  </a:lnTo>
                  <a:lnTo>
                    <a:pt x="580494" y="954103"/>
                  </a:lnTo>
                  <a:lnTo>
                    <a:pt x="599460" y="1006542"/>
                  </a:lnTo>
                  <a:lnTo>
                    <a:pt x="618233" y="1055371"/>
                  </a:lnTo>
                  <a:lnTo>
                    <a:pt x="636765" y="1100022"/>
                  </a:lnTo>
                  <a:lnTo>
                    <a:pt x="655010" y="1139924"/>
                  </a:lnTo>
                  <a:lnTo>
                    <a:pt x="672918" y="1174508"/>
                  </a:lnTo>
                  <a:lnTo>
                    <a:pt x="707538" y="1225447"/>
                  </a:lnTo>
                  <a:lnTo>
                    <a:pt x="740244" y="1248283"/>
                  </a:lnTo>
                  <a:lnTo>
                    <a:pt x="757176" y="1247637"/>
                  </a:lnTo>
                  <a:lnTo>
                    <a:pt x="790478" y="1221169"/>
                  </a:lnTo>
                  <a:lnTo>
                    <a:pt x="823064" y="1165754"/>
                  </a:lnTo>
                  <a:lnTo>
                    <a:pt x="839102" y="1128926"/>
                  </a:lnTo>
                  <a:lnTo>
                    <a:pt x="854976" y="1086942"/>
                  </a:lnTo>
                  <a:lnTo>
                    <a:pt x="870691" y="1040496"/>
                  </a:lnTo>
                  <a:lnTo>
                    <a:pt x="886253" y="990283"/>
                  </a:lnTo>
                  <a:lnTo>
                    <a:pt x="901666" y="936994"/>
                  </a:lnTo>
                  <a:lnTo>
                    <a:pt x="916936" y="881325"/>
                  </a:lnTo>
                  <a:lnTo>
                    <a:pt x="932067" y="823969"/>
                  </a:lnTo>
                  <a:lnTo>
                    <a:pt x="947064" y="765619"/>
                  </a:lnTo>
                  <a:lnTo>
                    <a:pt x="961933" y="706969"/>
                  </a:lnTo>
                  <a:lnTo>
                    <a:pt x="976678" y="648713"/>
                  </a:lnTo>
                  <a:lnTo>
                    <a:pt x="991305" y="591545"/>
                  </a:lnTo>
                  <a:lnTo>
                    <a:pt x="1005819" y="536158"/>
                  </a:lnTo>
                  <a:lnTo>
                    <a:pt x="1020224" y="483246"/>
                  </a:lnTo>
                  <a:lnTo>
                    <a:pt x="1034526" y="433502"/>
                  </a:lnTo>
                  <a:lnTo>
                    <a:pt x="1048729" y="387620"/>
                  </a:lnTo>
                  <a:lnTo>
                    <a:pt x="1062839" y="346294"/>
                  </a:lnTo>
                  <a:lnTo>
                    <a:pt x="1076861" y="310218"/>
                  </a:lnTo>
                  <a:lnTo>
                    <a:pt x="1104660" y="256589"/>
                  </a:lnTo>
                  <a:lnTo>
                    <a:pt x="1132166" y="232282"/>
                  </a:lnTo>
                  <a:lnTo>
                    <a:pt x="1148121" y="233112"/>
                  </a:lnTo>
                  <a:lnTo>
                    <a:pt x="1178921" y="264435"/>
                  </a:lnTo>
                  <a:lnTo>
                    <a:pt x="1208486" y="328523"/>
                  </a:lnTo>
                  <a:lnTo>
                    <a:pt x="1222897" y="370308"/>
                  </a:lnTo>
                  <a:lnTo>
                    <a:pt x="1237110" y="417230"/>
                  </a:lnTo>
                  <a:lnTo>
                    <a:pt x="1251161" y="468270"/>
                  </a:lnTo>
                  <a:lnTo>
                    <a:pt x="1265087" y="522411"/>
                  </a:lnTo>
                  <a:lnTo>
                    <a:pt x="1278924" y="578634"/>
                  </a:lnTo>
                  <a:lnTo>
                    <a:pt x="1292710" y="635920"/>
                  </a:lnTo>
                  <a:lnTo>
                    <a:pt x="1306481" y="693252"/>
                  </a:lnTo>
                  <a:lnTo>
                    <a:pt x="1320274" y="749612"/>
                  </a:lnTo>
                  <a:lnTo>
                    <a:pt x="1334125" y="803981"/>
                  </a:lnTo>
                  <a:lnTo>
                    <a:pt x="1348071" y="855341"/>
                  </a:lnTo>
                  <a:lnTo>
                    <a:pt x="1362150" y="902674"/>
                  </a:lnTo>
                  <a:lnTo>
                    <a:pt x="1376396" y="944961"/>
                  </a:lnTo>
                  <a:lnTo>
                    <a:pt x="1390849" y="981185"/>
                  </a:lnTo>
                  <a:lnTo>
                    <a:pt x="1420516" y="1031370"/>
                  </a:lnTo>
                  <a:lnTo>
                    <a:pt x="1451444" y="1045082"/>
                  </a:lnTo>
                  <a:lnTo>
                    <a:pt x="1466065" y="1036964"/>
                  </a:lnTo>
                  <a:lnTo>
                    <a:pt x="1495926" y="994547"/>
                  </a:lnTo>
                  <a:lnTo>
                    <a:pt x="1526508" y="922853"/>
                  </a:lnTo>
                  <a:lnTo>
                    <a:pt x="1542029" y="878137"/>
                  </a:lnTo>
                  <a:lnTo>
                    <a:pt x="1557683" y="828634"/>
                  </a:lnTo>
                  <a:lnTo>
                    <a:pt x="1573454" y="775189"/>
                  </a:lnTo>
                  <a:lnTo>
                    <a:pt x="1589325" y="718644"/>
                  </a:lnTo>
                  <a:lnTo>
                    <a:pt x="1605282" y="659845"/>
                  </a:lnTo>
                  <a:lnTo>
                    <a:pt x="1621309" y="599636"/>
                  </a:lnTo>
                  <a:lnTo>
                    <a:pt x="1637388" y="538860"/>
                  </a:lnTo>
                  <a:lnTo>
                    <a:pt x="1653506" y="478363"/>
                  </a:lnTo>
                  <a:lnTo>
                    <a:pt x="1669645" y="418987"/>
                  </a:lnTo>
                  <a:lnTo>
                    <a:pt x="1685790" y="361577"/>
                  </a:lnTo>
                  <a:lnTo>
                    <a:pt x="1701926" y="306977"/>
                  </a:lnTo>
                  <a:lnTo>
                    <a:pt x="1718036" y="256032"/>
                  </a:lnTo>
                  <a:lnTo>
                    <a:pt x="1734105" y="209585"/>
                  </a:lnTo>
                  <a:lnTo>
                    <a:pt x="1750116" y="168481"/>
                  </a:lnTo>
                  <a:lnTo>
                    <a:pt x="1766055" y="133564"/>
                  </a:lnTo>
                  <a:lnTo>
                    <a:pt x="1797649" y="85665"/>
                  </a:lnTo>
                  <a:lnTo>
                    <a:pt x="1828761" y="72643"/>
                  </a:lnTo>
                  <a:lnTo>
                    <a:pt x="1843025" y="80092"/>
                  </a:lnTo>
                  <a:lnTo>
                    <a:pt x="1871647" y="119265"/>
                  </a:lnTo>
                  <a:lnTo>
                    <a:pt x="1900347" y="186282"/>
                  </a:lnTo>
                  <a:lnTo>
                    <a:pt x="1914708" y="228534"/>
                  </a:lnTo>
                  <a:lnTo>
                    <a:pt x="1929067" y="275710"/>
                  </a:lnTo>
                  <a:lnTo>
                    <a:pt x="1943415" y="327132"/>
                  </a:lnTo>
                  <a:lnTo>
                    <a:pt x="1957747" y="382120"/>
                  </a:lnTo>
                  <a:lnTo>
                    <a:pt x="1972054" y="439995"/>
                  </a:lnTo>
                  <a:lnTo>
                    <a:pt x="1986329" y="500079"/>
                  </a:lnTo>
                  <a:lnTo>
                    <a:pt x="2000564" y="561692"/>
                  </a:lnTo>
                  <a:lnTo>
                    <a:pt x="2014753" y="624157"/>
                  </a:lnTo>
                  <a:lnTo>
                    <a:pt x="2028888" y="686793"/>
                  </a:lnTo>
                  <a:lnTo>
                    <a:pt x="2042961" y="748923"/>
                  </a:lnTo>
                  <a:lnTo>
                    <a:pt x="2056965" y="809866"/>
                  </a:lnTo>
                  <a:lnTo>
                    <a:pt x="2070893" y="868945"/>
                  </a:lnTo>
                  <a:lnTo>
                    <a:pt x="2084738" y="925480"/>
                  </a:lnTo>
                  <a:lnTo>
                    <a:pt x="2098491" y="978792"/>
                  </a:lnTo>
                  <a:lnTo>
                    <a:pt x="2112147" y="1028203"/>
                  </a:lnTo>
                  <a:lnTo>
                    <a:pt x="2125696" y="1073034"/>
                  </a:lnTo>
                  <a:lnTo>
                    <a:pt x="2139133" y="1112605"/>
                  </a:lnTo>
                  <a:lnTo>
                    <a:pt x="2165637" y="1173255"/>
                  </a:lnTo>
                  <a:lnTo>
                    <a:pt x="2191600" y="1204721"/>
                  </a:lnTo>
                  <a:lnTo>
                    <a:pt x="2208181" y="1208416"/>
                  </a:lnTo>
                  <a:lnTo>
                    <a:pt x="2224522" y="1200707"/>
                  </a:lnTo>
                  <a:lnTo>
                    <a:pt x="2256547" y="1155822"/>
                  </a:lnTo>
                  <a:lnTo>
                    <a:pt x="2272265" y="1121021"/>
                  </a:lnTo>
                  <a:lnTo>
                    <a:pt x="2287809" y="1079561"/>
                  </a:lnTo>
                  <a:lnTo>
                    <a:pt x="2303195" y="1032629"/>
                  </a:lnTo>
                  <a:lnTo>
                    <a:pt x="2318440" y="981413"/>
                  </a:lnTo>
                  <a:lnTo>
                    <a:pt x="2333560" y="927098"/>
                  </a:lnTo>
                  <a:lnTo>
                    <a:pt x="2348572" y="870870"/>
                  </a:lnTo>
                  <a:lnTo>
                    <a:pt x="2363493" y="813917"/>
                  </a:lnTo>
                  <a:lnTo>
                    <a:pt x="2378339" y="757424"/>
                  </a:lnTo>
                  <a:lnTo>
                    <a:pt x="2393127" y="702579"/>
                  </a:lnTo>
                  <a:lnTo>
                    <a:pt x="2407873" y="650567"/>
                  </a:lnTo>
                  <a:lnTo>
                    <a:pt x="2422594" y="602575"/>
                  </a:lnTo>
                  <a:lnTo>
                    <a:pt x="2437306" y="559789"/>
                  </a:lnTo>
                  <a:lnTo>
                    <a:pt x="2452026" y="523396"/>
                  </a:lnTo>
                  <a:lnTo>
                    <a:pt x="2481557" y="474534"/>
                  </a:lnTo>
                  <a:lnTo>
                    <a:pt x="2496400" y="464438"/>
                  </a:lnTo>
                  <a:lnTo>
                    <a:pt x="2512740" y="465370"/>
                  </a:lnTo>
                  <a:lnTo>
                    <a:pt x="2544452" y="499783"/>
                  </a:lnTo>
                  <a:lnTo>
                    <a:pt x="2575270" y="567787"/>
                  </a:lnTo>
                  <a:lnTo>
                    <a:pt x="2590493" y="610710"/>
                  </a:lnTo>
                  <a:lnTo>
                    <a:pt x="2605671" y="657617"/>
                  </a:lnTo>
                  <a:lnTo>
                    <a:pt x="2620865" y="707040"/>
                  </a:lnTo>
                  <a:lnTo>
                    <a:pt x="2636132" y="757507"/>
                  </a:lnTo>
                  <a:lnTo>
                    <a:pt x="2651534" y="807547"/>
                  </a:lnTo>
                  <a:lnTo>
                    <a:pt x="2667129" y="855689"/>
                  </a:lnTo>
                  <a:lnTo>
                    <a:pt x="2682978" y="900462"/>
                  </a:lnTo>
                  <a:lnTo>
                    <a:pt x="2699139" y="940397"/>
                  </a:lnTo>
                  <a:lnTo>
                    <a:pt x="2732638" y="999864"/>
                  </a:lnTo>
                  <a:lnTo>
                    <a:pt x="2768103" y="1022324"/>
                  </a:lnTo>
                  <a:lnTo>
                    <a:pt x="2786722" y="1016000"/>
                  </a:lnTo>
                  <a:lnTo>
                    <a:pt x="2815954" y="979347"/>
                  </a:lnTo>
                  <a:lnTo>
                    <a:pt x="2846648" y="912377"/>
                  </a:lnTo>
                  <a:lnTo>
                    <a:pt x="2862465" y="869547"/>
                  </a:lnTo>
                  <a:lnTo>
                    <a:pt x="2878553" y="821566"/>
                  </a:lnTo>
                  <a:lnTo>
                    <a:pt x="2894881" y="769245"/>
                  </a:lnTo>
                  <a:lnTo>
                    <a:pt x="2911418" y="713391"/>
                  </a:lnTo>
                  <a:lnTo>
                    <a:pt x="2928131" y="654816"/>
                  </a:lnTo>
                  <a:lnTo>
                    <a:pt x="2944989" y="594328"/>
                  </a:lnTo>
                  <a:lnTo>
                    <a:pt x="2961962" y="532737"/>
                  </a:lnTo>
                  <a:lnTo>
                    <a:pt x="2979016" y="470852"/>
                  </a:lnTo>
                  <a:lnTo>
                    <a:pt x="2996122" y="409483"/>
                  </a:lnTo>
                  <a:lnTo>
                    <a:pt x="3013247" y="349440"/>
                  </a:lnTo>
                  <a:lnTo>
                    <a:pt x="3030360" y="291531"/>
                  </a:lnTo>
                  <a:lnTo>
                    <a:pt x="3047430" y="236568"/>
                  </a:lnTo>
                  <a:lnTo>
                    <a:pt x="3064425" y="185358"/>
                  </a:lnTo>
                  <a:lnTo>
                    <a:pt x="3081313" y="138711"/>
                  </a:lnTo>
                  <a:lnTo>
                    <a:pt x="3098063" y="97438"/>
                  </a:lnTo>
                  <a:lnTo>
                    <a:pt x="3114644" y="62347"/>
                  </a:lnTo>
                  <a:lnTo>
                    <a:pt x="3147172" y="13951"/>
                  </a:lnTo>
                  <a:lnTo>
                    <a:pt x="3178644" y="0"/>
                  </a:lnTo>
                  <a:lnTo>
                    <a:pt x="3192852" y="7010"/>
                  </a:lnTo>
                  <a:lnTo>
                    <a:pt x="3221132" y="45887"/>
                  </a:lnTo>
                  <a:lnTo>
                    <a:pt x="3249214" y="113282"/>
                  </a:lnTo>
                  <a:lnTo>
                    <a:pt x="3263175" y="155939"/>
                  </a:lnTo>
                  <a:lnTo>
                    <a:pt x="3277079" y="203645"/>
                  </a:lnTo>
                  <a:lnTo>
                    <a:pt x="3290923" y="255706"/>
                  </a:lnTo>
                  <a:lnTo>
                    <a:pt x="3304704" y="311428"/>
                  </a:lnTo>
                  <a:lnTo>
                    <a:pt x="3318422" y="370117"/>
                  </a:lnTo>
                  <a:lnTo>
                    <a:pt x="3332071" y="431080"/>
                  </a:lnTo>
                  <a:lnTo>
                    <a:pt x="3345651" y="493624"/>
                  </a:lnTo>
                  <a:lnTo>
                    <a:pt x="3359159" y="557053"/>
                  </a:lnTo>
                  <a:lnTo>
                    <a:pt x="3372592" y="620676"/>
                  </a:lnTo>
                  <a:lnTo>
                    <a:pt x="3385947" y="683797"/>
                  </a:lnTo>
                  <a:lnTo>
                    <a:pt x="3399222" y="745724"/>
                  </a:lnTo>
                  <a:lnTo>
                    <a:pt x="3412414" y="805763"/>
                  </a:lnTo>
                  <a:lnTo>
                    <a:pt x="3425521" y="863219"/>
                  </a:lnTo>
                  <a:lnTo>
                    <a:pt x="3438541" y="917401"/>
                  </a:lnTo>
                  <a:lnTo>
                    <a:pt x="3451470" y="967612"/>
                  </a:lnTo>
                  <a:lnTo>
                    <a:pt x="3464306" y="1013161"/>
                  </a:lnTo>
                  <a:lnTo>
                    <a:pt x="3477047" y="1053353"/>
                  </a:lnTo>
                  <a:lnTo>
                    <a:pt x="3502233" y="1114893"/>
                  </a:lnTo>
                  <a:lnTo>
                    <a:pt x="3527005" y="1146683"/>
                  </a:lnTo>
                  <a:lnTo>
                    <a:pt x="3542828" y="1150444"/>
                  </a:lnTo>
                  <a:lnTo>
                    <a:pt x="3558383" y="1142914"/>
                  </a:lnTo>
                  <a:lnTo>
                    <a:pt x="3588775" y="1098594"/>
                  </a:lnTo>
                  <a:lnTo>
                    <a:pt x="3618355" y="1022955"/>
                  </a:lnTo>
                  <a:lnTo>
                    <a:pt x="3632895" y="976275"/>
                  </a:lnTo>
                  <a:lnTo>
                    <a:pt x="3647296" y="925227"/>
                  </a:lnTo>
                  <a:lnTo>
                    <a:pt x="3661580" y="870964"/>
                  </a:lnTo>
                  <a:lnTo>
                    <a:pt x="3675770" y="814641"/>
                  </a:lnTo>
                  <a:lnTo>
                    <a:pt x="3689886" y="757411"/>
                  </a:lnTo>
                  <a:lnTo>
                    <a:pt x="3703951" y="700428"/>
                  </a:lnTo>
                  <a:lnTo>
                    <a:pt x="3717985" y="644846"/>
                  </a:lnTo>
                  <a:lnTo>
                    <a:pt x="3732011" y="591818"/>
                  </a:lnTo>
                  <a:lnTo>
                    <a:pt x="3746051" y="542500"/>
                  </a:lnTo>
                  <a:lnTo>
                    <a:pt x="3760125" y="498044"/>
                  </a:lnTo>
                  <a:lnTo>
                    <a:pt x="3774255" y="459604"/>
                  </a:lnTo>
                  <a:lnTo>
                    <a:pt x="3802771" y="405389"/>
                  </a:lnTo>
                  <a:lnTo>
                    <a:pt x="3838075" y="388089"/>
                  </a:lnTo>
                  <a:lnTo>
                    <a:pt x="3859181" y="398867"/>
                  </a:lnTo>
                  <a:lnTo>
                    <a:pt x="3901838" y="454856"/>
                  </a:lnTo>
                  <a:lnTo>
                    <a:pt x="3923261" y="495370"/>
                  </a:lnTo>
                  <a:lnTo>
                    <a:pt x="3944663" y="541098"/>
                  </a:lnTo>
                  <a:lnTo>
                    <a:pt x="3965981" y="589692"/>
                  </a:lnTo>
                  <a:lnTo>
                    <a:pt x="3987151" y="638804"/>
                  </a:lnTo>
                  <a:lnTo>
                    <a:pt x="4008110" y="686083"/>
                  </a:lnTo>
                  <a:lnTo>
                    <a:pt x="4028794" y="729182"/>
                  </a:lnTo>
                  <a:lnTo>
                    <a:pt x="4049141" y="765752"/>
                  </a:lnTo>
                  <a:lnTo>
                    <a:pt x="4088568" y="809910"/>
                  </a:lnTo>
                  <a:lnTo>
                    <a:pt x="4107522" y="812799"/>
                  </a:lnTo>
                  <a:lnTo>
                    <a:pt x="4125733" y="800609"/>
                  </a:lnTo>
                  <a:lnTo>
                    <a:pt x="4159834" y="738010"/>
                  </a:lnTo>
                  <a:lnTo>
                    <a:pt x="4176011" y="692267"/>
                  </a:lnTo>
                  <a:lnTo>
                    <a:pt x="4191795" y="640004"/>
                  </a:lnTo>
                  <a:lnTo>
                    <a:pt x="4207330" y="583556"/>
                  </a:lnTo>
                  <a:lnTo>
                    <a:pt x="4222759" y="525256"/>
                  </a:lnTo>
                  <a:lnTo>
                    <a:pt x="4238225" y="467435"/>
                  </a:lnTo>
                  <a:lnTo>
                    <a:pt x="4253871" y="412428"/>
                  </a:lnTo>
                  <a:lnTo>
                    <a:pt x="4269840" y="362566"/>
                  </a:lnTo>
                  <a:lnTo>
                    <a:pt x="4286275" y="320183"/>
                  </a:lnTo>
                  <a:lnTo>
                    <a:pt x="4321115" y="267187"/>
                  </a:lnTo>
                  <a:lnTo>
                    <a:pt x="4339805" y="261238"/>
                  </a:lnTo>
                  <a:lnTo>
                    <a:pt x="4355900" y="269202"/>
                  </a:lnTo>
                  <a:lnTo>
                    <a:pt x="4389773" y="317796"/>
                  </a:lnTo>
                  <a:lnTo>
                    <a:pt x="4407410" y="355255"/>
                  </a:lnTo>
                  <a:lnTo>
                    <a:pt x="4425418" y="399373"/>
                  </a:lnTo>
                  <a:lnTo>
                    <a:pt x="4443727" y="448563"/>
                  </a:lnTo>
                  <a:lnTo>
                    <a:pt x="4462266" y="501241"/>
                  </a:lnTo>
                  <a:lnTo>
                    <a:pt x="4480963" y="555820"/>
                  </a:lnTo>
                  <a:lnTo>
                    <a:pt x="4499746" y="610713"/>
                  </a:lnTo>
                  <a:lnTo>
                    <a:pt x="4518546" y="664335"/>
                  </a:lnTo>
                  <a:lnTo>
                    <a:pt x="4537290" y="715098"/>
                  </a:lnTo>
                  <a:lnTo>
                    <a:pt x="4555908" y="761418"/>
                  </a:lnTo>
                  <a:lnTo>
                    <a:pt x="4574327" y="801707"/>
                  </a:lnTo>
                  <a:lnTo>
                    <a:pt x="4610289" y="857851"/>
                  </a:lnTo>
                  <a:lnTo>
                    <a:pt x="4644605" y="870838"/>
                  </a:lnTo>
                  <a:lnTo>
                    <a:pt x="4660233" y="861540"/>
                  </a:lnTo>
                  <a:lnTo>
                    <a:pt x="4690926" y="824455"/>
                  </a:lnTo>
                  <a:lnTo>
                    <a:pt x="4720945" y="765185"/>
                  </a:lnTo>
                  <a:lnTo>
                    <a:pt x="4735730" y="728156"/>
                  </a:lnTo>
                  <a:lnTo>
                    <a:pt x="4750380" y="686691"/>
                  </a:lnTo>
                  <a:lnTo>
                    <a:pt x="4764907" y="641159"/>
                  </a:lnTo>
                  <a:lnTo>
                    <a:pt x="4779321" y="591931"/>
                  </a:lnTo>
                  <a:lnTo>
                    <a:pt x="4793634" y="539375"/>
                  </a:lnTo>
                  <a:lnTo>
                    <a:pt x="4807857" y="483864"/>
                  </a:lnTo>
                  <a:lnTo>
                    <a:pt x="4822001" y="425765"/>
                  </a:lnTo>
                  <a:lnTo>
                    <a:pt x="4836078" y="365449"/>
                  </a:lnTo>
                  <a:lnTo>
                    <a:pt x="4850099" y="303286"/>
                  </a:lnTo>
                  <a:lnTo>
                    <a:pt x="4864074" y="239646"/>
                  </a:lnTo>
                  <a:lnTo>
                    <a:pt x="4878016" y="174898"/>
                  </a:lnTo>
                  <a:lnTo>
                    <a:pt x="4891936" y="109413"/>
                  </a:lnTo>
                  <a:lnTo>
                    <a:pt x="4905844" y="43560"/>
                  </a:lnTo>
                </a:path>
              </a:pathLst>
            </a:custGeom>
            <a:ln w="28575">
              <a:solidFill>
                <a:srgbClr val="7E5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225043" y="4746193"/>
            <a:ext cx="58146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output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Hard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Limiter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by: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8" name="object 4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20419" y="5373496"/>
            <a:ext cx="236093" cy="211709"/>
          </a:xfrm>
          <a:prstGeom prst="rect">
            <a:avLst/>
          </a:prstGeom>
        </p:spPr>
      </p:pic>
      <p:sp>
        <p:nvSpPr>
          <p:cNvPr id="49" name="object 49"/>
          <p:cNvSpPr txBox="1"/>
          <p:nvPr/>
        </p:nvSpPr>
        <p:spPr>
          <a:xfrm>
            <a:off x="752957" y="5303901"/>
            <a:ext cx="1249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85825" algn="l"/>
              </a:tabLst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𝐘′</a:t>
            </a:r>
            <a:r>
              <a:rPr sz="1800" spc="33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sz="1800" spc="-969" dirty="0">
                <a:latin typeface="Cambria Math"/>
                <a:cs typeface="Cambria Math"/>
              </a:rPr>
              <a:t>ቊ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975230" y="5180457"/>
            <a:ext cx="1689735" cy="568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  <a:tabLst>
                <a:tab pos="715010" algn="l"/>
              </a:tabLst>
            </a:pPr>
            <a:r>
              <a:rPr sz="1800" spc="-25" dirty="0">
                <a:latin typeface="Cambria Math"/>
                <a:cs typeface="Cambria Math"/>
              </a:rPr>
              <a:t>+𝟏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10" dirty="0">
                <a:latin typeface="Cambria Math"/>
                <a:cs typeface="Cambria Math"/>
              </a:rPr>
              <a:t>𝐜𝐨𝐬</a:t>
            </a:r>
            <a:r>
              <a:rPr sz="1800" spc="-114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𝛉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&gt;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lang="en-US" sz="1800" spc="100" dirty="0">
                <a:latin typeface="Cambria Math"/>
                <a:cs typeface="Cambria Math"/>
              </a:rPr>
              <a:t>0</a:t>
            </a:r>
            <a:endParaRPr sz="1800" dirty="0">
              <a:latin typeface="Cambria Math"/>
              <a:cs typeface="Cambria Math"/>
            </a:endParaRPr>
          </a:p>
          <a:p>
            <a:pPr marL="12700">
              <a:lnSpc>
                <a:spcPts val="2135"/>
              </a:lnSpc>
              <a:tabLst>
                <a:tab pos="715010" algn="l"/>
              </a:tabLst>
            </a:pPr>
            <a:r>
              <a:rPr sz="1800" spc="-25" dirty="0">
                <a:latin typeface="Cambria Math"/>
                <a:cs typeface="Cambria Math"/>
              </a:rPr>
              <a:t>−𝟏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10" dirty="0">
                <a:latin typeface="Cambria Math"/>
                <a:cs typeface="Cambria Math"/>
              </a:rPr>
              <a:t>𝐜𝐨𝐬</a:t>
            </a:r>
            <a:r>
              <a:rPr sz="1800" spc="-114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𝛉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&lt;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lang="en-US" sz="1800" spc="100" dirty="0">
                <a:latin typeface="Cambria Math"/>
                <a:cs typeface="Cambria Math"/>
              </a:rPr>
              <a:t>0</a:t>
            </a:r>
            <a:endParaRPr sz="1800" dirty="0">
              <a:latin typeface="Cambria Math"/>
              <a:cs typeface="Cambria Math"/>
            </a:endParaRPr>
          </a:p>
        </p:txBody>
      </p:sp>
      <p:pic>
        <p:nvPicPr>
          <p:cNvPr id="51" name="object 5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20419" y="6071679"/>
            <a:ext cx="236093" cy="211747"/>
          </a:xfrm>
          <a:prstGeom prst="rect">
            <a:avLst/>
          </a:prstGeom>
        </p:spPr>
      </p:pic>
      <p:sp>
        <p:nvSpPr>
          <p:cNvPr id="52" name="object 52"/>
          <p:cNvSpPr/>
          <p:nvPr/>
        </p:nvSpPr>
        <p:spPr>
          <a:xfrm>
            <a:off x="1874901" y="6168961"/>
            <a:ext cx="149860" cy="15240"/>
          </a:xfrm>
          <a:custGeom>
            <a:avLst/>
            <a:gdLst/>
            <a:ahLst/>
            <a:cxnLst/>
            <a:rect l="l" t="t" r="r" b="b"/>
            <a:pathLst>
              <a:path w="149860" h="15239">
                <a:moveTo>
                  <a:pt x="149351" y="0"/>
                </a:moveTo>
                <a:lnTo>
                  <a:pt x="0" y="0"/>
                </a:lnTo>
                <a:lnTo>
                  <a:pt x="0" y="15239"/>
                </a:lnTo>
                <a:lnTo>
                  <a:pt x="149351" y="15239"/>
                </a:lnTo>
                <a:lnTo>
                  <a:pt x="1493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070735" y="5948997"/>
            <a:ext cx="3823970" cy="455930"/>
          </a:xfrm>
          <a:custGeom>
            <a:avLst/>
            <a:gdLst/>
            <a:ahLst/>
            <a:cxnLst/>
            <a:rect l="l" t="t" r="r" b="b"/>
            <a:pathLst>
              <a:path w="3823970" h="455929">
                <a:moveTo>
                  <a:pt x="73406" y="0"/>
                </a:moveTo>
                <a:lnTo>
                  <a:pt x="31496" y="24777"/>
                </a:lnTo>
                <a:lnTo>
                  <a:pt x="14579" y="72224"/>
                </a:lnTo>
                <a:lnTo>
                  <a:pt x="13462" y="94094"/>
                </a:lnTo>
                <a:lnTo>
                  <a:pt x="13855" y="103670"/>
                </a:lnTo>
                <a:lnTo>
                  <a:pt x="15074" y="114871"/>
                </a:lnTo>
                <a:lnTo>
                  <a:pt x="17094" y="127698"/>
                </a:lnTo>
                <a:lnTo>
                  <a:pt x="19939" y="142151"/>
                </a:lnTo>
                <a:lnTo>
                  <a:pt x="22771" y="156210"/>
                </a:lnTo>
                <a:lnTo>
                  <a:pt x="24790" y="167843"/>
                </a:lnTo>
                <a:lnTo>
                  <a:pt x="26009" y="177063"/>
                </a:lnTo>
                <a:lnTo>
                  <a:pt x="26416" y="183845"/>
                </a:lnTo>
                <a:lnTo>
                  <a:pt x="26022" y="190969"/>
                </a:lnTo>
                <a:lnTo>
                  <a:pt x="0" y="222580"/>
                </a:lnTo>
                <a:lnTo>
                  <a:pt x="0" y="233070"/>
                </a:lnTo>
                <a:lnTo>
                  <a:pt x="25933" y="263220"/>
                </a:lnTo>
                <a:lnTo>
                  <a:pt x="26416" y="271792"/>
                </a:lnTo>
                <a:lnTo>
                  <a:pt x="26009" y="278587"/>
                </a:lnTo>
                <a:lnTo>
                  <a:pt x="24790" y="287807"/>
                </a:lnTo>
                <a:lnTo>
                  <a:pt x="22771" y="299440"/>
                </a:lnTo>
                <a:lnTo>
                  <a:pt x="19939" y="313486"/>
                </a:lnTo>
                <a:lnTo>
                  <a:pt x="17094" y="327952"/>
                </a:lnTo>
                <a:lnTo>
                  <a:pt x="15074" y="340779"/>
                </a:lnTo>
                <a:lnTo>
                  <a:pt x="13855" y="351980"/>
                </a:lnTo>
                <a:lnTo>
                  <a:pt x="13462" y="361543"/>
                </a:lnTo>
                <a:lnTo>
                  <a:pt x="14579" y="383425"/>
                </a:lnTo>
                <a:lnTo>
                  <a:pt x="31496" y="430860"/>
                </a:lnTo>
                <a:lnTo>
                  <a:pt x="73406" y="455637"/>
                </a:lnTo>
                <a:lnTo>
                  <a:pt x="73406" y="446036"/>
                </a:lnTo>
                <a:lnTo>
                  <a:pt x="65989" y="444004"/>
                </a:lnTo>
                <a:lnTo>
                  <a:pt x="59016" y="440016"/>
                </a:lnTo>
                <a:lnTo>
                  <a:pt x="37490" y="403656"/>
                </a:lnTo>
                <a:lnTo>
                  <a:pt x="34544" y="371589"/>
                </a:lnTo>
                <a:lnTo>
                  <a:pt x="34925" y="362750"/>
                </a:lnTo>
                <a:lnTo>
                  <a:pt x="36042" y="351980"/>
                </a:lnTo>
                <a:lnTo>
                  <a:pt x="37973" y="338899"/>
                </a:lnTo>
                <a:lnTo>
                  <a:pt x="40640" y="323875"/>
                </a:lnTo>
                <a:lnTo>
                  <a:pt x="43294" y="309372"/>
                </a:lnTo>
                <a:lnTo>
                  <a:pt x="45199" y="297967"/>
                </a:lnTo>
                <a:lnTo>
                  <a:pt x="46355" y="289648"/>
                </a:lnTo>
                <a:lnTo>
                  <a:pt x="46736" y="284416"/>
                </a:lnTo>
                <a:lnTo>
                  <a:pt x="46342" y="274040"/>
                </a:lnTo>
                <a:lnTo>
                  <a:pt x="45173" y="264693"/>
                </a:lnTo>
                <a:lnTo>
                  <a:pt x="43192" y="256349"/>
                </a:lnTo>
                <a:lnTo>
                  <a:pt x="40436" y="249186"/>
                </a:lnTo>
                <a:lnTo>
                  <a:pt x="40386" y="249034"/>
                </a:lnTo>
                <a:lnTo>
                  <a:pt x="36614" y="242671"/>
                </a:lnTo>
                <a:lnTo>
                  <a:pt x="31788" y="237172"/>
                </a:lnTo>
                <a:lnTo>
                  <a:pt x="25895" y="232562"/>
                </a:lnTo>
                <a:lnTo>
                  <a:pt x="18923" y="228828"/>
                </a:lnTo>
                <a:lnTo>
                  <a:pt x="18923" y="226809"/>
                </a:lnTo>
                <a:lnTo>
                  <a:pt x="45173" y="190969"/>
                </a:lnTo>
                <a:lnTo>
                  <a:pt x="46736" y="171234"/>
                </a:lnTo>
                <a:lnTo>
                  <a:pt x="46355" y="166014"/>
                </a:lnTo>
                <a:lnTo>
                  <a:pt x="45212" y="157683"/>
                </a:lnTo>
                <a:lnTo>
                  <a:pt x="43294" y="146278"/>
                </a:lnTo>
                <a:lnTo>
                  <a:pt x="40640" y="131775"/>
                </a:lnTo>
                <a:lnTo>
                  <a:pt x="37960" y="116763"/>
                </a:lnTo>
                <a:lnTo>
                  <a:pt x="36068" y="103797"/>
                </a:lnTo>
                <a:lnTo>
                  <a:pt x="35039" y="94094"/>
                </a:lnTo>
                <a:lnTo>
                  <a:pt x="34925" y="92900"/>
                </a:lnTo>
                <a:lnTo>
                  <a:pt x="34544" y="84048"/>
                </a:lnTo>
                <a:lnTo>
                  <a:pt x="35280" y="66840"/>
                </a:lnTo>
                <a:lnTo>
                  <a:pt x="46355" y="29464"/>
                </a:lnTo>
                <a:lnTo>
                  <a:pt x="73406" y="9601"/>
                </a:lnTo>
                <a:lnTo>
                  <a:pt x="73406" y="0"/>
                </a:lnTo>
                <a:close/>
              </a:path>
              <a:path w="3823970" h="455929">
                <a:moveTo>
                  <a:pt x="1017270" y="219964"/>
                </a:moveTo>
                <a:lnTo>
                  <a:pt x="880110" y="219964"/>
                </a:lnTo>
                <a:lnTo>
                  <a:pt x="880110" y="235204"/>
                </a:lnTo>
                <a:lnTo>
                  <a:pt x="1017270" y="235204"/>
                </a:lnTo>
                <a:lnTo>
                  <a:pt x="1017270" y="219964"/>
                </a:lnTo>
                <a:close/>
              </a:path>
              <a:path w="3823970" h="455929">
                <a:moveTo>
                  <a:pt x="2128266" y="219964"/>
                </a:moveTo>
                <a:lnTo>
                  <a:pt x="1991106" y="219964"/>
                </a:lnTo>
                <a:lnTo>
                  <a:pt x="1991106" y="235204"/>
                </a:lnTo>
                <a:lnTo>
                  <a:pt x="2128266" y="235204"/>
                </a:lnTo>
                <a:lnTo>
                  <a:pt x="2128266" y="219964"/>
                </a:lnTo>
                <a:close/>
              </a:path>
              <a:path w="3823970" h="455929">
                <a:moveTo>
                  <a:pt x="3823843" y="222580"/>
                </a:moveTo>
                <a:lnTo>
                  <a:pt x="3797998" y="192468"/>
                </a:lnTo>
                <a:lnTo>
                  <a:pt x="3797554" y="183845"/>
                </a:lnTo>
                <a:lnTo>
                  <a:pt x="3797858" y="178523"/>
                </a:lnTo>
                <a:lnTo>
                  <a:pt x="3797947" y="176974"/>
                </a:lnTo>
                <a:lnTo>
                  <a:pt x="3799167" y="167741"/>
                </a:lnTo>
                <a:lnTo>
                  <a:pt x="3801186" y="156159"/>
                </a:lnTo>
                <a:lnTo>
                  <a:pt x="3804031" y="142201"/>
                </a:lnTo>
                <a:lnTo>
                  <a:pt x="3806863" y="127825"/>
                </a:lnTo>
                <a:lnTo>
                  <a:pt x="3808882" y="115011"/>
                </a:lnTo>
                <a:lnTo>
                  <a:pt x="3810101" y="103771"/>
                </a:lnTo>
                <a:lnTo>
                  <a:pt x="3810431" y="95834"/>
                </a:lnTo>
                <a:lnTo>
                  <a:pt x="3810508" y="94094"/>
                </a:lnTo>
                <a:lnTo>
                  <a:pt x="3805948" y="53441"/>
                </a:lnTo>
                <a:lnTo>
                  <a:pt x="3782987" y="14744"/>
                </a:lnTo>
                <a:lnTo>
                  <a:pt x="3750437" y="0"/>
                </a:lnTo>
                <a:lnTo>
                  <a:pt x="3750437" y="9601"/>
                </a:lnTo>
                <a:lnTo>
                  <a:pt x="3757841" y="11684"/>
                </a:lnTo>
                <a:lnTo>
                  <a:pt x="3764826" y="15684"/>
                </a:lnTo>
                <a:lnTo>
                  <a:pt x="3786467" y="51943"/>
                </a:lnTo>
                <a:lnTo>
                  <a:pt x="3789426" y="84048"/>
                </a:lnTo>
                <a:lnTo>
                  <a:pt x="3789426" y="89255"/>
                </a:lnTo>
                <a:lnTo>
                  <a:pt x="3783203" y="131826"/>
                </a:lnTo>
                <a:lnTo>
                  <a:pt x="3781768" y="139484"/>
                </a:lnTo>
                <a:lnTo>
                  <a:pt x="3777107" y="178523"/>
                </a:lnTo>
                <a:lnTo>
                  <a:pt x="3777513" y="183845"/>
                </a:lnTo>
                <a:lnTo>
                  <a:pt x="3795649" y="221792"/>
                </a:lnTo>
                <a:lnTo>
                  <a:pt x="3805047" y="226809"/>
                </a:lnTo>
                <a:lnTo>
                  <a:pt x="3805047" y="228828"/>
                </a:lnTo>
                <a:lnTo>
                  <a:pt x="3779647" y="258889"/>
                </a:lnTo>
                <a:lnTo>
                  <a:pt x="3777107" y="277190"/>
                </a:lnTo>
                <a:lnTo>
                  <a:pt x="3777221" y="287909"/>
                </a:lnTo>
                <a:lnTo>
                  <a:pt x="3784701" y="331647"/>
                </a:lnTo>
                <a:lnTo>
                  <a:pt x="3785971" y="338937"/>
                </a:lnTo>
                <a:lnTo>
                  <a:pt x="3787038" y="345681"/>
                </a:lnTo>
                <a:lnTo>
                  <a:pt x="3787902" y="351891"/>
                </a:lnTo>
                <a:lnTo>
                  <a:pt x="3788918" y="359816"/>
                </a:lnTo>
                <a:lnTo>
                  <a:pt x="3789426" y="366382"/>
                </a:lnTo>
                <a:lnTo>
                  <a:pt x="3789426" y="371589"/>
                </a:lnTo>
                <a:lnTo>
                  <a:pt x="3782771" y="416153"/>
                </a:lnTo>
                <a:lnTo>
                  <a:pt x="3750437" y="446036"/>
                </a:lnTo>
                <a:lnTo>
                  <a:pt x="3750437" y="455637"/>
                </a:lnTo>
                <a:lnTo>
                  <a:pt x="3792347" y="430860"/>
                </a:lnTo>
                <a:lnTo>
                  <a:pt x="3809365" y="383425"/>
                </a:lnTo>
                <a:lnTo>
                  <a:pt x="3810508" y="361543"/>
                </a:lnTo>
                <a:lnTo>
                  <a:pt x="3810101" y="351891"/>
                </a:lnTo>
                <a:lnTo>
                  <a:pt x="3808882" y="340652"/>
                </a:lnTo>
                <a:lnTo>
                  <a:pt x="3806863" y="327837"/>
                </a:lnTo>
                <a:lnTo>
                  <a:pt x="3804031" y="313436"/>
                </a:lnTo>
                <a:lnTo>
                  <a:pt x="3801186" y="299491"/>
                </a:lnTo>
                <a:lnTo>
                  <a:pt x="3799167" y="287909"/>
                </a:lnTo>
                <a:lnTo>
                  <a:pt x="3797947" y="278676"/>
                </a:lnTo>
                <a:lnTo>
                  <a:pt x="3797554" y="271792"/>
                </a:lnTo>
                <a:lnTo>
                  <a:pt x="3797998" y="263271"/>
                </a:lnTo>
                <a:lnTo>
                  <a:pt x="3823843" y="233070"/>
                </a:lnTo>
                <a:lnTo>
                  <a:pt x="3823843" y="2225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714857" y="5828487"/>
            <a:ext cx="5163820" cy="473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5860">
              <a:lnSpc>
                <a:spcPts val="1764"/>
              </a:lnSpc>
              <a:spcBef>
                <a:spcPts val="100"/>
              </a:spcBef>
              <a:tabLst>
                <a:tab pos="2235835" algn="l"/>
                <a:tab pos="3347085" algn="l"/>
              </a:tabLst>
            </a:pPr>
            <a:r>
              <a:rPr sz="1800" spc="-50" dirty="0">
                <a:latin typeface="Cambria Math"/>
                <a:cs typeface="Cambria Math"/>
              </a:rPr>
              <a:t>𝟒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𝟏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𝟏</a:t>
            </a:r>
            <a:endParaRPr sz="1800">
              <a:latin typeface="Cambria Math"/>
              <a:cs typeface="Cambria Math"/>
            </a:endParaRPr>
          </a:p>
          <a:p>
            <a:pPr marL="50800">
              <a:lnSpc>
                <a:spcPts val="1764"/>
              </a:lnSpc>
              <a:tabLst>
                <a:tab pos="923925" algn="l"/>
              </a:tabLst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𝐘′</a:t>
            </a:r>
            <a:r>
              <a:rPr sz="1800" spc="33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85" dirty="0">
                <a:latin typeface="Cambria Math"/>
                <a:cs typeface="Cambria Math"/>
              </a:rPr>
              <a:t> </a:t>
            </a:r>
            <a:r>
              <a:rPr sz="2700" baseline="-37037" dirty="0">
                <a:latin typeface="Cambria Math"/>
                <a:cs typeface="Cambria Math"/>
              </a:rPr>
              <a:t>𝛑</a:t>
            </a:r>
            <a:r>
              <a:rPr sz="2700" spc="135" baseline="-37037" dirty="0">
                <a:latin typeface="Cambria Math"/>
                <a:cs typeface="Cambria Math"/>
              </a:rPr>
              <a:t>  </a:t>
            </a: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-10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𝛉 −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2700" baseline="-37037" dirty="0">
                <a:latin typeface="Cambria Math"/>
                <a:cs typeface="Cambria Math"/>
              </a:rPr>
              <a:t>𝟑</a:t>
            </a:r>
            <a:r>
              <a:rPr sz="2700" spc="-157" baseline="-3703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-1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𝟑𝛉 +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2700" baseline="-37037" dirty="0">
                <a:latin typeface="Cambria Math"/>
                <a:cs typeface="Cambria Math"/>
              </a:rPr>
              <a:t>𝟓</a:t>
            </a:r>
            <a:r>
              <a:rPr sz="2700" spc="-157" baseline="-3703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-1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𝟓𝛉</a:t>
            </a:r>
            <a:r>
              <a:rPr sz="1800" spc="-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−</a:t>
            </a:r>
            <a:r>
              <a:rPr sz="1800" spc="4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…</a:t>
            </a:r>
            <a:r>
              <a:rPr sz="1800" spc="-1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…</a:t>
            </a:r>
            <a:r>
              <a:rPr sz="1800" spc="-11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…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6276975" y="2990342"/>
            <a:ext cx="0" cy="3693160"/>
          </a:xfrm>
          <a:custGeom>
            <a:avLst/>
            <a:gdLst/>
            <a:ahLst/>
            <a:cxnLst/>
            <a:rect l="l" t="t" r="r" b="b"/>
            <a:pathLst>
              <a:path h="3693159">
                <a:moveTo>
                  <a:pt x="0" y="3693033"/>
                </a:moveTo>
                <a:lnTo>
                  <a:pt x="0" y="0"/>
                </a:lnTo>
              </a:path>
            </a:pathLst>
          </a:custGeom>
          <a:ln w="19050">
            <a:solidFill>
              <a:srgbClr val="00AFEF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6" name="object 5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29676" y="4136644"/>
            <a:ext cx="235966" cy="211708"/>
          </a:xfrm>
          <a:prstGeom prst="rect">
            <a:avLst/>
          </a:prstGeom>
        </p:spPr>
      </p:pic>
      <p:sp>
        <p:nvSpPr>
          <p:cNvPr id="57" name="object 57"/>
          <p:cNvSpPr/>
          <p:nvPr/>
        </p:nvSpPr>
        <p:spPr>
          <a:xfrm>
            <a:off x="8884031" y="4233926"/>
            <a:ext cx="149860" cy="15240"/>
          </a:xfrm>
          <a:custGeom>
            <a:avLst/>
            <a:gdLst/>
            <a:ahLst/>
            <a:cxnLst/>
            <a:rect l="l" t="t" r="r" b="b"/>
            <a:pathLst>
              <a:path w="149859" h="15239">
                <a:moveTo>
                  <a:pt x="149351" y="0"/>
                </a:moveTo>
                <a:lnTo>
                  <a:pt x="0" y="0"/>
                </a:lnTo>
                <a:lnTo>
                  <a:pt x="0" y="15240"/>
                </a:lnTo>
                <a:lnTo>
                  <a:pt x="149351" y="15240"/>
                </a:lnTo>
                <a:lnTo>
                  <a:pt x="1493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9082151" y="4134739"/>
            <a:ext cx="683260" cy="213360"/>
          </a:xfrm>
          <a:custGeom>
            <a:avLst/>
            <a:gdLst/>
            <a:ahLst/>
            <a:cxnLst/>
            <a:rect l="l" t="t" r="r" b="b"/>
            <a:pathLst>
              <a:path w="683259" h="213360">
                <a:moveTo>
                  <a:pt x="614679" y="0"/>
                </a:moveTo>
                <a:lnTo>
                  <a:pt x="611758" y="0"/>
                </a:lnTo>
                <a:lnTo>
                  <a:pt x="611758" y="8382"/>
                </a:lnTo>
                <a:lnTo>
                  <a:pt x="613409" y="8382"/>
                </a:lnTo>
                <a:lnTo>
                  <a:pt x="621075" y="8925"/>
                </a:lnTo>
                <a:lnTo>
                  <a:pt x="647953" y="44704"/>
                </a:lnTo>
                <a:lnTo>
                  <a:pt x="647953" y="49911"/>
                </a:lnTo>
                <a:lnTo>
                  <a:pt x="647191" y="56388"/>
                </a:lnTo>
                <a:lnTo>
                  <a:pt x="645667" y="64008"/>
                </a:lnTo>
                <a:lnTo>
                  <a:pt x="644270" y="71755"/>
                </a:lnTo>
                <a:lnTo>
                  <a:pt x="643508" y="77216"/>
                </a:lnTo>
                <a:lnTo>
                  <a:pt x="643508" y="86741"/>
                </a:lnTo>
                <a:lnTo>
                  <a:pt x="645286" y="91948"/>
                </a:lnTo>
                <a:lnTo>
                  <a:pt x="649096" y="96012"/>
                </a:lnTo>
                <a:lnTo>
                  <a:pt x="652779" y="100076"/>
                </a:lnTo>
                <a:lnTo>
                  <a:pt x="657224" y="102997"/>
                </a:lnTo>
                <a:lnTo>
                  <a:pt x="662304" y="105029"/>
                </a:lnTo>
                <a:lnTo>
                  <a:pt x="662304" y="107061"/>
                </a:lnTo>
                <a:lnTo>
                  <a:pt x="657224" y="108966"/>
                </a:lnTo>
                <a:lnTo>
                  <a:pt x="652779" y="111887"/>
                </a:lnTo>
                <a:lnTo>
                  <a:pt x="649212" y="115823"/>
                </a:lnTo>
                <a:lnTo>
                  <a:pt x="645286" y="120014"/>
                </a:lnTo>
                <a:lnTo>
                  <a:pt x="643508" y="125222"/>
                </a:lnTo>
                <a:lnTo>
                  <a:pt x="643508" y="134874"/>
                </a:lnTo>
                <a:lnTo>
                  <a:pt x="644270" y="140335"/>
                </a:lnTo>
                <a:lnTo>
                  <a:pt x="645667" y="147955"/>
                </a:lnTo>
                <a:lnTo>
                  <a:pt x="647191" y="155575"/>
                </a:lnTo>
                <a:lnTo>
                  <a:pt x="647953" y="162052"/>
                </a:lnTo>
                <a:lnTo>
                  <a:pt x="647953" y="167259"/>
                </a:lnTo>
                <a:lnTo>
                  <a:pt x="647392" y="176462"/>
                </a:lnTo>
                <a:lnTo>
                  <a:pt x="613409" y="204343"/>
                </a:lnTo>
                <a:lnTo>
                  <a:pt x="611758" y="204343"/>
                </a:lnTo>
                <a:lnTo>
                  <a:pt x="611758" y="212852"/>
                </a:lnTo>
                <a:lnTo>
                  <a:pt x="614679" y="212852"/>
                </a:lnTo>
                <a:lnTo>
                  <a:pt x="626991" y="211895"/>
                </a:lnTo>
                <a:lnTo>
                  <a:pt x="663638" y="186150"/>
                </a:lnTo>
                <a:lnTo>
                  <a:pt x="666876" y="165227"/>
                </a:lnTo>
                <a:lnTo>
                  <a:pt x="666876" y="159131"/>
                </a:lnTo>
                <a:lnTo>
                  <a:pt x="665987" y="152019"/>
                </a:lnTo>
                <a:lnTo>
                  <a:pt x="664336" y="144145"/>
                </a:lnTo>
                <a:lnTo>
                  <a:pt x="662558" y="136271"/>
                </a:lnTo>
                <a:lnTo>
                  <a:pt x="661669" y="131064"/>
                </a:lnTo>
                <a:lnTo>
                  <a:pt x="661669" y="123189"/>
                </a:lnTo>
                <a:lnTo>
                  <a:pt x="663447" y="118998"/>
                </a:lnTo>
                <a:lnTo>
                  <a:pt x="667003" y="115823"/>
                </a:lnTo>
                <a:lnTo>
                  <a:pt x="670559" y="112522"/>
                </a:lnTo>
                <a:lnTo>
                  <a:pt x="675893" y="110744"/>
                </a:lnTo>
                <a:lnTo>
                  <a:pt x="683005" y="110744"/>
                </a:lnTo>
                <a:lnTo>
                  <a:pt x="683005" y="101473"/>
                </a:lnTo>
                <a:lnTo>
                  <a:pt x="661669" y="88773"/>
                </a:lnTo>
                <a:lnTo>
                  <a:pt x="661669" y="81026"/>
                </a:lnTo>
                <a:lnTo>
                  <a:pt x="662558" y="75692"/>
                </a:lnTo>
                <a:lnTo>
                  <a:pt x="664336" y="67818"/>
                </a:lnTo>
                <a:lnTo>
                  <a:pt x="665987" y="59944"/>
                </a:lnTo>
                <a:lnTo>
                  <a:pt x="666876" y="52959"/>
                </a:lnTo>
                <a:lnTo>
                  <a:pt x="666876" y="46736"/>
                </a:lnTo>
                <a:lnTo>
                  <a:pt x="646612" y="6893"/>
                </a:lnTo>
                <a:lnTo>
                  <a:pt x="626991" y="900"/>
                </a:lnTo>
                <a:lnTo>
                  <a:pt x="614679" y="0"/>
                </a:lnTo>
                <a:close/>
              </a:path>
              <a:path w="683259" h="213360">
                <a:moveTo>
                  <a:pt x="71246" y="0"/>
                </a:moveTo>
                <a:lnTo>
                  <a:pt x="68325" y="0"/>
                </a:lnTo>
                <a:lnTo>
                  <a:pt x="56014" y="900"/>
                </a:lnTo>
                <a:lnTo>
                  <a:pt x="19303" y="26416"/>
                </a:lnTo>
                <a:lnTo>
                  <a:pt x="16876" y="35625"/>
                </a:lnTo>
                <a:lnTo>
                  <a:pt x="16831" y="35798"/>
                </a:lnTo>
                <a:lnTo>
                  <a:pt x="16001" y="46609"/>
                </a:lnTo>
                <a:lnTo>
                  <a:pt x="16001" y="52832"/>
                </a:lnTo>
                <a:lnTo>
                  <a:pt x="16890" y="59817"/>
                </a:lnTo>
                <a:lnTo>
                  <a:pt x="20446" y="75565"/>
                </a:lnTo>
                <a:lnTo>
                  <a:pt x="21335" y="80899"/>
                </a:lnTo>
                <a:lnTo>
                  <a:pt x="21335" y="88646"/>
                </a:lnTo>
                <a:lnTo>
                  <a:pt x="19557" y="92837"/>
                </a:lnTo>
                <a:lnTo>
                  <a:pt x="16001" y="96139"/>
                </a:lnTo>
                <a:lnTo>
                  <a:pt x="12445" y="99314"/>
                </a:lnTo>
                <a:lnTo>
                  <a:pt x="7111" y="101092"/>
                </a:lnTo>
                <a:lnTo>
                  <a:pt x="0" y="101346"/>
                </a:lnTo>
                <a:lnTo>
                  <a:pt x="0" y="110489"/>
                </a:lnTo>
                <a:lnTo>
                  <a:pt x="7111" y="110744"/>
                </a:lnTo>
                <a:lnTo>
                  <a:pt x="12445" y="112395"/>
                </a:lnTo>
                <a:lnTo>
                  <a:pt x="16001" y="115697"/>
                </a:lnTo>
                <a:lnTo>
                  <a:pt x="19557" y="118872"/>
                </a:lnTo>
                <a:lnTo>
                  <a:pt x="21335" y="123063"/>
                </a:lnTo>
                <a:lnTo>
                  <a:pt x="21335" y="130937"/>
                </a:lnTo>
                <a:lnTo>
                  <a:pt x="20446" y="136144"/>
                </a:lnTo>
                <a:lnTo>
                  <a:pt x="16890" y="151892"/>
                </a:lnTo>
                <a:lnTo>
                  <a:pt x="16001" y="159004"/>
                </a:lnTo>
                <a:lnTo>
                  <a:pt x="16001" y="165100"/>
                </a:lnTo>
                <a:lnTo>
                  <a:pt x="16831" y="176408"/>
                </a:lnTo>
                <a:lnTo>
                  <a:pt x="45370" y="209581"/>
                </a:lnTo>
                <a:lnTo>
                  <a:pt x="68325" y="212852"/>
                </a:lnTo>
                <a:lnTo>
                  <a:pt x="71246" y="212852"/>
                </a:lnTo>
                <a:lnTo>
                  <a:pt x="71246" y="204343"/>
                </a:lnTo>
                <a:lnTo>
                  <a:pt x="69468" y="204343"/>
                </a:lnTo>
                <a:lnTo>
                  <a:pt x="61823" y="203819"/>
                </a:lnTo>
                <a:lnTo>
                  <a:pt x="35051" y="167132"/>
                </a:lnTo>
                <a:lnTo>
                  <a:pt x="35051" y="161925"/>
                </a:lnTo>
                <a:lnTo>
                  <a:pt x="35813" y="155575"/>
                </a:lnTo>
                <a:lnTo>
                  <a:pt x="37210" y="147828"/>
                </a:lnTo>
                <a:lnTo>
                  <a:pt x="38734" y="140208"/>
                </a:lnTo>
                <a:lnTo>
                  <a:pt x="39496" y="134747"/>
                </a:lnTo>
                <a:lnTo>
                  <a:pt x="39496" y="125095"/>
                </a:lnTo>
                <a:lnTo>
                  <a:pt x="37591" y="119888"/>
                </a:lnTo>
                <a:lnTo>
                  <a:pt x="30225" y="111760"/>
                </a:lnTo>
                <a:lnTo>
                  <a:pt x="25780" y="108839"/>
                </a:lnTo>
                <a:lnTo>
                  <a:pt x="20573" y="106934"/>
                </a:lnTo>
                <a:lnTo>
                  <a:pt x="20573" y="104902"/>
                </a:lnTo>
                <a:lnTo>
                  <a:pt x="25780" y="102997"/>
                </a:lnTo>
                <a:lnTo>
                  <a:pt x="30225" y="99949"/>
                </a:lnTo>
                <a:lnTo>
                  <a:pt x="37591" y="91821"/>
                </a:lnTo>
                <a:lnTo>
                  <a:pt x="39496" y="86614"/>
                </a:lnTo>
                <a:lnTo>
                  <a:pt x="39496" y="77089"/>
                </a:lnTo>
                <a:lnTo>
                  <a:pt x="38734" y="71628"/>
                </a:lnTo>
                <a:lnTo>
                  <a:pt x="37210" y="63881"/>
                </a:lnTo>
                <a:lnTo>
                  <a:pt x="35813" y="56261"/>
                </a:lnTo>
                <a:lnTo>
                  <a:pt x="35051" y="49784"/>
                </a:lnTo>
                <a:lnTo>
                  <a:pt x="35051" y="44577"/>
                </a:lnTo>
                <a:lnTo>
                  <a:pt x="35612" y="35798"/>
                </a:lnTo>
                <a:lnTo>
                  <a:pt x="35623" y="35625"/>
                </a:lnTo>
                <a:lnTo>
                  <a:pt x="69468" y="8382"/>
                </a:lnTo>
                <a:lnTo>
                  <a:pt x="71246" y="8382"/>
                </a:lnTo>
                <a:lnTo>
                  <a:pt x="712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9" name="object 59"/>
          <p:cNvGrpSpPr/>
          <p:nvPr/>
        </p:nvGrpSpPr>
        <p:grpSpPr>
          <a:xfrm>
            <a:off x="7176896" y="4698746"/>
            <a:ext cx="3114040" cy="213995"/>
            <a:chOff x="7176896" y="4698746"/>
            <a:chExt cx="3114040" cy="213995"/>
          </a:xfrm>
        </p:grpSpPr>
        <p:sp>
          <p:nvSpPr>
            <p:cNvPr id="60" name="object 60"/>
            <p:cNvSpPr/>
            <p:nvPr/>
          </p:nvSpPr>
          <p:spPr>
            <a:xfrm>
              <a:off x="7176896" y="4698746"/>
              <a:ext cx="3114040" cy="213360"/>
            </a:xfrm>
            <a:custGeom>
              <a:avLst/>
              <a:gdLst/>
              <a:ahLst/>
              <a:cxnLst/>
              <a:rect l="l" t="t" r="r" b="b"/>
              <a:pathLst>
                <a:path w="3114040" h="213360">
                  <a:moveTo>
                    <a:pt x="3045460" y="0"/>
                  </a:moveTo>
                  <a:lnTo>
                    <a:pt x="3042539" y="0"/>
                  </a:lnTo>
                  <a:lnTo>
                    <a:pt x="3042539" y="8508"/>
                  </a:lnTo>
                  <a:lnTo>
                    <a:pt x="3044190" y="8508"/>
                  </a:lnTo>
                  <a:lnTo>
                    <a:pt x="3051855" y="9032"/>
                  </a:lnTo>
                  <a:lnTo>
                    <a:pt x="3078734" y="44830"/>
                  </a:lnTo>
                  <a:lnTo>
                    <a:pt x="3078734" y="50037"/>
                  </a:lnTo>
                  <a:lnTo>
                    <a:pt x="3077972" y="56387"/>
                  </a:lnTo>
                  <a:lnTo>
                    <a:pt x="3074924" y="71754"/>
                  </a:lnTo>
                  <a:lnTo>
                    <a:pt x="3074289" y="77215"/>
                  </a:lnTo>
                  <a:lnTo>
                    <a:pt x="3074289" y="86867"/>
                  </a:lnTo>
                  <a:lnTo>
                    <a:pt x="3076067" y="92074"/>
                  </a:lnTo>
                  <a:lnTo>
                    <a:pt x="3079872" y="96265"/>
                  </a:lnTo>
                  <a:lnTo>
                    <a:pt x="3083560" y="100075"/>
                  </a:lnTo>
                  <a:lnTo>
                    <a:pt x="3088005" y="103123"/>
                  </a:lnTo>
                  <a:lnTo>
                    <a:pt x="3093085" y="105028"/>
                  </a:lnTo>
                  <a:lnTo>
                    <a:pt x="3093085" y="107060"/>
                  </a:lnTo>
                  <a:lnTo>
                    <a:pt x="3074289" y="125348"/>
                  </a:lnTo>
                  <a:lnTo>
                    <a:pt x="3074289" y="134873"/>
                  </a:lnTo>
                  <a:lnTo>
                    <a:pt x="3074924" y="140334"/>
                  </a:lnTo>
                  <a:lnTo>
                    <a:pt x="3077972" y="155701"/>
                  </a:lnTo>
                  <a:lnTo>
                    <a:pt x="3078734" y="162178"/>
                  </a:lnTo>
                  <a:lnTo>
                    <a:pt x="3078734" y="167385"/>
                  </a:lnTo>
                  <a:lnTo>
                    <a:pt x="3078173" y="176571"/>
                  </a:lnTo>
                  <a:lnTo>
                    <a:pt x="3078162" y="176744"/>
                  </a:lnTo>
                  <a:lnTo>
                    <a:pt x="3044190" y="204469"/>
                  </a:lnTo>
                  <a:lnTo>
                    <a:pt x="3042539" y="204469"/>
                  </a:lnTo>
                  <a:lnTo>
                    <a:pt x="3042539" y="212851"/>
                  </a:lnTo>
                  <a:lnTo>
                    <a:pt x="3045460" y="212851"/>
                  </a:lnTo>
                  <a:lnTo>
                    <a:pt x="3057699" y="211968"/>
                  </a:lnTo>
                  <a:lnTo>
                    <a:pt x="3094418" y="186229"/>
                  </a:lnTo>
                  <a:lnTo>
                    <a:pt x="3097657" y="165353"/>
                  </a:lnTo>
                  <a:lnTo>
                    <a:pt x="3097657" y="159130"/>
                  </a:lnTo>
                  <a:lnTo>
                    <a:pt x="3096768" y="152145"/>
                  </a:lnTo>
                  <a:lnTo>
                    <a:pt x="3094990" y="144271"/>
                  </a:lnTo>
                  <a:lnTo>
                    <a:pt x="3093339" y="136397"/>
                  </a:lnTo>
                  <a:lnTo>
                    <a:pt x="3092450" y="131063"/>
                  </a:lnTo>
                  <a:lnTo>
                    <a:pt x="3092450" y="123316"/>
                  </a:lnTo>
                  <a:lnTo>
                    <a:pt x="3094228" y="119125"/>
                  </a:lnTo>
                  <a:lnTo>
                    <a:pt x="3101213" y="112648"/>
                  </a:lnTo>
                  <a:lnTo>
                    <a:pt x="3106547" y="110870"/>
                  </a:lnTo>
                  <a:lnTo>
                    <a:pt x="3113786" y="110616"/>
                  </a:lnTo>
                  <a:lnTo>
                    <a:pt x="3113786" y="101472"/>
                  </a:lnTo>
                  <a:lnTo>
                    <a:pt x="3106547" y="101218"/>
                  </a:lnTo>
                  <a:lnTo>
                    <a:pt x="3101213" y="99567"/>
                  </a:lnTo>
                  <a:lnTo>
                    <a:pt x="3097784" y="96265"/>
                  </a:lnTo>
                  <a:lnTo>
                    <a:pt x="3094228" y="93090"/>
                  </a:lnTo>
                  <a:lnTo>
                    <a:pt x="3092450" y="88899"/>
                  </a:lnTo>
                  <a:lnTo>
                    <a:pt x="3092450" y="81025"/>
                  </a:lnTo>
                  <a:lnTo>
                    <a:pt x="3093339" y="75818"/>
                  </a:lnTo>
                  <a:lnTo>
                    <a:pt x="3094990" y="67944"/>
                  </a:lnTo>
                  <a:lnTo>
                    <a:pt x="3096768" y="60070"/>
                  </a:lnTo>
                  <a:lnTo>
                    <a:pt x="3097657" y="52958"/>
                  </a:lnTo>
                  <a:lnTo>
                    <a:pt x="3097657" y="46862"/>
                  </a:lnTo>
                  <a:lnTo>
                    <a:pt x="3096847" y="35960"/>
                  </a:lnTo>
                  <a:lnTo>
                    <a:pt x="3068320" y="3270"/>
                  </a:lnTo>
                  <a:lnTo>
                    <a:pt x="3057699" y="956"/>
                  </a:lnTo>
                  <a:lnTo>
                    <a:pt x="3045460" y="0"/>
                  </a:lnTo>
                  <a:close/>
                </a:path>
                <a:path w="3114040" h="213360">
                  <a:moveTo>
                    <a:pt x="71120" y="0"/>
                  </a:moveTo>
                  <a:lnTo>
                    <a:pt x="68326" y="0"/>
                  </a:lnTo>
                  <a:lnTo>
                    <a:pt x="56014" y="956"/>
                  </a:lnTo>
                  <a:lnTo>
                    <a:pt x="19256" y="26447"/>
                  </a:lnTo>
                  <a:lnTo>
                    <a:pt x="16002" y="46735"/>
                  </a:lnTo>
                  <a:lnTo>
                    <a:pt x="16002" y="52831"/>
                  </a:lnTo>
                  <a:lnTo>
                    <a:pt x="16891" y="59943"/>
                  </a:lnTo>
                  <a:lnTo>
                    <a:pt x="20447" y="75691"/>
                  </a:lnTo>
                  <a:lnTo>
                    <a:pt x="21336" y="80898"/>
                  </a:lnTo>
                  <a:lnTo>
                    <a:pt x="21336" y="88772"/>
                  </a:lnTo>
                  <a:lnTo>
                    <a:pt x="19558" y="92963"/>
                  </a:lnTo>
                  <a:lnTo>
                    <a:pt x="16002" y="96138"/>
                  </a:lnTo>
                  <a:lnTo>
                    <a:pt x="12446" y="99440"/>
                  </a:lnTo>
                  <a:lnTo>
                    <a:pt x="7112" y="101218"/>
                  </a:lnTo>
                  <a:lnTo>
                    <a:pt x="0" y="101345"/>
                  </a:lnTo>
                  <a:lnTo>
                    <a:pt x="0" y="110489"/>
                  </a:lnTo>
                  <a:lnTo>
                    <a:pt x="21336" y="123189"/>
                  </a:lnTo>
                  <a:lnTo>
                    <a:pt x="21336" y="130936"/>
                  </a:lnTo>
                  <a:lnTo>
                    <a:pt x="20447" y="136270"/>
                  </a:lnTo>
                  <a:lnTo>
                    <a:pt x="16891" y="152018"/>
                  </a:lnTo>
                  <a:lnTo>
                    <a:pt x="16002" y="159003"/>
                  </a:lnTo>
                  <a:lnTo>
                    <a:pt x="16002" y="165226"/>
                  </a:lnTo>
                  <a:lnTo>
                    <a:pt x="16813" y="176518"/>
                  </a:lnTo>
                  <a:lnTo>
                    <a:pt x="45370" y="209692"/>
                  </a:lnTo>
                  <a:lnTo>
                    <a:pt x="68326" y="212851"/>
                  </a:lnTo>
                  <a:lnTo>
                    <a:pt x="71120" y="212851"/>
                  </a:lnTo>
                  <a:lnTo>
                    <a:pt x="71120" y="204469"/>
                  </a:lnTo>
                  <a:lnTo>
                    <a:pt x="69469" y="204469"/>
                  </a:lnTo>
                  <a:lnTo>
                    <a:pt x="61823" y="203926"/>
                  </a:lnTo>
                  <a:lnTo>
                    <a:pt x="35052" y="167258"/>
                  </a:lnTo>
                  <a:lnTo>
                    <a:pt x="35052" y="162051"/>
                  </a:lnTo>
                  <a:lnTo>
                    <a:pt x="35687" y="155574"/>
                  </a:lnTo>
                  <a:lnTo>
                    <a:pt x="38735" y="140207"/>
                  </a:lnTo>
                  <a:lnTo>
                    <a:pt x="39497" y="134746"/>
                  </a:lnTo>
                  <a:lnTo>
                    <a:pt x="39497" y="125221"/>
                  </a:lnTo>
                  <a:lnTo>
                    <a:pt x="37592" y="120014"/>
                  </a:lnTo>
                  <a:lnTo>
                    <a:pt x="30226" y="111886"/>
                  </a:lnTo>
                  <a:lnTo>
                    <a:pt x="25781" y="108838"/>
                  </a:lnTo>
                  <a:lnTo>
                    <a:pt x="20574" y="106933"/>
                  </a:lnTo>
                  <a:lnTo>
                    <a:pt x="20574" y="104901"/>
                  </a:lnTo>
                  <a:lnTo>
                    <a:pt x="25781" y="102996"/>
                  </a:lnTo>
                  <a:lnTo>
                    <a:pt x="30226" y="100075"/>
                  </a:lnTo>
                  <a:lnTo>
                    <a:pt x="37592" y="91947"/>
                  </a:lnTo>
                  <a:lnTo>
                    <a:pt x="39497" y="86740"/>
                  </a:lnTo>
                  <a:lnTo>
                    <a:pt x="39497" y="77088"/>
                  </a:lnTo>
                  <a:lnTo>
                    <a:pt x="38735" y="71627"/>
                  </a:lnTo>
                  <a:lnTo>
                    <a:pt x="35687" y="56387"/>
                  </a:lnTo>
                  <a:lnTo>
                    <a:pt x="35052" y="49910"/>
                  </a:lnTo>
                  <a:lnTo>
                    <a:pt x="35052" y="44703"/>
                  </a:lnTo>
                  <a:lnTo>
                    <a:pt x="35613" y="35853"/>
                  </a:lnTo>
                  <a:lnTo>
                    <a:pt x="69469" y="8508"/>
                  </a:lnTo>
                  <a:lnTo>
                    <a:pt x="71120" y="8508"/>
                  </a:lnTo>
                  <a:lnTo>
                    <a:pt x="7112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956926" y="4700778"/>
              <a:ext cx="236093" cy="211709"/>
            </a:xfrm>
            <a:prstGeom prst="rect">
              <a:avLst/>
            </a:prstGeom>
          </p:spPr>
        </p:pic>
      </p:grpSp>
      <p:sp>
        <p:nvSpPr>
          <p:cNvPr id="62" name="object 62"/>
          <p:cNvSpPr txBox="1"/>
          <p:nvPr/>
        </p:nvSpPr>
        <p:spPr>
          <a:xfrm>
            <a:off x="6388861" y="3094431"/>
            <a:ext cx="5394325" cy="183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4665" indent="-456565">
              <a:lnSpc>
                <a:spcPts val="2875"/>
              </a:lnSpc>
              <a:spcBef>
                <a:spcPts val="100"/>
              </a:spcBef>
              <a:buFont typeface="Wingdings"/>
              <a:buChar char=""/>
              <a:tabLst>
                <a:tab pos="4946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BPF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will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allow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only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𝐜𝐨𝐬</a:t>
            </a:r>
            <a:r>
              <a:rPr sz="2400" spc="-14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𝛉</a:t>
            </a:r>
            <a:r>
              <a:rPr sz="2400" spc="-1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component.</a:t>
            </a:r>
            <a:endParaRPr sz="2400">
              <a:latin typeface="Calibri"/>
              <a:cs typeface="Calibri"/>
            </a:endParaRPr>
          </a:p>
          <a:p>
            <a:pPr marL="494665" indent="-456565">
              <a:lnSpc>
                <a:spcPts val="2875"/>
              </a:lnSpc>
              <a:buFont typeface="Wingdings"/>
              <a:buChar char=""/>
              <a:tabLst>
                <a:tab pos="4946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So,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Pure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NBPM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will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be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by:</a:t>
            </a:r>
            <a:endParaRPr sz="2400">
              <a:latin typeface="Calibri"/>
              <a:cs typeface="Calibri"/>
            </a:endParaRPr>
          </a:p>
          <a:p>
            <a:pPr marR="244475" algn="ctr">
              <a:lnSpc>
                <a:spcPts val="1764"/>
              </a:lnSpc>
              <a:spcBef>
                <a:spcPts val="535"/>
              </a:spcBef>
            </a:pPr>
            <a:r>
              <a:rPr sz="1800" spc="-50" dirty="0">
                <a:latin typeface="Cambria Math"/>
                <a:cs typeface="Cambria Math"/>
              </a:rPr>
              <a:t>𝟒</a:t>
            </a:r>
            <a:endParaRPr sz="1800">
              <a:latin typeface="Cambria Math"/>
              <a:cs typeface="Cambria Math"/>
            </a:endParaRPr>
          </a:p>
          <a:p>
            <a:pPr marL="1205230">
              <a:lnSpc>
                <a:spcPts val="1764"/>
              </a:lnSpc>
              <a:tabLst>
                <a:tab pos="2261235" algn="l"/>
              </a:tabLst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5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𝐘</a:t>
            </a:r>
            <a:r>
              <a:rPr sz="1950" baseline="-14957" dirty="0">
                <a:latin typeface="Cambria Math"/>
                <a:cs typeface="Cambria Math"/>
              </a:rPr>
              <a:t>𝐏𝐌</a:t>
            </a:r>
            <a:r>
              <a:rPr sz="1950" spc="660" baseline="-14957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95" dirty="0">
                <a:latin typeface="Cambria Math"/>
                <a:cs typeface="Cambria Math"/>
              </a:rPr>
              <a:t> </a:t>
            </a:r>
            <a:r>
              <a:rPr sz="2700" baseline="-37037" dirty="0">
                <a:latin typeface="Cambria Math"/>
                <a:cs typeface="Cambria Math"/>
              </a:rPr>
              <a:t>𝛑</a:t>
            </a:r>
            <a:r>
              <a:rPr sz="2700" spc="142" baseline="-37037" dirty="0">
                <a:latin typeface="Cambria Math"/>
                <a:cs typeface="Cambria Math"/>
              </a:rPr>
              <a:t>  </a:t>
            </a: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-10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𝛉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800">
              <a:latin typeface="Cambria Math"/>
              <a:cs typeface="Cambria Math"/>
            </a:endParaRPr>
          </a:p>
          <a:p>
            <a:pPr marL="866140">
              <a:lnSpc>
                <a:spcPct val="100000"/>
              </a:lnSpc>
            </a:pPr>
            <a:r>
              <a:rPr sz="1800" spc="-20" dirty="0">
                <a:solidFill>
                  <a:srgbClr val="FF0000"/>
                </a:solidFill>
                <a:latin typeface="Cambria Math"/>
                <a:cs typeface="Cambria Math"/>
              </a:rPr>
              <a:t>𝐖𝐡𝐞𝐫𝐞,</a:t>
            </a:r>
            <a:r>
              <a:rPr sz="1800" spc="-9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⟹</a:t>
            </a:r>
            <a:r>
              <a:rPr sz="1800" spc="11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𝛉</a:t>
            </a:r>
            <a:r>
              <a:rPr sz="1800" spc="1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1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𝛚</a:t>
            </a:r>
            <a:r>
              <a:rPr sz="1950" baseline="-14957" dirty="0">
                <a:solidFill>
                  <a:srgbClr val="FF0000"/>
                </a:solidFill>
                <a:latin typeface="Cambria Math"/>
                <a:cs typeface="Cambria Math"/>
              </a:rPr>
              <a:t>𝐜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𝐭 +</a:t>
            </a:r>
            <a:r>
              <a:rPr sz="1800" spc="2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50" dirty="0">
                <a:solidFill>
                  <a:srgbClr val="FF0000"/>
                </a:solidFill>
                <a:latin typeface="Cambria Math"/>
                <a:cs typeface="Cambria Math"/>
              </a:rPr>
              <a:t>𝐤</a:t>
            </a:r>
            <a:r>
              <a:rPr sz="1950" spc="75" baseline="-14957" dirty="0">
                <a:solidFill>
                  <a:srgbClr val="FF0000"/>
                </a:solidFill>
                <a:latin typeface="Cambria Math"/>
                <a:cs typeface="Cambria Math"/>
              </a:rPr>
              <a:t>𝐏</a:t>
            </a:r>
            <a:r>
              <a:rPr sz="1800" spc="50" dirty="0">
                <a:solidFill>
                  <a:srgbClr val="FF0000"/>
                </a:solidFill>
                <a:latin typeface="Cambria Math"/>
                <a:cs typeface="Cambria Math"/>
              </a:rPr>
              <a:t>𝐦</a:t>
            </a:r>
            <a:r>
              <a:rPr sz="1800" spc="36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xmlns="" id="{83A603E8-2262-4EE3-8F03-30E653868E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073" y="5148655"/>
            <a:ext cx="1630127" cy="6859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xmlns="" id="{AA15F4B5-5D1B-426E-A183-7226574FA2A8}"/>
                  </a:ext>
                </a:extLst>
              </p:cNvPr>
              <p:cNvSpPr txBox="1"/>
              <p:nvPr/>
            </p:nvSpPr>
            <p:spPr>
              <a:xfrm>
                <a:off x="5258055" y="1478692"/>
                <a:ext cx="6926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𝐘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𝐭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AA15F4B5-5D1B-426E-A183-7226574FA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8055" y="1478692"/>
                <a:ext cx="692657" cy="369332"/>
              </a:xfrm>
              <a:prstGeom prst="rect">
                <a:avLst/>
              </a:prstGeom>
              <a:blipFill>
                <a:blip r:embed="rId8"/>
                <a:stretch>
                  <a:fillRect r="-1770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Rectangle 66"/>
          <p:cNvSpPr/>
          <p:nvPr/>
        </p:nvSpPr>
        <p:spPr>
          <a:xfrm>
            <a:off x="1090890" y="5952147"/>
            <a:ext cx="465622" cy="3724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990600" y="5976496"/>
                <a:ext cx="36821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600" b="1" i="0" smtClean="0">
                              <a:latin typeface="Cambria Math"/>
                            </a:rPr>
                            <m:t>𝐕</m:t>
                          </m:r>
                        </m:e>
                        <m:sub>
                          <m:r>
                            <a:rPr lang="en-US" sz="1600" b="1" i="0" smtClean="0">
                              <a:latin typeface="Cambria Math"/>
                            </a:rPr>
                            <m:t>𝟎</m:t>
                          </m:r>
                        </m:sub>
                      </m:sSub>
                      <m:r>
                        <a:rPr lang="en-US" sz="1600" b="1" i="0" smtClean="0">
                          <a:latin typeface="Cambria Math"/>
                        </a:rPr>
                        <m:t>(</m:t>
                      </m:r>
                      <m:r>
                        <a:rPr lang="en-US" sz="1600" b="1" i="0" smtClean="0">
                          <a:latin typeface="Cambria Math"/>
                        </a:rPr>
                        <m:t>𝛉</m:t>
                      </m:r>
                      <m:r>
                        <a:rPr lang="en-US" sz="1600" b="1" i="0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5976496"/>
                <a:ext cx="368219" cy="338554"/>
              </a:xfrm>
              <a:prstGeom prst="rect">
                <a:avLst/>
              </a:prstGeom>
              <a:blipFill rotWithShape="1">
                <a:blip r:embed="rId9"/>
                <a:stretch>
                  <a:fillRect t="-5357" r="-110000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Rectangle 68"/>
          <p:cNvSpPr/>
          <p:nvPr/>
        </p:nvSpPr>
        <p:spPr>
          <a:xfrm>
            <a:off x="1134578" y="5266347"/>
            <a:ext cx="465622" cy="3724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1034288" y="5290696"/>
                <a:ext cx="36821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600" b="1" i="0" smtClean="0">
                              <a:latin typeface="Cambria Math"/>
                            </a:rPr>
                            <m:t>𝐕</m:t>
                          </m:r>
                        </m:e>
                        <m:sub>
                          <m:r>
                            <a:rPr lang="en-US" sz="1600" b="1" i="0" smtClean="0">
                              <a:latin typeface="Cambria Math"/>
                            </a:rPr>
                            <m:t>𝟎</m:t>
                          </m:r>
                        </m:sub>
                      </m:sSub>
                      <m:r>
                        <a:rPr lang="en-US" sz="1600" b="1" i="0" smtClean="0">
                          <a:latin typeface="Cambria Math"/>
                        </a:rPr>
                        <m:t>(</m:t>
                      </m:r>
                      <m:r>
                        <a:rPr lang="en-US" sz="1600" b="1" i="0" smtClean="0">
                          <a:latin typeface="Cambria Math"/>
                        </a:rPr>
                        <m:t>𝛉</m:t>
                      </m:r>
                      <m:r>
                        <a:rPr lang="en-US" sz="1600" b="1" i="0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288" y="5290696"/>
                <a:ext cx="368219" cy="338554"/>
              </a:xfrm>
              <a:prstGeom prst="rect">
                <a:avLst/>
              </a:prstGeom>
              <a:blipFill rotWithShape="1">
                <a:blip r:embed="rId10"/>
                <a:stretch>
                  <a:fillRect t="-5455" r="-110000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Rectangle 70"/>
          <p:cNvSpPr/>
          <p:nvPr/>
        </p:nvSpPr>
        <p:spPr>
          <a:xfrm>
            <a:off x="5358090" y="1456347"/>
            <a:ext cx="465622" cy="3724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5257800" y="1480696"/>
                <a:ext cx="36821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600" b="1" i="0" smtClean="0">
                              <a:latin typeface="Cambria Math"/>
                            </a:rPr>
                            <m:t>𝐕</m:t>
                          </m:r>
                        </m:e>
                        <m:sub>
                          <m:r>
                            <a:rPr lang="en-US" sz="1600" b="1" i="0" smtClean="0">
                              <a:latin typeface="Cambria Math"/>
                            </a:rPr>
                            <m:t>𝟎</m:t>
                          </m:r>
                        </m:sub>
                      </m:sSub>
                      <m:r>
                        <a:rPr lang="en-US" sz="1600" b="1" i="0" smtClean="0">
                          <a:latin typeface="Cambria Math"/>
                        </a:rPr>
                        <m:t>(</m:t>
                      </m:r>
                      <m:r>
                        <a:rPr lang="en-US" sz="1600" b="1" i="0" smtClean="0">
                          <a:latin typeface="Cambria Math"/>
                        </a:rPr>
                        <m:t>𝛉</m:t>
                      </m:r>
                      <m:r>
                        <a:rPr lang="en-US" sz="1600" b="1" i="0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1480696"/>
                <a:ext cx="368219" cy="338554"/>
              </a:xfrm>
              <a:prstGeom prst="rect">
                <a:avLst/>
              </a:prstGeom>
              <a:blipFill rotWithShape="1">
                <a:blip r:embed="rId11"/>
                <a:stretch>
                  <a:fillRect t="-5455" r="-110000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6685" y="-8432"/>
            <a:ext cx="7773034" cy="1633220"/>
          </a:xfrm>
          <a:prstGeom prst="rect">
            <a:avLst/>
          </a:prstGeom>
        </p:spPr>
        <p:txBody>
          <a:bodyPr vert="horz" wrap="square" lIns="0" tIns="296545" rIns="0" bIns="0" rtlCol="0">
            <a:spAutoFit/>
          </a:bodyPr>
          <a:lstStyle/>
          <a:p>
            <a:pPr marL="289560" marR="5080" indent="-277495">
              <a:lnSpc>
                <a:spcPct val="70000"/>
              </a:lnSpc>
              <a:spcBef>
                <a:spcPts val="2335"/>
              </a:spcBef>
            </a:pPr>
            <a:r>
              <a:rPr sz="6200" spc="-55" dirty="0">
                <a:solidFill>
                  <a:srgbClr val="006600"/>
                </a:solidFill>
                <a:latin typeface="Trebuchet MS"/>
                <a:cs typeface="Trebuchet MS"/>
              </a:rPr>
              <a:t>Wide</a:t>
            </a:r>
            <a:r>
              <a:rPr sz="6200" spc="-355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6200" spc="105" dirty="0">
                <a:solidFill>
                  <a:srgbClr val="006600"/>
                </a:solidFill>
                <a:latin typeface="Trebuchet MS"/>
                <a:cs typeface="Trebuchet MS"/>
              </a:rPr>
              <a:t>Band</a:t>
            </a:r>
            <a:r>
              <a:rPr sz="6200" spc="-350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6200" spc="-210" dirty="0">
                <a:solidFill>
                  <a:srgbClr val="006600"/>
                </a:solidFill>
                <a:latin typeface="Trebuchet MS"/>
                <a:cs typeface="Trebuchet MS"/>
              </a:rPr>
              <a:t>Frequency </a:t>
            </a:r>
            <a:r>
              <a:rPr sz="6200" spc="-25" dirty="0">
                <a:solidFill>
                  <a:srgbClr val="006600"/>
                </a:solidFill>
                <a:latin typeface="Trebuchet MS"/>
                <a:cs typeface="Trebuchet MS"/>
              </a:rPr>
              <a:t>Modulation</a:t>
            </a:r>
            <a:r>
              <a:rPr sz="6200" spc="-409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6200" spc="204" dirty="0">
                <a:solidFill>
                  <a:srgbClr val="006600"/>
                </a:solidFill>
                <a:latin typeface="Trebuchet MS"/>
                <a:cs typeface="Trebuchet MS"/>
              </a:rPr>
              <a:t>(WBFM)</a:t>
            </a:r>
            <a:endParaRPr sz="6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4142" y="1391701"/>
            <a:ext cx="7538084" cy="211645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3200" b="1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Outlines</a:t>
            </a:r>
            <a:endParaRPr sz="32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spcBef>
                <a:spcPts val="470"/>
              </a:spcBef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Basics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WBFM</a:t>
            </a:r>
            <a:endParaRPr sz="24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Bessel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Function</a:t>
            </a:r>
            <a:r>
              <a:rPr sz="24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Table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with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respect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Modulation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Index</a:t>
            </a:r>
            <a:endParaRPr sz="24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WBFM</a:t>
            </a:r>
            <a:r>
              <a:rPr sz="2400" b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Generation</a:t>
            </a:r>
            <a:endParaRPr sz="24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buFont typeface="Wingdings"/>
              <a:buChar char=""/>
              <a:tabLst>
                <a:tab pos="520065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Applications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WBFM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2039" y="622172"/>
            <a:ext cx="68186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19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819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Modulation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Index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𝐦</a:t>
            </a:r>
            <a:r>
              <a:rPr sz="2625" baseline="-15873" dirty="0">
                <a:solidFill>
                  <a:srgbClr val="6F2F9F"/>
                </a:solidFill>
                <a:latin typeface="Cambria Math"/>
                <a:cs typeface="Cambria Math"/>
              </a:rPr>
              <a:t>𝐟</a:t>
            </a:r>
            <a:r>
              <a:rPr sz="2625" spc="277" baseline="-15873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WBFM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Greater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than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1.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978392" y="2175255"/>
            <a:ext cx="681355" cy="282575"/>
          </a:xfrm>
          <a:custGeom>
            <a:avLst/>
            <a:gdLst/>
            <a:ahLst/>
            <a:cxnLst/>
            <a:rect l="l" t="t" r="r" b="b"/>
            <a:pathLst>
              <a:path w="681354" h="282575">
                <a:moveTo>
                  <a:pt x="590930" y="0"/>
                </a:moveTo>
                <a:lnTo>
                  <a:pt x="586866" y="11430"/>
                </a:lnTo>
                <a:lnTo>
                  <a:pt x="603230" y="18504"/>
                </a:lnTo>
                <a:lnTo>
                  <a:pt x="617283" y="28305"/>
                </a:lnTo>
                <a:lnTo>
                  <a:pt x="645816" y="73852"/>
                </a:lnTo>
                <a:lnTo>
                  <a:pt x="654106" y="115339"/>
                </a:lnTo>
                <a:lnTo>
                  <a:pt x="654147" y="115623"/>
                </a:lnTo>
                <a:lnTo>
                  <a:pt x="654145" y="164580"/>
                </a:lnTo>
                <a:lnTo>
                  <a:pt x="645763" y="207529"/>
                </a:lnTo>
                <a:lnTo>
                  <a:pt x="617283" y="253730"/>
                </a:lnTo>
                <a:lnTo>
                  <a:pt x="587374" y="270764"/>
                </a:lnTo>
                <a:lnTo>
                  <a:pt x="590930" y="282321"/>
                </a:lnTo>
                <a:lnTo>
                  <a:pt x="629427" y="264191"/>
                </a:lnTo>
                <a:lnTo>
                  <a:pt x="657732" y="232918"/>
                </a:lnTo>
                <a:lnTo>
                  <a:pt x="675163" y="191023"/>
                </a:lnTo>
                <a:lnTo>
                  <a:pt x="680973" y="141224"/>
                </a:lnTo>
                <a:lnTo>
                  <a:pt x="679535" y="115623"/>
                </a:lnTo>
                <a:lnTo>
                  <a:pt x="667847" y="69429"/>
                </a:lnTo>
                <a:lnTo>
                  <a:pt x="644723" y="32093"/>
                </a:lnTo>
                <a:lnTo>
                  <a:pt x="611385" y="7379"/>
                </a:lnTo>
                <a:lnTo>
                  <a:pt x="590930" y="0"/>
                </a:lnTo>
                <a:close/>
              </a:path>
              <a:path w="681354" h="282575">
                <a:moveTo>
                  <a:pt x="90042" y="0"/>
                </a:moveTo>
                <a:lnTo>
                  <a:pt x="51593" y="18081"/>
                </a:lnTo>
                <a:lnTo>
                  <a:pt x="23240" y="49403"/>
                </a:lnTo>
                <a:lnTo>
                  <a:pt x="5810" y="91408"/>
                </a:lnTo>
                <a:lnTo>
                  <a:pt x="85" y="139700"/>
                </a:lnTo>
                <a:lnTo>
                  <a:pt x="0" y="141224"/>
                </a:lnTo>
                <a:lnTo>
                  <a:pt x="5794" y="191023"/>
                </a:lnTo>
                <a:lnTo>
                  <a:pt x="23113" y="232918"/>
                </a:lnTo>
                <a:lnTo>
                  <a:pt x="51482" y="264191"/>
                </a:lnTo>
                <a:lnTo>
                  <a:pt x="90042" y="282321"/>
                </a:lnTo>
                <a:lnTo>
                  <a:pt x="93598" y="270764"/>
                </a:lnTo>
                <a:lnTo>
                  <a:pt x="77475" y="263646"/>
                </a:lnTo>
                <a:lnTo>
                  <a:pt x="63579" y="253730"/>
                </a:lnTo>
                <a:lnTo>
                  <a:pt x="35083" y="207529"/>
                </a:lnTo>
                <a:lnTo>
                  <a:pt x="26701" y="164580"/>
                </a:lnTo>
                <a:lnTo>
                  <a:pt x="25653" y="139700"/>
                </a:lnTo>
                <a:lnTo>
                  <a:pt x="26701" y="115623"/>
                </a:lnTo>
                <a:lnTo>
                  <a:pt x="35083" y="73852"/>
                </a:lnTo>
                <a:lnTo>
                  <a:pt x="63674" y="28305"/>
                </a:lnTo>
                <a:lnTo>
                  <a:pt x="93979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763125" y="2085594"/>
            <a:ext cx="2216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spc="1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1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Message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10179" y="2541016"/>
            <a:ext cx="774065" cy="282575"/>
          </a:xfrm>
          <a:custGeom>
            <a:avLst/>
            <a:gdLst/>
            <a:ahLst/>
            <a:cxnLst/>
            <a:rect l="l" t="t" r="r" b="b"/>
            <a:pathLst>
              <a:path w="774064" h="282575">
                <a:moveTo>
                  <a:pt x="683894" y="0"/>
                </a:moveTo>
                <a:lnTo>
                  <a:pt x="679830" y="11430"/>
                </a:lnTo>
                <a:lnTo>
                  <a:pt x="696194" y="18504"/>
                </a:lnTo>
                <a:lnTo>
                  <a:pt x="710247" y="28305"/>
                </a:lnTo>
                <a:lnTo>
                  <a:pt x="738780" y="73798"/>
                </a:lnTo>
                <a:lnTo>
                  <a:pt x="747073" y="115339"/>
                </a:lnTo>
                <a:lnTo>
                  <a:pt x="747111" y="115605"/>
                </a:lnTo>
                <a:lnTo>
                  <a:pt x="747109" y="164580"/>
                </a:lnTo>
                <a:lnTo>
                  <a:pt x="738727" y="207529"/>
                </a:lnTo>
                <a:lnTo>
                  <a:pt x="710247" y="253730"/>
                </a:lnTo>
                <a:lnTo>
                  <a:pt x="680338" y="270764"/>
                </a:lnTo>
                <a:lnTo>
                  <a:pt x="683894" y="282321"/>
                </a:lnTo>
                <a:lnTo>
                  <a:pt x="722391" y="264191"/>
                </a:lnTo>
                <a:lnTo>
                  <a:pt x="750696" y="232918"/>
                </a:lnTo>
                <a:lnTo>
                  <a:pt x="768127" y="191023"/>
                </a:lnTo>
                <a:lnTo>
                  <a:pt x="773938" y="141224"/>
                </a:lnTo>
                <a:lnTo>
                  <a:pt x="772498" y="115605"/>
                </a:lnTo>
                <a:lnTo>
                  <a:pt x="760811" y="69429"/>
                </a:lnTo>
                <a:lnTo>
                  <a:pt x="737687" y="32093"/>
                </a:lnTo>
                <a:lnTo>
                  <a:pt x="704349" y="7379"/>
                </a:lnTo>
                <a:lnTo>
                  <a:pt x="683894" y="0"/>
                </a:lnTo>
                <a:close/>
              </a:path>
              <a:path w="774064" h="282575">
                <a:moveTo>
                  <a:pt x="90042" y="0"/>
                </a:moveTo>
                <a:lnTo>
                  <a:pt x="51593" y="18081"/>
                </a:lnTo>
                <a:lnTo>
                  <a:pt x="23240" y="49403"/>
                </a:lnTo>
                <a:lnTo>
                  <a:pt x="5810" y="91408"/>
                </a:lnTo>
                <a:lnTo>
                  <a:pt x="85" y="139700"/>
                </a:lnTo>
                <a:lnTo>
                  <a:pt x="0" y="141224"/>
                </a:lnTo>
                <a:lnTo>
                  <a:pt x="5794" y="191023"/>
                </a:lnTo>
                <a:lnTo>
                  <a:pt x="23113" y="232918"/>
                </a:lnTo>
                <a:lnTo>
                  <a:pt x="51482" y="264191"/>
                </a:lnTo>
                <a:lnTo>
                  <a:pt x="90042" y="282321"/>
                </a:lnTo>
                <a:lnTo>
                  <a:pt x="93598" y="270764"/>
                </a:lnTo>
                <a:lnTo>
                  <a:pt x="77475" y="263646"/>
                </a:lnTo>
                <a:lnTo>
                  <a:pt x="63579" y="253730"/>
                </a:lnTo>
                <a:lnTo>
                  <a:pt x="35083" y="207529"/>
                </a:lnTo>
                <a:lnTo>
                  <a:pt x="26701" y="164580"/>
                </a:lnTo>
                <a:lnTo>
                  <a:pt x="25653" y="139700"/>
                </a:lnTo>
                <a:lnTo>
                  <a:pt x="26701" y="115605"/>
                </a:lnTo>
                <a:lnTo>
                  <a:pt x="35083" y="73798"/>
                </a:lnTo>
                <a:lnTo>
                  <a:pt x="63674" y="28305"/>
                </a:lnTo>
                <a:lnTo>
                  <a:pt x="93979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99339" y="1718309"/>
            <a:ext cx="9412605" cy="1124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46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946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bandwidth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WBFM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several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times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message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Bandwidth.</a:t>
            </a:r>
            <a:endParaRPr sz="2400">
              <a:latin typeface="Calibri"/>
              <a:cs typeface="Calibri"/>
            </a:endParaRPr>
          </a:p>
          <a:p>
            <a:pPr marL="494665" indent="-456565">
              <a:lnSpc>
                <a:spcPct val="100000"/>
              </a:lnSpc>
              <a:spcBef>
                <a:spcPts val="10"/>
              </a:spcBef>
              <a:buFont typeface="Wingdings"/>
              <a:buChar char=""/>
              <a:tabLst>
                <a:tab pos="4946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Equation</a:t>
            </a:r>
            <a:r>
              <a:rPr sz="2400" b="1" spc="1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10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Frequency</a:t>
            </a:r>
            <a:r>
              <a:rPr sz="2400" b="1" spc="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Modulation</a:t>
            </a:r>
            <a:r>
              <a:rPr sz="2400" b="1" spc="1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{If</a:t>
            </a:r>
            <a:r>
              <a:rPr sz="2400" b="1" spc="9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10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carrier</a:t>
            </a:r>
            <a:r>
              <a:rPr sz="2400" b="1" spc="10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r>
              <a:rPr sz="2400" b="1" spc="9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1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30" dirty="0">
                <a:solidFill>
                  <a:srgbClr val="6F2F9F"/>
                </a:solidFill>
                <a:latin typeface="Cambria Math"/>
                <a:cs typeface="Cambria Math"/>
              </a:rPr>
              <a:t>𝐕</a:t>
            </a:r>
            <a:r>
              <a:rPr sz="2625" spc="-44" baseline="-15873" dirty="0">
                <a:solidFill>
                  <a:srgbClr val="6F2F9F"/>
                </a:solidFill>
                <a:latin typeface="Cambria Math"/>
                <a:cs typeface="Cambria Math"/>
              </a:rPr>
              <a:t>𝐂</a:t>
            </a:r>
            <a:r>
              <a:rPr sz="2625" spc="112" baseline="-15873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𝐬𝐢𝐧</a:t>
            </a:r>
            <a:r>
              <a:rPr sz="2400" spc="36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spc="-25" dirty="0">
                <a:solidFill>
                  <a:srgbClr val="6F2F9F"/>
                </a:solidFill>
                <a:latin typeface="Cambria Math"/>
                <a:cs typeface="Cambria Math"/>
              </a:rPr>
              <a:t>𝛚</a:t>
            </a:r>
            <a:r>
              <a:rPr sz="2625" spc="-37" baseline="-15873" dirty="0">
                <a:solidFill>
                  <a:srgbClr val="6F2F9F"/>
                </a:solidFill>
                <a:latin typeface="Cambria Math"/>
                <a:cs typeface="Cambria Math"/>
              </a:rPr>
              <a:t>𝐜</a:t>
            </a:r>
            <a:r>
              <a:rPr sz="2400" spc="-25" dirty="0">
                <a:solidFill>
                  <a:srgbClr val="6F2F9F"/>
                </a:solidFill>
                <a:latin typeface="Cambria Math"/>
                <a:cs typeface="Cambria Math"/>
              </a:rPr>
              <a:t>𝐭</a:t>
            </a:r>
            <a:endParaRPr sz="2400">
              <a:latin typeface="Cambria Math"/>
              <a:cs typeface="Cambria Math"/>
            </a:endParaRPr>
          </a:p>
          <a:p>
            <a:pPr marL="495300">
              <a:lnSpc>
                <a:spcPct val="100000"/>
              </a:lnSpc>
              <a:tabLst>
                <a:tab pos="331279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spc="-30" dirty="0">
                <a:solidFill>
                  <a:srgbClr val="6F2F9F"/>
                </a:solidFill>
                <a:latin typeface="Cambria Math"/>
                <a:cs typeface="Cambria Math"/>
              </a:rPr>
              <a:t>𝐕</a:t>
            </a:r>
            <a:r>
              <a:rPr sz="2625" spc="-44" baseline="-15873" dirty="0">
                <a:solidFill>
                  <a:srgbClr val="6F2F9F"/>
                </a:solidFill>
                <a:latin typeface="Cambria Math"/>
                <a:cs typeface="Cambria Math"/>
              </a:rPr>
              <a:t>𝐦</a:t>
            </a:r>
            <a:r>
              <a:rPr sz="2625" spc="89" baseline="-15873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𝐜𝐨𝐬</a:t>
            </a:r>
            <a:r>
              <a:rPr sz="2400" spc="34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spc="-25" dirty="0">
                <a:solidFill>
                  <a:srgbClr val="6F2F9F"/>
                </a:solidFill>
                <a:latin typeface="Cambria Math"/>
                <a:cs typeface="Cambria Math"/>
              </a:rPr>
              <a:t>𝛚</a:t>
            </a:r>
            <a:r>
              <a:rPr sz="2625" spc="-37" baseline="-15873" dirty="0">
                <a:solidFill>
                  <a:srgbClr val="6F2F9F"/>
                </a:solidFill>
                <a:latin typeface="Cambria Math"/>
                <a:cs typeface="Cambria Math"/>
              </a:rPr>
              <a:t>𝐦</a:t>
            </a:r>
            <a:r>
              <a:rPr sz="2400" spc="-25" dirty="0">
                <a:solidFill>
                  <a:srgbClr val="6F2F9F"/>
                </a:solidFill>
                <a:latin typeface="Cambria Math"/>
                <a:cs typeface="Cambria Math"/>
              </a:rPr>
              <a:t>𝐭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	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}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by: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9339" y="6085840"/>
            <a:ext cx="115881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46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946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WBFM,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as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Modulation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Index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greater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then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1,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Bassel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Function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𝐉</a:t>
            </a:r>
            <a:r>
              <a:rPr sz="2625" baseline="-15873" dirty="0">
                <a:solidFill>
                  <a:srgbClr val="6F2F9F"/>
                </a:solidFill>
                <a:latin typeface="Cambria Math"/>
                <a:cs typeface="Cambria Math"/>
              </a:rPr>
              <a:t>𝐧</a:t>
            </a:r>
            <a:r>
              <a:rPr sz="2625" spc="292" baseline="-15873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has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more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elements.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Basics</a:t>
            </a:r>
            <a:r>
              <a:rPr sz="3200" u="sng" spc="-4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of</a:t>
            </a:r>
            <a:r>
              <a:rPr sz="3200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spc="-2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WBFM</a:t>
            </a:r>
            <a:endParaRPr sz="3200"/>
          </a:p>
        </p:txBody>
      </p:sp>
      <p:sp>
        <p:nvSpPr>
          <p:cNvPr id="9" name="object 9"/>
          <p:cNvSpPr/>
          <p:nvPr/>
        </p:nvSpPr>
        <p:spPr>
          <a:xfrm>
            <a:off x="1990217" y="1118997"/>
            <a:ext cx="3458210" cy="578485"/>
          </a:xfrm>
          <a:custGeom>
            <a:avLst/>
            <a:gdLst/>
            <a:ahLst/>
            <a:cxnLst/>
            <a:rect l="l" t="t" r="r" b="b"/>
            <a:pathLst>
              <a:path w="3458210" h="578485">
                <a:moveTo>
                  <a:pt x="3362452" y="0"/>
                </a:moveTo>
                <a:lnTo>
                  <a:pt x="3362452" y="9906"/>
                </a:lnTo>
                <a:lnTo>
                  <a:pt x="3370072" y="11176"/>
                </a:lnTo>
                <a:lnTo>
                  <a:pt x="3377056" y="14350"/>
                </a:lnTo>
                <a:lnTo>
                  <a:pt x="3402405" y="46257"/>
                </a:lnTo>
                <a:lnTo>
                  <a:pt x="3412013" y="91074"/>
                </a:lnTo>
                <a:lnTo>
                  <a:pt x="3412871" y="113919"/>
                </a:lnTo>
                <a:lnTo>
                  <a:pt x="3412578" y="124332"/>
                </a:lnTo>
                <a:lnTo>
                  <a:pt x="3408299" y="169164"/>
                </a:lnTo>
                <a:lnTo>
                  <a:pt x="3406298" y="185973"/>
                </a:lnTo>
                <a:lnTo>
                  <a:pt x="3404869" y="199628"/>
                </a:lnTo>
                <a:lnTo>
                  <a:pt x="3404012" y="210115"/>
                </a:lnTo>
                <a:lnTo>
                  <a:pt x="3403727" y="217424"/>
                </a:lnTo>
                <a:lnTo>
                  <a:pt x="3404393" y="231497"/>
                </a:lnTo>
                <a:lnTo>
                  <a:pt x="3419653" y="273692"/>
                </a:lnTo>
                <a:lnTo>
                  <a:pt x="3435477" y="287909"/>
                </a:lnTo>
                <a:lnTo>
                  <a:pt x="3435477" y="290449"/>
                </a:lnTo>
                <a:lnTo>
                  <a:pt x="3409727" y="322585"/>
                </a:lnTo>
                <a:lnTo>
                  <a:pt x="3403727" y="360680"/>
                </a:lnTo>
                <a:lnTo>
                  <a:pt x="3404012" y="366299"/>
                </a:lnTo>
                <a:lnTo>
                  <a:pt x="3404869" y="376491"/>
                </a:lnTo>
                <a:lnTo>
                  <a:pt x="3406298" y="391255"/>
                </a:lnTo>
                <a:lnTo>
                  <a:pt x="3410299" y="430067"/>
                </a:lnTo>
                <a:lnTo>
                  <a:pt x="3411728" y="445436"/>
                </a:lnTo>
                <a:lnTo>
                  <a:pt x="3412585" y="456686"/>
                </a:lnTo>
                <a:lnTo>
                  <a:pt x="3412871" y="463804"/>
                </a:lnTo>
                <a:lnTo>
                  <a:pt x="3412678" y="475730"/>
                </a:lnTo>
                <a:lnTo>
                  <a:pt x="3412198" y="484903"/>
                </a:lnTo>
                <a:lnTo>
                  <a:pt x="3412093" y="486918"/>
                </a:lnTo>
                <a:lnTo>
                  <a:pt x="3402855" y="531826"/>
                </a:lnTo>
                <a:lnTo>
                  <a:pt x="3377311" y="564134"/>
                </a:lnTo>
                <a:lnTo>
                  <a:pt x="3362452" y="568452"/>
                </a:lnTo>
                <a:lnTo>
                  <a:pt x="3362452" y="578358"/>
                </a:lnTo>
                <a:lnTo>
                  <a:pt x="3404528" y="558301"/>
                </a:lnTo>
                <a:lnTo>
                  <a:pt x="3429428" y="507444"/>
                </a:lnTo>
                <a:lnTo>
                  <a:pt x="3434206" y="459613"/>
                </a:lnTo>
                <a:lnTo>
                  <a:pt x="3433897" y="448373"/>
                </a:lnTo>
                <a:lnTo>
                  <a:pt x="3432968" y="434657"/>
                </a:lnTo>
                <a:lnTo>
                  <a:pt x="3431420" y="418465"/>
                </a:lnTo>
                <a:lnTo>
                  <a:pt x="3429254" y="399796"/>
                </a:lnTo>
                <a:lnTo>
                  <a:pt x="3427087" y="381744"/>
                </a:lnTo>
                <a:lnTo>
                  <a:pt x="3425539" y="367395"/>
                </a:lnTo>
                <a:lnTo>
                  <a:pt x="3424610" y="356737"/>
                </a:lnTo>
                <a:lnTo>
                  <a:pt x="3424301" y="349758"/>
                </a:lnTo>
                <a:lnTo>
                  <a:pt x="3424848" y="337353"/>
                </a:lnTo>
                <a:lnTo>
                  <a:pt x="3443636" y="298338"/>
                </a:lnTo>
                <a:lnTo>
                  <a:pt x="3457829" y="294513"/>
                </a:lnTo>
                <a:lnTo>
                  <a:pt x="3457829" y="283845"/>
                </a:lnTo>
                <a:lnTo>
                  <a:pt x="3426491" y="252253"/>
                </a:lnTo>
                <a:lnTo>
                  <a:pt x="3424301" y="228346"/>
                </a:lnTo>
                <a:lnTo>
                  <a:pt x="3424610" y="220773"/>
                </a:lnTo>
                <a:lnTo>
                  <a:pt x="3425539" y="210439"/>
                </a:lnTo>
                <a:lnTo>
                  <a:pt x="3427087" y="197342"/>
                </a:lnTo>
                <a:lnTo>
                  <a:pt x="3429254" y="181483"/>
                </a:lnTo>
                <a:lnTo>
                  <a:pt x="3431420" y="164909"/>
                </a:lnTo>
                <a:lnTo>
                  <a:pt x="3432968" y="149860"/>
                </a:lnTo>
                <a:lnTo>
                  <a:pt x="3433860" y="136874"/>
                </a:lnTo>
                <a:lnTo>
                  <a:pt x="3433897" y="136334"/>
                </a:lnTo>
                <a:lnTo>
                  <a:pt x="3433040" y="97520"/>
                </a:lnTo>
                <a:lnTo>
                  <a:pt x="3423832" y="53768"/>
                </a:lnTo>
                <a:lnTo>
                  <a:pt x="3393013" y="11176"/>
                </a:lnTo>
                <a:lnTo>
                  <a:pt x="3378711" y="3883"/>
                </a:lnTo>
                <a:lnTo>
                  <a:pt x="3362452" y="0"/>
                </a:lnTo>
                <a:close/>
              </a:path>
              <a:path w="3458210" h="578485">
                <a:moveTo>
                  <a:pt x="95376" y="0"/>
                </a:moveTo>
                <a:lnTo>
                  <a:pt x="52550" y="21842"/>
                </a:lnTo>
                <a:lnTo>
                  <a:pt x="28162" y="73850"/>
                </a:lnTo>
                <a:lnTo>
                  <a:pt x="23494" y="124332"/>
                </a:lnTo>
                <a:lnTo>
                  <a:pt x="23804" y="136334"/>
                </a:lnTo>
                <a:lnTo>
                  <a:pt x="24733" y="149860"/>
                </a:lnTo>
                <a:lnTo>
                  <a:pt x="26281" y="164909"/>
                </a:lnTo>
                <a:lnTo>
                  <a:pt x="28448" y="181483"/>
                </a:lnTo>
                <a:lnTo>
                  <a:pt x="30614" y="197342"/>
                </a:lnTo>
                <a:lnTo>
                  <a:pt x="32124" y="210115"/>
                </a:lnTo>
                <a:lnTo>
                  <a:pt x="33091" y="220773"/>
                </a:lnTo>
                <a:lnTo>
                  <a:pt x="33400" y="228346"/>
                </a:lnTo>
                <a:lnTo>
                  <a:pt x="32853" y="241133"/>
                </a:lnTo>
                <a:lnTo>
                  <a:pt x="14081" y="280050"/>
                </a:lnTo>
                <a:lnTo>
                  <a:pt x="0" y="283845"/>
                </a:lnTo>
                <a:lnTo>
                  <a:pt x="0" y="294513"/>
                </a:lnTo>
                <a:lnTo>
                  <a:pt x="31210" y="326437"/>
                </a:lnTo>
                <a:lnTo>
                  <a:pt x="33400" y="349758"/>
                </a:lnTo>
                <a:lnTo>
                  <a:pt x="33091" y="356737"/>
                </a:lnTo>
                <a:lnTo>
                  <a:pt x="32258" y="366299"/>
                </a:lnTo>
                <a:lnTo>
                  <a:pt x="32162" y="367395"/>
                </a:lnTo>
                <a:lnTo>
                  <a:pt x="30614" y="381744"/>
                </a:lnTo>
                <a:lnTo>
                  <a:pt x="28448" y="399796"/>
                </a:lnTo>
                <a:lnTo>
                  <a:pt x="26281" y="418465"/>
                </a:lnTo>
                <a:lnTo>
                  <a:pt x="24733" y="434657"/>
                </a:lnTo>
                <a:lnTo>
                  <a:pt x="23804" y="448373"/>
                </a:lnTo>
                <a:lnTo>
                  <a:pt x="23575" y="456686"/>
                </a:lnTo>
                <a:lnTo>
                  <a:pt x="23494" y="459613"/>
                </a:lnTo>
                <a:lnTo>
                  <a:pt x="24705" y="484903"/>
                </a:lnTo>
                <a:lnTo>
                  <a:pt x="34317" y="527246"/>
                </a:lnTo>
                <a:lnTo>
                  <a:pt x="65452" y="568626"/>
                </a:lnTo>
                <a:lnTo>
                  <a:pt x="95376" y="578358"/>
                </a:lnTo>
                <a:lnTo>
                  <a:pt x="95376" y="568452"/>
                </a:lnTo>
                <a:lnTo>
                  <a:pt x="87502" y="567182"/>
                </a:lnTo>
                <a:lnTo>
                  <a:pt x="80517" y="564134"/>
                </a:lnTo>
                <a:lnTo>
                  <a:pt x="55080" y="531826"/>
                </a:lnTo>
                <a:lnTo>
                  <a:pt x="48228" y="507444"/>
                </a:lnTo>
                <a:lnTo>
                  <a:pt x="48132" y="506984"/>
                </a:lnTo>
                <a:lnTo>
                  <a:pt x="46706" y="497343"/>
                </a:lnTo>
                <a:lnTo>
                  <a:pt x="45672" y="486918"/>
                </a:lnTo>
                <a:lnTo>
                  <a:pt x="45043" y="475730"/>
                </a:lnTo>
                <a:lnTo>
                  <a:pt x="44830" y="463804"/>
                </a:lnTo>
                <a:lnTo>
                  <a:pt x="44999" y="459613"/>
                </a:lnTo>
                <a:lnTo>
                  <a:pt x="45116" y="456686"/>
                </a:lnTo>
                <a:lnTo>
                  <a:pt x="45973" y="445436"/>
                </a:lnTo>
                <a:lnTo>
                  <a:pt x="47402" y="430067"/>
                </a:lnTo>
                <a:lnTo>
                  <a:pt x="51403" y="391255"/>
                </a:lnTo>
                <a:lnTo>
                  <a:pt x="52832" y="376491"/>
                </a:lnTo>
                <a:lnTo>
                  <a:pt x="53597" y="367395"/>
                </a:lnTo>
                <a:lnTo>
                  <a:pt x="53689" y="366299"/>
                </a:lnTo>
                <a:lnTo>
                  <a:pt x="53975" y="360680"/>
                </a:lnTo>
                <a:lnTo>
                  <a:pt x="48027" y="322585"/>
                </a:lnTo>
                <a:lnTo>
                  <a:pt x="22351" y="290449"/>
                </a:lnTo>
                <a:lnTo>
                  <a:pt x="22351" y="287909"/>
                </a:lnTo>
                <a:lnTo>
                  <a:pt x="48027" y="255500"/>
                </a:lnTo>
                <a:lnTo>
                  <a:pt x="53975" y="217424"/>
                </a:lnTo>
                <a:lnTo>
                  <a:pt x="53701" y="210439"/>
                </a:lnTo>
                <a:lnTo>
                  <a:pt x="53689" y="210115"/>
                </a:lnTo>
                <a:lnTo>
                  <a:pt x="52832" y="199628"/>
                </a:lnTo>
                <a:lnTo>
                  <a:pt x="51403" y="185973"/>
                </a:lnTo>
                <a:lnTo>
                  <a:pt x="49402" y="169164"/>
                </a:lnTo>
                <a:lnTo>
                  <a:pt x="47402" y="151852"/>
                </a:lnTo>
                <a:lnTo>
                  <a:pt x="45973" y="136874"/>
                </a:lnTo>
                <a:lnTo>
                  <a:pt x="45123" y="124332"/>
                </a:lnTo>
                <a:lnTo>
                  <a:pt x="44830" y="113919"/>
                </a:lnTo>
                <a:lnTo>
                  <a:pt x="45047" y="102157"/>
                </a:lnTo>
                <a:lnTo>
                  <a:pt x="50385" y="62017"/>
                </a:lnTo>
                <a:lnTo>
                  <a:pt x="69994" y="23227"/>
                </a:lnTo>
                <a:lnTo>
                  <a:pt x="95376" y="9906"/>
                </a:lnTo>
                <a:lnTo>
                  <a:pt x="9537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597146" y="1340307"/>
            <a:ext cx="95885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solidFill>
                  <a:srgbClr val="FF0000"/>
                </a:solidFill>
                <a:latin typeface="Cambria Math"/>
                <a:cs typeface="Cambria Math"/>
              </a:rPr>
              <a:t>𝐟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80641" y="1232103"/>
            <a:ext cx="28549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70810" algn="l"/>
              </a:tabLst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Here,</a:t>
            </a: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Modulation</a:t>
            </a:r>
            <a:r>
              <a:rPr sz="18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Index</a:t>
            </a:r>
            <a:r>
              <a:rPr sz="18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ambria Math"/>
                <a:cs typeface="Cambria Math"/>
              </a:rPr>
              <a:t>𝐦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	</a:t>
            </a:r>
            <a:r>
              <a:rPr sz="1800" spc="-5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985765" y="1400302"/>
            <a:ext cx="271780" cy="15240"/>
          </a:xfrm>
          <a:custGeom>
            <a:avLst/>
            <a:gdLst/>
            <a:ahLst/>
            <a:cxnLst/>
            <a:rect l="l" t="t" r="r" b="b"/>
            <a:pathLst>
              <a:path w="271779" h="15240">
                <a:moveTo>
                  <a:pt x="271272" y="0"/>
                </a:moveTo>
                <a:lnTo>
                  <a:pt x="0" y="0"/>
                </a:lnTo>
                <a:lnTo>
                  <a:pt x="0" y="15239"/>
                </a:lnTo>
                <a:lnTo>
                  <a:pt x="271272" y="15239"/>
                </a:lnTo>
                <a:lnTo>
                  <a:pt x="2712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976876" y="1058366"/>
            <a:ext cx="2908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0000"/>
                </a:solidFill>
                <a:latin typeface="Cambria Math"/>
                <a:cs typeface="Cambria Math"/>
              </a:rPr>
              <a:t>∆𝐅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73828" y="1385061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0000"/>
                </a:solidFill>
                <a:latin typeface="Cambria Math"/>
                <a:cs typeface="Cambria Math"/>
              </a:rPr>
              <a:t>𝐅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85079" y="1493266"/>
            <a:ext cx="17716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solidFill>
                  <a:srgbClr val="FF0000"/>
                </a:solidFill>
                <a:latin typeface="Cambria Math"/>
                <a:cs typeface="Cambria Math"/>
              </a:rPr>
              <a:t>𝐦</a:t>
            </a:r>
            <a:endParaRPr sz="1300">
              <a:latin typeface="Cambria Math"/>
              <a:cs typeface="Cambria Math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xmlns="" id="{11D6C4D4-846E-402F-B60B-9341F4D9C04A}"/>
                  </a:ext>
                </a:extLst>
              </p:cNvPr>
              <p:cNvSpPr txBox="1"/>
              <p:nvPr/>
            </p:nvSpPr>
            <p:spPr>
              <a:xfrm>
                <a:off x="381000" y="3890756"/>
                <a:ext cx="11181029" cy="2129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FM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sub>
                          </m:sSub>
                        </m:e>
                      </m:d>
                      <m:func>
                        <m:funcPr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e>
                      </m:func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400" b="0" dirty="0"/>
              </a:p>
              <a:p>
                <a:r>
                  <a:rPr lang="en-US" sz="2400" dirty="0"/>
                  <a:t>	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J</m:t>
                        </m:r>
                      </m:e>
                      <m:sub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f</m:t>
                            </m:r>
                          </m:sub>
                        </m:sSub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sub>
                                </m:sSub>
                                <m: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e>
                    </m:func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sub>
                                </m:sSub>
                                <m: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2400" dirty="0"/>
                  <a:t>)</a:t>
                </a:r>
                <a:r>
                  <a:rPr lang="en-US" sz="2400" b="0" dirty="0"/>
                  <a:t>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endParaRPr lang="en-US" sz="2400" b="0" dirty="0"/>
              </a:p>
              <a:p>
                <a:r>
                  <a:rPr lang="en-US" sz="2400" b="0" dirty="0"/>
                  <a:t>	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J</m:t>
                        </m:r>
                      </m:e>
                      <m:sub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f</m:t>
                            </m:r>
                          </m:sub>
                        </m:sSub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sub>
                                </m:sSub>
                                <m: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e>
                    </m:func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sub>
                                </m:sSub>
                                <m: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2400" dirty="0"/>
                  <a:t>)</a:t>
                </a:r>
                <a:r>
                  <a:rPr lang="en-US" sz="2400" b="0" dirty="0"/>
                  <a:t>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endParaRPr lang="en-US" sz="2400" b="0" dirty="0"/>
              </a:p>
              <a:p>
                <a:r>
                  <a:rPr lang="en-US" sz="2400" b="0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J</m:t>
                        </m:r>
                      </m:e>
                      <m:sub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f</m:t>
                            </m:r>
                          </m:sub>
                        </m:sSub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sub>
                                </m:sSub>
                                <m: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e>
                    </m:func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sub>
                                </m:sSub>
                                <m: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2400" dirty="0"/>
                  <a:t>)</a:t>
                </a:r>
                <a:r>
                  <a:rPr lang="en-US" sz="2400" b="0" dirty="0"/>
                  <a:t>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endParaRPr lang="en-US" sz="2400" b="0" dirty="0"/>
              </a:p>
              <a:p>
                <a:r>
                  <a:rPr lang="en-US" sz="2400" b="0" dirty="0"/>
                  <a:t>	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J</m:t>
                        </m:r>
                      </m:e>
                      <m:sub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f</m:t>
                            </m:r>
                          </m:sub>
                        </m:sSub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sub>
                                </m:sSub>
                                <m: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e>
                    </m:func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sub>
                                </m:sSub>
                                <m: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2400" dirty="0"/>
                  <a:t>)</a:t>
                </a:r>
                <a:r>
                  <a:rPr lang="en-US" sz="2400" b="0" dirty="0"/>
                  <a:t>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400" dirty="0"/>
                  <a:t>…</a:t>
                </a:r>
                <a:endParaRPr lang="en-US" sz="2400" b="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1D6C4D4-846E-402F-B60B-9341F4D9C0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890756"/>
                <a:ext cx="11181029" cy="2129044"/>
              </a:xfrm>
              <a:prstGeom prst="rect">
                <a:avLst/>
              </a:prstGeom>
              <a:blipFill>
                <a:blip r:embed="rId2"/>
                <a:stretch>
                  <a:fillRect l="-164" b="-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xmlns="" id="{E9D9D30C-7DB7-4926-89FC-A3AC37E023C3}"/>
                  </a:ext>
                </a:extLst>
              </p:cNvPr>
              <p:cNvSpPr txBox="1"/>
              <p:nvPr/>
            </p:nvSpPr>
            <p:spPr>
              <a:xfrm>
                <a:off x="381000" y="3007340"/>
                <a:ext cx="11506200" cy="673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/>
                            <a:cs typeface="Calibri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Calibri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Calibri"/>
                          </a:rPr>
                          <m:t>FM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/>
                            <a:cs typeface="Calibri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Calibri"/>
                          </a:rPr>
                          <m:t>t</m:t>
                        </m:r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/>
                            <a:cs typeface="Calibri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Calibri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Calibri"/>
                          </a:rPr>
                          <m:t>c</m:t>
                        </m:r>
                      </m:sub>
                    </m:sSub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cs typeface="Calibri"/>
                      </a:rPr>
                      <m:t>sin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cs typeface="Calibri"/>
                      </a:rPr>
                      <m:t>⁡(</m:t>
                    </m:r>
                    <m:sSub>
                      <m:sSubPr>
                        <m:ctrlPr>
                          <a:rPr lang="en-US" sz="2400" b="0" i="1" smtClean="0">
                            <a:latin typeface="Cambria Math"/>
                            <a:cs typeface="Calibri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Calibri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Calibri"/>
                          </a:rPr>
                          <m:t>c</m:t>
                        </m:r>
                      </m:sub>
                    </m:sSub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cs typeface="Calibri"/>
                      </a:rPr>
                      <m:t>t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cs typeface="Calibri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/>
                            <a:cs typeface="Calibri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Calibri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Calibri"/>
                          </a:rPr>
                          <m:t>f</m:t>
                        </m:r>
                      </m:sub>
                    </m:sSub>
                    <m:func>
                      <m:funcPr>
                        <m:ctrlPr>
                          <a:rPr lang="en-US" sz="2400" b="0" i="1" smtClean="0">
                            <a:latin typeface="Cambria Math"/>
                            <a:cs typeface="Calibri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Calibri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/>
                                <a:cs typeface="Calibri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/>
                                    <a:cs typeface="Calibri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ω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m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  <a:cs typeface="Calibri"/>
                              </a:rPr>
                              <m:t>t</m:t>
                            </m:r>
                          </m:e>
                        </m:d>
                      </m:e>
                    </m:func>
                    <m:r>
                      <a:rPr lang="en-US" sz="2400" b="0" i="0" smtClean="0">
                        <a:latin typeface="Cambria Math" panose="02040503050406030204" pitchFamily="18" charset="0"/>
                        <a:cs typeface="Calibri"/>
                      </a:rPr>
                      <m:t>)</m:t>
                    </m:r>
                  </m:oMath>
                </a14:m>
                <a:r>
                  <a:rPr lang="en-US" sz="2400" dirty="0">
                    <a:latin typeface="Calibri"/>
                    <a:cs typeface="Calibri"/>
                  </a:rPr>
                  <a:t> [Here, Modulation Index,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/>
                            <a:cs typeface="Calibri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𝑚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𝑓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/>
                            <a:cs typeface="Calibri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Calibri"/>
                          </a:rPr>
                          <m:t>Δ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Calibri"/>
                          </a:rPr>
                          <m:t>𝑓</m:t>
                        </m:r>
                      </m:num>
                      <m:den>
                        <m:sSub>
                          <m:sSubPr>
                            <m:ctrlPr>
                              <a:rPr lang="en-US" sz="2400" b="0" i="1" smtClean="0">
                                <a:latin typeface="Cambria Math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𝑚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cs typeface="Calibri"/>
                      </a:rPr>
                      <m:t>]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9D9D30C-7DB7-4926-89FC-A3AC37E023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007340"/>
                <a:ext cx="11506200" cy="673646"/>
              </a:xfrm>
              <a:prstGeom prst="rect">
                <a:avLst/>
              </a:prstGeom>
              <a:blipFill>
                <a:blip r:embed="rId3"/>
                <a:stretch>
                  <a:fillRect b="-18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015" y="614552"/>
            <a:ext cx="7800091" cy="612457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Bassel</a:t>
            </a:r>
            <a:r>
              <a:rPr sz="3200" u="sng" spc="-8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Function</a:t>
            </a:r>
            <a:r>
              <a:rPr sz="3200" u="sng" spc="-8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spc="-2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Table</a:t>
            </a:r>
            <a:r>
              <a:rPr sz="3200" u="sng" spc="-7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with</a:t>
            </a:r>
            <a:r>
              <a:rPr sz="3200" u="sng" spc="-6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respect</a:t>
            </a:r>
            <a:r>
              <a:rPr sz="3200" u="sng" spc="-5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to</a:t>
            </a:r>
            <a:r>
              <a:rPr sz="3200" u="sng" spc="-5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Modulation</a:t>
            </a:r>
            <a:r>
              <a:rPr sz="3200" u="sng" spc="-7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Index</a:t>
            </a:r>
            <a:endParaRPr sz="3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WBFM</a:t>
            </a:r>
            <a:r>
              <a:rPr sz="3200" u="sng" spc="-8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Generation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224739" y="609091"/>
            <a:ext cx="2326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sz="2400" b="1" spc="-25" dirty="0">
                <a:solidFill>
                  <a:srgbClr val="538235"/>
                </a:solidFill>
                <a:latin typeface="Calibri"/>
                <a:cs typeface="Calibri"/>
              </a:rPr>
              <a:t>1.</a:t>
            </a:r>
            <a:r>
              <a:rPr sz="2400" b="1" dirty="0">
                <a:solidFill>
                  <a:srgbClr val="538235"/>
                </a:solidFill>
                <a:latin typeface="Calibri"/>
                <a:cs typeface="Calibri"/>
              </a:rPr>
              <a:t>	Direct</a:t>
            </a:r>
            <a:r>
              <a:rPr sz="2400" b="1" spc="-55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538235"/>
                </a:solidFill>
                <a:latin typeface="Calibri"/>
                <a:cs typeface="Calibri"/>
              </a:rPr>
              <a:t>Method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97811" y="1281049"/>
            <a:ext cx="1491615" cy="384175"/>
            <a:chOff x="1797811" y="1281049"/>
            <a:chExt cx="1491615" cy="384175"/>
          </a:xfrm>
        </p:grpSpPr>
        <p:sp>
          <p:nvSpPr>
            <p:cNvPr id="5" name="object 5"/>
            <p:cNvSpPr/>
            <p:nvPr/>
          </p:nvSpPr>
          <p:spPr>
            <a:xfrm>
              <a:off x="1797811" y="1550416"/>
              <a:ext cx="1491615" cy="114300"/>
            </a:xfrm>
            <a:custGeom>
              <a:avLst/>
              <a:gdLst/>
              <a:ahLst/>
              <a:cxnLst/>
              <a:rect l="l" t="t" r="r" b="b"/>
              <a:pathLst>
                <a:path w="1491614" h="114300">
                  <a:moveTo>
                    <a:pt x="1377315" y="0"/>
                  </a:moveTo>
                  <a:lnTo>
                    <a:pt x="1377315" y="114300"/>
                  </a:lnTo>
                  <a:lnTo>
                    <a:pt x="1453515" y="76200"/>
                  </a:lnTo>
                  <a:lnTo>
                    <a:pt x="1396365" y="76200"/>
                  </a:lnTo>
                  <a:lnTo>
                    <a:pt x="1396365" y="38100"/>
                  </a:lnTo>
                  <a:lnTo>
                    <a:pt x="1453515" y="38100"/>
                  </a:lnTo>
                  <a:lnTo>
                    <a:pt x="1377315" y="0"/>
                  </a:lnTo>
                  <a:close/>
                </a:path>
                <a:path w="1491614" h="114300">
                  <a:moveTo>
                    <a:pt x="1377315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1377315" y="76200"/>
                  </a:lnTo>
                  <a:lnTo>
                    <a:pt x="1377315" y="38100"/>
                  </a:lnTo>
                  <a:close/>
                </a:path>
                <a:path w="1491614" h="114300">
                  <a:moveTo>
                    <a:pt x="1453515" y="38100"/>
                  </a:moveTo>
                  <a:lnTo>
                    <a:pt x="1396365" y="38100"/>
                  </a:lnTo>
                  <a:lnTo>
                    <a:pt x="1396365" y="76200"/>
                  </a:lnTo>
                  <a:lnTo>
                    <a:pt x="1453515" y="76200"/>
                  </a:lnTo>
                  <a:lnTo>
                    <a:pt x="1491615" y="57150"/>
                  </a:lnTo>
                  <a:lnTo>
                    <a:pt x="1453515" y="3810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22830" y="1281049"/>
              <a:ext cx="315595" cy="282575"/>
            </a:xfrm>
            <a:custGeom>
              <a:avLst/>
              <a:gdLst/>
              <a:ahLst/>
              <a:cxnLst/>
              <a:rect l="l" t="t" r="r" b="b"/>
              <a:pathLst>
                <a:path w="315594" h="282575">
                  <a:moveTo>
                    <a:pt x="225170" y="0"/>
                  </a:moveTo>
                  <a:lnTo>
                    <a:pt x="221233" y="11430"/>
                  </a:lnTo>
                  <a:lnTo>
                    <a:pt x="237541" y="18504"/>
                  </a:lnTo>
                  <a:lnTo>
                    <a:pt x="251586" y="28305"/>
                  </a:lnTo>
                  <a:lnTo>
                    <a:pt x="280110" y="73852"/>
                  </a:lnTo>
                  <a:lnTo>
                    <a:pt x="288365" y="115339"/>
                  </a:lnTo>
                  <a:lnTo>
                    <a:pt x="289432" y="139700"/>
                  </a:lnTo>
                  <a:lnTo>
                    <a:pt x="288387" y="164580"/>
                  </a:lnTo>
                  <a:lnTo>
                    <a:pt x="280056" y="207529"/>
                  </a:lnTo>
                  <a:lnTo>
                    <a:pt x="251634" y="253730"/>
                  </a:lnTo>
                  <a:lnTo>
                    <a:pt x="221614" y="270764"/>
                  </a:lnTo>
                  <a:lnTo>
                    <a:pt x="225170" y="282321"/>
                  </a:lnTo>
                  <a:lnTo>
                    <a:pt x="263667" y="264191"/>
                  </a:lnTo>
                  <a:lnTo>
                    <a:pt x="291972" y="232918"/>
                  </a:lnTo>
                  <a:lnTo>
                    <a:pt x="309403" y="191071"/>
                  </a:lnTo>
                  <a:lnTo>
                    <a:pt x="315213" y="141224"/>
                  </a:lnTo>
                  <a:lnTo>
                    <a:pt x="313777" y="115623"/>
                  </a:lnTo>
                  <a:lnTo>
                    <a:pt x="313761" y="115339"/>
                  </a:lnTo>
                  <a:lnTo>
                    <a:pt x="302140" y="69429"/>
                  </a:lnTo>
                  <a:lnTo>
                    <a:pt x="279017" y="32093"/>
                  </a:lnTo>
                  <a:lnTo>
                    <a:pt x="245627" y="7379"/>
                  </a:lnTo>
                  <a:lnTo>
                    <a:pt x="225170" y="0"/>
                  </a:lnTo>
                  <a:close/>
                </a:path>
                <a:path w="315594" h="282575">
                  <a:moveTo>
                    <a:pt x="90042" y="0"/>
                  </a:moveTo>
                  <a:lnTo>
                    <a:pt x="51641" y="18081"/>
                  </a:lnTo>
                  <a:lnTo>
                    <a:pt x="23240" y="49403"/>
                  </a:lnTo>
                  <a:lnTo>
                    <a:pt x="5810" y="91408"/>
                  </a:lnTo>
                  <a:lnTo>
                    <a:pt x="85" y="139700"/>
                  </a:lnTo>
                  <a:lnTo>
                    <a:pt x="0" y="141224"/>
                  </a:lnTo>
                  <a:lnTo>
                    <a:pt x="5810" y="191071"/>
                  </a:lnTo>
                  <a:lnTo>
                    <a:pt x="23240" y="232918"/>
                  </a:lnTo>
                  <a:lnTo>
                    <a:pt x="51546" y="264191"/>
                  </a:lnTo>
                  <a:lnTo>
                    <a:pt x="90042" y="282321"/>
                  </a:lnTo>
                  <a:lnTo>
                    <a:pt x="93598" y="270764"/>
                  </a:lnTo>
                  <a:lnTo>
                    <a:pt x="77531" y="263646"/>
                  </a:lnTo>
                  <a:lnTo>
                    <a:pt x="63642" y="253730"/>
                  </a:lnTo>
                  <a:lnTo>
                    <a:pt x="35210" y="207529"/>
                  </a:lnTo>
                  <a:lnTo>
                    <a:pt x="26828" y="164580"/>
                  </a:lnTo>
                  <a:lnTo>
                    <a:pt x="25845" y="141224"/>
                  </a:lnTo>
                  <a:lnTo>
                    <a:pt x="25780" y="139700"/>
                  </a:lnTo>
                  <a:lnTo>
                    <a:pt x="29971" y="93678"/>
                  </a:lnTo>
                  <a:lnTo>
                    <a:pt x="42544" y="56134"/>
                  </a:lnTo>
                  <a:lnTo>
                    <a:pt x="77799" y="18504"/>
                  </a:lnTo>
                  <a:lnTo>
                    <a:pt x="94106" y="11430"/>
                  </a:lnTo>
                  <a:lnTo>
                    <a:pt x="900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507616" y="1190701"/>
            <a:ext cx="1493520" cy="1122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𝐦</a:t>
            </a:r>
            <a:r>
              <a:rPr sz="2400" spc="434" dirty="0">
                <a:latin typeface="Cambria Math"/>
                <a:cs typeface="Cambria Math"/>
              </a:rPr>
              <a:t> </a:t>
            </a:r>
            <a:r>
              <a:rPr sz="2400" spc="-60" dirty="0">
                <a:latin typeface="Cambria Math"/>
                <a:cs typeface="Cambria Math"/>
              </a:rPr>
              <a:t>𝐭 </a:t>
            </a:r>
            <a:r>
              <a:rPr sz="2400" b="1" spc="-10" dirty="0">
                <a:latin typeface="Calibri"/>
                <a:cs typeface="Calibri"/>
              </a:rPr>
              <a:t>Modulating Signal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89427" y="1188745"/>
            <a:ext cx="1664589" cy="84173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289427" y="1188745"/>
            <a:ext cx="1664970" cy="842010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2184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20"/>
              </a:spcBef>
            </a:pPr>
            <a:r>
              <a:rPr sz="2400" b="1" spc="-25" dirty="0">
                <a:latin typeface="Calibri"/>
                <a:cs typeface="Calibri"/>
              </a:rPr>
              <a:t>VCO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954015" y="1552447"/>
            <a:ext cx="1309370" cy="114300"/>
          </a:xfrm>
          <a:custGeom>
            <a:avLst/>
            <a:gdLst/>
            <a:ahLst/>
            <a:cxnLst/>
            <a:rect l="l" t="t" r="r" b="b"/>
            <a:pathLst>
              <a:path w="1309370" h="114300">
                <a:moveTo>
                  <a:pt x="1195070" y="0"/>
                </a:moveTo>
                <a:lnTo>
                  <a:pt x="1195070" y="114300"/>
                </a:lnTo>
                <a:lnTo>
                  <a:pt x="1271270" y="76200"/>
                </a:lnTo>
                <a:lnTo>
                  <a:pt x="1214120" y="76200"/>
                </a:lnTo>
                <a:lnTo>
                  <a:pt x="1214120" y="38100"/>
                </a:lnTo>
                <a:lnTo>
                  <a:pt x="1271270" y="38100"/>
                </a:lnTo>
                <a:lnTo>
                  <a:pt x="1195070" y="0"/>
                </a:lnTo>
                <a:close/>
              </a:path>
              <a:path w="1309370" h="114300">
                <a:moveTo>
                  <a:pt x="119507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195070" y="76200"/>
                </a:lnTo>
                <a:lnTo>
                  <a:pt x="1195070" y="38100"/>
                </a:lnTo>
                <a:close/>
              </a:path>
              <a:path w="1309370" h="114300">
                <a:moveTo>
                  <a:pt x="1271270" y="38100"/>
                </a:moveTo>
                <a:lnTo>
                  <a:pt x="1214120" y="38100"/>
                </a:lnTo>
                <a:lnTo>
                  <a:pt x="1214120" y="76200"/>
                </a:lnTo>
                <a:lnTo>
                  <a:pt x="1271270" y="76200"/>
                </a:lnTo>
                <a:lnTo>
                  <a:pt x="1309370" y="57150"/>
                </a:lnTo>
                <a:lnTo>
                  <a:pt x="1271270" y="3810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688329" y="1202182"/>
            <a:ext cx="87884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Calibri"/>
                <a:cs typeface="Calibri"/>
              </a:rPr>
              <a:t>WBFM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latin typeface="Calibri"/>
                <a:cs typeface="Calibri"/>
              </a:rPr>
              <a:t>Signal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73044" y="2911982"/>
            <a:ext cx="236092" cy="211709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0897107" y="2462402"/>
            <a:ext cx="315595" cy="282575"/>
          </a:xfrm>
          <a:custGeom>
            <a:avLst/>
            <a:gdLst/>
            <a:ahLst/>
            <a:cxnLst/>
            <a:rect l="l" t="t" r="r" b="b"/>
            <a:pathLst>
              <a:path w="315595" h="282575">
                <a:moveTo>
                  <a:pt x="225171" y="0"/>
                </a:moveTo>
                <a:lnTo>
                  <a:pt x="221107" y="11430"/>
                </a:lnTo>
                <a:lnTo>
                  <a:pt x="237470" y="18522"/>
                </a:lnTo>
                <a:lnTo>
                  <a:pt x="251523" y="28352"/>
                </a:lnTo>
                <a:lnTo>
                  <a:pt x="280056" y="73852"/>
                </a:lnTo>
                <a:lnTo>
                  <a:pt x="288347" y="115341"/>
                </a:lnTo>
                <a:lnTo>
                  <a:pt x="289433" y="139700"/>
                </a:lnTo>
                <a:lnTo>
                  <a:pt x="288385" y="164633"/>
                </a:lnTo>
                <a:lnTo>
                  <a:pt x="280003" y="207547"/>
                </a:lnTo>
                <a:lnTo>
                  <a:pt x="251523" y="253841"/>
                </a:lnTo>
                <a:lnTo>
                  <a:pt x="221615" y="270891"/>
                </a:lnTo>
                <a:lnTo>
                  <a:pt x="225171" y="282321"/>
                </a:lnTo>
                <a:lnTo>
                  <a:pt x="263667" y="264255"/>
                </a:lnTo>
                <a:lnTo>
                  <a:pt x="291973" y="233045"/>
                </a:lnTo>
                <a:lnTo>
                  <a:pt x="309403" y="191134"/>
                </a:lnTo>
                <a:lnTo>
                  <a:pt x="315214" y="141224"/>
                </a:lnTo>
                <a:lnTo>
                  <a:pt x="313775" y="115623"/>
                </a:lnTo>
                <a:lnTo>
                  <a:pt x="313759" y="115341"/>
                </a:lnTo>
                <a:lnTo>
                  <a:pt x="302087" y="69482"/>
                </a:lnTo>
                <a:lnTo>
                  <a:pt x="278963" y="32146"/>
                </a:lnTo>
                <a:lnTo>
                  <a:pt x="245625" y="7381"/>
                </a:lnTo>
                <a:lnTo>
                  <a:pt x="225171" y="0"/>
                </a:lnTo>
                <a:close/>
              </a:path>
              <a:path w="315595" h="282575">
                <a:moveTo>
                  <a:pt x="90043" y="0"/>
                </a:moveTo>
                <a:lnTo>
                  <a:pt x="51593" y="18097"/>
                </a:lnTo>
                <a:lnTo>
                  <a:pt x="23241" y="49530"/>
                </a:lnTo>
                <a:lnTo>
                  <a:pt x="5810" y="91424"/>
                </a:lnTo>
                <a:lnTo>
                  <a:pt x="85" y="139700"/>
                </a:lnTo>
                <a:lnTo>
                  <a:pt x="0" y="141224"/>
                </a:lnTo>
                <a:lnTo>
                  <a:pt x="5794" y="191134"/>
                </a:lnTo>
                <a:lnTo>
                  <a:pt x="23114" y="233045"/>
                </a:lnTo>
                <a:lnTo>
                  <a:pt x="51482" y="264255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475" y="263771"/>
                </a:lnTo>
                <a:lnTo>
                  <a:pt x="63579" y="253841"/>
                </a:lnTo>
                <a:lnTo>
                  <a:pt x="35083" y="207547"/>
                </a:lnTo>
                <a:lnTo>
                  <a:pt x="26701" y="164633"/>
                </a:lnTo>
                <a:lnTo>
                  <a:pt x="25718" y="141224"/>
                </a:lnTo>
                <a:lnTo>
                  <a:pt x="25654" y="139700"/>
                </a:lnTo>
                <a:lnTo>
                  <a:pt x="29845" y="93678"/>
                </a:lnTo>
                <a:lnTo>
                  <a:pt x="42418" y="56134"/>
                </a:lnTo>
                <a:lnTo>
                  <a:pt x="77690" y="18522"/>
                </a:lnTo>
                <a:lnTo>
                  <a:pt x="93980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86639" y="2234415"/>
            <a:ext cx="11198860" cy="1383030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507365" indent="-456565">
              <a:lnSpc>
                <a:spcPct val="100000"/>
              </a:lnSpc>
              <a:spcBef>
                <a:spcPts val="1185"/>
              </a:spcBef>
              <a:buFont typeface="Wingdings"/>
              <a:buChar char=""/>
              <a:tabLst>
                <a:tab pos="5073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VCO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Produce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Output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whose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frequency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proportional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input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message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𝐦</a:t>
            </a:r>
            <a:r>
              <a:rPr sz="2400" spc="38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𝐭</a:t>
            </a:r>
            <a:r>
              <a:rPr sz="2400" spc="38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1333500">
              <a:lnSpc>
                <a:spcPct val="100000"/>
              </a:lnSpc>
              <a:spcBef>
                <a:spcPts val="815"/>
              </a:spcBef>
            </a:pPr>
            <a:r>
              <a:rPr sz="1800" dirty="0">
                <a:solidFill>
                  <a:srgbClr val="0D0D0D"/>
                </a:solidFill>
                <a:latin typeface="Cambria Math"/>
                <a:cs typeface="Cambria Math"/>
              </a:rPr>
              <a:t>⟹</a:t>
            </a:r>
            <a:r>
              <a:rPr sz="1800" spc="95" dirty="0">
                <a:solidFill>
                  <a:srgbClr val="0D0D0D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D0D0D"/>
                </a:solidFill>
                <a:latin typeface="Cambria Math"/>
                <a:cs typeface="Cambria Math"/>
              </a:rPr>
              <a:t>𝐟</a:t>
            </a:r>
            <a:r>
              <a:rPr sz="1950" baseline="-14957" dirty="0">
                <a:solidFill>
                  <a:srgbClr val="0D0D0D"/>
                </a:solidFill>
                <a:latin typeface="Cambria Math"/>
                <a:cs typeface="Cambria Math"/>
              </a:rPr>
              <a:t>𝐨</a:t>
            </a:r>
            <a:r>
              <a:rPr sz="1950" spc="397" baseline="-14957" dirty="0">
                <a:solidFill>
                  <a:srgbClr val="0D0D0D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D0D0D"/>
                </a:solidFill>
                <a:latin typeface="Cambria Math"/>
                <a:cs typeface="Cambria Math"/>
              </a:rPr>
              <a:t>=</a:t>
            </a:r>
            <a:r>
              <a:rPr sz="1800" spc="95" dirty="0">
                <a:solidFill>
                  <a:srgbClr val="0D0D0D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D0D0D"/>
                </a:solidFill>
                <a:latin typeface="Cambria Math"/>
                <a:cs typeface="Cambria Math"/>
              </a:rPr>
              <a:t>𝐟</a:t>
            </a:r>
            <a:r>
              <a:rPr sz="1950" baseline="-14957" dirty="0">
                <a:solidFill>
                  <a:srgbClr val="0D0D0D"/>
                </a:solidFill>
                <a:latin typeface="Cambria Math"/>
                <a:cs typeface="Cambria Math"/>
              </a:rPr>
              <a:t>𝐜</a:t>
            </a:r>
            <a:r>
              <a:rPr sz="1950" spc="254" baseline="-14957" dirty="0">
                <a:solidFill>
                  <a:srgbClr val="0D0D0D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D0D0D"/>
                </a:solidFill>
                <a:latin typeface="Cambria Math"/>
                <a:cs typeface="Cambria Math"/>
              </a:rPr>
              <a:t>+</a:t>
            </a:r>
            <a:r>
              <a:rPr sz="1800" spc="5" dirty="0">
                <a:solidFill>
                  <a:srgbClr val="0D0D0D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D0D0D"/>
                </a:solidFill>
                <a:latin typeface="Cambria Math"/>
                <a:cs typeface="Cambria Math"/>
              </a:rPr>
              <a:t>𝐤</a:t>
            </a:r>
            <a:r>
              <a:rPr sz="1950" baseline="-14957" dirty="0">
                <a:solidFill>
                  <a:srgbClr val="0D0D0D"/>
                </a:solidFill>
                <a:latin typeface="Cambria Math"/>
                <a:cs typeface="Cambria Math"/>
              </a:rPr>
              <a:t>𝐅</a:t>
            </a:r>
            <a:r>
              <a:rPr sz="1800" dirty="0">
                <a:solidFill>
                  <a:srgbClr val="0D0D0D"/>
                </a:solidFill>
                <a:latin typeface="Cambria Math"/>
                <a:cs typeface="Cambria Math"/>
              </a:rPr>
              <a:t>𝐦</a:t>
            </a:r>
            <a:r>
              <a:rPr sz="1800" spc="340" dirty="0">
                <a:solidFill>
                  <a:srgbClr val="0D0D0D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0D0D0D"/>
                </a:solidFill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  <a:p>
            <a:pPr marL="50800">
              <a:lnSpc>
                <a:spcPct val="100000"/>
              </a:lnSpc>
              <a:spcBef>
                <a:spcPts val="865"/>
              </a:spcBef>
              <a:tabLst>
                <a:tab pos="507365" algn="l"/>
              </a:tabLst>
            </a:pPr>
            <a:r>
              <a:rPr sz="2400" b="1" spc="-25" dirty="0">
                <a:solidFill>
                  <a:srgbClr val="538235"/>
                </a:solidFill>
                <a:latin typeface="Calibri"/>
                <a:cs typeface="Calibri"/>
              </a:rPr>
              <a:t>2.</a:t>
            </a:r>
            <a:r>
              <a:rPr sz="2400" b="1" dirty="0">
                <a:solidFill>
                  <a:srgbClr val="538235"/>
                </a:solidFill>
                <a:latin typeface="Calibri"/>
                <a:cs typeface="Calibri"/>
              </a:rPr>
              <a:t>	Indirect</a:t>
            </a:r>
            <a:r>
              <a:rPr sz="2400" b="1" spc="-65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538235"/>
                </a:solidFill>
                <a:latin typeface="Calibri"/>
                <a:cs typeface="Calibri"/>
              </a:rPr>
              <a:t>Method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452625" y="3754272"/>
            <a:ext cx="3592195" cy="842010"/>
            <a:chOff x="1452625" y="3754272"/>
            <a:chExt cx="3592195" cy="842010"/>
          </a:xfrm>
        </p:grpSpPr>
        <p:sp>
          <p:nvSpPr>
            <p:cNvPr id="16" name="object 16"/>
            <p:cNvSpPr/>
            <p:nvPr/>
          </p:nvSpPr>
          <p:spPr>
            <a:xfrm>
              <a:off x="1452625" y="4115943"/>
              <a:ext cx="1491615" cy="114300"/>
            </a:xfrm>
            <a:custGeom>
              <a:avLst/>
              <a:gdLst/>
              <a:ahLst/>
              <a:cxnLst/>
              <a:rect l="l" t="t" r="r" b="b"/>
              <a:pathLst>
                <a:path w="1491614" h="114300">
                  <a:moveTo>
                    <a:pt x="1377315" y="0"/>
                  </a:moveTo>
                  <a:lnTo>
                    <a:pt x="1377315" y="114299"/>
                  </a:lnTo>
                  <a:lnTo>
                    <a:pt x="1453515" y="76199"/>
                  </a:lnTo>
                  <a:lnTo>
                    <a:pt x="1396365" y="76199"/>
                  </a:lnTo>
                  <a:lnTo>
                    <a:pt x="1396365" y="38099"/>
                  </a:lnTo>
                  <a:lnTo>
                    <a:pt x="1453515" y="38099"/>
                  </a:lnTo>
                  <a:lnTo>
                    <a:pt x="1377315" y="0"/>
                  </a:lnTo>
                  <a:close/>
                </a:path>
                <a:path w="1491614" h="114300">
                  <a:moveTo>
                    <a:pt x="1377315" y="38099"/>
                  </a:moveTo>
                  <a:lnTo>
                    <a:pt x="0" y="38099"/>
                  </a:lnTo>
                  <a:lnTo>
                    <a:pt x="0" y="76199"/>
                  </a:lnTo>
                  <a:lnTo>
                    <a:pt x="1377315" y="76199"/>
                  </a:lnTo>
                  <a:lnTo>
                    <a:pt x="1377315" y="38099"/>
                  </a:lnTo>
                  <a:close/>
                </a:path>
                <a:path w="1491614" h="114300">
                  <a:moveTo>
                    <a:pt x="1453515" y="38099"/>
                  </a:moveTo>
                  <a:lnTo>
                    <a:pt x="1396365" y="38099"/>
                  </a:lnTo>
                  <a:lnTo>
                    <a:pt x="1396365" y="76199"/>
                  </a:lnTo>
                  <a:lnTo>
                    <a:pt x="1453515" y="76199"/>
                  </a:lnTo>
                  <a:lnTo>
                    <a:pt x="1491615" y="57149"/>
                  </a:lnTo>
                  <a:lnTo>
                    <a:pt x="1453515" y="38099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44240" y="3754272"/>
              <a:ext cx="2100072" cy="84173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2944241" y="3754272"/>
            <a:ext cx="2100580" cy="842010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3619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4"/>
              </a:spcBef>
            </a:pPr>
            <a:r>
              <a:rPr sz="2400" b="1" spc="-20" dirty="0">
                <a:latin typeface="Calibri"/>
                <a:cs typeface="Calibri"/>
              </a:rPr>
              <a:t>NBFM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2400" b="1" spc="-10" dirty="0">
                <a:latin typeface="Calibri"/>
                <a:cs typeface="Calibri"/>
              </a:rPr>
              <a:t>Modulator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044313" y="3752240"/>
            <a:ext cx="3965575" cy="842010"/>
            <a:chOff x="5044313" y="3752240"/>
            <a:chExt cx="3965575" cy="842010"/>
          </a:xfrm>
        </p:grpSpPr>
        <p:sp>
          <p:nvSpPr>
            <p:cNvPr id="20" name="object 20"/>
            <p:cNvSpPr/>
            <p:nvPr/>
          </p:nvSpPr>
          <p:spPr>
            <a:xfrm>
              <a:off x="5044313" y="4116069"/>
              <a:ext cx="1865630" cy="114300"/>
            </a:xfrm>
            <a:custGeom>
              <a:avLst/>
              <a:gdLst/>
              <a:ahLst/>
              <a:cxnLst/>
              <a:rect l="l" t="t" r="r" b="b"/>
              <a:pathLst>
                <a:path w="1865629" h="114300">
                  <a:moveTo>
                    <a:pt x="1750949" y="0"/>
                  </a:moveTo>
                  <a:lnTo>
                    <a:pt x="1751076" y="114299"/>
                  </a:lnTo>
                  <a:lnTo>
                    <a:pt x="1826981" y="76220"/>
                  </a:lnTo>
                  <a:lnTo>
                    <a:pt x="1769999" y="76220"/>
                  </a:lnTo>
                  <a:lnTo>
                    <a:pt x="1769999" y="38120"/>
                  </a:lnTo>
                  <a:lnTo>
                    <a:pt x="1827359" y="38120"/>
                  </a:lnTo>
                  <a:lnTo>
                    <a:pt x="1750949" y="0"/>
                  </a:lnTo>
                  <a:close/>
                </a:path>
                <a:path w="1865629" h="114300">
                  <a:moveTo>
                    <a:pt x="1750991" y="38120"/>
                  </a:moveTo>
                  <a:lnTo>
                    <a:pt x="0" y="40004"/>
                  </a:lnTo>
                  <a:lnTo>
                    <a:pt x="0" y="78104"/>
                  </a:lnTo>
                  <a:lnTo>
                    <a:pt x="1751033" y="76220"/>
                  </a:lnTo>
                  <a:lnTo>
                    <a:pt x="1750991" y="38120"/>
                  </a:lnTo>
                  <a:close/>
                </a:path>
                <a:path w="1865629" h="114300">
                  <a:moveTo>
                    <a:pt x="1827359" y="38120"/>
                  </a:moveTo>
                  <a:lnTo>
                    <a:pt x="1769999" y="38120"/>
                  </a:lnTo>
                  <a:lnTo>
                    <a:pt x="1769999" y="76220"/>
                  </a:lnTo>
                  <a:lnTo>
                    <a:pt x="1826981" y="76220"/>
                  </a:lnTo>
                  <a:lnTo>
                    <a:pt x="1865249" y="57022"/>
                  </a:lnTo>
                  <a:lnTo>
                    <a:pt x="1827359" y="3812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09561" y="3752240"/>
              <a:ext cx="2100072" cy="84173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6909561" y="3752240"/>
            <a:ext cx="2100580" cy="842010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36194" rIns="0" bIns="0" rtlCol="0">
            <a:spAutoFit/>
          </a:bodyPr>
          <a:lstStyle/>
          <a:p>
            <a:pPr marL="420370" marR="383540" indent="-27940">
              <a:lnSpc>
                <a:spcPct val="100000"/>
              </a:lnSpc>
              <a:spcBef>
                <a:spcPts val="284"/>
              </a:spcBef>
            </a:pPr>
            <a:r>
              <a:rPr sz="2400" b="1" spc="-10" dirty="0">
                <a:latin typeface="Calibri"/>
                <a:cs typeface="Calibri"/>
              </a:rPr>
              <a:t>Frequency Multiplier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009633" y="4114165"/>
            <a:ext cx="931544" cy="114300"/>
          </a:xfrm>
          <a:custGeom>
            <a:avLst/>
            <a:gdLst/>
            <a:ahLst/>
            <a:cxnLst/>
            <a:rect l="l" t="t" r="r" b="b"/>
            <a:pathLst>
              <a:path w="931545" h="114300">
                <a:moveTo>
                  <a:pt x="816991" y="0"/>
                </a:moveTo>
                <a:lnTo>
                  <a:pt x="817075" y="38016"/>
                </a:lnTo>
                <a:lnTo>
                  <a:pt x="817160" y="76116"/>
                </a:lnTo>
                <a:lnTo>
                  <a:pt x="817244" y="114299"/>
                </a:lnTo>
                <a:lnTo>
                  <a:pt x="893190" y="76116"/>
                </a:lnTo>
                <a:lnTo>
                  <a:pt x="836168" y="76116"/>
                </a:lnTo>
                <a:lnTo>
                  <a:pt x="836047" y="39877"/>
                </a:lnTo>
                <a:lnTo>
                  <a:pt x="836041" y="38016"/>
                </a:lnTo>
                <a:lnTo>
                  <a:pt x="893447" y="38016"/>
                </a:lnTo>
                <a:lnTo>
                  <a:pt x="816991" y="0"/>
                </a:lnTo>
                <a:close/>
              </a:path>
              <a:path w="931545" h="114300">
                <a:moveTo>
                  <a:pt x="817075" y="38016"/>
                </a:moveTo>
                <a:lnTo>
                  <a:pt x="0" y="39877"/>
                </a:lnTo>
                <a:lnTo>
                  <a:pt x="0" y="77977"/>
                </a:lnTo>
                <a:lnTo>
                  <a:pt x="817160" y="76116"/>
                </a:lnTo>
                <a:lnTo>
                  <a:pt x="817075" y="38016"/>
                </a:lnTo>
                <a:close/>
              </a:path>
              <a:path w="931545" h="114300">
                <a:moveTo>
                  <a:pt x="893447" y="38016"/>
                </a:moveTo>
                <a:lnTo>
                  <a:pt x="836041" y="38016"/>
                </a:lnTo>
                <a:lnTo>
                  <a:pt x="836047" y="39877"/>
                </a:lnTo>
                <a:lnTo>
                  <a:pt x="836168" y="76116"/>
                </a:lnTo>
                <a:lnTo>
                  <a:pt x="893190" y="76116"/>
                </a:lnTo>
                <a:lnTo>
                  <a:pt x="931418" y="56895"/>
                </a:lnTo>
                <a:lnTo>
                  <a:pt x="893447" y="38016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9359010" y="3777233"/>
            <a:ext cx="8788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Calibri"/>
                <a:cs typeface="Calibri"/>
              </a:rPr>
              <a:t>WBFM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latin typeface="Calibri"/>
                <a:cs typeface="Calibri"/>
              </a:rPr>
              <a:t>Signal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048816" y="3857116"/>
            <a:ext cx="315595" cy="282575"/>
          </a:xfrm>
          <a:custGeom>
            <a:avLst/>
            <a:gdLst/>
            <a:ahLst/>
            <a:cxnLst/>
            <a:rect l="l" t="t" r="r" b="b"/>
            <a:pathLst>
              <a:path w="315594" h="282575">
                <a:moveTo>
                  <a:pt x="225247" y="0"/>
                </a:moveTo>
                <a:lnTo>
                  <a:pt x="221183" y="11556"/>
                </a:lnTo>
                <a:lnTo>
                  <a:pt x="237546" y="18631"/>
                </a:lnTo>
                <a:lnTo>
                  <a:pt x="251599" y="28432"/>
                </a:lnTo>
                <a:lnTo>
                  <a:pt x="280133" y="73925"/>
                </a:lnTo>
                <a:lnTo>
                  <a:pt x="288425" y="115466"/>
                </a:lnTo>
                <a:lnTo>
                  <a:pt x="289509" y="139826"/>
                </a:lnTo>
                <a:lnTo>
                  <a:pt x="288461" y="164707"/>
                </a:lnTo>
                <a:lnTo>
                  <a:pt x="280079" y="207656"/>
                </a:lnTo>
                <a:lnTo>
                  <a:pt x="251583" y="253857"/>
                </a:lnTo>
                <a:lnTo>
                  <a:pt x="221564" y="270890"/>
                </a:lnTo>
                <a:lnTo>
                  <a:pt x="225247" y="282447"/>
                </a:lnTo>
                <a:lnTo>
                  <a:pt x="263744" y="264318"/>
                </a:lnTo>
                <a:lnTo>
                  <a:pt x="292049" y="233044"/>
                </a:lnTo>
                <a:lnTo>
                  <a:pt x="309479" y="191150"/>
                </a:lnTo>
                <a:lnTo>
                  <a:pt x="315290" y="141350"/>
                </a:lnTo>
                <a:lnTo>
                  <a:pt x="313832" y="115732"/>
                </a:lnTo>
                <a:lnTo>
                  <a:pt x="302109" y="69556"/>
                </a:lnTo>
                <a:lnTo>
                  <a:pt x="279039" y="32218"/>
                </a:lnTo>
                <a:lnTo>
                  <a:pt x="245702" y="7453"/>
                </a:lnTo>
                <a:lnTo>
                  <a:pt x="225247" y="0"/>
                </a:lnTo>
                <a:close/>
              </a:path>
              <a:path w="315594" h="282575">
                <a:moveTo>
                  <a:pt x="90043" y="0"/>
                </a:moveTo>
                <a:lnTo>
                  <a:pt x="51623" y="18192"/>
                </a:lnTo>
                <a:lnTo>
                  <a:pt x="23291" y="49529"/>
                </a:lnTo>
                <a:lnTo>
                  <a:pt x="5821" y="91535"/>
                </a:lnTo>
                <a:lnTo>
                  <a:pt x="85" y="139826"/>
                </a:lnTo>
                <a:lnTo>
                  <a:pt x="0" y="141350"/>
                </a:lnTo>
                <a:lnTo>
                  <a:pt x="5802" y="191150"/>
                </a:lnTo>
                <a:lnTo>
                  <a:pt x="23215" y="233044"/>
                </a:lnTo>
                <a:lnTo>
                  <a:pt x="51533" y="264318"/>
                </a:lnTo>
                <a:lnTo>
                  <a:pt x="90043" y="282447"/>
                </a:lnTo>
                <a:lnTo>
                  <a:pt x="93611" y="270890"/>
                </a:lnTo>
                <a:lnTo>
                  <a:pt x="77521" y="263773"/>
                </a:lnTo>
                <a:lnTo>
                  <a:pt x="63638" y="253857"/>
                </a:lnTo>
                <a:lnTo>
                  <a:pt x="35167" y="207656"/>
                </a:lnTo>
                <a:lnTo>
                  <a:pt x="26790" y="164707"/>
                </a:lnTo>
                <a:lnTo>
                  <a:pt x="25742" y="139826"/>
                </a:lnTo>
                <a:lnTo>
                  <a:pt x="26790" y="115732"/>
                </a:lnTo>
                <a:lnTo>
                  <a:pt x="35167" y="73925"/>
                </a:lnTo>
                <a:lnTo>
                  <a:pt x="63750" y="28432"/>
                </a:lnTo>
                <a:lnTo>
                  <a:pt x="94056" y="11556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33450" y="3767404"/>
            <a:ext cx="1493520" cy="1122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𝐦</a:t>
            </a:r>
            <a:r>
              <a:rPr sz="2400" spc="434" dirty="0">
                <a:latin typeface="Cambria Math"/>
                <a:cs typeface="Cambria Math"/>
              </a:rPr>
              <a:t> </a:t>
            </a:r>
            <a:r>
              <a:rPr sz="2400" spc="-60" dirty="0">
                <a:latin typeface="Cambria Math"/>
                <a:cs typeface="Cambria Math"/>
              </a:rPr>
              <a:t>𝐭 </a:t>
            </a:r>
            <a:r>
              <a:rPr sz="2400" b="1" spc="-10" dirty="0">
                <a:latin typeface="Calibri"/>
                <a:cs typeface="Calibri"/>
              </a:rPr>
              <a:t>Modulating Signal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937127" y="4596003"/>
            <a:ext cx="1341755" cy="662305"/>
            <a:chOff x="3937127" y="4596003"/>
            <a:chExt cx="1341755" cy="662305"/>
          </a:xfrm>
        </p:grpSpPr>
        <p:sp>
          <p:nvSpPr>
            <p:cNvPr id="28" name="object 28"/>
            <p:cNvSpPr/>
            <p:nvPr/>
          </p:nvSpPr>
          <p:spPr>
            <a:xfrm>
              <a:off x="3937127" y="4596003"/>
              <a:ext cx="114300" cy="662305"/>
            </a:xfrm>
            <a:custGeom>
              <a:avLst/>
              <a:gdLst/>
              <a:ahLst/>
              <a:cxnLst/>
              <a:rect l="l" t="t" r="r" b="b"/>
              <a:pathLst>
                <a:path w="114300" h="662304">
                  <a:moveTo>
                    <a:pt x="76200" y="95250"/>
                  </a:moveTo>
                  <a:lnTo>
                    <a:pt x="38100" y="95250"/>
                  </a:lnTo>
                  <a:lnTo>
                    <a:pt x="38100" y="661797"/>
                  </a:lnTo>
                  <a:lnTo>
                    <a:pt x="76200" y="661797"/>
                  </a:lnTo>
                  <a:lnTo>
                    <a:pt x="76200" y="95250"/>
                  </a:lnTo>
                  <a:close/>
                </a:path>
                <a:path w="114300" h="662304">
                  <a:moveTo>
                    <a:pt x="57150" y="0"/>
                  </a:moveTo>
                  <a:lnTo>
                    <a:pt x="0" y="114300"/>
                  </a:lnTo>
                  <a:lnTo>
                    <a:pt x="38100" y="114300"/>
                  </a:lnTo>
                  <a:lnTo>
                    <a:pt x="38100" y="95250"/>
                  </a:lnTo>
                  <a:lnTo>
                    <a:pt x="104775" y="95250"/>
                  </a:lnTo>
                  <a:lnTo>
                    <a:pt x="57150" y="0"/>
                  </a:lnTo>
                  <a:close/>
                </a:path>
                <a:path w="114300" h="662304">
                  <a:moveTo>
                    <a:pt x="104775" y="95250"/>
                  </a:moveTo>
                  <a:lnTo>
                    <a:pt x="76200" y="95250"/>
                  </a:lnTo>
                  <a:lnTo>
                    <a:pt x="76200" y="114300"/>
                  </a:lnTo>
                  <a:lnTo>
                    <a:pt x="114300" y="114300"/>
                  </a:lnTo>
                  <a:lnTo>
                    <a:pt x="104775" y="9525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768342" y="5039868"/>
              <a:ext cx="510540" cy="212090"/>
            </a:xfrm>
            <a:custGeom>
              <a:avLst/>
              <a:gdLst/>
              <a:ahLst/>
              <a:cxnLst/>
              <a:rect l="l" t="t" r="r" b="b"/>
              <a:pathLst>
                <a:path w="510539" h="212089">
                  <a:moveTo>
                    <a:pt x="442849" y="0"/>
                  </a:moveTo>
                  <a:lnTo>
                    <a:pt x="439801" y="8635"/>
                  </a:lnTo>
                  <a:lnTo>
                    <a:pt x="452068" y="13946"/>
                  </a:lnTo>
                  <a:lnTo>
                    <a:pt x="462597" y="21304"/>
                  </a:lnTo>
                  <a:lnTo>
                    <a:pt x="484016" y="55449"/>
                  </a:lnTo>
                  <a:lnTo>
                    <a:pt x="490982" y="104901"/>
                  </a:lnTo>
                  <a:lnTo>
                    <a:pt x="490198" y="123570"/>
                  </a:lnTo>
                  <a:lnTo>
                    <a:pt x="478536" y="169290"/>
                  </a:lnTo>
                  <a:lnTo>
                    <a:pt x="452229" y="197865"/>
                  </a:lnTo>
                  <a:lnTo>
                    <a:pt x="440182" y="203199"/>
                  </a:lnTo>
                  <a:lnTo>
                    <a:pt x="442849" y="211835"/>
                  </a:lnTo>
                  <a:lnTo>
                    <a:pt x="483246" y="187725"/>
                  </a:lnTo>
                  <a:lnTo>
                    <a:pt x="505968" y="143382"/>
                  </a:lnTo>
                  <a:lnTo>
                    <a:pt x="510286" y="105917"/>
                  </a:lnTo>
                  <a:lnTo>
                    <a:pt x="509226" y="86830"/>
                  </a:lnTo>
                  <a:lnTo>
                    <a:pt x="509210" y="86538"/>
                  </a:lnTo>
                  <a:lnTo>
                    <a:pt x="492887" y="37210"/>
                  </a:lnTo>
                  <a:lnTo>
                    <a:pt x="458186" y="5546"/>
                  </a:lnTo>
                  <a:lnTo>
                    <a:pt x="442849" y="0"/>
                  </a:lnTo>
                  <a:close/>
                </a:path>
                <a:path w="510539" h="212089">
                  <a:moveTo>
                    <a:pt x="67564" y="0"/>
                  </a:moveTo>
                  <a:lnTo>
                    <a:pt x="27094" y="24163"/>
                  </a:lnTo>
                  <a:lnTo>
                    <a:pt x="4365" y="68611"/>
                  </a:lnTo>
                  <a:lnTo>
                    <a:pt x="57" y="104901"/>
                  </a:lnTo>
                  <a:lnTo>
                    <a:pt x="0" y="105917"/>
                  </a:lnTo>
                  <a:lnTo>
                    <a:pt x="973" y="123570"/>
                  </a:lnTo>
                  <a:lnTo>
                    <a:pt x="1075" y="125424"/>
                  </a:lnTo>
                  <a:lnTo>
                    <a:pt x="4318" y="143382"/>
                  </a:lnTo>
                  <a:lnTo>
                    <a:pt x="27041" y="187725"/>
                  </a:lnTo>
                  <a:lnTo>
                    <a:pt x="67564" y="211835"/>
                  </a:lnTo>
                  <a:lnTo>
                    <a:pt x="70231" y="203199"/>
                  </a:lnTo>
                  <a:lnTo>
                    <a:pt x="58130" y="197865"/>
                  </a:lnTo>
                  <a:lnTo>
                    <a:pt x="47720" y="190436"/>
                  </a:lnTo>
                  <a:lnTo>
                    <a:pt x="26376" y="155765"/>
                  </a:lnTo>
                  <a:lnTo>
                    <a:pt x="19346" y="105917"/>
                  </a:lnTo>
                  <a:lnTo>
                    <a:pt x="19304" y="104901"/>
                  </a:lnTo>
                  <a:lnTo>
                    <a:pt x="20089" y="86830"/>
                  </a:lnTo>
                  <a:lnTo>
                    <a:pt x="31877" y="42163"/>
                  </a:lnTo>
                  <a:lnTo>
                    <a:pt x="58291" y="13946"/>
                  </a:lnTo>
                  <a:lnTo>
                    <a:pt x="70485" y="8635"/>
                  </a:lnTo>
                  <a:lnTo>
                    <a:pt x="675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511800" y="3777233"/>
            <a:ext cx="8039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Calibri"/>
                <a:cs typeface="Calibri"/>
              </a:rPr>
              <a:t>NBFM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latin typeface="Calibri"/>
                <a:cs typeface="Calibri"/>
              </a:rPr>
              <a:t>Signal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92938" y="4874114"/>
            <a:ext cx="11198225" cy="88963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R="2249170" algn="ctr">
              <a:lnSpc>
                <a:spcPct val="100000"/>
              </a:lnSpc>
              <a:spcBef>
                <a:spcPts val="855"/>
              </a:spcBef>
            </a:pPr>
            <a:r>
              <a:rPr sz="1800" spc="-20" dirty="0">
                <a:latin typeface="Cambria Math"/>
                <a:cs typeface="Cambria Math"/>
              </a:rPr>
              <a:t>𝐕</a:t>
            </a:r>
            <a:r>
              <a:rPr sz="1950" spc="-30" baseline="-14957" dirty="0">
                <a:latin typeface="Cambria Math"/>
                <a:cs typeface="Cambria Math"/>
              </a:rPr>
              <a:t>𝐂</a:t>
            </a:r>
            <a:r>
              <a:rPr sz="1950" spc="60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26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4957" dirty="0">
                <a:latin typeface="Cambria Math"/>
                <a:cs typeface="Cambria Math"/>
              </a:rPr>
              <a:t>𝐜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  <a:p>
            <a:pPr marL="494665" indent="-456565">
              <a:lnSpc>
                <a:spcPct val="100000"/>
              </a:lnSpc>
              <a:spcBef>
                <a:spcPts val="1010"/>
              </a:spcBef>
              <a:buFont typeface="Wingdings"/>
              <a:buChar char=""/>
              <a:tabLst>
                <a:tab pos="4946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Frequency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Multiplier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produces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whose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frequency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n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times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input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frequency.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4739" y="620648"/>
            <a:ext cx="10824845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WBFM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widely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used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FM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Radio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Broadcast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{88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MHz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108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MHz}.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FM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Frequency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Deviation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is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75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KHz,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for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sz="24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15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kHz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Audio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Band,</a:t>
            </a:r>
            <a:r>
              <a:rPr sz="24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there</a:t>
            </a:r>
            <a:r>
              <a:rPr sz="24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are</a:t>
            </a:r>
            <a:r>
              <a:rPr sz="24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5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Bands.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WBFM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used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High-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Fidelity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Audio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System.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WBFM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used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Satellite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Communication.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WBFM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also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used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Telemetry,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which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has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large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data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range.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Applications</a:t>
            </a:r>
            <a:r>
              <a:rPr sz="3200" u="sng" spc="-10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of</a:t>
            </a:r>
            <a:r>
              <a:rPr sz="3200" u="sng" spc="-5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spc="-2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WBFM</a:t>
            </a:r>
            <a:endParaRPr sz="32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5193" y="20523"/>
            <a:ext cx="11481435" cy="971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200" spc="160" dirty="0">
                <a:solidFill>
                  <a:srgbClr val="006600"/>
                </a:solidFill>
                <a:latin typeface="Trebuchet MS"/>
                <a:cs typeface="Trebuchet MS"/>
              </a:rPr>
              <a:t>FM</a:t>
            </a:r>
            <a:r>
              <a:rPr sz="6200" spc="-265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6200" spc="-170" dirty="0">
                <a:solidFill>
                  <a:srgbClr val="006600"/>
                </a:solidFill>
                <a:latin typeface="Trebuchet MS"/>
                <a:cs typeface="Trebuchet MS"/>
              </a:rPr>
              <a:t>Generation</a:t>
            </a:r>
            <a:r>
              <a:rPr sz="6200" spc="-310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6200" dirty="0">
                <a:solidFill>
                  <a:srgbClr val="006600"/>
                </a:solidFill>
                <a:latin typeface="Trebuchet MS"/>
                <a:cs typeface="Trebuchet MS"/>
              </a:rPr>
              <a:t>by</a:t>
            </a:r>
            <a:r>
              <a:rPr sz="6200" spc="-265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6200" spc="-215" dirty="0">
                <a:solidFill>
                  <a:srgbClr val="006600"/>
                </a:solidFill>
                <a:latin typeface="Trebuchet MS"/>
                <a:cs typeface="Trebuchet MS"/>
              </a:rPr>
              <a:t>Direct</a:t>
            </a:r>
            <a:r>
              <a:rPr sz="6200" spc="-300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6200" spc="-10" dirty="0">
                <a:solidFill>
                  <a:srgbClr val="006600"/>
                </a:solidFill>
                <a:latin typeface="Trebuchet MS"/>
                <a:cs typeface="Trebuchet MS"/>
              </a:rPr>
              <a:t>Method</a:t>
            </a:r>
            <a:endParaRPr sz="62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1245" y="2736469"/>
            <a:ext cx="236093" cy="21170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043682" y="2736469"/>
            <a:ext cx="510540" cy="212090"/>
          </a:xfrm>
          <a:custGeom>
            <a:avLst/>
            <a:gdLst/>
            <a:ahLst/>
            <a:cxnLst/>
            <a:rect l="l" t="t" r="r" b="b"/>
            <a:pathLst>
              <a:path w="510539" h="212089">
                <a:moveTo>
                  <a:pt x="442849" y="0"/>
                </a:moveTo>
                <a:lnTo>
                  <a:pt x="439801" y="8636"/>
                </a:lnTo>
                <a:lnTo>
                  <a:pt x="452086" y="13946"/>
                </a:lnTo>
                <a:lnTo>
                  <a:pt x="462645" y="21304"/>
                </a:lnTo>
                <a:lnTo>
                  <a:pt x="484036" y="55429"/>
                </a:lnTo>
                <a:lnTo>
                  <a:pt x="491109" y="104775"/>
                </a:lnTo>
                <a:lnTo>
                  <a:pt x="490323" y="123444"/>
                </a:lnTo>
                <a:lnTo>
                  <a:pt x="478536" y="169164"/>
                </a:lnTo>
                <a:lnTo>
                  <a:pt x="452229" y="197846"/>
                </a:lnTo>
                <a:lnTo>
                  <a:pt x="440182" y="203200"/>
                </a:lnTo>
                <a:lnTo>
                  <a:pt x="442849" y="211709"/>
                </a:lnTo>
                <a:lnTo>
                  <a:pt x="483318" y="187706"/>
                </a:lnTo>
                <a:lnTo>
                  <a:pt x="506047" y="143335"/>
                </a:lnTo>
                <a:lnTo>
                  <a:pt x="510413" y="105918"/>
                </a:lnTo>
                <a:lnTo>
                  <a:pt x="509328" y="86723"/>
                </a:lnTo>
                <a:lnTo>
                  <a:pt x="492887" y="37084"/>
                </a:lnTo>
                <a:lnTo>
                  <a:pt x="458204" y="5544"/>
                </a:lnTo>
                <a:lnTo>
                  <a:pt x="442849" y="0"/>
                </a:lnTo>
                <a:close/>
              </a:path>
              <a:path w="510539" h="212089">
                <a:moveTo>
                  <a:pt x="67564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64" y="104775"/>
                </a:lnTo>
                <a:lnTo>
                  <a:pt x="0" y="105918"/>
                </a:lnTo>
                <a:lnTo>
                  <a:pt x="985" y="123444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6"/>
                </a:lnTo>
                <a:lnTo>
                  <a:pt x="67564" y="211709"/>
                </a:lnTo>
                <a:lnTo>
                  <a:pt x="70231" y="203200"/>
                </a:lnTo>
                <a:lnTo>
                  <a:pt x="58183" y="197846"/>
                </a:lnTo>
                <a:lnTo>
                  <a:pt x="47767" y="190373"/>
                </a:lnTo>
                <a:lnTo>
                  <a:pt x="26376" y="155638"/>
                </a:lnTo>
                <a:lnTo>
                  <a:pt x="19352" y="105918"/>
                </a:lnTo>
                <a:lnTo>
                  <a:pt x="19304" y="104775"/>
                </a:lnTo>
                <a:lnTo>
                  <a:pt x="20089" y="86723"/>
                </a:lnTo>
                <a:lnTo>
                  <a:pt x="31877" y="42164"/>
                </a:lnTo>
                <a:lnTo>
                  <a:pt x="58398" y="13946"/>
                </a:lnTo>
                <a:lnTo>
                  <a:pt x="70612" y="8636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26483" y="2404998"/>
            <a:ext cx="0" cy="866775"/>
          </a:xfrm>
          <a:custGeom>
            <a:avLst/>
            <a:gdLst/>
            <a:ahLst/>
            <a:cxnLst/>
            <a:rect l="l" t="t" r="r" b="b"/>
            <a:pathLst>
              <a:path h="866775">
                <a:moveTo>
                  <a:pt x="0" y="0"/>
                </a:moveTo>
                <a:lnTo>
                  <a:pt x="0" y="866647"/>
                </a:lnTo>
              </a:path>
            </a:pathLst>
          </a:custGeom>
          <a:ln w="28575">
            <a:solidFill>
              <a:srgbClr val="4471C4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11366" y="2736469"/>
            <a:ext cx="236092" cy="211709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7310755" y="2736469"/>
            <a:ext cx="697865" cy="212090"/>
            <a:chOff x="7310755" y="2736469"/>
            <a:chExt cx="697865" cy="212090"/>
          </a:xfrm>
        </p:grpSpPr>
        <p:sp>
          <p:nvSpPr>
            <p:cNvPr id="8" name="object 8"/>
            <p:cNvSpPr/>
            <p:nvPr/>
          </p:nvSpPr>
          <p:spPr>
            <a:xfrm>
              <a:off x="7310755" y="2736469"/>
              <a:ext cx="697865" cy="212090"/>
            </a:xfrm>
            <a:custGeom>
              <a:avLst/>
              <a:gdLst/>
              <a:ahLst/>
              <a:cxnLst/>
              <a:rect l="l" t="t" r="r" b="b"/>
              <a:pathLst>
                <a:path w="697865" h="212089">
                  <a:moveTo>
                    <a:pt x="630301" y="0"/>
                  </a:moveTo>
                  <a:lnTo>
                    <a:pt x="627252" y="8636"/>
                  </a:lnTo>
                  <a:lnTo>
                    <a:pt x="639538" y="13946"/>
                  </a:lnTo>
                  <a:lnTo>
                    <a:pt x="650097" y="21304"/>
                  </a:lnTo>
                  <a:lnTo>
                    <a:pt x="671488" y="55429"/>
                  </a:lnTo>
                  <a:lnTo>
                    <a:pt x="678560" y="104775"/>
                  </a:lnTo>
                  <a:lnTo>
                    <a:pt x="677775" y="123444"/>
                  </a:lnTo>
                  <a:lnTo>
                    <a:pt x="665988" y="169164"/>
                  </a:lnTo>
                  <a:lnTo>
                    <a:pt x="639681" y="197846"/>
                  </a:lnTo>
                  <a:lnTo>
                    <a:pt x="627633" y="203200"/>
                  </a:lnTo>
                  <a:lnTo>
                    <a:pt x="630301" y="211709"/>
                  </a:lnTo>
                  <a:lnTo>
                    <a:pt x="670770" y="187706"/>
                  </a:lnTo>
                  <a:lnTo>
                    <a:pt x="693499" y="143335"/>
                  </a:lnTo>
                  <a:lnTo>
                    <a:pt x="697865" y="105918"/>
                  </a:lnTo>
                  <a:lnTo>
                    <a:pt x="696780" y="86723"/>
                  </a:lnTo>
                  <a:lnTo>
                    <a:pt x="680338" y="37084"/>
                  </a:lnTo>
                  <a:lnTo>
                    <a:pt x="645638" y="5544"/>
                  </a:lnTo>
                  <a:lnTo>
                    <a:pt x="630301" y="0"/>
                  </a:lnTo>
                  <a:close/>
                </a:path>
                <a:path w="697865" h="212089">
                  <a:moveTo>
                    <a:pt x="67563" y="0"/>
                  </a:moveTo>
                  <a:lnTo>
                    <a:pt x="27166" y="24110"/>
                  </a:lnTo>
                  <a:lnTo>
                    <a:pt x="4381" y="68595"/>
                  </a:lnTo>
                  <a:lnTo>
                    <a:pt x="64" y="104775"/>
                  </a:lnTo>
                  <a:lnTo>
                    <a:pt x="0" y="105918"/>
                  </a:lnTo>
                  <a:lnTo>
                    <a:pt x="985" y="123444"/>
                  </a:lnTo>
                  <a:lnTo>
                    <a:pt x="1093" y="125370"/>
                  </a:lnTo>
                  <a:lnTo>
                    <a:pt x="4365" y="143335"/>
                  </a:lnTo>
                  <a:lnTo>
                    <a:pt x="27094" y="187706"/>
                  </a:lnTo>
                  <a:lnTo>
                    <a:pt x="67563" y="211709"/>
                  </a:lnTo>
                  <a:lnTo>
                    <a:pt x="70230" y="203200"/>
                  </a:lnTo>
                  <a:lnTo>
                    <a:pt x="58183" y="197846"/>
                  </a:lnTo>
                  <a:lnTo>
                    <a:pt x="47767" y="190373"/>
                  </a:lnTo>
                  <a:lnTo>
                    <a:pt x="26376" y="155638"/>
                  </a:lnTo>
                  <a:lnTo>
                    <a:pt x="19352" y="105918"/>
                  </a:lnTo>
                  <a:lnTo>
                    <a:pt x="19303" y="104775"/>
                  </a:lnTo>
                  <a:lnTo>
                    <a:pt x="20089" y="86723"/>
                  </a:lnTo>
                  <a:lnTo>
                    <a:pt x="31876" y="42164"/>
                  </a:lnTo>
                  <a:lnTo>
                    <a:pt x="58344" y="13946"/>
                  </a:lnTo>
                  <a:lnTo>
                    <a:pt x="70611" y="8636"/>
                  </a:lnTo>
                  <a:lnTo>
                    <a:pt x="675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89647" y="2736469"/>
              <a:ext cx="236093" cy="211709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8973439" y="2703576"/>
            <a:ext cx="579120" cy="276225"/>
            <a:chOff x="8973439" y="2703576"/>
            <a:chExt cx="579120" cy="276225"/>
          </a:xfrm>
        </p:grpSpPr>
        <p:sp>
          <p:nvSpPr>
            <p:cNvPr id="11" name="object 11"/>
            <p:cNvSpPr/>
            <p:nvPr/>
          </p:nvSpPr>
          <p:spPr>
            <a:xfrm>
              <a:off x="8973439" y="2703576"/>
              <a:ext cx="579120" cy="276225"/>
            </a:xfrm>
            <a:custGeom>
              <a:avLst/>
              <a:gdLst/>
              <a:ahLst/>
              <a:cxnLst/>
              <a:rect l="l" t="t" r="r" b="b"/>
              <a:pathLst>
                <a:path w="579120" h="276225">
                  <a:moveTo>
                    <a:pt x="506602" y="0"/>
                  </a:moveTo>
                  <a:lnTo>
                    <a:pt x="503808" y="9144"/>
                  </a:lnTo>
                  <a:lnTo>
                    <a:pt x="516503" y="15694"/>
                  </a:lnTo>
                  <a:lnTo>
                    <a:pt x="527542" y="25257"/>
                  </a:lnTo>
                  <a:lnTo>
                    <a:pt x="550797" y="71542"/>
                  </a:lnTo>
                  <a:lnTo>
                    <a:pt x="557793" y="113885"/>
                  </a:lnTo>
                  <a:lnTo>
                    <a:pt x="558668" y="138049"/>
                  </a:lnTo>
                  <a:lnTo>
                    <a:pt x="557793" y="162393"/>
                  </a:lnTo>
                  <a:lnTo>
                    <a:pt x="550797" y="204684"/>
                  </a:lnTo>
                  <a:lnTo>
                    <a:pt x="527542" y="250856"/>
                  </a:lnTo>
                  <a:lnTo>
                    <a:pt x="503808" y="266954"/>
                  </a:lnTo>
                  <a:lnTo>
                    <a:pt x="506602" y="276098"/>
                  </a:lnTo>
                  <a:lnTo>
                    <a:pt x="549894" y="246040"/>
                  </a:lnTo>
                  <a:lnTo>
                    <a:pt x="568565" y="208700"/>
                  </a:lnTo>
                  <a:lnTo>
                    <a:pt x="577951" y="163361"/>
                  </a:lnTo>
                  <a:lnTo>
                    <a:pt x="579114" y="138176"/>
                  </a:lnTo>
                  <a:lnTo>
                    <a:pt x="578004" y="113885"/>
                  </a:lnTo>
                  <a:lnTo>
                    <a:pt x="568565" y="67397"/>
                  </a:lnTo>
                  <a:lnTo>
                    <a:pt x="549894" y="30057"/>
                  </a:lnTo>
                  <a:lnTo>
                    <a:pt x="523033" y="6383"/>
                  </a:lnTo>
                  <a:lnTo>
                    <a:pt x="506602" y="0"/>
                  </a:lnTo>
                  <a:close/>
                </a:path>
                <a:path w="579120" h="276225">
                  <a:moveTo>
                    <a:pt x="72516" y="0"/>
                  </a:moveTo>
                  <a:lnTo>
                    <a:pt x="29350" y="30057"/>
                  </a:lnTo>
                  <a:lnTo>
                    <a:pt x="10662" y="67397"/>
                  </a:lnTo>
                  <a:lnTo>
                    <a:pt x="1188" y="112736"/>
                  </a:lnTo>
                  <a:lnTo>
                    <a:pt x="0" y="138049"/>
                  </a:lnTo>
                  <a:lnTo>
                    <a:pt x="1143" y="162393"/>
                  </a:lnTo>
                  <a:lnTo>
                    <a:pt x="1188" y="163361"/>
                  </a:lnTo>
                  <a:lnTo>
                    <a:pt x="10662" y="208700"/>
                  </a:lnTo>
                  <a:lnTo>
                    <a:pt x="29350" y="246040"/>
                  </a:lnTo>
                  <a:lnTo>
                    <a:pt x="72516" y="276098"/>
                  </a:lnTo>
                  <a:lnTo>
                    <a:pt x="75310" y="266954"/>
                  </a:lnTo>
                  <a:lnTo>
                    <a:pt x="62670" y="260405"/>
                  </a:lnTo>
                  <a:lnTo>
                    <a:pt x="51625" y="250856"/>
                  </a:lnTo>
                  <a:lnTo>
                    <a:pt x="28342" y="204684"/>
                  </a:lnTo>
                  <a:lnTo>
                    <a:pt x="21546" y="163361"/>
                  </a:lnTo>
                  <a:lnTo>
                    <a:pt x="21433" y="162393"/>
                  </a:lnTo>
                  <a:lnTo>
                    <a:pt x="20573" y="138176"/>
                  </a:lnTo>
                  <a:lnTo>
                    <a:pt x="21433" y="113885"/>
                  </a:lnTo>
                  <a:lnTo>
                    <a:pt x="24018" y="91678"/>
                  </a:lnTo>
                  <a:lnTo>
                    <a:pt x="34416" y="53467"/>
                  </a:lnTo>
                  <a:lnTo>
                    <a:pt x="62670" y="15694"/>
                  </a:lnTo>
                  <a:lnTo>
                    <a:pt x="75310" y="9144"/>
                  </a:lnTo>
                  <a:lnTo>
                    <a:pt x="725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12707" y="2736469"/>
              <a:ext cx="236093" cy="211709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81827" y="3053460"/>
            <a:ext cx="236092" cy="21170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58127" y="3053460"/>
            <a:ext cx="236093" cy="21170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712322" y="3053460"/>
            <a:ext cx="236093" cy="21170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48742" y="863020"/>
            <a:ext cx="11581765" cy="358076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5"/>
              </a:spcBef>
            </a:pP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Basics</a:t>
            </a:r>
            <a:r>
              <a:rPr sz="3200" b="1" u="sng" spc="-4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of</a:t>
            </a:r>
            <a:r>
              <a:rPr sz="3200" b="1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FM</a:t>
            </a:r>
            <a:r>
              <a:rPr sz="3200" b="1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Signal</a:t>
            </a:r>
            <a:endParaRPr sz="3200" dirty="0">
              <a:latin typeface="Calibri"/>
              <a:cs typeface="Calibri"/>
            </a:endParaRPr>
          </a:p>
          <a:p>
            <a:pPr marL="545465" marR="30480" indent="-457200">
              <a:lnSpc>
                <a:spcPct val="100000"/>
              </a:lnSpc>
              <a:spcBef>
                <a:spcPts val="380"/>
              </a:spcBef>
              <a:buFont typeface="Wingdings"/>
              <a:buChar char=""/>
              <a:tabLst>
                <a:tab pos="5454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400" b="1" spc="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Frequency</a:t>
            </a:r>
            <a:r>
              <a:rPr sz="2400" b="1" spc="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Modulation,</a:t>
            </a:r>
            <a:r>
              <a:rPr sz="2400" b="1" spc="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Frequency</a:t>
            </a:r>
            <a:r>
              <a:rPr sz="2400" b="1" spc="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Carrier</a:t>
            </a:r>
            <a:r>
              <a:rPr sz="2400" b="1" spc="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r>
              <a:rPr sz="2400" b="1" spc="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changes</a:t>
            </a:r>
            <a:r>
              <a:rPr sz="2400" b="1" spc="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with</a:t>
            </a:r>
            <a:r>
              <a:rPr sz="2400" b="1" spc="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respect</a:t>
            </a:r>
            <a:r>
              <a:rPr sz="2400" b="1" spc="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to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Modulating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Signal.</a:t>
            </a:r>
            <a:endParaRPr sz="2400" dirty="0">
              <a:latin typeface="Calibri"/>
              <a:cs typeface="Calibri"/>
            </a:endParaRPr>
          </a:p>
          <a:p>
            <a:pPr marL="1032510" lvl="1" indent="-285750">
              <a:lnSpc>
                <a:spcPct val="100000"/>
              </a:lnSpc>
              <a:spcBef>
                <a:spcPts val="1205"/>
              </a:spcBef>
              <a:buFont typeface="Wingdings"/>
              <a:buChar char=""/>
              <a:tabLst>
                <a:tab pos="1032510" algn="l"/>
                <a:tab pos="4780280" algn="l"/>
              </a:tabLst>
            </a:pPr>
            <a:r>
              <a:rPr sz="1800" dirty="0">
                <a:latin typeface="Cambria Math"/>
                <a:cs typeface="Cambria Math"/>
              </a:rPr>
              <a:t>Let</a:t>
            </a:r>
            <a:r>
              <a:rPr sz="1800" spc="-5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the</a:t>
            </a:r>
            <a:r>
              <a:rPr sz="1800" spc="-55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Carrier</a:t>
            </a:r>
            <a:r>
              <a:rPr sz="1800" spc="-65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Signal</a:t>
            </a:r>
            <a:r>
              <a:rPr sz="1800" spc="-6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is</a:t>
            </a:r>
            <a:r>
              <a:rPr sz="1800" spc="-4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given</a:t>
            </a:r>
            <a:r>
              <a:rPr sz="1800" spc="-6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by: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dirty="0">
                <a:latin typeface="Wingdings"/>
                <a:cs typeface="Wingdings"/>
              </a:rPr>
              <a:t>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Then,</a:t>
            </a:r>
            <a:r>
              <a:rPr sz="1800" spc="-5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the</a:t>
            </a:r>
            <a:r>
              <a:rPr sz="1800" spc="-45" dirty="0">
                <a:latin typeface="Cambria Math"/>
                <a:cs typeface="Cambria Math"/>
              </a:rPr>
              <a:t> </a:t>
            </a:r>
            <a:r>
              <a:rPr sz="1800" spc="-30" dirty="0">
                <a:latin typeface="Cambria Math"/>
                <a:cs typeface="Cambria Math"/>
              </a:rPr>
              <a:t>Frequency</a:t>
            </a:r>
            <a:r>
              <a:rPr sz="1800" spc="-5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Modulated</a:t>
            </a:r>
            <a:r>
              <a:rPr sz="1800" spc="-60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Signal</a:t>
            </a:r>
            <a:r>
              <a:rPr sz="1800" spc="-5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is</a:t>
            </a:r>
            <a:r>
              <a:rPr sz="1800" spc="-25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given</a:t>
            </a:r>
            <a:r>
              <a:rPr sz="1800" spc="-5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by:</a:t>
            </a:r>
            <a:endParaRPr sz="1800" dirty="0">
              <a:latin typeface="Cambria Math"/>
              <a:cs typeface="Cambria Math"/>
            </a:endParaRPr>
          </a:p>
          <a:p>
            <a:pPr marL="1204595">
              <a:lnSpc>
                <a:spcPct val="100000"/>
              </a:lnSpc>
              <a:spcBef>
                <a:spcPts val="345"/>
              </a:spcBef>
              <a:tabLst>
                <a:tab pos="2013585" algn="l"/>
                <a:tab pos="5237480" algn="l"/>
                <a:tab pos="6281420" algn="l"/>
                <a:tab pos="7944484" algn="l"/>
              </a:tabLst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𝐂</a:t>
            </a:r>
            <a:r>
              <a:rPr sz="1800" spc="33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60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𝐕</a:t>
            </a:r>
            <a:r>
              <a:rPr sz="1950" spc="-30" baseline="-14957" dirty="0">
                <a:latin typeface="Cambria Math"/>
                <a:cs typeface="Cambria Math"/>
              </a:rPr>
              <a:t>𝐂</a:t>
            </a:r>
            <a:r>
              <a:rPr sz="1950" spc="67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29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4957" dirty="0">
                <a:latin typeface="Cambria Math"/>
                <a:cs typeface="Cambria Math"/>
              </a:rPr>
              <a:t>𝐜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⟹</a:t>
            </a:r>
            <a:r>
              <a:rPr sz="1800" spc="4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𝐘</a:t>
            </a:r>
            <a:r>
              <a:rPr sz="1950" baseline="-14957" dirty="0">
                <a:latin typeface="Cambria Math"/>
                <a:cs typeface="Cambria Math"/>
              </a:rPr>
              <a:t>𝐅𝐌</a:t>
            </a:r>
            <a:r>
              <a:rPr sz="1950" spc="652" baseline="-14957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85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𝐕</a:t>
            </a:r>
            <a:r>
              <a:rPr sz="1950" spc="-30" baseline="-14957" dirty="0">
                <a:latin typeface="Cambria Math"/>
                <a:cs typeface="Cambria Math"/>
              </a:rPr>
              <a:t>𝐂</a:t>
            </a:r>
            <a:r>
              <a:rPr sz="1950" spc="89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30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𝛚</a:t>
            </a:r>
            <a:r>
              <a:rPr sz="1800" spc="32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𝐭</a:t>
            </a:r>
            <a:r>
              <a:rPr sz="1800" spc="32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80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𝐕</a:t>
            </a:r>
            <a:r>
              <a:rPr sz="1950" spc="-30" baseline="-14957" dirty="0">
                <a:latin typeface="Cambria Math"/>
                <a:cs typeface="Cambria Math"/>
              </a:rPr>
              <a:t>𝐂</a:t>
            </a:r>
            <a:r>
              <a:rPr sz="1950" spc="82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35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𝛉</a:t>
            </a:r>
            <a:r>
              <a:rPr sz="1800" spc="31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endParaRPr sz="1800" dirty="0">
              <a:latin typeface="Cambria Math"/>
              <a:cs typeface="Cambria Math"/>
            </a:endParaRPr>
          </a:p>
          <a:p>
            <a:pPr marL="5066030" lvl="2" indent="-285750">
              <a:lnSpc>
                <a:spcPct val="100000"/>
              </a:lnSpc>
              <a:spcBef>
                <a:spcPts val="340"/>
              </a:spcBef>
              <a:buFont typeface="Wingdings"/>
              <a:buChar char=""/>
              <a:tabLst>
                <a:tab pos="5066030" algn="l"/>
                <a:tab pos="6144260" algn="l"/>
                <a:tab pos="7018655" algn="l"/>
              </a:tabLst>
            </a:pPr>
            <a:r>
              <a:rPr sz="1800" b="1" dirty="0">
                <a:latin typeface="Calibri"/>
                <a:cs typeface="Calibri"/>
              </a:rPr>
              <a:t>Here,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dirty="0">
                <a:latin typeface="Cambria Math"/>
                <a:cs typeface="Cambria Math"/>
              </a:rPr>
              <a:t>𝛚</a:t>
            </a:r>
            <a:r>
              <a:rPr sz="1800" spc="330" dirty="0">
                <a:latin typeface="Cambria Math"/>
                <a:cs typeface="Cambria Math"/>
              </a:rPr>
              <a:t> </a:t>
            </a:r>
            <a:r>
              <a:rPr sz="1800" spc="-6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b="1" dirty="0">
                <a:latin typeface="Calibri"/>
                <a:cs typeface="Calibri"/>
              </a:rPr>
              <a:t>and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dirty="0">
                <a:latin typeface="Cambria Math"/>
                <a:cs typeface="Cambria Math"/>
              </a:rPr>
              <a:t>𝛉</a:t>
            </a:r>
            <a:r>
              <a:rPr sz="1800" spc="34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b="1" dirty="0">
                <a:latin typeface="Calibri"/>
                <a:cs typeface="Calibri"/>
              </a:rPr>
              <a:t>is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function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the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Message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Signal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dirty="0">
                <a:latin typeface="Cambria Math"/>
                <a:cs typeface="Cambria Math"/>
              </a:rPr>
              <a:t>𝐦</a:t>
            </a:r>
            <a:r>
              <a:rPr sz="1800" spc="33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𝐭</a:t>
            </a:r>
            <a:r>
              <a:rPr sz="1800" spc="340" dirty="0">
                <a:latin typeface="Cambria Math"/>
                <a:cs typeface="Cambria Math"/>
              </a:rPr>
              <a:t> </a:t>
            </a:r>
            <a:r>
              <a:rPr sz="1800" b="1" spc="-50" dirty="0">
                <a:latin typeface="Calibri"/>
                <a:cs typeface="Calibri"/>
              </a:rPr>
              <a:t>.</a:t>
            </a:r>
            <a:endParaRPr sz="1800" dirty="0">
              <a:latin typeface="Calibri"/>
              <a:cs typeface="Calibri"/>
            </a:endParaRPr>
          </a:p>
          <a:p>
            <a:pPr marL="545465" indent="-457200">
              <a:lnSpc>
                <a:spcPct val="100000"/>
              </a:lnSpc>
              <a:spcBef>
                <a:spcPts val="1200"/>
              </a:spcBef>
              <a:buFont typeface="Wingdings"/>
              <a:buChar char=""/>
              <a:tabLst>
                <a:tab pos="545465" algn="l"/>
                <a:tab pos="1991995" algn="l"/>
                <a:tab pos="3611879" algn="l"/>
                <a:tab pos="3941445" algn="l"/>
                <a:tab pos="4224655" algn="l"/>
                <a:tab pos="4885055" algn="l"/>
                <a:tab pos="5278120" algn="l"/>
                <a:tab pos="5833110" algn="l"/>
                <a:tab pos="6686550" algn="l"/>
                <a:tab pos="8385809" algn="l"/>
                <a:tab pos="8986520" algn="l"/>
                <a:tab pos="9839960" algn="l"/>
                <a:tab pos="10233025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Frequency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Modulation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part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Angle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Modulation,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Angle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Frequency</a:t>
            </a:r>
            <a:endParaRPr sz="2400" dirty="0">
              <a:latin typeface="Calibri"/>
              <a:cs typeface="Calibri"/>
            </a:endParaRPr>
          </a:p>
          <a:p>
            <a:pPr marL="545465">
              <a:lnSpc>
                <a:spcPct val="100000"/>
              </a:lnSpc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Modulation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by:</a:t>
            </a:r>
            <a:endParaRPr sz="2400" dirty="0">
              <a:latin typeface="Calibri"/>
              <a:cs typeface="Calibri"/>
            </a:endParaRPr>
          </a:p>
          <a:p>
            <a:pPr marL="3530600">
              <a:lnSpc>
                <a:spcPct val="100000"/>
              </a:lnSpc>
              <a:spcBef>
                <a:spcPts val="615"/>
              </a:spcBef>
            </a:pPr>
            <a:endParaRPr sz="1300" dirty="0">
              <a:latin typeface="Cambria Math"/>
              <a:cs typeface="Cambria Math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20"/>
              <p:cNvSpPr txBox="1"/>
              <p:nvPr/>
            </p:nvSpPr>
            <p:spPr>
              <a:xfrm>
                <a:off x="1210956" y="4182571"/>
                <a:ext cx="3884169" cy="847220"/>
              </a:xfrm>
              <a:prstGeom prst="rect">
                <a:avLst/>
              </a:prstGeom>
            </p:spPr>
            <p:txBody>
              <a:bodyPr vert="horz" wrap="square" lIns="0" tIns="158750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250"/>
                  </a:spcBef>
                </a:pPr>
                <a14:m>
                  <m:oMath xmlns:m="http://schemas.openxmlformats.org/officeDocument/2006/math">
                    <m:r>
                      <a:rPr lang="en-US" sz="1800" b="1" i="0" smtClean="0">
                        <a:latin typeface="Cambria Math" panose="02040503050406030204" pitchFamily="18" charset="0"/>
                        <a:cs typeface="Cambria Math"/>
                      </a:rPr>
                      <m:t>𝛉</m:t>
                    </m:r>
                    <m:d>
                      <m:dPr>
                        <m:ctrlPr>
                          <a:rPr lang="en-US" sz="1800" b="1" i="1" smtClean="0">
                            <a:latin typeface="Cambria Math"/>
                            <a:cs typeface="Cambria Math"/>
                          </a:rPr>
                        </m:ctrlPr>
                      </m:dPr>
                      <m:e>
                        <m:r>
                          <a:rPr lang="en-US" sz="1800" b="1" i="0" smtClean="0">
                            <a:latin typeface="Cambria Math" panose="02040503050406030204" pitchFamily="18" charset="0"/>
                            <a:cs typeface="Cambria Math"/>
                          </a:rPr>
                          <m:t>𝐭</m:t>
                        </m:r>
                      </m:e>
                    </m:d>
                    <m:r>
                      <a:rPr lang="en-US" sz="1800" b="1" i="0" smtClean="0">
                        <a:latin typeface="Cambria Math" panose="02040503050406030204" pitchFamily="18" charset="0"/>
                        <a:cs typeface="Cambria Math"/>
                      </a:rPr>
                      <m:t>= </m:t>
                    </m:r>
                  </m:oMath>
                </a14:m>
                <a:r>
                  <a:rPr lang="en-US" sz="1800" dirty="0">
                    <a:latin typeface="Cambria Math"/>
                    <a:cs typeface="Cambria Math"/>
                  </a:rPr>
                  <a:t>𝛚</a:t>
                </a:r>
                <a:r>
                  <a:rPr lang="en-US" sz="1950" baseline="-14957" dirty="0">
                    <a:latin typeface="Cambria Math"/>
                    <a:cs typeface="Cambria Math"/>
                  </a:rPr>
                  <a:t>𝐜</a:t>
                </a:r>
                <a:r>
                  <a:rPr lang="en-US" sz="1800" dirty="0">
                    <a:latin typeface="Cambria Math"/>
                    <a:cs typeface="Cambria Math"/>
                  </a:rPr>
                  <a:t>𝐭</a:t>
                </a:r>
                <a:r>
                  <a:rPr lang="en-US" sz="1800" spc="15" dirty="0">
                    <a:latin typeface="Cambria Math"/>
                    <a:cs typeface="Cambria Math"/>
                  </a:rPr>
                  <a:t> </a:t>
                </a:r>
                <a:r>
                  <a:rPr lang="en-US" sz="1800" b="1" dirty="0">
                    <a:latin typeface="Cambria Math"/>
                    <a:cs typeface="Cambria Math"/>
                  </a:rPr>
                  <a:t>+</a:t>
                </a:r>
                <a:r>
                  <a:rPr lang="en-US" sz="1800" b="1" spc="15" dirty="0">
                    <a:latin typeface="Cambria Math"/>
                    <a:cs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0" spc="15" smtClean="0">
                        <a:latin typeface="Cambria Math" panose="02040503050406030204" pitchFamily="18" charset="0"/>
                        <a:cs typeface="Cambria Math"/>
                      </a:rPr>
                      <m:t>𝟐</m:t>
                    </m:r>
                    <m:r>
                      <a:rPr lang="en-US" sz="1800" b="1" i="0" spc="15" smtClean="0">
                        <a:latin typeface="Cambria Math" panose="02040503050406030204" pitchFamily="18" charset="0"/>
                        <a:cs typeface="Cambria Math"/>
                      </a:rPr>
                      <m:t>𝛑</m:t>
                    </m:r>
                    <m:sSub>
                      <m:sSubPr>
                        <m:ctrlPr>
                          <a:rPr lang="en-US" sz="1800" b="1" i="1" spc="15" smtClean="0">
                            <a:latin typeface="Cambria Math"/>
                            <a:cs typeface="Cambria Math"/>
                          </a:rPr>
                        </m:ctrlPr>
                      </m:sSubPr>
                      <m:e>
                        <m:r>
                          <a:rPr lang="en-US" sz="1800" b="1" i="0" spc="15" smtClean="0">
                            <a:latin typeface="Cambria Math" panose="02040503050406030204" pitchFamily="18" charset="0"/>
                            <a:cs typeface="Cambria Math"/>
                          </a:rPr>
                          <m:t>𝐤</m:t>
                        </m:r>
                      </m:e>
                      <m:sub>
                        <m:r>
                          <a:rPr lang="en-US" sz="1800" b="1" i="0" spc="15" smtClean="0">
                            <a:latin typeface="Cambria Math" panose="02040503050406030204" pitchFamily="18" charset="0"/>
                            <a:cs typeface="Cambria Math"/>
                          </a:rPr>
                          <m:t>𝐟</m:t>
                        </m:r>
                      </m:sub>
                    </m:sSub>
                    <m:nary>
                      <m:naryPr>
                        <m:ctrlPr>
                          <a:rPr lang="en-US" sz="1800" b="1" i="1" spc="15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800" b="1" i="0" spc="15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US" sz="1800" b="1" i="0" spc="15" smtClean="0">
                            <a:latin typeface="Cambria Math" panose="02040503050406030204" pitchFamily="18" charset="0"/>
                          </a:rPr>
                          <m:t>𝐭</m:t>
                        </m:r>
                      </m:sup>
                      <m:e>
                        <m:r>
                          <a:rPr lang="en-US" sz="1800" b="1" i="0" spc="15" smtClean="0">
                            <a:latin typeface="Cambria Math" panose="02040503050406030204" pitchFamily="18" charset="0"/>
                          </a:rPr>
                          <m:t>𝐦</m:t>
                        </m:r>
                        <m:d>
                          <m:dPr>
                            <m:ctrlPr>
                              <a:rPr lang="en-US" sz="1800" b="1" i="1" spc="15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800" b="1" i="0" spc="15" smtClean="0">
                                <a:latin typeface="Cambria Math" panose="02040503050406030204" pitchFamily="18" charset="0"/>
                              </a:rPr>
                              <m:t>𝐭</m:t>
                            </m:r>
                          </m:e>
                        </m:d>
                        <m:r>
                          <a:rPr lang="en-US" sz="1800" b="1" i="0" spc="15" smtClean="0">
                            <a:latin typeface="Cambria Math" panose="02040503050406030204" pitchFamily="18" charset="0"/>
                          </a:rPr>
                          <m:t>𝐝𝐭</m:t>
                        </m:r>
                      </m:e>
                    </m:nary>
                  </m:oMath>
                </a14:m>
                <a:endParaRPr lang="en-US" sz="1800" b="1" dirty="0">
                  <a:latin typeface="Cambria Math"/>
                  <a:cs typeface="Cambria Math"/>
                </a:endParaRPr>
              </a:p>
              <a:p>
                <a:pPr marL="610235" algn="ctr">
                  <a:lnSpc>
                    <a:spcPct val="100000"/>
                  </a:lnSpc>
                  <a:spcBef>
                    <a:spcPts val="860"/>
                  </a:spcBef>
                </a:pPr>
                <a:endParaRPr sz="13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20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0956" y="4182571"/>
                <a:ext cx="3884169" cy="847220"/>
              </a:xfrm>
              <a:prstGeom prst="rect">
                <a:avLst/>
              </a:prstGeom>
              <a:blipFill>
                <a:blip r:embed="rId8"/>
                <a:stretch>
                  <a:fillRect l="-1256" t="-44604" b="-62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853438" y="5680608"/>
            <a:ext cx="236093" cy="2117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23"/>
              <p:cNvSpPr txBox="1"/>
              <p:nvPr/>
            </p:nvSpPr>
            <p:spPr>
              <a:xfrm>
                <a:off x="199339" y="4965251"/>
                <a:ext cx="4601261" cy="958404"/>
              </a:xfrm>
              <a:prstGeom prst="rect">
                <a:avLst/>
              </a:prstGeom>
            </p:spPr>
            <p:txBody>
              <a:bodyPr vert="horz" wrap="square" lIns="0" tIns="172720" rIns="0" bIns="0" rtlCol="0">
                <a:spAutoFit/>
              </a:bodyPr>
              <a:lstStyle/>
              <a:p>
                <a:pPr marL="494665" indent="-456565">
                  <a:lnSpc>
                    <a:spcPct val="100000"/>
                  </a:lnSpc>
                  <a:spcBef>
                    <a:spcPts val="1360"/>
                  </a:spcBef>
                  <a:buFont typeface="Wingdings"/>
                  <a:buChar char=""/>
                  <a:tabLst>
                    <a:tab pos="494665" algn="l"/>
                  </a:tabLst>
                </a:pP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The</a:t>
                </a:r>
                <a:r>
                  <a:rPr lang="en-US" sz="2400" b="1" spc="-6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Frequency</a:t>
                </a:r>
                <a:r>
                  <a:rPr lang="en-US" sz="2400" b="1" spc="-7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is</a:t>
                </a:r>
                <a:r>
                  <a:rPr lang="en-US" sz="2400" b="1" spc="-60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dirty="0">
                    <a:solidFill>
                      <a:srgbClr val="6F2F9F"/>
                    </a:solidFill>
                    <a:latin typeface="Calibri"/>
                    <a:cs typeface="Calibri"/>
                  </a:rPr>
                  <a:t>given</a:t>
                </a:r>
                <a:r>
                  <a:rPr lang="en-US" sz="2400" b="1" spc="-65" dirty="0">
                    <a:solidFill>
                      <a:srgbClr val="6F2F9F"/>
                    </a:solidFill>
                    <a:latin typeface="Calibri"/>
                    <a:cs typeface="Calibri"/>
                  </a:rPr>
                  <a:t> </a:t>
                </a:r>
                <a:r>
                  <a:rPr lang="en-US" sz="2400" b="1" spc="-25" dirty="0">
                    <a:solidFill>
                      <a:srgbClr val="6F2F9F"/>
                    </a:solidFill>
                    <a:latin typeface="Calibri"/>
                    <a:cs typeface="Calibri"/>
                  </a:rPr>
                  <a:t>by:</a:t>
                </a:r>
                <a:endParaRPr lang="en-US" sz="2400" dirty="0">
                  <a:latin typeface="Calibri"/>
                  <a:cs typeface="Calibri"/>
                </a:endParaRPr>
              </a:p>
              <a:p>
                <a:pPr marL="1115695">
                  <a:lnSpc>
                    <a:spcPct val="100000"/>
                  </a:lnSpc>
                  <a:spcBef>
                    <a:spcPts val="944"/>
                  </a:spcBef>
                  <a:tabLst>
                    <a:tab pos="1973580" algn="l"/>
                  </a:tabLst>
                </a:pPr>
                <a:r>
                  <a:rPr lang="en-US" sz="1800" dirty="0">
                    <a:latin typeface="Cambria Math"/>
                    <a:cs typeface="Cambria Math"/>
                  </a:rPr>
                  <a:t>⟹</a:t>
                </a:r>
                <a:r>
                  <a:rPr lang="en-US" sz="1800" spc="90" dirty="0">
                    <a:latin typeface="Cambria Math"/>
                    <a:cs typeface="Cambria Math"/>
                  </a:rPr>
                  <a:t> </a:t>
                </a:r>
                <a:r>
                  <a:rPr lang="en-US" sz="1800" dirty="0">
                    <a:latin typeface="Cambria Math"/>
                    <a:cs typeface="Cambria Math"/>
                  </a:rPr>
                  <a:t>𝛚</a:t>
                </a:r>
                <a:r>
                  <a:rPr lang="en-US" sz="1800" spc="330" dirty="0">
                    <a:latin typeface="Cambria Math"/>
                    <a:cs typeface="Cambria Math"/>
                  </a:rPr>
                  <a:t> </a:t>
                </a:r>
                <a:r>
                  <a:rPr lang="en-US" sz="1800" spc="-50" dirty="0">
                    <a:latin typeface="Cambria Math"/>
                    <a:cs typeface="Cambria Math"/>
                  </a:rPr>
                  <a:t>𝐭</a:t>
                </a:r>
                <a:r>
                  <a:rPr lang="en-US" sz="1800" dirty="0">
                    <a:latin typeface="Cambria Math"/>
                    <a:cs typeface="Cambria Math"/>
                  </a:rPr>
                  <a:t>	=</a:t>
                </a:r>
                <a:r>
                  <a:rPr lang="en-US" sz="1800" spc="125" dirty="0">
                    <a:latin typeface="Cambria Math"/>
                    <a:cs typeface="Cambria Math"/>
                  </a:rPr>
                  <a:t> </a:t>
                </a:r>
                <a:r>
                  <a:rPr lang="en-US" sz="1800" dirty="0">
                    <a:latin typeface="Cambria Math"/>
                    <a:cs typeface="Cambria Math"/>
                  </a:rPr>
                  <a:t>𝛚</a:t>
                </a:r>
                <a:r>
                  <a:rPr lang="en-US" sz="1950" baseline="-14957" dirty="0">
                    <a:latin typeface="Cambria Math"/>
                    <a:cs typeface="Cambria Math"/>
                  </a:rPr>
                  <a:t>𝐜</a:t>
                </a:r>
                <a:r>
                  <a:rPr lang="en-US" sz="1950" spc="315" baseline="-14957" dirty="0">
                    <a:latin typeface="Cambria Math"/>
                    <a:cs typeface="Cambria Math"/>
                  </a:rPr>
                  <a:t> </a:t>
                </a:r>
                <a:r>
                  <a:rPr lang="en-US" sz="1800" b="1" dirty="0">
                    <a:latin typeface="Cambria Math"/>
                    <a:cs typeface="Cambria Math"/>
                  </a:rPr>
                  <a:t>+</a:t>
                </a:r>
                <a:r>
                  <a:rPr lang="en-US" sz="1800" b="1" spc="30" dirty="0">
                    <a:latin typeface="Cambria Math"/>
                    <a:cs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0" spc="30" smtClean="0">
                        <a:latin typeface="Cambria Math" panose="02040503050406030204" pitchFamily="18" charset="0"/>
                        <a:cs typeface="Cambria Math"/>
                      </a:rPr>
                      <m:t>𝟐</m:t>
                    </m:r>
                    <m:r>
                      <a:rPr lang="en-US" sz="1800" b="1" i="0" spc="30" smtClean="0">
                        <a:latin typeface="Cambria Math" panose="02040503050406030204" pitchFamily="18" charset="0"/>
                        <a:cs typeface="Cambria Math"/>
                      </a:rPr>
                      <m:t>𝛑</m:t>
                    </m:r>
                    <m:sSub>
                      <m:sSubPr>
                        <m:ctrlPr>
                          <a:rPr lang="en-US" sz="1800" b="1" i="1" spc="30" smtClean="0">
                            <a:latin typeface="Cambria Math"/>
                            <a:cs typeface="Cambria Math"/>
                          </a:rPr>
                        </m:ctrlPr>
                      </m:sSubPr>
                      <m:e>
                        <m:r>
                          <a:rPr lang="en-US" sz="1800" b="1" i="0" spc="30" smtClean="0">
                            <a:latin typeface="Cambria Math" panose="02040503050406030204" pitchFamily="18" charset="0"/>
                            <a:cs typeface="Cambria Math"/>
                          </a:rPr>
                          <m:t>𝐤</m:t>
                        </m:r>
                      </m:e>
                      <m:sub>
                        <m:r>
                          <a:rPr lang="en-US" sz="1800" b="1" i="0" spc="30" smtClean="0">
                            <a:latin typeface="Cambria Math" panose="02040503050406030204" pitchFamily="18" charset="0"/>
                            <a:cs typeface="Cambria Math"/>
                          </a:rPr>
                          <m:t>𝐟</m:t>
                        </m:r>
                      </m:sub>
                    </m:sSub>
                    <m:r>
                      <a:rPr lang="en-US" sz="1800" b="1" i="0" spc="30" smtClean="0">
                        <a:latin typeface="Cambria Math" panose="02040503050406030204" pitchFamily="18" charset="0"/>
                        <a:cs typeface="Cambria Math"/>
                      </a:rPr>
                      <m:t>𝐦</m:t>
                    </m:r>
                    <m:r>
                      <a:rPr lang="en-US" sz="1800" b="1" i="0" spc="30" smtClean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en-US" sz="1800" b="1" i="0" spc="30" smtClean="0">
                        <a:latin typeface="Cambria Math" panose="02040503050406030204" pitchFamily="18" charset="0"/>
                        <a:cs typeface="Cambria Math"/>
                      </a:rPr>
                      <m:t>𝐭</m:t>
                    </m:r>
                    <m:r>
                      <a:rPr lang="en-US" sz="1800" b="1" i="0" spc="30" smtClean="0">
                        <a:latin typeface="Cambria Math" panose="02040503050406030204" pitchFamily="18" charset="0"/>
                        <a:cs typeface="Cambria Math"/>
                      </a:rPr>
                      <m:t>)</m:t>
                    </m:r>
                  </m:oMath>
                </a14:m>
                <a:endParaRPr sz="1800" b="1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23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339" y="4965251"/>
                <a:ext cx="4601261" cy="958404"/>
              </a:xfrm>
              <a:prstGeom prst="rect">
                <a:avLst/>
              </a:prstGeom>
              <a:blipFill>
                <a:blip r:embed="rId10"/>
                <a:stretch>
                  <a:fillRect l="-3046" b="-10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object 24"/>
          <p:cNvSpPr txBox="1"/>
          <p:nvPr/>
        </p:nvSpPr>
        <p:spPr>
          <a:xfrm>
            <a:off x="199339" y="6036970"/>
            <a:ext cx="5907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46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94665" algn="l"/>
              </a:tabLst>
            </a:pP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𝐤</a:t>
            </a:r>
            <a:r>
              <a:rPr sz="2625" baseline="-15873" dirty="0">
                <a:solidFill>
                  <a:srgbClr val="6F2F9F"/>
                </a:solidFill>
                <a:latin typeface="Cambria Math"/>
                <a:cs typeface="Cambria Math"/>
              </a:rPr>
              <a:t>𝐅</a:t>
            </a:r>
            <a:r>
              <a:rPr sz="2625" spc="322" baseline="-15873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frequency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Sensitivity,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 Unit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Hz/Volt.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Direct</a:t>
            </a:r>
            <a:r>
              <a:rPr sz="3200" u="sng" spc="-6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Method</a:t>
            </a:r>
            <a:r>
              <a:rPr sz="3200" u="sng" spc="-5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for</a:t>
            </a:r>
            <a:r>
              <a:rPr sz="3200" u="sng" spc="-4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FM</a:t>
            </a:r>
            <a:r>
              <a:rPr sz="3200" u="sng" spc="-5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Generation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1680400" y="2780855"/>
            <a:ext cx="326390" cy="1940560"/>
            <a:chOff x="1680400" y="2780855"/>
            <a:chExt cx="326390" cy="1940560"/>
          </a:xfrm>
        </p:grpSpPr>
        <p:sp>
          <p:nvSpPr>
            <p:cNvPr id="4" name="object 4"/>
            <p:cNvSpPr/>
            <p:nvPr/>
          </p:nvSpPr>
          <p:spPr>
            <a:xfrm>
              <a:off x="1850390" y="2795142"/>
              <a:ext cx="0" cy="901700"/>
            </a:xfrm>
            <a:custGeom>
              <a:avLst/>
              <a:gdLst/>
              <a:ahLst/>
              <a:cxnLst/>
              <a:rect l="l" t="t" r="r" b="b"/>
              <a:pathLst>
                <a:path h="901700">
                  <a:moveTo>
                    <a:pt x="0" y="901699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C55A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43532" y="3759072"/>
              <a:ext cx="6985" cy="948055"/>
            </a:xfrm>
            <a:custGeom>
              <a:avLst/>
              <a:gdLst/>
              <a:ahLst/>
              <a:cxnLst/>
              <a:rect l="l" t="t" r="r" b="b"/>
              <a:pathLst>
                <a:path w="6985" h="948054">
                  <a:moveTo>
                    <a:pt x="0" y="947546"/>
                  </a:moveTo>
                  <a:lnTo>
                    <a:pt x="6858" y="0"/>
                  </a:lnTo>
                </a:path>
              </a:pathLst>
            </a:custGeom>
            <a:ln w="28575">
              <a:solidFill>
                <a:srgbClr val="C55A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94688" y="3690111"/>
              <a:ext cx="297815" cy="0"/>
            </a:xfrm>
            <a:custGeom>
              <a:avLst/>
              <a:gdLst/>
              <a:ahLst/>
              <a:cxnLst/>
              <a:rect l="l" t="t" r="r" b="b"/>
              <a:pathLst>
                <a:path w="297814">
                  <a:moveTo>
                    <a:pt x="297814" y="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94688" y="3772280"/>
              <a:ext cx="297815" cy="0"/>
            </a:xfrm>
            <a:custGeom>
              <a:avLst/>
              <a:gdLst/>
              <a:ahLst/>
              <a:cxnLst/>
              <a:rect l="l" t="t" r="r" b="b"/>
              <a:pathLst>
                <a:path w="297814">
                  <a:moveTo>
                    <a:pt x="297814" y="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63980" y="3561969"/>
            <a:ext cx="3371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Cambria Math"/>
                <a:cs typeface="Cambria Math"/>
              </a:rPr>
              <a:t>𝐂</a:t>
            </a:r>
            <a:r>
              <a:rPr sz="2175" spc="-37" baseline="-15325" dirty="0">
                <a:latin typeface="Cambria Math"/>
                <a:cs typeface="Cambria Math"/>
              </a:rPr>
              <a:t>𝟎</a:t>
            </a:r>
            <a:endParaRPr sz="2175" baseline="-15325">
              <a:latin typeface="Cambria Math"/>
              <a:cs typeface="Cambria Math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943795" y="2710052"/>
            <a:ext cx="3053715" cy="2071370"/>
            <a:chOff x="943795" y="2710052"/>
            <a:chExt cx="3053715" cy="2071370"/>
          </a:xfrm>
        </p:grpSpPr>
        <p:sp>
          <p:nvSpPr>
            <p:cNvPr id="10" name="object 10"/>
            <p:cNvSpPr/>
            <p:nvPr/>
          </p:nvSpPr>
          <p:spPr>
            <a:xfrm>
              <a:off x="1060513" y="2795142"/>
              <a:ext cx="0" cy="624205"/>
            </a:xfrm>
            <a:custGeom>
              <a:avLst/>
              <a:gdLst/>
              <a:ahLst/>
              <a:cxnLst/>
              <a:rect l="l" t="t" r="r" b="b"/>
              <a:pathLst>
                <a:path h="624204">
                  <a:moveTo>
                    <a:pt x="0" y="0"/>
                  </a:moveTo>
                  <a:lnTo>
                    <a:pt x="0" y="623824"/>
                  </a:lnTo>
                </a:path>
              </a:pathLst>
            </a:custGeom>
            <a:ln w="28575">
              <a:solidFill>
                <a:srgbClr val="C55A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60513" y="4094480"/>
              <a:ext cx="0" cy="617220"/>
            </a:xfrm>
            <a:custGeom>
              <a:avLst/>
              <a:gdLst/>
              <a:ahLst/>
              <a:cxnLst/>
              <a:rect l="l" t="t" r="r" b="b"/>
              <a:pathLst>
                <a:path h="617220">
                  <a:moveTo>
                    <a:pt x="0" y="0"/>
                  </a:moveTo>
                  <a:lnTo>
                    <a:pt x="0" y="616839"/>
                  </a:lnTo>
                </a:path>
              </a:pathLst>
            </a:custGeom>
            <a:ln w="28575">
              <a:solidFill>
                <a:srgbClr val="C55A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58082" y="3411093"/>
              <a:ext cx="171450" cy="699135"/>
            </a:xfrm>
            <a:custGeom>
              <a:avLst/>
              <a:gdLst/>
              <a:ahLst/>
              <a:cxnLst/>
              <a:rect l="l" t="t" r="r" b="b"/>
              <a:pathLst>
                <a:path w="171450" h="699135">
                  <a:moveTo>
                    <a:pt x="106583" y="680973"/>
                  </a:moveTo>
                  <a:lnTo>
                    <a:pt x="90581" y="688915"/>
                  </a:lnTo>
                  <a:lnTo>
                    <a:pt x="75028" y="695356"/>
                  </a:lnTo>
                  <a:lnTo>
                    <a:pt x="60368" y="698797"/>
                  </a:lnTo>
                  <a:lnTo>
                    <a:pt x="47045" y="697737"/>
                  </a:lnTo>
                  <a:lnTo>
                    <a:pt x="33915" y="690546"/>
                  </a:lnTo>
                  <a:lnTo>
                    <a:pt x="21155" y="678497"/>
                  </a:lnTo>
                  <a:lnTo>
                    <a:pt x="11221" y="664162"/>
                  </a:lnTo>
                  <a:lnTo>
                    <a:pt x="6571" y="650112"/>
                  </a:lnTo>
                  <a:lnTo>
                    <a:pt x="7277" y="635682"/>
                  </a:lnTo>
                  <a:lnTo>
                    <a:pt x="37520" y="592962"/>
                  </a:lnTo>
                  <a:lnTo>
                    <a:pt x="97355" y="573833"/>
                  </a:lnTo>
                  <a:lnTo>
                    <a:pt x="154208" y="569086"/>
                  </a:lnTo>
                  <a:lnTo>
                    <a:pt x="169535" y="596471"/>
                  </a:lnTo>
                  <a:lnTo>
                    <a:pt x="167654" y="614396"/>
                  </a:lnTo>
                  <a:lnTo>
                    <a:pt x="131280" y="632221"/>
                  </a:lnTo>
                  <a:lnTo>
                    <a:pt x="89908" y="621537"/>
                  </a:lnTo>
                  <a:lnTo>
                    <a:pt x="40648" y="587390"/>
                  </a:lnTo>
                  <a:lnTo>
                    <a:pt x="6571" y="545337"/>
                  </a:lnTo>
                  <a:lnTo>
                    <a:pt x="9636" y="526202"/>
                  </a:lnTo>
                  <a:lnTo>
                    <a:pt x="40775" y="489313"/>
                  </a:lnTo>
                  <a:lnTo>
                    <a:pt x="82469" y="464661"/>
                  </a:lnTo>
                  <a:lnTo>
                    <a:pt x="95640" y="463641"/>
                  </a:lnTo>
                  <a:lnTo>
                    <a:pt x="108958" y="464311"/>
                  </a:lnTo>
                  <a:lnTo>
                    <a:pt x="154165" y="478099"/>
                  </a:lnTo>
                  <a:lnTo>
                    <a:pt x="164567" y="520225"/>
                  </a:lnTo>
                  <a:lnTo>
                    <a:pt x="124754" y="532538"/>
                  </a:lnTo>
                  <a:lnTo>
                    <a:pt x="111346" y="530986"/>
                  </a:lnTo>
                  <a:lnTo>
                    <a:pt x="98097" y="530514"/>
                  </a:lnTo>
                  <a:lnTo>
                    <a:pt x="56570" y="516762"/>
                  </a:lnTo>
                  <a:lnTo>
                    <a:pt x="22638" y="470312"/>
                  </a:lnTo>
                  <a:lnTo>
                    <a:pt x="4183" y="419099"/>
                  </a:lnTo>
                  <a:lnTo>
                    <a:pt x="12742" y="401421"/>
                  </a:lnTo>
                  <a:lnTo>
                    <a:pt x="52628" y="374540"/>
                  </a:lnTo>
                  <a:lnTo>
                    <a:pt x="93074" y="363779"/>
                  </a:lnTo>
                  <a:lnTo>
                    <a:pt x="134075" y="369185"/>
                  </a:lnTo>
                  <a:lnTo>
                    <a:pt x="170148" y="394587"/>
                  </a:lnTo>
                  <a:lnTo>
                    <a:pt x="170870" y="402462"/>
                  </a:lnTo>
                  <a:lnTo>
                    <a:pt x="168065" y="410803"/>
                  </a:lnTo>
                  <a:lnTo>
                    <a:pt x="135469" y="435770"/>
                  </a:lnTo>
                  <a:lnTo>
                    <a:pt x="87976" y="426231"/>
                  </a:lnTo>
                  <a:lnTo>
                    <a:pt x="44671" y="400049"/>
                  </a:lnTo>
                  <a:lnTo>
                    <a:pt x="23235" y="365347"/>
                  </a:lnTo>
                  <a:lnTo>
                    <a:pt x="11333" y="328548"/>
                  </a:lnTo>
                  <a:lnTo>
                    <a:pt x="21375" y="290776"/>
                  </a:lnTo>
                  <a:lnTo>
                    <a:pt x="58953" y="264413"/>
                  </a:lnTo>
                  <a:lnTo>
                    <a:pt x="107864" y="253587"/>
                  </a:lnTo>
                  <a:lnTo>
                    <a:pt x="123695" y="254603"/>
                  </a:lnTo>
                  <a:lnTo>
                    <a:pt x="162534" y="277240"/>
                  </a:lnTo>
                  <a:lnTo>
                    <a:pt x="154667" y="318956"/>
                  </a:lnTo>
                  <a:lnTo>
                    <a:pt x="112009" y="323760"/>
                  </a:lnTo>
                  <a:lnTo>
                    <a:pt x="99433" y="321436"/>
                  </a:lnTo>
                  <a:lnTo>
                    <a:pt x="87527" y="319391"/>
                  </a:lnTo>
                  <a:lnTo>
                    <a:pt x="51808" y="304799"/>
                  </a:lnTo>
                  <a:lnTo>
                    <a:pt x="22190" y="275478"/>
                  </a:lnTo>
                  <a:lnTo>
                    <a:pt x="4183" y="240537"/>
                  </a:lnTo>
                  <a:lnTo>
                    <a:pt x="8408" y="223853"/>
                  </a:lnTo>
                  <a:lnTo>
                    <a:pt x="34271" y="190960"/>
                  </a:lnTo>
                  <a:lnTo>
                    <a:pt x="84406" y="165036"/>
                  </a:lnTo>
                  <a:lnTo>
                    <a:pt x="118483" y="159511"/>
                  </a:lnTo>
                  <a:lnTo>
                    <a:pt x="130908" y="157585"/>
                  </a:lnTo>
                  <a:lnTo>
                    <a:pt x="165368" y="183768"/>
                  </a:lnTo>
                  <a:lnTo>
                    <a:pt x="166356" y="197000"/>
                  </a:lnTo>
                  <a:lnTo>
                    <a:pt x="163733" y="207136"/>
                  </a:lnTo>
                  <a:lnTo>
                    <a:pt x="156552" y="213665"/>
                  </a:lnTo>
                  <a:lnTo>
                    <a:pt x="145575" y="218312"/>
                  </a:lnTo>
                  <a:lnTo>
                    <a:pt x="132365" y="220960"/>
                  </a:lnTo>
                  <a:lnTo>
                    <a:pt x="118483" y="221487"/>
                  </a:lnTo>
                  <a:lnTo>
                    <a:pt x="103361" y="220243"/>
                  </a:lnTo>
                  <a:lnTo>
                    <a:pt x="54196" y="202437"/>
                  </a:lnTo>
                  <a:lnTo>
                    <a:pt x="24725" y="168449"/>
                  </a:lnTo>
                  <a:lnTo>
                    <a:pt x="6571" y="130936"/>
                  </a:lnTo>
                  <a:lnTo>
                    <a:pt x="7757" y="116476"/>
                  </a:lnTo>
                  <a:lnTo>
                    <a:pt x="32758" y="83311"/>
                  </a:lnTo>
                  <a:lnTo>
                    <a:pt x="56254" y="74953"/>
                  </a:lnTo>
                  <a:lnTo>
                    <a:pt x="66095" y="73786"/>
                  </a:lnTo>
                  <a:lnTo>
                    <a:pt x="78189" y="71641"/>
                  </a:lnTo>
                  <a:lnTo>
                    <a:pt x="91994" y="69484"/>
                  </a:lnTo>
                  <a:lnTo>
                    <a:pt x="105947" y="68304"/>
                  </a:lnTo>
                  <a:lnTo>
                    <a:pt x="118483" y="69087"/>
                  </a:lnTo>
                  <a:lnTo>
                    <a:pt x="156583" y="90423"/>
                  </a:lnTo>
                  <a:lnTo>
                    <a:pt x="169815" y="109283"/>
                  </a:lnTo>
                  <a:lnTo>
                    <a:pt x="168496" y="114299"/>
                  </a:lnTo>
                  <a:lnTo>
                    <a:pt x="128008" y="123824"/>
                  </a:lnTo>
                  <a:lnTo>
                    <a:pt x="104942" y="125587"/>
                  </a:lnTo>
                  <a:lnTo>
                    <a:pt x="93354" y="125378"/>
                  </a:lnTo>
                  <a:lnTo>
                    <a:pt x="82771" y="123824"/>
                  </a:lnTo>
                  <a:lnTo>
                    <a:pt x="73706" y="120562"/>
                  </a:lnTo>
                  <a:lnTo>
                    <a:pt x="65649" y="115919"/>
                  </a:lnTo>
                  <a:lnTo>
                    <a:pt x="57819" y="110466"/>
                  </a:lnTo>
                  <a:lnTo>
                    <a:pt x="49433" y="104774"/>
                  </a:lnTo>
                  <a:lnTo>
                    <a:pt x="39571" y="99133"/>
                  </a:lnTo>
                  <a:lnTo>
                    <a:pt x="28892" y="93265"/>
                  </a:lnTo>
                  <a:lnTo>
                    <a:pt x="18960" y="86612"/>
                  </a:lnTo>
                  <a:lnTo>
                    <a:pt x="11333" y="78612"/>
                  </a:lnTo>
                  <a:lnTo>
                    <a:pt x="5769" y="68171"/>
                  </a:lnTo>
                  <a:lnTo>
                    <a:pt x="1656" y="55943"/>
                  </a:lnTo>
                  <a:lnTo>
                    <a:pt x="0" y="43715"/>
                  </a:lnTo>
                  <a:lnTo>
                    <a:pt x="1808" y="33273"/>
                  </a:lnTo>
                  <a:lnTo>
                    <a:pt x="42283" y="7111"/>
                  </a:lnTo>
                  <a:lnTo>
                    <a:pt x="66563" y="2897"/>
                  </a:lnTo>
                  <a:lnTo>
                    <a:pt x="73246" y="2412"/>
                  </a:lnTo>
                  <a:lnTo>
                    <a:pt x="81577" y="1142"/>
                  </a:lnTo>
                  <a:lnTo>
                    <a:pt x="86936" y="507"/>
                  </a:lnTo>
                  <a:lnTo>
                    <a:pt x="92296" y="0"/>
                  </a:lnTo>
                </a:path>
              </a:pathLst>
            </a:custGeom>
            <a:ln w="28575">
              <a:solidFill>
                <a:srgbClr val="16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60513" y="2800222"/>
              <a:ext cx="2827020" cy="0"/>
            </a:xfrm>
            <a:custGeom>
              <a:avLst/>
              <a:gdLst/>
              <a:ahLst/>
              <a:cxnLst/>
              <a:rect l="l" t="t" r="r" b="b"/>
              <a:pathLst>
                <a:path w="2827020">
                  <a:moveTo>
                    <a:pt x="0" y="0"/>
                  </a:moveTo>
                  <a:lnTo>
                    <a:pt x="2826956" y="0"/>
                  </a:lnTo>
                </a:path>
              </a:pathLst>
            </a:custGeom>
            <a:ln w="28575">
              <a:solidFill>
                <a:srgbClr val="C55A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60513" y="4695063"/>
              <a:ext cx="2827020" cy="0"/>
            </a:xfrm>
            <a:custGeom>
              <a:avLst/>
              <a:gdLst/>
              <a:ahLst/>
              <a:cxnLst/>
              <a:rect l="l" t="t" r="r" b="b"/>
              <a:pathLst>
                <a:path w="2827020">
                  <a:moveTo>
                    <a:pt x="0" y="0"/>
                  </a:moveTo>
                  <a:lnTo>
                    <a:pt x="2826956" y="0"/>
                  </a:lnTo>
                </a:path>
              </a:pathLst>
            </a:custGeom>
            <a:ln w="28575">
              <a:solidFill>
                <a:srgbClr val="C55A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61613" y="2713227"/>
              <a:ext cx="175260" cy="17525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58438" y="2710052"/>
              <a:ext cx="181610" cy="18160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61613" y="4602607"/>
              <a:ext cx="175260" cy="17526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58438" y="4599432"/>
              <a:ext cx="181610" cy="18161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788792" y="2805937"/>
              <a:ext cx="0" cy="901700"/>
            </a:xfrm>
            <a:custGeom>
              <a:avLst/>
              <a:gdLst/>
              <a:ahLst/>
              <a:cxnLst/>
              <a:rect l="l" t="t" r="r" b="b"/>
              <a:pathLst>
                <a:path h="901700">
                  <a:moveTo>
                    <a:pt x="0" y="90170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C55A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781935" y="3755644"/>
              <a:ext cx="6985" cy="947419"/>
            </a:xfrm>
            <a:custGeom>
              <a:avLst/>
              <a:gdLst/>
              <a:ahLst/>
              <a:cxnLst/>
              <a:rect l="l" t="t" r="r" b="b"/>
              <a:pathLst>
                <a:path w="6985" h="947420">
                  <a:moveTo>
                    <a:pt x="0" y="947419"/>
                  </a:moveTo>
                  <a:lnTo>
                    <a:pt x="6858" y="0"/>
                  </a:lnTo>
                </a:path>
              </a:pathLst>
            </a:custGeom>
            <a:ln w="28575">
              <a:solidFill>
                <a:srgbClr val="C55A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97327" y="3411118"/>
              <a:ext cx="579107" cy="63091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497327" y="3411118"/>
              <a:ext cx="579120" cy="631190"/>
            </a:xfrm>
            <a:custGeom>
              <a:avLst/>
              <a:gdLst/>
              <a:ahLst/>
              <a:cxnLst/>
              <a:rect l="l" t="t" r="r" b="b"/>
              <a:pathLst>
                <a:path w="579119" h="631189">
                  <a:moveTo>
                    <a:pt x="0" y="630910"/>
                  </a:moveTo>
                  <a:lnTo>
                    <a:pt x="579107" y="630910"/>
                  </a:lnTo>
                  <a:lnTo>
                    <a:pt x="579107" y="0"/>
                  </a:lnTo>
                  <a:lnTo>
                    <a:pt x="0" y="0"/>
                  </a:lnTo>
                  <a:lnTo>
                    <a:pt x="0" y="630910"/>
                  </a:lnTo>
                  <a:close/>
                </a:path>
              </a:pathLst>
            </a:custGeom>
            <a:ln w="635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811143" y="2888487"/>
              <a:ext cx="76200" cy="1711960"/>
            </a:xfrm>
            <a:custGeom>
              <a:avLst/>
              <a:gdLst/>
              <a:ahLst/>
              <a:cxnLst/>
              <a:rect l="l" t="t" r="r" b="b"/>
              <a:pathLst>
                <a:path w="76200" h="1711960">
                  <a:moveTo>
                    <a:pt x="76200" y="1635506"/>
                  </a:moveTo>
                  <a:lnTo>
                    <a:pt x="47625" y="1635506"/>
                  </a:lnTo>
                  <a:lnTo>
                    <a:pt x="47625" y="1153541"/>
                  </a:lnTo>
                  <a:lnTo>
                    <a:pt x="28575" y="1153541"/>
                  </a:lnTo>
                  <a:lnTo>
                    <a:pt x="28575" y="1635506"/>
                  </a:lnTo>
                  <a:lnTo>
                    <a:pt x="0" y="1635506"/>
                  </a:lnTo>
                  <a:lnTo>
                    <a:pt x="38100" y="1711706"/>
                  </a:lnTo>
                  <a:lnTo>
                    <a:pt x="69850" y="1648206"/>
                  </a:lnTo>
                  <a:lnTo>
                    <a:pt x="76200" y="1635506"/>
                  </a:lnTo>
                  <a:close/>
                </a:path>
                <a:path w="76200" h="1711960">
                  <a:moveTo>
                    <a:pt x="76200" y="76200"/>
                  </a:move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8575" y="76200"/>
                  </a:lnTo>
                  <a:lnTo>
                    <a:pt x="28575" y="530479"/>
                  </a:lnTo>
                  <a:lnTo>
                    <a:pt x="47625" y="530479"/>
                  </a:lnTo>
                  <a:lnTo>
                    <a:pt x="47625" y="76200"/>
                  </a:lnTo>
                  <a:lnTo>
                    <a:pt x="76200" y="7620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39082" y="3848480"/>
              <a:ext cx="158369" cy="141096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710590" y="3552825"/>
            <a:ext cx="1695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latin typeface="Cambria Math"/>
                <a:cs typeface="Cambria Math"/>
              </a:rPr>
              <a:t>𝐋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560445" y="3432175"/>
            <a:ext cx="5778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Calibri"/>
                <a:cs typeface="Calibri"/>
              </a:rPr>
              <a:t>Message Signal</a:t>
            </a:r>
            <a:endParaRPr sz="1200">
              <a:latin typeface="Calibri"/>
              <a:cs typeface="Calibri"/>
            </a:endParaRPr>
          </a:p>
          <a:p>
            <a:pPr marR="53340" algn="ctr">
              <a:lnSpc>
                <a:spcPct val="100000"/>
              </a:lnSpc>
            </a:pPr>
            <a:r>
              <a:rPr sz="1200" dirty="0">
                <a:latin typeface="Cambria Math"/>
                <a:cs typeface="Cambria Math"/>
              </a:rPr>
              <a:t>𝐦</a:t>
            </a:r>
            <a:r>
              <a:rPr sz="1200" spc="210" dirty="0">
                <a:latin typeface="Cambria Math"/>
                <a:cs typeface="Cambria Math"/>
              </a:rPr>
              <a:t> </a:t>
            </a:r>
            <a:r>
              <a:rPr sz="1200" spc="-50" dirty="0">
                <a:latin typeface="Cambria Math"/>
                <a:cs typeface="Cambria Math"/>
              </a:rPr>
              <a:t>𝐭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540507" y="4092321"/>
            <a:ext cx="85725" cy="1003935"/>
          </a:xfrm>
          <a:custGeom>
            <a:avLst/>
            <a:gdLst/>
            <a:ahLst/>
            <a:cxnLst/>
            <a:rect l="l" t="t" r="r" b="b"/>
            <a:pathLst>
              <a:path w="85725" h="1003935">
                <a:moveTo>
                  <a:pt x="57150" y="71500"/>
                </a:moveTo>
                <a:lnTo>
                  <a:pt x="28575" y="71500"/>
                </a:lnTo>
                <a:lnTo>
                  <a:pt x="28575" y="1003426"/>
                </a:lnTo>
                <a:lnTo>
                  <a:pt x="57150" y="1003426"/>
                </a:lnTo>
                <a:lnTo>
                  <a:pt x="57150" y="71500"/>
                </a:lnTo>
                <a:close/>
              </a:path>
              <a:path w="85725" h="1003935">
                <a:moveTo>
                  <a:pt x="42926" y="0"/>
                </a:moveTo>
                <a:lnTo>
                  <a:pt x="0" y="85724"/>
                </a:lnTo>
                <a:lnTo>
                  <a:pt x="28575" y="85724"/>
                </a:lnTo>
                <a:lnTo>
                  <a:pt x="28575" y="71500"/>
                </a:lnTo>
                <a:lnTo>
                  <a:pt x="78623" y="71500"/>
                </a:lnTo>
                <a:lnTo>
                  <a:pt x="42926" y="0"/>
                </a:lnTo>
                <a:close/>
              </a:path>
              <a:path w="85725" h="1003935">
                <a:moveTo>
                  <a:pt x="78623" y="71500"/>
                </a:moveTo>
                <a:lnTo>
                  <a:pt x="57150" y="71500"/>
                </a:lnTo>
                <a:lnTo>
                  <a:pt x="57150" y="85724"/>
                </a:lnTo>
                <a:lnTo>
                  <a:pt x="85725" y="85724"/>
                </a:lnTo>
                <a:lnTo>
                  <a:pt x="78623" y="7150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076704" y="5104257"/>
            <a:ext cx="10661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Calibri"/>
                <a:cs typeface="Calibri"/>
              </a:rPr>
              <a:t>Variable</a:t>
            </a:r>
            <a:r>
              <a:rPr sz="1200" b="1" spc="-4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Reactor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637154" y="3360673"/>
            <a:ext cx="306705" cy="743585"/>
            <a:chOff x="2637154" y="3360673"/>
            <a:chExt cx="306705" cy="743585"/>
          </a:xfrm>
        </p:grpSpPr>
        <p:sp>
          <p:nvSpPr>
            <p:cNvPr id="30" name="object 30"/>
            <p:cNvSpPr/>
            <p:nvPr/>
          </p:nvSpPr>
          <p:spPr>
            <a:xfrm>
              <a:off x="2786633" y="3822953"/>
              <a:ext cx="635" cy="267335"/>
            </a:xfrm>
            <a:custGeom>
              <a:avLst/>
              <a:gdLst/>
              <a:ahLst/>
              <a:cxnLst/>
              <a:rect l="l" t="t" r="r" b="b"/>
              <a:pathLst>
                <a:path w="635" h="267335">
                  <a:moveTo>
                    <a:pt x="507" y="0"/>
                  </a:moveTo>
                  <a:lnTo>
                    <a:pt x="0" y="266954"/>
                  </a:lnTo>
                </a:path>
              </a:pathLst>
            </a:custGeom>
            <a:ln w="28575">
              <a:solidFill>
                <a:srgbClr val="C55A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787141" y="3360673"/>
              <a:ext cx="0" cy="184785"/>
            </a:xfrm>
            <a:custGeom>
              <a:avLst/>
              <a:gdLst/>
              <a:ahLst/>
              <a:cxnLst/>
              <a:rect l="l" t="t" r="r" b="b"/>
              <a:pathLst>
                <a:path h="184785">
                  <a:moveTo>
                    <a:pt x="0" y="0"/>
                  </a:moveTo>
                  <a:lnTo>
                    <a:pt x="0" y="184277"/>
                  </a:lnTo>
                </a:path>
              </a:pathLst>
            </a:custGeom>
            <a:ln w="28575">
              <a:solidFill>
                <a:srgbClr val="C55A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645155" y="3605783"/>
              <a:ext cx="297815" cy="0"/>
            </a:xfrm>
            <a:custGeom>
              <a:avLst/>
              <a:gdLst/>
              <a:ahLst/>
              <a:cxnLst/>
              <a:rect l="l" t="t" r="r" b="b"/>
              <a:pathLst>
                <a:path w="297814">
                  <a:moveTo>
                    <a:pt x="0" y="0"/>
                  </a:moveTo>
                  <a:lnTo>
                    <a:pt x="29781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42742" y="3620769"/>
              <a:ext cx="297814" cy="28105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2642742" y="3620769"/>
              <a:ext cx="297815" cy="281305"/>
            </a:xfrm>
            <a:custGeom>
              <a:avLst/>
              <a:gdLst/>
              <a:ahLst/>
              <a:cxnLst/>
              <a:rect l="l" t="t" r="r" b="b"/>
              <a:pathLst>
                <a:path w="297814" h="281304">
                  <a:moveTo>
                    <a:pt x="0" y="281050"/>
                  </a:moveTo>
                  <a:lnTo>
                    <a:pt x="148971" y="0"/>
                  </a:lnTo>
                  <a:lnTo>
                    <a:pt x="297815" y="281050"/>
                  </a:lnTo>
                  <a:lnTo>
                    <a:pt x="0" y="281050"/>
                  </a:lnTo>
                  <a:close/>
                </a:path>
              </a:pathLst>
            </a:custGeom>
            <a:ln w="63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645155" y="3555745"/>
              <a:ext cx="297815" cy="0"/>
            </a:xfrm>
            <a:custGeom>
              <a:avLst/>
              <a:gdLst/>
              <a:ahLst/>
              <a:cxnLst/>
              <a:rect l="l" t="t" r="r" b="b"/>
              <a:pathLst>
                <a:path w="297814">
                  <a:moveTo>
                    <a:pt x="0" y="0"/>
                  </a:moveTo>
                  <a:lnTo>
                    <a:pt x="297815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637154" y="3459606"/>
              <a:ext cx="303530" cy="225425"/>
            </a:xfrm>
            <a:custGeom>
              <a:avLst/>
              <a:gdLst/>
              <a:ahLst/>
              <a:cxnLst/>
              <a:rect l="l" t="t" r="r" b="b"/>
              <a:pathLst>
                <a:path w="303530" h="225425">
                  <a:moveTo>
                    <a:pt x="236217" y="37362"/>
                  </a:moveTo>
                  <a:lnTo>
                    <a:pt x="0" y="209930"/>
                  </a:lnTo>
                  <a:lnTo>
                    <a:pt x="11175" y="225297"/>
                  </a:lnTo>
                  <a:lnTo>
                    <a:pt x="247419" y="52709"/>
                  </a:lnTo>
                  <a:lnTo>
                    <a:pt x="236217" y="37362"/>
                  </a:lnTo>
                  <a:close/>
                </a:path>
                <a:path w="303530" h="225425">
                  <a:moveTo>
                    <a:pt x="288005" y="29844"/>
                  </a:moveTo>
                  <a:lnTo>
                    <a:pt x="246506" y="29844"/>
                  </a:lnTo>
                  <a:lnTo>
                    <a:pt x="257682" y="45211"/>
                  </a:lnTo>
                  <a:lnTo>
                    <a:pt x="247419" y="52709"/>
                  </a:lnTo>
                  <a:lnTo>
                    <a:pt x="264286" y="75818"/>
                  </a:lnTo>
                  <a:lnTo>
                    <a:pt x="288005" y="29844"/>
                  </a:lnTo>
                  <a:close/>
                </a:path>
                <a:path w="303530" h="225425">
                  <a:moveTo>
                    <a:pt x="246506" y="29844"/>
                  </a:moveTo>
                  <a:lnTo>
                    <a:pt x="236217" y="37362"/>
                  </a:lnTo>
                  <a:lnTo>
                    <a:pt x="247419" y="52709"/>
                  </a:lnTo>
                  <a:lnTo>
                    <a:pt x="257682" y="45211"/>
                  </a:lnTo>
                  <a:lnTo>
                    <a:pt x="246506" y="29844"/>
                  </a:lnTo>
                  <a:close/>
                </a:path>
                <a:path w="303530" h="225425">
                  <a:moveTo>
                    <a:pt x="303402" y="0"/>
                  </a:moveTo>
                  <a:lnTo>
                    <a:pt x="219328" y="14223"/>
                  </a:lnTo>
                  <a:lnTo>
                    <a:pt x="236217" y="37362"/>
                  </a:lnTo>
                  <a:lnTo>
                    <a:pt x="246506" y="29844"/>
                  </a:lnTo>
                  <a:lnTo>
                    <a:pt x="288005" y="29844"/>
                  </a:lnTo>
                  <a:lnTo>
                    <a:pt x="30340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5280405" y="3128264"/>
            <a:ext cx="3159125" cy="916305"/>
            <a:chOff x="5280405" y="3128264"/>
            <a:chExt cx="3159125" cy="916305"/>
          </a:xfrm>
        </p:grpSpPr>
        <p:sp>
          <p:nvSpPr>
            <p:cNvPr id="38" name="object 38"/>
            <p:cNvSpPr/>
            <p:nvPr/>
          </p:nvSpPr>
          <p:spPr>
            <a:xfrm>
              <a:off x="5371210" y="3584067"/>
              <a:ext cx="2977515" cy="0"/>
            </a:xfrm>
            <a:custGeom>
              <a:avLst/>
              <a:gdLst/>
              <a:ahLst/>
              <a:cxnLst/>
              <a:rect l="l" t="t" r="r" b="b"/>
              <a:pathLst>
                <a:path w="2977515">
                  <a:moveTo>
                    <a:pt x="0" y="0"/>
                  </a:moveTo>
                  <a:lnTo>
                    <a:pt x="397890" y="0"/>
                  </a:lnTo>
                </a:path>
                <a:path w="2977515">
                  <a:moveTo>
                    <a:pt x="1019327" y="0"/>
                  </a:moveTo>
                  <a:lnTo>
                    <a:pt x="1944623" y="0"/>
                  </a:lnTo>
                </a:path>
                <a:path w="2977515">
                  <a:moveTo>
                    <a:pt x="2573273" y="0"/>
                  </a:moveTo>
                  <a:lnTo>
                    <a:pt x="2977007" y="0"/>
                  </a:lnTo>
                </a:path>
              </a:pathLst>
            </a:custGeom>
            <a:ln w="28575">
              <a:solidFill>
                <a:srgbClr val="7E5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83580" y="3496437"/>
              <a:ext cx="175260" cy="175259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80405" y="3493262"/>
              <a:ext cx="181610" cy="181609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260588" y="3499231"/>
              <a:ext cx="175259" cy="175259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257413" y="3496056"/>
              <a:ext cx="181609" cy="181609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69101" y="3131439"/>
              <a:ext cx="621436" cy="909447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5769101" y="3131439"/>
              <a:ext cx="621665" cy="909955"/>
            </a:xfrm>
            <a:custGeom>
              <a:avLst/>
              <a:gdLst/>
              <a:ahLst/>
              <a:cxnLst/>
              <a:rect l="l" t="t" r="r" b="b"/>
              <a:pathLst>
                <a:path w="621664" h="909954">
                  <a:moveTo>
                    <a:pt x="0" y="909447"/>
                  </a:moveTo>
                  <a:lnTo>
                    <a:pt x="621436" y="909447"/>
                  </a:lnTo>
                  <a:lnTo>
                    <a:pt x="621436" y="0"/>
                  </a:lnTo>
                  <a:lnTo>
                    <a:pt x="0" y="0"/>
                  </a:lnTo>
                  <a:lnTo>
                    <a:pt x="0" y="909447"/>
                  </a:lnTo>
                  <a:close/>
                </a:path>
              </a:pathLst>
            </a:custGeom>
            <a:ln w="63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6007353" y="3421760"/>
            <a:ext cx="147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P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6358763" y="3129407"/>
            <a:ext cx="960755" cy="916305"/>
            <a:chOff x="6358763" y="3129407"/>
            <a:chExt cx="960755" cy="916305"/>
          </a:xfrm>
        </p:grpSpPr>
        <p:pic>
          <p:nvPicPr>
            <p:cNvPr id="47" name="object 4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361938" y="3132582"/>
              <a:ext cx="953884" cy="909446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6361938" y="3132582"/>
              <a:ext cx="954405" cy="909955"/>
            </a:xfrm>
            <a:custGeom>
              <a:avLst/>
              <a:gdLst/>
              <a:ahLst/>
              <a:cxnLst/>
              <a:rect l="l" t="t" r="r" b="b"/>
              <a:pathLst>
                <a:path w="954404" h="909954">
                  <a:moveTo>
                    <a:pt x="0" y="909446"/>
                  </a:moveTo>
                  <a:lnTo>
                    <a:pt x="953884" y="909446"/>
                  </a:lnTo>
                  <a:lnTo>
                    <a:pt x="953884" y="0"/>
                  </a:lnTo>
                  <a:lnTo>
                    <a:pt x="0" y="0"/>
                  </a:lnTo>
                  <a:lnTo>
                    <a:pt x="0" y="909446"/>
                  </a:lnTo>
                  <a:close/>
                </a:path>
              </a:pathLst>
            </a:custGeom>
            <a:ln w="635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6461886" y="3349878"/>
            <a:ext cx="75438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Calibri"/>
                <a:cs typeface="Calibri"/>
              </a:rPr>
              <a:t>Depletion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573139" y="3563239"/>
            <a:ext cx="53340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Calibri"/>
                <a:cs typeface="Calibri"/>
              </a:rPr>
              <a:t>Region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51" name="object 5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315834" y="3131439"/>
            <a:ext cx="628650" cy="909447"/>
          </a:xfrm>
          <a:prstGeom prst="rect">
            <a:avLst/>
          </a:prstGeom>
        </p:spPr>
      </p:pic>
      <p:sp>
        <p:nvSpPr>
          <p:cNvPr id="52" name="object 52"/>
          <p:cNvSpPr txBox="1"/>
          <p:nvPr/>
        </p:nvSpPr>
        <p:spPr>
          <a:xfrm>
            <a:off x="7315828" y="3132010"/>
            <a:ext cx="628650" cy="909955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10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b="1" spc="-50" dirty="0">
                <a:latin typeface="Calibri"/>
                <a:cs typeface="Calibri"/>
              </a:rPr>
              <a:t>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6352413" y="2832607"/>
            <a:ext cx="973455" cy="241935"/>
            <a:chOff x="6352413" y="2832607"/>
            <a:chExt cx="973455" cy="241935"/>
          </a:xfrm>
        </p:grpSpPr>
        <p:sp>
          <p:nvSpPr>
            <p:cNvPr id="54" name="object 54"/>
            <p:cNvSpPr/>
            <p:nvPr/>
          </p:nvSpPr>
          <p:spPr>
            <a:xfrm>
              <a:off x="6361938" y="2832607"/>
              <a:ext cx="0" cy="241935"/>
            </a:xfrm>
            <a:custGeom>
              <a:avLst/>
              <a:gdLst/>
              <a:ahLst/>
              <a:cxnLst/>
              <a:rect l="l" t="t" r="r" b="b"/>
              <a:pathLst>
                <a:path h="241935">
                  <a:moveTo>
                    <a:pt x="0" y="0"/>
                  </a:moveTo>
                  <a:lnTo>
                    <a:pt x="0" y="241681"/>
                  </a:lnTo>
                </a:path>
              </a:pathLst>
            </a:custGeom>
            <a:ln w="19050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315835" y="2832607"/>
              <a:ext cx="0" cy="241935"/>
            </a:xfrm>
            <a:custGeom>
              <a:avLst/>
              <a:gdLst/>
              <a:ahLst/>
              <a:cxnLst/>
              <a:rect l="l" t="t" r="r" b="b"/>
              <a:pathLst>
                <a:path h="241935">
                  <a:moveTo>
                    <a:pt x="0" y="0"/>
                  </a:moveTo>
                  <a:lnTo>
                    <a:pt x="0" y="241681"/>
                  </a:lnTo>
                </a:path>
              </a:pathLst>
            </a:custGeom>
            <a:ln w="19050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361938" y="2911982"/>
              <a:ext cx="954405" cy="76200"/>
            </a:xfrm>
            <a:custGeom>
              <a:avLst/>
              <a:gdLst/>
              <a:ahLst/>
              <a:cxnLst/>
              <a:rect l="l" t="t" r="r" b="b"/>
              <a:pathLst>
                <a:path w="954404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200" y="31750"/>
                  </a:lnTo>
                  <a:lnTo>
                    <a:pt x="76200" y="0"/>
                  </a:lnTo>
                  <a:close/>
                </a:path>
                <a:path w="954404" h="76200">
                  <a:moveTo>
                    <a:pt x="877697" y="0"/>
                  </a:moveTo>
                  <a:lnTo>
                    <a:pt x="877697" y="76200"/>
                  </a:lnTo>
                  <a:lnTo>
                    <a:pt x="941197" y="44450"/>
                  </a:lnTo>
                  <a:lnTo>
                    <a:pt x="890397" y="44450"/>
                  </a:lnTo>
                  <a:lnTo>
                    <a:pt x="890397" y="31750"/>
                  </a:lnTo>
                  <a:lnTo>
                    <a:pt x="941197" y="31750"/>
                  </a:lnTo>
                  <a:lnTo>
                    <a:pt x="877697" y="0"/>
                  </a:lnTo>
                  <a:close/>
                </a:path>
                <a:path w="954404" h="76200">
                  <a:moveTo>
                    <a:pt x="76200" y="31750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00" y="44450"/>
                  </a:lnTo>
                  <a:lnTo>
                    <a:pt x="76200" y="31750"/>
                  </a:lnTo>
                  <a:close/>
                </a:path>
                <a:path w="954404" h="76200">
                  <a:moveTo>
                    <a:pt x="877697" y="31750"/>
                  </a:moveTo>
                  <a:lnTo>
                    <a:pt x="76200" y="31750"/>
                  </a:lnTo>
                  <a:lnTo>
                    <a:pt x="76200" y="44450"/>
                  </a:lnTo>
                  <a:lnTo>
                    <a:pt x="877697" y="44450"/>
                  </a:lnTo>
                  <a:lnTo>
                    <a:pt x="877697" y="31750"/>
                  </a:lnTo>
                  <a:close/>
                </a:path>
                <a:path w="954404" h="76200">
                  <a:moveTo>
                    <a:pt x="941197" y="31750"/>
                  </a:moveTo>
                  <a:lnTo>
                    <a:pt x="890397" y="31750"/>
                  </a:lnTo>
                  <a:lnTo>
                    <a:pt x="890397" y="44450"/>
                  </a:lnTo>
                  <a:lnTo>
                    <a:pt x="941197" y="44450"/>
                  </a:lnTo>
                  <a:lnTo>
                    <a:pt x="953897" y="38100"/>
                  </a:lnTo>
                  <a:lnTo>
                    <a:pt x="941197" y="3175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224739" y="593801"/>
            <a:ext cx="11482705" cy="2327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  <a:tab pos="1324610" algn="l"/>
                <a:tab pos="2428240" algn="l"/>
                <a:tab pos="3903345" algn="l"/>
                <a:tab pos="5257165" algn="l"/>
                <a:tab pos="6217285" algn="l"/>
                <a:tab pos="6835775" algn="l"/>
                <a:tab pos="8258175" algn="l"/>
                <a:tab pos="8669655" algn="l"/>
                <a:tab pos="9685020" algn="l"/>
                <a:tab pos="10563860" algn="l"/>
                <a:tab pos="11153775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Using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Voltage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Controlled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Oscillator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(VCO),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frequency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Carrier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can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be</a:t>
            </a:r>
            <a:endParaRPr sz="24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controlled</a:t>
            </a:r>
            <a:r>
              <a:rPr sz="2400" b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by</a:t>
            </a:r>
            <a:r>
              <a:rPr sz="2400" b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an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external</a:t>
            </a:r>
            <a:r>
              <a:rPr sz="24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voltage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(Message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Signal).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sz="2400" b="1" dirty="0">
                <a:solidFill>
                  <a:srgbClr val="1F3863"/>
                </a:solidFill>
                <a:latin typeface="Calibri"/>
                <a:cs typeface="Calibri"/>
              </a:rPr>
              <a:t>Heartily</a:t>
            </a:r>
            <a:r>
              <a:rPr sz="2400" b="1" spc="-70" dirty="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F3863"/>
                </a:solidFill>
                <a:latin typeface="Calibri"/>
                <a:cs typeface="Calibri"/>
              </a:rPr>
              <a:t>or</a:t>
            </a:r>
            <a:r>
              <a:rPr sz="2400" b="1" spc="-75" dirty="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F3863"/>
                </a:solidFill>
                <a:latin typeface="Calibri"/>
                <a:cs typeface="Calibri"/>
              </a:rPr>
              <a:t>Colpitts</a:t>
            </a:r>
            <a:r>
              <a:rPr sz="2400" b="1" spc="-55" dirty="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1F3863"/>
                </a:solidFill>
                <a:latin typeface="Calibri"/>
                <a:cs typeface="Calibri"/>
              </a:rPr>
              <a:t>Oscillator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sz="2400" b="1" dirty="0">
                <a:solidFill>
                  <a:srgbClr val="1F3863"/>
                </a:solidFill>
                <a:latin typeface="Calibri"/>
                <a:cs typeface="Calibri"/>
              </a:rPr>
              <a:t>Schmitt</a:t>
            </a:r>
            <a:r>
              <a:rPr sz="2400" b="1" spc="-100" dirty="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1F3863"/>
                </a:solidFill>
                <a:latin typeface="Calibri"/>
                <a:cs typeface="Calibri"/>
              </a:rPr>
              <a:t>Trigger</a:t>
            </a:r>
            <a:r>
              <a:rPr sz="2400" b="1" spc="-114" dirty="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1F3863"/>
                </a:solidFill>
                <a:latin typeface="Calibri"/>
                <a:cs typeface="Calibri"/>
              </a:rPr>
              <a:t>Circuit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sz="2400" b="1" spc="-10" dirty="0">
                <a:solidFill>
                  <a:srgbClr val="1F3863"/>
                </a:solidFill>
                <a:latin typeface="Calibri"/>
                <a:cs typeface="Calibri"/>
              </a:rPr>
              <a:t>Saturable</a:t>
            </a:r>
            <a:r>
              <a:rPr sz="2400" b="1" spc="-60" dirty="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F3863"/>
                </a:solidFill>
                <a:latin typeface="Calibri"/>
                <a:cs typeface="Calibri"/>
              </a:rPr>
              <a:t>Core</a:t>
            </a:r>
            <a:r>
              <a:rPr sz="2400" b="1" spc="-65" dirty="0">
                <a:solidFill>
                  <a:srgbClr val="1F3863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1F3863"/>
                </a:solidFill>
                <a:latin typeface="Calibri"/>
                <a:cs typeface="Calibri"/>
              </a:rPr>
              <a:t>Reactor</a:t>
            </a:r>
            <a:endParaRPr sz="2400">
              <a:latin typeface="Calibri"/>
              <a:cs typeface="Calibri"/>
            </a:endParaRPr>
          </a:p>
          <a:p>
            <a:pPr marL="1746250" algn="ctr">
              <a:lnSpc>
                <a:spcPct val="100000"/>
              </a:lnSpc>
              <a:spcBef>
                <a:spcPts val="1560"/>
              </a:spcBef>
            </a:pPr>
            <a:r>
              <a:rPr sz="1800" b="1" spc="-50" dirty="0">
                <a:latin typeface="Calibri"/>
                <a:cs typeface="Calibri"/>
              </a:rPr>
              <a:t>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7252334" y="4507229"/>
            <a:ext cx="155575" cy="15240"/>
          </a:xfrm>
          <a:custGeom>
            <a:avLst/>
            <a:gdLst/>
            <a:ahLst/>
            <a:cxnLst/>
            <a:rect l="l" t="t" r="r" b="b"/>
            <a:pathLst>
              <a:path w="155575" h="15239">
                <a:moveTo>
                  <a:pt x="155448" y="0"/>
                </a:moveTo>
                <a:lnTo>
                  <a:pt x="0" y="0"/>
                </a:lnTo>
                <a:lnTo>
                  <a:pt x="0" y="15240"/>
                </a:lnTo>
                <a:lnTo>
                  <a:pt x="155448" y="15240"/>
                </a:lnTo>
                <a:lnTo>
                  <a:pt x="1554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9" name="object 5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325614" y="4917947"/>
            <a:ext cx="235965" cy="211709"/>
          </a:xfrm>
          <a:prstGeom prst="rect">
            <a:avLst/>
          </a:prstGeom>
        </p:spPr>
      </p:pic>
      <p:sp>
        <p:nvSpPr>
          <p:cNvPr id="60" name="object 60"/>
          <p:cNvSpPr txBox="1"/>
          <p:nvPr/>
        </p:nvSpPr>
        <p:spPr>
          <a:xfrm>
            <a:off x="5924041" y="4166361"/>
            <a:ext cx="1602105" cy="981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09220" algn="r">
              <a:lnSpc>
                <a:spcPts val="1764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𝐀</a:t>
            </a:r>
            <a:endParaRPr sz="1800">
              <a:latin typeface="Cambria Math"/>
              <a:cs typeface="Cambria Math"/>
            </a:endParaRPr>
          </a:p>
          <a:p>
            <a:pPr marL="38100">
              <a:lnSpc>
                <a:spcPts val="1764"/>
              </a:lnSpc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𝐂′</a:t>
            </a:r>
            <a:r>
              <a:rPr sz="1800" spc="114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𝛆</a:t>
            </a:r>
            <a:r>
              <a:rPr sz="1950" baseline="-14957" dirty="0">
                <a:latin typeface="Cambria Math"/>
                <a:cs typeface="Cambria Math"/>
              </a:rPr>
              <a:t>𝟎</a:t>
            </a:r>
            <a:r>
              <a:rPr sz="1800" dirty="0">
                <a:latin typeface="Cambria Math"/>
                <a:cs typeface="Cambria Math"/>
              </a:rPr>
              <a:t>𝛆</a:t>
            </a:r>
            <a:r>
              <a:rPr sz="1950" baseline="-14957" dirty="0">
                <a:latin typeface="Cambria Math"/>
                <a:cs typeface="Cambria Math"/>
              </a:rPr>
              <a:t>𝐫</a:t>
            </a:r>
            <a:r>
              <a:rPr sz="1950" spc="217" baseline="-14957" dirty="0">
                <a:latin typeface="Cambria Math"/>
                <a:cs typeface="Cambria Math"/>
              </a:rPr>
              <a:t> </a:t>
            </a:r>
            <a:r>
              <a:rPr sz="2700" spc="-75" baseline="-37037" dirty="0">
                <a:latin typeface="Cambria Math"/>
                <a:cs typeface="Cambria Math"/>
              </a:rPr>
              <a:t>𝐝</a:t>
            </a:r>
            <a:endParaRPr sz="2700" baseline="-37037">
              <a:latin typeface="Cambria Math"/>
              <a:cs typeface="Cambria Math"/>
            </a:endParaRPr>
          </a:p>
          <a:p>
            <a:pPr marL="39370">
              <a:lnSpc>
                <a:spcPct val="100000"/>
              </a:lnSpc>
              <a:spcBef>
                <a:spcPts val="1839"/>
              </a:spcBef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7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𝐂′</a:t>
            </a:r>
            <a:r>
              <a:rPr sz="1800" spc="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−𝐤𝐦</a:t>
            </a:r>
            <a:r>
              <a:rPr sz="1800" spc="33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61" name="object 6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603625" y="5962103"/>
            <a:ext cx="235965" cy="211747"/>
          </a:xfrm>
          <a:prstGeom prst="rect">
            <a:avLst/>
          </a:prstGeom>
        </p:spPr>
      </p:pic>
      <p:sp>
        <p:nvSpPr>
          <p:cNvPr id="62" name="object 62"/>
          <p:cNvSpPr txBox="1"/>
          <p:nvPr/>
        </p:nvSpPr>
        <p:spPr>
          <a:xfrm>
            <a:off x="199339" y="5281963"/>
            <a:ext cx="3616960" cy="910590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494665" indent="-456565">
              <a:lnSpc>
                <a:spcPct val="100000"/>
              </a:lnSpc>
              <a:spcBef>
                <a:spcPts val="1200"/>
              </a:spcBef>
              <a:buFont typeface="Wingdings"/>
              <a:buChar char=""/>
              <a:tabLst>
                <a:tab pos="494665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Effective</a:t>
            </a:r>
            <a:r>
              <a:rPr sz="2400" b="1" spc="-1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Capacitance:</a:t>
            </a:r>
            <a:endParaRPr sz="2400">
              <a:latin typeface="Calibri"/>
              <a:cs typeface="Calibri"/>
            </a:endParaRPr>
          </a:p>
          <a:p>
            <a:pPr marL="727710">
              <a:lnSpc>
                <a:spcPct val="100000"/>
              </a:lnSpc>
              <a:spcBef>
                <a:spcPts val="825"/>
              </a:spcBef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𝐂</a:t>
            </a:r>
            <a:r>
              <a:rPr sz="1800" spc="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𝐂</a:t>
            </a:r>
            <a:r>
              <a:rPr sz="1950" baseline="-14957" dirty="0">
                <a:latin typeface="Cambria Math"/>
                <a:cs typeface="Cambria Math"/>
              </a:rPr>
              <a:t>𝟎</a:t>
            </a:r>
            <a:r>
              <a:rPr sz="1950" spc="270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 </a:t>
            </a:r>
            <a:r>
              <a:rPr sz="1800" spc="85" dirty="0">
                <a:latin typeface="Cambria Math"/>
                <a:cs typeface="Cambria Math"/>
              </a:rPr>
              <a:t>𝐂</a:t>
            </a:r>
            <a:r>
              <a:rPr sz="1950" spc="127" baseline="27777" dirty="0">
                <a:latin typeface="Cambria Math"/>
                <a:cs typeface="Cambria Math"/>
              </a:rPr>
              <a:t>′</a:t>
            </a:r>
            <a:r>
              <a:rPr sz="1950" spc="390" baseline="2777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𝐂</a:t>
            </a:r>
            <a:r>
              <a:rPr sz="1950" baseline="-14957" dirty="0">
                <a:latin typeface="Cambria Math"/>
                <a:cs typeface="Cambria Math"/>
              </a:rPr>
              <a:t>𝟎</a:t>
            </a:r>
            <a:r>
              <a:rPr sz="1950" spc="262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−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𝐤𝐦</a:t>
            </a:r>
            <a:r>
              <a:rPr sz="1800" spc="33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xmlns="" id="{CC6217DD-E3D9-4D6A-83AA-F8C4B6B90D96}"/>
              </a:ext>
            </a:extLst>
          </p:cNvPr>
          <p:cNvSpPr txBox="1"/>
          <p:nvPr/>
        </p:nvSpPr>
        <p:spPr>
          <a:xfrm>
            <a:off x="1170712" y="4765740"/>
            <a:ext cx="1674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Tank Circuit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Derivation</a:t>
            </a:r>
            <a:r>
              <a:rPr sz="3200" u="sng" spc="-8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of</a:t>
            </a:r>
            <a:r>
              <a:rPr sz="3200" u="sng" spc="-5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FM</a:t>
            </a:r>
            <a:r>
              <a:rPr sz="3200" u="sng" spc="-4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Signal</a:t>
            </a:r>
            <a:r>
              <a:rPr sz="3200" u="sng" spc="-7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using</a:t>
            </a:r>
            <a:r>
              <a:rPr sz="3200" u="sng" spc="-7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Direct</a:t>
            </a:r>
            <a:r>
              <a:rPr sz="3200" u="sng" spc="-5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Method</a:t>
            </a:r>
            <a:r>
              <a:rPr sz="3200" u="sng" spc="-4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for</a:t>
            </a:r>
            <a:r>
              <a:rPr sz="3200" u="sng" spc="-4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FM</a:t>
            </a:r>
            <a:r>
              <a:rPr sz="3200" u="sng" spc="-3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Generation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94C0B750-36EB-4681-96E4-42B735001E31}"/>
              </a:ext>
            </a:extLst>
          </p:cNvPr>
          <p:cNvSpPr/>
          <p:nvPr/>
        </p:nvSpPr>
        <p:spPr>
          <a:xfrm>
            <a:off x="3352800" y="5821819"/>
            <a:ext cx="4495800" cy="7313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7720BEB-1DE9-45DA-A7C6-06FB6EF4A149}"/>
              </a:ext>
            </a:extLst>
          </p:cNvPr>
          <p:cNvSpPr txBox="1"/>
          <p:nvPr/>
        </p:nvSpPr>
        <p:spPr>
          <a:xfrm>
            <a:off x="3581400" y="5987454"/>
            <a:ext cx="5638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Higher orders of the Taylor’s series will be neglected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4142" y="3808403"/>
            <a:ext cx="8642985" cy="244030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3200" b="1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Advantages</a:t>
            </a:r>
            <a:r>
              <a:rPr sz="3200" b="1" u="sng" spc="-9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of</a:t>
            </a:r>
            <a:r>
              <a:rPr sz="3200" b="1" u="sng" spc="-6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Direct</a:t>
            </a:r>
            <a:r>
              <a:rPr sz="3200" b="1" u="sng" spc="-6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Method</a:t>
            </a:r>
            <a:r>
              <a:rPr sz="3200" b="1" u="sng" spc="-5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for</a:t>
            </a:r>
            <a:r>
              <a:rPr sz="3200" b="1" u="sng" spc="-5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FM</a:t>
            </a:r>
            <a:r>
              <a:rPr sz="3200" b="1" u="sng" spc="-4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Generation</a:t>
            </a:r>
            <a:endParaRPr sz="32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spcBef>
                <a:spcPts val="585"/>
              </a:spcBef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It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generates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sufficient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frequency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deviation.</a:t>
            </a:r>
            <a:endParaRPr sz="24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It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requires</a:t>
            </a:r>
            <a:r>
              <a:rPr sz="24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little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frequency</a:t>
            </a:r>
            <a:r>
              <a:rPr sz="24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multiplication.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3200" b="1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Disadvantages</a:t>
            </a:r>
            <a:r>
              <a:rPr sz="3200" b="1" u="sng" spc="-6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of</a:t>
            </a:r>
            <a:r>
              <a:rPr sz="3200" b="1" u="sng" spc="-8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Direct</a:t>
            </a:r>
            <a:r>
              <a:rPr sz="3200" b="1" u="sng" spc="-5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Method</a:t>
            </a:r>
            <a:r>
              <a:rPr sz="3200" b="1" u="sng" spc="-5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for</a:t>
            </a:r>
            <a:r>
              <a:rPr sz="3200" b="1" u="sng" spc="-5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FM</a:t>
            </a:r>
            <a:r>
              <a:rPr sz="3200" b="1" u="sng" spc="-5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Generation</a:t>
            </a:r>
            <a:endParaRPr sz="320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spcBef>
                <a:spcPts val="585"/>
              </a:spcBef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It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has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Poor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Frequency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Stability.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7936" y="-26466"/>
            <a:ext cx="11164570" cy="2230755"/>
          </a:xfrm>
          <a:prstGeom prst="rect">
            <a:avLst/>
          </a:prstGeom>
        </p:spPr>
        <p:txBody>
          <a:bodyPr vert="horz" wrap="square" lIns="0" tIns="314325" rIns="0" bIns="0" rtlCol="0">
            <a:spAutoFit/>
          </a:bodyPr>
          <a:lstStyle/>
          <a:p>
            <a:pPr marL="1759585" marR="530225" indent="-908685">
              <a:lnSpc>
                <a:spcPct val="70000"/>
              </a:lnSpc>
              <a:spcBef>
                <a:spcPts val="2475"/>
              </a:spcBef>
            </a:pPr>
            <a:r>
              <a:rPr sz="6600" spc="175" dirty="0">
                <a:solidFill>
                  <a:srgbClr val="006600"/>
                </a:solidFill>
                <a:latin typeface="Trebuchet MS"/>
                <a:cs typeface="Trebuchet MS"/>
              </a:rPr>
              <a:t>FM</a:t>
            </a:r>
            <a:r>
              <a:rPr sz="6600" spc="-295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6600" spc="-180" dirty="0">
                <a:solidFill>
                  <a:srgbClr val="006600"/>
                </a:solidFill>
                <a:latin typeface="Trebuchet MS"/>
                <a:cs typeface="Trebuchet MS"/>
              </a:rPr>
              <a:t>Generation</a:t>
            </a:r>
            <a:r>
              <a:rPr sz="6600" spc="-325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6600" dirty="0">
                <a:solidFill>
                  <a:srgbClr val="006600"/>
                </a:solidFill>
                <a:latin typeface="Trebuchet MS"/>
                <a:cs typeface="Trebuchet MS"/>
              </a:rPr>
              <a:t>by</a:t>
            </a:r>
            <a:r>
              <a:rPr sz="6600" spc="-290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6600" spc="-185" dirty="0">
                <a:solidFill>
                  <a:srgbClr val="006600"/>
                </a:solidFill>
                <a:latin typeface="Trebuchet MS"/>
                <a:cs typeface="Trebuchet MS"/>
              </a:rPr>
              <a:t>Indirect </a:t>
            </a:r>
            <a:r>
              <a:rPr sz="6600" spc="-110" dirty="0">
                <a:solidFill>
                  <a:srgbClr val="006600"/>
                </a:solidFill>
                <a:latin typeface="Trebuchet MS"/>
                <a:cs typeface="Trebuchet MS"/>
              </a:rPr>
              <a:t>Method</a:t>
            </a:r>
            <a:r>
              <a:rPr sz="6600" spc="-350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6600" spc="-195" dirty="0">
                <a:solidFill>
                  <a:srgbClr val="006600"/>
                </a:solidFill>
                <a:latin typeface="Trebuchet MS"/>
                <a:cs typeface="Trebuchet MS"/>
              </a:rPr>
              <a:t>of</a:t>
            </a:r>
            <a:r>
              <a:rPr sz="6600" spc="-360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6600" spc="-10" dirty="0">
                <a:solidFill>
                  <a:srgbClr val="006600"/>
                </a:solidFill>
                <a:latin typeface="Trebuchet MS"/>
                <a:cs typeface="Trebuchet MS"/>
              </a:rPr>
              <a:t>Armstrong</a:t>
            </a:r>
            <a:endParaRPr sz="6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Block</a:t>
            </a:r>
            <a:r>
              <a:rPr sz="3200" u="sng" spc="-7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Diagram</a:t>
            </a:r>
            <a:r>
              <a:rPr sz="3200" u="sng" spc="-9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of</a:t>
            </a:r>
            <a:r>
              <a:rPr sz="3200" u="sng" spc="-5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FM</a:t>
            </a:r>
            <a:r>
              <a:rPr sz="3200" u="sng" spc="-5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Generation</a:t>
            </a:r>
            <a:r>
              <a:rPr sz="3200" u="sng" spc="-7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by</a:t>
            </a:r>
            <a:r>
              <a:rPr sz="3200" u="sng" spc="-7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Indirect</a:t>
            </a:r>
            <a:r>
              <a:rPr sz="3200" u="sng" spc="-6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Method</a:t>
            </a:r>
            <a:r>
              <a:rPr sz="3200" u="sng" spc="-5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of</a:t>
            </a:r>
            <a:r>
              <a:rPr sz="3200" u="sng" spc="-5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Armstrong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540473" y="2837433"/>
            <a:ext cx="1492250" cy="403860"/>
            <a:chOff x="540473" y="2837433"/>
            <a:chExt cx="1492250" cy="403860"/>
          </a:xfrm>
        </p:grpSpPr>
        <p:sp>
          <p:nvSpPr>
            <p:cNvPr id="4" name="object 4"/>
            <p:cNvSpPr/>
            <p:nvPr/>
          </p:nvSpPr>
          <p:spPr>
            <a:xfrm>
              <a:off x="540473" y="3126612"/>
              <a:ext cx="1492250" cy="114300"/>
            </a:xfrm>
            <a:custGeom>
              <a:avLst/>
              <a:gdLst/>
              <a:ahLst/>
              <a:cxnLst/>
              <a:rect l="l" t="t" r="r" b="b"/>
              <a:pathLst>
                <a:path w="1492250" h="114300">
                  <a:moveTo>
                    <a:pt x="1377353" y="0"/>
                  </a:moveTo>
                  <a:lnTo>
                    <a:pt x="1377353" y="114300"/>
                  </a:lnTo>
                  <a:lnTo>
                    <a:pt x="1453553" y="76200"/>
                  </a:lnTo>
                  <a:lnTo>
                    <a:pt x="1396403" y="76200"/>
                  </a:lnTo>
                  <a:lnTo>
                    <a:pt x="1396403" y="38100"/>
                  </a:lnTo>
                  <a:lnTo>
                    <a:pt x="1453553" y="38100"/>
                  </a:lnTo>
                  <a:lnTo>
                    <a:pt x="1377353" y="0"/>
                  </a:lnTo>
                  <a:close/>
                </a:path>
                <a:path w="1492250" h="114300">
                  <a:moveTo>
                    <a:pt x="1377353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1377353" y="76200"/>
                  </a:lnTo>
                  <a:lnTo>
                    <a:pt x="1377353" y="38100"/>
                  </a:lnTo>
                  <a:close/>
                </a:path>
                <a:path w="1492250" h="114300">
                  <a:moveTo>
                    <a:pt x="1453553" y="38100"/>
                  </a:moveTo>
                  <a:lnTo>
                    <a:pt x="1396403" y="38100"/>
                  </a:lnTo>
                  <a:lnTo>
                    <a:pt x="1396403" y="76200"/>
                  </a:lnTo>
                  <a:lnTo>
                    <a:pt x="1453553" y="76200"/>
                  </a:lnTo>
                  <a:lnTo>
                    <a:pt x="1491653" y="57150"/>
                  </a:lnTo>
                  <a:lnTo>
                    <a:pt x="1453553" y="3810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2416" y="2837433"/>
              <a:ext cx="315595" cy="282575"/>
            </a:xfrm>
            <a:custGeom>
              <a:avLst/>
              <a:gdLst/>
              <a:ahLst/>
              <a:cxnLst/>
              <a:rect l="l" t="t" r="r" b="b"/>
              <a:pathLst>
                <a:path w="315594" h="282575">
                  <a:moveTo>
                    <a:pt x="225196" y="0"/>
                  </a:moveTo>
                  <a:lnTo>
                    <a:pt x="221183" y="11430"/>
                  </a:lnTo>
                  <a:lnTo>
                    <a:pt x="237525" y="18522"/>
                  </a:lnTo>
                  <a:lnTo>
                    <a:pt x="251579" y="28352"/>
                  </a:lnTo>
                  <a:lnTo>
                    <a:pt x="280114" y="73852"/>
                  </a:lnTo>
                  <a:lnTo>
                    <a:pt x="288413" y="115341"/>
                  </a:lnTo>
                  <a:lnTo>
                    <a:pt x="288453" y="115623"/>
                  </a:lnTo>
                  <a:lnTo>
                    <a:pt x="288448" y="164635"/>
                  </a:lnTo>
                  <a:lnTo>
                    <a:pt x="280072" y="207601"/>
                  </a:lnTo>
                  <a:lnTo>
                    <a:pt x="251596" y="253857"/>
                  </a:lnTo>
                  <a:lnTo>
                    <a:pt x="221627" y="270891"/>
                  </a:lnTo>
                  <a:lnTo>
                    <a:pt x="225196" y="282321"/>
                  </a:lnTo>
                  <a:lnTo>
                    <a:pt x="263705" y="264255"/>
                  </a:lnTo>
                  <a:lnTo>
                    <a:pt x="292023" y="233045"/>
                  </a:lnTo>
                  <a:lnTo>
                    <a:pt x="309437" y="191134"/>
                  </a:lnTo>
                  <a:lnTo>
                    <a:pt x="315239" y="141224"/>
                  </a:lnTo>
                  <a:lnTo>
                    <a:pt x="313800" y="115623"/>
                  </a:lnTo>
                  <a:lnTo>
                    <a:pt x="302139" y="69482"/>
                  </a:lnTo>
                  <a:lnTo>
                    <a:pt x="279038" y="32146"/>
                  </a:lnTo>
                  <a:lnTo>
                    <a:pt x="245663" y="7381"/>
                  </a:lnTo>
                  <a:lnTo>
                    <a:pt x="225196" y="0"/>
                  </a:lnTo>
                  <a:close/>
                </a:path>
                <a:path w="315594" h="282575">
                  <a:moveTo>
                    <a:pt x="90043" y="0"/>
                  </a:moveTo>
                  <a:lnTo>
                    <a:pt x="51619" y="18097"/>
                  </a:lnTo>
                  <a:lnTo>
                    <a:pt x="23291" y="49530"/>
                  </a:lnTo>
                  <a:lnTo>
                    <a:pt x="5821" y="91424"/>
                  </a:lnTo>
                  <a:lnTo>
                    <a:pt x="85" y="139700"/>
                  </a:lnTo>
                  <a:lnTo>
                    <a:pt x="0" y="141224"/>
                  </a:lnTo>
                  <a:lnTo>
                    <a:pt x="1450" y="167179"/>
                  </a:lnTo>
                  <a:lnTo>
                    <a:pt x="13056" y="213090"/>
                  </a:lnTo>
                  <a:lnTo>
                    <a:pt x="36100" y="250281"/>
                  </a:lnTo>
                  <a:lnTo>
                    <a:pt x="69514" y="274943"/>
                  </a:lnTo>
                  <a:lnTo>
                    <a:pt x="90043" y="282321"/>
                  </a:lnTo>
                  <a:lnTo>
                    <a:pt x="93611" y="270891"/>
                  </a:lnTo>
                  <a:lnTo>
                    <a:pt x="77521" y="263773"/>
                  </a:lnTo>
                  <a:lnTo>
                    <a:pt x="63638" y="253857"/>
                  </a:lnTo>
                  <a:lnTo>
                    <a:pt x="35167" y="207601"/>
                  </a:lnTo>
                  <a:lnTo>
                    <a:pt x="26790" y="164635"/>
                  </a:lnTo>
                  <a:lnTo>
                    <a:pt x="25806" y="141224"/>
                  </a:lnTo>
                  <a:lnTo>
                    <a:pt x="25742" y="139700"/>
                  </a:lnTo>
                  <a:lnTo>
                    <a:pt x="29932" y="93678"/>
                  </a:lnTo>
                  <a:lnTo>
                    <a:pt x="42494" y="56134"/>
                  </a:lnTo>
                  <a:lnTo>
                    <a:pt x="77773" y="18522"/>
                  </a:lnTo>
                  <a:lnTo>
                    <a:pt x="94056" y="11430"/>
                  </a:lnTo>
                  <a:lnTo>
                    <a:pt x="900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27177" y="2747898"/>
            <a:ext cx="1494155" cy="1121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99800"/>
              </a:lnSpc>
              <a:spcBef>
                <a:spcPts val="105"/>
              </a:spcBef>
            </a:pPr>
            <a:r>
              <a:rPr sz="2400" dirty="0">
                <a:latin typeface="Cambria Math"/>
                <a:cs typeface="Cambria Math"/>
              </a:rPr>
              <a:t>𝐦</a:t>
            </a:r>
            <a:r>
              <a:rPr sz="2400" spc="434" dirty="0">
                <a:latin typeface="Cambria Math"/>
                <a:cs typeface="Cambria Math"/>
              </a:rPr>
              <a:t> </a:t>
            </a:r>
            <a:r>
              <a:rPr sz="2400" spc="-60" dirty="0">
                <a:latin typeface="Cambria Math"/>
                <a:cs typeface="Cambria Math"/>
              </a:rPr>
              <a:t>𝐭 </a:t>
            </a:r>
            <a:r>
              <a:rPr sz="2400" b="1" spc="-10" dirty="0">
                <a:latin typeface="Calibri"/>
                <a:cs typeface="Calibri"/>
              </a:rPr>
              <a:t>Modulating Signal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2126" y="2761005"/>
            <a:ext cx="1664589" cy="84173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032126" y="2761005"/>
            <a:ext cx="1664970" cy="842010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219075" rIns="0" bIns="0" rtlCol="0">
            <a:spAutoFit/>
          </a:bodyPr>
          <a:lstStyle/>
          <a:p>
            <a:pPr marL="442595">
              <a:lnSpc>
                <a:spcPct val="100000"/>
              </a:lnSpc>
              <a:spcBef>
                <a:spcPts val="1725"/>
              </a:spcBef>
            </a:pPr>
            <a:r>
              <a:rPr sz="2400" b="1" spc="-20" dirty="0">
                <a:latin typeface="Calibri"/>
                <a:cs typeface="Calibri"/>
              </a:rPr>
              <a:t>NBFM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696589" y="2762910"/>
            <a:ext cx="2258060" cy="842010"/>
            <a:chOff x="3696589" y="2762910"/>
            <a:chExt cx="2258060" cy="842010"/>
          </a:xfrm>
        </p:grpSpPr>
        <p:sp>
          <p:nvSpPr>
            <p:cNvPr id="10" name="object 10"/>
            <p:cNvSpPr/>
            <p:nvPr/>
          </p:nvSpPr>
          <p:spPr>
            <a:xfrm>
              <a:off x="3696589" y="3126232"/>
              <a:ext cx="593090" cy="114300"/>
            </a:xfrm>
            <a:custGeom>
              <a:avLst/>
              <a:gdLst/>
              <a:ahLst/>
              <a:cxnLst/>
              <a:rect l="l" t="t" r="r" b="b"/>
              <a:pathLst>
                <a:path w="593089" h="114300">
                  <a:moveTo>
                    <a:pt x="478789" y="0"/>
                  </a:moveTo>
                  <a:lnTo>
                    <a:pt x="478668" y="36575"/>
                  </a:lnTo>
                  <a:lnTo>
                    <a:pt x="478662" y="38226"/>
                  </a:lnTo>
                  <a:lnTo>
                    <a:pt x="478535" y="76326"/>
                  </a:lnTo>
                  <a:lnTo>
                    <a:pt x="478408" y="114299"/>
                  </a:lnTo>
                  <a:lnTo>
                    <a:pt x="555034" y="76326"/>
                  </a:lnTo>
                  <a:lnTo>
                    <a:pt x="497585" y="76326"/>
                  </a:lnTo>
                  <a:lnTo>
                    <a:pt x="497712" y="38226"/>
                  </a:lnTo>
                  <a:lnTo>
                    <a:pt x="554653" y="38226"/>
                  </a:lnTo>
                  <a:lnTo>
                    <a:pt x="478789" y="0"/>
                  </a:lnTo>
                  <a:close/>
                </a:path>
                <a:path w="593089" h="114300">
                  <a:moveTo>
                    <a:pt x="126" y="36575"/>
                  </a:moveTo>
                  <a:lnTo>
                    <a:pt x="0" y="74675"/>
                  </a:lnTo>
                  <a:lnTo>
                    <a:pt x="497585" y="76326"/>
                  </a:lnTo>
                  <a:lnTo>
                    <a:pt x="478535" y="76326"/>
                  </a:lnTo>
                  <a:lnTo>
                    <a:pt x="478662" y="38226"/>
                  </a:lnTo>
                  <a:lnTo>
                    <a:pt x="497712" y="38226"/>
                  </a:lnTo>
                  <a:lnTo>
                    <a:pt x="126" y="36575"/>
                  </a:lnTo>
                  <a:close/>
                </a:path>
                <a:path w="593089" h="114300">
                  <a:moveTo>
                    <a:pt x="554653" y="38226"/>
                  </a:moveTo>
                  <a:lnTo>
                    <a:pt x="497712" y="38226"/>
                  </a:lnTo>
                  <a:lnTo>
                    <a:pt x="497585" y="76326"/>
                  </a:lnTo>
                  <a:lnTo>
                    <a:pt x="555034" y="76326"/>
                  </a:lnTo>
                  <a:lnTo>
                    <a:pt x="592962" y="57530"/>
                  </a:lnTo>
                  <a:lnTo>
                    <a:pt x="554653" y="38226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89552" y="2762910"/>
              <a:ext cx="1664589" cy="84173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289552" y="2762910"/>
            <a:ext cx="1664970" cy="842010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203200" marR="166370" indent="-29209">
              <a:lnSpc>
                <a:spcPct val="100000"/>
              </a:lnSpc>
              <a:spcBef>
                <a:spcPts val="280"/>
              </a:spcBef>
            </a:pPr>
            <a:r>
              <a:rPr sz="2400" b="1" spc="-10" dirty="0">
                <a:latin typeface="Calibri"/>
                <a:cs typeface="Calibri"/>
              </a:rPr>
              <a:t>Frequency Multiplier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954014" y="2761005"/>
            <a:ext cx="2267585" cy="842010"/>
            <a:chOff x="5954014" y="2761005"/>
            <a:chExt cx="2267585" cy="842010"/>
          </a:xfrm>
        </p:grpSpPr>
        <p:sp>
          <p:nvSpPr>
            <p:cNvPr id="14" name="object 14"/>
            <p:cNvSpPr/>
            <p:nvPr/>
          </p:nvSpPr>
          <p:spPr>
            <a:xfrm>
              <a:off x="5954014" y="3125088"/>
              <a:ext cx="602615" cy="114300"/>
            </a:xfrm>
            <a:custGeom>
              <a:avLst/>
              <a:gdLst/>
              <a:ahLst/>
              <a:cxnLst/>
              <a:rect l="l" t="t" r="r" b="b"/>
              <a:pathLst>
                <a:path w="602615" h="114300">
                  <a:moveTo>
                    <a:pt x="487933" y="0"/>
                  </a:moveTo>
                  <a:lnTo>
                    <a:pt x="488061" y="38157"/>
                  </a:lnTo>
                  <a:lnTo>
                    <a:pt x="488188" y="76257"/>
                  </a:lnTo>
                  <a:lnTo>
                    <a:pt x="488314" y="114300"/>
                  </a:lnTo>
                  <a:lnTo>
                    <a:pt x="563812" y="76257"/>
                  </a:lnTo>
                  <a:lnTo>
                    <a:pt x="507238" y="76257"/>
                  </a:lnTo>
                  <a:lnTo>
                    <a:pt x="507111" y="38157"/>
                  </a:lnTo>
                  <a:lnTo>
                    <a:pt x="564931" y="38157"/>
                  </a:lnTo>
                  <a:lnTo>
                    <a:pt x="487933" y="0"/>
                  </a:lnTo>
                  <a:close/>
                </a:path>
                <a:path w="602615" h="114300">
                  <a:moveTo>
                    <a:pt x="488061" y="38157"/>
                  </a:moveTo>
                  <a:lnTo>
                    <a:pt x="0" y="39624"/>
                  </a:lnTo>
                  <a:lnTo>
                    <a:pt x="126" y="77724"/>
                  </a:lnTo>
                  <a:lnTo>
                    <a:pt x="488188" y="76257"/>
                  </a:lnTo>
                  <a:lnTo>
                    <a:pt x="488061" y="38157"/>
                  </a:lnTo>
                  <a:close/>
                </a:path>
                <a:path w="602615" h="114300">
                  <a:moveTo>
                    <a:pt x="564931" y="38157"/>
                  </a:moveTo>
                  <a:lnTo>
                    <a:pt x="507111" y="38157"/>
                  </a:lnTo>
                  <a:lnTo>
                    <a:pt x="507238" y="76257"/>
                  </a:lnTo>
                  <a:lnTo>
                    <a:pt x="563812" y="76257"/>
                  </a:lnTo>
                  <a:lnTo>
                    <a:pt x="602487" y="56769"/>
                  </a:lnTo>
                  <a:lnTo>
                    <a:pt x="564931" y="38157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56502" y="2761005"/>
              <a:ext cx="1664588" cy="84173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6556502" y="2761005"/>
            <a:ext cx="1664970" cy="842010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36194" rIns="0" bIns="0" rtlCol="0">
            <a:spAutoFit/>
          </a:bodyPr>
          <a:lstStyle/>
          <a:p>
            <a:pPr marL="127000" marR="116839" indent="46990">
              <a:lnSpc>
                <a:spcPct val="100000"/>
              </a:lnSpc>
              <a:spcBef>
                <a:spcPts val="284"/>
              </a:spcBef>
            </a:pPr>
            <a:r>
              <a:rPr sz="2400" b="1" spc="-10" dirty="0">
                <a:latin typeface="Calibri"/>
                <a:cs typeface="Calibri"/>
              </a:rPr>
              <a:t>Frequency Conversion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221091" y="2761005"/>
            <a:ext cx="2266950" cy="842010"/>
            <a:chOff x="8221091" y="2761005"/>
            <a:chExt cx="2266950" cy="842010"/>
          </a:xfrm>
        </p:grpSpPr>
        <p:sp>
          <p:nvSpPr>
            <p:cNvPr id="18" name="object 18"/>
            <p:cNvSpPr/>
            <p:nvPr/>
          </p:nvSpPr>
          <p:spPr>
            <a:xfrm>
              <a:off x="8221091" y="3124707"/>
              <a:ext cx="602615" cy="114300"/>
            </a:xfrm>
            <a:custGeom>
              <a:avLst/>
              <a:gdLst/>
              <a:ahLst/>
              <a:cxnLst/>
              <a:rect l="l" t="t" r="r" b="b"/>
              <a:pathLst>
                <a:path w="602615" h="114300">
                  <a:moveTo>
                    <a:pt x="488061" y="0"/>
                  </a:moveTo>
                  <a:lnTo>
                    <a:pt x="488061" y="114300"/>
                  </a:lnTo>
                  <a:lnTo>
                    <a:pt x="564261" y="76200"/>
                  </a:lnTo>
                  <a:lnTo>
                    <a:pt x="507111" y="76200"/>
                  </a:lnTo>
                  <a:lnTo>
                    <a:pt x="507111" y="38100"/>
                  </a:lnTo>
                  <a:lnTo>
                    <a:pt x="564261" y="38100"/>
                  </a:lnTo>
                  <a:lnTo>
                    <a:pt x="488061" y="0"/>
                  </a:lnTo>
                  <a:close/>
                </a:path>
                <a:path w="602615" h="114300">
                  <a:moveTo>
                    <a:pt x="488061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488061" y="76200"/>
                  </a:lnTo>
                  <a:lnTo>
                    <a:pt x="488061" y="38100"/>
                  </a:lnTo>
                  <a:close/>
                </a:path>
                <a:path w="602615" h="114300">
                  <a:moveTo>
                    <a:pt x="564261" y="38100"/>
                  </a:moveTo>
                  <a:lnTo>
                    <a:pt x="507111" y="38100"/>
                  </a:lnTo>
                  <a:lnTo>
                    <a:pt x="507111" y="76200"/>
                  </a:lnTo>
                  <a:lnTo>
                    <a:pt x="564261" y="76200"/>
                  </a:lnTo>
                  <a:lnTo>
                    <a:pt x="602361" y="57150"/>
                  </a:lnTo>
                  <a:lnTo>
                    <a:pt x="564261" y="3810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3452" y="2761005"/>
              <a:ext cx="1664588" cy="84173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8823452" y="2761005"/>
            <a:ext cx="1664970" cy="842010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36194" rIns="0" bIns="0" rtlCol="0">
            <a:spAutoFit/>
          </a:bodyPr>
          <a:lstStyle/>
          <a:p>
            <a:pPr marL="203835" marR="165735" indent="-29209">
              <a:lnSpc>
                <a:spcPct val="100000"/>
              </a:lnSpc>
              <a:spcBef>
                <a:spcPts val="284"/>
              </a:spcBef>
            </a:pPr>
            <a:r>
              <a:rPr sz="2400" b="1" spc="-10" dirty="0">
                <a:latin typeface="Calibri"/>
                <a:cs typeface="Calibri"/>
              </a:rPr>
              <a:t>Frequency Multiplier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0488041" y="3124707"/>
            <a:ext cx="1361440" cy="114300"/>
          </a:xfrm>
          <a:custGeom>
            <a:avLst/>
            <a:gdLst/>
            <a:ahLst/>
            <a:cxnLst/>
            <a:rect l="l" t="t" r="r" b="b"/>
            <a:pathLst>
              <a:path w="1361440" h="114300">
                <a:moveTo>
                  <a:pt x="1246759" y="0"/>
                </a:moveTo>
                <a:lnTo>
                  <a:pt x="1246759" y="114300"/>
                </a:lnTo>
                <a:lnTo>
                  <a:pt x="1322959" y="76200"/>
                </a:lnTo>
                <a:lnTo>
                  <a:pt x="1265809" y="76200"/>
                </a:lnTo>
                <a:lnTo>
                  <a:pt x="1265809" y="38100"/>
                </a:lnTo>
                <a:lnTo>
                  <a:pt x="1322959" y="38100"/>
                </a:lnTo>
                <a:lnTo>
                  <a:pt x="1246759" y="0"/>
                </a:lnTo>
                <a:close/>
              </a:path>
              <a:path w="1361440" h="114300">
                <a:moveTo>
                  <a:pt x="1246759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246759" y="76200"/>
                </a:lnTo>
                <a:lnTo>
                  <a:pt x="1246759" y="38100"/>
                </a:lnTo>
                <a:close/>
              </a:path>
              <a:path w="1361440" h="114300">
                <a:moveTo>
                  <a:pt x="1322959" y="38100"/>
                </a:moveTo>
                <a:lnTo>
                  <a:pt x="1265809" y="38100"/>
                </a:lnTo>
                <a:lnTo>
                  <a:pt x="1265809" y="76200"/>
                </a:lnTo>
                <a:lnTo>
                  <a:pt x="1322959" y="76200"/>
                </a:lnTo>
                <a:lnTo>
                  <a:pt x="1361059" y="57150"/>
                </a:lnTo>
                <a:lnTo>
                  <a:pt x="1322959" y="3810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0914380" y="2785617"/>
            <a:ext cx="77978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Calibri"/>
                <a:cs typeface="Calibri"/>
              </a:rPr>
              <a:t>FM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latin typeface="Calibri"/>
                <a:cs typeface="Calibri"/>
              </a:rPr>
              <a:t>Signal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23" name="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56502" y="4126509"/>
            <a:ext cx="1664588" cy="841730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6556502" y="4126509"/>
            <a:ext cx="1664970" cy="842010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36194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284"/>
              </a:spcBef>
            </a:pPr>
            <a:r>
              <a:rPr sz="2400" b="1" spc="-10" dirty="0">
                <a:latin typeface="Calibri"/>
                <a:cs typeface="Calibri"/>
              </a:rPr>
              <a:t>Crystal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2400" b="1" spc="-10" dirty="0">
                <a:latin typeface="Calibri"/>
                <a:cs typeface="Calibri"/>
              </a:rPr>
              <a:t>Oscillator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6" name="object 26"/>
            <p:cNvSpPr/>
            <p:nvPr/>
          </p:nvSpPr>
          <p:spPr>
            <a:xfrm>
              <a:off x="7331582" y="3602735"/>
              <a:ext cx="114300" cy="523875"/>
            </a:xfrm>
            <a:custGeom>
              <a:avLst/>
              <a:gdLst/>
              <a:ahLst/>
              <a:cxnLst/>
              <a:rect l="l" t="t" r="r" b="b"/>
              <a:pathLst>
                <a:path w="114300" h="523875">
                  <a:moveTo>
                    <a:pt x="76200" y="95249"/>
                  </a:moveTo>
                  <a:lnTo>
                    <a:pt x="38100" y="95249"/>
                  </a:lnTo>
                  <a:lnTo>
                    <a:pt x="38100" y="523747"/>
                  </a:lnTo>
                  <a:lnTo>
                    <a:pt x="76200" y="523747"/>
                  </a:lnTo>
                  <a:lnTo>
                    <a:pt x="76200" y="95249"/>
                  </a:lnTo>
                  <a:close/>
                </a:path>
                <a:path w="114300" h="523875">
                  <a:moveTo>
                    <a:pt x="57150" y="0"/>
                  </a:moveTo>
                  <a:lnTo>
                    <a:pt x="0" y="114299"/>
                  </a:lnTo>
                  <a:lnTo>
                    <a:pt x="38100" y="114299"/>
                  </a:lnTo>
                  <a:lnTo>
                    <a:pt x="38100" y="95249"/>
                  </a:lnTo>
                  <a:lnTo>
                    <a:pt x="104775" y="95249"/>
                  </a:lnTo>
                  <a:lnTo>
                    <a:pt x="57150" y="0"/>
                  </a:lnTo>
                  <a:close/>
                </a:path>
                <a:path w="114300" h="523875">
                  <a:moveTo>
                    <a:pt x="104775" y="95249"/>
                  </a:moveTo>
                  <a:lnTo>
                    <a:pt x="76200" y="95249"/>
                  </a:lnTo>
                  <a:lnTo>
                    <a:pt x="76200" y="114299"/>
                  </a:lnTo>
                  <a:lnTo>
                    <a:pt x="114300" y="114299"/>
                  </a:lnTo>
                  <a:lnTo>
                    <a:pt x="104775" y="95249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NBFM</a:t>
            </a:r>
            <a:r>
              <a:rPr sz="3200" u="sng" spc="-6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Generation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7477252" y="712216"/>
            <a:ext cx="681355" cy="282575"/>
          </a:xfrm>
          <a:custGeom>
            <a:avLst/>
            <a:gdLst/>
            <a:ahLst/>
            <a:cxnLst/>
            <a:rect l="l" t="t" r="r" b="b"/>
            <a:pathLst>
              <a:path w="681354" h="282575">
                <a:moveTo>
                  <a:pt x="590930" y="0"/>
                </a:moveTo>
                <a:lnTo>
                  <a:pt x="586866" y="11430"/>
                </a:lnTo>
                <a:lnTo>
                  <a:pt x="603230" y="18504"/>
                </a:lnTo>
                <a:lnTo>
                  <a:pt x="617283" y="28305"/>
                </a:lnTo>
                <a:lnTo>
                  <a:pt x="645816" y="73798"/>
                </a:lnTo>
                <a:lnTo>
                  <a:pt x="654109" y="115339"/>
                </a:lnTo>
                <a:lnTo>
                  <a:pt x="654147" y="115605"/>
                </a:lnTo>
                <a:lnTo>
                  <a:pt x="654145" y="164580"/>
                </a:lnTo>
                <a:lnTo>
                  <a:pt x="645763" y="207529"/>
                </a:lnTo>
                <a:lnTo>
                  <a:pt x="617283" y="253730"/>
                </a:lnTo>
                <a:lnTo>
                  <a:pt x="587374" y="270764"/>
                </a:lnTo>
                <a:lnTo>
                  <a:pt x="590930" y="282321"/>
                </a:lnTo>
                <a:lnTo>
                  <a:pt x="629427" y="264191"/>
                </a:lnTo>
                <a:lnTo>
                  <a:pt x="657732" y="232918"/>
                </a:lnTo>
                <a:lnTo>
                  <a:pt x="675163" y="191023"/>
                </a:lnTo>
                <a:lnTo>
                  <a:pt x="680973" y="141224"/>
                </a:lnTo>
                <a:lnTo>
                  <a:pt x="679534" y="115605"/>
                </a:lnTo>
                <a:lnTo>
                  <a:pt x="667847" y="69429"/>
                </a:lnTo>
                <a:lnTo>
                  <a:pt x="644723" y="32093"/>
                </a:lnTo>
                <a:lnTo>
                  <a:pt x="611385" y="7379"/>
                </a:lnTo>
                <a:lnTo>
                  <a:pt x="590930" y="0"/>
                </a:lnTo>
                <a:close/>
              </a:path>
              <a:path w="681354" h="282575">
                <a:moveTo>
                  <a:pt x="90042" y="0"/>
                </a:moveTo>
                <a:lnTo>
                  <a:pt x="51593" y="18081"/>
                </a:lnTo>
                <a:lnTo>
                  <a:pt x="23240" y="49403"/>
                </a:lnTo>
                <a:lnTo>
                  <a:pt x="5810" y="91408"/>
                </a:lnTo>
                <a:lnTo>
                  <a:pt x="85" y="139700"/>
                </a:lnTo>
                <a:lnTo>
                  <a:pt x="0" y="141224"/>
                </a:lnTo>
                <a:lnTo>
                  <a:pt x="5794" y="191023"/>
                </a:lnTo>
                <a:lnTo>
                  <a:pt x="23113" y="232918"/>
                </a:lnTo>
                <a:lnTo>
                  <a:pt x="51482" y="264191"/>
                </a:lnTo>
                <a:lnTo>
                  <a:pt x="90042" y="282321"/>
                </a:lnTo>
                <a:lnTo>
                  <a:pt x="93598" y="270764"/>
                </a:lnTo>
                <a:lnTo>
                  <a:pt x="77475" y="263646"/>
                </a:lnTo>
                <a:lnTo>
                  <a:pt x="63579" y="253730"/>
                </a:lnTo>
                <a:lnTo>
                  <a:pt x="35083" y="207529"/>
                </a:lnTo>
                <a:lnTo>
                  <a:pt x="26701" y="164580"/>
                </a:lnTo>
                <a:lnTo>
                  <a:pt x="25653" y="139700"/>
                </a:lnTo>
                <a:lnTo>
                  <a:pt x="26701" y="115605"/>
                </a:lnTo>
                <a:lnTo>
                  <a:pt x="35083" y="73798"/>
                </a:lnTo>
                <a:lnTo>
                  <a:pt x="63674" y="28305"/>
                </a:lnTo>
                <a:lnTo>
                  <a:pt x="93979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344027" y="622172"/>
            <a:ext cx="363410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2145" algn="l"/>
                <a:tab pos="1237615" algn="l"/>
                <a:tab pos="2510155" algn="l"/>
                <a:tab pos="3424554" algn="l"/>
              </a:tabLst>
            </a:pP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Message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26616" y="1077975"/>
            <a:ext cx="774065" cy="282575"/>
          </a:xfrm>
          <a:custGeom>
            <a:avLst/>
            <a:gdLst/>
            <a:ahLst/>
            <a:cxnLst/>
            <a:rect l="l" t="t" r="r" b="b"/>
            <a:pathLst>
              <a:path w="774064" h="282575">
                <a:moveTo>
                  <a:pt x="683894" y="0"/>
                </a:moveTo>
                <a:lnTo>
                  <a:pt x="679830" y="11430"/>
                </a:lnTo>
                <a:lnTo>
                  <a:pt x="696194" y="18504"/>
                </a:lnTo>
                <a:lnTo>
                  <a:pt x="710247" y="28305"/>
                </a:lnTo>
                <a:lnTo>
                  <a:pt x="738780" y="73798"/>
                </a:lnTo>
                <a:lnTo>
                  <a:pt x="747073" y="115339"/>
                </a:lnTo>
                <a:lnTo>
                  <a:pt x="747111" y="115605"/>
                </a:lnTo>
                <a:lnTo>
                  <a:pt x="747109" y="164580"/>
                </a:lnTo>
                <a:lnTo>
                  <a:pt x="738727" y="207529"/>
                </a:lnTo>
                <a:lnTo>
                  <a:pt x="710247" y="253730"/>
                </a:lnTo>
                <a:lnTo>
                  <a:pt x="680338" y="270764"/>
                </a:lnTo>
                <a:lnTo>
                  <a:pt x="683894" y="282321"/>
                </a:lnTo>
                <a:lnTo>
                  <a:pt x="722391" y="264191"/>
                </a:lnTo>
                <a:lnTo>
                  <a:pt x="750696" y="232918"/>
                </a:lnTo>
                <a:lnTo>
                  <a:pt x="768127" y="191023"/>
                </a:lnTo>
                <a:lnTo>
                  <a:pt x="773938" y="141224"/>
                </a:lnTo>
                <a:lnTo>
                  <a:pt x="772498" y="115605"/>
                </a:lnTo>
                <a:lnTo>
                  <a:pt x="760811" y="69429"/>
                </a:lnTo>
                <a:lnTo>
                  <a:pt x="737687" y="32093"/>
                </a:lnTo>
                <a:lnTo>
                  <a:pt x="704349" y="7379"/>
                </a:lnTo>
                <a:lnTo>
                  <a:pt x="683894" y="0"/>
                </a:lnTo>
                <a:close/>
              </a:path>
              <a:path w="774064" h="282575">
                <a:moveTo>
                  <a:pt x="90042" y="0"/>
                </a:moveTo>
                <a:lnTo>
                  <a:pt x="51593" y="18081"/>
                </a:lnTo>
                <a:lnTo>
                  <a:pt x="23240" y="49403"/>
                </a:lnTo>
                <a:lnTo>
                  <a:pt x="5810" y="91408"/>
                </a:lnTo>
                <a:lnTo>
                  <a:pt x="85" y="139700"/>
                </a:lnTo>
                <a:lnTo>
                  <a:pt x="0" y="141224"/>
                </a:lnTo>
                <a:lnTo>
                  <a:pt x="5794" y="191023"/>
                </a:lnTo>
                <a:lnTo>
                  <a:pt x="23113" y="232918"/>
                </a:lnTo>
                <a:lnTo>
                  <a:pt x="51482" y="264191"/>
                </a:lnTo>
                <a:lnTo>
                  <a:pt x="90042" y="282321"/>
                </a:lnTo>
                <a:lnTo>
                  <a:pt x="93598" y="270764"/>
                </a:lnTo>
                <a:lnTo>
                  <a:pt x="77475" y="263646"/>
                </a:lnTo>
                <a:lnTo>
                  <a:pt x="63579" y="253730"/>
                </a:lnTo>
                <a:lnTo>
                  <a:pt x="35083" y="207529"/>
                </a:lnTo>
                <a:lnTo>
                  <a:pt x="26701" y="164580"/>
                </a:lnTo>
                <a:lnTo>
                  <a:pt x="25653" y="139700"/>
                </a:lnTo>
                <a:lnTo>
                  <a:pt x="26701" y="115605"/>
                </a:lnTo>
                <a:lnTo>
                  <a:pt x="35083" y="73798"/>
                </a:lnTo>
                <a:lnTo>
                  <a:pt x="63674" y="28305"/>
                </a:lnTo>
                <a:lnTo>
                  <a:pt x="93979" y="11430"/>
                </a:lnTo>
                <a:lnTo>
                  <a:pt x="90042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12039" y="622172"/>
            <a:ext cx="78733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19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81965" algn="l"/>
                <a:tab pos="1769745" algn="l"/>
                <a:tab pos="2193925" algn="l"/>
                <a:tab pos="3134360" algn="l"/>
                <a:tab pos="3577590" algn="l"/>
                <a:tab pos="4161154" algn="l"/>
                <a:tab pos="5153660" algn="l"/>
                <a:tab pos="6045200" algn="l"/>
                <a:tab pos="6405245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Equation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NBFM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{If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carrier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signal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spc="-30" dirty="0">
                <a:solidFill>
                  <a:srgbClr val="6F2F9F"/>
                </a:solidFill>
                <a:latin typeface="Cambria Math"/>
                <a:cs typeface="Cambria Math"/>
              </a:rPr>
              <a:t>𝐕</a:t>
            </a:r>
            <a:r>
              <a:rPr sz="2625" spc="-44" baseline="-15873" dirty="0">
                <a:solidFill>
                  <a:srgbClr val="6F2F9F"/>
                </a:solidFill>
                <a:latin typeface="Cambria Math"/>
                <a:cs typeface="Cambria Math"/>
              </a:rPr>
              <a:t>𝐂</a:t>
            </a:r>
            <a:r>
              <a:rPr sz="2625" spc="75" baseline="-15873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𝐜𝐨𝐬</a:t>
            </a:r>
            <a:r>
              <a:rPr sz="2400" spc="32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spc="-25" dirty="0">
                <a:solidFill>
                  <a:srgbClr val="6F2F9F"/>
                </a:solidFill>
                <a:latin typeface="Cambria Math"/>
                <a:cs typeface="Cambria Math"/>
              </a:rPr>
              <a:t>𝛚</a:t>
            </a:r>
            <a:r>
              <a:rPr sz="2625" spc="-37" baseline="-15873" dirty="0">
                <a:solidFill>
                  <a:srgbClr val="6F2F9F"/>
                </a:solidFill>
                <a:latin typeface="Cambria Math"/>
                <a:cs typeface="Cambria Math"/>
              </a:rPr>
              <a:t>𝐜</a:t>
            </a:r>
            <a:r>
              <a:rPr sz="2400" spc="-25" dirty="0">
                <a:solidFill>
                  <a:srgbClr val="6F2F9F"/>
                </a:solidFill>
                <a:latin typeface="Cambria Math"/>
                <a:cs typeface="Cambria Math"/>
              </a:rPr>
              <a:t>𝐭</a:t>
            </a:r>
            <a:endParaRPr sz="2400">
              <a:latin typeface="Cambria Math"/>
              <a:cs typeface="Cambria Math"/>
            </a:endParaRPr>
          </a:p>
          <a:p>
            <a:pPr marL="482600">
              <a:lnSpc>
                <a:spcPct val="100000"/>
              </a:lnSpc>
            </a:pPr>
            <a:r>
              <a:rPr sz="2400" spc="-35" dirty="0">
                <a:solidFill>
                  <a:srgbClr val="6F2F9F"/>
                </a:solidFill>
                <a:latin typeface="Cambria Math"/>
                <a:cs typeface="Cambria Math"/>
              </a:rPr>
              <a:t>𝐕</a:t>
            </a:r>
            <a:r>
              <a:rPr sz="2625" spc="-52" baseline="-15873" dirty="0">
                <a:solidFill>
                  <a:srgbClr val="6F2F9F"/>
                </a:solidFill>
                <a:latin typeface="Cambria Math"/>
                <a:cs typeface="Cambria Math"/>
              </a:rPr>
              <a:t>𝐦</a:t>
            </a:r>
            <a:r>
              <a:rPr sz="2625" spc="142" baseline="-15873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𝐜𝐨𝐬</a:t>
            </a:r>
            <a:r>
              <a:rPr sz="2400" spc="409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𝛚</a:t>
            </a:r>
            <a:r>
              <a:rPr sz="2625" baseline="-15873" dirty="0">
                <a:solidFill>
                  <a:srgbClr val="6F2F9F"/>
                </a:solidFill>
                <a:latin typeface="Cambria Math"/>
                <a:cs typeface="Cambria Math"/>
              </a:rPr>
              <a:t>𝐦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𝐭</a:t>
            </a:r>
            <a:r>
              <a:rPr sz="2400" spc="409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}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by: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3717" y="1572005"/>
            <a:ext cx="236092" cy="21183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77341" y="1501521"/>
            <a:ext cx="1303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094105" algn="l"/>
              </a:tabLst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4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𝐘</a:t>
            </a:r>
            <a:r>
              <a:rPr sz="1950" baseline="-14957" dirty="0">
                <a:latin typeface="Cambria Math"/>
                <a:cs typeface="Cambria Math"/>
              </a:rPr>
              <a:t>𝐅𝐌</a:t>
            </a:r>
            <a:r>
              <a:rPr sz="1950" spc="652" baseline="-14957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753105" y="1572005"/>
            <a:ext cx="512445" cy="212090"/>
          </a:xfrm>
          <a:custGeom>
            <a:avLst/>
            <a:gdLst/>
            <a:ahLst/>
            <a:cxnLst/>
            <a:rect l="l" t="t" r="r" b="b"/>
            <a:pathLst>
              <a:path w="512445" h="212089">
                <a:moveTo>
                  <a:pt x="444373" y="0"/>
                </a:moveTo>
                <a:lnTo>
                  <a:pt x="441325" y="8636"/>
                </a:lnTo>
                <a:lnTo>
                  <a:pt x="453610" y="13946"/>
                </a:lnTo>
                <a:lnTo>
                  <a:pt x="464169" y="21304"/>
                </a:lnTo>
                <a:lnTo>
                  <a:pt x="485560" y="55431"/>
                </a:lnTo>
                <a:lnTo>
                  <a:pt x="492633" y="104902"/>
                </a:lnTo>
                <a:lnTo>
                  <a:pt x="491847" y="123571"/>
                </a:lnTo>
                <a:lnTo>
                  <a:pt x="480060" y="169291"/>
                </a:lnTo>
                <a:lnTo>
                  <a:pt x="453753" y="197866"/>
                </a:lnTo>
                <a:lnTo>
                  <a:pt x="441706" y="203200"/>
                </a:lnTo>
                <a:lnTo>
                  <a:pt x="444373" y="211836"/>
                </a:lnTo>
                <a:lnTo>
                  <a:pt x="484842" y="187707"/>
                </a:lnTo>
                <a:lnTo>
                  <a:pt x="507571" y="143335"/>
                </a:lnTo>
                <a:lnTo>
                  <a:pt x="511937" y="105918"/>
                </a:lnTo>
                <a:lnTo>
                  <a:pt x="510855" y="86776"/>
                </a:lnTo>
                <a:lnTo>
                  <a:pt x="510841" y="86536"/>
                </a:lnTo>
                <a:lnTo>
                  <a:pt x="494411" y="37084"/>
                </a:lnTo>
                <a:lnTo>
                  <a:pt x="459728" y="5544"/>
                </a:lnTo>
                <a:lnTo>
                  <a:pt x="444373" y="0"/>
                </a:lnTo>
                <a:close/>
              </a:path>
              <a:path w="512445" h="212089">
                <a:moveTo>
                  <a:pt x="67564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57" y="104902"/>
                </a:lnTo>
                <a:lnTo>
                  <a:pt x="0" y="105918"/>
                </a:lnTo>
                <a:lnTo>
                  <a:pt x="992" y="123571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7"/>
                </a:lnTo>
                <a:lnTo>
                  <a:pt x="67564" y="211836"/>
                </a:lnTo>
                <a:lnTo>
                  <a:pt x="70231" y="203200"/>
                </a:lnTo>
                <a:lnTo>
                  <a:pt x="58183" y="197866"/>
                </a:lnTo>
                <a:lnTo>
                  <a:pt x="47767" y="190436"/>
                </a:lnTo>
                <a:lnTo>
                  <a:pt x="26376" y="155765"/>
                </a:lnTo>
                <a:lnTo>
                  <a:pt x="19346" y="105918"/>
                </a:lnTo>
                <a:lnTo>
                  <a:pt x="19304" y="104902"/>
                </a:lnTo>
                <a:lnTo>
                  <a:pt x="20089" y="86776"/>
                </a:lnTo>
                <a:lnTo>
                  <a:pt x="31877" y="42164"/>
                </a:lnTo>
                <a:lnTo>
                  <a:pt x="58398" y="13946"/>
                </a:lnTo>
                <a:lnTo>
                  <a:pt x="70612" y="8636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063750" y="1493342"/>
            <a:ext cx="1258570" cy="413384"/>
          </a:xfrm>
          <a:prstGeom prst="rect">
            <a:avLst/>
          </a:prstGeom>
          <a:ln w="19050">
            <a:solidFill>
              <a:srgbClr val="9DC3E6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65"/>
              </a:spcBef>
            </a:pPr>
            <a:r>
              <a:rPr sz="1800" spc="-20" dirty="0">
                <a:latin typeface="Cambria Math"/>
                <a:cs typeface="Cambria Math"/>
              </a:rPr>
              <a:t>𝐕</a:t>
            </a:r>
            <a:r>
              <a:rPr sz="1950" spc="-30" baseline="-14957" dirty="0">
                <a:latin typeface="Cambria Math"/>
                <a:cs typeface="Cambria Math"/>
              </a:rPr>
              <a:t>𝐂</a:t>
            </a:r>
            <a:r>
              <a:rPr sz="1950" spc="52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27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4957" dirty="0">
                <a:latin typeface="Cambria Math"/>
                <a:cs typeface="Cambria Math"/>
              </a:rPr>
              <a:t>𝐜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165853" y="1256157"/>
            <a:ext cx="4422775" cy="842644"/>
            <a:chOff x="4165853" y="1256157"/>
            <a:chExt cx="4422775" cy="842644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65853" y="1572006"/>
              <a:ext cx="236092" cy="21183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804409" y="1572006"/>
              <a:ext cx="510540" cy="212090"/>
            </a:xfrm>
            <a:custGeom>
              <a:avLst/>
              <a:gdLst/>
              <a:ahLst/>
              <a:cxnLst/>
              <a:rect l="l" t="t" r="r" b="b"/>
              <a:pathLst>
                <a:path w="510539" h="212089">
                  <a:moveTo>
                    <a:pt x="442849" y="0"/>
                  </a:moveTo>
                  <a:lnTo>
                    <a:pt x="439801" y="8636"/>
                  </a:lnTo>
                  <a:lnTo>
                    <a:pt x="452086" y="13946"/>
                  </a:lnTo>
                  <a:lnTo>
                    <a:pt x="462645" y="21304"/>
                  </a:lnTo>
                  <a:lnTo>
                    <a:pt x="484036" y="55431"/>
                  </a:lnTo>
                  <a:lnTo>
                    <a:pt x="491109" y="104902"/>
                  </a:lnTo>
                  <a:lnTo>
                    <a:pt x="490323" y="123571"/>
                  </a:lnTo>
                  <a:lnTo>
                    <a:pt x="478536" y="169291"/>
                  </a:lnTo>
                  <a:lnTo>
                    <a:pt x="452229" y="197866"/>
                  </a:lnTo>
                  <a:lnTo>
                    <a:pt x="440182" y="203200"/>
                  </a:lnTo>
                  <a:lnTo>
                    <a:pt x="442849" y="211836"/>
                  </a:lnTo>
                  <a:lnTo>
                    <a:pt x="483318" y="187707"/>
                  </a:lnTo>
                  <a:lnTo>
                    <a:pt x="506047" y="143335"/>
                  </a:lnTo>
                  <a:lnTo>
                    <a:pt x="510413" y="105918"/>
                  </a:lnTo>
                  <a:lnTo>
                    <a:pt x="509331" y="86776"/>
                  </a:lnTo>
                  <a:lnTo>
                    <a:pt x="509317" y="86536"/>
                  </a:lnTo>
                  <a:lnTo>
                    <a:pt x="492887" y="37084"/>
                  </a:lnTo>
                  <a:lnTo>
                    <a:pt x="458204" y="5544"/>
                  </a:lnTo>
                  <a:lnTo>
                    <a:pt x="442849" y="0"/>
                  </a:lnTo>
                  <a:close/>
                </a:path>
                <a:path w="510539" h="212089">
                  <a:moveTo>
                    <a:pt x="67564" y="0"/>
                  </a:moveTo>
                  <a:lnTo>
                    <a:pt x="27166" y="24110"/>
                  </a:lnTo>
                  <a:lnTo>
                    <a:pt x="4381" y="68595"/>
                  </a:lnTo>
                  <a:lnTo>
                    <a:pt x="57" y="104902"/>
                  </a:lnTo>
                  <a:lnTo>
                    <a:pt x="0" y="105918"/>
                  </a:lnTo>
                  <a:lnTo>
                    <a:pt x="992" y="123571"/>
                  </a:lnTo>
                  <a:lnTo>
                    <a:pt x="1093" y="125370"/>
                  </a:lnTo>
                  <a:lnTo>
                    <a:pt x="4365" y="143335"/>
                  </a:lnTo>
                  <a:lnTo>
                    <a:pt x="27094" y="187707"/>
                  </a:lnTo>
                  <a:lnTo>
                    <a:pt x="67564" y="211836"/>
                  </a:lnTo>
                  <a:lnTo>
                    <a:pt x="70231" y="203200"/>
                  </a:lnTo>
                  <a:lnTo>
                    <a:pt x="58183" y="197866"/>
                  </a:lnTo>
                  <a:lnTo>
                    <a:pt x="47767" y="190436"/>
                  </a:lnTo>
                  <a:lnTo>
                    <a:pt x="26376" y="155765"/>
                  </a:lnTo>
                  <a:lnTo>
                    <a:pt x="19346" y="105918"/>
                  </a:lnTo>
                  <a:lnTo>
                    <a:pt x="19304" y="104902"/>
                  </a:lnTo>
                  <a:lnTo>
                    <a:pt x="20089" y="86776"/>
                  </a:lnTo>
                  <a:lnTo>
                    <a:pt x="31877" y="42164"/>
                  </a:lnTo>
                  <a:lnTo>
                    <a:pt x="58398" y="13946"/>
                  </a:lnTo>
                  <a:lnTo>
                    <a:pt x="70612" y="8636"/>
                  </a:lnTo>
                  <a:lnTo>
                    <a:pt x="675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42862" y="1256157"/>
              <a:ext cx="2445385" cy="842644"/>
            </a:xfrm>
            <a:custGeom>
              <a:avLst/>
              <a:gdLst/>
              <a:ahLst/>
              <a:cxnLst/>
              <a:rect l="l" t="t" r="r" b="b"/>
              <a:pathLst>
                <a:path w="2445384" h="842644">
                  <a:moveTo>
                    <a:pt x="2329053" y="0"/>
                  </a:moveTo>
                  <a:lnTo>
                    <a:pt x="2329053" y="11176"/>
                  </a:lnTo>
                  <a:lnTo>
                    <a:pt x="2336030" y="13432"/>
                  </a:lnTo>
                  <a:lnTo>
                    <a:pt x="2342673" y="16748"/>
                  </a:lnTo>
                  <a:lnTo>
                    <a:pt x="2370462" y="48365"/>
                  </a:lnTo>
                  <a:lnTo>
                    <a:pt x="2385095" y="90410"/>
                  </a:lnTo>
                  <a:lnTo>
                    <a:pt x="2390917" y="131206"/>
                  </a:lnTo>
                  <a:lnTo>
                    <a:pt x="2392045" y="162433"/>
                  </a:lnTo>
                  <a:lnTo>
                    <a:pt x="2391620" y="177176"/>
                  </a:lnTo>
                  <a:lnTo>
                    <a:pt x="2390385" y="195367"/>
                  </a:lnTo>
                  <a:lnTo>
                    <a:pt x="2388294" y="218047"/>
                  </a:lnTo>
                  <a:lnTo>
                    <a:pt x="2385441" y="244221"/>
                  </a:lnTo>
                  <a:lnTo>
                    <a:pt x="2382533" y="269767"/>
                  </a:lnTo>
                  <a:lnTo>
                    <a:pt x="2380472" y="290195"/>
                  </a:lnTo>
                  <a:lnTo>
                    <a:pt x="2379243" y="305478"/>
                  </a:lnTo>
                  <a:lnTo>
                    <a:pt x="2378836" y="315595"/>
                  </a:lnTo>
                  <a:lnTo>
                    <a:pt x="2379694" y="336143"/>
                  </a:lnTo>
                  <a:lnTo>
                    <a:pt x="2392553" y="385953"/>
                  </a:lnTo>
                  <a:lnTo>
                    <a:pt x="2421763" y="419608"/>
                  </a:lnTo>
                  <a:lnTo>
                    <a:pt x="2421763" y="422529"/>
                  </a:lnTo>
                  <a:lnTo>
                    <a:pt x="2392553" y="456056"/>
                  </a:lnTo>
                  <a:lnTo>
                    <a:pt x="2379694" y="505920"/>
                  </a:lnTo>
                  <a:lnTo>
                    <a:pt x="2378836" y="526542"/>
                  </a:lnTo>
                  <a:lnTo>
                    <a:pt x="2379243" y="534235"/>
                  </a:lnTo>
                  <a:lnTo>
                    <a:pt x="2380472" y="549132"/>
                  </a:lnTo>
                  <a:lnTo>
                    <a:pt x="2382533" y="571244"/>
                  </a:lnTo>
                  <a:lnTo>
                    <a:pt x="2385441" y="600583"/>
                  </a:lnTo>
                  <a:lnTo>
                    <a:pt x="2388294" y="630160"/>
                  </a:lnTo>
                  <a:lnTo>
                    <a:pt x="2390362" y="653176"/>
                  </a:lnTo>
                  <a:lnTo>
                    <a:pt x="2391620" y="669645"/>
                  </a:lnTo>
                  <a:lnTo>
                    <a:pt x="2392045" y="679577"/>
                  </a:lnTo>
                  <a:lnTo>
                    <a:pt x="2391783" y="695719"/>
                  </a:lnTo>
                  <a:lnTo>
                    <a:pt x="2391067" y="709628"/>
                  </a:lnTo>
                  <a:lnTo>
                    <a:pt x="2390997" y="710993"/>
                  </a:lnTo>
                  <a:lnTo>
                    <a:pt x="2385474" y="751550"/>
                  </a:lnTo>
                  <a:lnTo>
                    <a:pt x="2370478" y="794115"/>
                  </a:lnTo>
                  <a:lnTo>
                    <a:pt x="2342657" y="825531"/>
                  </a:lnTo>
                  <a:lnTo>
                    <a:pt x="2329053" y="831088"/>
                  </a:lnTo>
                  <a:lnTo>
                    <a:pt x="2329053" y="842263"/>
                  </a:lnTo>
                  <a:lnTo>
                    <a:pt x="2377130" y="812403"/>
                  </a:lnTo>
                  <a:lnTo>
                    <a:pt x="2401375" y="768111"/>
                  </a:lnTo>
                  <a:lnTo>
                    <a:pt x="2413861" y="709628"/>
                  </a:lnTo>
                  <a:lnTo>
                    <a:pt x="2415413" y="675386"/>
                  </a:lnTo>
                  <a:lnTo>
                    <a:pt x="2414980" y="658883"/>
                  </a:lnTo>
                  <a:lnTo>
                    <a:pt x="2413666" y="638524"/>
                  </a:lnTo>
                  <a:lnTo>
                    <a:pt x="2411448" y="614306"/>
                  </a:lnTo>
                  <a:lnTo>
                    <a:pt x="2408301" y="586232"/>
                  </a:lnTo>
                  <a:lnTo>
                    <a:pt x="2405227" y="559087"/>
                  </a:lnTo>
                  <a:lnTo>
                    <a:pt x="2403046" y="537479"/>
                  </a:lnTo>
                  <a:lnTo>
                    <a:pt x="2401746" y="521420"/>
                  </a:lnTo>
                  <a:lnTo>
                    <a:pt x="2401316" y="510920"/>
                  </a:lnTo>
                  <a:lnTo>
                    <a:pt x="2402054" y="491751"/>
                  </a:lnTo>
                  <a:lnTo>
                    <a:pt x="2413127" y="448818"/>
                  </a:lnTo>
                  <a:lnTo>
                    <a:pt x="2445385" y="427101"/>
                  </a:lnTo>
                  <a:lnTo>
                    <a:pt x="2445385" y="415036"/>
                  </a:lnTo>
                  <a:lnTo>
                    <a:pt x="2413127" y="393827"/>
                  </a:lnTo>
                  <a:lnTo>
                    <a:pt x="2402054" y="350982"/>
                  </a:lnTo>
                  <a:lnTo>
                    <a:pt x="2401316" y="331216"/>
                  </a:lnTo>
                  <a:lnTo>
                    <a:pt x="2401746" y="319383"/>
                  </a:lnTo>
                  <a:lnTo>
                    <a:pt x="2403046" y="303704"/>
                  </a:lnTo>
                  <a:lnTo>
                    <a:pt x="2405227" y="284192"/>
                  </a:lnTo>
                  <a:lnTo>
                    <a:pt x="2408301" y="260858"/>
                  </a:lnTo>
                  <a:lnTo>
                    <a:pt x="2411448" y="236757"/>
                  </a:lnTo>
                  <a:lnTo>
                    <a:pt x="2413666" y="214931"/>
                  </a:lnTo>
                  <a:lnTo>
                    <a:pt x="2414957" y="195706"/>
                  </a:lnTo>
                  <a:lnTo>
                    <a:pt x="2414980" y="195367"/>
                  </a:lnTo>
                  <a:lnTo>
                    <a:pt x="2414004" y="141694"/>
                  </a:lnTo>
                  <a:lnTo>
                    <a:pt x="2402661" y="80023"/>
                  </a:lnTo>
                  <a:lnTo>
                    <a:pt x="2380130" y="33807"/>
                  </a:lnTo>
                  <a:lnTo>
                    <a:pt x="2348317" y="6427"/>
                  </a:lnTo>
                  <a:lnTo>
                    <a:pt x="2329053" y="0"/>
                  </a:lnTo>
                  <a:close/>
                </a:path>
                <a:path w="2445384" h="842644">
                  <a:moveTo>
                    <a:pt x="116331" y="0"/>
                  </a:moveTo>
                  <a:lnTo>
                    <a:pt x="80041" y="17700"/>
                  </a:lnTo>
                  <a:lnTo>
                    <a:pt x="52704" y="54736"/>
                  </a:lnTo>
                  <a:lnTo>
                    <a:pt x="35671" y="109013"/>
                  </a:lnTo>
                  <a:lnTo>
                    <a:pt x="30006" y="177176"/>
                  </a:lnTo>
                  <a:lnTo>
                    <a:pt x="29971" y="178054"/>
                  </a:lnTo>
                  <a:lnTo>
                    <a:pt x="30422" y="195367"/>
                  </a:lnTo>
                  <a:lnTo>
                    <a:pt x="31765" y="214931"/>
                  </a:lnTo>
                  <a:lnTo>
                    <a:pt x="33990" y="236757"/>
                  </a:lnTo>
                  <a:lnTo>
                    <a:pt x="37083" y="260858"/>
                  </a:lnTo>
                  <a:lnTo>
                    <a:pt x="40177" y="284192"/>
                  </a:lnTo>
                  <a:lnTo>
                    <a:pt x="42402" y="303704"/>
                  </a:lnTo>
                  <a:lnTo>
                    <a:pt x="43745" y="319383"/>
                  </a:lnTo>
                  <a:lnTo>
                    <a:pt x="44195" y="331216"/>
                  </a:lnTo>
                  <a:lnTo>
                    <a:pt x="43437" y="350982"/>
                  </a:lnTo>
                  <a:lnTo>
                    <a:pt x="32257" y="393827"/>
                  </a:lnTo>
                  <a:lnTo>
                    <a:pt x="0" y="415036"/>
                  </a:lnTo>
                  <a:lnTo>
                    <a:pt x="0" y="427101"/>
                  </a:lnTo>
                  <a:lnTo>
                    <a:pt x="32257" y="448818"/>
                  </a:lnTo>
                  <a:lnTo>
                    <a:pt x="43437" y="491751"/>
                  </a:lnTo>
                  <a:lnTo>
                    <a:pt x="44195" y="510920"/>
                  </a:lnTo>
                  <a:lnTo>
                    <a:pt x="43745" y="521420"/>
                  </a:lnTo>
                  <a:lnTo>
                    <a:pt x="42402" y="537479"/>
                  </a:lnTo>
                  <a:lnTo>
                    <a:pt x="40177" y="559087"/>
                  </a:lnTo>
                  <a:lnTo>
                    <a:pt x="37083" y="586232"/>
                  </a:lnTo>
                  <a:lnTo>
                    <a:pt x="33990" y="614306"/>
                  </a:lnTo>
                  <a:lnTo>
                    <a:pt x="31765" y="638524"/>
                  </a:lnTo>
                  <a:lnTo>
                    <a:pt x="30422" y="658883"/>
                  </a:lnTo>
                  <a:lnTo>
                    <a:pt x="29971" y="675386"/>
                  </a:lnTo>
                  <a:lnTo>
                    <a:pt x="31541" y="709628"/>
                  </a:lnTo>
                  <a:lnTo>
                    <a:pt x="44063" y="768111"/>
                  </a:lnTo>
                  <a:lnTo>
                    <a:pt x="68254" y="812403"/>
                  </a:lnTo>
                  <a:lnTo>
                    <a:pt x="98925" y="837358"/>
                  </a:lnTo>
                  <a:lnTo>
                    <a:pt x="116331" y="842263"/>
                  </a:lnTo>
                  <a:lnTo>
                    <a:pt x="116331" y="831088"/>
                  </a:lnTo>
                  <a:lnTo>
                    <a:pt x="109374" y="828798"/>
                  </a:lnTo>
                  <a:lnTo>
                    <a:pt x="102774" y="825531"/>
                  </a:lnTo>
                  <a:lnTo>
                    <a:pt x="74906" y="794115"/>
                  </a:lnTo>
                  <a:lnTo>
                    <a:pt x="59910" y="751550"/>
                  </a:lnTo>
                  <a:lnTo>
                    <a:pt x="54498" y="710993"/>
                  </a:lnTo>
                  <a:lnTo>
                    <a:pt x="53466" y="679577"/>
                  </a:lnTo>
                  <a:lnTo>
                    <a:pt x="53871" y="669645"/>
                  </a:lnTo>
                  <a:lnTo>
                    <a:pt x="55086" y="653176"/>
                  </a:lnTo>
                  <a:lnTo>
                    <a:pt x="57110" y="630160"/>
                  </a:lnTo>
                  <a:lnTo>
                    <a:pt x="59943" y="600583"/>
                  </a:lnTo>
                  <a:lnTo>
                    <a:pt x="62851" y="571244"/>
                  </a:lnTo>
                  <a:lnTo>
                    <a:pt x="64912" y="549132"/>
                  </a:lnTo>
                  <a:lnTo>
                    <a:pt x="66141" y="534235"/>
                  </a:lnTo>
                  <a:lnTo>
                    <a:pt x="66547" y="526542"/>
                  </a:lnTo>
                  <a:lnTo>
                    <a:pt x="65690" y="505920"/>
                  </a:lnTo>
                  <a:lnTo>
                    <a:pt x="52831" y="456056"/>
                  </a:lnTo>
                  <a:lnTo>
                    <a:pt x="23748" y="422529"/>
                  </a:lnTo>
                  <a:lnTo>
                    <a:pt x="23748" y="419608"/>
                  </a:lnTo>
                  <a:lnTo>
                    <a:pt x="52831" y="385953"/>
                  </a:lnTo>
                  <a:lnTo>
                    <a:pt x="65690" y="336143"/>
                  </a:lnTo>
                  <a:lnTo>
                    <a:pt x="66547" y="315595"/>
                  </a:lnTo>
                  <a:lnTo>
                    <a:pt x="66141" y="305478"/>
                  </a:lnTo>
                  <a:lnTo>
                    <a:pt x="64912" y="290195"/>
                  </a:lnTo>
                  <a:lnTo>
                    <a:pt x="62851" y="269767"/>
                  </a:lnTo>
                  <a:lnTo>
                    <a:pt x="59943" y="244221"/>
                  </a:lnTo>
                  <a:lnTo>
                    <a:pt x="57110" y="218047"/>
                  </a:lnTo>
                  <a:lnTo>
                    <a:pt x="55086" y="195707"/>
                  </a:lnTo>
                  <a:lnTo>
                    <a:pt x="53929" y="178054"/>
                  </a:lnTo>
                  <a:lnTo>
                    <a:pt x="53871" y="177176"/>
                  </a:lnTo>
                  <a:lnTo>
                    <a:pt x="53466" y="162433"/>
                  </a:lnTo>
                  <a:lnTo>
                    <a:pt x="53732" y="146432"/>
                  </a:lnTo>
                  <a:lnTo>
                    <a:pt x="54546" y="131206"/>
                  </a:lnTo>
                  <a:lnTo>
                    <a:pt x="60360" y="90410"/>
                  </a:lnTo>
                  <a:lnTo>
                    <a:pt x="74922" y="48365"/>
                  </a:lnTo>
                  <a:lnTo>
                    <a:pt x="102711" y="16748"/>
                  </a:lnTo>
                  <a:lnTo>
                    <a:pt x="116331" y="11176"/>
                  </a:lnTo>
                  <a:lnTo>
                    <a:pt x="11633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77125" y="1572133"/>
              <a:ext cx="235966" cy="21170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81441" y="1572133"/>
              <a:ext cx="235966" cy="21170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2334895" y="1875790"/>
            <a:ext cx="673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Carrier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488816" y="1493342"/>
            <a:ext cx="1860550" cy="413384"/>
          </a:xfrm>
          <a:custGeom>
            <a:avLst/>
            <a:gdLst/>
            <a:ahLst/>
            <a:cxnLst/>
            <a:rect l="l" t="t" r="r" b="b"/>
            <a:pathLst>
              <a:path w="1860550" h="413385">
                <a:moveTo>
                  <a:pt x="0" y="412927"/>
                </a:moveTo>
                <a:lnTo>
                  <a:pt x="1860168" y="412927"/>
                </a:lnTo>
                <a:lnTo>
                  <a:pt x="1860168" y="0"/>
                </a:lnTo>
                <a:lnTo>
                  <a:pt x="0" y="0"/>
                </a:lnTo>
                <a:lnTo>
                  <a:pt x="0" y="412927"/>
                </a:lnTo>
                <a:close/>
              </a:path>
            </a:pathLst>
          </a:custGeom>
          <a:ln w="19050">
            <a:solidFill>
              <a:srgbClr val="9DC3E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260725" y="1392038"/>
            <a:ext cx="5243195" cy="79311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960"/>
              </a:spcBef>
              <a:tabLst>
                <a:tab pos="1200785" algn="l"/>
                <a:tab pos="3006090" algn="l"/>
                <a:tab pos="4036695" algn="l"/>
              </a:tabLst>
            </a:pPr>
            <a:r>
              <a:rPr sz="1800" dirty="0">
                <a:latin typeface="Cambria Math"/>
                <a:cs typeface="Cambria Math"/>
              </a:rPr>
              <a:t>−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𝐕</a:t>
            </a:r>
            <a:r>
              <a:rPr sz="1950" baseline="-14957" dirty="0">
                <a:latin typeface="Cambria Math"/>
                <a:cs typeface="Cambria Math"/>
              </a:rPr>
              <a:t>𝐂</a:t>
            </a:r>
            <a:r>
              <a:rPr sz="1800" dirty="0">
                <a:latin typeface="Cambria Math"/>
                <a:cs typeface="Cambria Math"/>
              </a:rPr>
              <a:t>𝐤</a:t>
            </a:r>
            <a:r>
              <a:rPr sz="1950" baseline="-14957" dirty="0">
                <a:latin typeface="Cambria Math"/>
                <a:cs typeface="Cambria Math"/>
              </a:rPr>
              <a:t>𝐟</a:t>
            </a:r>
            <a:r>
              <a:rPr sz="1800" dirty="0">
                <a:latin typeface="Cambria Math"/>
                <a:cs typeface="Cambria Math"/>
              </a:rPr>
              <a:t>𝐠</a:t>
            </a:r>
            <a:r>
              <a:rPr sz="1800" spc="38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𝐬𝐢𝐧</a:t>
            </a:r>
            <a:r>
              <a:rPr sz="1800" spc="33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4957" dirty="0">
                <a:latin typeface="Cambria Math"/>
                <a:cs typeface="Cambria Math"/>
              </a:rPr>
              <a:t>𝐜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lang="en-US" sz="1800" b="1" dirty="0">
                <a:solidFill>
                  <a:srgbClr val="FF0000"/>
                </a:solidFill>
                <a:latin typeface="Calibri"/>
                <a:cs typeface="Calibri"/>
              </a:rPr>
              <a:t>Here,</a:t>
            </a:r>
            <a:r>
              <a:rPr lang="en-US" sz="18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mbria Math"/>
                <a:cs typeface="Cambria Math"/>
              </a:rPr>
              <a:t>𝐠</a:t>
            </a:r>
            <a:r>
              <a:rPr lang="en-US" sz="1800" spc="33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lang="en-US" sz="1800" spc="-50" dirty="0">
                <a:solidFill>
                  <a:srgbClr val="FF0000"/>
                </a:solidFill>
                <a:latin typeface="Cambria Math"/>
                <a:cs typeface="Cambria Math"/>
              </a:rPr>
              <a:t>𝐭</a:t>
            </a:r>
            <a:r>
              <a:rPr lang="en-US" sz="1800" dirty="0">
                <a:solidFill>
                  <a:srgbClr val="FF0000"/>
                </a:solidFill>
                <a:latin typeface="Cambria Math"/>
                <a:cs typeface="Cambria Math"/>
              </a:rPr>
              <a:t>	=</a:t>
            </a:r>
            <a:r>
              <a:rPr lang="en-US" sz="1800" spc="9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lang="si-LK" sz="1800" spc="-360" dirty="0">
                <a:solidFill>
                  <a:srgbClr val="FF0000"/>
                </a:solidFill>
                <a:latin typeface="Cambria Math"/>
                <a:cs typeface="Cambria Math"/>
              </a:rPr>
              <a:t>න</a:t>
            </a:r>
            <a:r>
              <a:rPr lang="si-LK" sz="1800" spc="-1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lang="si-LK" sz="1800" dirty="0">
                <a:solidFill>
                  <a:srgbClr val="FF0000"/>
                </a:solidFill>
                <a:latin typeface="Cambria Math"/>
                <a:cs typeface="Cambria Math"/>
              </a:rPr>
              <a:t>𝐦</a:t>
            </a:r>
            <a:r>
              <a:rPr lang="si-LK" sz="1800" spc="34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lang="si-LK" sz="1800" dirty="0">
                <a:solidFill>
                  <a:srgbClr val="FF0000"/>
                </a:solidFill>
                <a:latin typeface="Cambria Math"/>
                <a:cs typeface="Cambria Math"/>
              </a:rPr>
              <a:t>𝐭</a:t>
            </a:r>
            <a:r>
              <a:rPr lang="si-LK" sz="1800" spc="34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lang="si-LK" sz="1800" spc="-25" dirty="0">
                <a:solidFill>
                  <a:srgbClr val="FF0000"/>
                </a:solidFill>
                <a:latin typeface="Cambria Math"/>
                <a:cs typeface="Cambria Math"/>
              </a:rPr>
              <a:t>𝐝𝐭</a:t>
            </a:r>
            <a:endParaRPr lang="si-LK" sz="1800" dirty="0">
              <a:latin typeface="Cambria Math"/>
              <a:cs typeface="Cambria Math"/>
            </a:endParaRPr>
          </a:p>
          <a:p>
            <a:pPr marL="686435">
              <a:lnSpc>
                <a:spcPct val="100000"/>
              </a:lnSpc>
              <a:spcBef>
                <a:spcPts val="860"/>
              </a:spcBef>
            </a:pPr>
            <a:r>
              <a:rPr lang="en-US" sz="1800" b="1" spc="-10" dirty="0">
                <a:solidFill>
                  <a:srgbClr val="FF0000"/>
                </a:solidFill>
                <a:latin typeface="Calibri"/>
                <a:cs typeface="Calibri"/>
              </a:rPr>
              <a:t>Sidebands</a:t>
            </a:r>
            <a:endParaRPr lang="en-US" sz="1800" dirty="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83373" y="2692145"/>
            <a:ext cx="1492250" cy="384175"/>
            <a:chOff x="883373" y="2692145"/>
            <a:chExt cx="1492250" cy="384175"/>
          </a:xfrm>
        </p:grpSpPr>
        <p:sp>
          <p:nvSpPr>
            <p:cNvPr id="21" name="object 21"/>
            <p:cNvSpPr/>
            <p:nvPr/>
          </p:nvSpPr>
          <p:spPr>
            <a:xfrm>
              <a:off x="883373" y="2961512"/>
              <a:ext cx="1492250" cy="114300"/>
            </a:xfrm>
            <a:custGeom>
              <a:avLst/>
              <a:gdLst/>
              <a:ahLst/>
              <a:cxnLst/>
              <a:rect l="l" t="t" r="r" b="b"/>
              <a:pathLst>
                <a:path w="1492250" h="114300">
                  <a:moveTo>
                    <a:pt x="1377353" y="0"/>
                  </a:moveTo>
                  <a:lnTo>
                    <a:pt x="1377353" y="114300"/>
                  </a:lnTo>
                  <a:lnTo>
                    <a:pt x="1453553" y="76200"/>
                  </a:lnTo>
                  <a:lnTo>
                    <a:pt x="1396403" y="76200"/>
                  </a:lnTo>
                  <a:lnTo>
                    <a:pt x="1396403" y="38100"/>
                  </a:lnTo>
                  <a:lnTo>
                    <a:pt x="1453553" y="38100"/>
                  </a:lnTo>
                  <a:lnTo>
                    <a:pt x="1377353" y="0"/>
                  </a:lnTo>
                  <a:close/>
                </a:path>
                <a:path w="1492250" h="114300">
                  <a:moveTo>
                    <a:pt x="1377353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1377353" y="76200"/>
                  </a:lnTo>
                  <a:lnTo>
                    <a:pt x="1377353" y="38100"/>
                  </a:lnTo>
                  <a:close/>
                </a:path>
                <a:path w="1492250" h="114300">
                  <a:moveTo>
                    <a:pt x="1453553" y="38100"/>
                  </a:moveTo>
                  <a:lnTo>
                    <a:pt x="1396403" y="38100"/>
                  </a:lnTo>
                  <a:lnTo>
                    <a:pt x="1396403" y="76200"/>
                  </a:lnTo>
                  <a:lnTo>
                    <a:pt x="1453553" y="76200"/>
                  </a:lnTo>
                  <a:lnTo>
                    <a:pt x="1491653" y="57150"/>
                  </a:lnTo>
                  <a:lnTo>
                    <a:pt x="1453553" y="3810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08418" y="2692145"/>
              <a:ext cx="315595" cy="282575"/>
            </a:xfrm>
            <a:custGeom>
              <a:avLst/>
              <a:gdLst/>
              <a:ahLst/>
              <a:cxnLst/>
              <a:rect l="l" t="t" r="r" b="b"/>
              <a:pathLst>
                <a:path w="315594" h="282575">
                  <a:moveTo>
                    <a:pt x="225209" y="0"/>
                  </a:moveTo>
                  <a:lnTo>
                    <a:pt x="221183" y="11557"/>
                  </a:lnTo>
                  <a:lnTo>
                    <a:pt x="237527" y="18631"/>
                  </a:lnTo>
                  <a:lnTo>
                    <a:pt x="251585" y="28432"/>
                  </a:lnTo>
                  <a:lnTo>
                    <a:pt x="280125" y="73925"/>
                  </a:lnTo>
                  <a:lnTo>
                    <a:pt x="288402" y="115359"/>
                  </a:lnTo>
                  <a:lnTo>
                    <a:pt x="288455" y="115732"/>
                  </a:lnTo>
                  <a:lnTo>
                    <a:pt x="288450" y="164707"/>
                  </a:lnTo>
                  <a:lnTo>
                    <a:pt x="280082" y="207656"/>
                  </a:lnTo>
                  <a:lnTo>
                    <a:pt x="251602" y="253857"/>
                  </a:lnTo>
                  <a:lnTo>
                    <a:pt x="221627" y="270891"/>
                  </a:lnTo>
                  <a:lnTo>
                    <a:pt x="225209" y="282321"/>
                  </a:lnTo>
                  <a:lnTo>
                    <a:pt x="263717" y="264302"/>
                  </a:lnTo>
                  <a:lnTo>
                    <a:pt x="292023" y="233045"/>
                  </a:lnTo>
                  <a:lnTo>
                    <a:pt x="309443" y="191134"/>
                  </a:lnTo>
                  <a:lnTo>
                    <a:pt x="315252" y="141224"/>
                  </a:lnTo>
                  <a:lnTo>
                    <a:pt x="313816" y="115732"/>
                  </a:lnTo>
                  <a:lnTo>
                    <a:pt x="302146" y="69536"/>
                  </a:lnTo>
                  <a:lnTo>
                    <a:pt x="279051" y="32164"/>
                  </a:lnTo>
                  <a:lnTo>
                    <a:pt x="245675" y="7435"/>
                  </a:lnTo>
                  <a:lnTo>
                    <a:pt x="225209" y="0"/>
                  </a:lnTo>
                  <a:close/>
                </a:path>
                <a:path w="315594" h="282575">
                  <a:moveTo>
                    <a:pt x="90043" y="0"/>
                  </a:moveTo>
                  <a:lnTo>
                    <a:pt x="51628" y="18145"/>
                  </a:lnTo>
                  <a:lnTo>
                    <a:pt x="23291" y="49530"/>
                  </a:lnTo>
                  <a:lnTo>
                    <a:pt x="5826" y="91471"/>
                  </a:lnTo>
                  <a:lnTo>
                    <a:pt x="78" y="139827"/>
                  </a:lnTo>
                  <a:lnTo>
                    <a:pt x="0" y="141224"/>
                  </a:lnTo>
                  <a:lnTo>
                    <a:pt x="1452" y="167179"/>
                  </a:lnTo>
                  <a:lnTo>
                    <a:pt x="13067" y="213090"/>
                  </a:lnTo>
                  <a:lnTo>
                    <a:pt x="36105" y="250334"/>
                  </a:lnTo>
                  <a:lnTo>
                    <a:pt x="69514" y="274960"/>
                  </a:lnTo>
                  <a:lnTo>
                    <a:pt x="90043" y="282321"/>
                  </a:lnTo>
                  <a:lnTo>
                    <a:pt x="93611" y="270891"/>
                  </a:lnTo>
                  <a:lnTo>
                    <a:pt x="77528" y="263773"/>
                  </a:lnTo>
                  <a:lnTo>
                    <a:pt x="63647" y="253857"/>
                  </a:lnTo>
                  <a:lnTo>
                    <a:pt x="35169" y="207656"/>
                  </a:lnTo>
                  <a:lnTo>
                    <a:pt x="26801" y="164707"/>
                  </a:lnTo>
                  <a:lnTo>
                    <a:pt x="25755" y="139827"/>
                  </a:lnTo>
                  <a:lnTo>
                    <a:pt x="26801" y="115732"/>
                  </a:lnTo>
                  <a:lnTo>
                    <a:pt x="35169" y="73925"/>
                  </a:lnTo>
                  <a:lnTo>
                    <a:pt x="63761" y="28432"/>
                  </a:lnTo>
                  <a:lnTo>
                    <a:pt x="94068" y="11557"/>
                  </a:lnTo>
                  <a:lnTo>
                    <a:pt x="900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93242" y="2602179"/>
            <a:ext cx="1493520" cy="11220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99800"/>
              </a:lnSpc>
              <a:spcBef>
                <a:spcPts val="105"/>
              </a:spcBef>
            </a:pPr>
            <a:r>
              <a:rPr sz="2400" dirty="0">
                <a:latin typeface="Cambria Math"/>
                <a:cs typeface="Cambria Math"/>
              </a:rPr>
              <a:t>𝐦</a:t>
            </a:r>
            <a:r>
              <a:rPr sz="2400" spc="434" dirty="0">
                <a:latin typeface="Cambria Math"/>
                <a:cs typeface="Cambria Math"/>
              </a:rPr>
              <a:t> </a:t>
            </a:r>
            <a:r>
              <a:rPr sz="2400" spc="-60" dirty="0">
                <a:latin typeface="Cambria Math"/>
                <a:cs typeface="Cambria Math"/>
              </a:rPr>
              <a:t>𝐭 </a:t>
            </a:r>
            <a:r>
              <a:rPr sz="2400" b="1" spc="-10" dirty="0">
                <a:latin typeface="Calibri"/>
                <a:cs typeface="Calibri"/>
              </a:rPr>
              <a:t>Modulating Signal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24" name="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75026" y="2599842"/>
            <a:ext cx="1664589" cy="8417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25"/>
              <p:cNvSpPr txBox="1"/>
              <p:nvPr/>
            </p:nvSpPr>
            <p:spPr>
              <a:xfrm>
                <a:off x="2375026" y="2599842"/>
                <a:ext cx="1664970" cy="816314"/>
              </a:xfrm>
              <a:prstGeom prst="rect">
                <a:avLst/>
              </a:prstGeom>
              <a:ln w="6350">
                <a:solidFill>
                  <a:srgbClr val="6FAC46"/>
                </a:solidFill>
              </a:ln>
            </p:spPr>
            <p:txBody>
              <a:bodyPr vert="horz" wrap="square" lIns="0" tIns="762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60"/>
                  </a:spcBef>
                </a:pPr>
                <a:r>
                  <a:rPr lang="en-US" sz="2400" b="1" spc="-10" dirty="0">
                    <a:latin typeface="Calibri"/>
                    <a:cs typeface="Calibri"/>
                  </a:rPr>
                  <a:t>Integrator</a:t>
                </a:r>
                <a:endParaRPr lang="en-US" sz="2400" dirty="0">
                  <a:latin typeface="Calibri"/>
                  <a:cs typeface="Calibri"/>
                </a:endParaRPr>
              </a:p>
              <a:p>
                <a:pPr algn="ctr">
                  <a:lnSpc>
                    <a:spcPct val="100000"/>
                  </a:lnSpc>
                  <a:spcBef>
                    <a:spcPts val="95"/>
                  </a:spcBef>
                </a:pP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ar-AE" sz="2400" i="1" spc="-35" smtClean="0">
                            <a:latin typeface="Cambria Math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US" sz="2400" b="0" i="0" spc="-35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nary>
                  </m:oMath>
                </a14:m>
                <a:r>
                  <a:rPr lang="en-US" sz="2400" dirty="0">
                    <a:latin typeface="Cambria Math"/>
                    <a:cs typeface="Cambria Math"/>
                  </a:rPr>
                  <a:t>t</a:t>
                </a:r>
                <a:endParaRPr sz="24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25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5026" y="2599842"/>
                <a:ext cx="1664970" cy="816314"/>
              </a:xfrm>
              <a:prstGeom prst="rect">
                <a:avLst/>
              </a:prstGeom>
              <a:blipFill>
                <a:blip r:embed="rId7"/>
                <a:stretch>
                  <a:fillRect l="-5109" t="-48148" r="-12044" b="-132593"/>
                </a:stretch>
              </a:blipFill>
              <a:ln w="6350">
                <a:solidFill>
                  <a:srgbClr val="6FAC4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object 26"/>
          <p:cNvGrpSpPr/>
          <p:nvPr/>
        </p:nvGrpSpPr>
        <p:grpSpPr>
          <a:xfrm>
            <a:off x="4039615" y="2963672"/>
            <a:ext cx="1309370" cy="525145"/>
            <a:chOff x="4039615" y="2963672"/>
            <a:chExt cx="1309370" cy="525145"/>
          </a:xfrm>
        </p:grpSpPr>
        <p:sp>
          <p:nvSpPr>
            <p:cNvPr id="27" name="object 27"/>
            <p:cNvSpPr/>
            <p:nvPr/>
          </p:nvSpPr>
          <p:spPr>
            <a:xfrm>
              <a:off x="4039615" y="2963672"/>
              <a:ext cx="1309370" cy="114300"/>
            </a:xfrm>
            <a:custGeom>
              <a:avLst/>
              <a:gdLst/>
              <a:ahLst/>
              <a:cxnLst/>
              <a:rect l="l" t="t" r="r" b="b"/>
              <a:pathLst>
                <a:path w="1309370" h="114300">
                  <a:moveTo>
                    <a:pt x="1195070" y="0"/>
                  </a:moveTo>
                  <a:lnTo>
                    <a:pt x="1195070" y="114300"/>
                  </a:lnTo>
                  <a:lnTo>
                    <a:pt x="1271270" y="76200"/>
                  </a:lnTo>
                  <a:lnTo>
                    <a:pt x="1214120" y="76200"/>
                  </a:lnTo>
                  <a:lnTo>
                    <a:pt x="1214120" y="38100"/>
                  </a:lnTo>
                  <a:lnTo>
                    <a:pt x="1271270" y="38100"/>
                  </a:lnTo>
                  <a:lnTo>
                    <a:pt x="1195070" y="0"/>
                  </a:lnTo>
                  <a:close/>
                </a:path>
                <a:path w="1309370" h="114300">
                  <a:moveTo>
                    <a:pt x="1195070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1195070" y="76200"/>
                  </a:lnTo>
                  <a:lnTo>
                    <a:pt x="1195070" y="38100"/>
                  </a:lnTo>
                  <a:close/>
                </a:path>
                <a:path w="1309370" h="114300">
                  <a:moveTo>
                    <a:pt x="1271270" y="38100"/>
                  </a:moveTo>
                  <a:lnTo>
                    <a:pt x="1214120" y="38100"/>
                  </a:lnTo>
                  <a:lnTo>
                    <a:pt x="1214120" y="76200"/>
                  </a:lnTo>
                  <a:lnTo>
                    <a:pt x="1271270" y="76200"/>
                  </a:lnTo>
                  <a:lnTo>
                    <a:pt x="1309370" y="57150"/>
                  </a:lnTo>
                  <a:lnTo>
                    <a:pt x="1271270" y="3810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99558" y="3276981"/>
              <a:ext cx="235965" cy="211709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4137405" y="3206877"/>
            <a:ext cx="958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60" dirty="0">
                <a:latin typeface="Cambria Math"/>
                <a:cs typeface="Cambria Math"/>
              </a:rPr>
              <a:t>න</a:t>
            </a:r>
            <a:r>
              <a:rPr sz="1800" spc="-10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𝐦</a:t>
            </a:r>
            <a:r>
              <a:rPr sz="1800" spc="34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𝐭</a:t>
            </a:r>
            <a:r>
              <a:rPr sz="1800" spc="345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𝐝𝐭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30" name="object 3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359019" y="5259959"/>
            <a:ext cx="1664588" cy="841730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5359019" y="5259959"/>
            <a:ext cx="1664970" cy="842010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230504" marR="222885" indent="168910">
              <a:lnSpc>
                <a:spcPct val="100000"/>
              </a:lnSpc>
              <a:spcBef>
                <a:spcPts val="285"/>
              </a:spcBef>
            </a:pPr>
            <a:r>
              <a:rPr sz="2400" b="1" spc="-10" dirty="0">
                <a:latin typeface="Calibri"/>
                <a:cs typeface="Calibri"/>
              </a:rPr>
              <a:t>Carrier Oscillator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264655" y="6214719"/>
            <a:ext cx="510540" cy="212090"/>
          </a:xfrm>
          <a:custGeom>
            <a:avLst/>
            <a:gdLst/>
            <a:ahLst/>
            <a:cxnLst/>
            <a:rect l="l" t="t" r="r" b="b"/>
            <a:pathLst>
              <a:path w="510540" h="212089">
                <a:moveTo>
                  <a:pt x="442849" y="0"/>
                </a:moveTo>
                <a:lnTo>
                  <a:pt x="439801" y="8597"/>
                </a:lnTo>
                <a:lnTo>
                  <a:pt x="452068" y="13917"/>
                </a:lnTo>
                <a:lnTo>
                  <a:pt x="462597" y="21282"/>
                </a:lnTo>
                <a:lnTo>
                  <a:pt x="484016" y="55414"/>
                </a:lnTo>
                <a:lnTo>
                  <a:pt x="490982" y="104813"/>
                </a:lnTo>
                <a:lnTo>
                  <a:pt x="490196" y="123489"/>
                </a:lnTo>
                <a:lnTo>
                  <a:pt x="478409" y="169214"/>
                </a:lnTo>
                <a:lnTo>
                  <a:pt x="452227" y="197807"/>
                </a:lnTo>
                <a:lnTo>
                  <a:pt x="440182" y="203149"/>
                </a:lnTo>
                <a:lnTo>
                  <a:pt x="442849" y="211747"/>
                </a:lnTo>
                <a:lnTo>
                  <a:pt x="483246" y="187710"/>
                </a:lnTo>
                <a:lnTo>
                  <a:pt x="505968" y="143335"/>
                </a:lnTo>
                <a:lnTo>
                  <a:pt x="510286" y="105930"/>
                </a:lnTo>
                <a:lnTo>
                  <a:pt x="509223" y="86751"/>
                </a:lnTo>
                <a:lnTo>
                  <a:pt x="509210" y="86521"/>
                </a:lnTo>
                <a:lnTo>
                  <a:pt x="492887" y="37122"/>
                </a:lnTo>
                <a:lnTo>
                  <a:pt x="458186" y="5541"/>
                </a:lnTo>
                <a:lnTo>
                  <a:pt x="442849" y="0"/>
                </a:lnTo>
                <a:close/>
              </a:path>
              <a:path w="510540" h="212089">
                <a:moveTo>
                  <a:pt x="67437" y="0"/>
                </a:moveTo>
                <a:lnTo>
                  <a:pt x="27092" y="24101"/>
                </a:lnTo>
                <a:lnTo>
                  <a:pt x="4365" y="68583"/>
                </a:lnTo>
                <a:lnTo>
                  <a:pt x="0" y="105930"/>
                </a:lnTo>
                <a:lnTo>
                  <a:pt x="970" y="123489"/>
                </a:lnTo>
                <a:lnTo>
                  <a:pt x="1075" y="125383"/>
                </a:lnTo>
                <a:lnTo>
                  <a:pt x="17399" y="174739"/>
                </a:lnTo>
                <a:lnTo>
                  <a:pt x="52081" y="206212"/>
                </a:lnTo>
                <a:lnTo>
                  <a:pt x="67437" y="211747"/>
                </a:lnTo>
                <a:lnTo>
                  <a:pt x="70231" y="203149"/>
                </a:lnTo>
                <a:lnTo>
                  <a:pt x="58130" y="197807"/>
                </a:lnTo>
                <a:lnTo>
                  <a:pt x="47720" y="190372"/>
                </a:lnTo>
                <a:lnTo>
                  <a:pt x="26376" y="155689"/>
                </a:lnTo>
                <a:lnTo>
                  <a:pt x="19351" y="105930"/>
                </a:lnTo>
                <a:lnTo>
                  <a:pt x="19304" y="104813"/>
                </a:lnTo>
                <a:lnTo>
                  <a:pt x="26376" y="55414"/>
                </a:lnTo>
                <a:lnTo>
                  <a:pt x="47799" y="21282"/>
                </a:lnTo>
                <a:lnTo>
                  <a:pt x="70485" y="8597"/>
                </a:lnTo>
                <a:lnTo>
                  <a:pt x="67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580888" y="6144869"/>
            <a:ext cx="11588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mbria Math"/>
                <a:cs typeface="Cambria Math"/>
              </a:rPr>
              <a:t>𝐕</a:t>
            </a:r>
            <a:r>
              <a:rPr sz="1950" spc="-30" baseline="-14957" dirty="0">
                <a:latin typeface="Cambria Math"/>
                <a:cs typeface="Cambria Math"/>
              </a:rPr>
              <a:t>𝐂</a:t>
            </a:r>
            <a:r>
              <a:rPr sz="1950" spc="60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𝐜𝐨𝐬</a:t>
            </a:r>
            <a:r>
              <a:rPr sz="1800" spc="26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4957" dirty="0">
                <a:latin typeface="Cambria Math"/>
                <a:cs typeface="Cambria Math"/>
              </a:rPr>
              <a:t>𝐜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34" name="object 3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359019" y="3933977"/>
            <a:ext cx="1664588" cy="841730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5359019" y="3933977"/>
            <a:ext cx="1664970" cy="769891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452755">
              <a:lnSpc>
                <a:spcPts val="2875"/>
              </a:lnSpc>
              <a:spcBef>
                <a:spcPts val="295"/>
              </a:spcBef>
            </a:pPr>
            <a:r>
              <a:rPr lang="en-US" sz="2400" spc="-20" dirty="0">
                <a:latin typeface="Cambria Math"/>
                <a:cs typeface="Cambria Math"/>
              </a:rPr>
              <a:t> </a:t>
            </a:r>
            <a:r>
              <a:rPr sz="2400" spc="-20" dirty="0">
                <a:latin typeface="Cambria Math"/>
                <a:cs typeface="Cambria Math"/>
              </a:rPr>
              <a:t>𝛑/𝟐</a:t>
            </a:r>
            <a:endParaRPr sz="2400" dirty="0">
              <a:latin typeface="Cambria Math"/>
              <a:cs typeface="Cambria Math"/>
            </a:endParaRPr>
          </a:p>
          <a:p>
            <a:pPr marL="455930">
              <a:lnSpc>
                <a:spcPts val="2875"/>
              </a:lnSpc>
            </a:pPr>
            <a:r>
              <a:rPr sz="2400" b="1" spc="-10" dirty="0">
                <a:latin typeface="Calibri"/>
                <a:cs typeface="Calibri"/>
              </a:rPr>
              <a:t>Phase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134100" y="3445636"/>
            <a:ext cx="1637030" cy="1814830"/>
            <a:chOff x="6134100" y="3445636"/>
            <a:chExt cx="1637030" cy="1814830"/>
          </a:xfrm>
        </p:grpSpPr>
        <p:sp>
          <p:nvSpPr>
            <p:cNvPr id="37" name="object 37"/>
            <p:cNvSpPr/>
            <p:nvPr/>
          </p:nvSpPr>
          <p:spPr>
            <a:xfrm>
              <a:off x="6134100" y="3445636"/>
              <a:ext cx="114300" cy="1814830"/>
            </a:xfrm>
            <a:custGeom>
              <a:avLst/>
              <a:gdLst/>
              <a:ahLst/>
              <a:cxnLst/>
              <a:rect l="l" t="t" r="r" b="b"/>
              <a:pathLst>
                <a:path w="114300" h="1814829">
                  <a:moveTo>
                    <a:pt x="114300" y="1444371"/>
                  </a:moveTo>
                  <a:lnTo>
                    <a:pt x="104775" y="1425321"/>
                  </a:lnTo>
                  <a:lnTo>
                    <a:pt x="57150" y="1330071"/>
                  </a:lnTo>
                  <a:lnTo>
                    <a:pt x="0" y="1444371"/>
                  </a:lnTo>
                  <a:lnTo>
                    <a:pt x="38100" y="1444371"/>
                  </a:lnTo>
                  <a:lnTo>
                    <a:pt x="38100" y="1814322"/>
                  </a:lnTo>
                  <a:lnTo>
                    <a:pt x="76200" y="1814322"/>
                  </a:lnTo>
                  <a:lnTo>
                    <a:pt x="76200" y="1444371"/>
                  </a:lnTo>
                  <a:lnTo>
                    <a:pt x="114300" y="1444371"/>
                  </a:lnTo>
                  <a:close/>
                </a:path>
                <a:path w="114300" h="1814829">
                  <a:moveTo>
                    <a:pt x="114300" y="114300"/>
                  </a:moveTo>
                  <a:lnTo>
                    <a:pt x="104775" y="95250"/>
                  </a:lnTo>
                  <a:lnTo>
                    <a:pt x="57150" y="0"/>
                  </a:lnTo>
                  <a:lnTo>
                    <a:pt x="0" y="114300"/>
                  </a:lnTo>
                  <a:lnTo>
                    <a:pt x="38100" y="114300"/>
                  </a:lnTo>
                  <a:lnTo>
                    <a:pt x="38100" y="488315"/>
                  </a:lnTo>
                  <a:lnTo>
                    <a:pt x="76200" y="488315"/>
                  </a:lnTo>
                  <a:lnTo>
                    <a:pt x="76200" y="114300"/>
                  </a:lnTo>
                  <a:lnTo>
                    <a:pt x="114300" y="11430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260208" y="3554602"/>
              <a:ext cx="510540" cy="212090"/>
            </a:xfrm>
            <a:custGeom>
              <a:avLst/>
              <a:gdLst/>
              <a:ahLst/>
              <a:cxnLst/>
              <a:rect l="l" t="t" r="r" b="b"/>
              <a:pathLst>
                <a:path w="510540" h="212089">
                  <a:moveTo>
                    <a:pt x="442849" y="0"/>
                  </a:moveTo>
                  <a:lnTo>
                    <a:pt x="439801" y="8636"/>
                  </a:lnTo>
                  <a:lnTo>
                    <a:pt x="452068" y="13946"/>
                  </a:lnTo>
                  <a:lnTo>
                    <a:pt x="462597" y="21304"/>
                  </a:lnTo>
                  <a:lnTo>
                    <a:pt x="484016" y="55449"/>
                  </a:lnTo>
                  <a:lnTo>
                    <a:pt x="490982" y="104902"/>
                  </a:lnTo>
                  <a:lnTo>
                    <a:pt x="490216" y="123571"/>
                  </a:lnTo>
                  <a:lnTo>
                    <a:pt x="478536" y="169291"/>
                  </a:lnTo>
                  <a:lnTo>
                    <a:pt x="452229" y="197866"/>
                  </a:lnTo>
                  <a:lnTo>
                    <a:pt x="440182" y="203200"/>
                  </a:lnTo>
                  <a:lnTo>
                    <a:pt x="442849" y="211836"/>
                  </a:lnTo>
                  <a:lnTo>
                    <a:pt x="483246" y="187725"/>
                  </a:lnTo>
                  <a:lnTo>
                    <a:pt x="506031" y="143398"/>
                  </a:lnTo>
                  <a:lnTo>
                    <a:pt x="510413" y="106045"/>
                  </a:lnTo>
                  <a:lnTo>
                    <a:pt x="509331" y="86830"/>
                  </a:lnTo>
                  <a:lnTo>
                    <a:pt x="492887" y="37211"/>
                  </a:lnTo>
                  <a:lnTo>
                    <a:pt x="458186" y="5599"/>
                  </a:lnTo>
                  <a:lnTo>
                    <a:pt x="442849" y="0"/>
                  </a:lnTo>
                  <a:close/>
                </a:path>
                <a:path w="510540" h="212089">
                  <a:moveTo>
                    <a:pt x="67564" y="0"/>
                  </a:moveTo>
                  <a:lnTo>
                    <a:pt x="27112" y="24181"/>
                  </a:lnTo>
                  <a:lnTo>
                    <a:pt x="4365" y="68627"/>
                  </a:lnTo>
                  <a:lnTo>
                    <a:pt x="0" y="106045"/>
                  </a:lnTo>
                  <a:lnTo>
                    <a:pt x="986" y="123571"/>
                  </a:lnTo>
                  <a:lnTo>
                    <a:pt x="1093" y="125477"/>
                  </a:lnTo>
                  <a:lnTo>
                    <a:pt x="17399" y="174752"/>
                  </a:lnTo>
                  <a:lnTo>
                    <a:pt x="52135" y="206291"/>
                  </a:lnTo>
                  <a:lnTo>
                    <a:pt x="67564" y="211836"/>
                  </a:lnTo>
                  <a:lnTo>
                    <a:pt x="70231" y="203200"/>
                  </a:lnTo>
                  <a:lnTo>
                    <a:pt x="58130" y="197866"/>
                  </a:lnTo>
                  <a:lnTo>
                    <a:pt x="47720" y="190436"/>
                  </a:lnTo>
                  <a:lnTo>
                    <a:pt x="26376" y="155765"/>
                  </a:lnTo>
                  <a:lnTo>
                    <a:pt x="19352" y="106045"/>
                  </a:lnTo>
                  <a:lnTo>
                    <a:pt x="19304" y="104902"/>
                  </a:lnTo>
                  <a:lnTo>
                    <a:pt x="20089" y="86830"/>
                  </a:lnTo>
                  <a:lnTo>
                    <a:pt x="31877" y="42164"/>
                  </a:lnTo>
                  <a:lnTo>
                    <a:pt x="58291" y="13946"/>
                  </a:lnTo>
                  <a:lnTo>
                    <a:pt x="70485" y="8636"/>
                  </a:lnTo>
                  <a:lnTo>
                    <a:pt x="675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433058" y="3484626"/>
            <a:ext cx="1302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−𝐕</a:t>
            </a:r>
            <a:r>
              <a:rPr sz="1950" spc="-15" baseline="-14957" dirty="0">
                <a:latin typeface="Cambria Math"/>
                <a:cs typeface="Cambria Math"/>
              </a:rPr>
              <a:t>𝐂</a:t>
            </a:r>
            <a:r>
              <a:rPr sz="1950" spc="37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𝐬𝐢𝐧</a:t>
            </a:r>
            <a:r>
              <a:rPr sz="1800" spc="26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4957" dirty="0">
                <a:latin typeface="Cambria Math"/>
                <a:cs typeface="Cambria Math"/>
              </a:rPr>
              <a:t>𝐜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40" name="object 4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348985" y="2587142"/>
            <a:ext cx="1664589" cy="841730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5348985" y="2587142"/>
            <a:ext cx="1664970" cy="774571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154940" marR="147320" indent="182880">
              <a:lnSpc>
                <a:spcPct val="100000"/>
              </a:lnSpc>
              <a:spcBef>
                <a:spcPts val="280"/>
              </a:spcBef>
            </a:pPr>
            <a:r>
              <a:rPr lang="en-US" sz="2400" b="1" spc="-10" dirty="0">
                <a:latin typeface="Calibri"/>
                <a:cs typeface="Calibri"/>
              </a:rPr>
              <a:t>DSB-SC</a:t>
            </a:r>
            <a:r>
              <a:rPr sz="2400" b="1" spc="-10" dirty="0">
                <a:latin typeface="Calibri"/>
                <a:cs typeface="Calibri"/>
              </a:rPr>
              <a:t> Modulator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7013575" y="2304033"/>
            <a:ext cx="1547495" cy="761365"/>
            <a:chOff x="7013575" y="2304033"/>
            <a:chExt cx="1547495" cy="761365"/>
          </a:xfrm>
        </p:grpSpPr>
        <p:sp>
          <p:nvSpPr>
            <p:cNvPr id="43" name="object 43"/>
            <p:cNvSpPr/>
            <p:nvPr/>
          </p:nvSpPr>
          <p:spPr>
            <a:xfrm>
              <a:off x="7013575" y="2950971"/>
              <a:ext cx="1416050" cy="114300"/>
            </a:xfrm>
            <a:custGeom>
              <a:avLst/>
              <a:gdLst/>
              <a:ahLst/>
              <a:cxnLst/>
              <a:rect l="l" t="t" r="r" b="b"/>
              <a:pathLst>
                <a:path w="1416050" h="114300">
                  <a:moveTo>
                    <a:pt x="1301369" y="0"/>
                  </a:moveTo>
                  <a:lnTo>
                    <a:pt x="1301369" y="114300"/>
                  </a:lnTo>
                  <a:lnTo>
                    <a:pt x="1377569" y="76200"/>
                  </a:lnTo>
                  <a:lnTo>
                    <a:pt x="1320419" y="76200"/>
                  </a:lnTo>
                  <a:lnTo>
                    <a:pt x="1320419" y="38100"/>
                  </a:lnTo>
                  <a:lnTo>
                    <a:pt x="1377569" y="38100"/>
                  </a:lnTo>
                  <a:lnTo>
                    <a:pt x="1301369" y="0"/>
                  </a:lnTo>
                  <a:close/>
                </a:path>
                <a:path w="1416050" h="114300">
                  <a:moveTo>
                    <a:pt x="1301369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1301369" y="76200"/>
                  </a:lnTo>
                  <a:lnTo>
                    <a:pt x="1301369" y="38100"/>
                  </a:lnTo>
                  <a:close/>
                </a:path>
                <a:path w="1416050" h="114300">
                  <a:moveTo>
                    <a:pt x="1377569" y="38100"/>
                  </a:moveTo>
                  <a:lnTo>
                    <a:pt x="1320419" y="38100"/>
                  </a:lnTo>
                  <a:lnTo>
                    <a:pt x="1320419" y="76200"/>
                  </a:lnTo>
                  <a:lnTo>
                    <a:pt x="1377569" y="76200"/>
                  </a:lnTo>
                  <a:lnTo>
                    <a:pt x="1415669" y="57150"/>
                  </a:lnTo>
                  <a:lnTo>
                    <a:pt x="1377569" y="3810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410068" y="2304033"/>
              <a:ext cx="236093" cy="211709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8048625" y="2304033"/>
              <a:ext cx="512445" cy="212090"/>
            </a:xfrm>
            <a:custGeom>
              <a:avLst/>
              <a:gdLst/>
              <a:ahLst/>
              <a:cxnLst/>
              <a:rect l="l" t="t" r="r" b="b"/>
              <a:pathLst>
                <a:path w="512445" h="212089">
                  <a:moveTo>
                    <a:pt x="444373" y="0"/>
                  </a:moveTo>
                  <a:lnTo>
                    <a:pt x="441325" y="8636"/>
                  </a:lnTo>
                  <a:lnTo>
                    <a:pt x="453610" y="13946"/>
                  </a:lnTo>
                  <a:lnTo>
                    <a:pt x="464169" y="21304"/>
                  </a:lnTo>
                  <a:lnTo>
                    <a:pt x="485560" y="55429"/>
                  </a:lnTo>
                  <a:lnTo>
                    <a:pt x="491812" y="86483"/>
                  </a:lnTo>
                  <a:lnTo>
                    <a:pt x="491847" y="86723"/>
                  </a:lnTo>
                  <a:lnTo>
                    <a:pt x="492633" y="104775"/>
                  </a:lnTo>
                  <a:lnTo>
                    <a:pt x="491847" y="123444"/>
                  </a:lnTo>
                  <a:lnTo>
                    <a:pt x="489489" y="140398"/>
                  </a:lnTo>
                  <a:lnTo>
                    <a:pt x="472942" y="180784"/>
                  </a:lnTo>
                  <a:lnTo>
                    <a:pt x="441706" y="203073"/>
                  </a:lnTo>
                  <a:lnTo>
                    <a:pt x="444373" y="211709"/>
                  </a:lnTo>
                  <a:lnTo>
                    <a:pt x="484842" y="187706"/>
                  </a:lnTo>
                  <a:lnTo>
                    <a:pt x="507571" y="143335"/>
                  </a:lnTo>
                  <a:lnTo>
                    <a:pt x="511937" y="105918"/>
                  </a:lnTo>
                  <a:lnTo>
                    <a:pt x="510855" y="86723"/>
                  </a:lnTo>
                  <a:lnTo>
                    <a:pt x="510841" y="86483"/>
                  </a:lnTo>
                  <a:lnTo>
                    <a:pt x="494411" y="37084"/>
                  </a:lnTo>
                  <a:lnTo>
                    <a:pt x="459710" y="5526"/>
                  </a:lnTo>
                  <a:lnTo>
                    <a:pt x="444373" y="0"/>
                  </a:lnTo>
                  <a:close/>
                </a:path>
                <a:path w="512445" h="212089">
                  <a:moveTo>
                    <a:pt x="67564" y="0"/>
                  </a:moveTo>
                  <a:lnTo>
                    <a:pt x="27166" y="24056"/>
                  </a:lnTo>
                  <a:lnTo>
                    <a:pt x="4381" y="68548"/>
                  </a:lnTo>
                  <a:lnTo>
                    <a:pt x="64" y="104775"/>
                  </a:lnTo>
                  <a:lnTo>
                    <a:pt x="0" y="105918"/>
                  </a:lnTo>
                  <a:lnTo>
                    <a:pt x="985" y="123444"/>
                  </a:lnTo>
                  <a:lnTo>
                    <a:pt x="1093" y="125370"/>
                  </a:lnTo>
                  <a:lnTo>
                    <a:pt x="4365" y="143335"/>
                  </a:lnTo>
                  <a:lnTo>
                    <a:pt x="27094" y="187706"/>
                  </a:lnTo>
                  <a:lnTo>
                    <a:pt x="67564" y="211709"/>
                  </a:lnTo>
                  <a:lnTo>
                    <a:pt x="70231" y="203073"/>
                  </a:lnTo>
                  <a:lnTo>
                    <a:pt x="58183" y="197738"/>
                  </a:lnTo>
                  <a:lnTo>
                    <a:pt x="47767" y="190309"/>
                  </a:lnTo>
                  <a:lnTo>
                    <a:pt x="26376" y="155638"/>
                  </a:lnTo>
                  <a:lnTo>
                    <a:pt x="19352" y="105918"/>
                  </a:lnTo>
                  <a:lnTo>
                    <a:pt x="19304" y="104775"/>
                  </a:lnTo>
                  <a:lnTo>
                    <a:pt x="20089" y="86723"/>
                  </a:lnTo>
                  <a:lnTo>
                    <a:pt x="31877" y="42164"/>
                  </a:lnTo>
                  <a:lnTo>
                    <a:pt x="58344" y="13946"/>
                  </a:lnTo>
                  <a:lnTo>
                    <a:pt x="70612" y="8636"/>
                  </a:lnTo>
                  <a:lnTo>
                    <a:pt x="675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6593713" y="2233676"/>
            <a:ext cx="1931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111885" algn="l"/>
              </a:tabLst>
            </a:pPr>
            <a:r>
              <a:rPr sz="1800" dirty="0">
                <a:latin typeface="Cambria Math"/>
                <a:cs typeface="Cambria Math"/>
              </a:rPr>
              <a:t>−𝐕</a:t>
            </a:r>
            <a:r>
              <a:rPr sz="1950" baseline="-14957" dirty="0">
                <a:latin typeface="Cambria Math"/>
                <a:cs typeface="Cambria Math"/>
              </a:rPr>
              <a:t>𝐂</a:t>
            </a:r>
            <a:r>
              <a:rPr sz="1800" dirty="0">
                <a:latin typeface="Cambria Math"/>
                <a:cs typeface="Cambria Math"/>
              </a:rPr>
              <a:t>𝐤</a:t>
            </a:r>
            <a:r>
              <a:rPr sz="1950" baseline="-14957" dirty="0">
                <a:latin typeface="Cambria Math"/>
                <a:cs typeface="Cambria Math"/>
              </a:rPr>
              <a:t>𝐟</a:t>
            </a:r>
            <a:r>
              <a:rPr sz="1800" dirty="0">
                <a:latin typeface="Cambria Math"/>
                <a:cs typeface="Cambria Math"/>
              </a:rPr>
              <a:t>𝐠</a:t>
            </a:r>
            <a:r>
              <a:rPr sz="1800" spc="39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𝐬𝐢𝐧</a:t>
            </a:r>
            <a:r>
              <a:rPr sz="1800" spc="33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𝛚</a:t>
            </a:r>
            <a:r>
              <a:rPr sz="1950" spc="-37" baseline="-14957" dirty="0">
                <a:latin typeface="Cambria Math"/>
                <a:cs typeface="Cambria Math"/>
              </a:rPr>
              <a:t>𝐜</a:t>
            </a:r>
            <a:r>
              <a:rPr sz="1800" spc="-25" dirty="0"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47" name="object 4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429243" y="2595524"/>
            <a:ext cx="1212189" cy="841730"/>
          </a:xfrm>
          <a:prstGeom prst="rect">
            <a:avLst/>
          </a:prstGeom>
        </p:spPr>
      </p:pic>
      <p:sp>
        <p:nvSpPr>
          <p:cNvPr id="48" name="object 48"/>
          <p:cNvSpPr txBox="1"/>
          <p:nvPr/>
        </p:nvSpPr>
        <p:spPr>
          <a:xfrm>
            <a:off x="8429243" y="2595524"/>
            <a:ext cx="1212215" cy="842010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219075" rIns="0" bIns="0" rtlCol="0">
            <a:spAutoFit/>
          </a:bodyPr>
          <a:lstStyle/>
          <a:p>
            <a:pPr marL="220345">
              <a:lnSpc>
                <a:spcPct val="100000"/>
              </a:lnSpc>
              <a:spcBef>
                <a:spcPts val="1725"/>
              </a:spcBef>
            </a:pPr>
            <a:r>
              <a:rPr sz="2400" b="1" spc="-10" dirty="0">
                <a:latin typeface="Calibri"/>
                <a:cs typeface="Calibri"/>
              </a:rPr>
              <a:t>Adder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7023608" y="2961385"/>
            <a:ext cx="4279900" cy="2738755"/>
          </a:xfrm>
          <a:custGeom>
            <a:avLst/>
            <a:gdLst/>
            <a:ahLst/>
            <a:cxnLst/>
            <a:rect l="l" t="t" r="r" b="b"/>
            <a:pathLst>
              <a:path w="4279900" h="2738754">
                <a:moveTo>
                  <a:pt x="2068957" y="590169"/>
                </a:moveTo>
                <a:lnTo>
                  <a:pt x="2059432" y="571119"/>
                </a:lnTo>
                <a:lnTo>
                  <a:pt x="2011807" y="475869"/>
                </a:lnTo>
                <a:lnTo>
                  <a:pt x="1954657" y="590169"/>
                </a:lnTo>
                <a:lnTo>
                  <a:pt x="1992757" y="590169"/>
                </a:lnTo>
                <a:lnTo>
                  <a:pt x="1992757" y="2700413"/>
                </a:lnTo>
                <a:lnTo>
                  <a:pt x="0" y="2700413"/>
                </a:lnTo>
                <a:lnTo>
                  <a:pt x="0" y="2738501"/>
                </a:lnTo>
                <a:lnTo>
                  <a:pt x="2030857" y="2738501"/>
                </a:lnTo>
                <a:lnTo>
                  <a:pt x="2030857" y="2719451"/>
                </a:lnTo>
                <a:lnTo>
                  <a:pt x="2030857" y="2700413"/>
                </a:lnTo>
                <a:lnTo>
                  <a:pt x="2030857" y="590169"/>
                </a:lnTo>
                <a:lnTo>
                  <a:pt x="2068957" y="590169"/>
                </a:lnTo>
                <a:close/>
              </a:path>
              <a:path w="4279900" h="2738754">
                <a:moveTo>
                  <a:pt x="4279392" y="57277"/>
                </a:moveTo>
                <a:lnTo>
                  <a:pt x="4241165" y="38100"/>
                </a:lnTo>
                <a:lnTo>
                  <a:pt x="4165219" y="0"/>
                </a:lnTo>
                <a:lnTo>
                  <a:pt x="4165130" y="35941"/>
                </a:lnTo>
                <a:lnTo>
                  <a:pt x="4165117" y="38074"/>
                </a:lnTo>
                <a:lnTo>
                  <a:pt x="2617851" y="35941"/>
                </a:lnTo>
                <a:lnTo>
                  <a:pt x="2617851" y="74041"/>
                </a:lnTo>
                <a:lnTo>
                  <a:pt x="4165041" y="76174"/>
                </a:lnTo>
                <a:lnTo>
                  <a:pt x="4184129" y="76200"/>
                </a:lnTo>
                <a:lnTo>
                  <a:pt x="4165041" y="76200"/>
                </a:lnTo>
                <a:lnTo>
                  <a:pt x="4164965" y="114300"/>
                </a:lnTo>
                <a:lnTo>
                  <a:pt x="4241419" y="76200"/>
                </a:lnTo>
                <a:lnTo>
                  <a:pt x="4279392" y="57277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9808591" y="3059429"/>
            <a:ext cx="1227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NBFM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Signal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xmlns="" id="{7888DC0D-7BF7-403A-898D-D7C04755DAC1}"/>
              </a:ext>
            </a:extLst>
          </p:cNvPr>
          <p:cNvSpPr/>
          <p:nvPr/>
        </p:nvSpPr>
        <p:spPr>
          <a:xfrm>
            <a:off x="5943600" y="1143000"/>
            <a:ext cx="2962784" cy="10718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xmlns="" id="{BA5DAA08-910C-4D2A-B874-EAA200AD7C43}"/>
                  </a:ext>
                </a:extLst>
              </p:cNvPr>
              <p:cNvSpPr txBox="1"/>
              <p:nvPr/>
            </p:nvSpPr>
            <p:spPr>
              <a:xfrm>
                <a:off x="5948591" y="1434194"/>
                <a:ext cx="6124574" cy="4637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Here,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𝐠</m:t>
                    </m:r>
                    <m:d>
                      <m:dPr>
                        <m:ctrlPr>
                          <a:rPr lang="en-US" b="1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𝐭</m:t>
                        </m:r>
                      </m:e>
                    </m:d>
                    <m:r>
                      <a:rPr lang="en-US" b="1" i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b="1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1" i="0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𝐭</m:t>
                        </m:r>
                      </m:sup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𝐦</m:t>
                        </m:r>
                        <m:d>
                          <m:dPr>
                            <m:ctrlPr>
                              <a:rPr lang="en-US" b="1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𝐭</m:t>
                            </m:r>
                          </m:e>
                        </m:d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𝐝𝐭</m:t>
                        </m:r>
                      </m:e>
                    </m:nary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A5DAA08-910C-4D2A-B874-EAA200AD7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591" y="1434194"/>
                <a:ext cx="6124574" cy="463781"/>
              </a:xfrm>
              <a:prstGeom prst="rect">
                <a:avLst/>
              </a:prstGeom>
              <a:blipFill>
                <a:blip r:embed="rId13"/>
                <a:stretch>
                  <a:fillRect l="-896" t="-106579" b="-172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Rectangle 55">
            <a:extLst>
              <a:ext uri="{FF2B5EF4-FFF2-40B4-BE49-F238E27FC236}">
                <a16:creationId xmlns:a16="http://schemas.microsoft.com/office/drawing/2014/main" xmlns="" id="{99FB7900-AE0D-4539-9C84-E9EC292CC2C6}"/>
              </a:ext>
            </a:extLst>
          </p:cNvPr>
          <p:cNvSpPr/>
          <p:nvPr/>
        </p:nvSpPr>
        <p:spPr>
          <a:xfrm>
            <a:off x="5867400" y="1448942"/>
            <a:ext cx="2561843" cy="5156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xmlns="" id="{36FE94B2-4488-411C-AC29-1643CBAB2F2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27686" y="3118075"/>
            <a:ext cx="1004958" cy="596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8879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4142" y="72644"/>
            <a:ext cx="355282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Frequency</a:t>
            </a:r>
            <a:r>
              <a:rPr sz="3200" b="1" u="sng" spc="-9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Multiplier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59686" y="837717"/>
            <a:ext cx="3156585" cy="842010"/>
            <a:chOff x="1559686" y="837717"/>
            <a:chExt cx="3156585" cy="842010"/>
          </a:xfrm>
        </p:grpSpPr>
        <p:sp>
          <p:nvSpPr>
            <p:cNvPr id="4" name="object 4"/>
            <p:cNvSpPr/>
            <p:nvPr/>
          </p:nvSpPr>
          <p:spPr>
            <a:xfrm>
              <a:off x="1559686" y="1199387"/>
              <a:ext cx="1491615" cy="114300"/>
            </a:xfrm>
            <a:custGeom>
              <a:avLst/>
              <a:gdLst/>
              <a:ahLst/>
              <a:cxnLst/>
              <a:rect l="l" t="t" r="r" b="b"/>
              <a:pathLst>
                <a:path w="1491614" h="114300">
                  <a:moveTo>
                    <a:pt x="1377315" y="0"/>
                  </a:moveTo>
                  <a:lnTo>
                    <a:pt x="1377315" y="114300"/>
                  </a:lnTo>
                  <a:lnTo>
                    <a:pt x="1453515" y="76200"/>
                  </a:lnTo>
                  <a:lnTo>
                    <a:pt x="1396365" y="76200"/>
                  </a:lnTo>
                  <a:lnTo>
                    <a:pt x="1396365" y="38100"/>
                  </a:lnTo>
                  <a:lnTo>
                    <a:pt x="1453515" y="38100"/>
                  </a:lnTo>
                  <a:lnTo>
                    <a:pt x="1377315" y="0"/>
                  </a:lnTo>
                  <a:close/>
                </a:path>
                <a:path w="1491614" h="114300">
                  <a:moveTo>
                    <a:pt x="1377315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1377315" y="76200"/>
                  </a:lnTo>
                  <a:lnTo>
                    <a:pt x="1377315" y="38100"/>
                  </a:lnTo>
                  <a:close/>
                </a:path>
                <a:path w="1491614" h="114300">
                  <a:moveTo>
                    <a:pt x="1453515" y="38100"/>
                  </a:moveTo>
                  <a:lnTo>
                    <a:pt x="1396365" y="38100"/>
                  </a:lnTo>
                  <a:lnTo>
                    <a:pt x="1396365" y="76200"/>
                  </a:lnTo>
                  <a:lnTo>
                    <a:pt x="1453515" y="76200"/>
                  </a:lnTo>
                  <a:lnTo>
                    <a:pt x="1491615" y="57150"/>
                  </a:lnTo>
                  <a:lnTo>
                    <a:pt x="1453515" y="3810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51301" y="837717"/>
              <a:ext cx="1664589" cy="84173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051301" y="837717"/>
            <a:ext cx="1664970" cy="842010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151765" rIns="0" bIns="0" rtlCol="0">
            <a:spAutoFit/>
          </a:bodyPr>
          <a:lstStyle/>
          <a:p>
            <a:pPr marL="483234">
              <a:lnSpc>
                <a:spcPct val="100000"/>
              </a:lnSpc>
              <a:spcBef>
                <a:spcPts val="1195"/>
              </a:spcBef>
            </a:pPr>
            <a:r>
              <a:rPr sz="3200" b="1" spc="-25" dirty="0">
                <a:latin typeface="Calibri"/>
                <a:cs typeface="Calibri"/>
              </a:rPr>
              <a:t>NLD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715890" y="825017"/>
            <a:ext cx="2974340" cy="842010"/>
            <a:chOff x="4715890" y="825017"/>
            <a:chExt cx="2974340" cy="842010"/>
          </a:xfrm>
        </p:grpSpPr>
        <p:sp>
          <p:nvSpPr>
            <p:cNvPr id="8" name="object 8"/>
            <p:cNvSpPr/>
            <p:nvPr/>
          </p:nvSpPr>
          <p:spPr>
            <a:xfrm>
              <a:off x="4715890" y="1201546"/>
              <a:ext cx="1309370" cy="114300"/>
            </a:xfrm>
            <a:custGeom>
              <a:avLst/>
              <a:gdLst/>
              <a:ahLst/>
              <a:cxnLst/>
              <a:rect l="l" t="t" r="r" b="b"/>
              <a:pathLst>
                <a:path w="1309370" h="114300">
                  <a:moveTo>
                    <a:pt x="1195070" y="0"/>
                  </a:moveTo>
                  <a:lnTo>
                    <a:pt x="1195070" y="114300"/>
                  </a:lnTo>
                  <a:lnTo>
                    <a:pt x="1271270" y="76200"/>
                  </a:lnTo>
                  <a:lnTo>
                    <a:pt x="1214120" y="76200"/>
                  </a:lnTo>
                  <a:lnTo>
                    <a:pt x="1214120" y="38100"/>
                  </a:lnTo>
                  <a:lnTo>
                    <a:pt x="1271270" y="38100"/>
                  </a:lnTo>
                  <a:lnTo>
                    <a:pt x="1195070" y="0"/>
                  </a:lnTo>
                  <a:close/>
                </a:path>
                <a:path w="1309370" h="114300">
                  <a:moveTo>
                    <a:pt x="1195070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1195070" y="76200"/>
                  </a:lnTo>
                  <a:lnTo>
                    <a:pt x="1195070" y="38100"/>
                  </a:lnTo>
                  <a:close/>
                </a:path>
                <a:path w="1309370" h="114300">
                  <a:moveTo>
                    <a:pt x="1271270" y="38100"/>
                  </a:moveTo>
                  <a:lnTo>
                    <a:pt x="1214120" y="38100"/>
                  </a:lnTo>
                  <a:lnTo>
                    <a:pt x="1214120" y="76200"/>
                  </a:lnTo>
                  <a:lnTo>
                    <a:pt x="1271270" y="76200"/>
                  </a:lnTo>
                  <a:lnTo>
                    <a:pt x="1309370" y="57150"/>
                  </a:lnTo>
                  <a:lnTo>
                    <a:pt x="1271270" y="3810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25260" y="825017"/>
              <a:ext cx="1664589" cy="84173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025260" y="825017"/>
            <a:ext cx="1664970" cy="842010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151765" rIns="0" bIns="0" rtlCol="0">
            <a:spAutoFit/>
          </a:bodyPr>
          <a:lstStyle/>
          <a:p>
            <a:pPr marL="516255">
              <a:lnSpc>
                <a:spcPct val="100000"/>
              </a:lnSpc>
              <a:spcBef>
                <a:spcPts val="1195"/>
              </a:spcBef>
            </a:pPr>
            <a:r>
              <a:rPr sz="3200" b="1" spc="-25" dirty="0">
                <a:latin typeface="Calibri"/>
                <a:cs typeface="Calibri"/>
              </a:rPr>
              <a:t>BPF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object 12"/>
            <p:cNvSpPr/>
            <p:nvPr/>
          </p:nvSpPr>
          <p:spPr>
            <a:xfrm>
              <a:off x="7689850" y="1188847"/>
              <a:ext cx="1416050" cy="114300"/>
            </a:xfrm>
            <a:custGeom>
              <a:avLst/>
              <a:gdLst/>
              <a:ahLst/>
              <a:cxnLst/>
              <a:rect l="l" t="t" r="r" b="b"/>
              <a:pathLst>
                <a:path w="1416050" h="114300">
                  <a:moveTo>
                    <a:pt x="1301369" y="0"/>
                  </a:moveTo>
                  <a:lnTo>
                    <a:pt x="1301369" y="114300"/>
                  </a:lnTo>
                  <a:lnTo>
                    <a:pt x="1377569" y="76200"/>
                  </a:lnTo>
                  <a:lnTo>
                    <a:pt x="1320419" y="76200"/>
                  </a:lnTo>
                  <a:lnTo>
                    <a:pt x="1320419" y="38100"/>
                  </a:lnTo>
                  <a:lnTo>
                    <a:pt x="1377569" y="38100"/>
                  </a:lnTo>
                  <a:lnTo>
                    <a:pt x="1301369" y="0"/>
                  </a:lnTo>
                  <a:close/>
                </a:path>
                <a:path w="1416050" h="114300">
                  <a:moveTo>
                    <a:pt x="1301369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1301369" y="76200"/>
                  </a:lnTo>
                  <a:lnTo>
                    <a:pt x="1301369" y="38100"/>
                  </a:lnTo>
                  <a:close/>
                </a:path>
                <a:path w="1416050" h="114300">
                  <a:moveTo>
                    <a:pt x="1377569" y="38100"/>
                  </a:moveTo>
                  <a:lnTo>
                    <a:pt x="1320419" y="38100"/>
                  </a:lnTo>
                  <a:lnTo>
                    <a:pt x="1320419" y="76200"/>
                  </a:lnTo>
                  <a:lnTo>
                    <a:pt x="1377569" y="76200"/>
                  </a:lnTo>
                  <a:lnTo>
                    <a:pt x="1415669" y="57150"/>
                  </a:lnTo>
                  <a:lnTo>
                    <a:pt x="1377569" y="3810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0720" y="-16002"/>
            <a:ext cx="675259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175" dirty="0">
                <a:solidFill>
                  <a:srgbClr val="006600"/>
                </a:solidFill>
                <a:latin typeface="Trebuchet MS"/>
                <a:cs typeface="Trebuchet MS"/>
              </a:rPr>
              <a:t>FM</a:t>
            </a:r>
            <a:r>
              <a:rPr sz="6600" spc="-340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6600" spc="-60" dirty="0">
                <a:solidFill>
                  <a:srgbClr val="006600"/>
                </a:solidFill>
                <a:latin typeface="Trebuchet MS"/>
                <a:cs typeface="Trebuchet MS"/>
              </a:rPr>
              <a:t>Demodulation</a:t>
            </a:r>
            <a:endParaRPr sz="66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4142" y="858301"/>
            <a:ext cx="7794625" cy="1388842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3200" b="1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Outlines</a:t>
            </a:r>
            <a:endParaRPr sz="3200" dirty="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spcBef>
                <a:spcPts val="470"/>
              </a:spcBef>
              <a:buFont typeface="Wingdings"/>
              <a:buChar char=""/>
              <a:tabLst>
                <a:tab pos="5200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FM</a:t>
            </a:r>
            <a:r>
              <a:rPr sz="2400" b="1" spc="-1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Demodulation</a:t>
            </a:r>
            <a:r>
              <a:rPr sz="24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using</a:t>
            </a:r>
            <a:r>
              <a:rPr sz="2400" b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Envelope</a:t>
            </a:r>
            <a:r>
              <a:rPr sz="2400" b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Detector</a:t>
            </a:r>
            <a:endParaRPr sz="2400" dirty="0">
              <a:latin typeface="Calibri"/>
              <a:cs typeface="Calibri"/>
            </a:endParaRPr>
          </a:p>
          <a:p>
            <a:pPr marL="520065" indent="-457200">
              <a:lnSpc>
                <a:spcPct val="100000"/>
              </a:lnSpc>
              <a:buFont typeface="Wingdings"/>
              <a:buChar char=""/>
              <a:tabLst>
                <a:tab pos="520065" algn="l"/>
              </a:tabLst>
            </a:pP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Waveforms</a:t>
            </a:r>
            <a:r>
              <a:rPr sz="24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FM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Demodulation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using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Envelope</a:t>
            </a:r>
            <a:r>
              <a:rPr sz="24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Detector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FM</a:t>
            </a:r>
            <a:r>
              <a:rPr sz="3200" u="sng" spc="-5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Demodulation</a:t>
            </a:r>
            <a:r>
              <a:rPr sz="3200" u="sng" spc="-9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using</a:t>
            </a:r>
            <a:r>
              <a:rPr sz="3200" u="sng" spc="-8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Envelope</a:t>
            </a:r>
            <a:r>
              <a:rPr sz="3200" u="sng" spc="-6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Detector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391248" y="778535"/>
            <a:ext cx="3156585" cy="842010"/>
            <a:chOff x="391248" y="778535"/>
            <a:chExt cx="3156585" cy="842010"/>
          </a:xfrm>
        </p:grpSpPr>
        <p:sp>
          <p:nvSpPr>
            <p:cNvPr id="4" name="object 4"/>
            <p:cNvSpPr/>
            <p:nvPr/>
          </p:nvSpPr>
          <p:spPr>
            <a:xfrm>
              <a:off x="391248" y="1140205"/>
              <a:ext cx="1492250" cy="114300"/>
            </a:xfrm>
            <a:custGeom>
              <a:avLst/>
              <a:gdLst/>
              <a:ahLst/>
              <a:cxnLst/>
              <a:rect l="l" t="t" r="r" b="b"/>
              <a:pathLst>
                <a:path w="1492250" h="114300">
                  <a:moveTo>
                    <a:pt x="1377353" y="0"/>
                  </a:moveTo>
                  <a:lnTo>
                    <a:pt x="1377353" y="114300"/>
                  </a:lnTo>
                  <a:lnTo>
                    <a:pt x="1453553" y="76200"/>
                  </a:lnTo>
                  <a:lnTo>
                    <a:pt x="1396403" y="76200"/>
                  </a:lnTo>
                  <a:lnTo>
                    <a:pt x="1396403" y="38100"/>
                  </a:lnTo>
                  <a:lnTo>
                    <a:pt x="1453553" y="38100"/>
                  </a:lnTo>
                  <a:lnTo>
                    <a:pt x="1377353" y="0"/>
                  </a:lnTo>
                  <a:close/>
                </a:path>
                <a:path w="1492250" h="114300">
                  <a:moveTo>
                    <a:pt x="1377353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1377353" y="76200"/>
                  </a:lnTo>
                  <a:lnTo>
                    <a:pt x="1377353" y="38100"/>
                  </a:lnTo>
                  <a:close/>
                </a:path>
                <a:path w="1492250" h="114300">
                  <a:moveTo>
                    <a:pt x="1453553" y="38100"/>
                  </a:moveTo>
                  <a:lnTo>
                    <a:pt x="1396403" y="38100"/>
                  </a:lnTo>
                  <a:lnTo>
                    <a:pt x="1396403" y="76200"/>
                  </a:lnTo>
                  <a:lnTo>
                    <a:pt x="1453553" y="76200"/>
                  </a:lnTo>
                  <a:lnTo>
                    <a:pt x="1491653" y="57150"/>
                  </a:lnTo>
                  <a:lnTo>
                    <a:pt x="1453553" y="3810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82902" y="778535"/>
              <a:ext cx="1664589" cy="84173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882901" y="778535"/>
            <a:ext cx="1664970" cy="842010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252095" rIns="0" bIns="0" rtlCol="0">
            <a:spAutoFit/>
          </a:bodyPr>
          <a:lstStyle/>
          <a:p>
            <a:pPr marL="111760">
              <a:lnSpc>
                <a:spcPct val="100000"/>
              </a:lnSpc>
              <a:spcBef>
                <a:spcPts val="1985"/>
              </a:spcBef>
            </a:pPr>
            <a:r>
              <a:rPr sz="2000" b="1" spc="-10" dirty="0">
                <a:latin typeface="Calibri"/>
                <a:cs typeface="Calibri"/>
              </a:rPr>
              <a:t>Differentiator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547490" y="765835"/>
            <a:ext cx="2974340" cy="842010"/>
            <a:chOff x="3547490" y="765835"/>
            <a:chExt cx="2974340" cy="842010"/>
          </a:xfrm>
        </p:grpSpPr>
        <p:sp>
          <p:nvSpPr>
            <p:cNvPr id="8" name="object 8"/>
            <p:cNvSpPr/>
            <p:nvPr/>
          </p:nvSpPr>
          <p:spPr>
            <a:xfrm>
              <a:off x="3547490" y="1142237"/>
              <a:ext cx="1309370" cy="114300"/>
            </a:xfrm>
            <a:custGeom>
              <a:avLst/>
              <a:gdLst/>
              <a:ahLst/>
              <a:cxnLst/>
              <a:rect l="l" t="t" r="r" b="b"/>
              <a:pathLst>
                <a:path w="1309370" h="114300">
                  <a:moveTo>
                    <a:pt x="1195070" y="0"/>
                  </a:moveTo>
                  <a:lnTo>
                    <a:pt x="1195070" y="114300"/>
                  </a:lnTo>
                  <a:lnTo>
                    <a:pt x="1271270" y="76200"/>
                  </a:lnTo>
                  <a:lnTo>
                    <a:pt x="1214120" y="76200"/>
                  </a:lnTo>
                  <a:lnTo>
                    <a:pt x="1214120" y="38100"/>
                  </a:lnTo>
                  <a:lnTo>
                    <a:pt x="1271270" y="38100"/>
                  </a:lnTo>
                  <a:lnTo>
                    <a:pt x="1195070" y="0"/>
                  </a:lnTo>
                  <a:close/>
                </a:path>
                <a:path w="1309370" h="114300">
                  <a:moveTo>
                    <a:pt x="1195070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1195070" y="76200"/>
                  </a:lnTo>
                  <a:lnTo>
                    <a:pt x="1195070" y="38100"/>
                  </a:lnTo>
                  <a:close/>
                </a:path>
                <a:path w="1309370" h="114300">
                  <a:moveTo>
                    <a:pt x="1271270" y="38100"/>
                  </a:moveTo>
                  <a:lnTo>
                    <a:pt x="1214120" y="38100"/>
                  </a:lnTo>
                  <a:lnTo>
                    <a:pt x="1214120" y="76200"/>
                  </a:lnTo>
                  <a:lnTo>
                    <a:pt x="1271270" y="76200"/>
                  </a:lnTo>
                  <a:lnTo>
                    <a:pt x="1309370" y="57150"/>
                  </a:lnTo>
                  <a:lnTo>
                    <a:pt x="1271270" y="3810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56860" y="765835"/>
              <a:ext cx="1664589" cy="84173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856860" y="765835"/>
            <a:ext cx="1664970" cy="842010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99695" rIns="0" bIns="0" rtlCol="0">
            <a:spAutoFit/>
          </a:bodyPr>
          <a:lstStyle/>
          <a:p>
            <a:pPr marL="347980">
              <a:lnSpc>
                <a:spcPct val="100000"/>
              </a:lnSpc>
              <a:spcBef>
                <a:spcPts val="785"/>
              </a:spcBef>
            </a:pPr>
            <a:r>
              <a:rPr sz="2000" b="1" spc="-10" dirty="0">
                <a:latin typeface="Calibri"/>
                <a:cs typeface="Calibri"/>
              </a:rPr>
              <a:t>Envelope</a:t>
            </a:r>
            <a:endParaRPr sz="2000">
              <a:latin typeface="Calibri"/>
              <a:cs typeface="Calibri"/>
            </a:endParaRPr>
          </a:p>
          <a:p>
            <a:pPr marL="372745">
              <a:lnSpc>
                <a:spcPct val="100000"/>
              </a:lnSpc>
            </a:pPr>
            <a:r>
              <a:rPr sz="2000" b="1" spc="-10" dirty="0">
                <a:latin typeface="Calibri"/>
                <a:cs typeface="Calibri"/>
              </a:rPr>
              <a:t>Detector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521450" y="765835"/>
            <a:ext cx="3080385" cy="842010"/>
            <a:chOff x="6521450" y="765835"/>
            <a:chExt cx="3080385" cy="842010"/>
          </a:xfrm>
        </p:grpSpPr>
        <p:sp>
          <p:nvSpPr>
            <p:cNvPr id="12" name="object 12"/>
            <p:cNvSpPr/>
            <p:nvPr/>
          </p:nvSpPr>
          <p:spPr>
            <a:xfrm>
              <a:off x="6521450" y="1129537"/>
              <a:ext cx="1416050" cy="114300"/>
            </a:xfrm>
            <a:custGeom>
              <a:avLst/>
              <a:gdLst/>
              <a:ahLst/>
              <a:cxnLst/>
              <a:rect l="l" t="t" r="r" b="b"/>
              <a:pathLst>
                <a:path w="1416050" h="114300">
                  <a:moveTo>
                    <a:pt x="1301369" y="0"/>
                  </a:moveTo>
                  <a:lnTo>
                    <a:pt x="1301369" y="114300"/>
                  </a:lnTo>
                  <a:lnTo>
                    <a:pt x="1377569" y="76200"/>
                  </a:lnTo>
                  <a:lnTo>
                    <a:pt x="1320419" y="76200"/>
                  </a:lnTo>
                  <a:lnTo>
                    <a:pt x="1320419" y="38100"/>
                  </a:lnTo>
                  <a:lnTo>
                    <a:pt x="1377569" y="38100"/>
                  </a:lnTo>
                  <a:lnTo>
                    <a:pt x="1301369" y="0"/>
                  </a:lnTo>
                  <a:close/>
                </a:path>
                <a:path w="1416050" h="114300">
                  <a:moveTo>
                    <a:pt x="1301369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1301369" y="76200"/>
                  </a:lnTo>
                  <a:lnTo>
                    <a:pt x="1301369" y="38100"/>
                  </a:lnTo>
                  <a:close/>
                </a:path>
                <a:path w="1416050" h="114300">
                  <a:moveTo>
                    <a:pt x="1377569" y="38100"/>
                  </a:moveTo>
                  <a:lnTo>
                    <a:pt x="1320419" y="38100"/>
                  </a:lnTo>
                  <a:lnTo>
                    <a:pt x="1320419" y="76200"/>
                  </a:lnTo>
                  <a:lnTo>
                    <a:pt x="1377569" y="76200"/>
                  </a:lnTo>
                  <a:lnTo>
                    <a:pt x="1415669" y="57150"/>
                  </a:lnTo>
                  <a:lnTo>
                    <a:pt x="1377569" y="3810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37119" y="765835"/>
              <a:ext cx="1664588" cy="84173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7937118" y="765835"/>
            <a:ext cx="1664970" cy="842010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25209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985"/>
              </a:spcBef>
            </a:pPr>
            <a:r>
              <a:rPr sz="2000" b="1" spc="-25" dirty="0">
                <a:latin typeface="Calibri"/>
                <a:cs typeface="Calibri"/>
              </a:rPr>
              <a:t>HPF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" name="object 16"/>
            <p:cNvSpPr/>
            <p:nvPr/>
          </p:nvSpPr>
          <p:spPr>
            <a:xfrm>
              <a:off x="9601707" y="1129538"/>
              <a:ext cx="1416050" cy="114300"/>
            </a:xfrm>
            <a:custGeom>
              <a:avLst/>
              <a:gdLst/>
              <a:ahLst/>
              <a:cxnLst/>
              <a:rect l="l" t="t" r="r" b="b"/>
              <a:pathLst>
                <a:path w="1416050" h="114300">
                  <a:moveTo>
                    <a:pt x="1301369" y="0"/>
                  </a:moveTo>
                  <a:lnTo>
                    <a:pt x="1301369" y="114300"/>
                  </a:lnTo>
                  <a:lnTo>
                    <a:pt x="1377569" y="76200"/>
                  </a:lnTo>
                  <a:lnTo>
                    <a:pt x="1320419" y="76200"/>
                  </a:lnTo>
                  <a:lnTo>
                    <a:pt x="1320419" y="38100"/>
                  </a:lnTo>
                  <a:lnTo>
                    <a:pt x="1377569" y="38100"/>
                  </a:lnTo>
                  <a:lnTo>
                    <a:pt x="1301369" y="0"/>
                  </a:lnTo>
                  <a:close/>
                </a:path>
                <a:path w="1416050" h="114300">
                  <a:moveTo>
                    <a:pt x="1301369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1301369" y="76200"/>
                  </a:lnTo>
                  <a:lnTo>
                    <a:pt x="1301369" y="38100"/>
                  </a:lnTo>
                  <a:close/>
                </a:path>
                <a:path w="1416050" h="114300">
                  <a:moveTo>
                    <a:pt x="1377569" y="38100"/>
                  </a:moveTo>
                  <a:lnTo>
                    <a:pt x="1320419" y="38100"/>
                  </a:lnTo>
                  <a:lnTo>
                    <a:pt x="1320419" y="76200"/>
                  </a:lnTo>
                  <a:lnTo>
                    <a:pt x="1377569" y="76200"/>
                  </a:lnTo>
                  <a:lnTo>
                    <a:pt x="1415669" y="57150"/>
                  </a:lnTo>
                  <a:lnTo>
                    <a:pt x="1377569" y="3810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391248" y="778535"/>
            <a:ext cx="3156585" cy="842010"/>
            <a:chOff x="391248" y="778535"/>
            <a:chExt cx="3156585" cy="842010"/>
          </a:xfrm>
        </p:grpSpPr>
        <p:sp>
          <p:nvSpPr>
            <p:cNvPr id="4" name="object 4"/>
            <p:cNvSpPr/>
            <p:nvPr/>
          </p:nvSpPr>
          <p:spPr>
            <a:xfrm>
              <a:off x="391248" y="1140205"/>
              <a:ext cx="1492250" cy="114300"/>
            </a:xfrm>
            <a:custGeom>
              <a:avLst/>
              <a:gdLst/>
              <a:ahLst/>
              <a:cxnLst/>
              <a:rect l="l" t="t" r="r" b="b"/>
              <a:pathLst>
                <a:path w="1492250" h="114300">
                  <a:moveTo>
                    <a:pt x="1377353" y="0"/>
                  </a:moveTo>
                  <a:lnTo>
                    <a:pt x="1377353" y="114300"/>
                  </a:lnTo>
                  <a:lnTo>
                    <a:pt x="1453553" y="76200"/>
                  </a:lnTo>
                  <a:lnTo>
                    <a:pt x="1396403" y="76200"/>
                  </a:lnTo>
                  <a:lnTo>
                    <a:pt x="1396403" y="38100"/>
                  </a:lnTo>
                  <a:lnTo>
                    <a:pt x="1453553" y="38100"/>
                  </a:lnTo>
                  <a:lnTo>
                    <a:pt x="1377353" y="0"/>
                  </a:lnTo>
                  <a:close/>
                </a:path>
                <a:path w="1492250" h="114300">
                  <a:moveTo>
                    <a:pt x="1377353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1377353" y="76200"/>
                  </a:lnTo>
                  <a:lnTo>
                    <a:pt x="1377353" y="38100"/>
                  </a:lnTo>
                  <a:close/>
                </a:path>
                <a:path w="1492250" h="114300">
                  <a:moveTo>
                    <a:pt x="1453553" y="38100"/>
                  </a:moveTo>
                  <a:lnTo>
                    <a:pt x="1396403" y="38100"/>
                  </a:lnTo>
                  <a:lnTo>
                    <a:pt x="1396403" y="76200"/>
                  </a:lnTo>
                  <a:lnTo>
                    <a:pt x="1453553" y="76200"/>
                  </a:lnTo>
                  <a:lnTo>
                    <a:pt x="1491653" y="57150"/>
                  </a:lnTo>
                  <a:lnTo>
                    <a:pt x="1453553" y="3810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82902" y="778535"/>
              <a:ext cx="1664589" cy="84173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882901" y="778535"/>
            <a:ext cx="1664970" cy="842010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252095" rIns="0" bIns="0" rtlCol="0">
            <a:spAutoFit/>
          </a:bodyPr>
          <a:lstStyle/>
          <a:p>
            <a:pPr marL="111760">
              <a:lnSpc>
                <a:spcPct val="100000"/>
              </a:lnSpc>
              <a:spcBef>
                <a:spcPts val="1985"/>
              </a:spcBef>
            </a:pPr>
            <a:r>
              <a:rPr sz="2000" b="1" spc="-10" dirty="0">
                <a:latin typeface="Calibri"/>
                <a:cs typeface="Calibri"/>
              </a:rPr>
              <a:t>Differentiator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547490" y="765835"/>
            <a:ext cx="2974340" cy="842010"/>
            <a:chOff x="3547490" y="765835"/>
            <a:chExt cx="2974340" cy="842010"/>
          </a:xfrm>
        </p:grpSpPr>
        <p:sp>
          <p:nvSpPr>
            <p:cNvPr id="8" name="object 8"/>
            <p:cNvSpPr/>
            <p:nvPr/>
          </p:nvSpPr>
          <p:spPr>
            <a:xfrm>
              <a:off x="3547490" y="1142237"/>
              <a:ext cx="1309370" cy="114300"/>
            </a:xfrm>
            <a:custGeom>
              <a:avLst/>
              <a:gdLst/>
              <a:ahLst/>
              <a:cxnLst/>
              <a:rect l="l" t="t" r="r" b="b"/>
              <a:pathLst>
                <a:path w="1309370" h="114300">
                  <a:moveTo>
                    <a:pt x="1195070" y="0"/>
                  </a:moveTo>
                  <a:lnTo>
                    <a:pt x="1195070" y="114300"/>
                  </a:lnTo>
                  <a:lnTo>
                    <a:pt x="1271270" y="76200"/>
                  </a:lnTo>
                  <a:lnTo>
                    <a:pt x="1214120" y="76200"/>
                  </a:lnTo>
                  <a:lnTo>
                    <a:pt x="1214120" y="38100"/>
                  </a:lnTo>
                  <a:lnTo>
                    <a:pt x="1271270" y="38100"/>
                  </a:lnTo>
                  <a:lnTo>
                    <a:pt x="1195070" y="0"/>
                  </a:lnTo>
                  <a:close/>
                </a:path>
                <a:path w="1309370" h="114300">
                  <a:moveTo>
                    <a:pt x="1195070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1195070" y="76200"/>
                  </a:lnTo>
                  <a:lnTo>
                    <a:pt x="1195070" y="38100"/>
                  </a:lnTo>
                  <a:close/>
                </a:path>
                <a:path w="1309370" h="114300">
                  <a:moveTo>
                    <a:pt x="1271270" y="38100"/>
                  </a:moveTo>
                  <a:lnTo>
                    <a:pt x="1214120" y="38100"/>
                  </a:lnTo>
                  <a:lnTo>
                    <a:pt x="1214120" y="76200"/>
                  </a:lnTo>
                  <a:lnTo>
                    <a:pt x="1271270" y="76200"/>
                  </a:lnTo>
                  <a:lnTo>
                    <a:pt x="1309370" y="57150"/>
                  </a:lnTo>
                  <a:lnTo>
                    <a:pt x="1271270" y="3810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56860" y="765835"/>
              <a:ext cx="1664589" cy="84173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856860" y="765835"/>
            <a:ext cx="1664970" cy="842010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99695" rIns="0" bIns="0" rtlCol="0">
            <a:spAutoFit/>
          </a:bodyPr>
          <a:lstStyle/>
          <a:p>
            <a:pPr marL="347980">
              <a:lnSpc>
                <a:spcPct val="100000"/>
              </a:lnSpc>
              <a:spcBef>
                <a:spcPts val="785"/>
              </a:spcBef>
            </a:pPr>
            <a:r>
              <a:rPr sz="2000" b="1" spc="-10" dirty="0">
                <a:latin typeface="Calibri"/>
                <a:cs typeface="Calibri"/>
              </a:rPr>
              <a:t>Envelope</a:t>
            </a:r>
            <a:endParaRPr sz="2000">
              <a:latin typeface="Calibri"/>
              <a:cs typeface="Calibri"/>
            </a:endParaRPr>
          </a:p>
          <a:p>
            <a:pPr marL="372745">
              <a:lnSpc>
                <a:spcPct val="100000"/>
              </a:lnSpc>
            </a:pPr>
            <a:r>
              <a:rPr sz="2000" b="1" spc="-10" dirty="0">
                <a:latin typeface="Calibri"/>
                <a:cs typeface="Calibri"/>
              </a:rPr>
              <a:t>Detector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521450" y="765835"/>
            <a:ext cx="3080385" cy="842010"/>
            <a:chOff x="6521450" y="765835"/>
            <a:chExt cx="3080385" cy="842010"/>
          </a:xfrm>
        </p:grpSpPr>
        <p:sp>
          <p:nvSpPr>
            <p:cNvPr id="12" name="object 12"/>
            <p:cNvSpPr/>
            <p:nvPr/>
          </p:nvSpPr>
          <p:spPr>
            <a:xfrm>
              <a:off x="6521450" y="1129537"/>
              <a:ext cx="1416050" cy="114300"/>
            </a:xfrm>
            <a:custGeom>
              <a:avLst/>
              <a:gdLst/>
              <a:ahLst/>
              <a:cxnLst/>
              <a:rect l="l" t="t" r="r" b="b"/>
              <a:pathLst>
                <a:path w="1416050" h="114300">
                  <a:moveTo>
                    <a:pt x="1301369" y="0"/>
                  </a:moveTo>
                  <a:lnTo>
                    <a:pt x="1301369" y="114300"/>
                  </a:lnTo>
                  <a:lnTo>
                    <a:pt x="1377569" y="76200"/>
                  </a:lnTo>
                  <a:lnTo>
                    <a:pt x="1320419" y="76200"/>
                  </a:lnTo>
                  <a:lnTo>
                    <a:pt x="1320419" y="38100"/>
                  </a:lnTo>
                  <a:lnTo>
                    <a:pt x="1377569" y="38100"/>
                  </a:lnTo>
                  <a:lnTo>
                    <a:pt x="1301369" y="0"/>
                  </a:lnTo>
                  <a:close/>
                </a:path>
                <a:path w="1416050" h="114300">
                  <a:moveTo>
                    <a:pt x="1301369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1301369" y="76200"/>
                  </a:lnTo>
                  <a:lnTo>
                    <a:pt x="1301369" y="38100"/>
                  </a:lnTo>
                  <a:close/>
                </a:path>
                <a:path w="1416050" h="114300">
                  <a:moveTo>
                    <a:pt x="1377569" y="38100"/>
                  </a:moveTo>
                  <a:lnTo>
                    <a:pt x="1320419" y="38100"/>
                  </a:lnTo>
                  <a:lnTo>
                    <a:pt x="1320419" y="76200"/>
                  </a:lnTo>
                  <a:lnTo>
                    <a:pt x="1377569" y="76200"/>
                  </a:lnTo>
                  <a:lnTo>
                    <a:pt x="1415669" y="57150"/>
                  </a:lnTo>
                  <a:lnTo>
                    <a:pt x="1377569" y="3810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37119" y="765835"/>
              <a:ext cx="1664588" cy="84173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7937118" y="765835"/>
            <a:ext cx="1664970" cy="842010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25209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985"/>
              </a:spcBef>
            </a:pPr>
            <a:r>
              <a:rPr sz="2000" b="1" spc="-25" dirty="0">
                <a:latin typeface="Calibri"/>
                <a:cs typeface="Calibri"/>
              </a:rPr>
              <a:t>HPF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601707" y="1129538"/>
            <a:ext cx="1416050" cy="114300"/>
          </a:xfrm>
          <a:custGeom>
            <a:avLst/>
            <a:gdLst/>
            <a:ahLst/>
            <a:cxnLst/>
            <a:rect l="l" t="t" r="r" b="b"/>
            <a:pathLst>
              <a:path w="1416050" h="114300">
                <a:moveTo>
                  <a:pt x="1301369" y="0"/>
                </a:moveTo>
                <a:lnTo>
                  <a:pt x="1301369" y="114300"/>
                </a:lnTo>
                <a:lnTo>
                  <a:pt x="1377569" y="76200"/>
                </a:lnTo>
                <a:lnTo>
                  <a:pt x="1320419" y="76200"/>
                </a:lnTo>
                <a:lnTo>
                  <a:pt x="1320419" y="38100"/>
                </a:lnTo>
                <a:lnTo>
                  <a:pt x="1377569" y="38100"/>
                </a:lnTo>
                <a:lnTo>
                  <a:pt x="1301369" y="0"/>
                </a:lnTo>
                <a:close/>
              </a:path>
              <a:path w="1416050" h="114300">
                <a:moveTo>
                  <a:pt x="1301369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301369" y="76200"/>
                </a:lnTo>
                <a:lnTo>
                  <a:pt x="1301369" y="38100"/>
                </a:lnTo>
                <a:close/>
              </a:path>
              <a:path w="1416050" h="114300">
                <a:moveTo>
                  <a:pt x="1377569" y="38100"/>
                </a:moveTo>
                <a:lnTo>
                  <a:pt x="1320419" y="38100"/>
                </a:lnTo>
                <a:lnTo>
                  <a:pt x="1320419" y="76200"/>
                </a:lnTo>
                <a:lnTo>
                  <a:pt x="1377569" y="76200"/>
                </a:lnTo>
                <a:lnTo>
                  <a:pt x="1415669" y="57150"/>
                </a:lnTo>
                <a:lnTo>
                  <a:pt x="1377569" y="3810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74243" y="1290954"/>
            <a:ext cx="440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0802" dirty="0">
                <a:solidFill>
                  <a:srgbClr val="538235"/>
                </a:solidFill>
                <a:latin typeface="Cambria Math"/>
                <a:cs typeface="Cambria Math"/>
              </a:rPr>
              <a:t>𝐘</a:t>
            </a:r>
            <a:r>
              <a:rPr sz="1300" spc="-25" dirty="0">
                <a:solidFill>
                  <a:srgbClr val="538235"/>
                </a:solidFill>
                <a:latin typeface="Cambria Math"/>
                <a:cs typeface="Cambria Math"/>
              </a:rPr>
              <a:t>𝐅𝐌</a:t>
            </a:r>
            <a:endParaRPr sz="1300">
              <a:latin typeface="Cambria Math"/>
              <a:cs typeface="Cambria Math"/>
            </a:endParaRPr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4176" y="1314322"/>
            <a:ext cx="236042" cy="21170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065987" y="1243710"/>
            <a:ext cx="112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538235"/>
                </a:solidFill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61485" y="1263853"/>
            <a:ext cx="51244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0802" dirty="0" smtClean="0">
                <a:solidFill>
                  <a:srgbClr val="538235"/>
                </a:solidFill>
                <a:latin typeface="Cambria Math"/>
                <a:cs typeface="Cambria Math"/>
              </a:rPr>
              <a:t>𝛟</a:t>
            </a:r>
            <a:r>
              <a:rPr lang="en-US" sz="1300" spc="-25" dirty="0" smtClean="0">
                <a:solidFill>
                  <a:srgbClr val="538235"/>
                </a:solidFill>
                <a:latin typeface="Cambria Math"/>
                <a:cs typeface="Cambria Math"/>
              </a:rPr>
              <a:t>F</a:t>
            </a:r>
            <a:r>
              <a:rPr sz="1300" spc="-25" dirty="0" smtClean="0">
                <a:solidFill>
                  <a:srgbClr val="538235"/>
                </a:solidFill>
                <a:latin typeface="Cambria Math"/>
                <a:cs typeface="Cambria Math"/>
              </a:rPr>
              <a:t>𝐌</a:t>
            </a:r>
            <a:endParaRPr sz="1300" dirty="0">
              <a:latin typeface="Cambria Math"/>
              <a:cs typeface="Cambria Math"/>
            </a:endParaRPr>
          </a:p>
        </p:txBody>
      </p:sp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264278" y="1287525"/>
            <a:ext cx="235965" cy="211709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4326382" y="1216609"/>
            <a:ext cx="1123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538235"/>
                </a:solidFill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815073" y="1253185"/>
            <a:ext cx="4210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0802" dirty="0">
                <a:solidFill>
                  <a:srgbClr val="538235"/>
                </a:solidFill>
                <a:latin typeface="Cambria Math"/>
                <a:cs typeface="Cambria Math"/>
              </a:rPr>
              <a:t>𝐘</a:t>
            </a:r>
            <a:r>
              <a:rPr sz="1300" spc="-25" dirty="0">
                <a:solidFill>
                  <a:srgbClr val="538235"/>
                </a:solidFill>
                <a:latin typeface="Cambria Math"/>
                <a:cs typeface="Cambria Math"/>
              </a:rPr>
              <a:t>𝐄𝐃</a:t>
            </a:r>
            <a:endParaRPr sz="1300">
              <a:latin typeface="Cambria Math"/>
              <a:cs typeface="Cambria Math"/>
            </a:endParaRPr>
          </a:p>
        </p:txBody>
      </p:sp>
      <p:pic>
        <p:nvPicPr>
          <p:cNvPr id="23" name="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25918" y="1276858"/>
            <a:ext cx="236093" cy="211709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7288530" y="1205941"/>
            <a:ext cx="1123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538235"/>
                </a:solidFill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25" name="object 2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356722" y="1276858"/>
            <a:ext cx="236093" cy="211709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10117963" y="1205941"/>
            <a:ext cx="4146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38235"/>
                </a:solidFill>
                <a:latin typeface="Cambria Math"/>
                <a:cs typeface="Cambria Math"/>
              </a:rPr>
              <a:t>𝐦</a:t>
            </a:r>
            <a:r>
              <a:rPr sz="1800" spc="350" dirty="0">
                <a:solidFill>
                  <a:srgbClr val="538235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538235"/>
                </a:solidFill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872479" y="1843913"/>
            <a:ext cx="326390" cy="282575"/>
          </a:xfrm>
          <a:custGeom>
            <a:avLst/>
            <a:gdLst/>
            <a:ahLst/>
            <a:cxnLst/>
            <a:rect l="l" t="t" r="r" b="b"/>
            <a:pathLst>
              <a:path w="326389" h="282575">
                <a:moveTo>
                  <a:pt x="235838" y="0"/>
                </a:moveTo>
                <a:lnTo>
                  <a:pt x="231774" y="11557"/>
                </a:lnTo>
                <a:lnTo>
                  <a:pt x="248138" y="18631"/>
                </a:lnTo>
                <a:lnTo>
                  <a:pt x="262191" y="28432"/>
                </a:lnTo>
                <a:lnTo>
                  <a:pt x="290724" y="73925"/>
                </a:lnTo>
                <a:lnTo>
                  <a:pt x="299002" y="115359"/>
                </a:lnTo>
                <a:lnTo>
                  <a:pt x="299055" y="115732"/>
                </a:lnTo>
                <a:lnTo>
                  <a:pt x="299053" y="164689"/>
                </a:lnTo>
                <a:lnTo>
                  <a:pt x="290671" y="207603"/>
                </a:lnTo>
                <a:lnTo>
                  <a:pt x="262191" y="253857"/>
                </a:lnTo>
                <a:lnTo>
                  <a:pt x="232282" y="270891"/>
                </a:lnTo>
                <a:lnTo>
                  <a:pt x="235838" y="282321"/>
                </a:lnTo>
                <a:lnTo>
                  <a:pt x="274335" y="264302"/>
                </a:lnTo>
                <a:lnTo>
                  <a:pt x="302640" y="233045"/>
                </a:lnTo>
                <a:lnTo>
                  <a:pt x="320071" y="191134"/>
                </a:lnTo>
                <a:lnTo>
                  <a:pt x="325881" y="141224"/>
                </a:lnTo>
                <a:lnTo>
                  <a:pt x="324448" y="115732"/>
                </a:lnTo>
                <a:lnTo>
                  <a:pt x="324427" y="115359"/>
                </a:lnTo>
                <a:lnTo>
                  <a:pt x="312755" y="69536"/>
                </a:lnTo>
                <a:lnTo>
                  <a:pt x="289631" y="32146"/>
                </a:lnTo>
                <a:lnTo>
                  <a:pt x="256293" y="7381"/>
                </a:lnTo>
                <a:lnTo>
                  <a:pt x="235838" y="0"/>
                </a:lnTo>
                <a:close/>
              </a:path>
              <a:path w="326389" h="282575">
                <a:moveTo>
                  <a:pt x="90042" y="0"/>
                </a:moveTo>
                <a:lnTo>
                  <a:pt x="51593" y="18097"/>
                </a:lnTo>
                <a:lnTo>
                  <a:pt x="23240" y="49530"/>
                </a:lnTo>
                <a:lnTo>
                  <a:pt x="5810" y="91471"/>
                </a:lnTo>
                <a:lnTo>
                  <a:pt x="78" y="139827"/>
                </a:lnTo>
                <a:lnTo>
                  <a:pt x="0" y="141224"/>
                </a:lnTo>
                <a:lnTo>
                  <a:pt x="5794" y="191134"/>
                </a:lnTo>
                <a:lnTo>
                  <a:pt x="23113" y="233045"/>
                </a:lnTo>
                <a:lnTo>
                  <a:pt x="51482" y="264302"/>
                </a:lnTo>
                <a:lnTo>
                  <a:pt x="90042" y="282321"/>
                </a:lnTo>
                <a:lnTo>
                  <a:pt x="93598" y="270891"/>
                </a:lnTo>
                <a:lnTo>
                  <a:pt x="77475" y="263773"/>
                </a:lnTo>
                <a:lnTo>
                  <a:pt x="63579" y="253857"/>
                </a:lnTo>
                <a:lnTo>
                  <a:pt x="35083" y="207603"/>
                </a:lnTo>
                <a:lnTo>
                  <a:pt x="26701" y="164689"/>
                </a:lnTo>
                <a:lnTo>
                  <a:pt x="25712" y="141224"/>
                </a:lnTo>
                <a:lnTo>
                  <a:pt x="25653" y="139827"/>
                </a:lnTo>
                <a:lnTo>
                  <a:pt x="29844" y="93757"/>
                </a:lnTo>
                <a:lnTo>
                  <a:pt x="42417" y="56261"/>
                </a:lnTo>
                <a:lnTo>
                  <a:pt x="77690" y="18631"/>
                </a:lnTo>
                <a:lnTo>
                  <a:pt x="93979" y="11557"/>
                </a:lnTo>
                <a:lnTo>
                  <a:pt x="90042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object 2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652267" y="2244598"/>
            <a:ext cx="245237" cy="211836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224739" y="1681945"/>
            <a:ext cx="11035665" cy="119380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670"/>
              </a:spcBef>
              <a:buFont typeface="Wingdings"/>
              <a:buChar char=""/>
              <a:tabLst>
                <a:tab pos="469265" algn="l"/>
                <a:tab pos="606933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Transfer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Function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Differentiator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𝐇</a:t>
            </a:r>
            <a:r>
              <a:rPr sz="2400" spc="415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spc="-50" dirty="0">
                <a:solidFill>
                  <a:srgbClr val="6F2F9F"/>
                </a:solidFill>
                <a:latin typeface="Cambria Math"/>
                <a:cs typeface="Cambria Math"/>
              </a:rPr>
              <a:t>𝐟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	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directly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Propositional</a:t>
            </a:r>
            <a:r>
              <a:rPr sz="2400" b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Frequency</a:t>
            </a:r>
            <a:r>
              <a:rPr sz="2400" b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F.</a:t>
            </a:r>
            <a:endParaRPr sz="2400">
              <a:latin typeface="Calibri"/>
              <a:cs typeface="Calibri"/>
            </a:endParaRPr>
          </a:p>
          <a:p>
            <a:pPr marL="1904364">
              <a:lnSpc>
                <a:spcPct val="100000"/>
              </a:lnSpc>
              <a:spcBef>
                <a:spcPts val="425"/>
              </a:spcBef>
              <a:tabLst>
                <a:tab pos="2754630" algn="l"/>
              </a:tabLst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𝐇</a:t>
            </a:r>
            <a:r>
              <a:rPr sz="1800" spc="34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𝐟</a:t>
            </a:r>
            <a:r>
              <a:rPr sz="1800" dirty="0">
                <a:latin typeface="Cambria Math"/>
                <a:cs typeface="Cambria Math"/>
              </a:rPr>
              <a:t>	∝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𝐟</a:t>
            </a:r>
            <a:endParaRPr sz="1800">
              <a:latin typeface="Cambria Math"/>
              <a:cs typeface="Cambria Math"/>
            </a:endParaRPr>
          </a:p>
          <a:p>
            <a:pPr marL="469265" indent="-456565">
              <a:lnSpc>
                <a:spcPct val="100000"/>
              </a:lnSpc>
              <a:spcBef>
                <a:spcPts val="28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Differentiator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could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be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designed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using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High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Pass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Filter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HPF.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025182" y="3009455"/>
            <a:ext cx="1880235" cy="326390"/>
            <a:chOff x="1025182" y="3009455"/>
            <a:chExt cx="1880235" cy="326390"/>
          </a:xfrm>
        </p:grpSpPr>
        <p:sp>
          <p:nvSpPr>
            <p:cNvPr id="31" name="object 31"/>
            <p:cNvSpPr/>
            <p:nvPr/>
          </p:nvSpPr>
          <p:spPr>
            <a:xfrm>
              <a:off x="1039469" y="3165855"/>
              <a:ext cx="902335" cy="0"/>
            </a:xfrm>
            <a:custGeom>
              <a:avLst/>
              <a:gdLst/>
              <a:ahLst/>
              <a:cxnLst/>
              <a:rect l="l" t="t" r="r" b="b"/>
              <a:pathLst>
                <a:path w="902335">
                  <a:moveTo>
                    <a:pt x="901725" y="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C55A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003425" y="3172332"/>
              <a:ext cx="887730" cy="635"/>
            </a:xfrm>
            <a:custGeom>
              <a:avLst/>
              <a:gdLst/>
              <a:ahLst/>
              <a:cxnLst/>
              <a:rect l="l" t="t" r="r" b="b"/>
              <a:pathLst>
                <a:path w="887730" h="635">
                  <a:moveTo>
                    <a:pt x="887476" y="0"/>
                  </a:moveTo>
                  <a:lnTo>
                    <a:pt x="0" y="635"/>
                  </a:lnTo>
                </a:path>
              </a:pathLst>
            </a:custGeom>
            <a:ln w="28575">
              <a:solidFill>
                <a:srgbClr val="C55A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934336" y="3023742"/>
              <a:ext cx="0" cy="297815"/>
            </a:xfrm>
            <a:custGeom>
              <a:avLst/>
              <a:gdLst/>
              <a:ahLst/>
              <a:cxnLst/>
              <a:rect l="l" t="t" r="r" b="b"/>
              <a:pathLst>
                <a:path h="297814">
                  <a:moveTo>
                    <a:pt x="0" y="0"/>
                  </a:moveTo>
                  <a:lnTo>
                    <a:pt x="0" y="297815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16633" y="3023742"/>
              <a:ext cx="0" cy="297815"/>
            </a:xfrm>
            <a:custGeom>
              <a:avLst/>
              <a:gdLst/>
              <a:ahLst/>
              <a:cxnLst/>
              <a:rect l="l" t="t" r="r" b="b"/>
              <a:pathLst>
                <a:path h="297814">
                  <a:moveTo>
                    <a:pt x="0" y="0"/>
                  </a:moveTo>
                  <a:lnTo>
                    <a:pt x="0" y="297815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678685" y="3154502"/>
            <a:ext cx="17526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latin typeface="Cambria Math"/>
                <a:cs typeface="Cambria Math"/>
              </a:rPr>
              <a:t>𝐂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401316" y="3848480"/>
            <a:ext cx="1987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latin typeface="Cambria Math"/>
                <a:cs typeface="Cambria Math"/>
              </a:rPr>
              <a:t>𝐑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926528" y="3068192"/>
            <a:ext cx="2992755" cy="2084705"/>
            <a:chOff x="926528" y="3068192"/>
            <a:chExt cx="2992755" cy="2084705"/>
          </a:xfrm>
        </p:grpSpPr>
        <p:sp>
          <p:nvSpPr>
            <p:cNvPr id="38" name="object 38"/>
            <p:cNvSpPr/>
            <p:nvPr/>
          </p:nvSpPr>
          <p:spPr>
            <a:xfrm>
              <a:off x="2647950" y="3171824"/>
              <a:ext cx="1218565" cy="0"/>
            </a:xfrm>
            <a:custGeom>
              <a:avLst/>
              <a:gdLst/>
              <a:ahLst/>
              <a:cxnLst/>
              <a:rect l="l" t="t" r="r" b="b"/>
              <a:pathLst>
                <a:path w="1218564">
                  <a:moveTo>
                    <a:pt x="0" y="0"/>
                  </a:moveTo>
                  <a:lnTo>
                    <a:pt x="1218438" y="0"/>
                  </a:lnTo>
                </a:path>
              </a:pathLst>
            </a:custGeom>
            <a:ln w="28575">
              <a:solidFill>
                <a:srgbClr val="C55A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039469" y="5066664"/>
              <a:ext cx="2827020" cy="0"/>
            </a:xfrm>
            <a:custGeom>
              <a:avLst/>
              <a:gdLst/>
              <a:ahLst/>
              <a:cxnLst/>
              <a:rect l="l" t="t" r="r" b="b"/>
              <a:pathLst>
                <a:path w="2827020">
                  <a:moveTo>
                    <a:pt x="0" y="0"/>
                  </a:moveTo>
                  <a:lnTo>
                    <a:pt x="2826918" y="0"/>
                  </a:lnTo>
                </a:path>
              </a:pathLst>
            </a:custGeom>
            <a:ln w="28575">
              <a:solidFill>
                <a:srgbClr val="C55A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740530" y="3084829"/>
              <a:ext cx="175260" cy="175259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737355" y="3081654"/>
              <a:ext cx="181610" cy="181609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740530" y="4974208"/>
              <a:ext cx="175260" cy="17526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737355" y="4971033"/>
              <a:ext cx="181610" cy="181610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3790061" y="3260089"/>
              <a:ext cx="76200" cy="1711960"/>
            </a:xfrm>
            <a:custGeom>
              <a:avLst/>
              <a:gdLst/>
              <a:ahLst/>
              <a:cxnLst/>
              <a:rect l="l" t="t" r="r" b="b"/>
              <a:pathLst>
                <a:path w="76200" h="1711960">
                  <a:moveTo>
                    <a:pt x="76200" y="1635506"/>
                  </a:moveTo>
                  <a:lnTo>
                    <a:pt x="47625" y="1635506"/>
                  </a:lnTo>
                  <a:lnTo>
                    <a:pt x="47625" y="1153541"/>
                  </a:lnTo>
                  <a:lnTo>
                    <a:pt x="28575" y="1153541"/>
                  </a:lnTo>
                  <a:lnTo>
                    <a:pt x="28575" y="1635506"/>
                  </a:lnTo>
                  <a:lnTo>
                    <a:pt x="0" y="1635506"/>
                  </a:lnTo>
                  <a:lnTo>
                    <a:pt x="38100" y="1711706"/>
                  </a:lnTo>
                  <a:lnTo>
                    <a:pt x="69850" y="1648206"/>
                  </a:lnTo>
                  <a:lnTo>
                    <a:pt x="76200" y="1635506"/>
                  </a:lnTo>
                  <a:close/>
                </a:path>
                <a:path w="76200" h="1711960">
                  <a:moveTo>
                    <a:pt x="76200" y="76200"/>
                  </a:move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8575" y="76200"/>
                  </a:lnTo>
                  <a:lnTo>
                    <a:pt x="28575" y="530606"/>
                  </a:lnTo>
                  <a:lnTo>
                    <a:pt x="47625" y="530606"/>
                  </a:lnTo>
                  <a:lnTo>
                    <a:pt x="47625" y="76200"/>
                  </a:lnTo>
                  <a:lnTo>
                    <a:pt x="76200" y="7620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29703" y="3071367"/>
              <a:ext cx="175259" cy="175259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26528" y="3068192"/>
              <a:ext cx="181609" cy="181609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29703" y="4960873"/>
              <a:ext cx="175259" cy="17526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26528" y="4957698"/>
              <a:ext cx="181609" cy="181610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974509" y="3249040"/>
              <a:ext cx="76200" cy="1711960"/>
            </a:xfrm>
            <a:custGeom>
              <a:avLst/>
              <a:gdLst/>
              <a:ahLst/>
              <a:cxnLst/>
              <a:rect l="l" t="t" r="r" b="b"/>
              <a:pathLst>
                <a:path w="76200" h="1711960">
                  <a:moveTo>
                    <a:pt x="76200" y="1635633"/>
                  </a:moveTo>
                  <a:lnTo>
                    <a:pt x="47625" y="1635633"/>
                  </a:lnTo>
                  <a:lnTo>
                    <a:pt x="47625" y="1153668"/>
                  </a:lnTo>
                  <a:lnTo>
                    <a:pt x="28575" y="1153668"/>
                  </a:lnTo>
                  <a:lnTo>
                    <a:pt x="28575" y="1635633"/>
                  </a:lnTo>
                  <a:lnTo>
                    <a:pt x="0" y="1635633"/>
                  </a:lnTo>
                  <a:lnTo>
                    <a:pt x="38100" y="1711833"/>
                  </a:lnTo>
                  <a:lnTo>
                    <a:pt x="69850" y="1648333"/>
                  </a:lnTo>
                  <a:lnTo>
                    <a:pt x="76200" y="1635633"/>
                  </a:lnTo>
                  <a:close/>
                </a:path>
                <a:path w="76200" h="1711960">
                  <a:moveTo>
                    <a:pt x="76200" y="76200"/>
                  </a:move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28575" y="76200"/>
                  </a:lnTo>
                  <a:lnTo>
                    <a:pt x="28575" y="530606"/>
                  </a:lnTo>
                  <a:lnTo>
                    <a:pt x="47625" y="530606"/>
                  </a:lnTo>
                  <a:lnTo>
                    <a:pt x="47625" y="76200"/>
                  </a:lnTo>
                  <a:lnTo>
                    <a:pt x="76200" y="7620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779141" y="4284725"/>
              <a:ext cx="0" cy="782320"/>
            </a:xfrm>
            <a:custGeom>
              <a:avLst/>
              <a:gdLst/>
              <a:ahLst/>
              <a:cxnLst/>
              <a:rect l="l" t="t" r="r" b="b"/>
              <a:pathLst>
                <a:path h="782320">
                  <a:moveTo>
                    <a:pt x="0" y="781938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C55A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769361" y="3172332"/>
              <a:ext cx="6985" cy="648335"/>
            </a:xfrm>
            <a:custGeom>
              <a:avLst/>
              <a:gdLst/>
              <a:ahLst/>
              <a:cxnLst/>
              <a:rect l="l" t="t" r="r" b="b"/>
              <a:pathLst>
                <a:path w="6985" h="648335">
                  <a:moveTo>
                    <a:pt x="6985" y="647953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C55A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769616" y="3820286"/>
              <a:ext cx="99060" cy="45720"/>
            </a:xfrm>
            <a:custGeom>
              <a:avLst/>
              <a:gdLst/>
              <a:ahLst/>
              <a:cxnLst/>
              <a:rect l="l" t="t" r="r" b="b"/>
              <a:pathLst>
                <a:path w="99060" h="45720">
                  <a:moveTo>
                    <a:pt x="0" y="0"/>
                  </a:moveTo>
                  <a:lnTo>
                    <a:pt x="98679" y="45466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647950" y="3866768"/>
              <a:ext cx="220979" cy="96520"/>
            </a:xfrm>
            <a:custGeom>
              <a:avLst/>
              <a:gdLst/>
              <a:ahLst/>
              <a:cxnLst/>
              <a:rect l="l" t="t" r="r" b="b"/>
              <a:pathLst>
                <a:path w="220980" h="96520">
                  <a:moveTo>
                    <a:pt x="220599" y="0"/>
                  </a:moveTo>
                  <a:lnTo>
                    <a:pt x="0" y="9601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650870" y="3961129"/>
              <a:ext cx="217804" cy="90170"/>
            </a:xfrm>
            <a:custGeom>
              <a:avLst/>
              <a:gdLst/>
              <a:ahLst/>
              <a:cxnLst/>
              <a:rect l="l" t="t" r="r" b="b"/>
              <a:pathLst>
                <a:path w="217805" h="90170">
                  <a:moveTo>
                    <a:pt x="0" y="0"/>
                  </a:moveTo>
                  <a:lnTo>
                    <a:pt x="217678" y="89789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650870" y="4050410"/>
              <a:ext cx="220979" cy="96520"/>
            </a:xfrm>
            <a:custGeom>
              <a:avLst/>
              <a:gdLst/>
              <a:ahLst/>
              <a:cxnLst/>
              <a:rect l="l" t="t" r="r" b="b"/>
              <a:pathLst>
                <a:path w="220980" h="96520">
                  <a:moveTo>
                    <a:pt x="220599" y="0"/>
                  </a:moveTo>
                  <a:lnTo>
                    <a:pt x="0" y="96012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650870" y="4147438"/>
              <a:ext cx="217804" cy="90170"/>
            </a:xfrm>
            <a:custGeom>
              <a:avLst/>
              <a:gdLst/>
              <a:ahLst/>
              <a:cxnLst/>
              <a:rect l="l" t="t" r="r" b="b"/>
              <a:pathLst>
                <a:path w="217805" h="90170">
                  <a:moveTo>
                    <a:pt x="0" y="0"/>
                  </a:moveTo>
                  <a:lnTo>
                    <a:pt x="217678" y="89916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771775" y="4236846"/>
              <a:ext cx="99695" cy="54610"/>
            </a:xfrm>
            <a:custGeom>
              <a:avLst/>
              <a:gdLst/>
              <a:ahLst/>
              <a:cxnLst/>
              <a:rect l="l" t="t" r="r" b="b"/>
              <a:pathLst>
                <a:path w="99694" h="54610">
                  <a:moveTo>
                    <a:pt x="99694" y="0"/>
                  </a:moveTo>
                  <a:lnTo>
                    <a:pt x="0" y="54228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3517138" y="3928109"/>
            <a:ext cx="51244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0802" dirty="0" smtClean="0">
                <a:solidFill>
                  <a:srgbClr val="538235"/>
                </a:solidFill>
                <a:latin typeface="Cambria Math"/>
                <a:cs typeface="Cambria Math"/>
              </a:rPr>
              <a:t>𝛟</a:t>
            </a:r>
            <a:r>
              <a:rPr lang="en-US" sz="1300" spc="-25" dirty="0" smtClean="0">
                <a:solidFill>
                  <a:srgbClr val="538235"/>
                </a:solidFill>
                <a:latin typeface="Cambria Math"/>
                <a:cs typeface="Cambria Math"/>
              </a:rPr>
              <a:t>F</a:t>
            </a:r>
            <a:r>
              <a:rPr sz="1300" spc="-25" dirty="0" smtClean="0">
                <a:solidFill>
                  <a:srgbClr val="538235"/>
                </a:solidFill>
                <a:latin typeface="Cambria Math"/>
                <a:cs typeface="Cambria Math"/>
              </a:rPr>
              <a:t>𝐌</a:t>
            </a:r>
            <a:endParaRPr sz="1300" dirty="0">
              <a:latin typeface="Cambria Math"/>
              <a:cs typeface="Cambria Math"/>
            </a:endParaRPr>
          </a:p>
        </p:txBody>
      </p:sp>
      <p:pic>
        <p:nvPicPr>
          <p:cNvPr id="59" name="object 5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019930" y="3950715"/>
            <a:ext cx="236092" cy="211708"/>
          </a:xfrm>
          <a:prstGeom prst="rect">
            <a:avLst/>
          </a:prstGeom>
        </p:spPr>
      </p:pic>
      <p:sp>
        <p:nvSpPr>
          <p:cNvPr id="60" name="object 60"/>
          <p:cNvSpPr txBox="1"/>
          <p:nvPr/>
        </p:nvSpPr>
        <p:spPr>
          <a:xfrm>
            <a:off x="4082288" y="3880866"/>
            <a:ext cx="112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538235"/>
                </a:solidFill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42492" y="3909441"/>
            <a:ext cx="440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0802" dirty="0">
                <a:solidFill>
                  <a:srgbClr val="538235"/>
                </a:solidFill>
                <a:latin typeface="Cambria Math"/>
                <a:cs typeface="Cambria Math"/>
              </a:rPr>
              <a:t>𝐘</a:t>
            </a:r>
            <a:r>
              <a:rPr sz="1300" spc="-25" dirty="0">
                <a:solidFill>
                  <a:srgbClr val="538235"/>
                </a:solidFill>
                <a:latin typeface="Cambria Math"/>
                <a:cs typeface="Cambria Math"/>
              </a:rPr>
              <a:t>𝐅𝐌</a:t>
            </a:r>
            <a:endParaRPr sz="1300">
              <a:latin typeface="Cambria Math"/>
              <a:cs typeface="Cambria Math"/>
            </a:endParaRPr>
          </a:p>
        </p:txBody>
      </p:sp>
      <p:pic>
        <p:nvPicPr>
          <p:cNvPr id="62" name="object 6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172578" y="3932046"/>
            <a:ext cx="236105" cy="211709"/>
          </a:xfrm>
          <a:prstGeom prst="rect">
            <a:avLst/>
          </a:prstGeom>
        </p:spPr>
      </p:pic>
      <p:sp>
        <p:nvSpPr>
          <p:cNvPr id="63" name="object 63"/>
          <p:cNvSpPr txBox="1"/>
          <p:nvPr/>
        </p:nvSpPr>
        <p:spPr>
          <a:xfrm>
            <a:off x="1234541" y="3862196"/>
            <a:ext cx="112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538235"/>
                </a:solidFill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64" name="object 6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937323" y="6010147"/>
            <a:ext cx="245198" cy="211747"/>
          </a:xfrm>
          <a:prstGeom prst="rect">
            <a:avLst/>
          </a:prstGeom>
        </p:spPr>
      </p:pic>
      <p:sp>
        <p:nvSpPr>
          <p:cNvPr id="65" name="object 65"/>
          <p:cNvSpPr/>
          <p:nvPr/>
        </p:nvSpPr>
        <p:spPr>
          <a:xfrm>
            <a:off x="1500886" y="6107429"/>
            <a:ext cx="708660" cy="15240"/>
          </a:xfrm>
          <a:custGeom>
            <a:avLst/>
            <a:gdLst/>
            <a:ahLst/>
            <a:cxnLst/>
            <a:rect l="l" t="t" r="r" b="b"/>
            <a:pathLst>
              <a:path w="708660" h="15239">
                <a:moveTo>
                  <a:pt x="708660" y="0"/>
                </a:moveTo>
                <a:lnTo>
                  <a:pt x="0" y="0"/>
                </a:lnTo>
                <a:lnTo>
                  <a:pt x="0" y="15240"/>
                </a:lnTo>
                <a:lnTo>
                  <a:pt x="708660" y="15240"/>
                </a:lnTo>
                <a:lnTo>
                  <a:pt x="7086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377952" y="5814161"/>
            <a:ext cx="1589405" cy="426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2680">
              <a:lnSpc>
                <a:spcPts val="1580"/>
              </a:lnSpc>
              <a:spcBef>
                <a:spcPts val="100"/>
              </a:spcBef>
            </a:pPr>
            <a:r>
              <a:rPr sz="2700" spc="-37" baseline="10802" dirty="0">
                <a:latin typeface="Cambria Math"/>
                <a:cs typeface="Cambria Math"/>
              </a:rPr>
              <a:t>𝛟</a:t>
            </a:r>
            <a:r>
              <a:rPr sz="1300" spc="-25" dirty="0">
                <a:latin typeface="Cambria Math"/>
                <a:cs typeface="Cambria Math"/>
              </a:rPr>
              <a:t>𝐅𝐌</a:t>
            </a:r>
            <a:endParaRPr sz="1300" dirty="0">
              <a:latin typeface="Cambria Math"/>
              <a:cs typeface="Cambria Math"/>
            </a:endParaRPr>
          </a:p>
          <a:p>
            <a:pPr marL="38100">
              <a:lnSpc>
                <a:spcPts val="1580"/>
              </a:lnSpc>
              <a:tabLst>
                <a:tab pos="886460" algn="l"/>
              </a:tabLst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8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𝐇</a:t>
            </a:r>
            <a:r>
              <a:rPr sz="1800" spc="34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𝐟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=</a:t>
            </a:r>
            <a:endParaRPr sz="1800" dirty="0">
              <a:latin typeface="Cambria Math"/>
              <a:cs typeface="Cambria Math"/>
            </a:endParaRPr>
          </a:p>
        </p:txBody>
      </p:sp>
      <p:pic>
        <p:nvPicPr>
          <p:cNvPr id="67" name="object 6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944751" y="5836411"/>
            <a:ext cx="245109" cy="211747"/>
          </a:xfrm>
          <a:prstGeom prst="rect">
            <a:avLst/>
          </a:prstGeom>
        </p:spPr>
      </p:pic>
      <p:sp>
        <p:nvSpPr>
          <p:cNvPr id="68" name="object 68"/>
          <p:cNvSpPr txBox="1"/>
          <p:nvPr/>
        </p:nvSpPr>
        <p:spPr>
          <a:xfrm>
            <a:off x="1479803" y="6140297"/>
            <a:ext cx="45847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7" baseline="10802" dirty="0" smtClean="0">
                <a:latin typeface="Cambria Math"/>
                <a:cs typeface="Cambria Math"/>
              </a:rPr>
              <a:t>𝐘</a:t>
            </a:r>
            <a:r>
              <a:rPr lang="en-US" sz="1300" spc="-25" dirty="0" smtClean="0">
                <a:latin typeface="Cambria Math"/>
                <a:cs typeface="Cambria Math"/>
              </a:rPr>
              <a:t>F</a:t>
            </a:r>
            <a:r>
              <a:rPr sz="1300" spc="-25" dirty="0" smtClean="0">
                <a:latin typeface="Cambria Math"/>
                <a:cs typeface="Cambria Math"/>
              </a:rPr>
              <a:t>𝐌</a:t>
            </a:r>
            <a:endParaRPr sz="1300" dirty="0">
              <a:latin typeface="Cambria Math"/>
              <a:cs typeface="Cambria Math"/>
            </a:endParaRPr>
          </a:p>
        </p:txBody>
      </p:sp>
      <p:pic>
        <p:nvPicPr>
          <p:cNvPr id="69" name="object 6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927986" y="6162547"/>
            <a:ext cx="245109" cy="211747"/>
          </a:xfrm>
          <a:prstGeom prst="rect">
            <a:avLst/>
          </a:prstGeom>
        </p:spPr>
      </p:pic>
      <p:sp>
        <p:nvSpPr>
          <p:cNvPr id="70" name="object 70"/>
          <p:cNvSpPr/>
          <p:nvPr/>
        </p:nvSpPr>
        <p:spPr>
          <a:xfrm>
            <a:off x="2506726" y="6107429"/>
            <a:ext cx="821690" cy="15240"/>
          </a:xfrm>
          <a:custGeom>
            <a:avLst/>
            <a:gdLst/>
            <a:ahLst/>
            <a:cxnLst/>
            <a:rect l="l" t="t" r="r" b="b"/>
            <a:pathLst>
              <a:path w="821689" h="15239">
                <a:moveTo>
                  <a:pt x="821436" y="0"/>
                </a:moveTo>
                <a:lnTo>
                  <a:pt x="0" y="0"/>
                </a:lnTo>
                <a:lnTo>
                  <a:pt x="0" y="15240"/>
                </a:lnTo>
                <a:lnTo>
                  <a:pt x="821436" y="15240"/>
                </a:lnTo>
                <a:lnTo>
                  <a:pt x="8214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2468879" y="6065316"/>
            <a:ext cx="8978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859155" algn="l"/>
              </a:tabLst>
            </a:pPr>
            <a:r>
              <a:rPr sz="2700" baseline="-32407" dirty="0">
                <a:latin typeface="Cambria Math"/>
                <a:cs typeface="Cambria Math"/>
              </a:rPr>
              <a:t>𝐑 + </a:t>
            </a:r>
            <a:r>
              <a:rPr sz="1800" u="sng" spc="70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 </a:t>
            </a:r>
            <a:r>
              <a:rPr sz="1800" u="sng" spc="-50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𝟏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	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2924301" y="6313728"/>
            <a:ext cx="4171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𝐣𝛚𝐂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2259583" y="5940653"/>
            <a:ext cx="13169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2840" algn="l"/>
              </a:tabLst>
            </a:pPr>
            <a:r>
              <a:rPr sz="1800" spc="-50" dirty="0">
                <a:latin typeface="Cambria Math"/>
                <a:cs typeface="Cambria Math"/>
              </a:rPr>
              <a:t>=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3626865" y="6107429"/>
            <a:ext cx="957580" cy="15240"/>
          </a:xfrm>
          <a:custGeom>
            <a:avLst/>
            <a:gdLst/>
            <a:ahLst/>
            <a:cxnLst/>
            <a:rect l="l" t="t" r="r" b="b"/>
            <a:pathLst>
              <a:path w="957579" h="15239">
                <a:moveTo>
                  <a:pt x="957072" y="0"/>
                </a:moveTo>
                <a:lnTo>
                  <a:pt x="0" y="0"/>
                </a:lnTo>
                <a:lnTo>
                  <a:pt x="0" y="15240"/>
                </a:lnTo>
                <a:lnTo>
                  <a:pt x="957072" y="15240"/>
                </a:lnTo>
                <a:lnTo>
                  <a:pt x="9570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2006600" y="5766917"/>
            <a:ext cx="2385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2485" algn="l"/>
                <a:tab pos="1824355" algn="l"/>
              </a:tabLst>
            </a:pPr>
            <a:r>
              <a:rPr sz="1800" spc="-50" dirty="0">
                <a:latin typeface="Cambria Math"/>
                <a:cs typeface="Cambria Math"/>
              </a:rPr>
              <a:t>𝐟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𝐑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20" dirty="0">
                <a:latin typeface="Cambria Math"/>
                <a:cs typeface="Cambria Math"/>
              </a:rPr>
              <a:t>𝐣𝛚𝐂𝐑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989835" y="6093053"/>
            <a:ext cx="2607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7030" algn="l"/>
              </a:tabLst>
            </a:pPr>
            <a:r>
              <a:rPr sz="1800" spc="-50" dirty="0">
                <a:latin typeface="Cambria Math"/>
                <a:cs typeface="Cambria Math"/>
              </a:rPr>
              <a:t>𝐟</a:t>
            </a:r>
            <a:r>
              <a:rPr sz="1800" dirty="0">
                <a:latin typeface="Cambria Math"/>
                <a:cs typeface="Cambria Math"/>
              </a:rPr>
              <a:t>	𝟏</a:t>
            </a:r>
            <a:r>
              <a:rPr sz="1800" spc="-1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𝐣𝛚𝐂𝐑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218338" y="5241416"/>
            <a:ext cx="46837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Transfer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Function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by: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79" name="object 79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6207125" y="6040646"/>
            <a:ext cx="245109" cy="211836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209031" y="6475621"/>
            <a:ext cx="245237" cy="211708"/>
          </a:xfrm>
          <a:prstGeom prst="rect">
            <a:avLst/>
          </a:prstGeom>
        </p:spPr>
      </p:pic>
      <p:sp>
        <p:nvSpPr>
          <p:cNvPr id="81" name="object 81"/>
          <p:cNvSpPr txBox="1"/>
          <p:nvPr/>
        </p:nvSpPr>
        <p:spPr>
          <a:xfrm>
            <a:off x="5130800" y="5297805"/>
            <a:ext cx="2717800" cy="1407795"/>
          </a:xfrm>
          <a:prstGeom prst="rect">
            <a:avLst/>
          </a:prstGeom>
        </p:spPr>
        <p:txBody>
          <a:bodyPr vert="horz" wrap="square" lIns="0" tIns="18796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48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If</a:t>
            </a:r>
            <a:r>
              <a:rPr sz="24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𝛚𝐑𝐂</a:t>
            </a:r>
            <a:r>
              <a:rPr sz="2400" spc="13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≪</a:t>
            </a:r>
            <a:r>
              <a:rPr sz="2400" spc="120" dirty="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6F2F9F"/>
                </a:solidFill>
                <a:latin typeface="Cambria Math"/>
                <a:cs typeface="Cambria Math"/>
              </a:rPr>
              <a:t>𝟏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then</a:t>
            </a:r>
            <a:endParaRPr sz="2400">
              <a:latin typeface="Calibri"/>
              <a:cs typeface="Calibri"/>
            </a:endParaRPr>
          </a:p>
          <a:p>
            <a:pPr marL="553720">
              <a:lnSpc>
                <a:spcPct val="100000"/>
              </a:lnSpc>
              <a:spcBef>
                <a:spcPts val="1035"/>
              </a:spcBef>
              <a:tabLst>
                <a:tab pos="1403985" algn="l"/>
              </a:tabLst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𝐇</a:t>
            </a:r>
            <a:r>
              <a:rPr sz="1800" spc="34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𝐟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90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𝐣𝛚𝐂𝐑</a:t>
            </a:r>
            <a:endParaRPr sz="1800">
              <a:latin typeface="Cambria Math"/>
              <a:cs typeface="Cambria Math"/>
            </a:endParaRPr>
          </a:p>
          <a:p>
            <a:pPr marL="555625">
              <a:lnSpc>
                <a:spcPct val="100000"/>
              </a:lnSpc>
              <a:spcBef>
                <a:spcPts val="1265"/>
              </a:spcBef>
              <a:tabLst>
                <a:tab pos="1405890" algn="l"/>
              </a:tabLst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10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𝐇</a:t>
            </a:r>
            <a:r>
              <a:rPr sz="1800" spc="355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𝐟</a:t>
            </a:r>
            <a:r>
              <a:rPr sz="1800" dirty="0">
                <a:latin typeface="Cambria Math"/>
                <a:cs typeface="Cambria Math"/>
              </a:rPr>
              <a:t>	∝</a:t>
            </a:r>
            <a:r>
              <a:rPr sz="1800" spc="10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𝐟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8193988" y="5923666"/>
            <a:ext cx="4147287" cy="708025"/>
            <a:chOff x="5671946" y="4402696"/>
            <a:chExt cx="4215130" cy="708025"/>
          </a:xfrm>
        </p:grpSpPr>
        <p:pic>
          <p:nvPicPr>
            <p:cNvPr id="83" name="object 83"/>
            <p:cNvPicPr/>
            <p:nvPr/>
          </p:nvPicPr>
          <p:blipFill rotWithShape="1">
            <a:blip r:embed="rId22" cstate="print"/>
            <a:srcRect r="5449"/>
            <a:stretch/>
          </p:blipFill>
          <p:spPr>
            <a:xfrm>
              <a:off x="5671946" y="4402696"/>
              <a:ext cx="3985321" cy="707910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5671946" y="4402696"/>
              <a:ext cx="4215130" cy="708025"/>
            </a:xfrm>
            <a:custGeom>
              <a:avLst/>
              <a:gdLst/>
              <a:ahLst/>
              <a:cxnLst/>
              <a:rect l="l" t="t" r="r" b="b"/>
              <a:pathLst>
                <a:path w="4215130" h="708025">
                  <a:moveTo>
                    <a:pt x="0" y="707910"/>
                  </a:moveTo>
                  <a:lnTo>
                    <a:pt x="4215003" y="707910"/>
                  </a:lnTo>
                  <a:lnTo>
                    <a:pt x="4215003" y="0"/>
                  </a:lnTo>
                  <a:lnTo>
                    <a:pt x="0" y="0"/>
                  </a:lnTo>
                  <a:lnTo>
                    <a:pt x="0" y="707910"/>
                  </a:lnTo>
                  <a:close/>
                </a:path>
              </a:pathLst>
            </a:custGeom>
            <a:ln w="63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8338946" y="4766691"/>
              <a:ext cx="394970" cy="15240"/>
            </a:xfrm>
            <a:custGeom>
              <a:avLst/>
              <a:gdLst/>
              <a:ahLst/>
              <a:cxnLst/>
              <a:rect l="l" t="t" r="r" b="b"/>
              <a:pathLst>
                <a:path w="394970" h="15239">
                  <a:moveTo>
                    <a:pt x="394716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394716" y="15239"/>
                  </a:lnTo>
                  <a:lnTo>
                    <a:pt x="3947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10906507" y="6296042"/>
            <a:ext cx="17843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300" spc="-25" dirty="0">
                <a:latin typeface="Cambria Math"/>
                <a:cs typeface="Cambria Math"/>
              </a:rPr>
              <a:t>𝐝𝐭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8190865" y="6120783"/>
            <a:ext cx="3848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785" indent="-28638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11785" algn="l"/>
              </a:tabLst>
            </a:pPr>
            <a:r>
              <a:rPr sz="1800" b="1" dirty="0">
                <a:latin typeface="Calibri"/>
                <a:cs typeface="Calibri"/>
              </a:rPr>
              <a:t>Here,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The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differentiator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950" baseline="44871" dirty="0">
                <a:latin typeface="Cambria Math"/>
                <a:cs typeface="Cambria Math"/>
              </a:rPr>
              <a:t>𝐝𝐘</a:t>
            </a:r>
            <a:r>
              <a:rPr sz="1575" baseline="42328" dirty="0">
                <a:latin typeface="Cambria Math"/>
                <a:cs typeface="Cambria Math"/>
              </a:rPr>
              <a:t>𝐅𝐌</a:t>
            </a:r>
            <a:r>
              <a:rPr sz="1575" spc="405" baseline="42328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Slope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89" name="object 78">
            <a:extLst>
              <a:ext uri="{FF2B5EF4-FFF2-40B4-BE49-F238E27FC236}">
                <a16:creationId xmlns:a16="http://schemas.microsoft.com/office/drawing/2014/main" xmlns="" id="{5139F868-86D8-4DE5-A577-7555F364A6CC}"/>
              </a:ext>
            </a:extLst>
          </p:cNvPr>
          <p:cNvSpPr/>
          <p:nvPr/>
        </p:nvSpPr>
        <p:spPr>
          <a:xfrm flipH="1">
            <a:off x="7978140" y="5436625"/>
            <a:ext cx="45720" cy="1345175"/>
          </a:xfrm>
          <a:custGeom>
            <a:avLst/>
            <a:gdLst/>
            <a:ahLst/>
            <a:cxnLst/>
            <a:rect l="l" t="t" r="r" b="b"/>
            <a:pathLst>
              <a:path h="3837940">
                <a:moveTo>
                  <a:pt x="0" y="0"/>
                </a:moveTo>
                <a:lnTo>
                  <a:pt x="0" y="3837559"/>
                </a:lnTo>
              </a:path>
            </a:pathLst>
          </a:custGeom>
          <a:ln w="19050">
            <a:solidFill>
              <a:srgbClr val="C55A11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78">
            <a:extLst>
              <a:ext uri="{FF2B5EF4-FFF2-40B4-BE49-F238E27FC236}">
                <a16:creationId xmlns:a16="http://schemas.microsoft.com/office/drawing/2014/main" xmlns="" id="{E43AF547-AAB3-461B-BE3A-F274008D2266}"/>
              </a:ext>
            </a:extLst>
          </p:cNvPr>
          <p:cNvSpPr/>
          <p:nvPr/>
        </p:nvSpPr>
        <p:spPr>
          <a:xfrm flipH="1">
            <a:off x="5029200" y="5436625"/>
            <a:ext cx="45720" cy="1345175"/>
          </a:xfrm>
          <a:custGeom>
            <a:avLst/>
            <a:gdLst/>
            <a:ahLst/>
            <a:cxnLst/>
            <a:rect l="l" t="t" r="r" b="b"/>
            <a:pathLst>
              <a:path h="3837940">
                <a:moveTo>
                  <a:pt x="0" y="0"/>
                </a:moveTo>
                <a:lnTo>
                  <a:pt x="0" y="3837559"/>
                </a:lnTo>
              </a:path>
            </a:pathLst>
          </a:custGeom>
          <a:ln w="19050">
            <a:solidFill>
              <a:srgbClr val="C55A11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xmlns="" id="{3A959632-4F7E-4402-8A81-8219F830F587}"/>
              </a:ext>
            </a:extLst>
          </p:cNvPr>
          <p:cNvCxnSpPr>
            <a:cxnSpLocks/>
            <a:endCxn id="41" idx="3"/>
          </p:cNvCxnSpPr>
          <p:nvPr/>
        </p:nvCxnSpPr>
        <p:spPr>
          <a:xfrm flipH="1">
            <a:off x="3918965" y="3172459"/>
            <a:ext cx="473330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xmlns="" id="{F373A71D-D3CA-4736-AD85-6DC31F7F5CBD}"/>
              </a:ext>
            </a:extLst>
          </p:cNvPr>
          <p:cNvCxnSpPr>
            <a:cxnSpLocks/>
          </p:cNvCxnSpPr>
          <p:nvPr/>
        </p:nvCxnSpPr>
        <p:spPr>
          <a:xfrm flipH="1" flipV="1">
            <a:off x="3825242" y="5059974"/>
            <a:ext cx="553842" cy="9866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" name="Picture 101">
            <a:extLst>
              <a:ext uri="{FF2B5EF4-FFF2-40B4-BE49-F238E27FC236}">
                <a16:creationId xmlns:a16="http://schemas.microsoft.com/office/drawing/2014/main" xmlns="" id="{A74A64B4-16CF-40D1-86F4-5D93A57D8EDC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393641" y="2918134"/>
            <a:ext cx="3216834" cy="2251783"/>
          </a:xfrm>
          <a:prstGeom prst="rect">
            <a:avLst/>
          </a:prstGeom>
        </p:spPr>
      </p:pic>
      <p:sp>
        <p:nvSpPr>
          <p:cNvPr id="88" name="Title 87">
            <a:extLst>
              <a:ext uri="{FF2B5EF4-FFF2-40B4-BE49-F238E27FC236}">
                <a16:creationId xmlns:a16="http://schemas.microsoft.com/office/drawing/2014/main" xmlns="" id="{5B188337-A3C9-4919-83AF-675545300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42" y="74167"/>
            <a:ext cx="11615420" cy="369332"/>
          </a:xfrm>
        </p:spPr>
        <p:txBody>
          <a:bodyPr/>
          <a:lstStyle/>
          <a:p>
            <a:r>
              <a:rPr lang="en-US" dirty="0"/>
              <a:t>Circuit Diagram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u="sng" spc="-2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Waveforms</a:t>
            </a:r>
            <a:r>
              <a:rPr sz="3200" u="sng" spc="-7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of</a:t>
            </a:r>
            <a:r>
              <a:rPr sz="3200" u="sng" spc="-6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FM</a:t>
            </a:r>
            <a:r>
              <a:rPr sz="3200" u="sng" spc="-5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Demodulation</a:t>
            </a:r>
            <a:r>
              <a:rPr sz="3200" u="sng" spc="-10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using</a:t>
            </a:r>
            <a:r>
              <a:rPr sz="3200" u="sng" spc="-8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Envelope</a:t>
            </a:r>
            <a:r>
              <a:rPr sz="3200" u="sng" spc="-6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200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Detector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378764" y="740409"/>
            <a:ext cx="6974840" cy="1718945"/>
          </a:xfrm>
          <a:custGeom>
            <a:avLst/>
            <a:gdLst/>
            <a:ahLst/>
            <a:cxnLst/>
            <a:rect l="l" t="t" r="r" b="b"/>
            <a:pathLst>
              <a:path w="6974840" h="1718945">
                <a:moveTo>
                  <a:pt x="6974535" y="963041"/>
                </a:moveTo>
                <a:lnTo>
                  <a:pt x="6936435" y="943991"/>
                </a:lnTo>
                <a:lnTo>
                  <a:pt x="6860235" y="905891"/>
                </a:lnTo>
                <a:lnTo>
                  <a:pt x="6860235" y="943991"/>
                </a:lnTo>
                <a:lnTo>
                  <a:pt x="421665" y="943991"/>
                </a:lnTo>
                <a:lnTo>
                  <a:pt x="420827" y="114427"/>
                </a:lnTo>
                <a:lnTo>
                  <a:pt x="458990" y="114427"/>
                </a:lnTo>
                <a:lnTo>
                  <a:pt x="449440" y="95377"/>
                </a:lnTo>
                <a:lnTo>
                  <a:pt x="449376" y="95250"/>
                </a:lnTo>
                <a:lnTo>
                  <a:pt x="401662" y="0"/>
                </a:lnTo>
                <a:lnTo>
                  <a:pt x="344627" y="114427"/>
                </a:lnTo>
                <a:lnTo>
                  <a:pt x="382727" y="114427"/>
                </a:lnTo>
                <a:lnTo>
                  <a:pt x="383565" y="943991"/>
                </a:lnTo>
                <a:lnTo>
                  <a:pt x="0" y="943991"/>
                </a:lnTo>
                <a:lnTo>
                  <a:pt x="0" y="982091"/>
                </a:lnTo>
                <a:lnTo>
                  <a:pt x="383603" y="982091"/>
                </a:lnTo>
                <a:lnTo>
                  <a:pt x="384352" y="1718437"/>
                </a:lnTo>
                <a:lnTo>
                  <a:pt x="422452" y="1718437"/>
                </a:lnTo>
                <a:lnTo>
                  <a:pt x="421703" y="982091"/>
                </a:lnTo>
                <a:lnTo>
                  <a:pt x="6860235" y="982091"/>
                </a:lnTo>
                <a:lnTo>
                  <a:pt x="6860235" y="1020191"/>
                </a:lnTo>
                <a:lnTo>
                  <a:pt x="6936435" y="982091"/>
                </a:lnTo>
                <a:lnTo>
                  <a:pt x="6974535" y="963041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124447" y="1719198"/>
            <a:ext cx="1139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Time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 (Sec)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10450" y="789686"/>
            <a:ext cx="6877050" cy="1377315"/>
            <a:chOff x="710450" y="789686"/>
            <a:chExt cx="6877050" cy="137731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3625" y="1637538"/>
              <a:ext cx="133616" cy="12674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0450" y="1634363"/>
              <a:ext cx="139966" cy="13309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104898" y="1181520"/>
              <a:ext cx="3557270" cy="971550"/>
            </a:xfrm>
            <a:custGeom>
              <a:avLst/>
              <a:gdLst/>
              <a:ahLst/>
              <a:cxnLst/>
              <a:rect l="l" t="t" r="r" b="b"/>
              <a:pathLst>
                <a:path w="3557270" h="971550">
                  <a:moveTo>
                    <a:pt x="0" y="504912"/>
                  </a:moveTo>
                  <a:lnTo>
                    <a:pt x="35536" y="469457"/>
                  </a:lnTo>
                  <a:lnTo>
                    <a:pt x="71123" y="434158"/>
                  </a:lnTo>
                  <a:lnTo>
                    <a:pt x="106812" y="399170"/>
                  </a:lnTo>
                  <a:lnTo>
                    <a:pt x="142652" y="364649"/>
                  </a:lnTo>
                  <a:lnTo>
                    <a:pt x="178695" y="330750"/>
                  </a:lnTo>
                  <a:lnTo>
                    <a:pt x="214991" y="297630"/>
                  </a:lnTo>
                  <a:lnTo>
                    <a:pt x="251590" y="265443"/>
                  </a:lnTo>
                  <a:lnTo>
                    <a:pt x="288544" y="234345"/>
                  </a:lnTo>
                  <a:lnTo>
                    <a:pt x="325902" y="204492"/>
                  </a:lnTo>
                  <a:lnTo>
                    <a:pt x="363716" y="176040"/>
                  </a:lnTo>
                  <a:lnTo>
                    <a:pt x="402035" y="149144"/>
                  </a:lnTo>
                  <a:lnTo>
                    <a:pt x="440912" y="123959"/>
                  </a:lnTo>
                  <a:lnTo>
                    <a:pt x="480395" y="100642"/>
                  </a:lnTo>
                  <a:lnTo>
                    <a:pt x="520537" y="79348"/>
                  </a:lnTo>
                  <a:lnTo>
                    <a:pt x="561387" y="60232"/>
                  </a:lnTo>
                  <a:lnTo>
                    <a:pt x="602995" y="43450"/>
                  </a:lnTo>
                  <a:lnTo>
                    <a:pt x="645414" y="29158"/>
                  </a:lnTo>
                  <a:lnTo>
                    <a:pt x="688693" y="17511"/>
                  </a:lnTo>
                  <a:lnTo>
                    <a:pt x="732882" y="8666"/>
                  </a:lnTo>
                  <a:lnTo>
                    <a:pt x="778033" y="2776"/>
                  </a:lnTo>
                  <a:lnTo>
                    <a:pt x="824196" y="0"/>
                  </a:lnTo>
                  <a:lnTo>
                    <a:pt x="871422" y="490"/>
                  </a:lnTo>
                  <a:lnTo>
                    <a:pt x="919761" y="4404"/>
                  </a:lnTo>
                  <a:lnTo>
                    <a:pt x="969263" y="11898"/>
                  </a:lnTo>
                  <a:lnTo>
                    <a:pt x="1037879" y="30621"/>
                  </a:lnTo>
                  <a:lnTo>
                    <a:pt x="1073475" y="44423"/>
                  </a:lnTo>
                  <a:lnTo>
                    <a:pt x="1109865" y="60945"/>
                  </a:lnTo>
                  <a:lnTo>
                    <a:pt x="1147001" y="80008"/>
                  </a:lnTo>
                  <a:lnTo>
                    <a:pt x="1184834" y="101434"/>
                  </a:lnTo>
                  <a:lnTo>
                    <a:pt x="1223317" y="125042"/>
                  </a:lnTo>
                  <a:lnTo>
                    <a:pt x="1262402" y="150653"/>
                  </a:lnTo>
                  <a:lnTo>
                    <a:pt x="1302039" y="178089"/>
                  </a:lnTo>
                  <a:lnTo>
                    <a:pt x="1342181" y="207169"/>
                  </a:lnTo>
                  <a:lnTo>
                    <a:pt x="1382780" y="237715"/>
                  </a:lnTo>
                  <a:lnTo>
                    <a:pt x="1423787" y="269548"/>
                  </a:lnTo>
                  <a:lnTo>
                    <a:pt x="1465154" y="302487"/>
                  </a:lnTo>
                  <a:lnTo>
                    <a:pt x="1506833" y="336354"/>
                  </a:lnTo>
                  <a:lnTo>
                    <a:pt x="1548775" y="370969"/>
                  </a:lnTo>
                  <a:lnTo>
                    <a:pt x="1590933" y="406153"/>
                  </a:lnTo>
                  <a:lnTo>
                    <a:pt x="1633258" y="441727"/>
                  </a:lnTo>
                  <a:lnTo>
                    <a:pt x="1675701" y="477511"/>
                  </a:lnTo>
                  <a:lnTo>
                    <a:pt x="1718215" y="513327"/>
                  </a:lnTo>
                  <a:lnTo>
                    <a:pt x="1760751" y="548994"/>
                  </a:lnTo>
                  <a:lnTo>
                    <a:pt x="1803262" y="584334"/>
                  </a:lnTo>
                  <a:lnTo>
                    <a:pt x="1845698" y="619168"/>
                  </a:lnTo>
                  <a:lnTo>
                    <a:pt x="1888012" y="653315"/>
                  </a:lnTo>
                  <a:lnTo>
                    <a:pt x="1930155" y="686597"/>
                  </a:lnTo>
                  <a:lnTo>
                    <a:pt x="1972079" y="718834"/>
                  </a:lnTo>
                  <a:lnTo>
                    <a:pt x="2013736" y="749848"/>
                  </a:lnTo>
                  <a:lnTo>
                    <a:pt x="2055078" y="779458"/>
                  </a:lnTo>
                  <a:lnTo>
                    <a:pt x="2096056" y="807485"/>
                  </a:lnTo>
                  <a:lnTo>
                    <a:pt x="2136622" y="833751"/>
                  </a:lnTo>
                  <a:lnTo>
                    <a:pt x="2176728" y="858076"/>
                  </a:lnTo>
                  <a:lnTo>
                    <a:pt x="2216325" y="880281"/>
                  </a:lnTo>
                  <a:lnTo>
                    <a:pt x="2255366" y="900185"/>
                  </a:lnTo>
                  <a:lnTo>
                    <a:pt x="2293802" y="917611"/>
                  </a:lnTo>
                  <a:lnTo>
                    <a:pt x="2331585" y="932379"/>
                  </a:lnTo>
                  <a:lnTo>
                    <a:pt x="2368667" y="944309"/>
                  </a:lnTo>
                  <a:lnTo>
                    <a:pt x="2454452" y="961909"/>
                  </a:lnTo>
                  <a:lnTo>
                    <a:pt x="2503302" y="967707"/>
                  </a:lnTo>
                  <a:lnTo>
                    <a:pt x="2551570" y="970733"/>
                  </a:lnTo>
                  <a:lnTo>
                    <a:pt x="2599282" y="971101"/>
                  </a:lnTo>
                  <a:lnTo>
                    <a:pt x="2646462" y="968928"/>
                  </a:lnTo>
                  <a:lnTo>
                    <a:pt x="2693134" y="964328"/>
                  </a:lnTo>
                  <a:lnTo>
                    <a:pt x="2739322" y="957419"/>
                  </a:lnTo>
                  <a:lnTo>
                    <a:pt x="2785051" y="948314"/>
                  </a:lnTo>
                  <a:lnTo>
                    <a:pt x="2830344" y="937129"/>
                  </a:lnTo>
                  <a:lnTo>
                    <a:pt x="2875226" y="923981"/>
                  </a:lnTo>
                  <a:lnTo>
                    <a:pt x="2919720" y="908985"/>
                  </a:lnTo>
                  <a:lnTo>
                    <a:pt x="2963852" y="892256"/>
                  </a:lnTo>
                  <a:lnTo>
                    <a:pt x="3007645" y="873910"/>
                  </a:lnTo>
                  <a:lnTo>
                    <a:pt x="3051124" y="854063"/>
                  </a:lnTo>
                  <a:lnTo>
                    <a:pt x="3094312" y="832829"/>
                  </a:lnTo>
                  <a:lnTo>
                    <a:pt x="3137234" y="810326"/>
                  </a:lnTo>
                  <a:lnTo>
                    <a:pt x="3179915" y="786668"/>
                  </a:lnTo>
                  <a:lnTo>
                    <a:pt x="3222377" y="761970"/>
                  </a:lnTo>
                  <a:lnTo>
                    <a:pt x="3264646" y="736349"/>
                  </a:lnTo>
                  <a:lnTo>
                    <a:pt x="3306746" y="709920"/>
                  </a:lnTo>
                  <a:lnTo>
                    <a:pt x="3348700" y="682799"/>
                  </a:lnTo>
                  <a:lnTo>
                    <a:pt x="3390534" y="655101"/>
                  </a:lnTo>
                  <a:lnTo>
                    <a:pt x="3432271" y="626942"/>
                  </a:lnTo>
                  <a:lnTo>
                    <a:pt x="3473935" y="598437"/>
                  </a:lnTo>
                  <a:lnTo>
                    <a:pt x="3515551" y="569702"/>
                  </a:lnTo>
                  <a:lnTo>
                    <a:pt x="3557142" y="540853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51140" y="789686"/>
              <a:ext cx="236093" cy="21170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926083" y="719073"/>
            <a:ext cx="66001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89805" algn="l"/>
              </a:tabLst>
            </a:pPr>
            <a:r>
              <a:rPr sz="1800" b="1" spc="-10" dirty="0">
                <a:latin typeface="Calibri"/>
                <a:cs typeface="Calibri"/>
              </a:rPr>
              <a:t>Amplitude</a:t>
            </a:r>
            <a:r>
              <a:rPr sz="1800" b="1" dirty="0">
                <a:latin typeface="Calibri"/>
                <a:cs typeface="Calibri"/>
              </a:rPr>
              <a:t>	</a:t>
            </a:r>
            <a:r>
              <a:rPr sz="1800" b="1" dirty="0">
                <a:solidFill>
                  <a:srgbClr val="7E5F00"/>
                </a:solidFill>
                <a:latin typeface="Calibri"/>
                <a:cs typeface="Calibri"/>
              </a:rPr>
              <a:t>Message</a:t>
            </a:r>
            <a:r>
              <a:rPr sz="1800" b="1" spc="-3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7E5F00"/>
                </a:solidFill>
                <a:latin typeface="Calibri"/>
                <a:cs typeface="Calibri"/>
              </a:rPr>
              <a:t>Signal</a:t>
            </a:r>
            <a:r>
              <a:rPr sz="1800" b="1" spc="-2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5F00"/>
                </a:solidFill>
                <a:latin typeface="Cambria Math"/>
                <a:cs typeface="Cambria Math"/>
              </a:rPr>
              <a:t>𝐱</a:t>
            </a:r>
            <a:r>
              <a:rPr sz="1800" spc="330" dirty="0">
                <a:solidFill>
                  <a:srgbClr val="7E5F00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7E5F00"/>
                </a:solidFill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72567" y="1666684"/>
            <a:ext cx="6974840" cy="2603500"/>
            <a:chOff x="372567" y="1666684"/>
            <a:chExt cx="6974840" cy="2603500"/>
          </a:xfrm>
        </p:grpSpPr>
        <p:sp>
          <p:nvSpPr>
            <p:cNvPr id="12" name="object 12"/>
            <p:cNvSpPr/>
            <p:nvPr/>
          </p:nvSpPr>
          <p:spPr>
            <a:xfrm>
              <a:off x="780427" y="1680972"/>
              <a:ext cx="1324610" cy="5715"/>
            </a:xfrm>
            <a:custGeom>
              <a:avLst/>
              <a:gdLst/>
              <a:ahLst/>
              <a:cxnLst/>
              <a:rect l="l" t="t" r="r" b="b"/>
              <a:pathLst>
                <a:path w="1324610" h="5714">
                  <a:moveTo>
                    <a:pt x="0" y="0"/>
                  </a:moveTo>
                  <a:lnTo>
                    <a:pt x="1324470" y="5461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72567" y="2551556"/>
              <a:ext cx="6974840" cy="1718945"/>
            </a:xfrm>
            <a:custGeom>
              <a:avLst/>
              <a:gdLst/>
              <a:ahLst/>
              <a:cxnLst/>
              <a:rect l="l" t="t" r="r" b="b"/>
              <a:pathLst>
                <a:path w="6974840" h="1718945">
                  <a:moveTo>
                    <a:pt x="6974510" y="962914"/>
                  </a:moveTo>
                  <a:lnTo>
                    <a:pt x="6936410" y="943864"/>
                  </a:lnTo>
                  <a:lnTo>
                    <a:pt x="6860210" y="905764"/>
                  </a:lnTo>
                  <a:lnTo>
                    <a:pt x="6860210" y="943864"/>
                  </a:lnTo>
                  <a:lnTo>
                    <a:pt x="421665" y="943864"/>
                  </a:lnTo>
                  <a:lnTo>
                    <a:pt x="420827" y="114300"/>
                  </a:lnTo>
                  <a:lnTo>
                    <a:pt x="458990" y="114300"/>
                  </a:lnTo>
                  <a:lnTo>
                    <a:pt x="449427" y="95250"/>
                  </a:lnTo>
                  <a:lnTo>
                    <a:pt x="401662" y="0"/>
                  </a:lnTo>
                  <a:lnTo>
                    <a:pt x="344627" y="114300"/>
                  </a:lnTo>
                  <a:lnTo>
                    <a:pt x="382727" y="114300"/>
                  </a:lnTo>
                  <a:lnTo>
                    <a:pt x="383565" y="943864"/>
                  </a:lnTo>
                  <a:lnTo>
                    <a:pt x="0" y="943864"/>
                  </a:lnTo>
                  <a:lnTo>
                    <a:pt x="0" y="981964"/>
                  </a:lnTo>
                  <a:lnTo>
                    <a:pt x="383603" y="981964"/>
                  </a:lnTo>
                  <a:lnTo>
                    <a:pt x="384352" y="1718437"/>
                  </a:lnTo>
                  <a:lnTo>
                    <a:pt x="422452" y="1718437"/>
                  </a:lnTo>
                  <a:lnTo>
                    <a:pt x="421703" y="981964"/>
                  </a:lnTo>
                  <a:lnTo>
                    <a:pt x="6860210" y="981964"/>
                  </a:lnTo>
                  <a:lnTo>
                    <a:pt x="6860210" y="1020064"/>
                  </a:lnTo>
                  <a:lnTo>
                    <a:pt x="6936410" y="981964"/>
                  </a:lnTo>
                  <a:lnTo>
                    <a:pt x="6974510" y="962914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118352" y="3530600"/>
            <a:ext cx="1139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Time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 (Sec)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9988" y="2529078"/>
            <a:ext cx="1026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Amplitude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04253" y="2431542"/>
            <a:ext cx="6710045" cy="1147445"/>
            <a:chOff x="704253" y="2431542"/>
            <a:chExt cx="6710045" cy="1147445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7428" y="3448558"/>
              <a:ext cx="133616" cy="12687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253" y="3445383"/>
              <a:ext cx="139966" cy="13322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78166" y="2431542"/>
              <a:ext cx="236093" cy="211836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5779642" y="2361438"/>
            <a:ext cx="1598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7E5F00"/>
                </a:solidFill>
                <a:latin typeface="Calibri"/>
                <a:cs typeface="Calibri"/>
              </a:rPr>
              <a:t>FM</a:t>
            </a:r>
            <a:r>
              <a:rPr sz="1800" b="1" spc="-4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7E5F00"/>
                </a:solidFill>
                <a:latin typeface="Calibri"/>
                <a:cs typeface="Calibri"/>
              </a:rPr>
              <a:t>Signal</a:t>
            </a:r>
            <a:r>
              <a:rPr sz="1800" b="1" spc="-6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5F00"/>
                </a:solidFill>
                <a:latin typeface="Cambria Math"/>
                <a:cs typeface="Cambria Math"/>
              </a:rPr>
              <a:t>𝐘</a:t>
            </a:r>
            <a:r>
              <a:rPr sz="1950" baseline="-14957" dirty="0">
                <a:solidFill>
                  <a:srgbClr val="7E5F00"/>
                </a:solidFill>
                <a:latin typeface="Cambria Math"/>
                <a:cs typeface="Cambria Math"/>
              </a:rPr>
              <a:t>𝐅𝐌</a:t>
            </a:r>
            <a:r>
              <a:rPr sz="1950" spc="652" baseline="-14957" dirty="0">
                <a:solidFill>
                  <a:srgbClr val="7E5F00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7E5F00"/>
                </a:solidFill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43305" y="2998216"/>
            <a:ext cx="5695315" cy="999490"/>
            <a:chOff x="743305" y="2998216"/>
            <a:chExt cx="5695315" cy="999490"/>
          </a:xfrm>
        </p:grpSpPr>
        <p:sp>
          <p:nvSpPr>
            <p:cNvPr id="22" name="object 22"/>
            <p:cNvSpPr/>
            <p:nvPr/>
          </p:nvSpPr>
          <p:spPr>
            <a:xfrm>
              <a:off x="752830" y="3007741"/>
              <a:ext cx="5647690" cy="0"/>
            </a:xfrm>
            <a:custGeom>
              <a:avLst/>
              <a:gdLst/>
              <a:ahLst/>
              <a:cxnLst/>
              <a:rect l="l" t="t" r="r" b="b"/>
              <a:pathLst>
                <a:path w="5647690">
                  <a:moveTo>
                    <a:pt x="0" y="0"/>
                  </a:moveTo>
                  <a:lnTo>
                    <a:pt x="5647207" y="0"/>
                  </a:lnTo>
                </a:path>
              </a:pathLst>
            </a:custGeom>
            <a:ln w="19050">
              <a:solidFill>
                <a:srgbClr val="4471C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81303" y="3988054"/>
              <a:ext cx="5647690" cy="0"/>
            </a:xfrm>
            <a:custGeom>
              <a:avLst/>
              <a:gdLst/>
              <a:ahLst/>
              <a:cxnLst/>
              <a:rect l="l" t="t" r="r" b="b"/>
              <a:pathLst>
                <a:path w="5647690">
                  <a:moveTo>
                    <a:pt x="0" y="0"/>
                  </a:moveTo>
                  <a:lnTo>
                    <a:pt x="5647309" y="0"/>
                  </a:lnTo>
                </a:path>
              </a:pathLst>
            </a:custGeom>
            <a:ln w="19050">
              <a:solidFill>
                <a:srgbClr val="4471C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20623" y="2833496"/>
            <a:ext cx="302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𝐕</a:t>
            </a:r>
            <a:r>
              <a:rPr sz="1950" spc="-37" baseline="-14957" dirty="0">
                <a:latin typeface="Cambria Math"/>
                <a:cs typeface="Cambria Math"/>
              </a:rPr>
              <a:t>𝐂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65175" y="3811651"/>
            <a:ext cx="475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−𝐕</a:t>
            </a:r>
            <a:r>
              <a:rPr sz="1950" spc="-37" baseline="-14957" dirty="0">
                <a:latin typeface="Cambria Math"/>
                <a:cs typeface="Cambria Math"/>
              </a:rPr>
              <a:t>𝐂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521829" y="3286125"/>
            <a:ext cx="773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⟹</a:t>
            </a:r>
            <a:r>
              <a:rPr sz="1800" spc="8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𝐘</a:t>
            </a:r>
            <a:r>
              <a:rPr sz="1950" spc="-37" baseline="-14957" dirty="0">
                <a:latin typeface="Cambria Math"/>
                <a:cs typeface="Cambria Math"/>
              </a:rPr>
              <a:t>𝐅𝐌</a:t>
            </a:r>
            <a:endParaRPr sz="1950" baseline="-14957">
              <a:latin typeface="Cambria Math"/>
              <a:cs typeface="Cambria Math"/>
            </a:endParaRPr>
          </a:p>
        </p:txBody>
      </p:sp>
      <p:pic>
        <p:nvPicPr>
          <p:cNvPr id="27" name="object 2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284591" y="3356102"/>
            <a:ext cx="236093" cy="211709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8321929" y="3286125"/>
            <a:ext cx="1195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81305" algn="l"/>
              </a:tabLst>
            </a:pPr>
            <a:r>
              <a:rPr sz="1800" spc="-50" dirty="0">
                <a:latin typeface="Cambria Math"/>
                <a:cs typeface="Cambria Math"/>
              </a:rPr>
              <a:t>𝐭</a:t>
            </a:r>
            <a:r>
              <a:rPr sz="1800" dirty="0">
                <a:latin typeface="Cambria Math"/>
                <a:cs typeface="Cambria Math"/>
              </a:rPr>
              <a:t>	=</a:t>
            </a:r>
            <a:r>
              <a:rPr sz="1800" spc="40" dirty="0">
                <a:latin typeface="Cambria Math"/>
                <a:cs typeface="Cambria Math"/>
              </a:rPr>
              <a:t> </a:t>
            </a:r>
            <a:r>
              <a:rPr sz="1800" spc="-20" dirty="0">
                <a:latin typeface="Cambria Math"/>
                <a:cs typeface="Cambria Math"/>
              </a:rPr>
              <a:t>𝐕</a:t>
            </a:r>
            <a:r>
              <a:rPr sz="1950" spc="-30" baseline="-14957" dirty="0">
                <a:latin typeface="Cambria Math"/>
                <a:cs typeface="Cambria Math"/>
              </a:rPr>
              <a:t>𝐂</a:t>
            </a:r>
            <a:r>
              <a:rPr sz="1950" spc="30" baseline="-14957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𝐜𝐨𝐬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9519539" y="3036316"/>
            <a:ext cx="2420620" cy="849630"/>
          </a:xfrm>
          <a:custGeom>
            <a:avLst/>
            <a:gdLst/>
            <a:ahLst/>
            <a:cxnLst/>
            <a:rect l="l" t="t" r="r" b="b"/>
            <a:pathLst>
              <a:path w="2420620" h="849629">
                <a:moveTo>
                  <a:pt x="2297049" y="0"/>
                </a:moveTo>
                <a:lnTo>
                  <a:pt x="2289429" y="7620"/>
                </a:lnTo>
                <a:lnTo>
                  <a:pt x="2313979" y="44007"/>
                </a:lnTo>
                <a:lnTo>
                  <a:pt x="2335434" y="85931"/>
                </a:lnTo>
                <a:lnTo>
                  <a:pt x="2353794" y="133403"/>
                </a:lnTo>
                <a:lnTo>
                  <a:pt x="2369058" y="186436"/>
                </a:lnTo>
                <a:lnTo>
                  <a:pt x="2378871" y="231656"/>
                </a:lnTo>
                <a:lnTo>
                  <a:pt x="2386514" y="278022"/>
                </a:lnTo>
                <a:lnTo>
                  <a:pt x="2391982" y="325552"/>
                </a:lnTo>
                <a:lnTo>
                  <a:pt x="2395266" y="374265"/>
                </a:lnTo>
                <a:lnTo>
                  <a:pt x="2396363" y="424180"/>
                </a:lnTo>
                <a:lnTo>
                  <a:pt x="2395266" y="472964"/>
                </a:lnTo>
                <a:lnTo>
                  <a:pt x="2391982" y="521023"/>
                </a:lnTo>
                <a:lnTo>
                  <a:pt x="2386514" y="568362"/>
                </a:lnTo>
                <a:lnTo>
                  <a:pt x="2378871" y="614988"/>
                </a:lnTo>
                <a:lnTo>
                  <a:pt x="2369058" y="660908"/>
                </a:lnTo>
                <a:lnTo>
                  <a:pt x="2353794" y="714960"/>
                </a:lnTo>
                <a:lnTo>
                  <a:pt x="2335434" y="763190"/>
                </a:lnTo>
                <a:lnTo>
                  <a:pt x="2313979" y="805586"/>
                </a:lnTo>
                <a:lnTo>
                  <a:pt x="2289429" y="842137"/>
                </a:lnTo>
                <a:lnTo>
                  <a:pt x="2297049" y="849630"/>
                </a:lnTo>
                <a:lnTo>
                  <a:pt x="2323961" y="813766"/>
                </a:lnTo>
                <a:lnTo>
                  <a:pt x="2347944" y="771699"/>
                </a:lnTo>
                <a:lnTo>
                  <a:pt x="2369022" y="723417"/>
                </a:lnTo>
                <a:lnTo>
                  <a:pt x="2387219" y="668909"/>
                </a:lnTo>
                <a:lnTo>
                  <a:pt x="2399227" y="622243"/>
                </a:lnTo>
                <a:lnTo>
                  <a:pt x="2408577" y="574443"/>
                </a:lnTo>
                <a:lnTo>
                  <a:pt x="2415263" y="525503"/>
                </a:lnTo>
                <a:lnTo>
                  <a:pt x="2419279" y="475417"/>
                </a:lnTo>
                <a:lnTo>
                  <a:pt x="2420620" y="424180"/>
                </a:lnTo>
                <a:lnTo>
                  <a:pt x="2419336" y="374265"/>
                </a:lnTo>
                <a:lnTo>
                  <a:pt x="2419279" y="372059"/>
                </a:lnTo>
                <a:lnTo>
                  <a:pt x="2415263" y="321462"/>
                </a:lnTo>
                <a:lnTo>
                  <a:pt x="2408577" y="272389"/>
                </a:lnTo>
                <a:lnTo>
                  <a:pt x="2399227" y="224840"/>
                </a:lnTo>
                <a:lnTo>
                  <a:pt x="2387219" y="178816"/>
                </a:lnTo>
                <a:lnTo>
                  <a:pt x="2369022" y="125212"/>
                </a:lnTo>
                <a:lnTo>
                  <a:pt x="2347944" y="77549"/>
                </a:lnTo>
                <a:lnTo>
                  <a:pt x="2323961" y="35815"/>
                </a:lnTo>
                <a:lnTo>
                  <a:pt x="2297049" y="0"/>
                </a:lnTo>
                <a:close/>
              </a:path>
              <a:path w="2420620" h="849629">
                <a:moveTo>
                  <a:pt x="123571" y="0"/>
                </a:moveTo>
                <a:lnTo>
                  <a:pt x="96641" y="35815"/>
                </a:lnTo>
                <a:lnTo>
                  <a:pt x="72628" y="77549"/>
                </a:lnTo>
                <a:lnTo>
                  <a:pt x="51544" y="125212"/>
                </a:lnTo>
                <a:lnTo>
                  <a:pt x="33400" y="178816"/>
                </a:lnTo>
                <a:lnTo>
                  <a:pt x="21392" y="224840"/>
                </a:lnTo>
                <a:lnTo>
                  <a:pt x="12042" y="272389"/>
                </a:lnTo>
                <a:lnTo>
                  <a:pt x="5356" y="321462"/>
                </a:lnTo>
                <a:lnTo>
                  <a:pt x="1340" y="372059"/>
                </a:lnTo>
                <a:lnTo>
                  <a:pt x="0" y="424180"/>
                </a:lnTo>
                <a:lnTo>
                  <a:pt x="1275" y="472964"/>
                </a:lnTo>
                <a:lnTo>
                  <a:pt x="1340" y="475417"/>
                </a:lnTo>
                <a:lnTo>
                  <a:pt x="5356" y="525503"/>
                </a:lnTo>
                <a:lnTo>
                  <a:pt x="12042" y="574443"/>
                </a:lnTo>
                <a:lnTo>
                  <a:pt x="21392" y="622243"/>
                </a:lnTo>
                <a:lnTo>
                  <a:pt x="33400" y="668909"/>
                </a:lnTo>
                <a:lnTo>
                  <a:pt x="51544" y="723417"/>
                </a:lnTo>
                <a:lnTo>
                  <a:pt x="72628" y="771699"/>
                </a:lnTo>
                <a:lnTo>
                  <a:pt x="96641" y="813766"/>
                </a:lnTo>
                <a:lnTo>
                  <a:pt x="123571" y="849630"/>
                </a:lnTo>
                <a:lnTo>
                  <a:pt x="131063" y="842137"/>
                </a:lnTo>
                <a:lnTo>
                  <a:pt x="106515" y="805586"/>
                </a:lnTo>
                <a:lnTo>
                  <a:pt x="85074" y="763190"/>
                </a:lnTo>
                <a:lnTo>
                  <a:pt x="66752" y="714960"/>
                </a:lnTo>
                <a:lnTo>
                  <a:pt x="51562" y="660908"/>
                </a:lnTo>
                <a:lnTo>
                  <a:pt x="41699" y="614988"/>
                </a:lnTo>
                <a:lnTo>
                  <a:pt x="34050" y="568362"/>
                </a:lnTo>
                <a:lnTo>
                  <a:pt x="28601" y="521023"/>
                </a:lnTo>
                <a:lnTo>
                  <a:pt x="25341" y="472964"/>
                </a:lnTo>
                <a:lnTo>
                  <a:pt x="24256" y="424180"/>
                </a:lnTo>
                <a:lnTo>
                  <a:pt x="25341" y="374265"/>
                </a:lnTo>
                <a:lnTo>
                  <a:pt x="28601" y="325552"/>
                </a:lnTo>
                <a:lnTo>
                  <a:pt x="34050" y="278022"/>
                </a:lnTo>
                <a:lnTo>
                  <a:pt x="41699" y="231656"/>
                </a:lnTo>
                <a:lnTo>
                  <a:pt x="51562" y="186436"/>
                </a:lnTo>
                <a:lnTo>
                  <a:pt x="66805" y="133403"/>
                </a:lnTo>
                <a:lnTo>
                  <a:pt x="85121" y="85931"/>
                </a:lnTo>
                <a:lnTo>
                  <a:pt x="106533" y="44007"/>
                </a:lnTo>
                <a:lnTo>
                  <a:pt x="131063" y="7620"/>
                </a:lnTo>
                <a:lnTo>
                  <a:pt x="1235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0956797" y="2978023"/>
            <a:ext cx="9588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latin typeface="Cambria Math"/>
                <a:cs typeface="Cambria Math"/>
              </a:rPr>
              <a:t>𝒕</a:t>
            </a:r>
            <a:endParaRPr sz="1300">
              <a:latin typeface="Cambria Math"/>
              <a:cs typeface="Cambria Math"/>
            </a:endParaRPr>
          </a:p>
        </p:txBody>
      </p:sp>
      <p:pic>
        <p:nvPicPr>
          <p:cNvPr id="31" name="object 3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318875" y="3356102"/>
            <a:ext cx="236093" cy="211709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9621901" y="3140652"/>
            <a:ext cx="2219960" cy="753110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45"/>
              </a:spcBef>
            </a:pPr>
            <a:r>
              <a:rPr sz="1800" dirty="0">
                <a:latin typeface="Cambria Math"/>
                <a:cs typeface="Cambria Math"/>
              </a:rPr>
              <a:t>𝛚</a:t>
            </a:r>
            <a:r>
              <a:rPr sz="1950" baseline="-14957" dirty="0">
                <a:latin typeface="Cambria Math"/>
                <a:cs typeface="Cambria Math"/>
              </a:rPr>
              <a:t>𝐜</a:t>
            </a:r>
            <a:r>
              <a:rPr sz="1800" dirty="0">
                <a:latin typeface="Cambria Math"/>
                <a:cs typeface="Cambria Math"/>
              </a:rPr>
              <a:t>𝐭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2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𝟐𝛑𝐤</a:t>
            </a:r>
            <a:r>
              <a:rPr sz="1950" baseline="-14957" dirty="0">
                <a:latin typeface="Cambria Math"/>
                <a:cs typeface="Cambria Math"/>
              </a:rPr>
              <a:t>𝐅</a:t>
            </a:r>
            <a:r>
              <a:rPr sz="1950" spc="135" baseline="-14957" dirty="0">
                <a:latin typeface="Cambria Math"/>
                <a:cs typeface="Cambria Math"/>
              </a:rPr>
              <a:t> </a:t>
            </a:r>
            <a:r>
              <a:rPr sz="1800" spc="-360" dirty="0">
                <a:latin typeface="Cambria Math"/>
                <a:cs typeface="Cambria Math"/>
              </a:rPr>
              <a:t>න</a:t>
            </a:r>
            <a:r>
              <a:rPr sz="1800" spc="-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𝐦</a:t>
            </a:r>
            <a:r>
              <a:rPr sz="1800" spc="37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𝐭</a:t>
            </a:r>
            <a:r>
              <a:rPr sz="1800" spc="375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𝐝𝐭</a:t>
            </a:r>
            <a:endParaRPr sz="1800">
              <a:latin typeface="Cambria Math"/>
              <a:cs typeface="Cambria Math"/>
            </a:endParaRPr>
          </a:p>
          <a:p>
            <a:pPr marL="377190" algn="ctr">
              <a:lnSpc>
                <a:spcPct val="100000"/>
              </a:lnSpc>
              <a:spcBef>
                <a:spcPts val="860"/>
              </a:spcBef>
            </a:pPr>
            <a:r>
              <a:rPr sz="1300" spc="-50" dirty="0">
                <a:latin typeface="Cambria Math"/>
                <a:cs typeface="Cambria Math"/>
              </a:rPr>
              <a:t>𝟎</a:t>
            </a:r>
            <a:endParaRPr sz="1300">
              <a:latin typeface="Cambria Math"/>
              <a:cs typeface="Cambria Math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72567" y="1629282"/>
            <a:ext cx="6974840" cy="4578985"/>
            <a:chOff x="372567" y="1629282"/>
            <a:chExt cx="6974840" cy="4578985"/>
          </a:xfrm>
        </p:grpSpPr>
        <p:sp>
          <p:nvSpPr>
            <p:cNvPr id="34" name="object 34"/>
            <p:cNvSpPr/>
            <p:nvPr/>
          </p:nvSpPr>
          <p:spPr>
            <a:xfrm>
              <a:off x="2104898" y="1638807"/>
              <a:ext cx="0" cy="4271010"/>
            </a:xfrm>
            <a:custGeom>
              <a:avLst/>
              <a:gdLst/>
              <a:ahLst/>
              <a:cxnLst/>
              <a:rect l="l" t="t" r="r" b="b"/>
              <a:pathLst>
                <a:path h="4271010">
                  <a:moveTo>
                    <a:pt x="0" y="0"/>
                  </a:moveTo>
                  <a:lnTo>
                    <a:pt x="0" y="4270527"/>
                  </a:lnTo>
                </a:path>
              </a:pathLst>
            </a:custGeom>
            <a:ln w="19050">
              <a:solidFill>
                <a:srgbClr val="4471C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832478" y="1675637"/>
              <a:ext cx="0" cy="4271010"/>
            </a:xfrm>
            <a:custGeom>
              <a:avLst/>
              <a:gdLst/>
              <a:ahLst/>
              <a:cxnLst/>
              <a:rect l="l" t="t" r="r" b="b"/>
              <a:pathLst>
                <a:path h="4271010">
                  <a:moveTo>
                    <a:pt x="0" y="0"/>
                  </a:moveTo>
                  <a:lnTo>
                    <a:pt x="0" y="4270489"/>
                  </a:lnTo>
                </a:path>
              </a:pathLst>
            </a:custGeom>
            <a:ln w="19050">
              <a:solidFill>
                <a:srgbClr val="4471C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662040" y="1667001"/>
              <a:ext cx="0" cy="4271010"/>
            </a:xfrm>
            <a:custGeom>
              <a:avLst/>
              <a:gdLst/>
              <a:ahLst/>
              <a:cxnLst/>
              <a:rect l="l" t="t" r="r" b="b"/>
              <a:pathLst>
                <a:path h="4271010">
                  <a:moveTo>
                    <a:pt x="0" y="0"/>
                  </a:moveTo>
                  <a:lnTo>
                    <a:pt x="0" y="4270590"/>
                  </a:lnTo>
                </a:path>
              </a:pathLst>
            </a:custGeom>
            <a:ln w="19050">
              <a:solidFill>
                <a:srgbClr val="4471C4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88670" y="2993407"/>
              <a:ext cx="400050" cy="970280"/>
            </a:xfrm>
            <a:custGeom>
              <a:avLst/>
              <a:gdLst/>
              <a:ahLst/>
              <a:cxnLst/>
              <a:rect l="l" t="t" r="r" b="b"/>
              <a:pathLst>
                <a:path w="400050" h="970279">
                  <a:moveTo>
                    <a:pt x="0" y="504172"/>
                  </a:moveTo>
                  <a:lnTo>
                    <a:pt x="7382" y="438806"/>
                  </a:lnTo>
                  <a:lnTo>
                    <a:pt x="14800" y="374422"/>
                  </a:lnTo>
                  <a:lnTo>
                    <a:pt x="22289" y="312001"/>
                  </a:lnTo>
                  <a:lnTo>
                    <a:pt x="29885" y="252521"/>
                  </a:lnTo>
                  <a:lnTo>
                    <a:pt x="37624" y="196960"/>
                  </a:lnTo>
                  <a:lnTo>
                    <a:pt x="45542" y="146297"/>
                  </a:lnTo>
                  <a:lnTo>
                    <a:pt x="53674" y="101512"/>
                  </a:lnTo>
                  <a:lnTo>
                    <a:pt x="62056" y="63583"/>
                  </a:lnTo>
                  <a:lnTo>
                    <a:pt x="79716" y="12207"/>
                  </a:lnTo>
                  <a:lnTo>
                    <a:pt x="98807" y="0"/>
                  </a:lnTo>
                  <a:lnTo>
                    <a:pt x="108978" y="11031"/>
                  </a:lnTo>
                  <a:lnTo>
                    <a:pt x="123920" y="56383"/>
                  </a:lnTo>
                  <a:lnTo>
                    <a:pt x="140081" y="138771"/>
                  </a:lnTo>
                  <a:lnTo>
                    <a:pt x="148527" y="190804"/>
                  </a:lnTo>
                  <a:lnTo>
                    <a:pt x="157167" y="248437"/>
                  </a:lnTo>
                  <a:lnTo>
                    <a:pt x="165965" y="310450"/>
                  </a:lnTo>
                  <a:lnTo>
                    <a:pt x="174883" y="375625"/>
                  </a:lnTo>
                  <a:lnTo>
                    <a:pt x="183885" y="442740"/>
                  </a:lnTo>
                  <a:lnTo>
                    <a:pt x="192933" y="510578"/>
                  </a:lnTo>
                  <a:lnTo>
                    <a:pt x="201992" y="577917"/>
                  </a:lnTo>
                  <a:lnTo>
                    <a:pt x="211024" y="643539"/>
                  </a:lnTo>
                  <a:lnTo>
                    <a:pt x="219992" y="706224"/>
                  </a:lnTo>
                  <a:lnTo>
                    <a:pt x="228859" y="764752"/>
                  </a:lnTo>
                  <a:lnTo>
                    <a:pt x="237589" y="817904"/>
                  </a:lnTo>
                  <a:lnTo>
                    <a:pt x="246144" y="864459"/>
                  </a:lnTo>
                  <a:lnTo>
                    <a:pt x="254488" y="903200"/>
                  </a:lnTo>
                  <a:lnTo>
                    <a:pt x="270395" y="952355"/>
                  </a:lnTo>
                  <a:lnTo>
                    <a:pt x="294013" y="969787"/>
                  </a:lnTo>
                  <a:lnTo>
                    <a:pt x="305393" y="960289"/>
                  </a:lnTo>
                  <a:lnTo>
                    <a:pt x="327435" y="910741"/>
                  </a:lnTo>
                  <a:lnTo>
                    <a:pt x="338151" y="873044"/>
                  </a:lnTo>
                  <a:lnTo>
                    <a:pt x="348702" y="828298"/>
                  </a:lnTo>
                  <a:lnTo>
                    <a:pt x="359115" y="777679"/>
                  </a:lnTo>
                  <a:lnTo>
                    <a:pt x="369417" y="722362"/>
                  </a:lnTo>
                  <a:lnTo>
                    <a:pt x="379635" y="663524"/>
                  </a:lnTo>
                  <a:lnTo>
                    <a:pt x="389799" y="602340"/>
                  </a:lnTo>
                  <a:lnTo>
                    <a:pt x="399935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188605" y="2993407"/>
              <a:ext cx="400050" cy="970280"/>
            </a:xfrm>
            <a:custGeom>
              <a:avLst/>
              <a:gdLst/>
              <a:ahLst/>
              <a:cxnLst/>
              <a:rect l="l" t="t" r="r" b="b"/>
              <a:pathLst>
                <a:path w="400050" h="970279">
                  <a:moveTo>
                    <a:pt x="0" y="504172"/>
                  </a:moveTo>
                  <a:lnTo>
                    <a:pt x="7382" y="438806"/>
                  </a:lnTo>
                  <a:lnTo>
                    <a:pt x="14800" y="374422"/>
                  </a:lnTo>
                  <a:lnTo>
                    <a:pt x="22289" y="312001"/>
                  </a:lnTo>
                  <a:lnTo>
                    <a:pt x="29884" y="252521"/>
                  </a:lnTo>
                  <a:lnTo>
                    <a:pt x="37623" y="196960"/>
                  </a:lnTo>
                  <a:lnTo>
                    <a:pt x="45539" y="146297"/>
                  </a:lnTo>
                  <a:lnTo>
                    <a:pt x="53670" y="101512"/>
                  </a:lnTo>
                  <a:lnTo>
                    <a:pt x="62050" y="63583"/>
                  </a:lnTo>
                  <a:lnTo>
                    <a:pt x="79704" y="12207"/>
                  </a:lnTo>
                  <a:lnTo>
                    <a:pt x="98787" y="0"/>
                  </a:lnTo>
                  <a:lnTo>
                    <a:pt x="108953" y="11031"/>
                  </a:lnTo>
                  <a:lnTo>
                    <a:pt x="123897" y="56383"/>
                  </a:lnTo>
                  <a:lnTo>
                    <a:pt x="140058" y="138771"/>
                  </a:lnTo>
                  <a:lnTo>
                    <a:pt x="148503" y="190804"/>
                  </a:lnTo>
                  <a:lnTo>
                    <a:pt x="157142" y="248437"/>
                  </a:lnTo>
                  <a:lnTo>
                    <a:pt x="165938" y="310450"/>
                  </a:lnTo>
                  <a:lnTo>
                    <a:pt x="174855" y="375625"/>
                  </a:lnTo>
                  <a:lnTo>
                    <a:pt x="183855" y="442740"/>
                  </a:lnTo>
                  <a:lnTo>
                    <a:pt x="192903" y="510578"/>
                  </a:lnTo>
                  <a:lnTo>
                    <a:pt x="201960" y="577917"/>
                  </a:lnTo>
                  <a:lnTo>
                    <a:pt x="210991" y="643539"/>
                  </a:lnTo>
                  <a:lnTo>
                    <a:pt x="219958" y="706224"/>
                  </a:lnTo>
                  <a:lnTo>
                    <a:pt x="228825" y="764752"/>
                  </a:lnTo>
                  <a:lnTo>
                    <a:pt x="237555" y="817904"/>
                  </a:lnTo>
                  <a:lnTo>
                    <a:pt x="246111" y="864459"/>
                  </a:lnTo>
                  <a:lnTo>
                    <a:pt x="254457" y="903200"/>
                  </a:lnTo>
                  <a:lnTo>
                    <a:pt x="270370" y="952355"/>
                  </a:lnTo>
                  <a:lnTo>
                    <a:pt x="293997" y="969787"/>
                  </a:lnTo>
                  <a:lnTo>
                    <a:pt x="305380" y="960289"/>
                  </a:lnTo>
                  <a:lnTo>
                    <a:pt x="327424" y="910741"/>
                  </a:lnTo>
                  <a:lnTo>
                    <a:pt x="338140" y="873044"/>
                  </a:lnTo>
                  <a:lnTo>
                    <a:pt x="348690" y="828298"/>
                  </a:lnTo>
                  <a:lnTo>
                    <a:pt x="359100" y="777679"/>
                  </a:lnTo>
                  <a:lnTo>
                    <a:pt x="369400" y="722362"/>
                  </a:lnTo>
                  <a:lnTo>
                    <a:pt x="379616" y="663524"/>
                  </a:lnTo>
                  <a:lnTo>
                    <a:pt x="389777" y="602340"/>
                  </a:lnTo>
                  <a:lnTo>
                    <a:pt x="399910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595755" y="2993407"/>
              <a:ext cx="400050" cy="970280"/>
            </a:xfrm>
            <a:custGeom>
              <a:avLst/>
              <a:gdLst/>
              <a:ahLst/>
              <a:cxnLst/>
              <a:rect l="l" t="t" r="r" b="b"/>
              <a:pathLst>
                <a:path w="400050" h="970279">
                  <a:moveTo>
                    <a:pt x="0" y="504172"/>
                  </a:moveTo>
                  <a:lnTo>
                    <a:pt x="7389" y="438806"/>
                  </a:lnTo>
                  <a:lnTo>
                    <a:pt x="14810" y="374422"/>
                  </a:lnTo>
                  <a:lnTo>
                    <a:pt x="22300" y="312001"/>
                  </a:lnTo>
                  <a:lnTo>
                    <a:pt x="29894" y="252521"/>
                  </a:lnTo>
                  <a:lnTo>
                    <a:pt x="37630" y="196960"/>
                  </a:lnTo>
                  <a:lnTo>
                    <a:pt x="45543" y="146297"/>
                  </a:lnTo>
                  <a:lnTo>
                    <a:pt x="53670" y="101512"/>
                  </a:lnTo>
                  <a:lnTo>
                    <a:pt x="62047" y="63583"/>
                  </a:lnTo>
                  <a:lnTo>
                    <a:pt x="79699" y="12207"/>
                  </a:lnTo>
                  <a:lnTo>
                    <a:pt x="98790" y="0"/>
                  </a:lnTo>
                  <a:lnTo>
                    <a:pt x="108966" y="11031"/>
                  </a:lnTo>
                  <a:lnTo>
                    <a:pt x="123910" y="56383"/>
                  </a:lnTo>
                  <a:lnTo>
                    <a:pt x="140071" y="138771"/>
                  </a:lnTo>
                  <a:lnTo>
                    <a:pt x="148516" y="190804"/>
                  </a:lnTo>
                  <a:lnTo>
                    <a:pt x="157155" y="248437"/>
                  </a:lnTo>
                  <a:lnTo>
                    <a:pt x="165951" y="310450"/>
                  </a:lnTo>
                  <a:lnTo>
                    <a:pt x="174868" y="375625"/>
                  </a:lnTo>
                  <a:lnTo>
                    <a:pt x="183868" y="442740"/>
                  </a:lnTo>
                  <a:lnTo>
                    <a:pt x="192915" y="510578"/>
                  </a:lnTo>
                  <a:lnTo>
                    <a:pt x="201973" y="577917"/>
                  </a:lnTo>
                  <a:lnTo>
                    <a:pt x="211003" y="643539"/>
                  </a:lnTo>
                  <a:lnTo>
                    <a:pt x="219971" y="706224"/>
                  </a:lnTo>
                  <a:lnTo>
                    <a:pt x="228838" y="764752"/>
                  </a:lnTo>
                  <a:lnTo>
                    <a:pt x="237568" y="817904"/>
                  </a:lnTo>
                  <a:lnTo>
                    <a:pt x="246124" y="864459"/>
                  </a:lnTo>
                  <a:lnTo>
                    <a:pt x="254470" y="903200"/>
                  </a:lnTo>
                  <a:lnTo>
                    <a:pt x="270383" y="952355"/>
                  </a:lnTo>
                  <a:lnTo>
                    <a:pt x="294010" y="969787"/>
                  </a:lnTo>
                  <a:lnTo>
                    <a:pt x="305393" y="960289"/>
                  </a:lnTo>
                  <a:lnTo>
                    <a:pt x="327437" y="910741"/>
                  </a:lnTo>
                  <a:lnTo>
                    <a:pt x="338153" y="873044"/>
                  </a:lnTo>
                  <a:lnTo>
                    <a:pt x="348702" y="828298"/>
                  </a:lnTo>
                  <a:lnTo>
                    <a:pt x="359113" y="777679"/>
                  </a:lnTo>
                  <a:lnTo>
                    <a:pt x="369413" y="722362"/>
                  </a:lnTo>
                  <a:lnTo>
                    <a:pt x="379629" y="663524"/>
                  </a:lnTo>
                  <a:lnTo>
                    <a:pt x="389790" y="602340"/>
                  </a:lnTo>
                  <a:lnTo>
                    <a:pt x="399923" y="539986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998217" y="2989191"/>
              <a:ext cx="309245" cy="970280"/>
            </a:xfrm>
            <a:custGeom>
              <a:avLst/>
              <a:gdLst/>
              <a:ahLst/>
              <a:cxnLst/>
              <a:rect l="l" t="t" r="r" b="b"/>
              <a:pathLst>
                <a:path w="309244" h="970279">
                  <a:moveTo>
                    <a:pt x="0" y="504070"/>
                  </a:moveTo>
                  <a:lnTo>
                    <a:pt x="5692" y="438729"/>
                  </a:lnTo>
                  <a:lnTo>
                    <a:pt x="11416" y="374363"/>
                  </a:lnTo>
                  <a:lnTo>
                    <a:pt x="17199" y="311953"/>
                  </a:lnTo>
                  <a:lnTo>
                    <a:pt x="23067" y="252479"/>
                  </a:lnTo>
                  <a:lnTo>
                    <a:pt x="29048" y="196920"/>
                  </a:lnTo>
                  <a:lnTo>
                    <a:pt x="35169" y="146259"/>
                  </a:lnTo>
                  <a:lnTo>
                    <a:pt x="41456" y="101473"/>
                  </a:lnTo>
                  <a:lnTo>
                    <a:pt x="47938" y="63545"/>
                  </a:lnTo>
                  <a:lnTo>
                    <a:pt x="61591" y="12178"/>
                  </a:lnTo>
                  <a:lnTo>
                    <a:pt x="76344" y="0"/>
                  </a:lnTo>
                  <a:lnTo>
                    <a:pt x="84201" y="11056"/>
                  </a:lnTo>
                  <a:lnTo>
                    <a:pt x="95774" y="56404"/>
                  </a:lnTo>
                  <a:lnTo>
                    <a:pt x="108285" y="138781"/>
                  </a:lnTo>
                  <a:lnTo>
                    <a:pt x="114821" y="190807"/>
                  </a:lnTo>
                  <a:lnTo>
                    <a:pt x="121507" y="248432"/>
                  </a:lnTo>
                  <a:lnTo>
                    <a:pt x="128313" y="310436"/>
                  </a:lnTo>
                  <a:lnTo>
                    <a:pt x="135211" y="375601"/>
                  </a:lnTo>
                  <a:lnTo>
                    <a:pt x="142173" y="442707"/>
                  </a:lnTo>
                  <a:lnTo>
                    <a:pt x="149170" y="510534"/>
                  </a:lnTo>
                  <a:lnTo>
                    <a:pt x="156174" y="577864"/>
                  </a:lnTo>
                  <a:lnTo>
                    <a:pt x="163156" y="643476"/>
                  </a:lnTo>
                  <a:lnTo>
                    <a:pt x="170089" y="706152"/>
                  </a:lnTo>
                  <a:lnTo>
                    <a:pt x="176943" y="764672"/>
                  </a:lnTo>
                  <a:lnTo>
                    <a:pt x="183690" y="817816"/>
                  </a:lnTo>
                  <a:lnTo>
                    <a:pt x="190302" y="864366"/>
                  </a:lnTo>
                  <a:lnTo>
                    <a:pt x="196750" y="903102"/>
                  </a:lnTo>
                  <a:lnTo>
                    <a:pt x="209042" y="952253"/>
                  </a:lnTo>
                  <a:lnTo>
                    <a:pt x="227338" y="969738"/>
                  </a:lnTo>
                  <a:lnTo>
                    <a:pt x="236146" y="960258"/>
                  </a:lnTo>
                  <a:lnTo>
                    <a:pt x="253193" y="910732"/>
                  </a:lnTo>
                  <a:lnTo>
                    <a:pt x="261477" y="873037"/>
                  </a:lnTo>
                  <a:lnTo>
                    <a:pt x="269631" y="828288"/>
                  </a:lnTo>
                  <a:lnTo>
                    <a:pt x="277678" y="777661"/>
                  </a:lnTo>
                  <a:lnTo>
                    <a:pt x="285640" y="722332"/>
                  </a:lnTo>
                  <a:lnTo>
                    <a:pt x="293541" y="663475"/>
                  </a:lnTo>
                  <a:lnTo>
                    <a:pt x="301401" y="602268"/>
                  </a:lnTo>
                  <a:lnTo>
                    <a:pt x="309245" y="539884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310257" y="2996455"/>
              <a:ext cx="263525" cy="970280"/>
            </a:xfrm>
            <a:custGeom>
              <a:avLst/>
              <a:gdLst/>
              <a:ahLst/>
              <a:cxnLst/>
              <a:rect l="l" t="t" r="r" b="b"/>
              <a:pathLst>
                <a:path w="263525" h="970279">
                  <a:moveTo>
                    <a:pt x="0" y="504172"/>
                  </a:moveTo>
                  <a:lnTo>
                    <a:pt x="4866" y="438806"/>
                  </a:lnTo>
                  <a:lnTo>
                    <a:pt x="9753" y="374422"/>
                  </a:lnTo>
                  <a:lnTo>
                    <a:pt x="14684" y="312001"/>
                  </a:lnTo>
                  <a:lnTo>
                    <a:pt x="19683" y="252521"/>
                  </a:lnTo>
                  <a:lnTo>
                    <a:pt x="24774" y="196960"/>
                  </a:lnTo>
                  <a:lnTo>
                    <a:pt x="29983" y="146297"/>
                  </a:lnTo>
                  <a:lnTo>
                    <a:pt x="35332" y="101512"/>
                  </a:lnTo>
                  <a:lnTo>
                    <a:pt x="40848" y="63583"/>
                  </a:lnTo>
                  <a:lnTo>
                    <a:pt x="52471" y="12207"/>
                  </a:lnTo>
                  <a:lnTo>
                    <a:pt x="65048" y="0"/>
                  </a:lnTo>
                  <a:lnTo>
                    <a:pt x="71755" y="11031"/>
                  </a:lnTo>
                  <a:lnTo>
                    <a:pt x="81601" y="56415"/>
                  </a:lnTo>
                  <a:lnTo>
                    <a:pt x="92244" y="138821"/>
                  </a:lnTo>
                  <a:lnTo>
                    <a:pt x="97803" y="190858"/>
                  </a:lnTo>
                  <a:lnTo>
                    <a:pt x="103490" y="248493"/>
                  </a:lnTo>
                  <a:lnTo>
                    <a:pt x="109280" y="310506"/>
                  </a:lnTo>
                  <a:lnTo>
                    <a:pt x="115148" y="375678"/>
                  </a:lnTo>
                  <a:lnTo>
                    <a:pt x="121072" y="442790"/>
                  </a:lnTo>
                  <a:lnTo>
                    <a:pt x="127026" y="510623"/>
                  </a:lnTo>
                  <a:lnTo>
                    <a:pt x="132988" y="577956"/>
                  </a:lnTo>
                  <a:lnTo>
                    <a:pt x="138933" y="643572"/>
                  </a:lnTo>
                  <a:lnTo>
                    <a:pt x="144836" y="706250"/>
                  </a:lnTo>
                  <a:lnTo>
                    <a:pt x="150675" y="764771"/>
                  </a:lnTo>
                  <a:lnTo>
                    <a:pt x="156425" y="817917"/>
                  </a:lnTo>
                  <a:lnTo>
                    <a:pt x="162061" y="864467"/>
                  </a:lnTo>
                  <a:lnTo>
                    <a:pt x="167561" y="903203"/>
                  </a:lnTo>
                  <a:lnTo>
                    <a:pt x="178054" y="952355"/>
                  </a:lnTo>
                  <a:lnTo>
                    <a:pt x="193582" y="969796"/>
                  </a:lnTo>
                  <a:lnTo>
                    <a:pt x="201066" y="960307"/>
                  </a:lnTo>
                  <a:lnTo>
                    <a:pt x="215564" y="910780"/>
                  </a:lnTo>
                  <a:lnTo>
                    <a:pt x="222615" y="873091"/>
                  </a:lnTo>
                  <a:lnTo>
                    <a:pt x="229556" y="828352"/>
                  </a:lnTo>
                  <a:lnTo>
                    <a:pt x="236408" y="777735"/>
                  </a:lnTo>
                  <a:lnTo>
                    <a:pt x="243187" y="722416"/>
                  </a:lnTo>
                  <a:lnTo>
                    <a:pt x="249911" y="663568"/>
                  </a:lnTo>
                  <a:lnTo>
                    <a:pt x="256600" y="602367"/>
                  </a:lnTo>
                  <a:lnTo>
                    <a:pt x="263271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577084" y="2999757"/>
              <a:ext cx="233045" cy="970280"/>
            </a:xfrm>
            <a:custGeom>
              <a:avLst/>
              <a:gdLst/>
              <a:ahLst/>
              <a:cxnLst/>
              <a:rect l="l" t="t" r="r" b="b"/>
              <a:pathLst>
                <a:path w="233044" h="970279">
                  <a:moveTo>
                    <a:pt x="0" y="504172"/>
                  </a:moveTo>
                  <a:lnTo>
                    <a:pt x="4309" y="438806"/>
                  </a:lnTo>
                  <a:lnTo>
                    <a:pt x="8636" y="374422"/>
                  </a:lnTo>
                  <a:lnTo>
                    <a:pt x="13001" y="312001"/>
                  </a:lnTo>
                  <a:lnTo>
                    <a:pt x="17426" y="252521"/>
                  </a:lnTo>
                  <a:lnTo>
                    <a:pt x="21932" y="196960"/>
                  </a:lnTo>
                  <a:lnTo>
                    <a:pt x="26542" y="146297"/>
                  </a:lnTo>
                  <a:lnTo>
                    <a:pt x="31276" y="101512"/>
                  </a:lnTo>
                  <a:lnTo>
                    <a:pt x="36156" y="63583"/>
                  </a:lnTo>
                  <a:lnTo>
                    <a:pt x="46440" y="12207"/>
                  </a:lnTo>
                  <a:lnTo>
                    <a:pt x="57567" y="0"/>
                  </a:lnTo>
                  <a:lnTo>
                    <a:pt x="63500" y="11031"/>
                  </a:lnTo>
                  <a:lnTo>
                    <a:pt x="72212" y="56383"/>
                  </a:lnTo>
                  <a:lnTo>
                    <a:pt x="81631" y="138771"/>
                  </a:lnTo>
                  <a:lnTo>
                    <a:pt x="86551" y="190804"/>
                  </a:lnTo>
                  <a:lnTo>
                    <a:pt x="91584" y="248437"/>
                  </a:lnTo>
                  <a:lnTo>
                    <a:pt x="96708" y="310450"/>
                  </a:lnTo>
                  <a:lnTo>
                    <a:pt x="101902" y="375625"/>
                  </a:lnTo>
                  <a:lnTo>
                    <a:pt x="107143" y="442740"/>
                  </a:lnTo>
                  <a:lnTo>
                    <a:pt x="112411" y="510578"/>
                  </a:lnTo>
                  <a:lnTo>
                    <a:pt x="117684" y="577917"/>
                  </a:lnTo>
                  <a:lnTo>
                    <a:pt x="122941" y="643539"/>
                  </a:lnTo>
                  <a:lnTo>
                    <a:pt x="128160" y="706224"/>
                  </a:lnTo>
                  <a:lnTo>
                    <a:pt x="133320" y="764752"/>
                  </a:lnTo>
                  <a:lnTo>
                    <a:pt x="138399" y="817904"/>
                  </a:lnTo>
                  <a:lnTo>
                    <a:pt x="143376" y="864459"/>
                  </a:lnTo>
                  <a:lnTo>
                    <a:pt x="148229" y="903200"/>
                  </a:lnTo>
                  <a:lnTo>
                    <a:pt x="157480" y="952355"/>
                  </a:lnTo>
                  <a:lnTo>
                    <a:pt x="171217" y="969796"/>
                  </a:lnTo>
                  <a:lnTo>
                    <a:pt x="177839" y="960307"/>
                  </a:lnTo>
                  <a:lnTo>
                    <a:pt x="190671" y="910780"/>
                  </a:lnTo>
                  <a:lnTo>
                    <a:pt x="196913" y="873091"/>
                  </a:lnTo>
                  <a:lnTo>
                    <a:pt x="203059" y="828352"/>
                  </a:lnTo>
                  <a:lnTo>
                    <a:pt x="209126" y="777735"/>
                  </a:lnTo>
                  <a:lnTo>
                    <a:pt x="215130" y="722416"/>
                  </a:lnTo>
                  <a:lnTo>
                    <a:pt x="221085" y="663568"/>
                  </a:lnTo>
                  <a:lnTo>
                    <a:pt x="227009" y="602367"/>
                  </a:lnTo>
                  <a:lnTo>
                    <a:pt x="232918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817748" y="3005091"/>
              <a:ext cx="202565" cy="970280"/>
            </a:xfrm>
            <a:custGeom>
              <a:avLst/>
              <a:gdLst/>
              <a:ahLst/>
              <a:cxnLst/>
              <a:rect l="l" t="t" r="r" b="b"/>
              <a:pathLst>
                <a:path w="202564" h="970279">
                  <a:moveTo>
                    <a:pt x="0" y="504045"/>
                  </a:moveTo>
                  <a:lnTo>
                    <a:pt x="3727" y="438706"/>
                  </a:lnTo>
                  <a:lnTo>
                    <a:pt x="7476" y="374345"/>
                  </a:lnTo>
                  <a:lnTo>
                    <a:pt x="11264" y="311943"/>
                  </a:lnTo>
                  <a:lnTo>
                    <a:pt x="15109" y="252479"/>
                  </a:lnTo>
                  <a:lnTo>
                    <a:pt x="19028" y="196930"/>
                  </a:lnTo>
                  <a:lnTo>
                    <a:pt x="23037" y="146277"/>
                  </a:lnTo>
                  <a:lnTo>
                    <a:pt x="27156" y="101499"/>
                  </a:lnTo>
                  <a:lnTo>
                    <a:pt x="31400" y="63575"/>
                  </a:lnTo>
                  <a:lnTo>
                    <a:pt x="40336" y="12205"/>
                  </a:lnTo>
                  <a:lnTo>
                    <a:pt x="49984" y="0"/>
                  </a:lnTo>
                  <a:lnTo>
                    <a:pt x="55118" y="11031"/>
                  </a:lnTo>
                  <a:lnTo>
                    <a:pt x="62692" y="56383"/>
                  </a:lnTo>
                  <a:lnTo>
                    <a:pt x="70877" y="138771"/>
                  </a:lnTo>
                  <a:lnTo>
                    <a:pt x="75153" y="190804"/>
                  </a:lnTo>
                  <a:lnTo>
                    <a:pt x="79526" y="248437"/>
                  </a:lnTo>
                  <a:lnTo>
                    <a:pt x="83978" y="310450"/>
                  </a:lnTo>
                  <a:lnTo>
                    <a:pt x="88489" y="375625"/>
                  </a:lnTo>
                  <a:lnTo>
                    <a:pt x="93042" y="442740"/>
                  </a:lnTo>
                  <a:lnTo>
                    <a:pt x="97619" y="510578"/>
                  </a:lnTo>
                  <a:lnTo>
                    <a:pt x="102199" y="577917"/>
                  </a:lnTo>
                  <a:lnTo>
                    <a:pt x="106766" y="643539"/>
                  </a:lnTo>
                  <a:lnTo>
                    <a:pt x="111300" y="706224"/>
                  </a:lnTo>
                  <a:lnTo>
                    <a:pt x="115783" y="764752"/>
                  </a:lnTo>
                  <a:lnTo>
                    <a:pt x="120196" y="817904"/>
                  </a:lnTo>
                  <a:lnTo>
                    <a:pt x="124520" y="864459"/>
                  </a:lnTo>
                  <a:lnTo>
                    <a:pt x="128738" y="903200"/>
                  </a:lnTo>
                  <a:lnTo>
                    <a:pt x="136779" y="952355"/>
                  </a:lnTo>
                  <a:lnTo>
                    <a:pt x="148768" y="969787"/>
                  </a:lnTo>
                  <a:lnTo>
                    <a:pt x="154539" y="960289"/>
                  </a:lnTo>
                  <a:lnTo>
                    <a:pt x="165706" y="910742"/>
                  </a:lnTo>
                  <a:lnTo>
                    <a:pt x="176474" y="828298"/>
                  </a:lnTo>
                  <a:lnTo>
                    <a:pt x="181746" y="777679"/>
                  </a:lnTo>
                  <a:lnTo>
                    <a:pt x="186963" y="722362"/>
                  </a:lnTo>
                  <a:lnTo>
                    <a:pt x="192141" y="663524"/>
                  </a:lnTo>
                  <a:lnTo>
                    <a:pt x="197294" y="602341"/>
                  </a:lnTo>
                  <a:lnTo>
                    <a:pt x="202438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032125" y="3004202"/>
              <a:ext cx="233045" cy="970280"/>
            </a:xfrm>
            <a:custGeom>
              <a:avLst/>
              <a:gdLst/>
              <a:ahLst/>
              <a:cxnLst/>
              <a:rect l="l" t="t" r="r" b="b"/>
              <a:pathLst>
                <a:path w="233045" h="970279">
                  <a:moveTo>
                    <a:pt x="0" y="504045"/>
                  </a:moveTo>
                  <a:lnTo>
                    <a:pt x="4309" y="438706"/>
                  </a:lnTo>
                  <a:lnTo>
                    <a:pt x="8636" y="374345"/>
                  </a:lnTo>
                  <a:lnTo>
                    <a:pt x="13001" y="311943"/>
                  </a:lnTo>
                  <a:lnTo>
                    <a:pt x="17426" y="252479"/>
                  </a:lnTo>
                  <a:lnTo>
                    <a:pt x="21932" y="196930"/>
                  </a:lnTo>
                  <a:lnTo>
                    <a:pt x="26542" y="146277"/>
                  </a:lnTo>
                  <a:lnTo>
                    <a:pt x="31276" y="101499"/>
                  </a:lnTo>
                  <a:lnTo>
                    <a:pt x="36156" y="63575"/>
                  </a:lnTo>
                  <a:lnTo>
                    <a:pt x="46440" y="12205"/>
                  </a:lnTo>
                  <a:lnTo>
                    <a:pt x="57567" y="0"/>
                  </a:lnTo>
                  <a:lnTo>
                    <a:pt x="63500" y="11031"/>
                  </a:lnTo>
                  <a:lnTo>
                    <a:pt x="72176" y="56379"/>
                  </a:lnTo>
                  <a:lnTo>
                    <a:pt x="81567" y="138757"/>
                  </a:lnTo>
                  <a:lnTo>
                    <a:pt x="86477" y="190784"/>
                  </a:lnTo>
                  <a:lnTo>
                    <a:pt x="91502" y="248411"/>
                  </a:lnTo>
                  <a:lnTo>
                    <a:pt x="96620" y="310418"/>
                  </a:lnTo>
                  <a:lnTo>
                    <a:pt x="101809" y="375586"/>
                  </a:lnTo>
                  <a:lnTo>
                    <a:pt x="107048" y="442695"/>
                  </a:lnTo>
                  <a:lnTo>
                    <a:pt x="112316" y="510528"/>
                  </a:lnTo>
                  <a:lnTo>
                    <a:pt x="117591" y="577863"/>
                  </a:lnTo>
                  <a:lnTo>
                    <a:pt x="122852" y="643483"/>
                  </a:lnTo>
                  <a:lnTo>
                    <a:pt x="128077" y="706168"/>
                  </a:lnTo>
                  <a:lnTo>
                    <a:pt x="133246" y="764698"/>
                  </a:lnTo>
                  <a:lnTo>
                    <a:pt x="138335" y="817854"/>
                  </a:lnTo>
                  <a:lnTo>
                    <a:pt x="143325" y="864417"/>
                  </a:lnTo>
                  <a:lnTo>
                    <a:pt x="148193" y="903168"/>
                  </a:lnTo>
                  <a:lnTo>
                    <a:pt x="157480" y="952355"/>
                  </a:lnTo>
                  <a:lnTo>
                    <a:pt x="171216" y="969787"/>
                  </a:lnTo>
                  <a:lnTo>
                    <a:pt x="177837" y="960289"/>
                  </a:lnTo>
                  <a:lnTo>
                    <a:pt x="190662" y="910742"/>
                  </a:lnTo>
                  <a:lnTo>
                    <a:pt x="196897" y="873044"/>
                  </a:lnTo>
                  <a:lnTo>
                    <a:pt x="203034" y="828298"/>
                  </a:lnTo>
                  <a:lnTo>
                    <a:pt x="209089" y="777679"/>
                  </a:lnTo>
                  <a:lnTo>
                    <a:pt x="215076" y="722362"/>
                  </a:lnTo>
                  <a:lnTo>
                    <a:pt x="221012" y="663524"/>
                  </a:lnTo>
                  <a:lnTo>
                    <a:pt x="226912" y="602341"/>
                  </a:lnTo>
                  <a:lnTo>
                    <a:pt x="232790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274948" y="3000011"/>
              <a:ext cx="264795" cy="970280"/>
            </a:xfrm>
            <a:custGeom>
              <a:avLst/>
              <a:gdLst/>
              <a:ahLst/>
              <a:cxnLst/>
              <a:rect l="l" t="t" r="r" b="b"/>
              <a:pathLst>
                <a:path w="264795" h="970279">
                  <a:moveTo>
                    <a:pt x="0" y="504172"/>
                  </a:moveTo>
                  <a:lnTo>
                    <a:pt x="4871" y="438806"/>
                  </a:lnTo>
                  <a:lnTo>
                    <a:pt x="9770" y="374422"/>
                  </a:lnTo>
                  <a:lnTo>
                    <a:pt x="14720" y="312001"/>
                  </a:lnTo>
                  <a:lnTo>
                    <a:pt x="19744" y="252521"/>
                  </a:lnTo>
                  <a:lnTo>
                    <a:pt x="24865" y="196960"/>
                  </a:lnTo>
                  <a:lnTo>
                    <a:pt x="30108" y="146297"/>
                  </a:lnTo>
                  <a:lnTo>
                    <a:pt x="35494" y="101512"/>
                  </a:lnTo>
                  <a:lnTo>
                    <a:pt x="41047" y="63583"/>
                  </a:lnTo>
                  <a:lnTo>
                    <a:pt x="52749" y="12207"/>
                  </a:lnTo>
                  <a:lnTo>
                    <a:pt x="65398" y="0"/>
                  </a:lnTo>
                  <a:lnTo>
                    <a:pt x="72136" y="11031"/>
                  </a:lnTo>
                  <a:lnTo>
                    <a:pt x="82026" y="56415"/>
                  </a:lnTo>
                  <a:lnTo>
                    <a:pt x="92719" y="138821"/>
                  </a:lnTo>
                  <a:lnTo>
                    <a:pt x="98306" y="190858"/>
                  </a:lnTo>
                  <a:lnTo>
                    <a:pt x="104021" y="248493"/>
                  </a:lnTo>
                  <a:lnTo>
                    <a:pt x="109840" y="310506"/>
                  </a:lnTo>
                  <a:lnTo>
                    <a:pt x="115738" y="375678"/>
                  </a:lnTo>
                  <a:lnTo>
                    <a:pt x="121692" y="442790"/>
                  </a:lnTo>
                  <a:lnTo>
                    <a:pt x="127676" y="510623"/>
                  </a:lnTo>
                  <a:lnTo>
                    <a:pt x="133668" y="577956"/>
                  </a:lnTo>
                  <a:lnTo>
                    <a:pt x="139642" y="643572"/>
                  </a:lnTo>
                  <a:lnTo>
                    <a:pt x="145575" y="706250"/>
                  </a:lnTo>
                  <a:lnTo>
                    <a:pt x="151442" y="764771"/>
                  </a:lnTo>
                  <a:lnTo>
                    <a:pt x="157219" y="817917"/>
                  </a:lnTo>
                  <a:lnTo>
                    <a:pt x="162882" y="864467"/>
                  </a:lnTo>
                  <a:lnTo>
                    <a:pt x="168406" y="903203"/>
                  </a:lnTo>
                  <a:lnTo>
                    <a:pt x="178943" y="952355"/>
                  </a:lnTo>
                  <a:lnTo>
                    <a:pt x="194588" y="969796"/>
                  </a:lnTo>
                  <a:lnTo>
                    <a:pt x="202124" y="960307"/>
                  </a:lnTo>
                  <a:lnTo>
                    <a:pt x="216714" y="910780"/>
                  </a:lnTo>
                  <a:lnTo>
                    <a:pt x="223805" y="873091"/>
                  </a:lnTo>
                  <a:lnTo>
                    <a:pt x="230785" y="828352"/>
                  </a:lnTo>
                  <a:lnTo>
                    <a:pt x="237673" y="777735"/>
                  </a:lnTo>
                  <a:lnTo>
                    <a:pt x="244486" y="722416"/>
                  </a:lnTo>
                  <a:lnTo>
                    <a:pt x="251244" y="663568"/>
                  </a:lnTo>
                  <a:lnTo>
                    <a:pt x="257965" y="602367"/>
                  </a:lnTo>
                  <a:lnTo>
                    <a:pt x="264668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546601" y="3001281"/>
              <a:ext cx="299720" cy="970280"/>
            </a:xfrm>
            <a:custGeom>
              <a:avLst/>
              <a:gdLst/>
              <a:ahLst/>
              <a:cxnLst/>
              <a:rect l="l" t="t" r="r" b="b"/>
              <a:pathLst>
                <a:path w="299720" h="970279">
                  <a:moveTo>
                    <a:pt x="0" y="504045"/>
                  </a:moveTo>
                  <a:lnTo>
                    <a:pt x="5514" y="438706"/>
                  </a:lnTo>
                  <a:lnTo>
                    <a:pt x="11055" y="374345"/>
                  </a:lnTo>
                  <a:lnTo>
                    <a:pt x="16651" y="311943"/>
                  </a:lnTo>
                  <a:lnTo>
                    <a:pt x="22327" y="252479"/>
                  </a:lnTo>
                  <a:lnTo>
                    <a:pt x="28112" y="196930"/>
                  </a:lnTo>
                  <a:lnTo>
                    <a:pt x="34032" y="146277"/>
                  </a:lnTo>
                  <a:lnTo>
                    <a:pt x="40115" y="101499"/>
                  </a:lnTo>
                  <a:lnTo>
                    <a:pt x="46387" y="63575"/>
                  </a:lnTo>
                  <a:lnTo>
                    <a:pt x="59607" y="12205"/>
                  </a:lnTo>
                  <a:lnTo>
                    <a:pt x="73909" y="0"/>
                  </a:lnTo>
                  <a:lnTo>
                    <a:pt x="81534" y="11031"/>
                  </a:lnTo>
                  <a:lnTo>
                    <a:pt x="92730" y="56383"/>
                  </a:lnTo>
                  <a:lnTo>
                    <a:pt x="104838" y="138771"/>
                  </a:lnTo>
                  <a:lnTo>
                    <a:pt x="111165" y="190804"/>
                  </a:lnTo>
                  <a:lnTo>
                    <a:pt x="117637" y="248437"/>
                  </a:lnTo>
                  <a:lnTo>
                    <a:pt x="124226" y="310450"/>
                  </a:lnTo>
                  <a:lnTo>
                    <a:pt x="130906" y="375625"/>
                  </a:lnTo>
                  <a:lnTo>
                    <a:pt x="137647" y="442740"/>
                  </a:lnTo>
                  <a:lnTo>
                    <a:pt x="144424" y="510578"/>
                  </a:lnTo>
                  <a:lnTo>
                    <a:pt x="151208" y="577917"/>
                  </a:lnTo>
                  <a:lnTo>
                    <a:pt x="157972" y="643539"/>
                  </a:lnTo>
                  <a:lnTo>
                    <a:pt x="164688" y="706224"/>
                  </a:lnTo>
                  <a:lnTo>
                    <a:pt x="171328" y="764752"/>
                  </a:lnTo>
                  <a:lnTo>
                    <a:pt x="177866" y="817904"/>
                  </a:lnTo>
                  <a:lnTo>
                    <a:pt x="184273" y="864459"/>
                  </a:lnTo>
                  <a:lnTo>
                    <a:pt x="190523" y="903200"/>
                  </a:lnTo>
                  <a:lnTo>
                    <a:pt x="202438" y="952355"/>
                  </a:lnTo>
                  <a:lnTo>
                    <a:pt x="220129" y="969787"/>
                  </a:lnTo>
                  <a:lnTo>
                    <a:pt x="228653" y="960289"/>
                  </a:lnTo>
                  <a:lnTo>
                    <a:pt x="245163" y="910742"/>
                  </a:lnTo>
                  <a:lnTo>
                    <a:pt x="253190" y="873044"/>
                  </a:lnTo>
                  <a:lnTo>
                    <a:pt x="261092" y="828298"/>
                  </a:lnTo>
                  <a:lnTo>
                    <a:pt x="268891" y="777679"/>
                  </a:lnTo>
                  <a:lnTo>
                    <a:pt x="276607" y="722362"/>
                  </a:lnTo>
                  <a:lnTo>
                    <a:pt x="284261" y="663524"/>
                  </a:lnTo>
                  <a:lnTo>
                    <a:pt x="291874" y="602341"/>
                  </a:lnTo>
                  <a:lnTo>
                    <a:pt x="299466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853434" y="3007123"/>
              <a:ext cx="589915" cy="970280"/>
            </a:xfrm>
            <a:custGeom>
              <a:avLst/>
              <a:gdLst/>
              <a:ahLst/>
              <a:cxnLst/>
              <a:rect l="l" t="t" r="r" b="b"/>
              <a:pathLst>
                <a:path w="589914" h="970279">
                  <a:moveTo>
                    <a:pt x="0" y="504045"/>
                  </a:moveTo>
                  <a:lnTo>
                    <a:pt x="10854" y="438706"/>
                  </a:lnTo>
                  <a:lnTo>
                    <a:pt x="21767" y="374345"/>
                  </a:lnTo>
                  <a:lnTo>
                    <a:pt x="32789" y="311943"/>
                  </a:lnTo>
                  <a:lnTo>
                    <a:pt x="43973" y="252479"/>
                  </a:lnTo>
                  <a:lnTo>
                    <a:pt x="55373" y="196930"/>
                  </a:lnTo>
                  <a:lnTo>
                    <a:pt x="67042" y="146277"/>
                  </a:lnTo>
                  <a:lnTo>
                    <a:pt x="79031" y="101499"/>
                  </a:lnTo>
                  <a:lnTo>
                    <a:pt x="91393" y="63575"/>
                  </a:lnTo>
                  <a:lnTo>
                    <a:pt x="117450" y="12205"/>
                  </a:lnTo>
                  <a:lnTo>
                    <a:pt x="145633" y="0"/>
                  </a:lnTo>
                  <a:lnTo>
                    <a:pt x="160655" y="11031"/>
                  </a:lnTo>
                  <a:lnTo>
                    <a:pt x="181525" y="53155"/>
                  </a:lnTo>
                  <a:lnTo>
                    <a:pt x="204035" y="129143"/>
                  </a:lnTo>
                  <a:lnTo>
                    <a:pt x="215788" y="177223"/>
                  </a:lnTo>
                  <a:lnTo>
                    <a:pt x="227813" y="230631"/>
                  </a:lnTo>
                  <a:lnTo>
                    <a:pt x="240061" y="288324"/>
                  </a:lnTo>
                  <a:lnTo>
                    <a:pt x="252487" y="349254"/>
                  </a:lnTo>
                  <a:lnTo>
                    <a:pt x="265044" y="412376"/>
                  </a:lnTo>
                  <a:lnTo>
                    <a:pt x="277685" y="476645"/>
                  </a:lnTo>
                  <a:lnTo>
                    <a:pt x="290365" y="541015"/>
                  </a:lnTo>
                  <a:lnTo>
                    <a:pt x="303036" y="604440"/>
                  </a:lnTo>
                  <a:lnTo>
                    <a:pt x="315652" y="665875"/>
                  </a:lnTo>
                  <a:lnTo>
                    <a:pt x="328167" y="724274"/>
                  </a:lnTo>
                  <a:lnTo>
                    <a:pt x="340534" y="778592"/>
                  </a:lnTo>
                  <a:lnTo>
                    <a:pt x="352707" y="827782"/>
                  </a:lnTo>
                  <a:lnTo>
                    <a:pt x="364639" y="870799"/>
                  </a:lnTo>
                  <a:lnTo>
                    <a:pt x="387595" y="934131"/>
                  </a:lnTo>
                  <a:lnTo>
                    <a:pt x="416164" y="967535"/>
                  </a:lnTo>
                  <a:lnTo>
                    <a:pt x="433356" y="969787"/>
                  </a:lnTo>
                  <a:lnTo>
                    <a:pt x="450141" y="960289"/>
                  </a:lnTo>
                  <a:lnTo>
                    <a:pt x="482652" y="910742"/>
                  </a:lnTo>
                  <a:lnTo>
                    <a:pt x="498459" y="873044"/>
                  </a:lnTo>
                  <a:lnTo>
                    <a:pt x="514019" y="828298"/>
                  </a:lnTo>
                  <a:lnTo>
                    <a:pt x="529373" y="777679"/>
                  </a:lnTo>
                  <a:lnTo>
                    <a:pt x="544562" y="722362"/>
                  </a:lnTo>
                  <a:lnTo>
                    <a:pt x="559624" y="663524"/>
                  </a:lnTo>
                  <a:lnTo>
                    <a:pt x="574602" y="602341"/>
                  </a:lnTo>
                  <a:lnTo>
                    <a:pt x="589534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442967" y="3007123"/>
              <a:ext cx="589915" cy="970280"/>
            </a:xfrm>
            <a:custGeom>
              <a:avLst/>
              <a:gdLst/>
              <a:ahLst/>
              <a:cxnLst/>
              <a:rect l="l" t="t" r="r" b="b"/>
              <a:pathLst>
                <a:path w="589914" h="970279">
                  <a:moveTo>
                    <a:pt x="0" y="504045"/>
                  </a:moveTo>
                  <a:lnTo>
                    <a:pt x="10881" y="438706"/>
                  </a:lnTo>
                  <a:lnTo>
                    <a:pt x="21816" y="374345"/>
                  </a:lnTo>
                  <a:lnTo>
                    <a:pt x="32856" y="311943"/>
                  </a:lnTo>
                  <a:lnTo>
                    <a:pt x="44054" y="252479"/>
                  </a:lnTo>
                  <a:lnTo>
                    <a:pt x="55464" y="196930"/>
                  </a:lnTo>
                  <a:lnTo>
                    <a:pt x="67136" y="146277"/>
                  </a:lnTo>
                  <a:lnTo>
                    <a:pt x="79125" y="101499"/>
                  </a:lnTo>
                  <a:lnTo>
                    <a:pt x="91483" y="63575"/>
                  </a:lnTo>
                  <a:lnTo>
                    <a:pt x="117518" y="12205"/>
                  </a:lnTo>
                  <a:lnTo>
                    <a:pt x="145660" y="0"/>
                  </a:lnTo>
                  <a:lnTo>
                    <a:pt x="160655" y="11031"/>
                  </a:lnTo>
                  <a:lnTo>
                    <a:pt x="181528" y="53155"/>
                  </a:lnTo>
                  <a:lnTo>
                    <a:pt x="204048" y="129143"/>
                  </a:lnTo>
                  <a:lnTo>
                    <a:pt x="215808" y="177223"/>
                  </a:lnTo>
                  <a:lnTo>
                    <a:pt x="227840" y="230631"/>
                  </a:lnTo>
                  <a:lnTo>
                    <a:pt x="240097" y="288324"/>
                  </a:lnTo>
                  <a:lnTo>
                    <a:pt x="252531" y="349254"/>
                  </a:lnTo>
                  <a:lnTo>
                    <a:pt x="265098" y="412376"/>
                  </a:lnTo>
                  <a:lnTo>
                    <a:pt x="277748" y="476645"/>
                  </a:lnTo>
                  <a:lnTo>
                    <a:pt x="290438" y="541015"/>
                  </a:lnTo>
                  <a:lnTo>
                    <a:pt x="303118" y="604440"/>
                  </a:lnTo>
                  <a:lnTo>
                    <a:pt x="315743" y="665875"/>
                  </a:lnTo>
                  <a:lnTo>
                    <a:pt x="328267" y="724274"/>
                  </a:lnTo>
                  <a:lnTo>
                    <a:pt x="340641" y="778592"/>
                  </a:lnTo>
                  <a:lnTo>
                    <a:pt x="352821" y="827782"/>
                  </a:lnTo>
                  <a:lnTo>
                    <a:pt x="364758" y="870799"/>
                  </a:lnTo>
                  <a:lnTo>
                    <a:pt x="387721" y="934131"/>
                  </a:lnTo>
                  <a:lnTo>
                    <a:pt x="416289" y="967535"/>
                  </a:lnTo>
                  <a:lnTo>
                    <a:pt x="433474" y="969787"/>
                  </a:lnTo>
                  <a:lnTo>
                    <a:pt x="450250" y="960289"/>
                  </a:lnTo>
                  <a:lnTo>
                    <a:pt x="482741" y="910742"/>
                  </a:lnTo>
                  <a:lnTo>
                    <a:pt x="498538" y="873044"/>
                  </a:lnTo>
                  <a:lnTo>
                    <a:pt x="514092" y="828298"/>
                  </a:lnTo>
                  <a:lnTo>
                    <a:pt x="529444" y="777679"/>
                  </a:lnTo>
                  <a:lnTo>
                    <a:pt x="544635" y="722362"/>
                  </a:lnTo>
                  <a:lnTo>
                    <a:pt x="559707" y="663524"/>
                  </a:lnTo>
                  <a:lnTo>
                    <a:pt x="574702" y="602341"/>
                  </a:lnTo>
                  <a:lnTo>
                    <a:pt x="589661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043296" y="3007123"/>
              <a:ext cx="589915" cy="970280"/>
            </a:xfrm>
            <a:custGeom>
              <a:avLst/>
              <a:gdLst/>
              <a:ahLst/>
              <a:cxnLst/>
              <a:rect l="l" t="t" r="r" b="b"/>
              <a:pathLst>
                <a:path w="589914" h="970279">
                  <a:moveTo>
                    <a:pt x="0" y="504045"/>
                  </a:moveTo>
                  <a:lnTo>
                    <a:pt x="10854" y="438706"/>
                  </a:lnTo>
                  <a:lnTo>
                    <a:pt x="21767" y="374345"/>
                  </a:lnTo>
                  <a:lnTo>
                    <a:pt x="32789" y="311943"/>
                  </a:lnTo>
                  <a:lnTo>
                    <a:pt x="43973" y="252479"/>
                  </a:lnTo>
                  <a:lnTo>
                    <a:pt x="55373" y="196930"/>
                  </a:lnTo>
                  <a:lnTo>
                    <a:pt x="67042" y="146277"/>
                  </a:lnTo>
                  <a:lnTo>
                    <a:pt x="79031" y="101499"/>
                  </a:lnTo>
                  <a:lnTo>
                    <a:pt x="91393" y="63575"/>
                  </a:lnTo>
                  <a:lnTo>
                    <a:pt x="117450" y="12205"/>
                  </a:lnTo>
                  <a:lnTo>
                    <a:pt x="145633" y="0"/>
                  </a:lnTo>
                  <a:lnTo>
                    <a:pt x="160655" y="11031"/>
                  </a:lnTo>
                  <a:lnTo>
                    <a:pt x="181525" y="53155"/>
                  </a:lnTo>
                  <a:lnTo>
                    <a:pt x="204035" y="129143"/>
                  </a:lnTo>
                  <a:lnTo>
                    <a:pt x="215788" y="177223"/>
                  </a:lnTo>
                  <a:lnTo>
                    <a:pt x="227813" y="230631"/>
                  </a:lnTo>
                  <a:lnTo>
                    <a:pt x="240061" y="288324"/>
                  </a:lnTo>
                  <a:lnTo>
                    <a:pt x="252487" y="349254"/>
                  </a:lnTo>
                  <a:lnTo>
                    <a:pt x="265044" y="412376"/>
                  </a:lnTo>
                  <a:lnTo>
                    <a:pt x="277685" y="476645"/>
                  </a:lnTo>
                  <a:lnTo>
                    <a:pt x="290365" y="541015"/>
                  </a:lnTo>
                  <a:lnTo>
                    <a:pt x="303036" y="604440"/>
                  </a:lnTo>
                  <a:lnTo>
                    <a:pt x="315652" y="665875"/>
                  </a:lnTo>
                  <a:lnTo>
                    <a:pt x="328167" y="724274"/>
                  </a:lnTo>
                  <a:lnTo>
                    <a:pt x="340534" y="778592"/>
                  </a:lnTo>
                  <a:lnTo>
                    <a:pt x="352707" y="827782"/>
                  </a:lnTo>
                  <a:lnTo>
                    <a:pt x="364639" y="870799"/>
                  </a:lnTo>
                  <a:lnTo>
                    <a:pt x="387595" y="934131"/>
                  </a:lnTo>
                  <a:lnTo>
                    <a:pt x="416164" y="967535"/>
                  </a:lnTo>
                  <a:lnTo>
                    <a:pt x="433356" y="969787"/>
                  </a:lnTo>
                  <a:lnTo>
                    <a:pt x="450141" y="960289"/>
                  </a:lnTo>
                  <a:lnTo>
                    <a:pt x="482652" y="910742"/>
                  </a:lnTo>
                  <a:lnTo>
                    <a:pt x="498459" y="873044"/>
                  </a:lnTo>
                  <a:lnTo>
                    <a:pt x="514019" y="828298"/>
                  </a:lnTo>
                  <a:lnTo>
                    <a:pt x="529373" y="777679"/>
                  </a:lnTo>
                  <a:lnTo>
                    <a:pt x="544562" y="722362"/>
                  </a:lnTo>
                  <a:lnTo>
                    <a:pt x="559624" y="663524"/>
                  </a:lnTo>
                  <a:lnTo>
                    <a:pt x="574602" y="602341"/>
                  </a:lnTo>
                  <a:lnTo>
                    <a:pt x="589534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72567" y="4374133"/>
              <a:ext cx="6974840" cy="1834514"/>
            </a:xfrm>
            <a:custGeom>
              <a:avLst/>
              <a:gdLst/>
              <a:ahLst/>
              <a:cxnLst/>
              <a:rect l="l" t="t" r="r" b="b"/>
              <a:pathLst>
                <a:path w="6974840" h="1834514">
                  <a:moveTo>
                    <a:pt x="6974510" y="1027811"/>
                  </a:moveTo>
                  <a:lnTo>
                    <a:pt x="6936410" y="1008761"/>
                  </a:lnTo>
                  <a:lnTo>
                    <a:pt x="6860210" y="970661"/>
                  </a:lnTo>
                  <a:lnTo>
                    <a:pt x="6860210" y="1008761"/>
                  </a:lnTo>
                  <a:lnTo>
                    <a:pt x="421665" y="1008761"/>
                  </a:lnTo>
                  <a:lnTo>
                    <a:pt x="420814" y="114427"/>
                  </a:lnTo>
                  <a:lnTo>
                    <a:pt x="458990" y="114427"/>
                  </a:lnTo>
                  <a:lnTo>
                    <a:pt x="449376" y="95250"/>
                  </a:lnTo>
                  <a:lnTo>
                    <a:pt x="401662" y="0"/>
                  </a:lnTo>
                  <a:lnTo>
                    <a:pt x="344627" y="114427"/>
                  </a:lnTo>
                  <a:lnTo>
                    <a:pt x="382714" y="114427"/>
                  </a:lnTo>
                  <a:lnTo>
                    <a:pt x="383565" y="1008761"/>
                  </a:lnTo>
                  <a:lnTo>
                    <a:pt x="0" y="1008761"/>
                  </a:lnTo>
                  <a:lnTo>
                    <a:pt x="0" y="1046861"/>
                  </a:lnTo>
                  <a:lnTo>
                    <a:pt x="383603" y="1046861"/>
                  </a:lnTo>
                  <a:lnTo>
                    <a:pt x="384352" y="1834070"/>
                  </a:lnTo>
                  <a:lnTo>
                    <a:pt x="422452" y="1834070"/>
                  </a:lnTo>
                  <a:lnTo>
                    <a:pt x="421690" y="1046861"/>
                  </a:lnTo>
                  <a:lnTo>
                    <a:pt x="6860210" y="1046861"/>
                  </a:lnTo>
                  <a:lnTo>
                    <a:pt x="6860210" y="1084961"/>
                  </a:lnTo>
                  <a:lnTo>
                    <a:pt x="6936410" y="1046861"/>
                  </a:lnTo>
                  <a:lnTo>
                    <a:pt x="6974510" y="1027811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6118352" y="5418226"/>
            <a:ext cx="1139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Time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 (Sec)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919988" y="4349242"/>
            <a:ext cx="1026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Amplitude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704253" y="4383785"/>
            <a:ext cx="6979284" cy="1086485"/>
            <a:chOff x="704253" y="4383785"/>
            <a:chExt cx="6979284" cy="1086485"/>
          </a:xfrm>
        </p:grpSpPr>
        <p:pic>
          <p:nvPicPr>
            <p:cNvPr id="54" name="object 5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7428" y="5331586"/>
              <a:ext cx="133616" cy="135381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4253" y="5328411"/>
              <a:ext cx="139966" cy="141731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447026" y="4383785"/>
              <a:ext cx="236093" cy="211709"/>
            </a:xfrm>
            <a:prstGeom prst="rect">
              <a:avLst/>
            </a:prstGeom>
          </p:spPr>
        </p:pic>
      </p:grpSp>
      <p:sp>
        <p:nvSpPr>
          <p:cNvPr id="57" name="object 57"/>
          <p:cNvSpPr txBox="1"/>
          <p:nvPr/>
        </p:nvSpPr>
        <p:spPr>
          <a:xfrm>
            <a:off x="5697473" y="4313935"/>
            <a:ext cx="1924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7E5F00"/>
                </a:solidFill>
                <a:latin typeface="Calibri"/>
                <a:cs typeface="Calibri"/>
              </a:rPr>
              <a:t>Envelope</a:t>
            </a:r>
            <a:r>
              <a:rPr sz="1800" b="1" spc="-3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7E5F00"/>
                </a:solidFill>
                <a:latin typeface="Calibri"/>
                <a:cs typeface="Calibri"/>
              </a:rPr>
              <a:t>Signal</a:t>
            </a:r>
            <a:r>
              <a:rPr sz="1800" b="1" spc="-3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5F00"/>
                </a:solidFill>
                <a:latin typeface="Cambria Math"/>
                <a:cs typeface="Cambria Math"/>
              </a:rPr>
              <a:t>𝐲′</a:t>
            </a:r>
            <a:r>
              <a:rPr sz="1800" spc="315" dirty="0">
                <a:solidFill>
                  <a:srgbClr val="7E5F00"/>
                </a:solidFill>
                <a:latin typeface="Cambria Math"/>
                <a:cs typeface="Cambria Math"/>
              </a:rPr>
              <a:t> </a:t>
            </a:r>
            <a:r>
              <a:rPr sz="1800" spc="-50" dirty="0">
                <a:solidFill>
                  <a:srgbClr val="7E5F00"/>
                </a:solidFill>
                <a:latin typeface="Cambria Math"/>
                <a:cs typeface="Cambria Math"/>
              </a:rPr>
              <a:t>𝐭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9" name="object 59"/>
            <p:cNvSpPr/>
            <p:nvPr/>
          </p:nvSpPr>
          <p:spPr>
            <a:xfrm>
              <a:off x="2098675" y="4597029"/>
              <a:ext cx="3557270" cy="579120"/>
            </a:xfrm>
            <a:custGeom>
              <a:avLst/>
              <a:gdLst/>
              <a:ahLst/>
              <a:cxnLst/>
              <a:rect l="l" t="t" r="r" b="b"/>
              <a:pathLst>
                <a:path w="3557270" h="579120">
                  <a:moveTo>
                    <a:pt x="0" y="301106"/>
                  </a:moveTo>
                  <a:lnTo>
                    <a:pt x="40616" y="276945"/>
                  </a:lnTo>
                  <a:lnTo>
                    <a:pt x="81308" y="252922"/>
                  </a:lnTo>
                  <a:lnTo>
                    <a:pt x="122151" y="229176"/>
                  </a:lnTo>
                  <a:lnTo>
                    <a:pt x="163220" y="205846"/>
                  </a:lnTo>
                  <a:lnTo>
                    <a:pt x="204592" y="183071"/>
                  </a:lnTo>
                  <a:lnTo>
                    <a:pt x="246341" y="160988"/>
                  </a:lnTo>
                  <a:lnTo>
                    <a:pt x="288544" y="139736"/>
                  </a:lnTo>
                  <a:lnTo>
                    <a:pt x="331275" y="119454"/>
                  </a:lnTo>
                  <a:lnTo>
                    <a:pt x="374610" y="100281"/>
                  </a:lnTo>
                  <a:lnTo>
                    <a:pt x="418626" y="82355"/>
                  </a:lnTo>
                  <a:lnTo>
                    <a:pt x="463396" y="65815"/>
                  </a:lnTo>
                  <a:lnTo>
                    <a:pt x="508998" y="50798"/>
                  </a:lnTo>
                  <a:lnTo>
                    <a:pt x="555506" y="37445"/>
                  </a:lnTo>
                  <a:lnTo>
                    <a:pt x="602996" y="25892"/>
                  </a:lnTo>
                  <a:lnTo>
                    <a:pt x="651543" y="16280"/>
                  </a:lnTo>
                  <a:lnTo>
                    <a:pt x="701223" y="8746"/>
                  </a:lnTo>
                  <a:lnTo>
                    <a:pt x="752112" y="3429"/>
                  </a:lnTo>
                  <a:lnTo>
                    <a:pt x="804285" y="467"/>
                  </a:lnTo>
                  <a:lnTo>
                    <a:pt x="857817" y="0"/>
                  </a:lnTo>
                  <a:lnTo>
                    <a:pt x="912785" y="2165"/>
                  </a:lnTo>
                  <a:lnTo>
                    <a:pt x="969263" y="7101"/>
                  </a:lnTo>
                  <a:lnTo>
                    <a:pt x="1008672" y="12697"/>
                  </a:lnTo>
                  <a:lnTo>
                    <a:pt x="1049272" y="20745"/>
                  </a:lnTo>
                  <a:lnTo>
                    <a:pt x="1090987" y="31079"/>
                  </a:lnTo>
                  <a:lnTo>
                    <a:pt x="1133741" y="43529"/>
                  </a:lnTo>
                  <a:lnTo>
                    <a:pt x="1177459" y="57931"/>
                  </a:lnTo>
                  <a:lnTo>
                    <a:pt x="1222066" y="74114"/>
                  </a:lnTo>
                  <a:lnTo>
                    <a:pt x="1267486" y="91914"/>
                  </a:lnTo>
                  <a:lnTo>
                    <a:pt x="1313644" y="111161"/>
                  </a:lnTo>
                  <a:lnTo>
                    <a:pt x="1360463" y="131689"/>
                  </a:lnTo>
                  <a:lnTo>
                    <a:pt x="1407868" y="153330"/>
                  </a:lnTo>
                  <a:lnTo>
                    <a:pt x="1455784" y="175916"/>
                  </a:lnTo>
                  <a:lnTo>
                    <a:pt x="1504135" y="199281"/>
                  </a:lnTo>
                  <a:lnTo>
                    <a:pt x="1552846" y="223257"/>
                  </a:lnTo>
                  <a:lnTo>
                    <a:pt x="1601841" y="247676"/>
                  </a:lnTo>
                  <a:lnTo>
                    <a:pt x="1651045" y="272372"/>
                  </a:lnTo>
                  <a:lnTo>
                    <a:pt x="1700381" y="297176"/>
                  </a:lnTo>
                  <a:lnTo>
                    <a:pt x="1749775" y="321921"/>
                  </a:lnTo>
                  <a:lnTo>
                    <a:pt x="1799150" y="346440"/>
                  </a:lnTo>
                  <a:lnTo>
                    <a:pt x="1848432" y="370566"/>
                  </a:lnTo>
                  <a:lnTo>
                    <a:pt x="1897545" y="394131"/>
                  </a:lnTo>
                  <a:lnTo>
                    <a:pt x="1946412" y="416967"/>
                  </a:lnTo>
                  <a:lnTo>
                    <a:pt x="1994959" y="438908"/>
                  </a:lnTo>
                  <a:lnTo>
                    <a:pt x="2043111" y="459785"/>
                  </a:lnTo>
                  <a:lnTo>
                    <a:pt x="2090790" y="479432"/>
                  </a:lnTo>
                  <a:lnTo>
                    <a:pt x="2137923" y="497681"/>
                  </a:lnTo>
                  <a:lnTo>
                    <a:pt x="2184433" y="514364"/>
                  </a:lnTo>
                  <a:lnTo>
                    <a:pt x="2230245" y="529315"/>
                  </a:lnTo>
                  <a:lnTo>
                    <a:pt x="2275283" y="542365"/>
                  </a:lnTo>
                  <a:lnTo>
                    <a:pt x="2319471" y="553348"/>
                  </a:lnTo>
                  <a:lnTo>
                    <a:pt x="2362735" y="562096"/>
                  </a:lnTo>
                  <a:lnTo>
                    <a:pt x="2404999" y="568441"/>
                  </a:lnTo>
                  <a:lnTo>
                    <a:pt x="2458546" y="573977"/>
                  </a:lnTo>
                  <a:lnTo>
                    <a:pt x="2511386" y="577498"/>
                  </a:lnTo>
                  <a:lnTo>
                    <a:pt x="2563550" y="579092"/>
                  </a:lnTo>
                  <a:lnTo>
                    <a:pt x="2615068" y="578847"/>
                  </a:lnTo>
                  <a:lnTo>
                    <a:pt x="2665971" y="576851"/>
                  </a:lnTo>
                  <a:lnTo>
                    <a:pt x="2716289" y="573190"/>
                  </a:lnTo>
                  <a:lnTo>
                    <a:pt x="2766055" y="567952"/>
                  </a:lnTo>
                  <a:lnTo>
                    <a:pt x="2815298" y="561226"/>
                  </a:lnTo>
                  <a:lnTo>
                    <a:pt x="2864049" y="553098"/>
                  </a:lnTo>
                  <a:lnTo>
                    <a:pt x="2912340" y="543656"/>
                  </a:lnTo>
                  <a:lnTo>
                    <a:pt x="2960200" y="532988"/>
                  </a:lnTo>
                  <a:lnTo>
                    <a:pt x="3007661" y="521181"/>
                  </a:lnTo>
                  <a:lnTo>
                    <a:pt x="3054754" y="508323"/>
                  </a:lnTo>
                  <a:lnTo>
                    <a:pt x="3101509" y="494502"/>
                  </a:lnTo>
                  <a:lnTo>
                    <a:pt x="3147957" y="479805"/>
                  </a:lnTo>
                  <a:lnTo>
                    <a:pt x="3194129" y="464320"/>
                  </a:lnTo>
                  <a:lnTo>
                    <a:pt x="3240057" y="448134"/>
                  </a:lnTo>
                  <a:lnTo>
                    <a:pt x="3285769" y="431335"/>
                  </a:lnTo>
                  <a:lnTo>
                    <a:pt x="3331298" y="414010"/>
                  </a:lnTo>
                  <a:lnTo>
                    <a:pt x="3376675" y="396247"/>
                  </a:lnTo>
                  <a:lnTo>
                    <a:pt x="3421929" y="378134"/>
                  </a:lnTo>
                  <a:lnTo>
                    <a:pt x="3467093" y="359758"/>
                  </a:lnTo>
                  <a:lnTo>
                    <a:pt x="3512196" y="341208"/>
                  </a:lnTo>
                  <a:lnTo>
                    <a:pt x="3557270" y="322569"/>
                  </a:lnTo>
                </a:path>
              </a:pathLst>
            </a:custGeom>
            <a:ln w="28574">
              <a:solidFill>
                <a:srgbClr val="2D75B6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74230" y="4894834"/>
              <a:ext cx="1324610" cy="3810"/>
            </a:xfrm>
            <a:custGeom>
              <a:avLst/>
              <a:gdLst/>
              <a:ahLst/>
              <a:cxnLst/>
              <a:rect l="l" t="t" r="r" b="b"/>
              <a:pathLst>
                <a:path w="1324610" h="3810">
                  <a:moveTo>
                    <a:pt x="0" y="0"/>
                  </a:moveTo>
                  <a:lnTo>
                    <a:pt x="1324444" y="3302"/>
                  </a:lnTo>
                </a:path>
              </a:pathLst>
            </a:custGeom>
            <a:ln w="28575">
              <a:solidFill>
                <a:srgbClr val="2D75B6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098675" y="5583920"/>
              <a:ext cx="3557270" cy="591820"/>
            </a:xfrm>
            <a:custGeom>
              <a:avLst/>
              <a:gdLst/>
              <a:ahLst/>
              <a:cxnLst/>
              <a:rect l="l" t="t" r="r" b="b"/>
              <a:pathLst>
                <a:path w="3557270" h="591820">
                  <a:moveTo>
                    <a:pt x="0" y="283848"/>
                  </a:moveTo>
                  <a:lnTo>
                    <a:pt x="40616" y="308524"/>
                  </a:lnTo>
                  <a:lnTo>
                    <a:pt x="81308" y="333059"/>
                  </a:lnTo>
                  <a:lnTo>
                    <a:pt x="122151" y="357310"/>
                  </a:lnTo>
                  <a:lnTo>
                    <a:pt x="163220" y="381137"/>
                  </a:lnTo>
                  <a:lnTo>
                    <a:pt x="204592" y="404399"/>
                  </a:lnTo>
                  <a:lnTo>
                    <a:pt x="246341" y="426952"/>
                  </a:lnTo>
                  <a:lnTo>
                    <a:pt x="288544" y="448657"/>
                  </a:lnTo>
                  <a:lnTo>
                    <a:pt x="331275" y="469372"/>
                  </a:lnTo>
                  <a:lnTo>
                    <a:pt x="374610" y="488954"/>
                  </a:lnTo>
                  <a:lnTo>
                    <a:pt x="418626" y="507263"/>
                  </a:lnTo>
                  <a:lnTo>
                    <a:pt x="463396" y="524157"/>
                  </a:lnTo>
                  <a:lnTo>
                    <a:pt x="508998" y="539495"/>
                  </a:lnTo>
                  <a:lnTo>
                    <a:pt x="555506" y="553135"/>
                  </a:lnTo>
                  <a:lnTo>
                    <a:pt x="602996" y="564936"/>
                  </a:lnTo>
                  <a:lnTo>
                    <a:pt x="651543" y="574755"/>
                  </a:lnTo>
                  <a:lnTo>
                    <a:pt x="701223" y="582453"/>
                  </a:lnTo>
                  <a:lnTo>
                    <a:pt x="752112" y="587886"/>
                  </a:lnTo>
                  <a:lnTo>
                    <a:pt x="804285" y="590914"/>
                  </a:lnTo>
                  <a:lnTo>
                    <a:pt x="857817" y="591396"/>
                  </a:lnTo>
                  <a:lnTo>
                    <a:pt x="912785" y="589189"/>
                  </a:lnTo>
                  <a:lnTo>
                    <a:pt x="969263" y="584152"/>
                  </a:lnTo>
                  <a:lnTo>
                    <a:pt x="1007422" y="578656"/>
                  </a:lnTo>
                  <a:lnTo>
                    <a:pt x="1046701" y="570805"/>
                  </a:lnTo>
                  <a:lnTo>
                    <a:pt x="1087031" y="560753"/>
                  </a:lnTo>
                  <a:lnTo>
                    <a:pt x="1128342" y="548656"/>
                  </a:lnTo>
                  <a:lnTo>
                    <a:pt x="1170568" y="534669"/>
                  </a:lnTo>
                  <a:lnTo>
                    <a:pt x="1213638" y="518949"/>
                  </a:lnTo>
                  <a:lnTo>
                    <a:pt x="1257485" y="501650"/>
                  </a:lnTo>
                  <a:lnTo>
                    <a:pt x="1302039" y="482928"/>
                  </a:lnTo>
                  <a:lnTo>
                    <a:pt x="1347232" y="462938"/>
                  </a:lnTo>
                  <a:lnTo>
                    <a:pt x="1392995" y="441836"/>
                  </a:lnTo>
                  <a:lnTo>
                    <a:pt x="1439260" y="419777"/>
                  </a:lnTo>
                  <a:lnTo>
                    <a:pt x="1485958" y="396917"/>
                  </a:lnTo>
                  <a:lnTo>
                    <a:pt x="1533019" y="373411"/>
                  </a:lnTo>
                  <a:lnTo>
                    <a:pt x="1580376" y="349415"/>
                  </a:lnTo>
                  <a:lnTo>
                    <a:pt x="1627959" y="325084"/>
                  </a:lnTo>
                  <a:lnTo>
                    <a:pt x="1675701" y="300574"/>
                  </a:lnTo>
                  <a:lnTo>
                    <a:pt x="1723532" y="276039"/>
                  </a:lnTo>
                  <a:lnTo>
                    <a:pt x="1771383" y="251637"/>
                  </a:lnTo>
                  <a:lnTo>
                    <a:pt x="1819187" y="227521"/>
                  </a:lnTo>
                  <a:lnTo>
                    <a:pt x="1866873" y="203847"/>
                  </a:lnTo>
                  <a:lnTo>
                    <a:pt x="1914374" y="180772"/>
                  </a:lnTo>
                  <a:lnTo>
                    <a:pt x="1961621" y="158449"/>
                  </a:lnTo>
                  <a:lnTo>
                    <a:pt x="2008545" y="137036"/>
                  </a:lnTo>
                  <a:lnTo>
                    <a:pt x="2055078" y="116687"/>
                  </a:lnTo>
                  <a:lnTo>
                    <a:pt x="2101150" y="97557"/>
                  </a:lnTo>
                  <a:lnTo>
                    <a:pt x="2146693" y="79803"/>
                  </a:lnTo>
                  <a:lnTo>
                    <a:pt x="2191639" y="63579"/>
                  </a:lnTo>
                  <a:lnTo>
                    <a:pt x="2235918" y="49041"/>
                  </a:lnTo>
                  <a:lnTo>
                    <a:pt x="2279463" y="36345"/>
                  </a:lnTo>
                  <a:lnTo>
                    <a:pt x="2322203" y="25646"/>
                  </a:lnTo>
                  <a:lnTo>
                    <a:pt x="2364071" y="17100"/>
                  </a:lnTo>
                  <a:lnTo>
                    <a:pt x="2404999" y="10861"/>
                  </a:lnTo>
                  <a:lnTo>
                    <a:pt x="2458546" y="5214"/>
                  </a:lnTo>
                  <a:lnTo>
                    <a:pt x="2511386" y="1623"/>
                  </a:lnTo>
                  <a:lnTo>
                    <a:pt x="2563550" y="0"/>
                  </a:lnTo>
                  <a:lnTo>
                    <a:pt x="2615068" y="254"/>
                  </a:lnTo>
                  <a:lnTo>
                    <a:pt x="2665971" y="2296"/>
                  </a:lnTo>
                  <a:lnTo>
                    <a:pt x="2716289" y="6038"/>
                  </a:lnTo>
                  <a:lnTo>
                    <a:pt x="2766055" y="11390"/>
                  </a:lnTo>
                  <a:lnTo>
                    <a:pt x="2815298" y="18261"/>
                  </a:lnTo>
                  <a:lnTo>
                    <a:pt x="2864049" y="26564"/>
                  </a:lnTo>
                  <a:lnTo>
                    <a:pt x="2912340" y="36208"/>
                  </a:lnTo>
                  <a:lnTo>
                    <a:pt x="2960200" y="47104"/>
                  </a:lnTo>
                  <a:lnTo>
                    <a:pt x="3007661" y="59163"/>
                  </a:lnTo>
                  <a:lnTo>
                    <a:pt x="3054754" y="72295"/>
                  </a:lnTo>
                  <a:lnTo>
                    <a:pt x="3101509" y="86411"/>
                  </a:lnTo>
                  <a:lnTo>
                    <a:pt x="3147957" y="101421"/>
                  </a:lnTo>
                  <a:lnTo>
                    <a:pt x="3194129" y="117237"/>
                  </a:lnTo>
                  <a:lnTo>
                    <a:pt x="3240057" y="133768"/>
                  </a:lnTo>
                  <a:lnTo>
                    <a:pt x="3285769" y="150925"/>
                  </a:lnTo>
                  <a:lnTo>
                    <a:pt x="3331298" y="168620"/>
                  </a:lnTo>
                  <a:lnTo>
                    <a:pt x="3376675" y="186762"/>
                  </a:lnTo>
                  <a:lnTo>
                    <a:pt x="3421929" y="205262"/>
                  </a:lnTo>
                  <a:lnTo>
                    <a:pt x="3467093" y="224031"/>
                  </a:lnTo>
                  <a:lnTo>
                    <a:pt x="3512196" y="242979"/>
                  </a:lnTo>
                  <a:lnTo>
                    <a:pt x="3557270" y="262017"/>
                  </a:lnTo>
                </a:path>
              </a:pathLst>
            </a:custGeom>
            <a:ln w="28574">
              <a:solidFill>
                <a:srgbClr val="2D75B6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74230" y="5867780"/>
              <a:ext cx="1324610" cy="3810"/>
            </a:xfrm>
            <a:custGeom>
              <a:avLst/>
              <a:gdLst/>
              <a:ahLst/>
              <a:cxnLst/>
              <a:rect l="l" t="t" r="r" b="b"/>
              <a:pathLst>
                <a:path w="1324610" h="3810">
                  <a:moveTo>
                    <a:pt x="0" y="3352"/>
                  </a:moveTo>
                  <a:lnTo>
                    <a:pt x="1324444" y="0"/>
                  </a:lnTo>
                </a:path>
              </a:pathLst>
            </a:custGeom>
            <a:ln w="28574">
              <a:solidFill>
                <a:srgbClr val="2D75B6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802843" y="4883294"/>
              <a:ext cx="400050" cy="970280"/>
            </a:xfrm>
            <a:custGeom>
              <a:avLst/>
              <a:gdLst/>
              <a:ahLst/>
              <a:cxnLst/>
              <a:rect l="l" t="t" r="r" b="b"/>
              <a:pathLst>
                <a:path w="400050" h="970279">
                  <a:moveTo>
                    <a:pt x="0" y="504172"/>
                  </a:moveTo>
                  <a:lnTo>
                    <a:pt x="7379" y="438806"/>
                  </a:lnTo>
                  <a:lnTo>
                    <a:pt x="14796" y="374422"/>
                  </a:lnTo>
                  <a:lnTo>
                    <a:pt x="22284" y="312001"/>
                  </a:lnTo>
                  <a:lnTo>
                    <a:pt x="29879" y="252521"/>
                  </a:lnTo>
                  <a:lnTo>
                    <a:pt x="37618" y="196960"/>
                  </a:lnTo>
                  <a:lnTo>
                    <a:pt x="45537" y="146297"/>
                  </a:lnTo>
                  <a:lnTo>
                    <a:pt x="53669" y="101512"/>
                  </a:lnTo>
                  <a:lnTo>
                    <a:pt x="62053" y="63583"/>
                  </a:lnTo>
                  <a:lnTo>
                    <a:pt x="79714" y="12207"/>
                  </a:lnTo>
                  <a:lnTo>
                    <a:pt x="98806" y="0"/>
                  </a:lnTo>
                  <a:lnTo>
                    <a:pt x="108978" y="11031"/>
                  </a:lnTo>
                  <a:lnTo>
                    <a:pt x="123920" y="56383"/>
                  </a:lnTo>
                  <a:lnTo>
                    <a:pt x="140081" y="138769"/>
                  </a:lnTo>
                  <a:lnTo>
                    <a:pt x="148527" y="190802"/>
                  </a:lnTo>
                  <a:lnTo>
                    <a:pt x="157167" y="248434"/>
                  </a:lnTo>
                  <a:lnTo>
                    <a:pt x="165965" y="310447"/>
                  </a:lnTo>
                  <a:lnTo>
                    <a:pt x="174883" y="375621"/>
                  </a:lnTo>
                  <a:lnTo>
                    <a:pt x="183885" y="442736"/>
                  </a:lnTo>
                  <a:lnTo>
                    <a:pt x="192933" y="510573"/>
                  </a:lnTo>
                  <a:lnTo>
                    <a:pt x="201992" y="577912"/>
                  </a:lnTo>
                  <a:lnTo>
                    <a:pt x="211024" y="643533"/>
                  </a:lnTo>
                  <a:lnTo>
                    <a:pt x="219992" y="706218"/>
                  </a:lnTo>
                  <a:lnTo>
                    <a:pt x="228859" y="764746"/>
                  </a:lnTo>
                  <a:lnTo>
                    <a:pt x="237589" y="817899"/>
                  </a:lnTo>
                  <a:lnTo>
                    <a:pt x="246144" y="864455"/>
                  </a:lnTo>
                  <a:lnTo>
                    <a:pt x="254488" y="903196"/>
                  </a:lnTo>
                  <a:lnTo>
                    <a:pt x="270395" y="952355"/>
                  </a:lnTo>
                  <a:lnTo>
                    <a:pt x="294013" y="969796"/>
                  </a:lnTo>
                  <a:lnTo>
                    <a:pt x="305393" y="960303"/>
                  </a:lnTo>
                  <a:lnTo>
                    <a:pt x="327435" y="910766"/>
                  </a:lnTo>
                  <a:lnTo>
                    <a:pt x="338151" y="873072"/>
                  </a:lnTo>
                  <a:lnTo>
                    <a:pt x="348702" y="828328"/>
                  </a:lnTo>
                  <a:lnTo>
                    <a:pt x="359115" y="777710"/>
                  </a:lnTo>
                  <a:lnTo>
                    <a:pt x="369417" y="722391"/>
                  </a:lnTo>
                  <a:lnTo>
                    <a:pt x="379635" y="663547"/>
                  </a:lnTo>
                  <a:lnTo>
                    <a:pt x="389799" y="602354"/>
                  </a:lnTo>
                  <a:lnTo>
                    <a:pt x="399935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202778" y="4883294"/>
              <a:ext cx="400050" cy="970280"/>
            </a:xfrm>
            <a:custGeom>
              <a:avLst/>
              <a:gdLst/>
              <a:ahLst/>
              <a:cxnLst/>
              <a:rect l="l" t="t" r="r" b="b"/>
              <a:pathLst>
                <a:path w="400050" h="970279">
                  <a:moveTo>
                    <a:pt x="0" y="504172"/>
                  </a:moveTo>
                  <a:lnTo>
                    <a:pt x="7380" y="438806"/>
                  </a:lnTo>
                  <a:lnTo>
                    <a:pt x="14796" y="374422"/>
                  </a:lnTo>
                  <a:lnTo>
                    <a:pt x="22284" y="312001"/>
                  </a:lnTo>
                  <a:lnTo>
                    <a:pt x="29880" y="252521"/>
                  </a:lnTo>
                  <a:lnTo>
                    <a:pt x="37620" y="196960"/>
                  </a:lnTo>
                  <a:lnTo>
                    <a:pt x="45539" y="146297"/>
                  </a:lnTo>
                  <a:lnTo>
                    <a:pt x="53673" y="101512"/>
                  </a:lnTo>
                  <a:lnTo>
                    <a:pt x="62059" y="63583"/>
                  </a:lnTo>
                  <a:lnTo>
                    <a:pt x="79726" y="12207"/>
                  </a:lnTo>
                  <a:lnTo>
                    <a:pt x="98826" y="0"/>
                  </a:lnTo>
                  <a:lnTo>
                    <a:pt x="109004" y="11031"/>
                  </a:lnTo>
                  <a:lnTo>
                    <a:pt x="123948" y="56383"/>
                  </a:lnTo>
                  <a:lnTo>
                    <a:pt x="140109" y="138769"/>
                  </a:lnTo>
                  <a:lnTo>
                    <a:pt x="148554" y="190802"/>
                  </a:lnTo>
                  <a:lnTo>
                    <a:pt x="157193" y="248434"/>
                  </a:lnTo>
                  <a:lnTo>
                    <a:pt x="165989" y="310447"/>
                  </a:lnTo>
                  <a:lnTo>
                    <a:pt x="174906" y="375621"/>
                  </a:lnTo>
                  <a:lnTo>
                    <a:pt x="183906" y="442736"/>
                  </a:lnTo>
                  <a:lnTo>
                    <a:pt x="192953" y="510573"/>
                  </a:lnTo>
                  <a:lnTo>
                    <a:pt x="202011" y="577912"/>
                  </a:lnTo>
                  <a:lnTo>
                    <a:pt x="211041" y="643533"/>
                  </a:lnTo>
                  <a:lnTo>
                    <a:pt x="220009" y="706218"/>
                  </a:lnTo>
                  <a:lnTo>
                    <a:pt x="228876" y="764746"/>
                  </a:lnTo>
                  <a:lnTo>
                    <a:pt x="237606" y="817899"/>
                  </a:lnTo>
                  <a:lnTo>
                    <a:pt x="246162" y="864455"/>
                  </a:lnTo>
                  <a:lnTo>
                    <a:pt x="254508" y="903196"/>
                  </a:lnTo>
                  <a:lnTo>
                    <a:pt x="270421" y="952355"/>
                  </a:lnTo>
                  <a:lnTo>
                    <a:pt x="294048" y="969796"/>
                  </a:lnTo>
                  <a:lnTo>
                    <a:pt x="305431" y="960303"/>
                  </a:lnTo>
                  <a:lnTo>
                    <a:pt x="327475" y="910766"/>
                  </a:lnTo>
                  <a:lnTo>
                    <a:pt x="338191" y="873072"/>
                  </a:lnTo>
                  <a:lnTo>
                    <a:pt x="348741" y="828328"/>
                  </a:lnTo>
                  <a:lnTo>
                    <a:pt x="359151" y="777710"/>
                  </a:lnTo>
                  <a:lnTo>
                    <a:pt x="369451" y="722391"/>
                  </a:lnTo>
                  <a:lnTo>
                    <a:pt x="379667" y="663547"/>
                  </a:lnTo>
                  <a:lnTo>
                    <a:pt x="389828" y="602354"/>
                  </a:lnTo>
                  <a:lnTo>
                    <a:pt x="399961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609978" y="4883294"/>
              <a:ext cx="400050" cy="970280"/>
            </a:xfrm>
            <a:custGeom>
              <a:avLst/>
              <a:gdLst/>
              <a:ahLst/>
              <a:cxnLst/>
              <a:rect l="l" t="t" r="r" b="b"/>
              <a:pathLst>
                <a:path w="400050" h="970279">
                  <a:moveTo>
                    <a:pt x="0" y="504172"/>
                  </a:moveTo>
                  <a:lnTo>
                    <a:pt x="7364" y="438806"/>
                  </a:lnTo>
                  <a:lnTo>
                    <a:pt x="14768" y="374422"/>
                  </a:lnTo>
                  <a:lnTo>
                    <a:pt x="22248" y="312001"/>
                  </a:lnTo>
                  <a:lnTo>
                    <a:pt x="29838" y="252521"/>
                  </a:lnTo>
                  <a:lnTo>
                    <a:pt x="37574" y="196960"/>
                  </a:lnTo>
                  <a:lnTo>
                    <a:pt x="45492" y="146297"/>
                  </a:lnTo>
                  <a:lnTo>
                    <a:pt x="53626" y="101512"/>
                  </a:lnTo>
                  <a:lnTo>
                    <a:pt x="62012" y="63583"/>
                  </a:lnTo>
                  <a:lnTo>
                    <a:pt x="79683" y="12207"/>
                  </a:lnTo>
                  <a:lnTo>
                    <a:pt x="98788" y="0"/>
                  </a:lnTo>
                  <a:lnTo>
                    <a:pt x="108966" y="11031"/>
                  </a:lnTo>
                  <a:lnTo>
                    <a:pt x="123910" y="56383"/>
                  </a:lnTo>
                  <a:lnTo>
                    <a:pt x="140071" y="138769"/>
                  </a:lnTo>
                  <a:lnTo>
                    <a:pt x="148516" y="190802"/>
                  </a:lnTo>
                  <a:lnTo>
                    <a:pt x="157155" y="248434"/>
                  </a:lnTo>
                  <a:lnTo>
                    <a:pt x="165951" y="310447"/>
                  </a:lnTo>
                  <a:lnTo>
                    <a:pt x="174868" y="375621"/>
                  </a:lnTo>
                  <a:lnTo>
                    <a:pt x="183868" y="442736"/>
                  </a:lnTo>
                  <a:lnTo>
                    <a:pt x="192915" y="510573"/>
                  </a:lnTo>
                  <a:lnTo>
                    <a:pt x="201973" y="577912"/>
                  </a:lnTo>
                  <a:lnTo>
                    <a:pt x="211003" y="643533"/>
                  </a:lnTo>
                  <a:lnTo>
                    <a:pt x="219971" y="706218"/>
                  </a:lnTo>
                  <a:lnTo>
                    <a:pt x="228838" y="764746"/>
                  </a:lnTo>
                  <a:lnTo>
                    <a:pt x="237568" y="817899"/>
                  </a:lnTo>
                  <a:lnTo>
                    <a:pt x="246124" y="864455"/>
                  </a:lnTo>
                  <a:lnTo>
                    <a:pt x="254470" y="903196"/>
                  </a:lnTo>
                  <a:lnTo>
                    <a:pt x="270383" y="952355"/>
                  </a:lnTo>
                  <a:lnTo>
                    <a:pt x="294010" y="969796"/>
                  </a:lnTo>
                  <a:lnTo>
                    <a:pt x="305393" y="960303"/>
                  </a:lnTo>
                  <a:lnTo>
                    <a:pt x="327437" y="910766"/>
                  </a:lnTo>
                  <a:lnTo>
                    <a:pt x="338153" y="873072"/>
                  </a:lnTo>
                  <a:lnTo>
                    <a:pt x="348702" y="828328"/>
                  </a:lnTo>
                  <a:lnTo>
                    <a:pt x="359113" y="777710"/>
                  </a:lnTo>
                  <a:lnTo>
                    <a:pt x="369413" y="722391"/>
                  </a:lnTo>
                  <a:lnTo>
                    <a:pt x="379629" y="663547"/>
                  </a:lnTo>
                  <a:lnTo>
                    <a:pt x="389790" y="602354"/>
                  </a:lnTo>
                  <a:lnTo>
                    <a:pt x="399923" y="539986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014601" y="4614798"/>
              <a:ext cx="3653154" cy="1543685"/>
            </a:xfrm>
            <a:custGeom>
              <a:avLst/>
              <a:gdLst/>
              <a:ahLst/>
              <a:cxnLst/>
              <a:rect l="l" t="t" r="r" b="b"/>
              <a:pathLst>
                <a:path w="3653154" h="1543685">
                  <a:moveTo>
                    <a:pt x="0" y="762126"/>
                  </a:moveTo>
                  <a:lnTo>
                    <a:pt x="3559" y="698816"/>
                  </a:lnTo>
                  <a:lnTo>
                    <a:pt x="7192" y="636523"/>
                  </a:lnTo>
                  <a:lnTo>
                    <a:pt x="10964" y="576266"/>
                  </a:lnTo>
                  <a:lnTo>
                    <a:pt x="14946" y="519063"/>
                  </a:lnTo>
                  <a:lnTo>
                    <a:pt x="19203" y="465932"/>
                  </a:lnTo>
                  <a:lnTo>
                    <a:pt x="23805" y="417890"/>
                  </a:lnTo>
                  <a:lnTo>
                    <a:pt x="28820" y="375957"/>
                  </a:lnTo>
                  <a:lnTo>
                    <a:pt x="40358" y="314485"/>
                  </a:lnTo>
                  <a:lnTo>
                    <a:pt x="54361" y="289660"/>
                  </a:lnTo>
                  <a:lnTo>
                    <a:pt x="62457" y="293535"/>
                  </a:lnTo>
                  <a:lnTo>
                    <a:pt x="82598" y="353741"/>
                  </a:lnTo>
                  <a:lnTo>
                    <a:pt x="95029" y="430180"/>
                  </a:lnTo>
                  <a:lnTo>
                    <a:pt x="101647" y="478199"/>
                  </a:lnTo>
                  <a:lnTo>
                    <a:pt x="108507" y="531512"/>
                  </a:lnTo>
                  <a:lnTo>
                    <a:pt x="115589" y="589190"/>
                  </a:lnTo>
                  <a:lnTo>
                    <a:pt x="122873" y="650305"/>
                  </a:lnTo>
                  <a:lnTo>
                    <a:pt x="130339" y="713928"/>
                  </a:lnTo>
                  <a:lnTo>
                    <a:pt x="137967" y="779131"/>
                  </a:lnTo>
                  <a:lnTo>
                    <a:pt x="145737" y="844983"/>
                  </a:lnTo>
                  <a:lnTo>
                    <a:pt x="153629" y="910557"/>
                  </a:lnTo>
                  <a:lnTo>
                    <a:pt x="161624" y="974924"/>
                  </a:lnTo>
                  <a:lnTo>
                    <a:pt x="169702" y="1037155"/>
                  </a:lnTo>
                  <a:lnTo>
                    <a:pt x="177842" y="1096320"/>
                  </a:lnTo>
                  <a:lnTo>
                    <a:pt x="186024" y="1151492"/>
                  </a:lnTo>
                  <a:lnTo>
                    <a:pt x="194229" y="1201742"/>
                  </a:lnTo>
                  <a:lnTo>
                    <a:pt x="202438" y="1246140"/>
                  </a:lnTo>
                  <a:lnTo>
                    <a:pt x="210629" y="1283757"/>
                  </a:lnTo>
                  <a:lnTo>
                    <a:pt x="226880" y="1334937"/>
                  </a:lnTo>
                  <a:lnTo>
                    <a:pt x="242824" y="1347851"/>
                  </a:lnTo>
                  <a:lnTo>
                    <a:pt x="249571" y="1339351"/>
                  </a:lnTo>
                  <a:lnTo>
                    <a:pt x="263313" y="1295820"/>
                  </a:lnTo>
                  <a:lnTo>
                    <a:pt x="277335" y="1221888"/>
                  </a:lnTo>
                  <a:lnTo>
                    <a:pt x="284432" y="1175387"/>
                  </a:lnTo>
                  <a:lnTo>
                    <a:pt x="291578" y="1123525"/>
                  </a:lnTo>
                  <a:lnTo>
                    <a:pt x="298765" y="1067047"/>
                  </a:lnTo>
                  <a:lnTo>
                    <a:pt x="305985" y="1006700"/>
                  </a:lnTo>
                  <a:lnTo>
                    <a:pt x="313231" y="943231"/>
                  </a:lnTo>
                  <a:lnTo>
                    <a:pt x="320496" y="877385"/>
                  </a:lnTo>
                  <a:lnTo>
                    <a:pt x="327772" y="809909"/>
                  </a:lnTo>
                  <a:lnTo>
                    <a:pt x="335053" y="741549"/>
                  </a:lnTo>
                  <a:lnTo>
                    <a:pt x="342331" y="673051"/>
                  </a:lnTo>
                  <a:lnTo>
                    <a:pt x="349598" y="605162"/>
                  </a:lnTo>
                  <a:lnTo>
                    <a:pt x="356847" y="538627"/>
                  </a:lnTo>
                  <a:lnTo>
                    <a:pt x="364071" y="474194"/>
                  </a:lnTo>
                  <a:lnTo>
                    <a:pt x="371263" y="412608"/>
                  </a:lnTo>
                  <a:lnTo>
                    <a:pt x="378415" y="354616"/>
                  </a:lnTo>
                  <a:lnTo>
                    <a:pt x="385520" y="300964"/>
                  </a:lnTo>
                  <a:lnTo>
                    <a:pt x="392571" y="252398"/>
                  </a:lnTo>
                  <a:lnTo>
                    <a:pt x="399560" y="209664"/>
                  </a:lnTo>
                  <a:lnTo>
                    <a:pt x="413323" y="144679"/>
                  </a:lnTo>
                  <a:lnTo>
                    <a:pt x="433323" y="109600"/>
                  </a:lnTo>
                  <a:lnTo>
                    <a:pt x="439358" y="116767"/>
                  </a:lnTo>
                  <a:lnTo>
                    <a:pt x="451225" y="157333"/>
                  </a:lnTo>
                  <a:lnTo>
                    <a:pt x="462850" y="228372"/>
                  </a:lnTo>
                  <a:lnTo>
                    <a:pt x="468582" y="273630"/>
                  </a:lnTo>
                  <a:lnTo>
                    <a:pt x="474266" y="324480"/>
                  </a:lnTo>
                  <a:lnTo>
                    <a:pt x="479906" y="380246"/>
                  </a:lnTo>
                  <a:lnTo>
                    <a:pt x="485505" y="440253"/>
                  </a:lnTo>
                  <a:lnTo>
                    <a:pt x="491068" y="503826"/>
                  </a:lnTo>
                  <a:lnTo>
                    <a:pt x="496599" y="570288"/>
                  </a:lnTo>
                  <a:lnTo>
                    <a:pt x="502102" y="638965"/>
                  </a:lnTo>
                  <a:lnTo>
                    <a:pt x="507581" y="709181"/>
                  </a:lnTo>
                  <a:lnTo>
                    <a:pt x="513039" y="780260"/>
                  </a:lnTo>
                  <a:lnTo>
                    <a:pt x="518482" y="851527"/>
                  </a:lnTo>
                  <a:lnTo>
                    <a:pt x="523912" y="922307"/>
                  </a:lnTo>
                  <a:lnTo>
                    <a:pt x="529335" y="991924"/>
                  </a:lnTo>
                  <a:lnTo>
                    <a:pt x="534754" y="1059702"/>
                  </a:lnTo>
                  <a:lnTo>
                    <a:pt x="540172" y="1124965"/>
                  </a:lnTo>
                  <a:lnTo>
                    <a:pt x="545595" y="1187040"/>
                  </a:lnTo>
                  <a:lnTo>
                    <a:pt x="551026" y="1245249"/>
                  </a:lnTo>
                  <a:lnTo>
                    <a:pt x="556469" y="1298918"/>
                  </a:lnTo>
                  <a:lnTo>
                    <a:pt x="561928" y="1347371"/>
                  </a:lnTo>
                  <a:lnTo>
                    <a:pt x="567407" y="1389933"/>
                  </a:lnTo>
                  <a:lnTo>
                    <a:pt x="578443" y="1454679"/>
                  </a:lnTo>
                  <a:lnTo>
                    <a:pt x="595249" y="1490726"/>
                  </a:lnTo>
                  <a:lnTo>
                    <a:pt x="600558" y="1484491"/>
                  </a:lnTo>
                  <a:lnTo>
                    <a:pt x="611245" y="1447000"/>
                  </a:lnTo>
                  <a:lnTo>
                    <a:pt x="622011" y="1380112"/>
                  </a:lnTo>
                  <a:lnTo>
                    <a:pt x="627418" y="1337131"/>
                  </a:lnTo>
                  <a:lnTo>
                    <a:pt x="632839" y="1288585"/>
                  </a:lnTo>
                  <a:lnTo>
                    <a:pt x="638272" y="1235068"/>
                  </a:lnTo>
                  <a:lnTo>
                    <a:pt x="643714" y="1177175"/>
                  </a:lnTo>
                  <a:lnTo>
                    <a:pt x="649164" y="1115501"/>
                  </a:lnTo>
                  <a:lnTo>
                    <a:pt x="654621" y="1050640"/>
                  </a:lnTo>
                  <a:lnTo>
                    <a:pt x="660081" y="983187"/>
                  </a:lnTo>
                  <a:lnTo>
                    <a:pt x="665543" y="913737"/>
                  </a:lnTo>
                  <a:lnTo>
                    <a:pt x="671006" y="842884"/>
                  </a:lnTo>
                  <a:lnTo>
                    <a:pt x="676466" y="771223"/>
                  </a:lnTo>
                  <a:lnTo>
                    <a:pt x="681923" y="699349"/>
                  </a:lnTo>
                  <a:lnTo>
                    <a:pt x="687374" y="627856"/>
                  </a:lnTo>
                  <a:lnTo>
                    <a:pt x="692818" y="557339"/>
                  </a:lnTo>
                  <a:lnTo>
                    <a:pt x="698252" y="488393"/>
                  </a:lnTo>
                  <a:lnTo>
                    <a:pt x="703674" y="421612"/>
                  </a:lnTo>
                  <a:lnTo>
                    <a:pt x="709083" y="357590"/>
                  </a:lnTo>
                  <a:lnTo>
                    <a:pt x="714476" y="296924"/>
                  </a:lnTo>
                  <a:lnTo>
                    <a:pt x="719852" y="240207"/>
                  </a:lnTo>
                  <a:lnTo>
                    <a:pt x="725208" y="188033"/>
                  </a:lnTo>
                  <a:lnTo>
                    <a:pt x="730544" y="140998"/>
                  </a:lnTo>
                  <a:lnTo>
                    <a:pt x="735856" y="99697"/>
                  </a:lnTo>
                  <a:lnTo>
                    <a:pt x="746402" y="36672"/>
                  </a:lnTo>
                  <a:lnTo>
                    <a:pt x="762000" y="0"/>
                  </a:lnTo>
                  <a:lnTo>
                    <a:pt x="766943" y="5195"/>
                  </a:lnTo>
                  <a:lnTo>
                    <a:pt x="781409" y="68788"/>
                  </a:lnTo>
                  <a:lnTo>
                    <a:pt x="790803" y="145591"/>
                  </a:lnTo>
                  <a:lnTo>
                    <a:pt x="795441" y="192636"/>
                  </a:lnTo>
                  <a:lnTo>
                    <a:pt x="800046" y="244695"/>
                  </a:lnTo>
                  <a:lnTo>
                    <a:pt x="804624" y="301210"/>
                  </a:lnTo>
                  <a:lnTo>
                    <a:pt x="809179" y="361621"/>
                  </a:lnTo>
                  <a:lnTo>
                    <a:pt x="813718" y="425368"/>
                  </a:lnTo>
                  <a:lnTo>
                    <a:pt x="818245" y="491890"/>
                  </a:lnTo>
                  <a:lnTo>
                    <a:pt x="822766" y="560629"/>
                  </a:lnTo>
                  <a:lnTo>
                    <a:pt x="827286" y="631024"/>
                  </a:lnTo>
                  <a:lnTo>
                    <a:pt x="831809" y="702515"/>
                  </a:lnTo>
                  <a:lnTo>
                    <a:pt x="836342" y="774542"/>
                  </a:lnTo>
                  <a:lnTo>
                    <a:pt x="840890" y="846547"/>
                  </a:lnTo>
                  <a:lnTo>
                    <a:pt x="845457" y="917968"/>
                  </a:lnTo>
                  <a:lnTo>
                    <a:pt x="850049" y="988246"/>
                  </a:lnTo>
                  <a:lnTo>
                    <a:pt x="854671" y="1056821"/>
                  </a:lnTo>
                  <a:lnTo>
                    <a:pt x="859329" y="1123134"/>
                  </a:lnTo>
                  <a:lnTo>
                    <a:pt x="864027" y="1186624"/>
                  </a:lnTo>
                  <a:lnTo>
                    <a:pt x="868772" y="1246731"/>
                  </a:lnTo>
                  <a:lnTo>
                    <a:pt x="873567" y="1302896"/>
                  </a:lnTo>
                  <a:lnTo>
                    <a:pt x="878419" y="1354559"/>
                  </a:lnTo>
                  <a:lnTo>
                    <a:pt x="883332" y="1401160"/>
                  </a:lnTo>
                  <a:lnTo>
                    <a:pt x="888313" y="1442140"/>
                  </a:lnTo>
                  <a:lnTo>
                    <a:pt x="898495" y="1504993"/>
                  </a:lnTo>
                  <a:lnTo>
                    <a:pt x="914400" y="1543113"/>
                  </a:lnTo>
                  <a:lnTo>
                    <a:pt x="919874" y="1538811"/>
                  </a:lnTo>
                  <a:lnTo>
                    <a:pt x="936810" y="1477828"/>
                  </a:lnTo>
                  <a:lnTo>
                    <a:pt x="948477" y="1402668"/>
                  </a:lnTo>
                  <a:lnTo>
                    <a:pt x="954409" y="1356404"/>
                  </a:lnTo>
                  <a:lnTo>
                    <a:pt x="960401" y="1305093"/>
                  </a:lnTo>
                  <a:lnTo>
                    <a:pt x="966448" y="1249291"/>
                  </a:lnTo>
                  <a:lnTo>
                    <a:pt x="972544" y="1189552"/>
                  </a:lnTo>
                  <a:lnTo>
                    <a:pt x="978686" y="1126434"/>
                  </a:lnTo>
                  <a:lnTo>
                    <a:pt x="984868" y="1060491"/>
                  </a:lnTo>
                  <a:lnTo>
                    <a:pt x="991086" y="992281"/>
                  </a:lnTo>
                  <a:lnTo>
                    <a:pt x="997334" y="922359"/>
                  </a:lnTo>
                  <a:lnTo>
                    <a:pt x="1003608" y="851281"/>
                  </a:lnTo>
                  <a:lnTo>
                    <a:pt x="1009904" y="779603"/>
                  </a:lnTo>
                  <a:lnTo>
                    <a:pt x="1016215" y="707881"/>
                  </a:lnTo>
                  <a:lnTo>
                    <a:pt x="1022539" y="636671"/>
                  </a:lnTo>
                  <a:lnTo>
                    <a:pt x="1028869" y="566529"/>
                  </a:lnTo>
                  <a:lnTo>
                    <a:pt x="1035201" y="498011"/>
                  </a:lnTo>
                  <a:lnTo>
                    <a:pt x="1041530" y="431673"/>
                  </a:lnTo>
                  <a:lnTo>
                    <a:pt x="1047852" y="368070"/>
                  </a:lnTo>
                  <a:lnTo>
                    <a:pt x="1054161" y="307759"/>
                  </a:lnTo>
                  <a:lnTo>
                    <a:pt x="1060453" y="251296"/>
                  </a:lnTo>
                  <a:lnTo>
                    <a:pt x="1066724" y="199237"/>
                  </a:lnTo>
                  <a:lnTo>
                    <a:pt x="1072967" y="152137"/>
                  </a:lnTo>
                  <a:lnTo>
                    <a:pt x="1079179" y="110553"/>
                  </a:lnTo>
                  <a:lnTo>
                    <a:pt x="1091489" y="46155"/>
                  </a:lnTo>
                  <a:lnTo>
                    <a:pt x="1109599" y="4825"/>
                  </a:lnTo>
                  <a:lnTo>
                    <a:pt x="1115755" y="7895"/>
                  </a:lnTo>
                  <a:lnTo>
                    <a:pt x="1134340" y="65956"/>
                  </a:lnTo>
                  <a:lnTo>
                    <a:pt x="1146792" y="139571"/>
                  </a:lnTo>
                  <a:lnTo>
                    <a:pt x="1153027" y="185110"/>
                  </a:lnTo>
                  <a:lnTo>
                    <a:pt x="1159263" y="235697"/>
                  </a:lnTo>
                  <a:lnTo>
                    <a:pt x="1165496" y="290750"/>
                  </a:lnTo>
                  <a:lnTo>
                    <a:pt x="1171725" y="349689"/>
                  </a:lnTo>
                  <a:lnTo>
                    <a:pt x="1177945" y="411934"/>
                  </a:lnTo>
                  <a:lnTo>
                    <a:pt x="1184153" y="476905"/>
                  </a:lnTo>
                  <a:lnTo>
                    <a:pt x="1190345" y="544022"/>
                  </a:lnTo>
                  <a:lnTo>
                    <a:pt x="1196519" y="612703"/>
                  </a:lnTo>
                  <a:lnTo>
                    <a:pt x="1202671" y="682370"/>
                  </a:lnTo>
                  <a:lnTo>
                    <a:pt x="1208797" y="752440"/>
                  </a:lnTo>
                  <a:lnTo>
                    <a:pt x="1214895" y="822335"/>
                  </a:lnTo>
                  <a:lnTo>
                    <a:pt x="1220961" y="891473"/>
                  </a:lnTo>
                  <a:lnTo>
                    <a:pt x="1226992" y="959275"/>
                  </a:lnTo>
                  <a:lnTo>
                    <a:pt x="1232984" y="1025159"/>
                  </a:lnTo>
                  <a:lnTo>
                    <a:pt x="1238935" y="1088547"/>
                  </a:lnTo>
                  <a:lnTo>
                    <a:pt x="1244840" y="1148856"/>
                  </a:lnTo>
                  <a:lnTo>
                    <a:pt x="1250696" y="1205508"/>
                  </a:lnTo>
                  <a:lnTo>
                    <a:pt x="1256500" y="1257921"/>
                  </a:lnTo>
                  <a:lnTo>
                    <a:pt x="1262250" y="1305515"/>
                  </a:lnTo>
                  <a:lnTo>
                    <a:pt x="1267940" y="1347710"/>
                  </a:lnTo>
                  <a:lnTo>
                    <a:pt x="1279133" y="1413582"/>
                  </a:lnTo>
                  <a:lnTo>
                    <a:pt x="1290051" y="1450893"/>
                  </a:lnTo>
                  <a:lnTo>
                    <a:pt x="1295400" y="1457388"/>
                  </a:lnTo>
                  <a:lnTo>
                    <a:pt x="1301196" y="1454759"/>
                  </a:lnTo>
                  <a:lnTo>
                    <a:pt x="1317836" y="1392516"/>
                  </a:lnTo>
                  <a:lnTo>
                    <a:pt x="1328398" y="1312929"/>
                  </a:lnTo>
                  <a:lnTo>
                    <a:pt x="1333547" y="1263870"/>
                  </a:lnTo>
                  <a:lnTo>
                    <a:pt x="1338620" y="1209594"/>
                  </a:lnTo>
                  <a:lnTo>
                    <a:pt x="1343627" y="1150821"/>
                  </a:lnTo>
                  <a:lnTo>
                    <a:pt x="1348576" y="1088273"/>
                  </a:lnTo>
                  <a:lnTo>
                    <a:pt x="1353476" y="1022670"/>
                  </a:lnTo>
                  <a:lnTo>
                    <a:pt x="1358338" y="954733"/>
                  </a:lnTo>
                  <a:lnTo>
                    <a:pt x="1363169" y="885181"/>
                  </a:lnTo>
                  <a:lnTo>
                    <a:pt x="1367980" y="814736"/>
                  </a:lnTo>
                  <a:lnTo>
                    <a:pt x="1372779" y="744118"/>
                  </a:lnTo>
                  <a:lnTo>
                    <a:pt x="1377576" y="674048"/>
                  </a:lnTo>
                  <a:lnTo>
                    <a:pt x="1382379" y="605245"/>
                  </a:lnTo>
                  <a:lnTo>
                    <a:pt x="1387198" y="538431"/>
                  </a:lnTo>
                  <a:lnTo>
                    <a:pt x="1392042" y="474326"/>
                  </a:lnTo>
                  <a:lnTo>
                    <a:pt x="1396920" y="413651"/>
                  </a:lnTo>
                  <a:lnTo>
                    <a:pt x="1401841" y="357125"/>
                  </a:lnTo>
                  <a:lnTo>
                    <a:pt x="1406815" y="305471"/>
                  </a:lnTo>
                  <a:lnTo>
                    <a:pt x="1411851" y="259407"/>
                  </a:lnTo>
                  <a:lnTo>
                    <a:pt x="1416957" y="219656"/>
                  </a:lnTo>
                  <a:lnTo>
                    <a:pt x="1427419" y="161969"/>
                  </a:lnTo>
                  <a:lnTo>
                    <a:pt x="1438275" y="138175"/>
                  </a:lnTo>
                  <a:lnTo>
                    <a:pt x="1444539" y="141053"/>
                  </a:lnTo>
                  <a:lnTo>
                    <a:pt x="1457490" y="177894"/>
                  </a:lnTo>
                  <a:lnTo>
                    <a:pt x="1470904" y="250125"/>
                  </a:lnTo>
                  <a:lnTo>
                    <a:pt x="1477749" y="297240"/>
                  </a:lnTo>
                  <a:lnTo>
                    <a:pt x="1484666" y="350475"/>
                  </a:lnTo>
                  <a:lnTo>
                    <a:pt x="1491641" y="408923"/>
                  </a:lnTo>
                  <a:lnTo>
                    <a:pt x="1498658" y="471673"/>
                  </a:lnTo>
                  <a:lnTo>
                    <a:pt x="1505704" y="537818"/>
                  </a:lnTo>
                  <a:lnTo>
                    <a:pt x="1512764" y="606449"/>
                  </a:lnTo>
                  <a:lnTo>
                    <a:pt x="1519824" y="676656"/>
                  </a:lnTo>
                  <a:lnTo>
                    <a:pt x="1526868" y="747530"/>
                  </a:lnTo>
                  <a:lnTo>
                    <a:pt x="1533882" y="818164"/>
                  </a:lnTo>
                  <a:lnTo>
                    <a:pt x="1540852" y="887647"/>
                  </a:lnTo>
                  <a:lnTo>
                    <a:pt x="1547763" y="955071"/>
                  </a:lnTo>
                  <a:lnTo>
                    <a:pt x="1554600" y="1019528"/>
                  </a:lnTo>
                  <a:lnTo>
                    <a:pt x="1561349" y="1080108"/>
                  </a:lnTo>
                  <a:lnTo>
                    <a:pt x="1567995" y="1135902"/>
                  </a:lnTo>
                  <a:lnTo>
                    <a:pt x="1574524" y="1186002"/>
                  </a:lnTo>
                  <a:lnTo>
                    <a:pt x="1580921" y="1229499"/>
                  </a:lnTo>
                  <a:lnTo>
                    <a:pt x="1593261" y="1293047"/>
                  </a:lnTo>
                  <a:lnTo>
                    <a:pt x="1604899" y="1319276"/>
                  </a:lnTo>
                  <a:lnTo>
                    <a:pt x="1610819" y="1316179"/>
                  </a:lnTo>
                  <a:lnTo>
                    <a:pt x="1621628" y="1277730"/>
                  </a:lnTo>
                  <a:lnTo>
                    <a:pt x="1631316" y="1203147"/>
                  </a:lnTo>
                  <a:lnTo>
                    <a:pt x="1635837" y="1154883"/>
                  </a:lnTo>
                  <a:lnTo>
                    <a:pt x="1640194" y="1100678"/>
                  </a:lnTo>
                  <a:lnTo>
                    <a:pt x="1644426" y="1041563"/>
                  </a:lnTo>
                  <a:lnTo>
                    <a:pt x="1648571" y="978569"/>
                  </a:lnTo>
                  <a:lnTo>
                    <a:pt x="1652669" y="912727"/>
                  </a:lnTo>
                  <a:lnTo>
                    <a:pt x="1656757" y="845069"/>
                  </a:lnTo>
                  <a:lnTo>
                    <a:pt x="1660875" y="776624"/>
                  </a:lnTo>
                  <a:lnTo>
                    <a:pt x="1665062" y="708424"/>
                  </a:lnTo>
                  <a:lnTo>
                    <a:pt x="1669355" y="641500"/>
                  </a:lnTo>
                  <a:lnTo>
                    <a:pt x="1673794" y="576883"/>
                  </a:lnTo>
                  <a:lnTo>
                    <a:pt x="1678418" y="515603"/>
                  </a:lnTo>
                  <a:lnTo>
                    <a:pt x="1683265" y="458692"/>
                  </a:lnTo>
                  <a:lnTo>
                    <a:pt x="1688373" y="407181"/>
                  </a:lnTo>
                  <a:lnTo>
                    <a:pt x="1693782" y="362100"/>
                  </a:lnTo>
                  <a:lnTo>
                    <a:pt x="1705657" y="295353"/>
                  </a:lnTo>
                  <a:lnTo>
                    <a:pt x="1719199" y="266699"/>
                  </a:lnTo>
                  <a:lnTo>
                    <a:pt x="1727752" y="269389"/>
                  </a:lnTo>
                  <a:lnTo>
                    <a:pt x="1746136" y="310495"/>
                  </a:lnTo>
                  <a:lnTo>
                    <a:pt x="1766020" y="390436"/>
                  </a:lnTo>
                  <a:lnTo>
                    <a:pt x="1776448" y="441671"/>
                  </a:lnTo>
                  <a:lnTo>
                    <a:pt x="1787159" y="498654"/>
                  </a:lnTo>
                  <a:lnTo>
                    <a:pt x="1798123" y="560067"/>
                  </a:lnTo>
                  <a:lnTo>
                    <a:pt x="1809310" y="624590"/>
                  </a:lnTo>
                  <a:lnTo>
                    <a:pt x="1820687" y="690903"/>
                  </a:lnTo>
                  <a:lnTo>
                    <a:pt x="1832226" y="757686"/>
                  </a:lnTo>
                  <a:lnTo>
                    <a:pt x="1843895" y="823619"/>
                  </a:lnTo>
                  <a:lnTo>
                    <a:pt x="1855664" y="887383"/>
                  </a:lnTo>
                  <a:lnTo>
                    <a:pt x="1867502" y="947657"/>
                  </a:lnTo>
                  <a:lnTo>
                    <a:pt x="1879379" y="1003122"/>
                  </a:lnTo>
                  <a:lnTo>
                    <a:pt x="1891264" y="1052458"/>
                  </a:lnTo>
                  <a:lnTo>
                    <a:pt x="1903127" y="1094344"/>
                  </a:lnTo>
                  <a:lnTo>
                    <a:pt x="1926662" y="1150492"/>
                  </a:lnTo>
                  <a:lnTo>
                    <a:pt x="1938274" y="1162113"/>
                  </a:lnTo>
                  <a:lnTo>
                    <a:pt x="1951866" y="1161370"/>
                  </a:lnTo>
                  <a:lnTo>
                    <a:pt x="1979153" y="1121795"/>
                  </a:lnTo>
                  <a:lnTo>
                    <a:pt x="2006651" y="1042598"/>
                  </a:lnTo>
                  <a:lnTo>
                    <a:pt x="2020508" y="992329"/>
                  </a:lnTo>
                  <a:lnTo>
                    <a:pt x="2034453" y="937181"/>
                  </a:lnTo>
                  <a:lnTo>
                    <a:pt x="2048496" y="878826"/>
                  </a:lnTo>
                  <a:lnTo>
                    <a:pt x="2062649" y="818942"/>
                  </a:lnTo>
                  <a:lnTo>
                    <a:pt x="2076925" y="759202"/>
                  </a:lnTo>
                  <a:lnTo>
                    <a:pt x="2091333" y="701282"/>
                  </a:lnTo>
                  <a:lnTo>
                    <a:pt x="2105886" y="646857"/>
                  </a:lnTo>
                  <a:lnTo>
                    <a:pt x="2120596" y="597601"/>
                  </a:lnTo>
                  <a:lnTo>
                    <a:pt x="2135473" y="555190"/>
                  </a:lnTo>
                  <a:lnTo>
                    <a:pt x="2165776" y="497602"/>
                  </a:lnTo>
                  <a:lnTo>
                    <a:pt x="2181225" y="485774"/>
                  </a:lnTo>
                  <a:lnTo>
                    <a:pt x="2200410" y="487197"/>
                  </a:lnTo>
                  <a:lnTo>
                    <a:pt x="2240436" y="530512"/>
                  </a:lnTo>
                  <a:lnTo>
                    <a:pt x="2261079" y="567896"/>
                  </a:lnTo>
                  <a:lnTo>
                    <a:pt x="2282010" y="612760"/>
                  </a:lnTo>
                  <a:lnTo>
                    <a:pt x="2303129" y="662848"/>
                  </a:lnTo>
                  <a:lnTo>
                    <a:pt x="2324338" y="715906"/>
                  </a:lnTo>
                  <a:lnTo>
                    <a:pt x="2345537" y="769681"/>
                  </a:lnTo>
                  <a:lnTo>
                    <a:pt x="2366627" y="821918"/>
                  </a:lnTo>
                  <a:lnTo>
                    <a:pt x="2387509" y="870363"/>
                  </a:lnTo>
                  <a:lnTo>
                    <a:pt x="2408084" y="912762"/>
                  </a:lnTo>
                  <a:lnTo>
                    <a:pt x="2428252" y="946860"/>
                  </a:lnTo>
                  <a:lnTo>
                    <a:pt x="2466975" y="981138"/>
                  </a:lnTo>
                  <a:lnTo>
                    <a:pt x="2488501" y="976829"/>
                  </a:lnTo>
                  <a:lnTo>
                    <a:pt x="2530042" y="926172"/>
                  </a:lnTo>
                  <a:lnTo>
                    <a:pt x="2550188" y="885695"/>
                  </a:lnTo>
                  <a:lnTo>
                    <a:pt x="2570005" y="839033"/>
                  </a:lnTo>
                  <a:lnTo>
                    <a:pt x="2589561" y="789124"/>
                  </a:lnTo>
                  <a:lnTo>
                    <a:pt x="2608921" y="738901"/>
                  </a:lnTo>
                  <a:lnTo>
                    <a:pt x="2628152" y="691301"/>
                  </a:lnTo>
                  <a:lnTo>
                    <a:pt x="2647318" y="649261"/>
                  </a:lnTo>
                  <a:lnTo>
                    <a:pt x="2666488" y="615715"/>
                  </a:lnTo>
                  <a:lnTo>
                    <a:pt x="2685726" y="593600"/>
                  </a:lnTo>
                  <a:lnTo>
                    <a:pt x="2705100" y="585850"/>
                  </a:lnTo>
                  <a:lnTo>
                    <a:pt x="2724288" y="594469"/>
                  </a:lnTo>
                  <a:lnTo>
                    <a:pt x="2761553" y="652201"/>
                  </a:lnTo>
                  <a:lnTo>
                    <a:pt x="2779860" y="695360"/>
                  </a:lnTo>
                  <a:lnTo>
                    <a:pt x="2798104" y="744077"/>
                  </a:lnTo>
                  <a:lnTo>
                    <a:pt x="2816399" y="795377"/>
                  </a:lnTo>
                  <a:lnTo>
                    <a:pt x="2834861" y="846280"/>
                  </a:lnTo>
                  <a:lnTo>
                    <a:pt x="2853605" y="893811"/>
                  </a:lnTo>
                  <a:lnTo>
                    <a:pt x="2872745" y="934992"/>
                  </a:lnTo>
                  <a:lnTo>
                    <a:pt x="2912678" y="986395"/>
                  </a:lnTo>
                  <a:lnTo>
                    <a:pt x="2933700" y="990663"/>
                  </a:lnTo>
                  <a:lnTo>
                    <a:pt x="2952441" y="979591"/>
                  </a:lnTo>
                  <a:lnTo>
                    <a:pt x="2991839" y="920387"/>
                  </a:lnTo>
                  <a:lnTo>
                    <a:pt x="3012288" y="876868"/>
                  </a:lnTo>
                  <a:lnTo>
                    <a:pt x="3033098" y="827146"/>
                  </a:lnTo>
                  <a:lnTo>
                    <a:pt x="3054164" y="773528"/>
                  </a:lnTo>
                  <a:lnTo>
                    <a:pt x="3075384" y="718319"/>
                  </a:lnTo>
                  <a:lnTo>
                    <a:pt x="3096652" y="663827"/>
                  </a:lnTo>
                  <a:lnTo>
                    <a:pt x="3117865" y="612358"/>
                  </a:lnTo>
                  <a:lnTo>
                    <a:pt x="3138917" y="566217"/>
                  </a:lnTo>
                  <a:lnTo>
                    <a:pt x="3159707" y="527713"/>
                  </a:lnTo>
                  <a:lnTo>
                    <a:pt x="3200077" y="482835"/>
                  </a:lnTo>
                  <a:lnTo>
                    <a:pt x="3219450" y="481075"/>
                  </a:lnTo>
                  <a:lnTo>
                    <a:pt x="3236087" y="492975"/>
                  </a:lnTo>
                  <a:lnTo>
                    <a:pt x="3269123" y="550293"/>
                  </a:lnTo>
                  <a:lnTo>
                    <a:pt x="3285488" y="592459"/>
                  </a:lnTo>
                  <a:lnTo>
                    <a:pt x="3301726" y="641463"/>
                  </a:lnTo>
                  <a:lnTo>
                    <a:pt x="3317821" y="695679"/>
                  </a:lnTo>
                  <a:lnTo>
                    <a:pt x="3333756" y="753482"/>
                  </a:lnTo>
                  <a:lnTo>
                    <a:pt x="3349513" y="813246"/>
                  </a:lnTo>
                  <a:lnTo>
                    <a:pt x="3365076" y="873344"/>
                  </a:lnTo>
                  <a:lnTo>
                    <a:pt x="3380426" y="932153"/>
                  </a:lnTo>
                  <a:lnTo>
                    <a:pt x="3395546" y="988046"/>
                  </a:lnTo>
                  <a:lnTo>
                    <a:pt x="3410420" y="1039397"/>
                  </a:lnTo>
                  <a:lnTo>
                    <a:pt x="3425029" y="1084581"/>
                  </a:lnTo>
                  <a:lnTo>
                    <a:pt x="3439357" y="1121973"/>
                  </a:lnTo>
                  <a:lnTo>
                    <a:pt x="3467100" y="1166876"/>
                  </a:lnTo>
                  <a:lnTo>
                    <a:pt x="3488295" y="1176834"/>
                  </a:lnTo>
                  <a:lnTo>
                    <a:pt x="3508660" y="1172970"/>
                  </a:lnTo>
                  <a:lnTo>
                    <a:pt x="3547270" y="1129921"/>
                  </a:lnTo>
                  <a:lnTo>
                    <a:pt x="3565699" y="1093808"/>
                  </a:lnTo>
                  <a:lnTo>
                    <a:pt x="3583667" y="1050017"/>
                  </a:lnTo>
                  <a:lnTo>
                    <a:pt x="3601266" y="1000085"/>
                  </a:lnTo>
                  <a:lnTo>
                    <a:pt x="3618589" y="945548"/>
                  </a:lnTo>
                  <a:lnTo>
                    <a:pt x="3635727" y="887941"/>
                  </a:lnTo>
                  <a:lnTo>
                    <a:pt x="3652774" y="828801"/>
                  </a:lnTo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pic>
        <p:nvPicPr>
          <p:cNvPr id="70" name="Picture 69">
            <a:extLst>
              <a:ext uri="{FF2B5EF4-FFF2-40B4-BE49-F238E27FC236}">
                <a16:creationId xmlns:a16="http://schemas.microsoft.com/office/drawing/2014/main" xmlns="" id="{2ED9D9B0-9D2A-4D88-BD6E-83805F316D8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58779" y="2948511"/>
            <a:ext cx="4617628" cy="101096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xmlns="" id="{0DBDBFCB-EB66-4F22-A5A7-71AEDC1C5E0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03529" y="686005"/>
            <a:ext cx="434378" cy="43437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6509" y="-17907"/>
            <a:ext cx="1175829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105" dirty="0">
                <a:solidFill>
                  <a:srgbClr val="006600"/>
                </a:solidFill>
                <a:latin typeface="Trebuchet MS"/>
                <a:cs typeface="Trebuchet MS"/>
              </a:rPr>
              <a:t>FM</a:t>
            </a:r>
            <a:r>
              <a:rPr sz="5400" spc="-295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5400" spc="-55" dirty="0">
                <a:solidFill>
                  <a:srgbClr val="006600"/>
                </a:solidFill>
                <a:latin typeface="Trebuchet MS"/>
                <a:cs typeface="Trebuchet MS"/>
              </a:rPr>
              <a:t>Demodulation</a:t>
            </a:r>
            <a:r>
              <a:rPr sz="5400" spc="-290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5400" dirty="0">
                <a:solidFill>
                  <a:srgbClr val="006600"/>
                </a:solidFill>
                <a:latin typeface="Trebuchet MS"/>
                <a:cs typeface="Trebuchet MS"/>
              </a:rPr>
              <a:t>by</a:t>
            </a:r>
            <a:r>
              <a:rPr sz="5400" spc="-290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5400" spc="-55" dirty="0">
                <a:solidFill>
                  <a:srgbClr val="006600"/>
                </a:solidFill>
                <a:latin typeface="Trebuchet MS"/>
                <a:cs typeface="Trebuchet MS"/>
              </a:rPr>
              <a:t>Phase</a:t>
            </a:r>
            <a:r>
              <a:rPr sz="5400" spc="-305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5400" spc="-120" dirty="0">
                <a:solidFill>
                  <a:srgbClr val="006600"/>
                </a:solidFill>
                <a:latin typeface="Trebuchet MS"/>
                <a:cs typeface="Trebuchet MS"/>
              </a:rPr>
              <a:t>Lock</a:t>
            </a:r>
            <a:r>
              <a:rPr sz="5400" spc="-285" dirty="0">
                <a:solidFill>
                  <a:srgbClr val="006600"/>
                </a:solidFill>
                <a:latin typeface="Trebuchet MS"/>
                <a:cs typeface="Trebuchet MS"/>
              </a:rPr>
              <a:t> </a:t>
            </a:r>
            <a:r>
              <a:rPr sz="5400" spc="-20" dirty="0">
                <a:solidFill>
                  <a:srgbClr val="006600"/>
                </a:solidFill>
                <a:latin typeface="Trebuchet MS"/>
                <a:cs typeface="Trebuchet MS"/>
              </a:rPr>
              <a:t>Loop</a:t>
            </a:r>
            <a:endParaRPr sz="5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4142" y="804113"/>
            <a:ext cx="5560695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Block</a:t>
            </a:r>
            <a:r>
              <a:rPr sz="3100" b="1" u="sng" spc="-7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1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Diagram</a:t>
            </a:r>
            <a:r>
              <a:rPr sz="3100" b="1" u="sng" spc="-6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1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of</a:t>
            </a:r>
            <a:r>
              <a:rPr sz="3100" b="1" u="sng" spc="-7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1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Phase</a:t>
            </a:r>
            <a:r>
              <a:rPr sz="3100" b="1" u="sng" spc="-7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1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Lock</a:t>
            </a:r>
            <a:r>
              <a:rPr sz="3100" b="1" u="sng" spc="-6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100" b="1" u="sng" spc="-2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Loop</a:t>
            </a:r>
            <a:endParaRPr sz="31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38522" y="1517522"/>
            <a:ext cx="1896110" cy="128752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438522" y="1517522"/>
            <a:ext cx="1896110" cy="1287780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407669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3209"/>
              </a:spcBef>
            </a:pPr>
            <a:r>
              <a:rPr sz="2800" b="1" dirty="0">
                <a:latin typeface="Calibri"/>
                <a:cs typeface="Calibri"/>
              </a:rPr>
              <a:t>Loop </a:t>
            </a:r>
            <a:r>
              <a:rPr sz="2800" b="1" spc="-10" dirty="0">
                <a:latin typeface="Calibri"/>
                <a:cs typeface="Calibri"/>
              </a:rPr>
              <a:t>Filter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54151" y="1526647"/>
            <a:ext cx="9427210" cy="3072130"/>
            <a:chOff x="454151" y="1526647"/>
            <a:chExt cx="9427210" cy="3072130"/>
          </a:xfrm>
        </p:grpSpPr>
        <p:sp>
          <p:nvSpPr>
            <p:cNvPr id="7" name="object 7"/>
            <p:cNvSpPr/>
            <p:nvPr/>
          </p:nvSpPr>
          <p:spPr>
            <a:xfrm>
              <a:off x="2939415" y="2101976"/>
              <a:ext cx="6941820" cy="117475"/>
            </a:xfrm>
            <a:custGeom>
              <a:avLst/>
              <a:gdLst/>
              <a:ahLst/>
              <a:cxnLst/>
              <a:rect l="l" t="t" r="r" b="b"/>
              <a:pathLst>
                <a:path w="6941820" h="117475">
                  <a:moveTo>
                    <a:pt x="1499108" y="59309"/>
                  </a:moveTo>
                  <a:lnTo>
                    <a:pt x="1461947" y="41008"/>
                  </a:lnTo>
                  <a:lnTo>
                    <a:pt x="1384427" y="2794"/>
                  </a:lnTo>
                  <a:lnTo>
                    <a:pt x="1384681" y="41008"/>
                  </a:lnTo>
                  <a:lnTo>
                    <a:pt x="0" y="48768"/>
                  </a:lnTo>
                  <a:lnTo>
                    <a:pt x="127" y="86868"/>
                  </a:lnTo>
                  <a:lnTo>
                    <a:pt x="1384935" y="79108"/>
                  </a:lnTo>
                  <a:lnTo>
                    <a:pt x="1385189" y="117094"/>
                  </a:lnTo>
                  <a:lnTo>
                    <a:pt x="1460080" y="79108"/>
                  </a:lnTo>
                  <a:lnTo>
                    <a:pt x="1499108" y="59309"/>
                  </a:lnTo>
                  <a:close/>
                </a:path>
                <a:path w="6941820" h="117475">
                  <a:moveTo>
                    <a:pt x="6941439" y="57150"/>
                  </a:moveTo>
                  <a:lnTo>
                    <a:pt x="6903352" y="38112"/>
                  </a:lnTo>
                  <a:lnTo>
                    <a:pt x="6827139" y="0"/>
                  </a:lnTo>
                  <a:lnTo>
                    <a:pt x="6827139" y="38112"/>
                  </a:lnTo>
                  <a:lnTo>
                    <a:pt x="3395218" y="40259"/>
                  </a:lnTo>
                  <a:lnTo>
                    <a:pt x="3395218" y="78359"/>
                  </a:lnTo>
                  <a:lnTo>
                    <a:pt x="6827139" y="76212"/>
                  </a:lnTo>
                  <a:lnTo>
                    <a:pt x="6827139" y="114300"/>
                  </a:lnTo>
                  <a:lnTo>
                    <a:pt x="6903313" y="76212"/>
                  </a:lnTo>
                  <a:lnTo>
                    <a:pt x="6941439" y="5715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88937" y="1536172"/>
              <a:ext cx="1240790" cy="1238885"/>
            </a:xfrm>
            <a:custGeom>
              <a:avLst/>
              <a:gdLst/>
              <a:ahLst/>
              <a:cxnLst/>
              <a:rect l="l" t="t" r="r" b="b"/>
              <a:pathLst>
                <a:path w="1240789" h="1238885">
                  <a:moveTo>
                    <a:pt x="613435" y="0"/>
                  </a:moveTo>
                  <a:lnTo>
                    <a:pt x="568141" y="1210"/>
                  </a:lnTo>
                  <a:lnTo>
                    <a:pt x="523101" y="5707"/>
                  </a:lnTo>
                  <a:lnTo>
                    <a:pt x="478510" y="13486"/>
                  </a:lnTo>
                  <a:lnTo>
                    <a:pt x="434564" y="24540"/>
                  </a:lnTo>
                  <a:lnTo>
                    <a:pt x="391457" y="38864"/>
                  </a:lnTo>
                  <a:lnTo>
                    <a:pt x="349384" y="56453"/>
                  </a:lnTo>
                  <a:lnTo>
                    <a:pt x="308540" y="77302"/>
                  </a:lnTo>
                  <a:lnTo>
                    <a:pt x="269120" y="101405"/>
                  </a:lnTo>
                  <a:lnTo>
                    <a:pt x="231318" y="128757"/>
                  </a:lnTo>
                  <a:lnTo>
                    <a:pt x="195330" y="159352"/>
                  </a:lnTo>
                  <a:lnTo>
                    <a:pt x="161350" y="193186"/>
                  </a:lnTo>
                  <a:lnTo>
                    <a:pt x="130114" y="229600"/>
                  </a:lnTo>
                  <a:lnTo>
                    <a:pt x="102259" y="267774"/>
                  </a:lnTo>
                  <a:lnTo>
                    <a:pt x="77775" y="307513"/>
                  </a:lnTo>
                  <a:lnTo>
                    <a:pt x="56653" y="348622"/>
                  </a:lnTo>
                  <a:lnTo>
                    <a:pt x="38884" y="390908"/>
                  </a:lnTo>
                  <a:lnTo>
                    <a:pt x="24458" y="434176"/>
                  </a:lnTo>
                  <a:lnTo>
                    <a:pt x="13366" y="478231"/>
                  </a:lnTo>
                  <a:lnTo>
                    <a:pt x="5599" y="522878"/>
                  </a:lnTo>
                  <a:lnTo>
                    <a:pt x="1146" y="567924"/>
                  </a:lnTo>
                  <a:lnTo>
                    <a:pt x="0" y="613173"/>
                  </a:lnTo>
                  <a:lnTo>
                    <a:pt x="2149" y="658431"/>
                  </a:lnTo>
                  <a:lnTo>
                    <a:pt x="7586" y="703504"/>
                  </a:lnTo>
                  <a:lnTo>
                    <a:pt x="16300" y="748197"/>
                  </a:lnTo>
                  <a:lnTo>
                    <a:pt x="28282" y="792316"/>
                  </a:lnTo>
                  <a:lnTo>
                    <a:pt x="43523" y="835665"/>
                  </a:lnTo>
                  <a:lnTo>
                    <a:pt x="62013" y="878052"/>
                  </a:lnTo>
                  <a:lnTo>
                    <a:pt x="83744" y="919280"/>
                  </a:lnTo>
                  <a:lnTo>
                    <a:pt x="108705" y="959156"/>
                  </a:lnTo>
                  <a:lnTo>
                    <a:pt x="136887" y="997485"/>
                  </a:lnTo>
                  <a:lnTo>
                    <a:pt x="168282" y="1034073"/>
                  </a:lnTo>
                  <a:lnTo>
                    <a:pt x="202879" y="1068724"/>
                  </a:lnTo>
                  <a:lnTo>
                    <a:pt x="240004" y="1100671"/>
                  </a:lnTo>
                  <a:lnTo>
                    <a:pt x="278822" y="1129278"/>
                  </a:lnTo>
                  <a:lnTo>
                    <a:pt x="319140" y="1154551"/>
                  </a:lnTo>
                  <a:lnTo>
                    <a:pt x="360762" y="1176494"/>
                  </a:lnTo>
                  <a:lnTo>
                    <a:pt x="403492" y="1195114"/>
                  </a:lnTo>
                  <a:lnTo>
                    <a:pt x="447138" y="1210415"/>
                  </a:lnTo>
                  <a:lnTo>
                    <a:pt x="491503" y="1222404"/>
                  </a:lnTo>
                  <a:lnTo>
                    <a:pt x="536392" y="1231084"/>
                  </a:lnTo>
                  <a:lnTo>
                    <a:pt x="581611" y="1236462"/>
                  </a:lnTo>
                  <a:lnTo>
                    <a:pt x="626966" y="1238543"/>
                  </a:lnTo>
                  <a:lnTo>
                    <a:pt x="672260" y="1237332"/>
                  </a:lnTo>
                  <a:lnTo>
                    <a:pt x="717300" y="1232835"/>
                  </a:lnTo>
                  <a:lnTo>
                    <a:pt x="761891" y="1225057"/>
                  </a:lnTo>
                  <a:lnTo>
                    <a:pt x="805837" y="1214003"/>
                  </a:lnTo>
                  <a:lnTo>
                    <a:pt x="848944" y="1199679"/>
                  </a:lnTo>
                  <a:lnTo>
                    <a:pt x="891017" y="1182089"/>
                  </a:lnTo>
                  <a:lnTo>
                    <a:pt x="931861" y="1161241"/>
                  </a:lnTo>
                  <a:lnTo>
                    <a:pt x="971281" y="1137138"/>
                  </a:lnTo>
                  <a:lnTo>
                    <a:pt x="1009083" y="1109786"/>
                  </a:lnTo>
                  <a:lnTo>
                    <a:pt x="1045071" y="1079190"/>
                  </a:lnTo>
                  <a:lnTo>
                    <a:pt x="1079052" y="1045356"/>
                  </a:lnTo>
                  <a:lnTo>
                    <a:pt x="1110287" y="1008942"/>
                  </a:lnTo>
                  <a:lnTo>
                    <a:pt x="1138142" y="970768"/>
                  </a:lnTo>
                  <a:lnTo>
                    <a:pt x="1162626" y="931029"/>
                  </a:lnTo>
                  <a:lnTo>
                    <a:pt x="1183748" y="889920"/>
                  </a:lnTo>
                  <a:lnTo>
                    <a:pt x="1201517" y="847634"/>
                  </a:lnTo>
                  <a:lnTo>
                    <a:pt x="1215943" y="804366"/>
                  </a:lnTo>
                  <a:lnTo>
                    <a:pt x="1227035" y="760312"/>
                  </a:lnTo>
                  <a:lnTo>
                    <a:pt x="1234802" y="715664"/>
                  </a:lnTo>
                  <a:lnTo>
                    <a:pt x="1239255" y="670619"/>
                  </a:lnTo>
                  <a:lnTo>
                    <a:pt x="1240402" y="625370"/>
                  </a:lnTo>
                  <a:lnTo>
                    <a:pt x="1238252" y="580111"/>
                  </a:lnTo>
                  <a:lnTo>
                    <a:pt x="1232816" y="535038"/>
                  </a:lnTo>
                  <a:lnTo>
                    <a:pt x="1224102" y="490345"/>
                  </a:lnTo>
                  <a:lnTo>
                    <a:pt x="1212119" y="446227"/>
                  </a:lnTo>
                  <a:lnTo>
                    <a:pt x="1196878" y="402877"/>
                  </a:lnTo>
                  <a:lnTo>
                    <a:pt x="1178388" y="360491"/>
                  </a:lnTo>
                  <a:lnTo>
                    <a:pt x="1156657" y="319262"/>
                  </a:lnTo>
                  <a:lnTo>
                    <a:pt x="1131696" y="279386"/>
                  </a:lnTo>
                  <a:lnTo>
                    <a:pt x="1103514" y="241057"/>
                  </a:lnTo>
                  <a:lnTo>
                    <a:pt x="1072119" y="204470"/>
                  </a:lnTo>
                  <a:lnTo>
                    <a:pt x="1037523" y="169818"/>
                  </a:lnTo>
                  <a:lnTo>
                    <a:pt x="1000398" y="137871"/>
                  </a:lnTo>
                  <a:lnTo>
                    <a:pt x="961579" y="109264"/>
                  </a:lnTo>
                  <a:lnTo>
                    <a:pt x="921261" y="83991"/>
                  </a:lnTo>
                  <a:lnTo>
                    <a:pt x="879640" y="62048"/>
                  </a:lnTo>
                  <a:lnTo>
                    <a:pt x="836909" y="43428"/>
                  </a:lnTo>
                  <a:lnTo>
                    <a:pt x="793263" y="28127"/>
                  </a:lnTo>
                  <a:lnTo>
                    <a:pt x="748899" y="16139"/>
                  </a:lnTo>
                  <a:lnTo>
                    <a:pt x="704009" y="7458"/>
                  </a:lnTo>
                  <a:lnTo>
                    <a:pt x="658790" y="2080"/>
                  </a:lnTo>
                  <a:lnTo>
                    <a:pt x="613435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050287" y="1705990"/>
              <a:ext cx="918210" cy="899160"/>
            </a:xfrm>
            <a:custGeom>
              <a:avLst/>
              <a:gdLst/>
              <a:ahLst/>
              <a:cxnLst/>
              <a:rect l="l" t="t" r="r" b="b"/>
              <a:pathLst>
                <a:path w="918210" h="899160">
                  <a:moveTo>
                    <a:pt x="876173" y="0"/>
                  </a:moveTo>
                  <a:lnTo>
                    <a:pt x="41529" y="898906"/>
                  </a:lnTo>
                </a:path>
                <a:path w="918210" h="899160">
                  <a:moveTo>
                    <a:pt x="0" y="23368"/>
                  </a:moveTo>
                  <a:lnTo>
                    <a:pt x="917702" y="875538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88937" y="1536172"/>
              <a:ext cx="1240790" cy="1238885"/>
            </a:xfrm>
            <a:custGeom>
              <a:avLst/>
              <a:gdLst/>
              <a:ahLst/>
              <a:cxnLst/>
              <a:rect l="l" t="t" r="r" b="b"/>
              <a:pathLst>
                <a:path w="1240789" h="1238885">
                  <a:moveTo>
                    <a:pt x="161350" y="193186"/>
                  </a:moveTo>
                  <a:lnTo>
                    <a:pt x="195330" y="159352"/>
                  </a:lnTo>
                  <a:lnTo>
                    <a:pt x="231318" y="128757"/>
                  </a:lnTo>
                  <a:lnTo>
                    <a:pt x="269120" y="101405"/>
                  </a:lnTo>
                  <a:lnTo>
                    <a:pt x="308540" y="77302"/>
                  </a:lnTo>
                  <a:lnTo>
                    <a:pt x="349384" y="56453"/>
                  </a:lnTo>
                  <a:lnTo>
                    <a:pt x="391457" y="38864"/>
                  </a:lnTo>
                  <a:lnTo>
                    <a:pt x="434564" y="24540"/>
                  </a:lnTo>
                  <a:lnTo>
                    <a:pt x="478510" y="13486"/>
                  </a:lnTo>
                  <a:lnTo>
                    <a:pt x="523101" y="5707"/>
                  </a:lnTo>
                  <a:lnTo>
                    <a:pt x="568141" y="1210"/>
                  </a:lnTo>
                  <a:lnTo>
                    <a:pt x="613435" y="0"/>
                  </a:lnTo>
                  <a:lnTo>
                    <a:pt x="658790" y="2080"/>
                  </a:lnTo>
                  <a:lnTo>
                    <a:pt x="704009" y="7458"/>
                  </a:lnTo>
                  <a:lnTo>
                    <a:pt x="748899" y="16139"/>
                  </a:lnTo>
                  <a:lnTo>
                    <a:pt x="793263" y="28127"/>
                  </a:lnTo>
                  <a:lnTo>
                    <a:pt x="836909" y="43428"/>
                  </a:lnTo>
                  <a:lnTo>
                    <a:pt x="879640" y="62048"/>
                  </a:lnTo>
                  <a:lnTo>
                    <a:pt x="921261" y="83991"/>
                  </a:lnTo>
                  <a:lnTo>
                    <a:pt x="961579" y="109264"/>
                  </a:lnTo>
                  <a:lnTo>
                    <a:pt x="1000398" y="137871"/>
                  </a:lnTo>
                  <a:lnTo>
                    <a:pt x="1037523" y="169818"/>
                  </a:lnTo>
                  <a:lnTo>
                    <a:pt x="1072119" y="204470"/>
                  </a:lnTo>
                  <a:lnTo>
                    <a:pt x="1103514" y="241057"/>
                  </a:lnTo>
                  <a:lnTo>
                    <a:pt x="1131696" y="279386"/>
                  </a:lnTo>
                  <a:lnTo>
                    <a:pt x="1156657" y="319262"/>
                  </a:lnTo>
                  <a:lnTo>
                    <a:pt x="1178388" y="360491"/>
                  </a:lnTo>
                  <a:lnTo>
                    <a:pt x="1196878" y="402877"/>
                  </a:lnTo>
                  <a:lnTo>
                    <a:pt x="1212119" y="446227"/>
                  </a:lnTo>
                  <a:lnTo>
                    <a:pt x="1224102" y="490345"/>
                  </a:lnTo>
                  <a:lnTo>
                    <a:pt x="1232816" y="535038"/>
                  </a:lnTo>
                  <a:lnTo>
                    <a:pt x="1238252" y="580111"/>
                  </a:lnTo>
                  <a:lnTo>
                    <a:pt x="1240402" y="625370"/>
                  </a:lnTo>
                  <a:lnTo>
                    <a:pt x="1239255" y="670619"/>
                  </a:lnTo>
                  <a:lnTo>
                    <a:pt x="1234802" y="715664"/>
                  </a:lnTo>
                  <a:lnTo>
                    <a:pt x="1227035" y="760312"/>
                  </a:lnTo>
                  <a:lnTo>
                    <a:pt x="1215943" y="804366"/>
                  </a:lnTo>
                  <a:lnTo>
                    <a:pt x="1201517" y="847634"/>
                  </a:lnTo>
                  <a:lnTo>
                    <a:pt x="1183748" y="889920"/>
                  </a:lnTo>
                  <a:lnTo>
                    <a:pt x="1162626" y="931029"/>
                  </a:lnTo>
                  <a:lnTo>
                    <a:pt x="1138142" y="970768"/>
                  </a:lnTo>
                  <a:lnTo>
                    <a:pt x="1110287" y="1008942"/>
                  </a:lnTo>
                  <a:lnTo>
                    <a:pt x="1079052" y="1045356"/>
                  </a:lnTo>
                  <a:lnTo>
                    <a:pt x="1045071" y="1079190"/>
                  </a:lnTo>
                  <a:lnTo>
                    <a:pt x="1009083" y="1109786"/>
                  </a:lnTo>
                  <a:lnTo>
                    <a:pt x="971281" y="1137138"/>
                  </a:lnTo>
                  <a:lnTo>
                    <a:pt x="931861" y="1161241"/>
                  </a:lnTo>
                  <a:lnTo>
                    <a:pt x="891017" y="1182089"/>
                  </a:lnTo>
                  <a:lnTo>
                    <a:pt x="848944" y="1199679"/>
                  </a:lnTo>
                  <a:lnTo>
                    <a:pt x="805837" y="1214003"/>
                  </a:lnTo>
                  <a:lnTo>
                    <a:pt x="761891" y="1225057"/>
                  </a:lnTo>
                  <a:lnTo>
                    <a:pt x="717300" y="1232835"/>
                  </a:lnTo>
                  <a:lnTo>
                    <a:pt x="672260" y="1237332"/>
                  </a:lnTo>
                  <a:lnTo>
                    <a:pt x="626966" y="1238543"/>
                  </a:lnTo>
                  <a:lnTo>
                    <a:pt x="581611" y="1236462"/>
                  </a:lnTo>
                  <a:lnTo>
                    <a:pt x="536392" y="1231084"/>
                  </a:lnTo>
                  <a:lnTo>
                    <a:pt x="491503" y="1222404"/>
                  </a:lnTo>
                  <a:lnTo>
                    <a:pt x="447138" y="1210415"/>
                  </a:lnTo>
                  <a:lnTo>
                    <a:pt x="403492" y="1195114"/>
                  </a:lnTo>
                  <a:lnTo>
                    <a:pt x="360762" y="1176494"/>
                  </a:lnTo>
                  <a:lnTo>
                    <a:pt x="319140" y="1154551"/>
                  </a:lnTo>
                  <a:lnTo>
                    <a:pt x="278822" y="1129278"/>
                  </a:lnTo>
                  <a:lnTo>
                    <a:pt x="240004" y="1100671"/>
                  </a:lnTo>
                  <a:lnTo>
                    <a:pt x="202879" y="1068724"/>
                  </a:lnTo>
                  <a:lnTo>
                    <a:pt x="168282" y="1034073"/>
                  </a:lnTo>
                  <a:lnTo>
                    <a:pt x="136887" y="997485"/>
                  </a:lnTo>
                  <a:lnTo>
                    <a:pt x="108705" y="959156"/>
                  </a:lnTo>
                  <a:lnTo>
                    <a:pt x="83744" y="919280"/>
                  </a:lnTo>
                  <a:lnTo>
                    <a:pt x="62013" y="878052"/>
                  </a:lnTo>
                  <a:lnTo>
                    <a:pt x="43523" y="835665"/>
                  </a:lnTo>
                  <a:lnTo>
                    <a:pt x="28282" y="792316"/>
                  </a:lnTo>
                  <a:lnTo>
                    <a:pt x="16300" y="748197"/>
                  </a:lnTo>
                  <a:lnTo>
                    <a:pt x="7586" y="703504"/>
                  </a:lnTo>
                  <a:lnTo>
                    <a:pt x="2149" y="658431"/>
                  </a:lnTo>
                  <a:lnTo>
                    <a:pt x="0" y="613173"/>
                  </a:lnTo>
                  <a:lnTo>
                    <a:pt x="1146" y="567924"/>
                  </a:lnTo>
                  <a:lnTo>
                    <a:pt x="5599" y="522878"/>
                  </a:lnTo>
                  <a:lnTo>
                    <a:pt x="13366" y="478231"/>
                  </a:lnTo>
                  <a:lnTo>
                    <a:pt x="24458" y="434176"/>
                  </a:lnTo>
                  <a:lnTo>
                    <a:pt x="38884" y="390908"/>
                  </a:lnTo>
                  <a:lnTo>
                    <a:pt x="56653" y="348622"/>
                  </a:lnTo>
                  <a:lnTo>
                    <a:pt x="77775" y="307513"/>
                  </a:lnTo>
                  <a:lnTo>
                    <a:pt x="102259" y="267774"/>
                  </a:lnTo>
                  <a:lnTo>
                    <a:pt x="130114" y="229600"/>
                  </a:lnTo>
                  <a:lnTo>
                    <a:pt x="161350" y="193186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4151" y="2117470"/>
              <a:ext cx="1456055" cy="114300"/>
            </a:xfrm>
            <a:custGeom>
              <a:avLst/>
              <a:gdLst/>
              <a:ahLst/>
              <a:cxnLst/>
              <a:rect l="l" t="t" r="r" b="b"/>
              <a:pathLst>
                <a:path w="1456055" h="114300">
                  <a:moveTo>
                    <a:pt x="1341247" y="0"/>
                  </a:moveTo>
                  <a:lnTo>
                    <a:pt x="1341247" y="114300"/>
                  </a:lnTo>
                  <a:lnTo>
                    <a:pt x="1417447" y="76200"/>
                  </a:lnTo>
                  <a:lnTo>
                    <a:pt x="1360297" y="76200"/>
                  </a:lnTo>
                  <a:lnTo>
                    <a:pt x="1360297" y="38100"/>
                  </a:lnTo>
                  <a:lnTo>
                    <a:pt x="1417447" y="38100"/>
                  </a:lnTo>
                  <a:lnTo>
                    <a:pt x="1341247" y="0"/>
                  </a:lnTo>
                  <a:close/>
                </a:path>
                <a:path w="1456055" h="114300">
                  <a:moveTo>
                    <a:pt x="1341247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1341247" y="76200"/>
                  </a:lnTo>
                  <a:lnTo>
                    <a:pt x="1341247" y="38100"/>
                  </a:lnTo>
                  <a:close/>
                </a:path>
                <a:path w="1456055" h="114300">
                  <a:moveTo>
                    <a:pt x="1417447" y="38100"/>
                  </a:moveTo>
                  <a:lnTo>
                    <a:pt x="1360297" y="38100"/>
                  </a:lnTo>
                  <a:lnTo>
                    <a:pt x="1360297" y="76200"/>
                  </a:lnTo>
                  <a:lnTo>
                    <a:pt x="1417447" y="76200"/>
                  </a:lnTo>
                  <a:lnTo>
                    <a:pt x="1455547" y="57150"/>
                  </a:lnTo>
                  <a:lnTo>
                    <a:pt x="1417447" y="3810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29632" y="3311144"/>
              <a:ext cx="1896110" cy="128752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429633" y="3311144"/>
            <a:ext cx="1896110" cy="1287780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375285" rIns="0" bIns="0" rtlCol="0">
            <a:spAutoFit/>
          </a:bodyPr>
          <a:lstStyle/>
          <a:p>
            <a:pPr marL="587375">
              <a:lnSpc>
                <a:spcPct val="100000"/>
              </a:lnSpc>
              <a:spcBef>
                <a:spcPts val="2955"/>
              </a:spcBef>
            </a:pPr>
            <a:r>
              <a:rPr sz="3200" b="1" spc="-25" dirty="0">
                <a:latin typeface="Calibri"/>
                <a:cs typeface="Calibri"/>
              </a:rPr>
              <a:t>VCO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045502" y="2130679"/>
            <a:ext cx="7171690" cy="1881505"/>
            <a:chOff x="1045502" y="2130679"/>
            <a:chExt cx="7171690" cy="1881505"/>
          </a:xfrm>
        </p:grpSpPr>
        <p:sp>
          <p:nvSpPr>
            <p:cNvPr id="15" name="object 15"/>
            <p:cNvSpPr/>
            <p:nvPr/>
          </p:nvSpPr>
          <p:spPr>
            <a:xfrm>
              <a:off x="2481453" y="2130678"/>
              <a:ext cx="5735955" cy="1881505"/>
            </a:xfrm>
            <a:custGeom>
              <a:avLst/>
              <a:gdLst/>
              <a:ahLst/>
              <a:cxnLst/>
              <a:rect l="l" t="t" r="r" b="b"/>
              <a:pathLst>
                <a:path w="5735955" h="1881504">
                  <a:moveTo>
                    <a:pt x="1948180" y="1805178"/>
                  </a:moveTo>
                  <a:lnTo>
                    <a:pt x="76200" y="1805178"/>
                  </a:lnTo>
                  <a:lnTo>
                    <a:pt x="76200" y="758190"/>
                  </a:lnTo>
                  <a:lnTo>
                    <a:pt x="114300" y="758190"/>
                  </a:lnTo>
                  <a:lnTo>
                    <a:pt x="104775" y="739140"/>
                  </a:lnTo>
                  <a:lnTo>
                    <a:pt x="57150" y="643890"/>
                  </a:lnTo>
                  <a:lnTo>
                    <a:pt x="0" y="758190"/>
                  </a:lnTo>
                  <a:lnTo>
                    <a:pt x="38100" y="758190"/>
                  </a:lnTo>
                  <a:lnTo>
                    <a:pt x="38100" y="1843278"/>
                  </a:lnTo>
                  <a:lnTo>
                    <a:pt x="1948180" y="1843278"/>
                  </a:lnTo>
                  <a:lnTo>
                    <a:pt x="1948180" y="1824228"/>
                  </a:lnTo>
                  <a:lnTo>
                    <a:pt x="1948180" y="1805178"/>
                  </a:lnTo>
                  <a:close/>
                </a:path>
                <a:path w="5735955" h="1881504">
                  <a:moveTo>
                    <a:pt x="5735447" y="0"/>
                  </a:moveTo>
                  <a:lnTo>
                    <a:pt x="5694045" y="0"/>
                  </a:lnTo>
                  <a:lnTo>
                    <a:pt x="5694045" y="1805178"/>
                  </a:lnTo>
                  <a:lnTo>
                    <a:pt x="3958590" y="1805178"/>
                  </a:lnTo>
                  <a:lnTo>
                    <a:pt x="3958590" y="1767078"/>
                  </a:lnTo>
                  <a:lnTo>
                    <a:pt x="3844290" y="1824228"/>
                  </a:lnTo>
                  <a:lnTo>
                    <a:pt x="3958590" y="1881378"/>
                  </a:lnTo>
                  <a:lnTo>
                    <a:pt x="3958590" y="1843278"/>
                  </a:lnTo>
                  <a:lnTo>
                    <a:pt x="5732145" y="1843278"/>
                  </a:lnTo>
                  <a:lnTo>
                    <a:pt x="5732145" y="1824228"/>
                  </a:lnTo>
                  <a:lnTo>
                    <a:pt x="5732145" y="1805178"/>
                  </a:lnTo>
                  <a:lnTo>
                    <a:pt x="5732145" y="38100"/>
                  </a:lnTo>
                  <a:lnTo>
                    <a:pt x="5735447" y="38100"/>
                  </a:lnTo>
                  <a:lnTo>
                    <a:pt x="5735447" y="19050"/>
                  </a:lnTo>
                  <a:lnTo>
                    <a:pt x="573544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45502" y="2688463"/>
              <a:ext cx="315595" cy="282575"/>
            </a:xfrm>
            <a:custGeom>
              <a:avLst/>
              <a:gdLst/>
              <a:ahLst/>
              <a:cxnLst/>
              <a:rect l="l" t="t" r="r" b="b"/>
              <a:pathLst>
                <a:path w="315594" h="282575">
                  <a:moveTo>
                    <a:pt x="225132" y="0"/>
                  </a:moveTo>
                  <a:lnTo>
                    <a:pt x="221183" y="11430"/>
                  </a:lnTo>
                  <a:lnTo>
                    <a:pt x="237498" y="18577"/>
                  </a:lnTo>
                  <a:lnTo>
                    <a:pt x="251547" y="28416"/>
                  </a:lnTo>
                  <a:lnTo>
                    <a:pt x="280092" y="73925"/>
                  </a:lnTo>
                  <a:lnTo>
                    <a:pt x="288418" y="115341"/>
                  </a:lnTo>
                  <a:lnTo>
                    <a:pt x="289521" y="139827"/>
                  </a:lnTo>
                  <a:lnTo>
                    <a:pt x="288474" y="164689"/>
                  </a:lnTo>
                  <a:lnTo>
                    <a:pt x="280092" y="207603"/>
                  </a:lnTo>
                  <a:lnTo>
                    <a:pt x="251602" y="253857"/>
                  </a:lnTo>
                  <a:lnTo>
                    <a:pt x="221627" y="270891"/>
                  </a:lnTo>
                  <a:lnTo>
                    <a:pt x="225132" y="282321"/>
                  </a:lnTo>
                  <a:lnTo>
                    <a:pt x="263693" y="264302"/>
                  </a:lnTo>
                  <a:lnTo>
                    <a:pt x="292061" y="233045"/>
                  </a:lnTo>
                  <a:lnTo>
                    <a:pt x="309429" y="191134"/>
                  </a:lnTo>
                  <a:lnTo>
                    <a:pt x="315175" y="141224"/>
                  </a:lnTo>
                  <a:lnTo>
                    <a:pt x="313745" y="115732"/>
                  </a:lnTo>
                  <a:lnTo>
                    <a:pt x="313723" y="115341"/>
                  </a:lnTo>
                  <a:lnTo>
                    <a:pt x="302102" y="69482"/>
                  </a:lnTo>
                  <a:lnTo>
                    <a:pt x="279050" y="32146"/>
                  </a:lnTo>
                  <a:lnTo>
                    <a:pt x="245661" y="7381"/>
                  </a:lnTo>
                  <a:lnTo>
                    <a:pt x="225132" y="0"/>
                  </a:lnTo>
                  <a:close/>
                </a:path>
                <a:path w="315594" h="282575">
                  <a:moveTo>
                    <a:pt x="90030" y="0"/>
                  </a:moveTo>
                  <a:lnTo>
                    <a:pt x="51617" y="18097"/>
                  </a:lnTo>
                  <a:lnTo>
                    <a:pt x="23291" y="49530"/>
                  </a:lnTo>
                  <a:lnTo>
                    <a:pt x="5821" y="91424"/>
                  </a:lnTo>
                  <a:lnTo>
                    <a:pt x="78" y="139827"/>
                  </a:lnTo>
                  <a:lnTo>
                    <a:pt x="0" y="141224"/>
                  </a:lnTo>
                  <a:lnTo>
                    <a:pt x="5802" y="191134"/>
                  </a:lnTo>
                  <a:lnTo>
                    <a:pt x="23215" y="233045"/>
                  </a:lnTo>
                  <a:lnTo>
                    <a:pt x="51522" y="264302"/>
                  </a:lnTo>
                  <a:lnTo>
                    <a:pt x="90030" y="282321"/>
                  </a:lnTo>
                  <a:lnTo>
                    <a:pt x="93611" y="270891"/>
                  </a:lnTo>
                  <a:lnTo>
                    <a:pt x="77521" y="263773"/>
                  </a:lnTo>
                  <a:lnTo>
                    <a:pt x="63636" y="253857"/>
                  </a:lnTo>
                  <a:lnTo>
                    <a:pt x="35156" y="207603"/>
                  </a:lnTo>
                  <a:lnTo>
                    <a:pt x="26788" y="164689"/>
                  </a:lnTo>
                  <a:lnTo>
                    <a:pt x="25801" y="141224"/>
                  </a:lnTo>
                  <a:lnTo>
                    <a:pt x="25742" y="139827"/>
                  </a:lnTo>
                  <a:lnTo>
                    <a:pt x="29925" y="93757"/>
                  </a:lnTo>
                  <a:lnTo>
                    <a:pt x="42481" y="56261"/>
                  </a:lnTo>
                  <a:lnTo>
                    <a:pt x="77773" y="18577"/>
                  </a:lnTo>
                  <a:lnTo>
                    <a:pt x="94056" y="11430"/>
                  </a:lnTo>
                  <a:lnTo>
                    <a:pt x="900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45109" y="2231516"/>
            <a:ext cx="1165225" cy="758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FM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wave</a:t>
            </a:r>
            <a:endParaRPr sz="2400">
              <a:latin typeface="Calibri"/>
              <a:cs typeface="Calibri"/>
            </a:endParaRPr>
          </a:p>
          <a:p>
            <a:pPr marL="63500" algn="ctr">
              <a:lnSpc>
                <a:spcPct val="100000"/>
              </a:lnSpc>
              <a:spcBef>
                <a:spcPts val="10"/>
              </a:spcBef>
            </a:pPr>
            <a:r>
              <a:rPr sz="2400" dirty="0">
                <a:latin typeface="Cambria Math"/>
                <a:cs typeface="Cambria Math"/>
              </a:rPr>
              <a:t>𝐒</a:t>
            </a:r>
            <a:r>
              <a:rPr sz="2400" spc="46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𝐭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339591" y="3489197"/>
            <a:ext cx="315595" cy="282575"/>
          </a:xfrm>
          <a:custGeom>
            <a:avLst/>
            <a:gdLst/>
            <a:ahLst/>
            <a:cxnLst/>
            <a:rect l="l" t="t" r="r" b="b"/>
            <a:pathLst>
              <a:path w="315595" h="282575">
                <a:moveTo>
                  <a:pt x="225171" y="0"/>
                </a:moveTo>
                <a:lnTo>
                  <a:pt x="221234" y="11430"/>
                </a:lnTo>
                <a:lnTo>
                  <a:pt x="237541" y="18522"/>
                </a:lnTo>
                <a:lnTo>
                  <a:pt x="251587" y="28352"/>
                </a:lnTo>
                <a:lnTo>
                  <a:pt x="280110" y="73852"/>
                </a:lnTo>
                <a:lnTo>
                  <a:pt x="288365" y="115341"/>
                </a:lnTo>
                <a:lnTo>
                  <a:pt x="289433" y="139700"/>
                </a:lnTo>
                <a:lnTo>
                  <a:pt x="288405" y="164635"/>
                </a:lnTo>
                <a:lnTo>
                  <a:pt x="280110" y="207601"/>
                </a:lnTo>
                <a:lnTo>
                  <a:pt x="251634" y="253857"/>
                </a:lnTo>
                <a:lnTo>
                  <a:pt x="221615" y="270891"/>
                </a:lnTo>
                <a:lnTo>
                  <a:pt x="225171" y="282321"/>
                </a:lnTo>
                <a:lnTo>
                  <a:pt x="263715" y="264255"/>
                </a:lnTo>
                <a:lnTo>
                  <a:pt x="291973" y="233045"/>
                </a:lnTo>
                <a:lnTo>
                  <a:pt x="309403" y="191134"/>
                </a:lnTo>
                <a:lnTo>
                  <a:pt x="315214" y="141224"/>
                </a:lnTo>
                <a:lnTo>
                  <a:pt x="313777" y="115623"/>
                </a:lnTo>
                <a:lnTo>
                  <a:pt x="313761" y="115341"/>
                </a:lnTo>
                <a:lnTo>
                  <a:pt x="302140" y="69482"/>
                </a:lnTo>
                <a:lnTo>
                  <a:pt x="279070" y="32146"/>
                </a:lnTo>
                <a:lnTo>
                  <a:pt x="245645" y="7381"/>
                </a:lnTo>
                <a:lnTo>
                  <a:pt x="225171" y="0"/>
                </a:lnTo>
                <a:close/>
              </a:path>
              <a:path w="315595" h="282575">
                <a:moveTo>
                  <a:pt x="90043" y="0"/>
                </a:moveTo>
                <a:lnTo>
                  <a:pt x="51641" y="18097"/>
                </a:lnTo>
                <a:lnTo>
                  <a:pt x="23241" y="49530"/>
                </a:lnTo>
                <a:lnTo>
                  <a:pt x="5810" y="91424"/>
                </a:lnTo>
                <a:lnTo>
                  <a:pt x="85" y="139700"/>
                </a:lnTo>
                <a:lnTo>
                  <a:pt x="0" y="141224"/>
                </a:lnTo>
                <a:lnTo>
                  <a:pt x="5810" y="191134"/>
                </a:lnTo>
                <a:lnTo>
                  <a:pt x="23241" y="233045"/>
                </a:lnTo>
                <a:lnTo>
                  <a:pt x="51546" y="264255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31" y="263773"/>
                </a:lnTo>
                <a:lnTo>
                  <a:pt x="63642" y="253857"/>
                </a:lnTo>
                <a:lnTo>
                  <a:pt x="35210" y="207601"/>
                </a:lnTo>
                <a:lnTo>
                  <a:pt x="26828" y="164635"/>
                </a:lnTo>
                <a:lnTo>
                  <a:pt x="25781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754" y="28352"/>
                </a:lnTo>
                <a:lnTo>
                  <a:pt x="94107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155695" y="3399790"/>
            <a:ext cx="4127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𝐫</a:t>
            </a:r>
            <a:r>
              <a:rPr sz="2400" spc="459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𝐭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4933" y="1699132"/>
            <a:ext cx="315595" cy="282575"/>
          </a:xfrm>
          <a:custGeom>
            <a:avLst/>
            <a:gdLst/>
            <a:ahLst/>
            <a:cxnLst/>
            <a:rect l="l" t="t" r="r" b="b"/>
            <a:pathLst>
              <a:path w="315595" h="282575">
                <a:moveTo>
                  <a:pt x="225171" y="0"/>
                </a:moveTo>
                <a:lnTo>
                  <a:pt x="221234" y="11430"/>
                </a:lnTo>
                <a:lnTo>
                  <a:pt x="237541" y="18522"/>
                </a:lnTo>
                <a:lnTo>
                  <a:pt x="251587" y="28352"/>
                </a:lnTo>
                <a:lnTo>
                  <a:pt x="280130" y="73852"/>
                </a:lnTo>
                <a:lnTo>
                  <a:pt x="288471" y="115341"/>
                </a:lnTo>
                <a:lnTo>
                  <a:pt x="289560" y="139700"/>
                </a:lnTo>
                <a:lnTo>
                  <a:pt x="288512" y="164635"/>
                </a:lnTo>
                <a:lnTo>
                  <a:pt x="280130" y="207601"/>
                </a:lnTo>
                <a:lnTo>
                  <a:pt x="251634" y="253857"/>
                </a:lnTo>
                <a:lnTo>
                  <a:pt x="221615" y="270891"/>
                </a:lnTo>
                <a:lnTo>
                  <a:pt x="225171" y="282321"/>
                </a:lnTo>
                <a:lnTo>
                  <a:pt x="263731" y="264255"/>
                </a:lnTo>
                <a:lnTo>
                  <a:pt x="292100" y="233045"/>
                </a:lnTo>
                <a:lnTo>
                  <a:pt x="309419" y="191134"/>
                </a:lnTo>
                <a:lnTo>
                  <a:pt x="315214" y="141224"/>
                </a:lnTo>
                <a:lnTo>
                  <a:pt x="313777" y="115623"/>
                </a:lnTo>
                <a:lnTo>
                  <a:pt x="313761" y="115341"/>
                </a:lnTo>
                <a:lnTo>
                  <a:pt x="302140" y="69482"/>
                </a:lnTo>
                <a:lnTo>
                  <a:pt x="279088" y="32146"/>
                </a:lnTo>
                <a:lnTo>
                  <a:pt x="245699" y="7381"/>
                </a:lnTo>
                <a:lnTo>
                  <a:pt x="225171" y="0"/>
                </a:lnTo>
                <a:close/>
              </a:path>
              <a:path w="315595" h="282575">
                <a:moveTo>
                  <a:pt x="90043" y="0"/>
                </a:moveTo>
                <a:lnTo>
                  <a:pt x="51657" y="18097"/>
                </a:lnTo>
                <a:lnTo>
                  <a:pt x="23368" y="49530"/>
                </a:lnTo>
                <a:lnTo>
                  <a:pt x="5826" y="91424"/>
                </a:lnTo>
                <a:lnTo>
                  <a:pt x="85" y="139700"/>
                </a:lnTo>
                <a:lnTo>
                  <a:pt x="0" y="141224"/>
                </a:lnTo>
                <a:lnTo>
                  <a:pt x="5810" y="191134"/>
                </a:lnTo>
                <a:lnTo>
                  <a:pt x="23241" y="233045"/>
                </a:lnTo>
                <a:lnTo>
                  <a:pt x="51546" y="264255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73"/>
                </a:lnTo>
                <a:lnTo>
                  <a:pt x="63690" y="253857"/>
                </a:lnTo>
                <a:lnTo>
                  <a:pt x="35210" y="207601"/>
                </a:lnTo>
                <a:lnTo>
                  <a:pt x="26828" y="164635"/>
                </a:lnTo>
                <a:lnTo>
                  <a:pt x="25781" y="139700"/>
                </a:lnTo>
                <a:lnTo>
                  <a:pt x="26828" y="115623"/>
                </a:lnTo>
                <a:lnTo>
                  <a:pt x="35210" y="73852"/>
                </a:lnTo>
                <a:lnTo>
                  <a:pt x="63801" y="28352"/>
                </a:lnTo>
                <a:lnTo>
                  <a:pt x="94107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448303" y="1609471"/>
            <a:ext cx="4356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6705" algn="l"/>
              </a:tabLst>
            </a:pPr>
            <a:r>
              <a:rPr sz="2400" spc="-50" dirty="0">
                <a:latin typeface="Cambria Math"/>
                <a:cs typeface="Cambria Math"/>
              </a:rPr>
              <a:t>𝐞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𝐭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840851" y="1717039"/>
            <a:ext cx="315595" cy="282575"/>
          </a:xfrm>
          <a:custGeom>
            <a:avLst/>
            <a:gdLst/>
            <a:ahLst/>
            <a:cxnLst/>
            <a:rect l="l" t="t" r="r" b="b"/>
            <a:pathLst>
              <a:path w="315595" h="282575">
                <a:moveTo>
                  <a:pt x="225171" y="0"/>
                </a:moveTo>
                <a:lnTo>
                  <a:pt x="221234" y="11430"/>
                </a:lnTo>
                <a:lnTo>
                  <a:pt x="237541" y="18577"/>
                </a:lnTo>
                <a:lnTo>
                  <a:pt x="251587" y="28416"/>
                </a:lnTo>
                <a:lnTo>
                  <a:pt x="280110" y="73925"/>
                </a:lnTo>
                <a:lnTo>
                  <a:pt x="288349" y="115341"/>
                </a:lnTo>
                <a:lnTo>
                  <a:pt x="289433" y="139827"/>
                </a:lnTo>
                <a:lnTo>
                  <a:pt x="288405" y="164689"/>
                </a:lnTo>
                <a:lnTo>
                  <a:pt x="280110" y="207603"/>
                </a:lnTo>
                <a:lnTo>
                  <a:pt x="251634" y="253857"/>
                </a:lnTo>
                <a:lnTo>
                  <a:pt x="221615" y="270891"/>
                </a:lnTo>
                <a:lnTo>
                  <a:pt x="225171" y="282321"/>
                </a:lnTo>
                <a:lnTo>
                  <a:pt x="263715" y="264302"/>
                </a:lnTo>
                <a:lnTo>
                  <a:pt x="291973" y="233045"/>
                </a:lnTo>
                <a:lnTo>
                  <a:pt x="309403" y="191134"/>
                </a:lnTo>
                <a:lnTo>
                  <a:pt x="315214" y="141224"/>
                </a:lnTo>
                <a:lnTo>
                  <a:pt x="313783" y="115732"/>
                </a:lnTo>
                <a:lnTo>
                  <a:pt x="313761" y="115341"/>
                </a:lnTo>
                <a:lnTo>
                  <a:pt x="302140" y="69482"/>
                </a:lnTo>
                <a:lnTo>
                  <a:pt x="279070" y="32146"/>
                </a:lnTo>
                <a:lnTo>
                  <a:pt x="245645" y="7381"/>
                </a:lnTo>
                <a:lnTo>
                  <a:pt x="225171" y="0"/>
                </a:lnTo>
                <a:close/>
              </a:path>
              <a:path w="315595" h="282575">
                <a:moveTo>
                  <a:pt x="90043" y="0"/>
                </a:moveTo>
                <a:lnTo>
                  <a:pt x="51641" y="18097"/>
                </a:lnTo>
                <a:lnTo>
                  <a:pt x="23241" y="49530"/>
                </a:lnTo>
                <a:lnTo>
                  <a:pt x="5810" y="91424"/>
                </a:lnTo>
                <a:lnTo>
                  <a:pt x="78" y="139827"/>
                </a:lnTo>
                <a:lnTo>
                  <a:pt x="0" y="141224"/>
                </a:lnTo>
                <a:lnTo>
                  <a:pt x="1452" y="167179"/>
                </a:lnTo>
                <a:lnTo>
                  <a:pt x="13073" y="213090"/>
                </a:lnTo>
                <a:lnTo>
                  <a:pt x="36125" y="250334"/>
                </a:lnTo>
                <a:lnTo>
                  <a:pt x="69514" y="274960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31" y="263773"/>
                </a:lnTo>
                <a:lnTo>
                  <a:pt x="63642" y="253857"/>
                </a:lnTo>
                <a:lnTo>
                  <a:pt x="35210" y="207603"/>
                </a:lnTo>
                <a:lnTo>
                  <a:pt x="26828" y="164689"/>
                </a:lnTo>
                <a:lnTo>
                  <a:pt x="25839" y="141224"/>
                </a:lnTo>
                <a:lnTo>
                  <a:pt x="25781" y="139827"/>
                </a:lnTo>
                <a:lnTo>
                  <a:pt x="29972" y="93757"/>
                </a:lnTo>
                <a:lnTo>
                  <a:pt x="42545" y="56261"/>
                </a:lnTo>
                <a:lnTo>
                  <a:pt x="77799" y="18577"/>
                </a:lnTo>
                <a:lnTo>
                  <a:pt x="94107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8637778" y="1626819"/>
            <a:ext cx="43243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𝐯</a:t>
            </a:r>
            <a:r>
              <a:rPr sz="2400" spc="44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𝐭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8338" y="4805298"/>
            <a:ext cx="990727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Phase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Lock</a:t>
            </a:r>
            <a:r>
              <a:rPr sz="2400" b="1" spc="-9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Loop</a:t>
            </a:r>
            <a:r>
              <a:rPr sz="2400" b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has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three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essential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elements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with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Negative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feedback:</a:t>
            </a:r>
            <a:endParaRPr sz="2400">
              <a:latin typeface="Calibri"/>
              <a:cs typeface="Calibri"/>
            </a:endParaRPr>
          </a:p>
          <a:p>
            <a:pPr marL="927100" lvl="1" indent="-457200">
              <a:lnSpc>
                <a:spcPct val="100000"/>
              </a:lnSpc>
              <a:buFont typeface="Wingdings"/>
              <a:buChar char=""/>
              <a:tabLst>
                <a:tab pos="927100" algn="l"/>
              </a:tabLst>
            </a:pPr>
            <a:r>
              <a:rPr sz="2400" b="1" dirty="0">
                <a:solidFill>
                  <a:srgbClr val="843B0B"/>
                </a:solidFill>
                <a:latin typeface="Calibri"/>
                <a:cs typeface="Calibri"/>
              </a:rPr>
              <a:t>Multiplier:</a:t>
            </a:r>
            <a:r>
              <a:rPr sz="2400" b="1" spc="-30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843B0B"/>
                </a:solidFill>
                <a:latin typeface="Calibri"/>
                <a:cs typeface="Calibri"/>
              </a:rPr>
              <a:t>It</a:t>
            </a:r>
            <a:r>
              <a:rPr sz="2400" b="1" spc="-35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843B0B"/>
                </a:solidFill>
                <a:latin typeface="Calibri"/>
                <a:cs typeface="Calibri"/>
              </a:rPr>
              <a:t>is</a:t>
            </a:r>
            <a:r>
              <a:rPr sz="2400" b="1" spc="-40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843B0B"/>
                </a:solidFill>
                <a:latin typeface="Calibri"/>
                <a:cs typeface="Calibri"/>
              </a:rPr>
              <a:t>used</a:t>
            </a:r>
            <a:r>
              <a:rPr sz="2400" b="1" spc="-40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843B0B"/>
                </a:solidFill>
                <a:latin typeface="Calibri"/>
                <a:cs typeface="Calibri"/>
              </a:rPr>
              <a:t>as</a:t>
            </a:r>
            <a:r>
              <a:rPr sz="2400" b="1" spc="-40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843B0B"/>
                </a:solidFill>
                <a:latin typeface="Calibri"/>
                <a:cs typeface="Calibri"/>
              </a:rPr>
              <a:t>a</a:t>
            </a:r>
            <a:r>
              <a:rPr sz="2400" b="1" spc="-35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843B0B"/>
                </a:solidFill>
                <a:latin typeface="Calibri"/>
                <a:cs typeface="Calibri"/>
              </a:rPr>
              <a:t>Phase</a:t>
            </a:r>
            <a:r>
              <a:rPr sz="2400" b="1" spc="-20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843B0B"/>
                </a:solidFill>
                <a:latin typeface="Calibri"/>
                <a:cs typeface="Calibri"/>
              </a:rPr>
              <a:t>Detector.</a:t>
            </a:r>
            <a:endParaRPr sz="2400">
              <a:latin typeface="Calibri"/>
              <a:cs typeface="Calibri"/>
            </a:endParaRPr>
          </a:p>
          <a:p>
            <a:pPr marL="927100" lvl="1" indent="-457200">
              <a:lnSpc>
                <a:spcPct val="100000"/>
              </a:lnSpc>
              <a:buFont typeface="Wingdings"/>
              <a:buChar char=""/>
              <a:tabLst>
                <a:tab pos="927100" algn="l"/>
              </a:tabLst>
            </a:pPr>
            <a:r>
              <a:rPr sz="2400" b="1" dirty="0">
                <a:solidFill>
                  <a:srgbClr val="843B0B"/>
                </a:solidFill>
                <a:latin typeface="Calibri"/>
                <a:cs typeface="Calibri"/>
              </a:rPr>
              <a:t>VCO:</a:t>
            </a:r>
            <a:r>
              <a:rPr sz="2400" b="1" spc="-35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843B0B"/>
                </a:solidFill>
                <a:latin typeface="Calibri"/>
                <a:cs typeface="Calibri"/>
              </a:rPr>
              <a:t>It</a:t>
            </a:r>
            <a:r>
              <a:rPr sz="2400" b="1" spc="-45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843B0B"/>
                </a:solidFill>
                <a:latin typeface="Calibri"/>
                <a:cs typeface="Calibri"/>
              </a:rPr>
              <a:t>works</a:t>
            </a:r>
            <a:r>
              <a:rPr sz="2400" b="1" spc="-40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843B0B"/>
                </a:solidFill>
                <a:latin typeface="Calibri"/>
                <a:cs typeface="Calibri"/>
              </a:rPr>
              <a:t>as</a:t>
            </a:r>
            <a:r>
              <a:rPr sz="2400" b="1" spc="-35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843B0B"/>
                </a:solidFill>
                <a:latin typeface="Calibri"/>
                <a:cs typeface="Calibri"/>
              </a:rPr>
              <a:t>a</a:t>
            </a:r>
            <a:r>
              <a:rPr sz="2400" b="1" spc="-35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843B0B"/>
                </a:solidFill>
                <a:latin typeface="Calibri"/>
                <a:cs typeface="Calibri"/>
              </a:rPr>
              <a:t>Local</a:t>
            </a:r>
            <a:r>
              <a:rPr sz="2400" b="1" spc="-80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843B0B"/>
                </a:solidFill>
                <a:latin typeface="Calibri"/>
                <a:cs typeface="Calibri"/>
              </a:rPr>
              <a:t>Oscillator.</a:t>
            </a:r>
            <a:endParaRPr sz="2400">
              <a:latin typeface="Calibri"/>
              <a:cs typeface="Calibri"/>
            </a:endParaRPr>
          </a:p>
          <a:p>
            <a:pPr marL="927100" lvl="1" indent="-457200">
              <a:lnSpc>
                <a:spcPct val="100000"/>
              </a:lnSpc>
              <a:buFont typeface="Wingdings"/>
              <a:buChar char=""/>
              <a:tabLst>
                <a:tab pos="927100" algn="l"/>
              </a:tabLst>
            </a:pPr>
            <a:r>
              <a:rPr sz="2400" b="1" dirty="0">
                <a:solidFill>
                  <a:srgbClr val="843B0B"/>
                </a:solidFill>
                <a:latin typeface="Calibri"/>
                <a:cs typeface="Calibri"/>
              </a:rPr>
              <a:t>Loop</a:t>
            </a:r>
            <a:r>
              <a:rPr sz="2400" b="1" spc="-65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843B0B"/>
                </a:solidFill>
                <a:latin typeface="Calibri"/>
                <a:cs typeface="Calibri"/>
              </a:rPr>
              <a:t>Filter:</a:t>
            </a:r>
            <a:r>
              <a:rPr sz="2400" b="1" spc="-35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843B0B"/>
                </a:solidFill>
                <a:latin typeface="Calibri"/>
                <a:cs typeface="Calibri"/>
              </a:rPr>
              <a:t>It</a:t>
            </a:r>
            <a:r>
              <a:rPr sz="2400" b="1" spc="-20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843B0B"/>
                </a:solidFill>
                <a:latin typeface="Calibri"/>
                <a:cs typeface="Calibri"/>
              </a:rPr>
              <a:t>acts</a:t>
            </a:r>
            <a:r>
              <a:rPr sz="2400" b="1" spc="-30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843B0B"/>
                </a:solidFill>
                <a:latin typeface="Calibri"/>
                <a:cs typeface="Calibri"/>
              </a:rPr>
              <a:t>as</a:t>
            </a:r>
            <a:r>
              <a:rPr sz="2400" b="1" spc="-30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843B0B"/>
                </a:solidFill>
                <a:latin typeface="Calibri"/>
                <a:cs typeface="Calibri"/>
              </a:rPr>
              <a:t>a</a:t>
            </a:r>
            <a:r>
              <a:rPr sz="2400" b="1" spc="-40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843B0B"/>
                </a:solidFill>
                <a:latin typeface="Calibri"/>
                <a:cs typeface="Calibri"/>
              </a:rPr>
              <a:t>Low</a:t>
            </a:r>
            <a:r>
              <a:rPr sz="2400" b="1" spc="-55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843B0B"/>
                </a:solidFill>
                <a:latin typeface="Calibri"/>
                <a:cs typeface="Calibri"/>
              </a:rPr>
              <a:t>Pass</a:t>
            </a:r>
            <a:r>
              <a:rPr sz="2400" b="1" spc="-15" dirty="0">
                <a:solidFill>
                  <a:srgbClr val="843B0B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843B0B"/>
                </a:solidFill>
                <a:latin typeface="Calibri"/>
                <a:cs typeface="Calibri"/>
              </a:rPr>
              <a:t>Filter.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Linear</a:t>
            </a:r>
            <a:r>
              <a:rPr sz="3100" u="sng" spc="-5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1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Model</a:t>
            </a:r>
            <a:r>
              <a:rPr sz="3100" u="sng" spc="-6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1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of</a:t>
            </a:r>
            <a:r>
              <a:rPr sz="3100" u="sng" spc="-7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1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Phase</a:t>
            </a:r>
            <a:r>
              <a:rPr sz="3100" u="sng" spc="-5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100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Lock</a:t>
            </a:r>
            <a:r>
              <a:rPr sz="3100" u="sng" spc="-6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 </a:t>
            </a:r>
            <a:r>
              <a:rPr sz="3100" u="sng" spc="-2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</a:rPr>
              <a:t>Loop</a:t>
            </a:r>
            <a:endParaRPr sz="3100"/>
          </a:p>
        </p:txBody>
      </p:sp>
      <p:grpSp>
        <p:nvGrpSpPr>
          <p:cNvPr id="3" name="object 3"/>
          <p:cNvGrpSpPr/>
          <p:nvPr/>
        </p:nvGrpSpPr>
        <p:grpSpPr>
          <a:xfrm>
            <a:off x="470509" y="1663954"/>
            <a:ext cx="8141334" cy="1877695"/>
            <a:chOff x="470509" y="1663954"/>
            <a:chExt cx="8141334" cy="1877695"/>
          </a:xfrm>
        </p:grpSpPr>
        <p:sp>
          <p:nvSpPr>
            <p:cNvPr id="4" name="object 4"/>
            <p:cNvSpPr/>
            <p:nvPr/>
          </p:nvSpPr>
          <p:spPr>
            <a:xfrm>
              <a:off x="470509" y="1663953"/>
              <a:ext cx="8141334" cy="1877695"/>
            </a:xfrm>
            <a:custGeom>
              <a:avLst/>
              <a:gdLst/>
              <a:ahLst/>
              <a:cxnLst/>
              <a:rect l="l" t="t" r="r" b="b"/>
              <a:pathLst>
                <a:path w="8141334" h="1877695">
                  <a:moveTo>
                    <a:pt x="1435506" y="62484"/>
                  </a:moveTo>
                  <a:lnTo>
                    <a:pt x="1397406" y="43434"/>
                  </a:lnTo>
                  <a:lnTo>
                    <a:pt x="1321206" y="5334"/>
                  </a:lnTo>
                  <a:lnTo>
                    <a:pt x="1321206" y="43434"/>
                  </a:lnTo>
                  <a:lnTo>
                    <a:pt x="0" y="43434"/>
                  </a:lnTo>
                  <a:lnTo>
                    <a:pt x="0" y="81534"/>
                  </a:lnTo>
                  <a:lnTo>
                    <a:pt x="1321206" y="81534"/>
                  </a:lnTo>
                  <a:lnTo>
                    <a:pt x="1321206" y="119634"/>
                  </a:lnTo>
                  <a:lnTo>
                    <a:pt x="1397406" y="81534"/>
                  </a:lnTo>
                  <a:lnTo>
                    <a:pt x="1435506" y="62484"/>
                  </a:lnTo>
                  <a:close/>
                </a:path>
                <a:path w="8141334" h="1877695">
                  <a:moveTo>
                    <a:pt x="3651275" y="62484"/>
                  </a:moveTo>
                  <a:lnTo>
                    <a:pt x="3613175" y="43434"/>
                  </a:lnTo>
                  <a:lnTo>
                    <a:pt x="3536975" y="5334"/>
                  </a:lnTo>
                  <a:lnTo>
                    <a:pt x="3536975" y="43434"/>
                  </a:lnTo>
                  <a:lnTo>
                    <a:pt x="2253259" y="43434"/>
                  </a:lnTo>
                  <a:lnTo>
                    <a:pt x="2253259" y="81534"/>
                  </a:lnTo>
                  <a:lnTo>
                    <a:pt x="3536975" y="81534"/>
                  </a:lnTo>
                  <a:lnTo>
                    <a:pt x="3536975" y="119634"/>
                  </a:lnTo>
                  <a:lnTo>
                    <a:pt x="3613175" y="81534"/>
                  </a:lnTo>
                  <a:lnTo>
                    <a:pt x="3651275" y="62484"/>
                  </a:lnTo>
                  <a:close/>
                </a:path>
                <a:path w="8141334" h="1877695">
                  <a:moveTo>
                    <a:pt x="3959123" y="1801368"/>
                  </a:moveTo>
                  <a:lnTo>
                    <a:pt x="1871370" y="1801368"/>
                  </a:lnTo>
                  <a:lnTo>
                    <a:pt x="1871370" y="585089"/>
                  </a:lnTo>
                  <a:lnTo>
                    <a:pt x="1909470" y="585089"/>
                  </a:lnTo>
                  <a:lnTo>
                    <a:pt x="1899945" y="566039"/>
                  </a:lnTo>
                  <a:lnTo>
                    <a:pt x="1852320" y="470789"/>
                  </a:lnTo>
                  <a:lnTo>
                    <a:pt x="1795170" y="585089"/>
                  </a:lnTo>
                  <a:lnTo>
                    <a:pt x="1833270" y="585089"/>
                  </a:lnTo>
                  <a:lnTo>
                    <a:pt x="1833270" y="1839468"/>
                  </a:lnTo>
                  <a:lnTo>
                    <a:pt x="3959123" y="1839468"/>
                  </a:lnTo>
                  <a:lnTo>
                    <a:pt x="3959123" y="1820418"/>
                  </a:lnTo>
                  <a:lnTo>
                    <a:pt x="3959123" y="1801368"/>
                  </a:lnTo>
                  <a:close/>
                </a:path>
                <a:path w="8141334" h="1877695">
                  <a:moveTo>
                    <a:pt x="8140852" y="57150"/>
                  </a:moveTo>
                  <a:lnTo>
                    <a:pt x="8102752" y="38100"/>
                  </a:lnTo>
                  <a:lnTo>
                    <a:pt x="8026552" y="0"/>
                  </a:lnTo>
                  <a:lnTo>
                    <a:pt x="8026552" y="38100"/>
                  </a:lnTo>
                  <a:lnTo>
                    <a:pt x="7336688" y="38100"/>
                  </a:lnTo>
                  <a:lnTo>
                    <a:pt x="7278776" y="38100"/>
                  </a:lnTo>
                  <a:lnTo>
                    <a:pt x="6653428" y="38100"/>
                  </a:lnTo>
                  <a:lnTo>
                    <a:pt x="6653428" y="76200"/>
                  </a:lnTo>
                  <a:lnTo>
                    <a:pt x="7278776" y="76200"/>
                  </a:lnTo>
                  <a:lnTo>
                    <a:pt x="7298588" y="76200"/>
                  </a:lnTo>
                  <a:lnTo>
                    <a:pt x="7298588" y="1801368"/>
                  </a:lnTo>
                  <a:lnTo>
                    <a:pt x="5340248" y="1801368"/>
                  </a:lnTo>
                  <a:lnTo>
                    <a:pt x="5340248" y="1763268"/>
                  </a:lnTo>
                  <a:lnTo>
                    <a:pt x="5225948" y="1820418"/>
                  </a:lnTo>
                  <a:lnTo>
                    <a:pt x="5340248" y="1877568"/>
                  </a:lnTo>
                  <a:lnTo>
                    <a:pt x="5340248" y="1839468"/>
                  </a:lnTo>
                  <a:lnTo>
                    <a:pt x="7336688" y="1839468"/>
                  </a:lnTo>
                  <a:lnTo>
                    <a:pt x="7336688" y="1820418"/>
                  </a:lnTo>
                  <a:lnTo>
                    <a:pt x="7336688" y="1801368"/>
                  </a:lnTo>
                  <a:lnTo>
                    <a:pt x="7336688" y="76200"/>
                  </a:lnTo>
                  <a:lnTo>
                    <a:pt x="8026552" y="76200"/>
                  </a:lnTo>
                  <a:lnTo>
                    <a:pt x="8026552" y="114300"/>
                  </a:lnTo>
                  <a:lnTo>
                    <a:pt x="8102752" y="76200"/>
                  </a:lnTo>
                  <a:lnTo>
                    <a:pt x="8140852" y="5715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9010" y="1852168"/>
              <a:ext cx="315595" cy="282575"/>
            </a:xfrm>
            <a:custGeom>
              <a:avLst/>
              <a:gdLst/>
              <a:ahLst/>
              <a:cxnLst/>
              <a:rect l="l" t="t" r="r" b="b"/>
              <a:pathLst>
                <a:path w="315594" h="282575">
                  <a:moveTo>
                    <a:pt x="225196" y="0"/>
                  </a:moveTo>
                  <a:lnTo>
                    <a:pt x="221183" y="11557"/>
                  </a:lnTo>
                  <a:lnTo>
                    <a:pt x="237520" y="18631"/>
                  </a:lnTo>
                  <a:lnTo>
                    <a:pt x="251574" y="28432"/>
                  </a:lnTo>
                  <a:lnTo>
                    <a:pt x="280112" y="73925"/>
                  </a:lnTo>
                  <a:lnTo>
                    <a:pt x="288389" y="115359"/>
                  </a:lnTo>
                  <a:lnTo>
                    <a:pt x="288442" y="115732"/>
                  </a:lnTo>
                  <a:lnTo>
                    <a:pt x="288438" y="164707"/>
                  </a:lnTo>
                  <a:lnTo>
                    <a:pt x="280070" y="207656"/>
                  </a:lnTo>
                  <a:lnTo>
                    <a:pt x="251591" y="253857"/>
                  </a:lnTo>
                  <a:lnTo>
                    <a:pt x="221627" y="270891"/>
                  </a:lnTo>
                  <a:lnTo>
                    <a:pt x="225196" y="282321"/>
                  </a:lnTo>
                  <a:lnTo>
                    <a:pt x="263705" y="264302"/>
                  </a:lnTo>
                  <a:lnTo>
                    <a:pt x="292023" y="233045"/>
                  </a:lnTo>
                  <a:lnTo>
                    <a:pt x="309432" y="191134"/>
                  </a:lnTo>
                  <a:lnTo>
                    <a:pt x="315239" y="141224"/>
                  </a:lnTo>
                  <a:lnTo>
                    <a:pt x="313803" y="115732"/>
                  </a:lnTo>
                  <a:lnTo>
                    <a:pt x="302134" y="69536"/>
                  </a:lnTo>
                  <a:lnTo>
                    <a:pt x="279038" y="32164"/>
                  </a:lnTo>
                  <a:lnTo>
                    <a:pt x="245663" y="7435"/>
                  </a:lnTo>
                  <a:lnTo>
                    <a:pt x="225196" y="0"/>
                  </a:lnTo>
                  <a:close/>
                </a:path>
                <a:path w="315594" h="282575">
                  <a:moveTo>
                    <a:pt x="90030" y="0"/>
                  </a:moveTo>
                  <a:lnTo>
                    <a:pt x="51617" y="18145"/>
                  </a:lnTo>
                  <a:lnTo>
                    <a:pt x="23291" y="49530"/>
                  </a:lnTo>
                  <a:lnTo>
                    <a:pt x="5821" y="91471"/>
                  </a:lnTo>
                  <a:lnTo>
                    <a:pt x="78" y="139827"/>
                  </a:lnTo>
                  <a:lnTo>
                    <a:pt x="0" y="141224"/>
                  </a:lnTo>
                  <a:lnTo>
                    <a:pt x="5802" y="191134"/>
                  </a:lnTo>
                  <a:lnTo>
                    <a:pt x="23215" y="233045"/>
                  </a:lnTo>
                  <a:lnTo>
                    <a:pt x="51522" y="264302"/>
                  </a:lnTo>
                  <a:lnTo>
                    <a:pt x="90030" y="282321"/>
                  </a:lnTo>
                  <a:lnTo>
                    <a:pt x="93611" y="270891"/>
                  </a:lnTo>
                  <a:lnTo>
                    <a:pt x="77521" y="263773"/>
                  </a:lnTo>
                  <a:lnTo>
                    <a:pt x="63636" y="253857"/>
                  </a:lnTo>
                  <a:lnTo>
                    <a:pt x="35156" y="207656"/>
                  </a:lnTo>
                  <a:lnTo>
                    <a:pt x="26788" y="164707"/>
                  </a:lnTo>
                  <a:lnTo>
                    <a:pt x="25742" y="139827"/>
                  </a:lnTo>
                  <a:lnTo>
                    <a:pt x="26788" y="115732"/>
                  </a:lnTo>
                  <a:lnTo>
                    <a:pt x="35156" y="73925"/>
                  </a:lnTo>
                  <a:lnTo>
                    <a:pt x="63749" y="28432"/>
                  </a:lnTo>
                  <a:lnTo>
                    <a:pt x="94056" y="11557"/>
                  </a:lnTo>
                  <a:lnTo>
                    <a:pt x="900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57809" y="1762505"/>
            <a:ext cx="7156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60705" algn="l"/>
              </a:tabLst>
            </a:pPr>
            <a:r>
              <a:rPr sz="2400" spc="-25" dirty="0">
                <a:latin typeface="Cambria Math"/>
                <a:cs typeface="Cambria Math"/>
              </a:rPr>
              <a:t>𝚽</a:t>
            </a:r>
            <a:r>
              <a:rPr sz="2625" spc="-37" baseline="-15873" dirty="0">
                <a:latin typeface="Cambria Math"/>
                <a:cs typeface="Cambria Math"/>
              </a:rPr>
              <a:t>𝟏</a:t>
            </a:r>
            <a:r>
              <a:rPr sz="2625" baseline="-15873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𝐭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903727" y="2304414"/>
            <a:ext cx="315595" cy="282575"/>
          </a:xfrm>
          <a:custGeom>
            <a:avLst/>
            <a:gdLst/>
            <a:ahLst/>
            <a:cxnLst/>
            <a:rect l="l" t="t" r="r" b="b"/>
            <a:pathLst>
              <a:path w="315594" h="282575">
                <a:moveTo>
                  <a:pt x="225298" y="0"/>
                </a:moveTo>
                <a:lnTo>
                  <a:pt x="221234" y="11430"/>
                </a:lnTo>
                <a:lnTo>
                  <a:pt x="237597" y="18504"/>
                </a:lnTo>
                <a:lnTo>
                  <a:pt x="251650" y="28305"/>
                </a:lnTo>
                <a:lnTo>
                  <a:pt x="280183" y="73852"/>
                </a:lnTo>
                <a:lnTo>
                  <a:pt x="288473" y="115339"/>
                </a:lnTo>
                <a:lnTo>
                  <a:pt x="288514" y="115623"/>
                </a:lnTo>
                <a:lnTo>
                  <a:pt x="288512" y="164633"/>
                </a:lnTo>
                <a:lnTo>
                  <a:pt x="280130" y="207547"/>
                </a:lnTo>
                <a:lnTo>
                  <a:pt x="251634" y="253793"/>
                </a:lnTo>
                <a:lnTo>
                  <a:pt x="221615" y="270891"/>
                </a:lnTo>
                <a:lnTo>
                  <a:pt x="225298" y="282321"/>
                </a:lnTo>
                <a:lnTo>
                  <a:pt x="263747" y="264239"/>
                </a:lnTo>
                <a:lnTo>
                  <a:pt x="292100" y="232918"/>
                </a:lnTo>
                <a:lnTo>
                  <a:pt x="309530" y="191071"/>
                </a:lnTo>
                <a:lnTo>
                  <a:pt x="315341" y="141224"/>
                </a:lnTo>
                <a:lnTo>
                  <a:pt x="313884" y="115623"/>
                </a:lnTo>
                <a:lnTo>
                  <a:pt x="302160" y="69429"/>
                </a:lnTo>
                <a:lnTo>
                  <a:pt x="279090" y="32093"/>
                </a:lnTo>
                <a:lnTo>
                  <a:pt x="245752" y="7379"/>
                </a:lnTo>
                <a:lnTo>
                  <a:pt x="225298" y="0"/>
                </a:lnTo>
                <a:close/>
              </a:path>
              <a:path w="315594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85" y="139700"/>
                </a:lnTo>
                <a:lnTo>
                  <a:pt x="0" y="141224"/>
                </a:lnTo>
                <a:lnTo>
                  <a:pt x="5810" y="191071"/>
                </a:lnTo>
                <a:lnTo>
                  <a:pt x="23241" y="232918"/>
                </a:lnTo>
                <a:lnTo>
                  <a:pt x="51546" y="264239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17"/>
                </a:lnTo>
                <a:lnTo>
                  <a:pt x="63690" y="253793"/>
                </a:lnTo>
                <a:lnTo>
                  <a:pt x="35210" y="207547"/>
                </a:lnTo>
                <a:lnTo>
                  <a:pt x="26828" y="164633"/>
                </a:lnTo>
                <a:lnTo>
                  <a:pt x="25845" y="141224"/>
                </a:lnTo>
                <a:lnTo>
                  <a:pt x="25781" y="139700"/>
                </a:lnTo>
                <a:lnTo>
                  <a:pt x="29972" y="93678"/>
                </a:lnTo>
                <a:lnTo>
                  <a:pt x="42545" y="56134"/>
                </a:lnTo>
                <a:lnTo>
                  <a:pt x="77817" y="18504"/>
                </a:lnTo>
                <a:lnTo>
                  <a:pt x="94107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442972" y="2214753"/>
            <a:ext cx="7150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60705" algn="l"/>
              </a:tabLst>
            </a:pPr>
            <a:r>
              <a:rPr sz="2400" spc="-25" dirty="0">
                <a:latin typeface="Cambria Math"/>
                <a:cs typeface="Cambria Math"/>
              </a:rPr>
              <a:t>𝚽</a:t>
            </a:r>
            <a:r>
              <a:rPr sz="2625" spc="-37" baseline="-15873" dirty="0">
                <a:latin typeface="Cambria Math"/>
                <a:cs typeface="Cambria Math"/>
              </a:rPr>
              <a:t>𝟐</a:t>
            </a:r>
            <a:r>
              <a:rPr sz="2625" baseline="-15873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𝐭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375659" y="1337183"/>
            <a:ext cx="315595" cy="282575"/>
          </a:xfrm>
          <a:custGeom>
            <a:avLst/>
            <a:gdLst/>
            <a:ahLst/>
            <a:cxnLst/>
            <a:rect l="l" t="t" r="r" b="b"/>
            <a:pathLst>
              <a:path w="315595" h="282575">
                <a:moveTo>
                  <a:pt x="225171" y="0"/>
                </a:moveTo>
                <a:lnTo>
                  <a:pt x="221107" y="11430"/>
                </a:lnTo>
                <a:lnTo>
                  <a:pt x="237470" y="18504"/>
                </a:lnTo>
                <a:lnTo>
                  <a:pt x="251523" y="28305"/>
                </a:lnTo>
                <a:lnTo>
                  <a:pt x="280056" y="73852"/>
                </a:lnTo>
                <a:lnTo>
                  <a:pt x="288346" y="115339"/>
                </a:lnTo>
                <a:lnTo>
                  <a:pt x="288387" y="115623"/>
                </a:lnTo>
                <a:lnTo>
                  <a:pt x="288385" y="164633"/>
                </a:lnTo>
                <a:lnTo>
                  <a:pt x="280003" y="207547"/>
                </a:lnTo>
                <a:lnTo>
                  <a:pt x="251523" y="253777"/>
                </a:lnTo>
                <a:lnTo>
                  <a:pt x="221615" y="270764"/>
                </a:lnTo>
                <a:lnTo>
                  <a:pt x="225171" y="282321"/>
                </a:lnTo>
                <a:lnTo>
                  <a:pt x="263667" y="264239"/>
                </a:lnTo>
                <a:lnTo>
                  <a:pt x="291973" y="232918"/>
                </a:lnTo>
                <a:lnTo>
                  <a:pt x="309403" y="191071"/>
                </a:lnTo>
                <a:lnTo>
                  <a:pt x="315214" y="141224"/>
                </a:lnTo>
                <a:lnTo>
                  <a:pt x="313775" y="115623"/>
                </a:lnTo>
                <a:lnTo>
                  <a:pt x="313759" y="115339"/>
                </a:lnTo>
                <a:lnTo>
                  <a:pt x="302087" y="69429"/>
                </a:lnTo>
                <a:lnTo>
                  <a:pt x="278963" y="32093"/>
                </a:lnTo>
                <a:lnTo>
                  <a:pt x="245625" y="7379"/>
                </a:lnTo>
                <a:lnTo>
                  <a:pt x="225171" y="0"/>
                </a:lnTo>
                <a:close/>
              </a:path>
              <a:path w="315595" h="282575">
                <a:moveTo>
                  <a:pt x="90043" y="0"/>
                </a:moveTo>
                <a:lnTo>
                  <a:pt x="51593" y="18081"/>
                </a:lnTo>
                <a:lnTo>
                  <a:pt x="23241" y="49403"/>
                </a:lnTo>
                <a:lnTo>
                  <a:pt x="5810" y="91408"/>
                </a:lnTo>
                <a:lnTo>
                  <a:pt x="85" y="139700"/>
                </a:lnTo>
                <a:lnTo>
                  <a:pt x="0" y="141224"/>
                </a:lnTo>
                <a:lnTo>
                  <a:pt x="5794" y="191071"/>
                </a:lnTo>
                <a:lnTo>
                  <a:pt x="23114" y="232918"/>
                </a:lnTo>
                <a:lnTo>
                  <a:pt x="51482" y="264239"/>
                </a:lnTo>
                <a:lnTo>
                  <a:pt x="90043" y="282321"/>
                </a:lnTo>
                <a:lnTo>
                  <a:pt x="93599" y="270764"/>
                </a:lnTo>
                <a:lnTo>
                  <a:pt x="77475" y="263663"/>
                </a:lnTo>
                <a:lnTo>
                  <a:pt x="63579" y="253777"/>
                </a:lnTo>
                <a:lnTo>
                  <a:pt x="35083" y="207547"/>
                </a:lnTo>
                <a:lnTo>
                  <a:pt x="26701" y="164633"/>
                </a:lnTo>
                <a:lnTo>
                  <a:pt x="25718" y="141224"/>
                </a:lnTo>
                <a:lnTo>
                  <a:pt x="25654" y="139700"/>
                </a:lnTo>
                <a:lnTo>
                  <a:pt x="29845" y="93678"/>
                </a:lnTo>
                <a:lnTo>
                  <a:pt x="42418" y="56134"/>
                </a:lnTo>
                <a:lnTo>
                  <a:pt x="77690" y="18504"/>
                </a:lnTo>
                <a:lnTo>
                  <a:pt x="93980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926969" y="1247394"/>
            <a:ext cx="702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48005" algn="l"/>
              </a:tabLst>
            </a:pPr>
            <a:r>
              <a:rPr sz="2400" spc="-25" dirty="0">
                <a:latin typeface="Cambria Math"/>
                <a:cs typeface="Cambria Math"/>
              </a:rPr>
              <a:t>𝚽</a:t>
            </a:r>
            <a:r>
              <a:rPr sz="2625" spc="-37" baseline="-15873" dirty="0">
                <a:latin typeface="Cambria Math"/>
                <a:cs typeface="Cambria Math"/>
              </a:rPr>
              <a:t>𝐞</a:t>
            </a:r>
            <a:r>
              <a:rPr sz="2625" baseline="-15873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𝐭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501883" y="1826132"/>
            <a:ext cx="315595" cy="282575"/>
          </a:xfrm>
          <a:custGeom>
            <a:avLst/>
            <a:gdLst/>
            <a:ahLst/>
            <a:cxnLst/>
            <a:rect l="l" t="t" r="r" b="b"/>
            <a:pathLst>
              <a:path w="315595" h="282575">
                <a:moveTo>
                  <a:pt x="225171" y="0"/>
                </a:moveTo>
                <a:lnTo>
                  <a:pt x="221234" y="11430"/>
                </a:lnTo>
                <a:lnTo>
                  <a:pt x="237541" y="18504"/>
                </a:lnTo>
                <a:lnTo>
                  <a:pt x="251587" y="28305"/>
                </a:lnTo>
                <a:lnTo>
                  <a:pt x="280130" y="73852"/>
                </a:lnTo>
                <a:lnTo>
                  <a:pt x="288471" y="115339"/>
                </a:lnTo>
                <a:lnTo>
                  <a:pt x="288512" y="115623"/>
                </a:lnTo>
                <a:lnTo>
                  <a:pt x="289560" y="139700"/>
                </a:lnTo>
                <a:lnTo>
                  <a:pt x="288512" y="164580"/>
                </a:lnTo>
                <a:lnTo>
                  <a:pt x="285369" y="187198"/>
                </a:lnTo>
                <a:lnTo>
                  <a:pt x="272796" y="225552"/>
                </a:lnTo>
                <a:lnTo>
                  <a:pt x="237738" y="263646"/>
                </a:lnTo>
                <a:lnTo>
                  <a:pt x="221615" y="270764"/>
                </a:lnTo>
                <a:lnTo>
                  <a:pt x="225171" y="282321"/>
                </a:lnTo>
                <a:lnTo>
                  <a:pt x="263731" y="264191"/>
                </a:lnTo>
                <a:lnTo>
                  <a:pt x="292100" y="232918"/>
                </a:lnTo>
                <a:lnTo>
                  <a:pt x="309467" y="191023"/>
                </a:lnTo>
                <a:lnTo>
                  <a:pt x="315214" y="141224"/>
                </a:lnTo>
                <a:lnTo>
                  <a:pt x="313777" y="115623"/>
                </a:lnTo>
                <a:lnTo>
                  <a:pt x="313761" y="115339"/>
                </a:lnTo>
                <a:lnTo>
                  <a:pt x="302140" y="69429"/>
                </a:lnTo>
                <a:lnTo>
                  <a:pt x="279088" y="32093"/>
                </a:lnTo>
                <a:lnTo>
                  <a:pt x="245699" y="7379"/>
                </a:lnTo>
                <a:lnTo>
                  <a:pt x="225171" y="0"/>
                </a:lnTo>
                <a:close/>
              </a:path>
              <a:path w="315595" h="282575">
                <a:moveTo>
                  <a:pt x="90043" y="0"/>
                </a:moveTo>
                <a:lnTo>
                  <a:pt x="51657" y="18081"/>
                </a:lnTo>
                <a:lnTo>
                  <a:pt x="23368" y="49403"/>
                </a:lnTo>
                <a:lnTo>
                  <a:pt x="5826" y="91408"/>
                </a:lnTo>
                <a:lnTo>
                  <a:pt x="85" y="139700"/>
                </a:lnTo>
                <a:lnTo>
                  <a:pt x="0" y="141224"/>
                </a:lnTo>
                <a:lnTo>
                  <a:pt x="5810" y="191023"/>
                </a:lnTo>
                <a:lnTo>
                  <a:pt x="23241" y="232918"/>
                </a:lnTo>
                <a:lnTo>
                  <a:pt x="51546" y="264191"/>
                </a:lnTo>
                <a:lnTo>
                  <a:pt x="90043" y="282321"/>
                </a:lnTo>
                <a:lnTo>
                  <a:pt x="93599" y="270764"/>
                </a:lnTo>
                <a:lnTo>
                  <a:pt x="77549" y="263646"/>
                </a:lnTo>
                <a:lnTo>
                  <a:pt x="63690" y="253730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845" y="141224"/>
                </a:lnTo>
                <a:lnTo>
                  <a:pt x="25781" y="139700"/>
                </a:lnTo>
                <a:lnTo>
                  <a:pt x="29972" y="93678"/>
                </a:lnTo>
                <a:lnTo>
                  <a:pt x="42545" y="56134"/>
                </a:lnTo>
                <a:lnTo>
                  <a:pt x="77817" y="18504"/>
                </a:lnTo>
                <a:lnTo>
                  <a:pt x="94107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298938" y="1736216"/>
            <a:ext cx="4324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𝐯</a:t>
            </a:r>
            <a:r>
              <a:rPr sz="2400" spc="445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𝐭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918716" y="1290192"/>
            <a:ext cx="3065145" cy="862330"/>
            <a:chOff x="1918716" y="1290192"/>
            <a:chExt cx="3065145" cy="862330"/>
          </a:xfrm>
        </p:grpSpPr>
        <p:sp>
          <p:nvSpPr>
            <p:cNvPr id="14" name="object 14"/>
            <p:cNvSpPr/>
            <p:nvPr/>
          </p:nvSpPr>
          <p:spPr>
            <a:xfrm>
              <a:off x="4131913" y="1299717"/>
              <a:ext cx="842644" cy="843280"/>
            </a:xfrm>
            <a:custGeom>
              <a:avLst/>
              <a:gdLst/>
              <a:ahLst/>
              <a:cxnLst/>
              <a:rect l="l" t="t" r="r" b="b"/>
              <a:pathLst>
                <a:path w="842645" h="843280">
                  <a:moveTo>
                    <a:pt x="409368" y="0"/>
                  </a:moveTo>
                  <a:lnTo>
                    <a:pt x="363324" y="4665"/>
                  </a:lnTo>
                  <a:lnTo>
                    <a:pt x="317870" y="14348"/>
                  </a:lnTo>
                  <a:lnTo>
                    <a:pt x="273452" y="29028"/>
                  </a:lnTo>
                  <a:lnTo>
                    <a:pt x="230518" y="48682"/>
                  </a:lnTo>
                  <a:lnTo>
                    <a:pt x="189515" y="73291"/>
                  </a:lnTo>
                  <a:lnTo>
                    <a:pt x="150891" y="102833"/>
                  </a:lnTo>
                  <a:lnTo>
                    <a:pt x="115093" y="137287"/>
                  </a:lnTo>
                  <a:lnTo>
                    <a:pt x="83389" y="175537"/>
                  </a:lnTo>
                  <a:lnTo>
                    <a:pt x="56792" y="216241"/>
                  </a:lnTo>
                  <a:lnTo>
                    <a:pt x="35291" y="258951"/>
                  </a:lnTo>
                  <a:lnTo>
                    <a:pt x="18873" y="303218"/>
                  </a:lnTo>
                  <a:lnTo>
                    <a:pt x="7527" y="348596"/>
                  </a:lnTo>
                  <a:lnTo>
                    <a:pt x="1240" y="394638"/>
                  </a:lnTo>
                  <a:lnTo>
                    <a:pt x="0" y="440896"/>
                  </a:lnTo>
                  <a:lnTo>
                    <a:pt x="3794" y="486922"/>
                  </a:lnTo>
                  <a:lnTo>
                    <a:pt x="12611" y="532270"/>
                  </a:lnTo>
                  <a:lnTo>
                    <a:pt x="26438" y="576492"/>
                  </a:lnTo>
                  <a:lnTo>
                    <a:pt x="45263" y="619140"/>
                  </a:lnTo>
                  <a:lnTo>
                    <a:pt x="69073" y="659767"/>
                  </a:lnTo>
                  <a:lnTo>
                    <a:pt x="97858" y="697927"/>
                  </a:lnTo>
                  <a:lnTo>
                    <a:pt x="131603" y="733171"/>
                  </a:lnTo>
                  <a:lnTo>
                    <a:pt x="169244" y="764194"/>
                  </a:lnTo>
                  <a:lnTo>
                    <a:pt x="209424" y="790060"/>
                  </a:lnTo>
                  <a:lnTo>
                    <a:pt x="251697" y="810787"/>
                  </a:lnTo>
                  <a:lnTo>
                    <a:pt x="295615" y="826397"/>
                  </a:lnTo>
                  <a:lnTo>
                    <a:pt x="340734" y="836910"/>
                  </a:lnTo>
                  <a:lnTo>
                    <a:pt x="386606" y="842345"/>
                  </a:lnTo>
                  <a:lnTo>
                    <a:pt x="432784" y="842724"/>
                  </a:lnTo>
                  <a:lnTo>
                    <a:pt x="478822" y="838066"/>
                  </a:lnTo>
                  <a:lnTo>
                    <a:pt x="524274" y="828391"/>
                  </a:lnTo>
                  <a:lnTo>
                    <a:pt x="568692" y="813721"/>
                  </a:lnTo>
                  <a:lnTo>
                    <a:pt x="611632" y="794075"/>
                  </a:lnTo>
                  <a:lnTo>
                    <a:pt x="652645" y="769473"/>
                  </a:lnTo>
                  <a:lnTo>
                    <a:pt x="691285" y="739936"/>
                  </a:lnTo>
                  <a:lnTo>
                    <a:pt x="727106" y="705485"/>
                  </a:lnTo>
                  <a:lnTo>
                    <a:pt x="758809" y="667210"/>
                  </a:lnTo>
                  <a:lnTo>
                    <a:pt x="785401" y="626490"/>
                  </a:lnTo>
                  <a:lnTo>
                    <a:pt x="806895" y="583770"/>
                  </a:lnTo>
                  <a:lnTo>
                    <a:pt x="823304" y="539497"/>
                  </a:lnTo>
                  <a:lnTo>
                    <a:pt x="834641" y="494118"/>
                  </a:lnTo>
                  <a:lnTo>
                    <a:pt x="840920" y="448080"/>
                  </a:lnTo>
                  <a:lnTo>
                    <a:pt x="842152" y="401827"/>
                  </a:lnTo>
                  <a:lnTo>
                    <a:pt x="838352" y="355809"/>
                  </a:lnTo>
                  <a:lnTo>
                    <a:pt x="829533" y="310470"/>
                  </a:lnTo>
                  <a:lnTo>
                    <a:pt x="815706" y="266257"/>
                  </a:lnTo>
                  <a:lnTo>
                    <a:pt x="796887" y="223617"/>
                  </a:lnTo>
                  <a:lnTo>
                    <a:pt x="773086" y="182997"/>
                  </a:lnTo>
                  <a:lnTo>
                    <a:pt x="744318" y="144842"/>
                  </a:lnTo>
                  <a:lnTo>
                    <a:pt x="710596" y="109601"/>
                  </a:lnTo>
                  <a:lnTo>
                    <a:pt x="672954" y="78553"/>
                  </a:lnTo>
                  <a:lnTo>
                    <a:pt x="632769" y="52671"/>
                  </a:lnTo>
                  <a:lnTo>
                    <a:pt x="590489" y="31933"/>
                  </a:lnTo>
                  <a:lnTo>
                    <a:pt x="546562" y="16318"/>
                  </a:lnTo>
                  <a:lnTo>
                    <a:pt x="501434" y="5805"/>
                  </a:lnTo>
                  <a:lnTo>
                    <a:pt x="455554" y="372"/>
                  </a:lnTo>
                  <a:lnTo>
                    <a:pt x="40936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47007" y="1409318"/>
              <a:ext cx="612140" cy="623570"/>
            </a:xfrm>
            <a:custGeom>
              <a:avLst/>
              <a:gdLst/>
              <a:ahLst/>
              <a:cxnLst/>
              <a:rect l="l" t="t" r="r" b="b"/>
              <a:pathLst>
                <a:path w="612139" h="623569">
                  <a:moveTo>
                    <a:pt x="595502" y="0"/>
                  </a:moveTo>
                  <a:lnTo>
                    <a:pt x="16509" y="623570"/>
                  </a:lnTo>
                </a:path>
                <a:path w="612139" h="623569">
                  <a:moveTo>
                    <a:pt x="0" y="27686"/>
                  </a:moveTo>
                  <a:lnTo>
                    <a:pt x="612012" y="595884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131913" y="1299717"/>
              <a:ext cx="842644" cy="843280"/>
            </a:xfrm>
            <a:custGeom>
              <a:avLst/>
              <a:gdLst/>
              <a:ahLst/>
              <a:cxnLst/>
              <a:rect l="l" t="t" r="r" b="b"/>
              <a:pathLst>
                <a:path w="842645" h="843280">
                  <a:moveTo>
                    <a:pt x="115093" y="137287"/>
                  </a:moveTo>
                  <a:lnTo>
                    <a:pt x="150891" y="102833"/>
                  </a:lnTo>
                  <a:lnTo>
                    <a:pt x="189515" y="73291"/>
                  </a:lnTo>
                  <a:lnTo>
                    <a:pt x="230518" y="48682"/>
                  </a:lnTo>
                  <a:lnTo>
                    <a:pt x="273452" y="29028"/>
                  </a:lnTo>
                  <a:lnTo>
                    <a:pt x="317870" y="14348"/>
                  </a:lnTo>
                  <a:lnTo>
                    <a:pt x="363324" y="4665"/>
                  </a:lnTo>
                  <a:lnTo>
                    <a:pt x="409368" y="0"/>
                  </a:lnTo>
                  <a:lnTo>
                    <a:pt x="455554" y="372"/>
                  </a:lnTo>
                  <a:lnTo>
                    <a:pt x="501434" y="5805"/>
                  </a:lnTo>
                  <a:lnTo>
                    <a:pt x="546562" y="16318"/>
                  </a:lnTo>
                  <a:lnTo>
                    <a:pt x="590489" y="31933"/>
                  </a:lnTo>
                  <a:lnTo>
                    <a:pt x="632769" y="52671"/>
                  </a:lnTo>
                  <a:lnTo>
                    <a:pt x="672954" y="78553"/>
                  </a:lnTo>
                  <a:lnTo>
                    <a:pt x="710596" y="109601"/>
                  </a:lnTo>
                  <a:lnTo>
                    <a:pt x="744318" y="144842"/>
                  </a:lnTo>
                  <a:lnTo>
                    <a:pt x="773086" y="182997"/>
                  </a:lnTo>
                  <a:lnTo>
                    <a:pt x="796887" y="223617"/>
                  </a:lnTo>
                  <a:lnTo>
                    <a:pt x="815706" y="266257"/>
                  </a:lnTo>
                  <a:lnTo>
                    <a:pt x="829533" y="310470"/>
                  </a:lnTo>
                  <a:lnTo>
                    <a:pt x="838352" y="355809"/>
                  </a:lnTo>
                  <a:lnTo>
                    <a:pt x="842152" y="401827"/>
                  </a:lnTo>
                  <a:lnTo>
                    <a:pt x="840920" y="448080"/>
                  </a:lnTo>
                  <a:lnTo>
                    <a:pt x="834641" y="494118"/>
                  </a:lnTo>
                  <a:lnTo>
                    <a:pt x="823304" y="539497"/>
                  </a:lnTo>
                  <a:lnTo>
                    <a:pt x="806895" y="583770"/>
                  </a:lnTo>
                  <a:lnTo>
                    <a:pt x="785401" y="626490"/>
                  </a:lnTo>
                  <a:lnTo>
                    <a:pt x="758809" y="667210"/>
                  </a:lnTo>
                  <a:lnTo>
                    <a:pt x="727106" y="705485"/>
                  </a:lnTo>
                  <a:lnTo>
                    <a:pt x="691285" y="739936"/>
                  </a:lnTo>
                  <a:lnTo>
                    <a:pt x="652645" y="769473"/>
                  </a:lnTo>
                  <a:lnTo>
                    <a:pt x="611632" y="794075"/>
                  </a:lnTo>
                  <a:lnTo>
                    <a:pt x="568692" y="813721"/>
                  </a:lnTo>
                  <a:lnTo>
                    <a:pt x="524274" y="828391"/>
                  </a:lnTo>
                  <a:lnTo>
                    <a:pt x="478822" y="838066"/>
                  </a:lnTo>
                  <a:lnTo>
                    <a:pt x="432784" y="842724"/>
                  </a:lnTo>
                  <a:lnTo>
                    <a:pt x="386606" y="842345"/>
                  </a:lnTo>
                  <a:lnTo>
                    <a:pt x="340734" y="836910"/>
                  </a:lnTo>
                  <a:lnTo>
                    <a:pt x="295615" y="826397"/>
                  </a:lnTo>
                  <a:lnTo>
                    <a:pt x="251697" y="810787"/>
                  </a:lnTo>
                  <a:lnTo>
                    <a:pt x="209424" y="790060"/>
                  </a:lnTo>
                  <a:lnTo>
                    <a:pt x="169244" y="764194"/>
                  </a:lnTo>
                  <a:lnTo>
                    <a:pt x="131603" y="733171"/>
                  </a:lnTo>
                  <a:lnTo>
                    <a:pt x="97858" y="697927"/>
                  </a:lnTo>
                  <a:lnTo>
                    <a:pt x="69073" y="659767"/>
                  </a:lnTo>
                  <a:lnTo>
                    <a:pt x="45263" y="619140"/>
                  </a:lnTo>
                  <a:lnTo>
                    <a:pt x="26438" y="576492"/>
                  </a:lnTo>
                  <a:lnTo>
                    <a:pt x="12611" y="532270"/>
                  </a:lnTo>
                  <a:lnTo>
                    <a:pt x="3794" y="486922"/>
                  </a:lnTo>
                  <a:lnTo>
                    <a:pt x="0" y="440896"/>
                  </a:lnTo>
                  <a:lnTo>
                    <a:pt x="1240" y="394638"/>
                  </a:lnTo>
                  <a:lnTo>
                    <a:pt x="7527" y="348596"/>
                  </a:lnTo>
                  <a:lnTo>
                    <a:pt x="18873" y="303218"/>
                  </a:lnTo>
                  <a:lnTo>
                    <a:pt x="35291" y="258951"/>
                  </a:lnTo>
                  <a:lnTo>
                    <a:pt x="56792" y="216241"/>
                  </a:lnTo>
                  <a:lnTo>
                    <a:pt x="83389" y="175537"/>
                  </a:lnTo>
                  <a:lnTo>
                    <a:pt x="115093" y="137287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1891" y="1318005"/>
              <a:ext cx="801878" cy="81673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921891" y="1318005"/>
              <a:ext cx="802005" cy="817244"/>
            </a:xfrm>
            <a:custGeom>
              <a:avLst/>
              <a:gdLst/>
              <a:ahLst/>
              <a:cxnLst/>
              <a:rect l="l" t="t" r="r" b="b"/>
              <a:pathLst>
                <a:path w="802005" h="817244">
                  <a:moveTo>
                    <a:pt x="0" y="408432"/>
                  </a:moveTo>
                  <a:lnTo>
                    <a:pt x="2696" y="360803"/>
                  </a:lnTo>
                  <a:lnTo>
                    <a:pt x="10586" y="314788"/>
                  </a:lnTo>
                  <a:lnTo>
                    <a:pt x="23368" y="270692"/>
                  </a:lnTo>
                  <a:lnTo>
                    <a:pt x="40742" y="228822"/>
                  </a:lnTo>
                  <a:lnTo>
                    <a:pt x="62407" y="189484"/>
                  </a:lnTo>
                  <a:lnTo>
                    <a:pt x="88064" y="152986"/>
                  </a:lnTo>
                  <a:lnTo>
                    <a:pt x="117411" y="119634"/>
                  </a:lnTo>
                  <a:lnTo>
                    <a:pt x="150148" y="89733"/>
                  </a:lnTo>
                  <a:lnTo>
                    <a:pt x="185975" y="63592"/>
                  </a:lnTo>
                  <a:lnTo>
                    <a:pt x="224591" y="41516"/>
                  </a:lnTo>
                  <a:lnTo>
                    <a:pt x="265696" y="23813"/>
                  </a:lnTo>
                  <a:lnTo>
                    <a:pt x="308989" y="10787"/>
                  </a:lnTo>
                  <a:lnTo>
                    <a:pt x="354170" y="2748"/>
                  </a:lnTo>
                  <a:lnTo>
                    <a:pt x="400939" y="0"/>
                  </a:lnTo>
                  <a:lnTo>
                    <a:pt x="447683" y="2748"/>
                  </a:lnTo>
                  <a:lnTo>
                    <a:pt x="492848" y="10787"/>
                  </a:lnTo>
                  <a:lnTo>
                    <a:pt x="536130" y="23813"/>
                  </a:lnTo>
                  <a:lnTo>
                    <a:pt x="577230" y="41516"/>
                  </a:lnTo>
                  <a:lnTo>
                    <a:pt x="615846" y="63592"/>
                  </a:lnTo>
                  <a:lnTo>
                    <a:pt x="651675" y="89733"/>
                  </a:lnTo>
                  <a:lnTo>
                    <a:pt x="684418" y="119634"/>
                  </a:lnTo>
                  <a:lnTo>
                    <a:pt x="713773" y="152986"/>
                  </a:lnTo>
                  <a:lnTo>
                    <a:pt x="739439" y="189484"/>
                  </a:lnTo>
                  <a:lnTo>
                    <a:pt x="761113" y="228822"/>
                  </a:lnTo>
                  <a:lnTo>
                    <a:pt x="778496" y="270692"/>
                  </a:lnTo>
                  <a:lnTo>
                    <a:pt x="791285" y="314788"/>
                  </a:lnTo>
                  <a:lnTo>
                    <a:pt x="799179" y="360803"/>
                  </a:lnTo>
                  <a:lnTo>
                    <a:pt x="801878" y="408432"/>
                  </a:lnTo>
                  <a:lnTo>
                    <a:pt x="799179" y="456058"/>
                  </a:lnTo>
                  <a:lnTo>
                    <a:pt x="791285" y="502068"/>
                  </a:lnTo>
                  <a:lnTo>
                    <a:pt x="778496" y="546156"/>
                  </a:lnTo>
                  <a:lnTo>
                    <a:pt x="761113" y="588016"/>
                  </a:lnTo>
                  <a:lnTo>
                    <a:pt x="739439" y="627342"/>
                  </a:lnTo>
                  <a:lnTo>
                    <a:pt x="713773" y="663827"/>
                  </a:lnTo>
                  <a:lnTo>
                    <a:pt x="684418" y="697166"/>
                  </a:lnTo>
                  <a:lnTo>
                    <a:pt x="651675" y="727053"/>
                  </a:lnTo>
                  <a:lnTo>
                    <a:pt x="615846" y="753181"/>
                  </a:lnTo>
                  <a:lnTo>
                    <a:pt x="577230" y="775245"/>
                  </a:lnTo>
                  <a:lnTo>
                    <a:pt x="536130" y="792938"/>
                  </a:lnTo>
                  <a:lnTo>
                    <a:pt x="492848" y="805956"/>
                  </a:lnTo>
                  <a:lnTo>
                    <a:pt x="447683" y="813990"/>
                  </a:lnTo>
                  <a:lnTo>
                    <a:pt x="400939" y="816737"/>
                  </a:lnTo>
                  <a:lnTo>
                    <a:pt x="354170" y="813990"/>
                  </a:lnTo>
                  <a:lnTo>
                    <a:pt x="308989" y="805956"/>
                  </a:lnTo>
                  <a:lnTo>
                    <a:pt x="265696" y="792938"/>
                  </a:lnTo>
                  <a:lnTo>
                    <a:pt x="224591" y="775245"/>
                  </a:lnTo>
                  <a:lnTo>
                    <a:pt x="185975" y="753181"/>
                  </a:lnTo>
                  <a:lnTo>
                    <a:pt x="150148" y="727053"/>
                  </a:lnTo>
                  <a:lnTo>
                    <a:pt x="117411" y="697166"/>
                  </a:lnTo>
                  <a:lnTo>
                    <a:pt x="88064" y="663827"/>
                  </a:lnTo>
                  <a:lnTo>
                    <a:pt x="62407" y="627342"/>
                  </a:lnTo>
                  <a:lnTo>
                    <a:pt x="40742" y="588016"/>
                  </a:lnTo>
                  <a:lnTo>
                    <a:pt x="23368" y="546156"/>
                  </a:lnTo>
                  <a:lnTo>
                    <a:pt x="10586" y="502068"/>
                  </a:lnTo>
                  <a:lnTo>
                    <a:pt x="2696" y="456058"/>
                  </a:lnTo>
                  <a:lnTo>
                    <a:pt x="0" y="408432"/>
                  </a:lnTo>
                  <a:close/>
                </a:path>
              </a:pathLst>
            </a:custGeom>
            <a:ln w="635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946910" y="1450340"/>
            <a:ext cx="497840" cy="854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3045">
              <a:lnSpc>
                <a:spcPts val="2785"/>
              </a:lnSpc>
              <a:spcBef>
                <a:spcPts val="95"/>
              </a:spcBef>
            </a:pPr>
            <a:r>
              <a:rPr sz="2800" spc="-50" dirty="0">
                <a:latin typeface="Cambria Math"/>
                <a:cs typeface="Cambria Math"/>
              </a:rPr>
              <a:t>∑</a:t>
            </a:r>
            <a:endParaRPr sz="2800">
              <a:latin typeface="Cambria Math"/>
              <a:cs typeface="Cambria Math"/>
            </a:endParaRPr>
          </a:p>
          <a:p>
            <a:pPr marL="12700">
              <a:lnSpc>
                <a:spcPts val="3745"/>
              </a:lnSpc>
            </a:pPr>
            <a:r>
              <a:rPr sz="3600" b="1" spc="-50" dirty="0">
                <a:latin typeface="Calibri"/>
                <a:cs typeface="Calibri"/>
              </a:rPr>
              <a:t>_</a:t>
            </a:r>
            <a:endParaRPr sz="3600">
              <a:latin typeface="Calibri"/>
              <a:cs typeface="Calibri"/>
            </a:endParaRPr>
          </a:p>
        </p:txBody>
      </p: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29633" y="3012948"/>
            <a:ext cx="1266863" cy="94297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4429633" y="3012948"/>
            <a:ext cx="1267460" cy="942975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R="115570" algn="ctr">
              <a:lnSpc>
                <a:spcPts val="2085"/>
              </a:lnSpc>
              <a:spcBef>
                <a:spcPts val="170"/>
              </a:spcBef>
            </a:pPr>
            <a:r>
              <a:rPr sz="1750" spc="-50" dirty="0">
                <a:latin typeface="Cambria Math"/>
                <a:cs typeface="Cambria Math"/>
              </a:rPr>
              <a:t>𝐭</a:t>
            </a:r>
            <a:endParaRPr sz="1750">
              <a:latin typeface="Cambria Math"/>
              <a:cs typeface="Cambria Math"/>
            </a:endParaRPr>
          </a:p>
          <a:p>
            <a:pPr marR="59055" algn="ctr">
              <a:lnSpc>
                <a:spcPts val="2865"/>
              </a:lnSpc>
            </a:pPr>
            <a:r>
              <a:rPr sz="2400" spc="-480" dirty="0">
                <a:latin typeface="Cambria Math"/>
                <a:cs typeface="Cambria Math"/>
              </a:rPr>
              <a:t>න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𝐝𝐭</a:t>
            </a:r>
            <a:endParaRPr sz="2400">
              <a:latin typeface="Cambria Math"/>
              <a:cs typeface="Cambria Math"/>
            </a:endParaRPr>
          </a:p>
          <a:p>
            <a:pPr marL="416559">
              <a:lnSpc>
                <a:spcPct val="100000"/>
              </a:lnSpc>
              <a:spcBef>
                <a:spcPts val="50"/>
              </a:spcBef>
            </a:pPr>
            <a:r>
              <a:rPr sz="1750" spc="-50" dirty="0">
                <a:latin typeface="Cambria Math"/>
                <a:cs typeface="Cambria Math"/>
              </a:rPr>
              <a:t>𝟎</a:t>
            </a:r>
            <a:endParaRPr sz="1750">
              <a:latin typeface="Cambria Math"/>
              <a:cs typeface="Cambria Math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955159" y="1275714"/>
            <a:ext cx="2169160" cy="942975"/>
            <a:chOff x="4955159" y="1275714"/>
            <a:chExt cx="2169160" cy="942975"/>
          </a:xfrm>
        </p:grpSpPr>
        <p:sp>
          <p:nvSpPr>
            <p:cNvPr id="23" name="object 23"/>
            <p:cNvSpPr/>
            <p:nvPr/>
          </p:nvSpPr>
          <p:spPr>
            <a:xfrm>
              <a:off x="4955159" y="1663953"/>
              <a:ext cx="902969" cy="114300"/>
            </a:xfrm>
            <a:custGeom>
              <a:avLst/>
              <a:gdLst/>
              <a:ahLst/>
              <a:cxnLst/>
              <a:rect l="l" t="t" r="r" b="b"/>
              <a:pathLst>
                <a:path w="902970" h="114300">
                  <a:moveTo>
                    <a:pt x="788416" y="0"/>
                  </a:moveTo>
                  <a:lnTo>
                    <a:pt x="788416" y="114300"/>
                  </a:lnTo>
                  <a:lnTo>
                    <a:pt x="864616" y="76200"/>
                  </a:lnTo>
                  <a:lnTo>
                    <a:pt x="807466" y="76200"/>
                  </a:lnTo>
                  <a:lnTo>
                    <a:pt x="807466" y="38100"/>
                  </a:lnTo>
                  <a:lnTo>
                    <a:pt x="864616" y="38100"/>
                  </a:lnTo>
                  <a:lnTo>
                    <a:pt x="788416" y="0"/>
                  </a:lnTo>
                  <a:close/>
                </a:path>
                <a:path w="902970" h="114300">
                  <a:moveTo>
                    <a:pt x="788416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788416" y="76200"/>
                  </a:lnTo>
                  <a:lnTo>
                    <a:pt x="788416" y="38100"/>
                  </a:lnTo>
                  <a:close/>
                </a:path>
                <a:path w="902970" h="114300">
                  <a:moveTo>
                    <a:pt x="864616" y="38100"/>
                  </a:moveTo>
                  <a:lnTo>
                    <a:pt x="807466" y="38100"/>
                  </a:lnTo>
                  <a:lnTo>
                    <a:pt x="807466" y="76200"/>
                  </a:lnTo>
                  <a:lnTo>
                    <a:pt x="864616" y="76200"/>
                  </a:lnTo>
                  <a:lnTo>
                    <a:pt x="902716" y="57150"/>
                  </a:lnTo>
                  <a:lnTo>
                    <a:pt x="864616" y="3810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56986" y="1275714"/>
              <a:ext cx="1266863" cy="94297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391402" y="1623567"/>
              <a:ext cx="315595" cy="282575"/>
            </a:xfrm>
            <a:custGeom>
              <a:avLst/>
              <a:gdLst/>
              <a:ahLst/>
              <a:cxnLst/>
              <a:rect l="l" t="t" r="r" b="b"/>
              <a:pathLst>
                <a:path w="315595" h="282575">
                  <a:moveTo>
                    <a:pt x="225171" y="0"/>
                  </a:moveTo>
                  <a:lnTo>
                    <a:pt x="221107" y="11557"/>
                  </a:lnTo>
                  <a:lnTo>
                    <a:pt x="237470" y="18631"/>
                  </a:lnTo>
                  <a:lnTo>
                    <a:pt x="251523" y="28432"/>
                  </a:lnTo>
                  <a:lnTo>
                    <a:pt x="280056" y="73925"/>
                  </a:lnTo>
                  <a:lnTo>
                    <a:pt x="288334" y="115359"/>
                  </a:lnTo>
                  <a:lnTo>
                    <a:pt x="288387" y="115732"/>
                  </a:lnTo>
                  <a:lnTo>
                    <a:pt x="288385" y="164707"/>
                  </a:lnTo>
                  <a:lnTo>
                    <a:pt x="280003" y="207656"/>
                  </a:lnTo>
                  <a:lnTo>
                    <a:pt x="251571" y="253857"/>
                  </a:lnTo>
                  <a:lnTo>
                    <a:pt x="221615" y="270891"/>
                  </a:lnTo>
                  <a:lnTo>
                    <a:pt x="225171" y="282321"/>
                  </a:lnTo>
                  <a:lnTo>
                    <a:pt x="263667" y="264302"/>
                  </a:lnTo>
                  <a:lnTo>
                    <a:pt x="291973" y="233045"/>
                  </a:lnTo>
                  <a:lnTo>
                    <a:pt x="309403" y="191134"/>
                  </a:lnTo>
                  <a:lnTo>
                    <a:pt x="315214" y="141224"/>
                  </a:lnTo>
                  <a:lnTo>
                    <a:pt x="313782" y="115732"/>
                  </a:lnTo>
                  <a:lnTo>
                    <a:pt x="313761" y="115359"/>
                  </a:lnTo>
                  <a:lnTo>
                    <a:pt x="302140" y="69536"/>
                  </a:lnTo>
                  <a:lnTo>
                    <a:pt x="279017" y="32164"/>
                  </a:lnTo>
                  <a:lnTo>
                    <a:pt x="245627" y="7435"/>
                  </a:lnTo>
                  <a:lnTo>
                    <a:pt x="225171" y="0"/>
                  </a:lnTo>
                  <a:close/>
                </a:path>
                <a:path w="315595" h="282575">
                  <a:moveTo>
                    <a:pt x="90043" y="0"/>
                  </a:moveTo>
                  <a:lnTo>
                    <a:pt x="51593" y="18145"/>
                  </a:lnTo>
                  <a:lnTo>
                    <a:pt x="23241" y="49530"/>
                  </a:lnTo>
                  <a:lnTo>
                    <a:pt x="5810" y="91471"/>
                  </a:lnTo>
                  <a:lnTo>
                    <a:pt x="78" y="139827"/>
                  </a:lnTo>
                  <a:lnTo>
                    <a:pt x="0" y="141224"/>
                  </a:lnTo>
                  <a:lnTo>
                    <a:pt x="5810" y="191134"/>
                  </a:lnTo>
                  <a:lnTo>
                    <a:pt x="23241" y="233045"/>
                  </a:lnTo>
                  <a:lnTo>
                    <a:pt x="51498" y="264302"/>
                  </a:lnTo>
                  <a:lnTo>
                    <a:pt x="90043" y="282321"/>
                  </a:lnTo>
                  <a:lnTo>
                    <a:pt x="93599" y="270891"/>
                  </a:lnTo>
                  <a:lnTo>
                    <a:pt x="77475" y="263773"/>
                  </a:lnTo>
                  <a:lnTo>
                    <a:pt x="63579" y="253857"/>
                  </a:lnTo>
                  <a:lnTo>
                    <a:pt x="35083" y="207656"/>
                  </a:lnTo>
                  <a:lnTo>
                    <a:pt x="26701" y="164707"/>
                  </a:lnTo>
                  <a:lnTo>
                    <a:pt x="25712" y="141224"/>
                  </a:lnTo>
                  <a:lnTo>
                    <a:pt x="25654" y="139827"/>
                  </a:lnTo>
                  <a:lnTo>
                    <a:pt x="29845" y="93757"/>
                  </a:lnTo>
                  <a:lnTo>
                    <a:pt x="42418" y="56261"/>
                  </a:lnTo>
                  <a:lnTo>
                    <a:pt x="77743" y="18631"/>
                  </a:lnTo>
                  <a:lnTo>
                    <a:pt x="93980" y="11557"/>
                  </a:lnTo>
                  <a:lnTo>
                    <a:pt x="900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856985" y="1275714"/>
            <a:ext cx="1267460" cy="942975"/>
          </a:xfrm>
          <a:prstGeom prst="rect">
            <a:avLst/>
          </a:prstGeom>
          <a:ln w="6350">
            <a:solidFill>
              <a:srgbClr val="6FAC46"/>
            </a:solidFill>
          </a:ln>
        </p:spPr>
        <p:txBody>
          <a:bodyPr vert="horz" wrap="square" lIns="0" tIns="270510" rIns="0" bIns="0" rtlCol="0">
            <a:spAutoFit/>
          </a:bodyPr>
          <a:lstStyle/>
          <a:p>
            <a:pPr marL="321945">
              <a:lnSpc>
                <a:spcPct val="100000"/>
              </a:lnSpc>
              <a:spcBef>
                <a:spcPts val="2130"/>
              </a:spcBef>
            </a:pPr>
            <a:r>
              <a:rPr sz="2400" dirty="0">
                <a:latin typeface="Cambria Math"/>
                <a:cs typeface="Cambria Math"/>
              </a:rPr>
              <a:t>𝐡</a:t>
            </a:r>
            <a:r>
              <a:rPr sz="2400" spc="459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𝐭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498847" y="687958"/>
            <a:ext cx="6449060" cy="1436370"/>
            <a:chOff x="4498847" y="687958"/>
            <a:chExt cx="6449060" cy="1436370"/>
          </a:xfrm>
        </p:grpSpPr>
        <p:sp>
          <p:nvSpPr>
            <p:cNvPr id="28" name="object 28"/>
            <p:cNvSpPr/>
            <p:nvPr/>
          </p:nvSpPr>
          <p:spPr>
            <a:xfrm>
              <a:off x="8623331" y="1281350"/>
              <a:ext cx="842644" cy="843280"/>
            </a:xfrm>
            <a:custGeom>
              <a:avLst/>
              <a:gdLst/>
              <a:ahLst/>
              <a:cxnLst/>
              <a:rect l="l" t="t" r="r" b="b"/>
              <a:pathLst>
                <a:path w="842645" h="843280">
                  <a:moveTo>
                    <a:pt x="409352" y="0"/>
                  </a:moveTo>
                  <a:lnTo>
                    <a:pt x="363314" y="4658"/>
                  </a:lnTo>
                  <a:lnTo>
                    <a:pt x="317862" y="14332"/>
                  </a:lnTo>
                  <a:lnTo>
                    <a:pt x="273444" y="29002"/>
                  </a:lnTo>
                  <a:lnTo>
                    <a:pt x="230504" y="48648"/>
                  </a:lnTo>
                  <a:lnTo>
                    <a:pt x="189491" y="73250"/>
                  </a:lnTo>
                  <a:lnTo>
                    <a:pt x="150851" y="102787"/>
                  </a:lnTo>
                  <a:lnTo>
                    <a:pt x="115030" y="137239"/>
                  </a:lnTo>
                  <a:lnTo>
                    <a:pt x="83327" y="175513"/>
                  </a:lnTo>
                  <a:lnTo>
                    <a:pt x="56735" y="216234"/>
                  </a:lnTo>
                  <a:lnTo>
                    <a:pt x="35242" y="258953"/>
                  </a:lnTo>
                  <a:lnTo>
                    <a:pt x="18835" y="303226"/>
                  </a:lnTo>
                  <a:lnTo>
                    <a:pt x="7500" y="348605"/>
                  </a:lnTo>
                  <a:lnTo>
                    <a:pt x="1226" y="394644"/>
                  </a:lnTo>
                  <a:lnTo>
                    <a:pt x="0" y="440896"/>
                  </a:lnTo>
                  <a:lnTo>
                    <a:pt x="3807" y="486915"/>
                  </a:lnTo>
                  <a:lnTo>
                    <a:pt x="12637" y="532254"/>
                  </a:lnTo>
                  <a:lnTo>
                    <a:pt x="26476" y="576466"/>
                  </a:lnTo>
                  <a:lnTo>
                    <a:pt x="45311" y="619106"/>
                  </a:lnTo>
                  <a:lnTo>
                    <a:pt x="69130" y="659727"/>
                  </a:lnTo>
                  <a:lnTo>
                    <a:pt x="97919" y="697881"/>
                  </a:lnTo>
                  <a:lnTo>
                    <a:pt x="131667" y="733123"/>
                  </a:lnTo>
                  <a:lnTo>
                    <a:pt x="169307" y="764170"/>
                  </a:lnTo>
                  <a:lnTo>
                    <a:pt x="209487" y="790052"/>
                  </a:lnTo>
                  <a:lnTo>
                    <a:pt x="251760" y="810790"/>
                  </a:lnTo>
                  <a:lnTo>
                    <a:pt x="295679" y="826405"/>
                  </a:lnTo>
                  <a:lnTo>
                    <a:pt x="340797" y="836919"/>
                  </a:lnTo>
                  <a:lnTo>
                    <a:pt x="386669" y="842351"/>
                  </a:lnTo>
                  <a:lnTo>
                    <a:pt x="432847" y="842724"/>
                  </a:lnTo>
                  <a:lnTo>
                    <a:pt x="478885" y="838058"/>
                  </a:lnTo>
                  <a:lnTo>
                    <a:pt x="524337" y="828375"/>
                  </a:lnTo>
                  <a:lnTo>
                    <a:pt x="568756" y="813696"/>
                  </a:lnTo>
                  <a:lnTo>
                    <a:pt x="611695" y="794041"/>
                  </a:lnTo>
                  <a:lnTo>
                    <a:pt x="652708" y="769432"/>
                  </a:lnTo>
                  <a:lnTo>
                    <a:pt x="691349" y="739891"/>
                  </a:lnTo>
                  <a:lnTo>
                    <a:pt x="727170" y="705437"/>
                  </a:lnTo>
                  <a:lnTo>
                    <a:pt x="758873" y="667186"/>
                  </a:lnTo>
                  <a:lnTo>
                    <a:pt x="785464" y="626482"/>
                  </a:lnTo>
                  <a:lnTo>
                    <a:pt x="806957" y="583773"/>
                  </a:lnTo>
                  <a:lnTo>
                    <a:pt x="823365" y="539505"/>
                  </a:lnTo>
                  <a:lnTo>
                    <a:pt x="834699" y="494127"/>
                  </a:lnTo>
                  <a:lnTo>
                    <a:pt x="840973" y="448085"/>
                  </a:lnTo>
                  <a:lnTo>
                    <a:pt x="842200" y="401827"/>
                  </a:lnTo>
                  <a:lnTo>
                    <a:pt x="838392" y="355801"/>
                  </a:lnTo>
                  <a:lnTo>
                    <a:pt x="829562" y="310453"/>
                  </a:lnTo>
                  <a:lnTo>
                    <a:pt x="815724" y="266232"/>
                  </a:lnTo>
                  <a:lnTo>
                    <a:pt x="796888" y="223583"/>
                  </a:lnTo>
                  <a:lnTo>
                    <a:pt x="773070" y="182956"/>
                  </a:lnTo>
                  <a:lnTo>
                    <a:pt x="744280" y="144797"/>
                  </a:lnTo>
                  <a:lnTo>
                    <a:pt x="710533" y="109553"/>
                  </a:lnTo>
                  <a:lnTo>
                    <a:pt x="672892" y="78529"/>
                  </a:lnTo>
                  <a:lnTo>
                    <a:pt x="632712" y="52664"/>
                  </a:lnTo>
                  <a:lnTo>
                    <a:pt x="590439" y="31936"/>
                  </a:lnTo>
                  <a:lnTo>
                    <a:pt x="546521" y="16326"/>
                  </a:lnTo>
                  <a:lnTo>
                    <a:pt x="501402" y="5813"/>
                  </a:lnTo>
                  <a:lnTo>
                    <a:pt x="455530" y="378"/>
                  </a:lnTo>
                  <a:lnTo>
                    <a:pt x="40935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738361" y="1390903"/>
              <a:ext cx="612140" cy="623570"/>
            </a:xfrm>
            <a:custGeom>
              <a:avLst/>
              <a:gdLst/>
              <a:ahLst/>
              <a:cxnLst/>
              <a:rect l="l" t="t" r="r" b="b"/>
              <a:pathLst>
                <a:path w="612140" h="623569">
                  <a:moveTo>
                    <a:pt x="595502" y="0"/>
                  </a:moveTo>
                  <a:lnTo>
                    <a:pt x="16636" y="623570"/>
                  </a:lnTo>
                </a:path>
                <a:path w="612140" h="623569">
                  <a:moveTo>
                    <a:pt x="0" y="27686"/>
                  </a:moveTo>
                  <a:lnTo>
                    <a:pt x="612139" y="595884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498848" y="687958"/>
              <a:ext cx="6449060" cy="1115695"/>
            </a:xfrm>
            <a:custGeom>
              <a:avLst/>
              <a:gdLst/>
              <a:ahLst/>
              <a:cxnLst/>
              <a:rect l="l" t="t" r="r" b="b"/>
              <a:pathLst>
                <a:path w="6449059" h="1115695">
                  <a:moveTo>
                    <a:pt x="114300" y="515747"/>
                  </a:moveTo>
                  <a:lnTo>
                    <a:pt x="76200" y="515747"/>
                  </a:lnTo>
                  <a:lnTo>
                    <a:pt x="76200" y="0"/>
                  </a:lnTo>
                  <a:lnTo>
                    <a:pt x="38100" y="0"/>
                  </a:lnTo>
                  <a:lnTo>
                    <a:pt x="38100" y="515747"/>
                  </a:lnTo>
                  <a:lnTo>
                    <a:pt x="0" y="515747"/>
                  </a:lnTo>
                  <a:lnTo>
                    <a:pt x="57150" y="630047"/>
                  </a:lnTo>
                  <a:lnTo>
                    <a:pt x="104775" y="534797"/>
                  </a:lnTo>
                  <a:lnTo>
                    <a:pt x="114300" y="515747"/>
                  </a:lnTo>
                  <a:close/>
                </a:path>
                <a:path w="6449059" h="1115695">
                  <a:moveTo>
                    <a:pt x="4597019" y="515747"/>
                  </a:moveTo>
                  <a:lnTo>
                    <a:pt x="4558919" y="515747"/>
                  </a:lnTo>
                  <a:lnTo>
                    <a:pt x="4558919" y="0"/>
                  </a:lnTo>
                  <a:lnTo>
                    <a:pt x="4520819" y="0"/>
                  </a:lnTo>
                  <a:lnTo>
                    <a:pt x="4520819" y="515747"/>
                  </a:lnTo>
                  <a:lnTo>
                    <a:pt x="4482719" y="515747"/>
                  </a:lnTo>
                  <a:lnTo>
                    <a:pt x="4539869" y="630047"/>
                  </a:lnTo>
                  <a:lnTo>
                    <a:pt x="4587494" y="534797"/>
                  </a:lnTo>
                  <a:lnTo>
                    <a:pt x="4597019" y="515747"/>
                  </a:lnTo>
                  <a:close/>
                </a:path>
                <a:path w="6449059" h="1115695">
                  <a:moveTo>
                    <a:pt x="6448806" y="1058418"/>
                  </a:moveTo>
                  <a:lnTo>
                    <a:pt x="6410706" y="1039368"/>
                  </a:lnTo>
                  <a:lnTo>
                    <a:pt x="6334506" y="1001268"/>
                  </a:lnTo>
                  <a:lnTo>
                    <a:pt x="6334506" y="1039368"/>
                  </a:lnTo>
                  <a:lnTo>
                    <a:pt x="4961382" y="1039368"/>
                  </a:lnTo>
                  <a:lnTo>
                    <a:pt x="4961382" y="1077468"/>
                  </a:lnTo>
                  <a:lnTo>
                    <a:pt x="6334506" y="1077468"/>
                  </a:lnTo>
                  <a:lnTo>
                    <a:pt x="6334506" y="1115568"/>
                  </a:lnTo>
                  <a:lnTo>
                    <a:pt x="6410706" y="1077468"/>
                  </a:lnTo>
                  <a:lnTo>
                    <a:pt x="6448806" y="1058418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739259" y="743534"/>
            <a:ext cx="7651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mbria Math"/>
                <a:cs typeface="Cambria Math"/>
              </a:rPr>
              <a:t>𝟐𝛑𝐤</a:t>
            </a:r>
            <a:r>
              <a:rPr sz="2625" spc="-30" baseline="-15873" dirty="0">
                <a:latin typeface="Cambria Math"/>
                <a:cs typeface="Cambria Math"/>
              </a:rPr>
              <a:t>𝟎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132696" y="659714"/>
            <a:ext cx="11341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mbria Math"/>
                <a:cs typeface="Cambria Math"/>
              </a:rPr>
              <a:t>𝟏/𝟐𝛑𝐤</a:t>
            </a:r>
            <a:r>
              <a:rPr sz="2625" spc="-15" baseline="-15873" dirty="0">
                <a:latin typeface="Cambria Math"/>
                <a:cs typeface="Cambria Math"/>
              </a:rPr>
              <a:t>𝐕</a:t>
            </a:r>
            <a:endParaRPr sz="2625" baseline="-15873">
              <a:latin typeface="Cambria Math"/>
              <a:cs typeface="Cambria Math"/>
            </a:endParaRPr>
          </a:p>
        </p:txBody>
      </p:sp>
      <p:pic>
        <p:nvPicPr>
          <p:cNvPr id="33" name="object 3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xmlns="" id="{A426D48C-B225-40F1-B645-3C6CA0C963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8200" y="3074639"/>
            <a:ext cx="777616" cy="83124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3193</TotalTime>
  <Words>1902</Words>
  <Application>Microsoft Office PowerPoint</Application>
  <PresentationFormat>Custom</PresentationFormat>
  <Paragraphs>498</Paragraphs>
  <Slides>38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Office Theme</vt:lpstr>
      <vt:lpstr>Angle Modulation</vt:lpstr>
      <vt:lpstr>Spectral Components of Angle Modulation</vt:lpstr>
      <vt:lpstr>Bessel Function Table with respect to Modulation Index</vt:lpstr>
      <vt:lpstr>Observation from Bassel Function Table</vt:lpstr>
      <vt:lpstr>Bandwidth of FM wave</vt:lpstr>
      <vt:lpstr>Example  1.  A  carrier  wave  of  amplitude  10V  and  frequency  100  MHz  is  frequency modulated by a sinusoidal voltage. The modulating voltage has an amplitude of 5V and a frequency 𝐟𝐦 = 𝟐𝟎 𝐤𝐇𝐳. The frequency deviation constant is 2 kHz/Volt. Draw the frequency spectrum of FM wave.</vt:lpstr>
      <vt:lpstr>PowerPoint Presentation</vt:lpstr>
      <vt:lpstr>Bassel Function Table with respect to Modulation Index</vt:lpstr>
      <vt:lpstr>Narrow Band Frequency Modulation (NBFM)</vt:lpstr>
      <vt:lpstr>Basics of NBFM</vt:lpstr>
      <vt:lpstr>Essential Keynotes of NBFM</vt:lpstr>
      <vt:lpstr>NBFM Generation</vt:lpstr>
      <vt:lpstr>Resolution of Issue in NBFM Generation</vt:lpstr>
      <vt:lpstr>+ 𝟎. 𝟓 𝐜𝐨𝐬 𝛚𝐦𝐭 𝐬𝐢𝐧 𝛚𝐜𝐭 is ………………..</vt:lpstr>
      <vt:lpstr>Narrow Band Phase Modulation (NBPM)</vt:lpstr>
      <vt:lpstr>Basics of NBPM</vt:lpstr>
      <vt:lpstr>NBPM Generation</vt:lpstr>
      <vt:lpstr>Resolution of Issue in NBPM Generation</vt:lpstr>
      <vt:lpstr>Wide Band Frequency Modulation (WBFM)</vt:lpstr>
      <vt:lpstr>Basics of WBFM</vt:lpstr>
      <vt:lpstr>Bassel Function Table with respect to Modulation Index</vt:lpstr>
      <vt:lpstr>WBFM Generation</vt:lpstr>
      <vt:lpstr>Applications of WBFM</vt:lpstr>
      <vt:lpstr>FM Generation by Direct Method</vt:lpstr>
      <vt:lpstr>Direct Method for FM Generation</vt:lpstr>
      <vt:lpstr>Derivation of FM Signal using Direct Method for FM Generation</vt:lpstr>
      <vt:lpstr>PowerPoint Presentation</vt:lpstr>
      <vt:lpstr>FM Generation by Indirect Method of Armstrong Block Diagram of FM Generation by Indirect Method of Armstrong</vt:lpstr>
      <vt:lpstr>NBFM Generation</vt:lpstr>
      <vt:lpstr>PowerPoint Presentation</vt:lpstr>
      <vt:lpstr>FM Demodulation</vt:lpstr>
      <vt:lpstr>FM Demodulation using Envelope Detector</vt:lpstr>
      <vt:lpstr>Circuit Diagram</vt:lpstr>
      <vt:lpstr>Waveforms of FM Demodulation using Envelope Detector</vt:lpstr>
      <vt:lpstr>FM Demodulation by Phase Lock Loop</vt:lpstr>
      <vt:lpstr>PowerPoint Presentation</vt:lpstr>
      <vt:lpstr>Linear Model of Phase Lock Loop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Angle Modulation</dc:title>
  <cp:lastModifiedBy>CSE1</cp:lastModifiedBy>
  <cp:revision>87</cp:revision>
  <dcterms:created xsi:type="dcterms:W3CDTF">2026-03-06T09:28:36Z</dcterms:created>
  <dcterms:modified xsi:type="dcterms:W3CDTF">2026-04-04T12:23:42Z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2026-03-06T00:00:00Z</vt:filetime>
  </property>
  <property fmtid="{D5CDD505-2E9C-101B-9397-08002B2CF9AE}" pid="3" name="LastSaved">
    <vt:filetime>2026-03-06T00:00:00Z</vt:filetime>
  </property>
  <property fmtid="{D5CDD505-2E9C-101B-9397-08002B2CF9AE}" pid="4" name="Producer">
    <vt:lpwstr>3-Heights™ PDF Merge Split Shell 6.12.1.11 (http://www.pdf-tools.com)</vt:lpwstr>
  </property>
</Properties>
</file>