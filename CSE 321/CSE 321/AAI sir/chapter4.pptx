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70" roundtripDataSignature="AMtx7mjBOO21+V5yveopNcyaBQuq5FBR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customschemas.google.com/relationships/presentationmetadata" Target="meta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4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5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5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5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5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5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5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5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5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5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5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6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6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6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6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6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6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7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8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8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0" name="Google Shape;30;p6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9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9"/>
          <p:cNvSpPr txBox="1"/>
          <p:nvPr>
            <p:ph idx="1" type="body"/>
          </p:nvPr>
        </p:nvSpPr>
        <p:spPr>
          <a:xfrm>
            <a:off x="0" y="5715000"/>
            <a:ext cx="4495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9"/>
          <p:cNvSpPr txBox="1"/>
          <p:nvPr>
            <p:ph idx="2" type="body"/>
          </p:nvPr>
        </p:nvSpPr>
        <p:spPr>
          <a:xfrm>
            <a:off x="4648200" y="5715000"/>
            <a:ext cx="4495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0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0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0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0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0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3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AutoNum type="alphaLcParenR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73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7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4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4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74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7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5"/>
          <p:cNvSpPr txBox="1"/>
          <p:nvPr>
            <p:ph idx="1" type="body"/>
          </p:nvPr>
        </p:nvSpPr>
        <p:spPr>
          <a:xfrm rot="5400000">
            <a:off x="4152900" y="1562100"/>
            <a:ext cx="838200" cy="9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7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6"/>
          <p:cNvSpPr txBox="1"/>
          <p:nvPr>
            <p:ph type="title"/>
          </p:nvPr>
        </p:nvSpPr>
        <p:spPr>
          <a:xfrm rot="5400000">
            <a:off x="4724400" y="2133600"/>
            <a:ext cx="6553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6"/>
          <p:cNvSpPr txBox="1"/>
          <p:nvPr>
            <p:ph idx="1" type="body"/>
          </p:nvPr>
        </p:nvSpPr>
        <p:spPr>
          <a:xfrm rot="5400000">
            <a:off x="76200" y="-76200"/>
            <a:ext cx="6553200" cy="6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7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65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AutoNum type="alphaLcParenR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6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6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6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Relationship Id="rId4" Type="http://schemas.openxmlformats.org/officeDocument/2006/relationships/image" Target="../media/image1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6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8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9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4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7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3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6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8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4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7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2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3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1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9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6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0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0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5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762000" y="2836863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The Medium Access Control</a:t>
            </a:r>
            <a:br>
              <a:rPr lang="en-US" sz="4800"/>
            </a:br>
            <a:r>
              <a:rPr lang="en-US" sz="4800"/>
              <a:t>Sublayer</a:t>
            </a:r>
            <a:endParaRPr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400175" y="1096963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0"/>
              <a:buFont typeface="Times New Roman"/>
              <a:buNone/>
            </a:pPr>
            <a:r>
              <a:rPr lang="en-US" sz="6000">
                <a:solidFill>
                  <a:srgbClr val="FF3300"/>
                </a:solidFill>
              </a:rPr>
              <a:t>Chapter 4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Channel Allocation Problem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419100" y="1833563"/>
            <a:ext cx="8166100" cy="471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Static Channel Allocation in LANs and MANs</a:t>
            </a:r>
            <a:endParaRPr/>
          </a:p>
          <a:p>
            <a:pPr indent="-609600" lvl="0" marL="609600" rtl="0" algn="l"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Dynamic Channel Allocation in LANs and MANs</a:t>
            </a:r>
            <a:endParaRPr/>
          </a:p>
          <a:p>
            <a:pPr indent="-431800" lvl="0" marL="609600" rtl="0" algn="l"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None/>
            </a:pPr>
            <a:r>
              <a:t/>
            </a:r>
            <a:endParaRPr sz="2800"/>
          </a:p>
        </p:txBody>
      </p:sp>
      <p:sp>
        <p:nvSpPr>
          <p:cNvPr id="97" name="Google Shape;97;p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Dynamic Channel Allocation in LANs and MANs</a:t>
            </a: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1558925" y="1347788"/>
            <a:ext cx="6845300" cy="4743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/>
              <a:t>Station Model.</a:t>
            </a:r>
            <a:endParaRPr/>
          </a:p>
          <a:p>
            <a:pPr indent="-457200" lvl="0" marL="609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t/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/>
              <a:t>Single Channel Assumption.</a:t>
            </a:r>
            <a:endParaRPr/>
          </a:p>
          <a:p>
            <a:pPr indent="-457200" lvl="0" marL="609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t/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/>
              <a:t>Collision Assumption.</a:t>
            </a:r>
            <a:endParaRPr/>
          </a:p>
          <a:p>
            <a:pPr indent="-457200" lvl="0" marL="609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t/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>
                <a:solidFill>
                  <a:schemeClr val="accent2"/>
                </a:solidFill>
              </a:rPr>
              <a:t>(a)</a:t>
            </a:r>
            <a:r>
              <a:rPr lang="en-US"/>
              <a:t> Continuous Time.</a:t>
            </a:r>
            <a:br>
              <a:rPr lang="en-US"/>
            </a:br>
            <a:r>
              <a:rPr lang="en-US">
                <a:solidFill>
                  <a:schemeClr val="accent2"/>
                </a:solidFill>
              </a:rPr>
              <a:t>(b)</a:t>
            </a:r>
            <a:r>
              <a:rPr lang="en-US"/>
              <a:t> Slotted Time.</a:t>
            </a:r>
            <a:endParaRPr/>
          </a:p>
          <a:p>
            <a:pPr indent="-457200" lvl="0" marL="609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t/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>
                <a:solidFill>
                  <a:schemeClr val="accent2"/>
                </a:solidFill>
              </a:rPr>
              <a:t>(a)</a:t>
            </a:r>
            <a:r>
              <a:rPr lang="en-US"/>
              <a:t> Carrier Sense.</a:t>
            </a:r>
            <a:br>
              <a:rPr lang="en-US"/>
            </a:br>
            <a:r>
              <a:rPr lang="en-US">
                <a:solidFill>
                  <a:schemeClr val="accent2"/>
                </a:solidFill>
              </a:rPr>
              <a:t>(b)</a:t>
            </a:r>
            <a:r>
              <a:rPr lang="en-US"/>
              <a:t> No Carrier Sense.</a:t>
            </a:r>
            <a:endParaRPr/>
          </a:p>
        </p:txBody>
      </p:sp>
      <p:sp>
        <p:nvSpPr>
          <p:cNvPr id="104" name="Google Shape;104;p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Multiple Access Protocols</a:t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406400" y="1563688"/>
            <a:ext cx="8489950" cy="4975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ALOHA</a:t>
            </a:r>
            <a:endParaRPr/>
          </a:p>
          <a:p>
            <a:pPr indent="-609600" lvl="0" marL="609600" rtl="0" algn="l"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Carrier Sense Multiple Access Protocols</a:t>
            </a:r>
            <a:endParaRPr/>
          </a:p>
          <a:p>
            <a:pPr indent="-609600" lvl="0" marL="609600" rtl="0" algn="l"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Collision-Free Protocols</a:t>
            </a:r>
            <a:endParaRPr/>
          </a:p>
          <a:p>
            <a:pPr indent="-609600" lvl="0" marL="609600" rtl="0" algn="l"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Limited-Contention Protocols</a:t>
            </a:r>
            <a:endParaRPr/>
          </a:p>
          <a:p>
            <a:pPr indent="-609600" lvl="0" marL="609600" rtl="0" algn="l"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Wavelength Division Multiple Access Protocols</a:t>
            </a:r>
            <a:endParaRPr/>
          </a:p>
          <a:p>
            <a:pPr indent="-609600" lvl="0" marL="609600" rtl="0" algn="l"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Wireless LAN Protocols</a:t>
            </a:r>
            <a:endParaRPr/>
          </a:p>
        </p:txBody>
      </p:sp>
      <p:sp>
        <p:nvSpPr>
          <p:cNvPr id="111" name="Google Shape;111;p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Pure ALOHA</a:t>
            </a:r>
            <a:endParaRPr/>
          </a:p>
        </p:txBody>
      </p:sp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In pure ALOHA, frames are transmitted at completely arbitrary times.</a:t>
            </a:r>
            <a:endParaRPr/>
          </a:p>
        </p:txBody>
      </p:sp>
      <p:pic>
        <p:nvPicPr>
          <p:cNvPr descr="4-01"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100" y="1423988"/>
            <a:ext cx="5991225" cy="365918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Pure ALOHA (2)</a:t>
            </a:r>
            <a:endParaRPr/>
          </a:p>
        </p:txBody>
      </p:sp>
      <p:sp>
        <p:nvSpPr>
          <p:cNvPr id="125" name="Google Shape;125;p6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Vulnerable period for the shaded frame.</a:t>
            </a:r>
            <a:endParaRPr/>
          </a:p>
        </p:txBody>
      </p:sp>
      <p:pic>
        <p:nvPicPr>
          <p:cNvPr descr="4-02"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6338" y="1281113"/>
            <a:ext cx="7305675" cy="404653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Pure ALOHA (3)</a:t>
            </a:r>
            <a:endParaRPr/>
          </a:p>
        </p:txBody>
      </p:sp>
      <p:sp>
        <p:nvSpPr>
          <p:cNvPr id="133" name="Google Shape;133;p7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Throughput versus offered traffic for ALOHA systems.</a:t>
            </a:r>
            <a:endParaRPr/>
          </a:p>
        </p:txBody>
      </p:sp>
      <p:pic>
        <p:nvPicPr>
          <p:cNvPr descr="4-03" id="134" name="Google Shape;13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925" y="1443038"/>
            <a:ext cx="7818438" cy="35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Persistent and Nonpersistent CSMA</a:t>
            </a:r>
            <a:endParaRPr/>
          </a:p>
        </p:txBody>
      </p:sp>
      <p:sp>
        <p:nvSpPr>
          <p:cNvPr id="141" name="Google Shape;141;p8"/>
          <p:cNvSpPr txBox="1"/>
          <p:nvPr>
            <p:ph idx="1" type="body"/>
          </p:nvPr>
        </p:nvSpPr>
        <p:spPr>
          <a:xfrm>
            <a:off x="504825" y="5715000"/>
            <a:ext cx="788193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Comparison of the channel utilization versus load for various random access protocols.</a:t>
            </a:r>
            <a:endParaRPr/>
          </a:p>
        </p:txBody>
      </p:sp>
      <p:pic>
        <p:nvPicPr>
          <p:cNvPr descr="4-04"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8" y="1544638"/>
            <a:ext cx="7351712" cy="350043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CSMA with Collision Detection</a:t>
            </a:r>
            <a:endParaRPr/>
          </a:p>
        </p:txBody>
      </p:sp>
      <p:sp>
        <p:nvSpPr>
          <p:cNvPr id="149" name="Google Shape;149;p9"/>
          <p:cNvSpPr txBox="1"/>
          <p:nvPr>
            <p:ph idx="1" type="body"/>
          </p:nvPr>
        </p:nvSpPr>
        <p:spPr>
          <a:xfrm>
            <a:off x="998538" y="5559425"/>
            <a:ext cx="714692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CSMA/CD can be in one of three states: contention, transmission, or idle.</a:t>
            </a:r>
            <a:endParaRPr/>
          </a:p>
        </p:txBody>
      </p:sp>
      <p:pic>
        <p:nvPicPr>
          <p:cNvPr descr="4-05" id="150" name="Google Shape;1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" y="2141538"/>
            <a:ext cx="7867650" cy="2363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Collision-Free Protocols</a:t>
            </a:r>
            <a:endParaRPr/>
          </a:p>
        </p:txBody>
      </p:sp>
      <p:sp>
        <p:nvSpPr>
          <p:cNvPr id="157" name="Google Shape;157;p10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The basic bit-map protocol.</a:t>
            </a:r>
            <a:endParaRPr/>
          </a:p>
        </p:txBody>
      </p:sp>
      <p:pic>
        <p:nvPicPr>
          <p:cNvPr descr="4-06" id="158" name="Google Shape;1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963" y="2671763"/>
            <a:ext cx="8243887" cy="146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Collision-Free Protocols (2)</a:t>
            </a:r>
            <a:endParaRPr/>
          </a:p>
        </p:txBody>
      </p:sp>
      <p:sp>
        <p:nvSpPr>
          <p:cNvPr id="165" name="Google Shape;165;p11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The binary countdown protocol.  A dash indicates silence.</a:t>
            </a:r>
            <a:endParaRPr/>
          </a:p>
        </p:txBody>
      </p:sp>
      <p:pic>
        <p:nvPicPr>
          <p:cNvPr descr="4-07" id="166" name="Google Shape;16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3313" y="1220788"/>
            <a:ext cx="4449762" cy="431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Limited-Contention Protocols</a:t>
            </a:r>
            <a:endParaRPr/>
          </a:p>
        </p:txBody>
      </p:sp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Acquisition probability for a symmetric contention channel.</a:t>
            </a:r>
            <a:endParaRPr/>
          </a:p>
        </p:txBody>
      </p:sp>
      <p:pic>
        <p:nvPicPr>
          <p:cNvPr descr="4-08" id="174" name="Google Shape;17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513" y="1819275"/>
            <a:ext cx="7315200" cy="306863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Adaptive Tree Walk Protocol</a:t>
            </a:r>
            <a:endParaRPr/>
          </a:p>
        </p:txBody>
      </p:sp>
      <p:sp>
        <p:nvSpPr>
          <p:cNvPr id="181" name="Google Shape;181;p13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The tree for eight stations.</a:t>
            </a:r>
            <a:endParaRPr/>
          </a:p>
        </p:txBody>
      </p:sp>
      <p:pic>
        <p:nvPicPr>
          <p:cNvPr descr="4-19" id="182" name="Google Shape;1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6900" y="1504950"/>
            <a:ext cx="6670675" cy="38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Wavelength Division Multiple Access Protocols</a:t>
            </a:r>
            <a:endParaRPr/>
          </a:p>
        </p:txBody>
      </p:sp>
      <p:sp>
        <p:nvSpPr>
          <p:cNvPr id="189" name="Google Shape;189;p14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Wavelength division multiple access.</a:t>
            </a:r>
            <a:endParaRPr/>
          </a:p>
        </p:txBody>
      </p:sp>
      <p:pic>
        <p:nvPicPr>
          <p:cNvPr descr="4-10" id="190" name="Google Shape;1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7938" y="1312863"/>
            <a:ext cx="7026275" cy="4167187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LAN Protocols</a:t>
            </a:r>
            <a:endParaRPr/>
          </a:p>
        </p:txBody>
      </p:sp>
      <p:sp>
        <p:nvSpPr>
          <p:cNvPr id="197" name="Google Shape;197;p15"/>
          <p:cNvSpPr txBox="1"/>
          <p:nvPr>
            <p:ph idx="1" type="body"/>
          </p:nvPr>
        </p:nvSpPr>
        <p:spPr>
          <a:xfrm>
            <a:off x="363538" y="5251450"/>
            <a:ext cx="84169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A wireless LAN.   </a:t>
            </a:r>
            <a:r>
              <a:rPr lang="en-US">
                <a:solidFill>
                  <a:schemeClr val="accent2"/>
                </a:solidFill>
              </a:rPr>
              <a:t>(a)</a:t>
            </a:r>
            <a:r>
              <a:rPr lang="en-US"/>
              <a:t> A transmitting.  </a:t>
            </a:r>
            <a:r>
              <a:rPr lang="en-US">
                <a:solidFill>
                  <a:schemeClr val="accent2"/>
                </a:solidFill>
              </a:rPr>
              <a:t>(b)</a:t>
            </a:r>
            <a:r>
              <a:rPr lang="en-US"/>
              <a:t> B transmitting.</a:t>
            </a:r>
            <a:endParaRPr/>
          </a:p>
        </p:txBody>
      </p:sp>
      <p:pic>
        <p:nvPicPr>
          <p:cNvPr descr="4-11" id="198" name="Google Shape;1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825" y="2382838"/>
            <a:ext cx="8007350" cy="156686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LAN Protocols (2)</a:t>
            </a:r>
            <a:endParaRPr/>
          </a:p>
        </p:txBody>
      </p:sp>
      <p:sp>
        <p:nvSpPr>
          <p:cNvPr id="205" name="Google Shape;205;p16"/>
          <p:cNvSpPr txBox="1"/>
          <p:nvPr>
            <p:ph idx="1" type="body"/>
          </p:nvPr>
        </p:nvSpPr>
        <p:spPr>
          <a:xfrm>
            <a:off x="1839913" y="5164138"/>
            <a:ext cx="7304087" cy="1389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The MACA protocol.  </a:t>
            </a:r>
            <a:r>
              <a:rPr lang="en-US">
                <a:solidFill>
                  <a:schemeClr val="accent2"/>
                </a:solidFill>
              </a:rPr>
              <a:t>(a)</a:t>
            </a:r>
            <a:r>
              <a:rPr lang="en-US"/>
              <a:t> A sending an RTS to B.</a:t>
            </a:r>
            <a:endParaRPr/>
          </a:p>
          <a:p>
            <a:pPr indent="-609600" lvl="0" marL="609600" rtl="0" algn="l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>
                <a:solidFill>
                  <a:schemeClr val="accent2"/>
                </a:solidFill>
              </a:rPr>
              <a:t>(b)</a:t>
            </a:r>
            <a:r>
              <a:rPr lang="en-US"/>
              <a:t> B responding with a CTS to A. </a:t>
            </a:r>
            <a:endParaRPr/>
          </a:p>
        </p:txBody>
      </p:sp>
      <p:pic>
        <p:nvPicPr>
          <p:cNvPr descr="4-12" id="206" name="Google Shape;2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038" y="1730375"/>
            <a:ext cx="7046912" cy="3116263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Ethernet</a:t>
            </a:r>
            <a:endParaRPr/>
          </a:p>
        </p:txBody>
      </p:sp>
      <p:sp>
        <p:nvSpPr>
          <p:cNvPr id="213" name="Google Shape;213;p17"/>
          <p:cNvSpPr txBox="1"/>
          <p:nvPr>
            <p:ph idx="1" type="body"/>
          </p:nvPr>
        </p:nvSpPr>
        <p:spPr>
          <a:xfrm>
            <a:off x="688975" y="1304925"/>
            <a:ext cx="8455025" cy="4984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Ethernet Cabling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Manchester Encoding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The Ethernet MAC Sublayer Protocol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The Binary Exponential Backoff Algorithm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Ethernet Performance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Switched Ethernet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Fast Ethernet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Gigabit Ethernet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IEEE 802.2: Logical Link Control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Retrospective on Ethernet</a:t>
            </a:r>
            <a:endParaRPr/>
          </a:p>
        </p:txBody>
      </p:sp>
      <p:sp>
        <p:nvSpPr>
          <p:cNvPr id="214" name="Google Shape;214;p1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Ethernet Cabling</a:t>
            </a:r>
            <a:endParaRPr/>
          </a:p>
        </p:txBody>
      </p:sp>
      <p:sp>
        <p:nvSpPr>
          <p:cNvPr id="220" name="Google Shape;220;p18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The most common kinds of Ethernet cabling. </a:t>
            </a:r>
            <a:endParaRPr/>
          </a:p>
        </p:txBody>
      </p:sp>
      <p:pic>
        <p:nvPicPr>
          <p:cNvPr descr="4-13" id="221" name="Google Shape;2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2687638"/>
            <a:ext cx="7673975" cy="1531937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Ethernet Cabling (2)</a:t>
            </a:r>
            <a:endParaRPr/>
          </a:p>
        </p:txBody>
      </p:sp>
      <p:sp>
        <p:nvSpPr>
          <p:cNvPr id="228" name="Google Shape;228;p19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Three kinds of Ethernet cabling. </a:t>
            </a:r>
            <a:endParaRPr/>
          </a:p>
          <a:p>
            <a:pPr indent="-609600" lvl="0" marL="609600" rtl="0" algn="ctr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>
                <a:solidFill>
                  <a:schemeClr val="accent2"/>
                </a:solidFill>
              </a:rPr>
              <a:t>(a)</a:t>
            </a:r>
            <a:r>
              <a:rPr lang="en-US"/>
              <a:t> 10Base5, </a:t>
            </a:r>
            <a:r>
              <a:rPr lang="en-US">
                <a:solidFill>
                  <a:schemeClr val="accent2"/>
                </a:solidFill>
              </a:rPr>
              <a:t>(b)</a:t>
            </a:r>
            <a:r>
              <a:rPr lang="en-US"/>
              <a:t> 10Base2, </a:t>
            </a:r>
            <a:r>
              <a:rPr lang="en-US">
                <a:solidFill>
                  <a:schemeClr val="accent2"/>
                </a:solidFill>
              </a:rPr>
              <a:t>(c)</a:t>
            </a:r>
            <a:r>
              <a:rPr lang="en-US"/>
              <a:t> 10Base-T.</a:t>
            </a:r>
            <a:endParaRPr/>
          </a:p>
        </p:txBody>
      </p:sp>
      <p:pic>
        <p:nvPicPr>
          <p:cNvPr descr="4-14" id="229" name="Google Shape;2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588" y="1744663"/>
            <a:ext cx="7292975" cy="345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Ethernet Cabling (3)</a:t>
            </a:r>
            <a:endParaRPr/>
          </a:p>
        </p:txBody>
      </p:sp>
      <p:sp>
        <p:nvSpPr>
          <p:cNvPr id="236" name="Google Shape;236;p20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Cable topologies.  </a:t>
            </a:r>
            <a:r>
              <a:rPr lang="en-US">
                <a:solidFill>
                  <a:schemeClr val="accent2"/>
                </a:solidFill>
              </a:rPr>
              <a:t>(a)</a:t>
            </a:r>
            <a:r>
              <a:rPr lang="en-US"/>
              <a:t> Linear, </a:t>
            </a:r>
            <a:r>
              <a:rPr lang="en-US">
                <a:solidFill>
                  <a:schemeClr val="accent2"/>
                </a:solidFill>
              </a:rPr>
              <a:t>(b)</a:t>
            </a:r>
            <a:r>
              <a:rPr lang="en-US"/>
              <a:t> Spine, </a:t>
            </a:r>
            <a:r>
              <a:rPr lang="en-US">
                <a:solidFill>
                  <a:schemeClr val="accent2"/>
                </a:solidFill>
              </a:rPr>
              <a:t>(c</a:t>
            </a:r>
            <a:r>
              <a:rPr lang="en-US"/>
              <a:t>) Tree, </a:t>
            </a:r>
            <a:r>
              <a:rPr lang="en-US">
                <a:solidFill>
                  <a:schemeClr val="accent2"/>
                </a:solidFill>
              </a:rPr>
              <a:t>(d)</a:t>
            </a:r>
            <a:r>
              <a:rPr lang="en-US"/>
              <a:t> Segmented.</a:t>
            </a:r>
            <a:endParaRPr/>
          </a:p>
        </p:txBody>
      </p:sp>
      <p:pic>
        <p:nvPicPr>
          <p:cNvPr descr="4-15" id="237" name="Google Shape;23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775" y="2055813"/>
            <a:ext cx="7710488" cy="251936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Ethernet Cabling (4)</a:t>
            </a:r>
            <a:endParaRPr/>
          </a:p>
        </p:txBody>
      </p:sp>
      <p:sp>
        <p:nvSpPr>
          <p:cNvPr id="244" name="Google Shape;244;p21"/>
          <p:cNvSpPr txBox="1"/>
          <p:nvPr>
            <p:ph idx="1" type="body"/>
          </p:nvPr>
        </p:nvSpPr>
        <p:spPr>
          <a:xfrm>
            <a:off x="0" y="5689600"/>
            <a:ext cx="91440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>
                <a:solidFill>
                  <a:schemeClr val="accent2"/>
                </a:solidFill>
              </a:rPr>
              <a:t>(a)</a:t>
            </a:r>
            <a:r>
              <a:rPr lang="en-US"/>
              <a:t> Binary encoding, </a:t>
            </a:r>
            <a:r>
              <a:rPr lang="en-US">
                <a:solidFill>
                  <a:schemeClr val="accent2"/>
                </a:solidFill>
              </a:rPr>
              <a:t>(b)</a:t>
            </a:r>
            <a:r>
              <a:rPr lang="en-US"/>
              <a:t> Manchester encoding, </a:t>
            </a:r>
            <a:br>
              <a:rPr lang="en-US"/>
            </a:br>
            <a:r>
              <a:rPr lang="en-US">
                <a:solidFill>
                  <a:schemeClr val="accent2"/>
                </a:solidFill>
              </a:rPr>
              <a:t>(c)</a:t>
            </a:r>
            <a:r>
              <a:rPr lang="en-US"/>
              <a:t> Differential Manchester encoding.</a:t>
            </a:r>
            <a:endParaRPr/>
          </a:p>
        </p:txBody>
      </p:sp>
      <p:pic>
        <p:nvPicPr>
          <p:cNvPr descr="4-16" id="245" name="Google Shape;2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450" y="1720850"/>
            <a:ext cx="7827963" cy="310356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Ethernet MAC Sublayer Protocol</a:t>
            </a:r>
            <a:endParaRPr/>
          </a:p>
        </p:txBody>
      </p:sp>
      <p:sp>
        <p:nvSpPr>
          <p:cNvPr id="252" name="Google Shape;252;p22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Frame formats. </a:t>
            </a:r>
            <a:r>
              <a:rPr lang="en-US">
                <a:solidFill>
                  <a:schemeClr val="accent2"/>
                </a:solidFill>
              </a:rPr>
              <a:t>(a)</a:t>
            </a:r>
            <a:r>
              <a:rPr lang="en-US"/>
              <a:t> DIX Ethernet,  </a:t>
            </a:r>
            <a:r>
              <a:rPr lang="en-US">
                <a:solidFill>
                  <a:schemeClr val="accent2"/>
                </a:solidFill>
              </a:rPr>
              <a:t>(b)</a:t>
            </a:r>
            <a:r>
              <a:rPr lang="en-US"/>
              <a:t> IEEE 802.3.</a:t>
            </a:r>
            <a:endParaRPr/>
          </a:p>
        </p:txBody>
      </p:sp>
      <p:pic>
        <p:nvPicPr>
          <p:cNvPr descr="4-17" id="253" name="Google Shape;2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750" y="2370138"/>
            <a:ext cx="8118475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Ethernet MAC Sublayer Protocol (2)</a:t>
            </a:r>
            <a:endParaRPr/>
          </a:p>
        </p:txBody>
      </p:sp>
      <p:pic>
        <p:nvPicPr>
          <p:cNvPr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5722938"/>
            <a:ext cx="6143625" cy="47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-09" id="261" name="Google Shape;2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975" y="2065338"/>
            <a:ext cx="7227888" cy="281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Ethernet Performance</a:t>
            </a:r>
            <a:endParaRPr/>
          </a:p>
        </p:txBody>
      </p:sp>
      <p:sp>
        <p:nvSpPr>
          <p:cNvPr id="268" name="Google Shape;268;p24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Efficiency of Ethernet at 10 Mbps with 512-bit slot times.</a:t>
            </a:r>
            <a:endParaRPr/>
          </a:p>
        </p:txBody>
      </p:sp>
      <p:pic>
        <p:nvPicPr>
          <p:cNvPr id="269" name="Google Shape;26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6888" y="1287463"/>
            <a:ext cx="5381625" cy="39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Switched Ethernet</a:t>
            </a:r>
            <a:endParaRPr/>
          </a:p>
        </p:txBody>
      </p:sp>
      <p:sp>
        <p:nvSpPr>
          <p:cNvPr id="276" name="Google Shape;276;p25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A simple example of switched Ethernet.</a:t>
            </a:r>
            <a:endParaRPr/>
          </a:p>
        </p:txBody>
      </p:sp>
      <p:pic>
        <p:nvPicPr>
          <p:cNvPr descr="4-20" id="277" name="Google Shape;27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438" y="1670050"/>
            <a:ext cx="7337425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Fast Ethernet</a:t>
            </a:r>
            <a:endParaRPr/>
          </a:p>
        </p:txBody>
      </p:sp>
      <p:sp>
        <p:nvSpPr>
          <p:cNvPr id="284" name="Google Shape;284;p26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The original fast Ethernet cabling.</a:t>
            </a:r>
            <a:endParaRPr/>
          </a:p>
        </p:txBody>
      </p:sp>
      <p:pic>
        <p:nvPicPr>
          <p:cNvPr descr="4-21" id="285" name="Google Shape;28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563" y="2519363"/>
            <a:ext cx="8388350" cy="138271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Gigabit Ethernet</a:t>
            </a:r>
            <a:endParaRPr/>
          </a:p>
        </p:txBody>
      </p:sp>
      <p:sp>
        <p:nvSpPr>
          <p:cNvPr id="292" name="Google Shape;292;p27"/>
          <p:cNvSpPr txBox="1"/>
          <p:nvPr>
            <p:ph idx="1" type="body"/>
          </p:nvPr>
        </p:nvSpPr>
        <p:spPr>
          <a:xfrm>
            <a:off x="1200150" y="5661025"/>
            <a:ext cx="7153275" cy="1052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>
                <a:solidFill>
                  <a:schemeClr val="accent2"/>
                </a:solidFill>
              </a:rPr>
              <a:t>(a)</a:t>
            </a:r>
            <a:r>
              <a:rPr lang="en-US"/>
              <a:t> A two-station Ethernet. </a:t>
            </a:r>
            <a:r>
              <a:rPr lang="en-US">
                <a:solidFill>
                  <a:schemeClr val="accent2"/>
                </a:solidFill>
              </a:rPr>
              <a:t>(b)</a:t>
            </a:r>
            <a:r>
              <a:rPr lang="en-US"/>
              <a:t> A multistation Ethernet.</a:t>
            </a:r>
            <a:endParaRPr/>
          </a:p>
        </p:txBody>
      </p:sp>
      <p:pic>
        <p:nvPicPr>
          <p:cNvPr descr="4-22" id="293" name="Google Shape;29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525" y="1709738"/>
            <a:ext cx="7864475" cy="298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8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Gigabit Ethernet (2)</a:t>
            </a:r>
            <a:endParaRPr/>
          </a:p>
        </p:txBody>
      </p:sp>
      <p:sp>
        <p:nvSpPr>
          <p:cNvPr id="300" name="Google Shape;300;p28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Gigabit Ethernet cabling.</a:t>
            </a:r>
            <a:endParaRPr/>
          </a:p>
        </p:txBody>
      </p:sp>
      <p:pic>
        <p:nvPicPr>
          <p:cNvPr descr="4-23" id="301" name="Google Shape;30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375" y="2643188"/>
            <a:ext cx="8059738" cy="1547812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9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IEEE 802.2: Logical Link Control</a:t>
            </a:r>
            <a:endParaRPr/>
          </a:p>
        </p:txBody>
      </p:sp>
      <p:sp>
        <p:nvSpPr>
          <p:cNvPr id="308" name="Google Shape;308;p29"/>
          <p:cNvSpPr txBox="1"/>
          <p:nvPr>
            <p:ph idx="1" type="body"/>
          </p:nvPr>
        </p:nvSpPr>
        <p:spPr>
          <a:xfrm>
            <a:off x="1503363" y="5792788"/>
            <a:ext cx="6424612" cy="1150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>
                <a:solidFill>
                  <a:schemeClr val="accent2"/>
                </a:solidFill>
              </a:rPr>
              <a:t>(a)</a:t>
            </a:r>
            <a:r>
              <a:rPr lang="en-US"/>
              <a:t> Position of LLC. </a:t>
            </a:r>
            <a:r>
              <a:rPr lang="en-US">
                <a:solidFill>
                  <a:schemeClr val="accent2"/>
                </a:solidFill>
              </a:rPr>
              <a:t>(b)</a:t>
            </a:r>
            <a:r>
              <a:rPr lang="en-US"/>
              <a:t> Protocol formats.</a:t>
            </a:r>
            <a:endParaRPr/>
          </a:p>
        </p:txBody>
      </p:sp>
      <p:pic>
        <p:nvPicPr>
          <p:cNvPr descr="4-24" id="309" name="Google Shape;30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1725613"/>
            <a:ext cx="7573963" cy="314166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LANs</a:t>
            </a:r>
            <a:endParaRPr/>
          </a:p>
        </p:txBody>
      </p:sp>
      <p:sp>
        <p:nvSpPr>
          <p:cNvPr id="316" name="Google Shape;316;p30"/>
          <p:cNvSpPr txBox="1"/>
          <p:nvPr>
            <p:ph idx="1" type="body"/>
          </p:nvPr>
        </p:nvSpPr>
        <p:spPr>
          <a:xfrm>
            <a:off x="776288" y="1581150"/>
            <a:ext cx="8367712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SzPts val="3600"/>
              <a:buFont typeface="Times New Roman"/>
              <a:buChar char="•"/>
            </a:pPr>
            <a:r>
              <a:rPr lang="en-US" sz="3600"/>
              <a:t>The 802.11 Protocol Stack</a:t>
            </a:r>
            <a:endParaRPr/>
          </a:p>
          <a:p>
            <a:pPr indent="-609600" lvl="0" marL="609600" rtl="0" algn="l">
              <a:spcBef>
                <a:spcPts val="720"/>
              </a:spcBef>
              <a:spcAft>
                <a:spcPts val="0"/>
              </a:spcAft>
              <a:buSzPts val="3600"/>
              <a:buFont typeface="Times New Roman"/>
              <a:buChar char="•"/>
            </a:pPr>
            <a:r>
              <a:rPr lang="en-US" sz="3600"/>
              <a:t>The 802.11 Physical Layer</a:t>
            </a:r>
            <a:endParaRPr/>
          </a:p>
          <a:p>
            <a:pPr indent="-609600" lvl="0" marL="609600" rtl="0" algn="l">
              <a:spcBef>
                <a:spcPts val="720"/>
              </a:spcBef>
              <a:spcAft>
                <a:spcPts val="0"/>
              </a:spcAft>
              <a:buSzPts val="3600"/>
              <a:buFont typeface="Times New Roman"/>
              <a:buChar char="•"/>
            </a:pPr>
            <a:r>
              <a:rPr lang="en-US" sz="3600"/>
              <a:t>The 802.11 MAC Sublayer Protocol</a:t>
            </a:r>
            <a:endParaRPr/>
          </a:p>
          <a:p>
            <a:pPr indent="-609600" lvl="0" marL="609600" rtl="0" algn="l">
              <a:spcBef>
                <a:spcPts val="720"/>
              </a:spcBef>
              <a:spcAft>
                <a:spcPts val="0"/>
              </a:spcAft>
              <a:buSzPts val="3600"/>
              <a:buFont typeface="Times New Roman"/>
              <a:buChar char="•"/>
            </a:pPr>
            <a:r>
              <a:rPr lang="en-US" sz="3600"/>
              <a:t>The 802.11 Frame Structure</a:t>
            </a:r>
            <a:endParaRPr/>
          </a:p>
          <a:p>
            <a:pPr indent="-609600" lvl="0" marL="609600" rtl="0" algn="l">
              <a:spcBef>
                <a:spcPts val="720"/>
              </a:spcBef>
              <a:spcAft>
                <a:spcPts val="0"/>
              </a:spcAft>
              <a:buSzPts val="3600"/>
              <a:buFont typeface="Times New Roman"/>
              <a:buChar char="•"/>
            </a:pPr>
            <a:r>
              <a:rPr lang="en-US" sz="3600"/>
              <a:t>Services</a:t>
            </a:r>
            <a:endParaRPr/>
          </a:p>
        </p:txBody>
      </p:sp>
      <p:sp>
        <p:nvSpPr>
          <p:cNvPr id="317" name="Google Shape;317;p3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-25" id="322" name="Google Shape;32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663" y="666750"/>
            <a:ext cx="7537450" cy="444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802.11 Protocol Stack</a:t>
            </a:r>
            <a:endParaRPr/>
          </a:p>
        </p:txBody>
      </p:sp>
      <p:sp>
        <p:nvSpPr>
          <p:cNvPr id="324" name="Google Shape;324;p31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Part of the 802.11 protocol stack.</a:t>
            </a:r>
            <a:endParaRPr/>
          </a:p>
        </p:txBody>
      </p:sp>
      <p:sp>
        <p:nvSpPr>
          <p:cNvPr id="325" name="Google Shape;325;p3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802.11 MAC Sublayer Protocol</a:t>
            </a:r>
            <a:endParaRPr/>
          </a:p>
        </p:txBody>
      </p:sp>
      <p:sp>
        <p:nvSpPr>
          <p:cNvPr id="331" name="Google Shape;331;p32"/>
          <p:cNvSpPr txBox="1"/>
          <p:nvPr>
            <p:ph idx="1" type="body"/>
          </p:nvPr>
        </p:nvSpPr>
        <p:spPr>
          <a:xfrm>
            <a:off x="2317750" y="5715000"/>
            <a:ext cx="68262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>
                <a:solidFill>
                  <a:schemeClr val="accent2"/>
                </a:solidFill>
              </a:rPr>
              <a:t>(a)</a:t>
            </a:r>
            <a:r>
              <a:rPr lang="en-US"/>
              <a:t> The hidden station problem.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>
                <a:solidFill>
                  <a:schemeClr val="accent2"/>
                </a:solidFill>
              </a:rPr>
              <a:t>(b)</a:t>
            </a:r>
            <a:r>
              <a:rPr lang="en-US"/>
              <a:t> The exposed station problem.</a:t>
            </a:r>
            <a:endParaRPr/>
          </a:p>
        </p:txBody>
      </p:sp>
      <p:pic>
        <p:nvPicPr>
          <p:cNvPr descr="4-26" id="332" name="Google Shape;33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038" y="1835150"/>
            <a:ext cx="7642225" cy="334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802.11 MAC Sublayer Protocol (2)</a:t>
            </a:r>
            <a:endParaRPr/>
          </a:p>
        </p:txBody>
      </p:sp>
      <p:sp>
        <p:nvSpPr>
          <p:cNvPr id="339" name="Google Shape;339;p33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The use of virtual channel sensing using CSMA/CA.</a:t>
            </a:r>
            <a:endParaRPr/>
          </a:p>
        </p:txBody>
      </p:sp>
      <p:pic>
        <p:nvPicPr>
          <p:cNvPr descr="4-27" id="340" name="Google Shape;34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2041525"/>
            <a:ext cx="8382000" cy="278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802.11 MAC Sublayer Protocol (3)</a:t>
            </a:r>
            <a:endParaRPr/>
          </a:p>
        </p:txBody>
      </p:sp>
      <p:sp>
        <p:nvSpPr>
          <p:cNvPr id="347" name="Google Shape;347;p34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A fragment burst.</a:t>
            </a:r>
            <a:endParaRPr/>
          </a:p>
        </p:txBody>
      </p:sp>
      <p:pic>
        <p:nvPicPr>
          <p:cNvPr descr="4-28" id="348" name="Google Shape;34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1768475"/>
            <a:ext cx="8043863" cy="3071813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802.11 MAC Sublayer Protocol (4)</a:t>
            </a:r>
            <a:endParaRPr/>
          </a:p>
        </p:txBody>
      </p:sp>
      <p:sp>
        <p:nvSpPr>
          <p:cNvPr id="355" name="Google Shape;355;p35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Interframe spacing in 802.11.</a:t>
            </a:r>
            <a:endParaRPr/>
          </a:p>
        </p:txBody>
      </p:sp>
      <p:pic>
        <p:nvPicPr>
          <p:cNvPr descr="4-29" id="356" name="Google Shape;35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1773238"/>
            <a:ext cx="82708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802.11 Frame Structure</a:t>
            </a:r>
            <a:endParaRPr/>
          </a:p>
        </p:txBody>
      </p:sp>
      <p:sp>
        <p:nvSpPr>
          <p:cNvPr id="363" name="Google Shape;363;p36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The 802.11 data frame.</a:t>
            </a:r>
            <a:endParaRPr/>
          </a:p>
        </p:txBody>
      </p:sp>
      <p:pic>
        <p:nvPicPr>
          <p:cNvPr descr="4-30" id="364" name="Google Shape;36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363" y="2224088"/>
            <a:ext cx="8245475" cy="2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7"/>
          <p:cNvSpPr txBox="1"/>
          <p:nvPr>
            <p:ph type="title"/>
          </p:nvPr>
        </p:nvSpPr>
        <p:spPr>
          <a:xfrm>
            <a:off x="1495425" y="238125"/>
            <a:ext cx="5746750" cy="8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802.11 Services</a:t>
            </a:r>
            <a:endParaRPr/>
          </a:p>
        </p:txBody>
      </p:sp>
      <p:sp>
        <p:nvSpPr>
          <p:cNvPr id="371" name="Google Shape;371;p37"/>
          <p:cNvSpPr txBox="1"/>
          <p:nvPr>
            <p:ph idx="1" type="body"/>
          </p:nvPr>
        </p:nvSpPr>
        <p:spPr>
          <a:xfrm>
            <a:off x="2586038" y="3068638"/>
            <a:ext cx="3844925" cy="3513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Association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Disassociation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Reassociation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Distribution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Integration</a:t>
            </a:r>
            <a:endParaRPr/>
          </a:p>
        </p:txBody>
      </p:sp>
      <p:sp>
        <p:nvSpPr>
          <p:cNvPr id="372" name="Google Shape;372;p37"/>
          <p:cNvSpPr txBox="1"/>
          <p:nvPr/>
        </p:nvSpPr>
        <p:spPr>
          <a:xfrm>
            <a:off x="2438400" y="1789113"/>
            <a:ext cx="40576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Distribution Services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3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8"/>
          <p:cNvSpPr txBox="1"/>
          <p:nvPr>
            <p:ph type="title"/>
          </p:nvPr>
        </p:nvSpPr>
        <p:spPr>
          <a:xfrm>
            <a:off x="1341438" y="328613"/>
            <a:ext cx="6089650" cy="674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802.11 Services</a:t>
            </a:r>
            <a:endParaRPr/>
          </a:p>
        </p:txBody>
      </p:sp>
      <p:sp>
        <p:nvSpPr>
          <p:cNvPr id="379" name="Google Shape;379;p38"/>
          <p:cNvSpPr txBox="1"/>
          <p:nvPr>
            <p:ph idx="1" type="body"/>
          </p:nvPr>
        </p:nvSpPr>
        <p:spPr>
          <a:xfrm>
            <a:off x="2195513" y="2571750"/>
            <a:ext cx="4325937" cy="32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Authentication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Deauthentication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Privacy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Data Delivery</a:t>
            </a:r>
            <a:endParaRPr/>
          </a:p>
        </p:txBody>
      </p:sp>
      <p:sp>
        <p:nvSpPr>
          <p:cNvPr id="380" name="Google Shape;380;p38"/>
          <p:cNvSpPr/>
          <p:nvPr/>
        </p:nvSpPr>
        <p:spPr>
          <a:xfrm>
            <a:off x="2435225" y="1619250"/>
            <a:ext cx="33718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Intracell Services</a:t>
            </a:r>
            <a:endParaRPr/>
          </a:p>
        </p:txBody>
      </p:sp>
      <p:sp>
        <p:nvSpPr>
          <p:cNvPr id="381" name="Google Shape;381;p3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9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Broadband Wireless</a:t>
            </a:r>
            <a:endParaRPr/>
          </a:p>
        </p:txBody>
      </p:sp>
      <p:sp>
        <p:nvSpPr>
          <p:cNvPr id="387" name="Google Shape;387;p39"/>
          <p:cNvSpPr txBox="1"/>
          <p:nvPr>
            <p:ph idx="1" type="body"/>
          </p:nvPr>
        </p:nvSpPr>
        <p:spPr>
          <a:xfrm>
            <a:off x="801688" y="1470025"/>
            <a:ext cx="8342312" cy="508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Comparison of 802.11 and 802.16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The 802.16 Protocol Stack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The 802.16 Physical Layer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The 802.16 MAC Sublayer Protocol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The 802.16 Frame Structure</a:t>
            </a:r>
            <a:endParaRPr/>
          </a:p>
        </p:txBody>
      </p:sp>
      <p:sp>
        <p:nvSpPr>
          <p:cNvPr id="388" name="Google Shape;388;p3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802.16 Protocol Stack</a:t>
            </a:r>
            <a:endParaRPr/>
          </a:p>
        </p:txBody>
      </p:sp>
      <p:sp>
        <p:nvSpPr>
          <p:cNvPr id="394" name="Google Shape;394;p40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The 802.16 Protocol Stack.</a:t>
            </a:r>
            <a:endParaRPr/>
          </a:p>
        </p:txBody>
      </p:sp>
      <p:pic>
        <p:nvPicPr>
          <p:cNvPr descr="4-31" id="395" name="Google Shape;39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063" y="1874838"/>
            <a:ext cx="7856537" cy="29083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802.16 Physical Layer</a:t>
            </a:r>
            <a:endParaRPr/>
          </a:p>
        </p:txBody>
      </p:sp>
      <p:sp>
        <p:nvSpPr>
          <p:cNvPr id="402" name="Google Shape;402;p41"/>
          <p:cNvSpPr txBox="1"/>
          <p:nvPr>
            <p:ph idx="1" type="body"/>
          </p:nvPr>
        </p:nvSpPr>
        <p:spPr>
          <a:xfrm>
            <a:off x="0" y="5678488"/>
            <a:ext cx="9144000" cy="87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The 802.16 transmission environment.</a:t>
            </a:r>
            <a:endParaRPr/>
          </a:p>
        </p:txBody>
      </p:sp>
      <p:pic>
        <p:nvPicPr>
          <p:cNvPr descr="4-32" id="403" name="Google Shape;40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675" y="1255713"/>
            <a:ext cx="8582025" cy="42608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802.16 Physical Layer (2)</a:t>
            </a:r>
            <a:endParaRPr/>
          </a:p>
        </p:txBody>
      </p:sp>
      <p:sp>
        <p:nvSpPr>
          <p:cNvPr id="410" name="Google Shape;410;p42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Frames and time slots for time division duplexing.</a:t>
            </a:r>
            <a:endParaRPr/>
          </a:p>
        </p:txBody>
      </p:sp>
      <p:pic>
        <p:nvPicPr>
          <p:cNvPr descr="4-33" id="411" name="Google Shape;41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413" y="2376488"/>
            <a:ext cx="8283575" cy="1452562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4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802.16 MAC Sublayer Protocol</a:t>
            </a:r>
            <a:endParaRPr/>
          </a:p>
        </p:txBody>
      </p:sp>
      <p:sp>
        <p:nvSpPr>
          <p:cNvPr id="418" name="Google Shape;418;p43"/>
          <p:cNvSpPr txBox="1"/>
          <p:nvPr>
            <p:ph idx="1" type="body"/>
          </p:nvPr>
        </p:nvSpPr>
        <p:spPr>
          <a:xfrm>
            <a:off x="1039813" y="1493838"/>
            <a:ext cx="8104187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None/>
            </a:pPr>
            <a:r>
              <a:rPr lang="en-US" sz="3200"/>
              <a:t>Service Classes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Constant bit rate service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Real-time variable bit rate service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Non-real-time variable bit rate service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Best efforts service</a:t>
            </a:r>
            <a:endParaRPr/>
          </a:p>
        </p:txBody>
      </p:sp>
      <p:sp>
        <p:nvSpPr>
          <p:cNvPr id="419" name="Google Shape;419;p4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802.16 Frame Structure</a:t>
            </a:r>
            <a:endParaRPr/>
          </a:p>
        </p:txBody>
      </p:sp>
      <p:sp>
        <p:nvSpPr>
          <p:cNvPr id="425" name="Google Shape;425;p44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>
                <a:solidFill>
                  <a:schemeClr val="accent2"/>
                </a:solidFill>
              </a:rPr>
              <a:t>(a)</a:t>
            </a:r>
            <a:r>
              <a:rPr lang="en-US"/>
              <a:t> A generic frame.    </a:t>
            </a:r>
            <a:r>
              <a:rPr lang="en-US">
                <a:solidFill>
                  <a:schemeClr val="accent2"/>
                </a:solidFill>
              </a:rPr>
              <a:t>(b)</a:t>
            </a:r>
            <a:r>
              <a:rPr lang="en-US"/>
              <a:t> A bandwidth request frame.</a:t>
            </a:r>
            <a:endParaRPr/>
          </a:p>
        </p:txBody>
      </p:sp>
      <p:pic>
        <p:nvPicPr>
          <p:cNvPr descr="4-34" id="426" name="Google Shape;42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838" y="2106613"/>
            <a:ext cx="8243887" cy="2281237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4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Bluetooth</a:t>
            </a:r>
            <a:endParaRPr/>
          </a:p>
        </p:txBody>
      </p:sp>
      <p:sp>
        <p:nvSpPr>
          <p:cNvPr id="433" name="Google Shape;433;p45"/>
          <p:cNvSpPr txBox="1"/>
          <p:nvPr>
            <p:ph idx="1" type="body"/>
          </p:nvPr>
        </p:nvSpPr>
        <p:spPr>
          <a:xfrm>
            <a:off x="952500" y="1457325"/>
            <a:ext cx="8191500" cy="509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Bluetooth Architecture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Bluetooth Applications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The Bluetooth Protocol Stack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The Bluetooth Radio Layer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The Bluetooth Baseband Layer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The Bluetooth L2CAP Layer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/>
              <a:t>The Bluetooth Frame Structure</a:t>
            </a:r>
            <a:endParaRPr/>
          </a:p>
          <a:p>
            <a:pPr indent="-406400" lvl="0" marL="6096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None/>
            </a:pPr>
            <a:r>
              <a:t/>
            </a:r>
            <a:endParaRPr sz="3200"/>
          </a:p>
        </p:txBody>
      </p:sp>
      <p:sp>
        <p:nvSpPr>
          <p:cNvPr id="434" name="Google Shape;434;p4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Bluetooth Architecture</a:t>
            </a:r>
            <a:endParaRPr/>
          </a:p>
        </p:txBody>
      </p:sp>
      <p:sp>
        <p:nvSpPr>
          <p:cNvPr id="440" name="Google Shape;440;p46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Two piconets can be connected to form a scatternet.</a:t>
            </a:r>
            <a:endParaRPr/>
          </a:p>
        </p:txBody>
      </p:sp>
      <p:pic>
        <p:nvPicPr>
          <p:cNvPr descr="4-35" id="441" name="Google Shape;44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250" y="1508125"/>
            <a:ext cx="7245350" cy="3675063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4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Bluetooth Applications</a:t>
            </a:r>
            <a:endParaRPr/>
          </a:p>
        </p:txBody>
      </p:sp>
      <p:sp>
        <p:nvSpPr>
          <p:cNvPr id="448" name="Google Shape;448;p47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The Bluetooth profiles.</a:t>
            </a:r>
            <a:endParaRPr/>
          </a:p>
        </p:txBody>
      </p:sp>
      <p:pic>
        <p:nvPicPr>
          <p:cNvPr descr="4-36" id="449" name="Google Shape;44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363" y="1231900"/>
            <a:ext cx="7254875" cy="4211638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8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Bluetooth Protocol Stack</a:t>
            </a:r>
            <a:endParaRPr/>
          </a:p>
        </p:txBody>
      </p:sp>
      <p:sp>
        <p:nvSpPr>
          <p:cNvPr id="456" name="Google Shape;456;p48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The 802.15 version of the Bluetooth protocol architecture.</a:t>
            </a:r>
            <a:endParaRPr/>
          </a:p>
        </p:txBody>
      </p:sp>
      <p:pic>
        <p:nvPicPr>
          <p:cNvPr descr="4-37" id="457" name="Google Shape;45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38" y="1800225"/>
            <a:ext cx="7878762" cy="2741613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9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Bluetooth Frame Structure</a:t>
            </a:r>
            <a:endParaRPr/>
          </a:p>
        </p:txBody>
      </p:sp>
      <p:sp>
        <p:nvSpPr>
          <p:cNvPr id="464" name="Google Shape;464;p49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A typical Bluetooth data frame.</a:t>
            </a:r>
            <a:endParaRPr/>
          </a:p>
        </p:txBody>
      </p:sp>
      <p:pic>
        <p:nvPicPr>
          <p:cNvPr descr="4-38" id="465" name="Google Shape;46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" y="2262188"/>
            <a:ext cx="7891463" cy="234632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Link Layer Switching</a:t>
            </a:r>
            <a:endParaRPr/>
          </a:p>
        </p:txBody>
      </p:sp>
      <p:sp>
        <p:nvSpPr>
          <p:cNvPr id="472" name="Google Shape;472;p50"/>
          <p:cNvSpPr txBox="1"/>
          <p:nvPr>
            <p:ph idx="1" type="body"/>
          </p:nvPr>
        </p:nvSpPr>
        <p:spPr>
          <a:xfrm>
            <a:off x="206375" y="1731963"/>
            <a:ext cx="8937625" cy="4821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Bridges from 802.x to 802.y</a:t>
            </a:r>
            <a:endParaRPr/>
          </a:p>
          <a:p>
            <a:pPr indent="-609600" lvl="0" marL="609600" rtl="0" algn="l"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Local Internetworking</a:t>
            </a:r>
            <a:endParaRPr/>
          </a:p>
          <a:p>
            <a:pPr indent="-609600" lvl="0" marL="609600" rtl="0" algn="l"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Spanning Tree Bridges</a:t>
            </a:r>
            <a:endParaRPr/>
          </a:p>
          <a:p>
            <a:pPr indent="-609600" lvl="0" marL="609600" rtl="0" algn="l"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Remote Bridges</a:t>
            </a:r>
            <a:endParaRPr/>
          </a:p>
          <a:p>
            <a:pPr indent="-609600" lvl="0" marL="609600" rtl="0" algn="l"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Repeaters, Hubs, Bridges, Switches, Routers, Gateways</a:t>
            </a:r>
            <a:endParaRPr/>
          </a:p>
          <a:p>
            <a:pPr indent="-609600" lvl="0" marL="609600" rtl="0" algn="l"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</a:pPr>
            <a:r>
              <a:rPr lang="en-US" sz="2800"/>
              <a:t>Virtual LANs</a:t>
            </a:r>
            <a:endParaRPr/>
          </a:p>
        </p:txBody>
      </p:sp>
      <p:sp>
        <p:nvSpPr>
          <p:cNvPr id="473" name="Google Shape;473;p5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Link Layer Switching</a:t>
            </a:r>
            <a:endParaRPr/>
          </a:p>
        </p:txBody>
      </p:sp>
      <p:sp>
        <p:nvSpPr>
          <p:cNvPr id="479" name="Google Shape;479;p51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Multiple LANs connected by a backbone to handle a total load higher than the capacity of a single LAN.</a:t>
            </a:r>
            <a:endParaRPr/>
          </a:p>
        </p:txBody>
      </p:sp>
      <p:pic>
        <p:nvPicPr>
          <p:cNvPr descr="4-39" id="480" name="Google Shape;48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938" y="1585913"/>
            <a:ext cx="7586662" cy="3671887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Bridges from 802.x to 802.y</a:t>
            </a:r>
            <a:endParaRPr/>
          </a:p>
        </p:txBody>
      </p:sp>
      <p:sp>
        <p:nvSpPr>
          <p:cNvPr id="487" name="Google Shape;487;p52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Operation of a LAN bridge from 802.11 to 802.3.</a:t>
            </a:r>
            <a:endParaRPr/>
          </a:p>
        </p:txBody>
      </p:sp>
      <p:pic>
        <p:nvPicPr>
          <p:cNvPr descr="4-40" id="488" name="Google Shape;48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338" y="1228725"/>
            <a:ext cx="7389812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5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Bridges from 802.x to 802.y (2)</a:t>
            </a:r>
            <a:endParaRPr/>
          </a:p>
        </p:txBody>
      </p:sp>
      <p:sp>
        <p:nvSpPr>
          <p:cNvPr id="495" name="Google Shape;495;p53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The IEEE 802 frame formats.  The drawing is not to scale.</a:t>
            </a:r>
            <a:endParaRPr/>
          </a:p>
        </p:txBody>
      </p:sp>
      <p:pic>
        <p:nvPicPr>
          <p:cNvPr descr="4-41" id="496" name="Google Shape;49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925" y="2151063"/>
            <a:ext cx="7945438" cy="244157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5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Local Internetworking</a:t>
            </a:r>
            <a:endParaRPr/>
          </a:p>
        </p:txBody>
      </p:sp>
      <p:sp>
        <p:nvSpPr>
          <p:cNvPr id="503" name="Google Shape;503;p54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A configuration with four LANs and two bridges.</a:t>
            </a:r>
            <a:endParaRPr/>
          </a:p>
        </p:txBody>
      </p:sp>
      <p:pic>
        <p:nvPicPr>
          <p:cNvPr descr="4-42" id="504" name="Google Shape;50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825" y="2071688"/>
            <a:ext cx="8240713" cy="2601912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5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Spanning Tree Bridges</a:t>
            </a:r>
            <a:endParaRPr/>
          </a:p>
        </p:txBody>
      </p:sp>
      <p:sp>
        <p:nvSpPr>
          <p:cNvPr id="511" name="Google Shape;511;p55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Two parallel transparent bridges.</a:t>
            </a:r>
            <a:endParaRPr/>
          </a:p>
        </p:txBody>
      </p:sp>
      <p:pic>
        <p:nvPicPr>
          <p:cNvPr descr="4-43" id="512" name="Google Shape;51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038" y="1530350"/>
            <a:ext cx="7112000" cy="3748088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5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Spanning Tree Bridges (2)</a:t>
            </a:r>
            <a:endParaRPr/>
          </a:p>
        </p:txBody>
      </p:sp>
      <p:sp>
        <p:nvSpPr>
          <p:cNvPr id="519" name="Google Shape;519;p56"/>
          <p:cNvSpPr txBox="1"/>
          <p:nvPr>
            <p:ph idx="1" type="body"/>
          </p:nvPr>
        </p:nvSpPr>
        <p:spPr>
          <a:xfrm>
            <a:off x="855663" y="5457825"/>
            <a:ext cx="7980362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>
                <a:solidFill>
                  <a:schemeClr val="accent2"/>
                </a:solidFill>
              </a:rPr>
              <a:t>(a)</a:t>
            </a:r>
            <a:r>
              <a:rPr lang="en-US"/>
              <a:t> Interconnected LANs.  </a:t>
            </a:r>
            <a:r>
              <a:rPr lang="en-US">
                <a:solidFill>
                  <a:schemeClr val="accent2"/>
                </a:solidFill>
              </a:rPr>
              <a:t>(b)</a:t>
            </a:r>
            <a:r>
              <a:rPr lang="en-US"/>
              <a:t> A spanning tree covering the LANs. The dotted lines are not part of the spanning tree.</a:t>
            </a:r>
            <a:endParaRPr/>
          </a:p>
        </p:txBody>
      </p:sp>
      <p:pic>
        <p:nvPicPr>
          <p:cNvPr descr="4-44" id="520" name="Google Shape;52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075" y="1317625"/>
            <a:ext cx="7721600" cy="3611563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Remote Bridges</a:t>
            </a:r>
            <a:endParaRPr/>
          </a:p>
        </p:txBody>
      </p:sp>
      <p:sp>
        <p:nvSpPr>
          <p:cNvPr id="527" name="Google Shape;527;p57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Remote bridges can be used to interconnect distant LANs.</a:t>
            </a:r>
            <a:endParaRPr/>
          </a:p>
        </p:txBody>
      </p:sp>
      <p:pic>
        <p:nvPicPr>
          <p:cNvPr descr="4-45" id="528" name="Google Shape;52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388" y="2044700"/>
            <a:ext cx="8186737" cy="2570163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/>
          <p:cNvSpPr txBox="1"/>
          <p:nvPr>
            <p:ph type="title"/>
          </p:nvPr>
        </p:nvSpPr>
        <p:spPr>
          <a:xfrm>
            <a:off x="627063" y="0"/>
            <a:ext cx="784066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Repeaters, Hubs, Bridges, Switches, Routers and Gateways</a:t>
            </a:r>
            <a:endParaRPr/>
          </a:p>
        </p:txBody>
      </p:sp>
      <p:sp>
        <p:nvSpPr>
          <p:cNvPr id="535" name="Google Shape;535;p58"/>
          <p:cNvSpPr txBox="1"/>
          <p:nvPr>
            <p:ph idx="1" type="body"/>
          </p:nvPr>
        </p:nvSpPr>
        <p:spPr>
          <a:xfrm>
            <a:off x="1703388" y="5427663"/>
            <a:ext cx="7440612" cy="1125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>
                <a:solidFill>
                  <a:schemeClr val="accent2"/>
                </a:solidFill>
              </a:rPr>
              <a:t>(a)</a:t>
            </a:r>
            <a:r>
              <a:rPr lang="en-US"/>
              <a:t> Which device is in which layer.</a:t>
            </a:r>
            <a:endParaRPr/>
          </a:p>
          <a:p>
            <a:pPr indent="-609600" lvl="0" marL="609600" rtl="0" algn="l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>
                <a:solidFill>
                  <a:schemeClr val="accent2"/>
                </a:solidFill>
              </a:rPr>
              <a:t>(b)</a:t>
            </a:r>
            <a:r>
              <a:rPr lang="en-US"/>
              <a:t> Frames, packets, and headers.</a:t>
            </a:r>
            <a:endParaRPr/>
          </a:p>
        </p:txBody>
      </p:sp>
      <p:pic>
        <p:nvPicPr>
          <p:cNvPr descr="4-46" id="536" name="Google Shape;53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970088"/>
            <a:ext cx="8053388" cy="2754312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9"/>
          <p:cNvSpPr txBox="1"/>
          <p:nvPr>
            <p:ph type="title"/>
          </p:nvPr>
        </p:nvSpPr>
        <p:spPr>
          <a:xfrm>
            <a:off x="663575" y="0"/>
            <a:ext cx="771683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Repeaters, Hubs, Bridges, Switches, Routers and Gateways (2)</a:t>
            </a:r>
            <a:endParaRPr/>
          </a:p>
        </p:txBody>
      </p:sp>
      <p:sp>
        <p:nvSpPr>
          <p:cNvPr id="543" name="Google Shape;543;p59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>
                <a:solidFill>
                  <a:schemeClr val="accent2"/>
                </a:solidFill>
              </a:rPr>
              <a:t>(a)</a:t>
            </a:r>
            <a:r>
              <a:rPr lang="en-US"/>
              <a:t> A hub.  </a:t>
            </a:r>
            <a:r>
              <a:rPr lang="en-US">
                <a:solidFill>
                  <a:schemeClr val="accent2"/>
                </a:solidFill>
              </a:rPr>
              <a:t>(b)</a:t>
            </a:r>
            <a:r>
              <a:rPr lang="en-US"/>
              <a:t> A bridge.  </a:t>
            </a:r>
            <a:r>
              <a:rPr lang="en-US">
                <a:solidFill>
                  <a:schemeClr val="accent2"/>
                </a:solidFill>
              </a:rPr>
              <a:t>(c)</a:t>
            </a:r>
            <a:r>
              <a:rPr lang="en-US"/>
              <a:t> a switch.</a:t>
            </a:r>
            <a:endParaRPr/>
          </a:p>
        </p:txBody>
      </p:sp>
      <p:pic>
        <p:nvPicPr>
          <p:cNvPr descr="4-47" id="544" name="Google Shape;54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0" y="1885950"/>
            <a:ext cx="8275638" cy="2871788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5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Virtual LANs</a:t>
            </a:r>
            <a:endParaRPr/>
          </a:p>
        </p:txBody>
      </p:sp>
      <p:sp>
        <p:nvSpPr>
          <p:cNvPr id="551" name="Google Shape;551;p60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A building with centralized wiring using hubs and a switch.</a:t>
            </a:r>
            <a:endParaRPr/>
          </a:p>
        </p:txBody>
      </p:sp>
      <p:pic>
        <p:nvPicPr>
          <p:cNvPr descr="4-48" id="552" name="Google Shape;55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450" y="1166813"/>
            <a:ext cx="7448550" cy="4291012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6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Virtual LANs (2)</a:t>
            </a:r>
            <a:endParaRPr/>
          </a:p>
        </p:txBody>
      </p:sp>
      <p:sp>
        <p:nvSpPr>
          <p:cNvPr id="559" name="Google Shape;559;p61"/>
          <p:cNvSpPr txBox="1"/>
          <p:nvPr>
            <p:ph idx="1" type="body"/>
          </p:nvPr>
        </p:nvSpPr>
        <p:spPr>
          <a:xfrm>
            <a:off x="-168275" y="5286375"/>
            <a:ext cx="9144000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>
                <a:solidFill>
                  <a:schemeClr val="accent2"/>
                </a:solidFill>
              </a:rPr>
              <a:t>        (a)</a:t>
            </a:r>
            <a:r>
              <a:rPr lang="en-US"/>
              <a:t> Four physical LANs organized into two VLANs, gray and white, by two bridges.  </a:t>
            </a:r>
            <a:r>
              <a:rPr lang="en-US">
                <a:solidFill>
                  <a:schemeClr val="accent2"/>
                </a:solidFill>
              </a:rPr>
              <a:t>(b)</a:t>
            </a:r>
            <a:r>
              <a:rPr lang="en-US"/>
              <a:t> The same 15 machines organized into two VLANs by switches.</a:t>
            </a:r>
            <a:endParaRPr/>
          </a:p>
        </p:txBody>
      </p:sp>
      <p:pic>
        <p:nvPicPr>
          <p:cNvPr descr="4-49" id="560" name="Google Shape;560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600" y="1414463"/>
            <a:ext cx="731520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6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IEEE 802.1Q Standard</a:t>
            </a:r>
            <a:endParaRPr/>
          </a:p>
        </p:txBody>
      </p:sp>
      <p:sp>
        <p:nvSpPr>
          <p:cNvPr id="567" name="Google Shape;567;p62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Transition from legacy Ethernet to VLAN-aware Ethernet.  The shaded symbols are VLAN aware.  The empty ones are not.</a:t>
            </a:r>
            <a:endParaRPr/>
          </a:p>
        </p:txBody>
      </p:sp>
      <p:pic>
        <p:nvPicPr>
          <p:cNvPr descr="4-50" id="568" name="Google Shape;56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588" y="1441450"/>
            <a:ext cx="8153400" cy="3584575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6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IEEE 802.1Q Standard (2)</a:t>
            </a:r>
            <a:endParaRPr/>
          </a:p>
        </p:txBody>
      </p:sp>
      <p:sp>
        <p:nvSpPr>
          <p:cNvPr id="575" name="Google Shape;575;p63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The 802.3 (legacy) and 802.1Q Ethernet frame formats.</a:t>
            </a:r>
            <a:endParaRPr/>
          </a:p>
        </p:txBody>
      </p:sp>
      <p:pic>
        <p:nvPicPr>
          <p:cNvPr descr="4-51" id="576" name="Google Shape;57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488" y="2039938"/>
            <a:ext cx="7723187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6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4"/>
          <p:cNvSpPr txBox="1"/>
          <p:nvPr>
            <p:ph type="title"/>
          </p:nvPr>
        </p:nvSpPr>
        <p:spPr>
          <a:xfrm>
            <a:off x="0" y="0"/>
            <a:ext cx="9144000" cy="993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583" name="Google Shape;583;p64"/>
          <p:cNvSpPr txBox="1"/>
          <p:nvPr>
            <p:ph idx="1" type="body"/>
          </p:nvPr>
        </p:nvSpPr>
        <p:spPr>
          <a:xfrm>
            <a:off x="0" y="622935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/>
              <a:t>Channel allocation methods and systems for a common channel.</a:t>
            </a:r>
            <a:endParaRPr/>
          </a:p>
        </p:txBody>
      </p:sp>
      <p:pic>
        <p:nvPicPr>
          <p:cNvPr descr="4-52" id="584" name="Google Shape;58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3363" y="1038225"/>
            <a:ext cx="6454775" cy="5078413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64"/>
          <p:cNvSpPr txBox="1"/>
          <p:nvPr>
            <p:ph idx="12" type="sldNum"/>
          </p:nvPr>
        </p:nvSpPr>
        <p:spPr>
          <a:xfrm>
            <a:off x="7142163" y="612457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annenbaum">
  <a:themeElements>
    <a:clrScheme name="Tannenbau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2002-07-09T13:17:57Z</dcterms:created>
  <dc:creator>Steve Armstrong</dc:creator>
</cp:coreProperties>
</file>