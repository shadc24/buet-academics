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90" roundtripDataSignature="AMtx7mhfqCdtxSALzqVrk3DGXfNKtSQy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5D5847-5265-4D10-9F46-FB4AFC25BBD2}">
  <a:tblStyle styleId="{D95D5847-5265-4D10-9F46-FB4AFC25BBD2}"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2F7"/>
          </a:solidFill>
        </a:fill>
      </a:tcStyle>
    </a:wholeTbl>
    <a:band1H>
      <a:tcTxStyle/>
      <a:tcStyle>
        <a:fill>
          <a:solidFill>
            <a:srgbClr val="DCE5EE"/>
          </a:solidFill>
        </a:fill>
      </a:tcStyle>
    </a:band1H>
    <a:band2H>
      <a:tcTxStyle/>
    </a:band2H>
    <a:band1V>
      <a:tcTxStyle/>
      <a:tcStyle>
        <a:fill>
          <a:solidFill>
            <a:srgbClr val="DCE5EE"/>
          </a:solidFill>
        </a:fill>
      </a:tcStyle>
    </a:band1V>
    <a:band2V>
      <a:tcTxStyle/>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slide" Target="slides/slide77.xml"/><Relationship Id="rId83" Type="http://schemas.openxmlformats.org/officeDocument/2006/relationships/slide" Target="slides/slide76.xml"/><Relationship Id="rId42" Type="http://schemas.openxmlformats.org/officeDocument/2006/relationships/slide" Target="slides/slide35.xml"/><Relationship Id="rId86" Type="http://schemas.openxmlformats.org/officeDocument/2006/relationships/slide" Target="slides/slide79.xml"/><Relationship Id="rId41" Type="http://schemas.openxmlformats.org/officeDocument/2006/relationships/slide" Target="slides/slide34.xml"/><Relationship Id="rId85" Type="http://schemas.openxmlformats.org/officeDocument/2006/relationships/slide" Target="slides/slide78.xml"/><Relationship Id="rId44" Type="http://schemas.openxmlformats.org/officeDocument/2006/relationships/slide" Target="slides/slide37.xml"/><Relationship Id="rId88" Type="http://schemas.openxmlformats.org/officeDocument/2006/relationships/slide" Target="slides/slide81.xml"/><Relationship Id="rId43" Type="http://schemas.openxmlformats.org/officeDocument/2006/relationships/slide" Target="slides/slide36.xml"/><Relationship Id="rId87" Type="http://schemas.openxmlformats.org/officeDocument/2006/relationships/slide" Target="slides/slide80.xml"/><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0" Type="http://customschemas.google.com/relationships/presentationmetadata" Target="meta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800" u="none" cap="none" strike="noStrike">
                <a:solidFill>
                  <a:srgbClr val="000000"/>
                </a:solidFill>
                <a:latin typeface="Arial"/>
                <a:ea typeface="Arial"/>
                <a:cs typeface="Arial"/>
                <a:sym typeface="Arial"/>
              </a:rPr>
              <a:t>‹#›</a:t>
            </a:fld>
            <a:endParaRPr b="0" i="0" sz="800" u="none" cap="none" strike="noStrike">
              <a:solidFill>
                <a:srgbClr val="000000"/>
              </a:solidFill>
              <a:latin typeface="Arial"/>
              <a:ea typeface="Arial"/>
              <a:cs typeface="Arial"/>
              <a:sym typeface="Arial"/>
            </a:endParaRPr>
          </a:p>
        </p:txBody>
      </p:sp>
      <p:sp>
        <p:nvSpPr>
          <p:cNvPr id="116" name="Google Shape;11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15.4 –  IP Addressing Services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15.4.1 – Domain Name Service</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800" u="none" cap="none" strike="noStrike">
                <a:solidFill>
                  <a:srgbClr val="000000"/>
                </a:solidFill>
                <a:latin typeface="Arial"/>
                <a:ea typeface="Arial"/>
                <a:cs typeface="Arial"/>
                <a:sym typeface="Arial"/>
              </a:rPr>
              <a:t>‹#›</a:t>
            </a:fld>
            <a:endParaRPr b="0" i="0" sz="800" u="none" cap="none" strike="noStrike">
              <a:solidFill>
                <a:srgbClr val="000000"/>
              </a:solidFill>
              <a:latin typeface="Arial"/>
              <a:ea typeface="Arial"/>
              <a:cs typeface="Arial"/>
              <a:sym typeface="Arial"/>
            </a:endParaRPr>
          </a:p>
        </p:txBody>
      </p:sp>
      <p:sp>
        <p:nvSpPr>
          <p:cNvPr id="128" name="Google Shape;12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15.4 –  IP Addressing Services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15.4.4 – The nslookup Command</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15.4.5 – Syntax Checker – The nslookup Command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45" name="Google Shape;64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15.4 –  IP Addressing Services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15.4.6 – Dynamic Host Configuration Protocol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7.1 – DHCPv4 Concepts</a:t>
            </a:r>
            <a:endParaRPr/>
          </a:p>
          <a:p>
            <a:pPr indent="0" lvl="0" marL="0" rtl="0" algn="l">
              <a:spcBef>
                <a:spcPts val="0"/>
              </a:spcBef>
              <a:spcAft>
                <a:spcPts val="0"/>
              </a:spcAft>
              <a:buNone/>
            </a:pPr>
            <a:r>
              <a:rPr lang="en-US"/>
              <a:t>7.1.3 – Steps to Obtain a Lease</a:t>
            </a:r>
            <a:endParaRPr/>
          </a:p>
        </p:txBody>
      </p:sp>
      <p:sp>
        <p:nvSpPr>
          <p:cNvPr id="661" name="Google Shape;661;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68" name="Google Shape;66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9" name="Google Shape;66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15.4 –  IP Addressing Services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15.4.7 – DHCP Operation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7.2.1 – Cisco IOS DHCPv4 Server</a:t>
            </a:r>
            <a:endParaRPr/>
          </a:p>
        </p:txBody>
      </p:sp>
      <p:sp>
        <p:nvSpPr>
          <p:cNvPr id="677" name="Google Shape;677;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7.2.2 – </a:t>
            </a:r>
            <a:r>
              <a:rPr lang="en-US" sz="1200"/>
              <a:t>Steps to Configure a Cisco IOS DHCPv4 Server (Cont.)</a:t>
            </a:r>
            <a:endParaRPr/>
          </a:p>
        </p:txBody>
      </p:sp>
      <p:sp>
        <p:nvSpPr>
          <p:cNvPr id="685" name="Google Shape;68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7.2.3 – Configuration Example</a:t>
            </a:r>
            <a:endParaRPr/>
          </a:p>
        </p:txBody>
      </p:sp>
      <p:sp>
        <p:nvSpPr>
          <p:cNvPr id="692" name="Google Shape;692;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7.2.4 – DHCPv4 Verification</a:t>
            </a:r>
            <a:endParaRPr/>
          </a:p>
        </p:txBody>
      </p:sp>
      <p:sp>
        <p:nvSpPr>
          <p:cNvPr id="700" name="Google Shape;700;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7.2.5 – Verify DHCPv4 is Operational</a:t>
            </a:r>
            <a:endParaRPr/>
          </a:p>
        </p:txBody>
      </p:sp>
      <p:sp>
        <p:nvSpPr>
          <p:cNvPr id="708" name="Google Shape;708;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7.2.5 – Verify DHCPv4 is Operational (Cont.)</a:t>
            </a:r>
            <a:endParaRPr/>
          </a:p>
        </p:txBody>
      </p:sp>
      <p:sp>
        <p:nvSpPr>
          <p:cNvPr id="716" name="Google Shape;716;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7.2.8 – DHCPv4 Relay</a:t>
            </a:r>
            <a:endParaRPr/>
          </a:p>
        </p:txBody>
      </p:sp>
      <p:sp>
        <p:nvSpPr>
          <p:cNvPr id="724" name="Google Shape;724;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7 – DHCPv4</a:t>
            </a:r>
            <a:endParaRPr/>
          </a:p>
          <a:p>
            <a:pPr indent="0" lvl="0" marL="0" rtl="0" algn="l">
              <a:spcBef>
                <a:spcPts val="0"/>
              </a:spcBef>
              <a:spcAft>
                <a:spcPts val="0"/>
              </a:spcAft>
              <a:buNone/>
            </a:pPr>
            <a:r>
              <a:rPr lang="en-US"/>
              <a:t>7.2 – Configure a Cisco IOS DHCPv4 Server</a:t>
            </a:r>
            <a:endParaRPr/>
          </a:p>
          <a:p>
            <a:pPr indent="0" lvl="0" marL="0" rtl="0" algn="l">
              <a:spcBef>
                <a:spcPts val="0"/>
              </a:spcBef>
              <a:spcAft>
                <a:spcPts val="0"/>
              </a:spcAft>
              <a:buNone/>
            </a:pPr>
            <a:r>
              <a:rPr lang="en-US"/>
              <a:t>7.2.8 – DHCPv4 Relay (Cont.)</a:t>
            </a:r>
            <a:endParaRPr/>
          </a:p>
        </p:txBody>
      </p:sp>
      <p:sp>
        <p:nvSpPr>
          <p:cNvPr id="732" name="Google Shape;732;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1" name="Google Shape;76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80" name="Google Shape;780;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 name="Google Shape;79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 name="Google Shape;82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 name="Google Shape;85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8" name="Google Shape;868;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7" name="Google Shape;877;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6" name="Google Shape;916;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 name="Google Shape;923;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5" name="Google Shape;955;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2" name="Google Shape;962;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2" name="Google Shape;992;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15.3 –  Web and Email Protocols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15.3.3 – Email Protocols</a:t>
            </a:r>
            <a:endParaRPr/>
          </a:p>
        </p:txBody>
      </p:sp>
      <p:sp>
        <p:nvSpPr>
          <p:cNvPr id="993" name="Google Shape;993;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15.3 –  Web and Email Protocols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15.3.4 – SMTP, POP and IMAP</a:t>
            </a:r>
            <a:endParaRPr/>
          </a:p>
        </p:txBody>
      </p:sp>
      <p:sp>
        <p:nvSpPr>
          <p:cNvPr id="1001" name="Google Shape;1001;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3" name="Google Shape;1023;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0" name="Google Shape;1030;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15.3 –  Web and Email Protocols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15.3.4 – SMTP, POP and IMAP (Cont.)</a:t>
            </a:r>
            <a:endParaRPr/>
          </a:p>
        </p:txBody>
      </p:sp>
      <p:sp>
        <p:nvSpPr>
          <p:cNvPr id="1031" name="Google Shape;1031;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0" name="Google Shape;1040;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7" name="Google Shape;1047;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 – Application Layer</a:t>
            </a:r>
            <a:endParaRPr/>
          </a:p>
          <a:p>
            <a:pPr indent="0" lvl="0" marL="0" rtl="0" algn="l">
              <a:lnSpc>
                <a:spcPct val="8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15.3 –  Web and Email Protocols</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15.3.4 – SMTP, POP and IMAP (Cont.)</a:t>
            </a:r>
            <a:endParaRPr/>
          </a:p>
          <a:p>
            <a:pPr indent="0" lvl="0" marL="0" rtl="0" algn="l">
              <a:lnSpc>
                <a:spcPct val="80000"/>
              </a:lnSpc>
              <a:spcBef>
                <a:spcPts val="0"/>
              </a:spcBef>
              <a:spcAft>
                <a:spcPts val="0"/>
              </a:spcAft>
              <a:buClr>
                <a:schemeClr val="dk1"/>
              </a:buClr>
              <a:buSzPts val="1200"/>
              <a:buFont typeface="Arial"/>
              <a:buNone/>
            </a:pPr>
            <a:r>
              <a:rPr lang="en-US">
                <a:latin typeface="Arial"/>
                <a:ea typeface="Arial"/>
                <a:cs typeface="Arial"/>
                <a:sym typeface="Arial"/>
              </a:rPr>
              <a:t>15.3.5 – Check Your Understanding – Web and Email Protocols</a:t>
            </a:r>
            <a:endParaRPr/>
          </a:p>
        </p:txBody>
      </p:sp>
      <p:sp>
        <p:nvSpPr>
          <p:cNvPr id="1055" name="Google Shape;1055;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2" name="Google Shape;106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9" name="Google Shape;1069;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dk2"/>
        </a:solidFill>
      </p:bgPr>
    </p:bg>
    <p:spTree>
      <p:nvGrpSpPr>
        <p:cNvPr id="16" name="Shape 16"/>
        <p:cNvGrpSpPr/>
        <p:nvPr/>
      </p:nvGrpSpPr>
      <p:grpSpPr>
        <a:xfrm>
          <a:off x="0" y="0"/>
          <a:ext cx="0" cy="0"/>
          <a:chOff x="0" y="0"/>
          <a:chExt cx="0" cy="0"/>
        </a:xfrm>
      </p:grpSpPr>
      <p:sp>
        <p:nvSpPr>
          <p:cNvPr id="17" name="Google Shape;17;p86"/>
          <p:cNvSpPr/>
          <p:nvPr/>
        </p:nvSpPr>
        <p:spPr>
          <a:xfrm>
            <a:off x="0" y="5971032"/>
            <a:ext cx="9144000" cy="8869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8" name="Google Shape;18;p86"/>
          <p:cNvSpPr/>
          <p:nvPr/>
        </p:nvSpPr>
        <p:spPr>
          <a:xfrm>
            <a:off x="-9144" y="6053328"/>
            <a:ext cx="2249424" cy="7132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9" name="Google Shape;19;p86"/>
          <p:cNvSpPr/>
          <p:nvPr/>
        </p:nvSpPr>
        <p:spPr>
          <a:xfrm>
            <a:off x="2359152" y="6044184"/>
            <a:ext cx="6784848" cy="7132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0" name="Google Shape;20;p86"/>
          <p:cNvSpPr txBox="1"/>
          <p:nvPr>
            <p:ph type="ctrTitle"/>
          </p:nvPr>
        </p:nvSpPr>
        <p:spPr>
          <a:xfrm>
            <a:off x="2362200" y="4038600"/>
            <a:ext cx="6477000" cy="182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400"/>
              <a:buFont typeface="Twentieth Century"/>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86"/>
          <p:cNvSpPr txBox="1"/>
          <p:nvPr>
            <p:ph idx="1" type="subTitle"/>
          </p:nvPr>
        </p:nvSpPr>
        <p:spPr>
          <a:xfrm>
            <a:off x="2362200" y="6050037"/>
            <a:ext cx="6705600" cy="685800"/>
          </a:xfrm>
          <a:prstGeom prst="rect">
            <a:avLst/>
          </a:prstGeom>
          <a:noFill/>
          <a:ln>
            <a:noFill/>
          </a:ln>
        </p:spPr>
        <p:txBody>
          <a:bodyPr anchorCtr="0" anchor="ctr" bIns="45700" lIns="91425" spcFirstLastPara="1" rIns="91425" wrap="square" tIns="4570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2" name="Google Shape;22;p86"/>
          <p:cNvSpPr txBox="1"/>
          <p:nvPr>
            <p:ph idx="10" type="dt"/>
          </p:nvPr>
        </p:nvSpPr>
        <p:spPr>
          <a:xfrm>
            <a:off x="76200" y="6068699"/>
            <a:ext cx="2057400" cy="6858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2000" u="none" cap="none" strike="noStrike">
                <a:solidFill>
                  <a:srgbClr val="FFFFFF"/>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100000" ty="0" sy="100000"/>
        </a:blipFill>
      </p:bgPr>
    </p:bg>
    <p:spTree>
      <p:nvGrpSpPr>
        <p:cNvPr id="30" name="Shape 30"/>
        <p:cNvGrpSpPr/>
        <p:nvPr/>
      </p:nvGrpSpPr>
      <p:grpSpPr>
        <a:xfrm>
          <a:off x="0" y="0"/>
          <a:ext cx="0" cy="0"/>
          <a:chOff x="0" y="0"/>
          <a:chExt cx="0" cy="0"/>
        </a:xfrm>
      </p:grpSpPr>
      <p:sp>
        <p:nvSpPr>
          <p:cNvPr id="31" name="Google Shape;31;p87"/>
          <p:cNvSpPr txBox="1"/>
          <p:nvPr>
            <p:ph idx="1" type="body"/>
          </p:nvPr>
        </p:nvSpPr>
        <p:spPr>
          <a:xfrm>
            <a:off x="1371600" y="2743200"/>
            <a:ext cx="7123113" cy="1673225"/>
          </a:xfrm>
          <a:prstGeom prst="rect">
            <a:avLst/>
          </a:prstGeom>
          <a:noFill/>
          <a:ln>
            <a:noFill/>
          </a:ln>
        </p:spPr>
        <p:txBody>
          <a:bodyPr anchorCtr="0" anchor="t" bIns="45700" lIns="91425" spcFirstLastPara="1" rIns="91425" wrap="square" tIns="45700">
            <a:normAutofit/>
          </a:bodyPr>
          <a:lstStyle>
            <a:lvl1pPr indent="-228600" lvl="0" marL="457200" algn="l">
              <a:spcBef>
                <a:spcPts val="700"/>
              </a:spcBef>
              <a:spcAft>
                <a:spcPts val="0"/>
              </a:spcAft>
              <a:buSzPts val="1680"/>
              <a:buNone/>
              <a:defRPr sz="2800">
                <a:solidFill>
                  <a:schemeClr val="dk2"/>
                </a:solidFill>
              </a:defRPr>
            </a:lvl1pPr>
            <a:lvl2pPr indent="-228600" lvl="1" marL="914400" algn="l">
              <a:spcBef>
                <a:spcPts val="550"/>
              </a:spcBef>
              <a:spcAft>
                <a:spcPts val="0"/>
              </a:spcAft>
              <a:buSzPts val="1260"/>
              <a:buNone/>
              <a:defRPr sz="1800">
                <a:solidFill>
                  <a:srgbClr val="888888"/>
                </a:solidFill>
              </a:defRPr>
            </a:lvl2pPr>
            <a:lvl3pPr indent="-228600" lvl="2" marL="1371600" algn="l">
              <a:spcBef>
                <a:spcPts val="500"/>
              </a:spcBef>
              <a:spcAft>
                <a:spcPts val="0"/>
              </a:spcAft>
              <a:buSzPts val="1200"/>
              <a:buNone/>
              <a:defRPr sz="1600">
                <a:solidFill>
                  <a:srgbClr val="888888"/>
                </a:solidFill>
              </a:defRPr>
            </a:lvl3pPr>
            <a:lvl4pPr indent="-228600" lvl="3" marL="1828800" algn="l">
              <a:spcBef>
                <a:spcPts val="400"/>
              </a:spcBef>
              <a:spcAft>
                <a:spcPts val="0"/>
              </a:spcAft>
              <a:buSzPts val="1050"/>
              <a:buNone/>
              <a:defRPr sz="1400">
                <a:solidFill>
                  <a:srgbClr val="888888"/>
                </a:solidFill>
              </a:defRPr>
            </a:lvl4pPr>
            <a:lvl5pPr indent="-228600" lvl="4" marL="2286000" algn="l">
              <a:spcBef>
                <a:spcPts val="400"/>
              </a:spcBef>
              <a:spcAft>
                <a:spcPts val="0"/>
              </a:spcAft>
              <a:buSzPts val="910"/>
              <a:buNone/>
              <a:defRPr sz="1400">
                <a:solidFill>
                  <a:srgbClr val="888888"/>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2" name="Google Shape;32;p87"/>
          <p:cNvSpPr/>
          <p:nvPr/>
        </p:nvSpPr>
        <p:spPr>
          <a:xfrm>
            <a:off x="0" y="1524000"/>
            <a:ext cx="9144000" cy="1143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33" name="Google Shape;33;p87"/>
          <p:cNvSpPr/>
          <p:nvPr/>
        </p:nvSpPr>
        <p:spPr>
          <a:xfrm>
            <a:off x="0" y="1600200"/>
            <a:ext cx="1295400" cy="990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34" name="Google Shape;34;p87"/>
          <p:cNvSpPr/>
          <p:nvPr/>
        </p:nvSpPr>
        <p:spPr>
          <a:xfrm>
            <a:off x="1371600" y="1600200"/>
            <a:ext cx="7772400" cy="990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35" name="Google Shape;35;p87"/>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FFFF"/>
              </a:buClr>
              <a:buSzPts val="4400"/>
              <a:buFont typeface="Twentieth Century"/>
              <a:buNone/>
              <a:defRPr b="0" sz="4400"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87"/>
          <p:cNvSpPr txBox="1"/>
          <p:nvPr>
            <p:ph idx="12" type="sldNum"/>
          </p:nvPr>
        </p:nvSpPr>
        <p:spPr>
          <a:xfrm>
            <a:off x="0" y="1752600"/>
            <a:ext cx="1295400" cy="701676"/>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2400" u="none" cap="none" strike="noStrike">
                <a:solidFill>
                  <a:srgbClr val="FFFFFF"/>
                </a:solidFill>
                <a:latin typeface="Twentieth Century"/>
                <a:ea typeface="Twentieth Century"/>
                <a:cs typeface="Twentieth Century"/>
                <a:sym typeface="Twentieth Century"/>
              </a:defRPr>
            </a:lvl1pPr>
            <a:lvl2pPr indent="0" lvl="1" marL="0" algn="ctr">
              <a:spcBef>
                <a:spcPts val="0"/>
              </a:spcBef>
              <a:buNone/>
              <a:defRPr b="1" i="0" sz="2400" u="none" cap="none" strike="noStrike">
                <a:solidFill>
                  <a:srgbClr val="FFFFFF"/>
                </a:solidFill>
                <a:latin typeface="Twentieth Century"/>
                <a:ea typeface="Twentieth Century"/>
                <a:cs typeface="Twentieth Century"/>
                <a:sym typeface="Twentieth Century"/>
              </a:defRPr>
            </a:lvl2pPr>
            <a:lvl3pPr indent="0" lvl="2" marL="0" algn="ctr">
              <a:spcBef>
                <a:spcPts val="0"/>
              </a:spcBef>
              <a:buNone/>
              <a:defRPr b="1" i="0" sz="2400" u="none" cap="none" strike="noStrike">
                <a:solidFill>
                  <a:srgbClr val="FFFFFF"/>
                </a:solidFill>
                <a:latin typeface="Twentieth Century"/>
                <a:ea typeface="Twentieth Century"/>
                <a:cs typeface="Twentieth Century"/>
                <a:sym typeface="Twentieth Century"/>
              </a:defRPr>
            </a:lvl3pPr>
            <a:lvl4pPr indent="0" lvl="3" marL="0" algn="ctr">
              <a:spcBef>
                <a:spcPts val="0"/>
              </a:spcBef>
              <a:buNone/>
              <a:defRPr b="1" i="0" sz="2400" u="none" cap="none" strike="noStrike">
                <a:solidFill>
                  <a:srgbClr val="FFFFFF"/>
                </a:solidFill>
                <a:latin typeface="Twentieth Century"/>
                <a:ea typeface="Twentieth Century"/>
                <a:cs typeface="Twentieth Century"/>
                <a:sym typeface="Twentieth Century"/>
              </a:defRPr>
            </a:lvl4pPr>
            <a:lvl5pPr indent="0" lvl="4" marL="0" algn="ctr">
              <a:spcBef>
                <a:spcPts val="0"/>
              </a:spcBef>
              <a:buNone/>
              <a:defRPr b="1" i="0" sz="2400" u="none" cap="none" strike="noStrike">
                <a:solidFill>
                  <a:srgbClr val="FFFFFF"/>
                </a:solidFill>
                <a:latin typeface="Twentieth Century"/>
                <a:ea typeface="Twentieth Century"/>
                <a:cs typeface="Twentieth Century"/>
                <a:sym typeface="Twentieth Century"/>
              </a:defRPr>
            </a:lvl5pPr>
            <a:lvl6pPr indent="0" lvl="5" marL="0" algn="ctr">
              <a:spcBef>
                <a:spcPts val="0"/>
              </a:spcBef>
              <a:buNone/>
              <a:defRPr b="1" i="0" sz="2400" u="none" cap="none" strike="noStrike">
                <a:solidFill>
                  <a:srgbClr val="FFFFFF"/>
                </a:solidFill>
                <a:latin typeface="Twentieth Century"/>
                <a:ea typeface="Twentieth Century"/>
                <a:cs typeface="Twentieth Century"/>
                <a:sym typeface="Twentieth Century"/>
              </a:defRPr>
            </a:lvl6pPr>
            <a:lvl7pPr indent="0" lvl="6" marL="0" algn="ctr">
              <a:spcBef>
                <a:spcPts val="0"/>
              </a:spcBef>
              <a:buNone/>
              <a:defRPr b="1" i="0" sz="2400" u="none" cap="none" strike="noStrike">
                <a:solidFill>
                  <a:srgbClr val="FFFFFF"/>
                </a:solidFill>
                <a:latin typeface="Twentieth Century"/>
                <a:ea typeface="Twentieth Century"/>
                <a:cs typeface="Twentieth Century"/>
                <a:sym typeface="Twentieth Century"/>
              </a:defRPr>
            </a:lvl7pPr>
            <a:lvl8pPr indent="0" lvl="7" marL="0" algn="ctr">
              <a:spcBef>
                <a:spcPts val="0"/>
              </a:spcBef>
              <a:buNone/>
              <a:defRPr b="1" i="0" sz="2400" u="none" cap="none" strike="noStrike">
                <a:solidFill>
                  <a:srgbClr val="FFFFFF"/>
                </a:solidFill>
                <a:latin typeface="Twentieth Century"/>
                <a:ea typeface="Twentieth Century"/>
                <a:cs typeface="Twentieth Century"/>
                <a:sym typeface="Twentieth Century"/>
              </a:defRPr>
            </a:lvl8pPr>
            <a:lvl9pPr indent="0" lvl="8" marL="0" algn="ctr">
              <a:spcBef>
                <a:spcPts val="0"/>
              </a:spcBef>
              <a:buNone/>
              <a:defRPr b="1" i="0" sz="2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8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i="0" sz="1400" u="none" cap="none" strike="noStrike">
                <a:solidFill>
                  <a:srgbClr val="FFFFFF"/>
                </a:solidFill>
                <a:latin typeface="Twentieth Century"/>
                <a:ea typeface="Twentieth Century"/>
                <a:cs typeface="Twentieth Century"/>
                <a:sym typeface="Twentieth Century"/>
              </a:defRPr>
            </a:lvl1pPr>
            <a:lvl2pPr indent="0" lvl="1" marL="0" algn="ctr">
              <a:spcBef>
                <a:spcPts val="0"/>
              </a:spcBef>
              <a:buNone/>
              <a:defRPr b="1" i="0" sz="1400" u="none" cap="none" strike="noStrike">
                <a:solidFill>
                  <a:srgbClr val="FFFFFF"/>
                </a:solidFill>
                <a:latin typeface="Twentieth Century"/>
                <a:ea typeface="Twentieth Century"/>
                <a:cs typeface="Twentieth Century"/>
                <a:sym typeface="Twentieth Century"/>
              </a:defRPr>
            </a:lvl2pPr>
            <a:lvl3pPr indent="0" lvl="2" marL="0" algn="ctr">
              <a:spcBef>
                <a:spcPts val="0"/>
              </a:spcBef>
              <a:buNone/>
              <a:defRPr b="1" i="0" sz="1400" u="none" cap="none" strike="noStrike">
                <a:solidFill>
                  <a:srgbClr val="FFFFFF"/>
                </a:solidFill>
                <a:latin typeface="Twentieth Century"/>
                <a:ea typeface="Twentieth Century"/>
                <a:cs typeface="Twentieth Century"/>
                <a:sym typeface="Twentieth Century"/>
              </a:defRPr>
            </a:lvl3pPr>
            <a:lvl4pPr indent="0" lvl="3" marL="0" algn="ctr">
              <a:spcBef>
                <a:spcPts val="0"/>
              </a:spcBef>
              <a:buNone/>
              <a:defRPr b="1" i="0" sz="1400" u="none" cap="none" strike="noStrike">
                <a:solidFill>
                  <a:srgbClr val="FFFFFF"/>
                </a:solidFill>
                <a:latin typeface="Twentieth Century"/>
                <a:ea typeface="Twentieth Century"/>
                <a:cs typeface="Twentieth Century"/>
                <a:sym typeface="Twentieth Century"/>
              </a:defRPr>
            </a:lvl4pPr>
            <a:lvl5pPr indent="0" lvl="4" marL="0" algn="ctr">
              <a:spcBef>
                <a:spcPts val="0"/>
              </a:spcBef>
              <a:buNone/>
              <a:defRPr b="1" i="0" sz="1400" u="none" cap="none" strike="noStrike">
                <a:solidFill>
                  <a:srgbClr val="FFFFFF"/>
                </a:solidFill>
                <a:latin typeface="Twentieth Century"/>
                <a:ea typeface="Twentieth Century"/>
                <a:cs typeface="Twentieth Century"/>
                <a:sym typeface="Twentieth Century"/>
              </a:defRPr>
            </a:lvl5pPr>
            <a:lvl6pPr indent="0" lvl="5" marL="0" algn="ctr">
              <a:spcBef>
                <a:spcPts val="0"/>
              </a:spcBef>
              <a:buNone/>
              <a:defRPr b="1" i="0" sz="1400" u="none" cap="none" strike="noStrike">
                <a:solidFill>
                  <a:srgbClr val="FFFFFF"/>
                </a:solidFill>
                <a:latin typeface="Twentieth Century"/>
                <a:ea typeface="Twentieth Century"/>
                <a:cs typeface="Twentieth Century"/>
                <a:sym typeface="Twentieth Century"/>
              </a:defRPr>
            </a:lvl6pPr>
            <a:lvl7pPr indent="0" lvl="6" marL="0" algn="ctr">
              <a:spcBef>
                <a:spcPts val="0"/>
              </a:spcBef>
              <a:buNone/>
              <a:defRPr b="1" i="0" sz="1400" u="none" cap="none" strike="noStrike">
                <a:solidFill>
                  <a:srgbClr val="FFFFFF"/>
                </a:solidFill>
                <a:latin typeface="Twentieth Century"/>
                <a:ea typeface="Twentieth Century"/>
                <a:cs typeface="Twentieth Century"/>
                <a:sym typeface="Twentieth Century"/>
              </a:defRPr>
            </a:lvl7pPr>
            <a:lvl8pPr indent="0" lvl="7" marL="0" algn="ctr">
              <a:spcBef>
                <a:spcPts val="0"/>
              </a:spcBef>
              <a:buNone/>
              <a:defRPr b="1" i="0" sz="1400" u="none" cap="none" strike="noStrike">
                <a:solidFill>
                  <a:srgbClr val="FFFFFF"/>
                </a:solidFill>
                <a:latin typeface="Twentieth Century"/>
                <a:ea typeface="Twentieth Century"/>
                <a:cs typeface="Twentieth Century"/>
                <a:sym typeface="Twentieth Century"/>
              </a:defRPr>
            </a:lvl8pPr>
            <a:lvl9pPr indent="0" lvl="8" marL="0" algn="ctr">
              <a:spcBef>
                <a:spcPts val="0"/>
              </a:spcBef>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40" name="Google Shape;40;p88"/>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41" name="Shape 41"/>
        <p:cNvGrpSpPr/>
        <p:nvPr/>
      </p:nvGrpSpPr>
      <p:grpSpPr>
        <a:xfrm>
          <a:off x="0" y="0"/>
          <a:ext cx="0" cy="0"/>
          <a:chOff x="0" y="0"/>
          <a:chExt cx="0" cy="0"/>
        </a:xfrm>
      </p:grpSpPr>
      <p:sp>
        <p:nvSpPr>
          <p:cNvPr id="42" name="Google Shape;42;p89"/>
          <p:cNvSpPr txBox="1"/>
          <p:nvPr>
            <p:ph idx="1" type="body"/>
          </p:nvPr>
        </p:nvSpPr>
        <p:spPr>
          <a:xfrm>
            <a:off x="474663" y="1797051"/>
            <a:ext cx="8280057" cy="4098595"/>
          </a:xfrm>
          <a:prstGeom prst="rect">
            <a:avLst/>
          </a:prstGeom>
          <a:noFill/>
          <a:ln>
            <a:noFill/>
          </a:ln>
        </p:spPr>
        <p:txBody>
          <a:bodyPr anchorCtr="0" anchor="t" bIns="45700" lIns="91400" spcFirstLastPara="1" rIns="91400" wrap="square" tIns="45700">
            <a:noAutofit/>
          </a:bodyPr>
          <a:lstStyle>
            <a:lvl1pPr indent="-228600" lvl="0" marL="457200" marR="0" algn="ctr">
              <a:lnSpc>
                <a:spcPct val="100000"/>
              </a:lnSpc>
              <a:spcBef>
                <a:spcPts val="400"/>
              </a:spcBef>
              <a:spcAft>
                <a:spcPts val="0"/>
              </a:spcAft>
              <a:buClr>
                <a:schemeClr val="lt1"/>
              </a:buClr>
              <a:buSzPts val="2000"/>
              <a:buFont typeface="Arial"/>
              <a:buNone/>
              <a:defRPr b="0" i="0" sz="2000">
                <a:solidFill>
                  <a:schemeClr val="lt1"/>
                </a:solidFill>
                <a:latin typeface="Twentieth Century"/>
                <a:ea typeface="Twentieth Century"/>
                <a:cs typeface="Twentieth Century"/>
                <a:sym typeface="Twentieth Century"/>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3" name="Google Shape;43;p89"/>
          <p:cNvSpPr txBox="1"/>
          <p:nvPr>
            <p:ph type="title"/>
          </p:nvPr>
        </p:nvSpPr>
        <p:spPr>
          <a:xfrm>
            <a:off x="437766" y="455085"/>
            <a:ext cx="8345488" cy="9757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04C69"/>
              </a:buClr>
              <a:buSzPts val="4400"/>
              <a:buFont typeface="Twentieth Century"/>
              <a:buNone/>
              <a:defRPr>
                <a:solidFill>
                  <a:srgbClr val="004C6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dk2"/>
        </a:solidFill>
      </p:bgPr>
    </p:bg>
    <p:spTree>
      <p:nvGrpSpPr>
        <p:cNvPr id="44" name="Shape 44"/>
        <p:cNvGrpSpPr/>
        <p:nvPr/>
      </p:nvGrpSpPr>
      <p:grpSpPr>
        <a:xfrm>
          <a:off x="0" y="0"/>
          <a:ext cx="0" cy="0"/>
          <a:chOff x="0" y="0"/>
          <a:chExt cx="0" cy="0"/>
        </a:xfrm>
      </p:grpSpPr>
      <p:sp>
        <p:nvSpPr>
          <p:cNvPr id="45" name="Google Shape;45;p85"/>
          <p:cNvSpPr/>
          <p:nvPr/>
        </p:nvSpPr>
        <p:spPr>
          <a:xfrm>
            <a:off x="0" y="5971032"/>
            <a:ext cx="9144000" cy="8869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6" name="Google Shape;46;p85"/>
          <p:cNvSpPr/>
          <p:nvPr/>
        </p:nvSpPr>
        <p:spPr>
          <a:xfrm>
            <a:off x="-9144" y="6053328"/>
            <a:ext cx="2249424" cy="7132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7" name="Google Shape;47;p85"/>
          <p:cNvSpPr/>
          <p:nvPr/>
        </p:nvSpPr>
        <p:spPr>
          <a:xfrm>
            <a:off x="2359152" y="6044184"/>
            <a:ext cx="6784848" cy="7132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8" name="Google Shape;48;p85"/>
          <p:cNvSpPr txBox="1"/>
          <p:nvPr>
            <p:ph type="ctrTitle"/>
          </p:nvPr>
        </p:nvSpPr>
        <p:spPr>
          <a:xfrm>
            <a:off x="2362200" y="4038600"/>
            <a:ext cx="6477000" cy="182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400"/>
              <a:buFont typeface="Twentieth Century"/>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5"/>
          <p:cNvSpPr txBox="1"/>
          <p:nvPr>
            <p:ph idx="1" type="subTitle"/>
          </p:nvPr>
        </p:nvSpPr>
        <p:spPr>
          <a:xfrm>
            <a:off x="2362200" y="6050037"/>
            <a:ext cx="6705600" cy="685800"/>
          </a:xfrm>
          <a:prstGeom prst="rect">
            <a:avLst/>
          </a:prstGeom>
          <a:noFill/>
          <a:ln>
            <a:noFill/>
          </a:ln>
        </p:spPr>
        <p:txBody>
          <a:bodyPr anchorCtr="0" anchor="ctr" bIns="45700" lIns="91425" spcFirstLastPara="1" rIns="91425" wrap="square" tIns="4570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50" name="Google Shape;50;p85"/>
          <p:cNvSpPr txBox="1"/>
          <p:nvPr>
            <p:ph idx="10" type="dt"/>
          </p:nvPr>
        </p:nvSpPr>
        <p:spPr>
          <a:xfrm>
            <a:off x="76200" y="6068699"/>
            <a:ext cx="2057400" cy="6858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2000">
                <a:solidFill>
                  <a:srgbClr val="FFFFFF"/>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90"/>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0"/>
          <p:cNvSpPr txBox="1"/>
          <p:nvPr>
            <p:ph idx="1" type="body"/>
          </p:nvPr>
        </p:nvSpPr>
        <p:spPr>
          <a:xfrm>
            <a:off x="609600" y="1589567"/>
            <a:ext cx="3886200" cy="45720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4" name="Google Shape;54;p90"/>
          <p:cNvSpPr txBox="1"/>
          <p:nvPr>
            <p:ph idx="2" type="body"/>
          </p:nvPr>
        </p:nvSpPr>
        <p:spPr>
          <a:xfrm>
            <a:off x="4844901" y="1589567"/>
            <a:ext cx="3886200" cy="45720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5" name="Google Shape;55;p9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91"/>
          <p:cNvSpPr txBox="1"/>
          <p:nvPr>
            <p:ph type="title"/>
          </p:nvPr>
        </p:nvSpPr>
        <p:spPr>
          <a:xfrm>
            <a:off x="533400" y="273050"/>
            <a:ext cx="8153400" cy="869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91"/>
          <p:cNvSpPr txBox="1"/>
          <p:nvPr>
            <p:ph idx="1" type="body"/>
          </p:nvPr>
        </p:nvSpPr>
        <p:spPr>
          <a:xfrm>
            <a:off x="609600" y="2438400"/>
            <a:ext cx="3886200" cy="35814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91"/>
          <p:cNvSpPr txBox="1"/>
          <p:nvPr>
            <p:ph idx="2" type="body"/>
          </p:nvPr>
        </p:nvSpPr>
        <p:spPr>
          <a:xfrm>
            <a:off x="4800600" y="2438400"/>
            <a:ext cx="3886200" cy="35814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0" name="Google Shape;60;p9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91"/>
          <p:cNvSpPr txBox="1"/>
          <p:nvPr>
            <p:ph idx="3" type="body"/>
          </p:nvPr>
        </p:nvSpPr>
        <p:spPr>
          <a:xfrm>
            <a:off x="609600" y="1752600"/>
            <a:ext cx="3886200" cy="640080"/>
          </a:xfrm>
          <a:prstGeom prst="rect">
            <a:avLst/>
          </a:prstGeom>
          <a:solidFill>
            <a:schemeClr val="accent2"/>
          </a:solidFill>
          <a:ln>
            <a:noFill/>
          </a:ln>
        </p:spPr>
        <p:txBody>
          <a:bodyPr anchorCtr="0" anchor="ctr" bIns="45700" lIns="91425" spcFirstLastPara="1" rIns="91425" wrap="square" tIns="45700">
            <a:norm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 name="Google Shape;62;p91"/>
          <p:cNvSpPr txBox="1"/>
          <p:nvPr>
            <p:ph idx="4" type="body"/>
          </p:nvPr>
        </p:nvSpPr>
        <p:spPr>
          <a:xfrm>
            <a:off x="4800600" y="1752600"/>
            <a:ext cx="3886200" cy="640080"/>
          </a:xfrm>
          <a:prstGeom prst="rect">
            <a:avLst/>
          </a:prstGeom>
          <a:solidFill>
            <a:schemeClr val="accent4"/>
          </a:solidFill>
          <a:ln>
            <a:noFill/>
          </a:ln>
        </p:spPr>
        <p:txBody>
          <a:bodyPr anchorCtr="0" anchor="ctr" bIns="45700" lIns="91425" spcFirstLastPara="1" rIns="91425" wrap="square" tIns="45700">
            <a:norm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92"/>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92"/>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sz="1400">
                <a:solidFill>
                  <a:srgbClr val="FFFFFF"/>
                </a:solidFill>
                <a:latin typeface="Twentieth Century"/>
                <a:ea typeface="Twentieth Century"/>
                <a:cs typeface="Twentieth Century"/>
                <a:sym typeface="Twentieth Century"/>
              </a:defRPr>
            </a:lvl1pPr>
            <a:lvl2pPr indent="0" lvl="1" marL="0" algn="ctr">
              <a:spcBef>
                <a:spcPts val="0"/>
              </a:spcBef>
              <a:buNone/>
              <a:defRPr b="1" sz="1400">
                <a:solidFill>
                  <a:srgbClr val="FFFFFF"/>
                </a:solidFill>
                <a:latin typeface="Twentieth Century"/>
                <a:ea typeface="Twentieth Century"/>
                <a:cs typeface="Twentieth Century"/>
                <a:sym typeface="Twentieth Century"/>
              </a:defRPr>
            </a:lvl2pPr>
            <a:lvl3pPr indent="0" lvl="2" marL="0" algn="ctr">
              <a:spcBef>
                <a:spcPts val="0"/>
              </a:spcBef>
              <a:buNone/>
              <a:defRPr b="1" sz="1400">
                <a:solidFill>
                  <a:srgbClr val="FFFFFF"/>
                </a:solidFill>
                <a:latin typeface="Twentieth Century"/>
                <a:ea typeface="Twentieth Century"/>
                <a:cs typeface="Twentieth Century"/>
                <a:sym typeface="Twentieth Century"/>
              </a:defRPr>
            </a:lvl3pPr>
            <a:lvl4pPr indent="0" lvl="3" marL="0" algn="ctr">
              <a:spcBef>
                <a:spcPts val="0"/>
              </a:spcBef>
              <a:buNone/>
              <a:defRPr b="1" sz="1400">
                <a:solidFill>
                  <a:srgbClr val="FFFFFF"/>
                </a:solidFill>
                <a:latin typeface="Twentieth Century"/>
                <a:ea typeface="Twentieth Century"/>
                <a:cs typeface="Twentieth Century"/>
                <a:sym typeface="Twentieth Century"/>
              </a:defRPr>
            </a:lvl4pPr>
            <a:lvl5pPr indent="0" lvl="4" marL="0" algn="ctr">
              <a:spcBef>
                <a:spcPts val="0"/>
              </a:spcBef>
              <a:buNone/>
              <a:defRPr b="1" sz="1400">
                <a:solidFill>
                  <a:srgbClr val="FFFFFF"/>
                </a:solidFill>
                <a:latin typeface="Twentieth Century"/>
                <a:ea typeface="Twentieth Century"/>
                <a:cs typeface="Twentieth Century"/>
                <a:sym typeface="Twentieth Century"/>
              </a:defRPr>
            </a:lvl5pPr>
            <a:lvl6pPr indent="0" lvl="5" marL="0" algn="ctr">
              <a:spcBef>
                <a:spcPts val="0"/>
              </a:spcBef>
              <a:buNone/>
              <a:defRPr b="1" sz="1400">
                <a:solidFill>
                  <a:srgbClr val="FFFFFF"/>
                </a:solidFill>
                <a:latin typeface="Twentieth Century"/>
                <a:ea typeface="Twentieth Century"/>
                <a:cs typeface="Twentieth Century"/>
                <a:sym typeface="Twentieth Century"/>
              </a:defRPr>
            </a:lvl6pPr>
            <a:lvl7pPr indent="0" lvl="6" marL="0" algn="ctr">
              <a:spcBef>
                <a:spcPts val="0"/>
              </a:spcBef>
              <a:buNone/>
              <a:defRPr b="1" sz="1400">
                <a:solidFill>
                  <a:srgbClr val="FFFFFF"/>
                </a:solidFill>
                <a:latin typeface="Twentieth Century"/>
                <a:ea typeface="Twentieth Century"/>
                <a:cs typeface="Twentieth Century"/>
                <a:sym typeface="Twentieth Century"/>
              </a:defRPr>
            </a:lvl7pPr>
            <a:lvl8pPr indent="0" lvl="7" marL="0" algn="ctr">
              <a:spcBef>
                <a:spcPts val="0"/>
              </a:spcBef>
              <a:buNone/>
              <a:defRPr b="1" sz="1400">
                <a:solidFill>
                  <a:srgbClr val="FFFFFF"/>
                </a:solidFill>
                <a:latin typeface="Twentieth Century"/>
                <a:ea typeface="Twentieth Century"/>
                <a:cs typeface="Twentieth Century"/>
                <a:sym typeface="Twentieth Century"/>
              </a:defRPr>
            </a:lvl8pPr>
            <a:lvl9pPr indent="0" lvl="8" marL="0" algn="ctr">
              <a:spcBef>
                <a:spcPts val="0"/>
              </a:spcBef>
              <a:buNone/>
              <a:defRPr b="1" sz="1400">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6" name="Shape 66"/>
        <p:cNvGrpSpPr/>
        <p:nvPr/>
      </p:nvGrpSpPr>
      <p:grpSpPr>
        <a:xfrm>
          <a:off x="0" y="0"/>
          <a:ext cx="0" cy="0"/>
          <a:chOff x="0" y="0"/>
          <a:chExt cx="0" cy="0"/>
        </a:xfrm>
      </p:grpSpPr>
      <p:sp>
        <p:nvSpPr>
          <p:cNvPr id="67" name="Google Shape;67;p93"/>
          <p:cNvSpPr txBox="1"/>
          <p:nvPr>
            <p:ph idx="12" type="sldNum"/>
          </p:nvPr>
        </p:nvSpPr>
        <p:spPr>
          <a:xfrm>
            <a:off x="0" y="6248400"/>
            <a:ext cx="533400" cy="381000"/>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sz="1400">
                <a:solidFill>
                  <a:schemeClr val="dk2"/>
                </a:solidFill>
                <a:latin typeface="Twentieth Century"/>
                <a:ea typeface="Twentieth Century"/>
                <a:cs typeface="Twentieth Century"/>
                <a:sym typeface="Twentieth Century"/>
              </a:defRPr>
            </a:lvl1pPr>
            <a:lvl2pPr indent="0" lvl="1" marL="0" algn="ctr">
              <a:spcBef>
                <a:spcPts val="0"/>
              </a:spcBef>
              <a:buNone/>
              <a:defRPr b="1" sz="1400">
                <a:solidFill>
                  <a:schemeClr val="dk2"/>
                </a:solidFill>
                <a:latin typeface="Twentieth Century"/>
                <a:ea typeface="Twentieth Century"/>
                <a:cs typeface="Twentieth Century"/>
                <a:sym typeface="Twentieth Century"/>
              </a:defRPr>
            </a:lvl2pPr>
            <a:lvl3pPr indent="0" lvl="2" marL="0" algn="ctr">
              <a:spcBef>
                <a:spcPts val="0"/>
              </a:spcBef>
              <a:buNone/>
              <a:defRPr b="1" sz="1400">
                <a:solidFill>
                  <a:schemeClr val="dk2"/>
                </a:solidFill>
                <a:latin typeface="Twentieth Century"/>
                <a:ea typeface="Twentieth Century"/>
                <a:cs typeface="Twentieth Century"/>
                <a:sym typeface="Twentieth Century"/>
              </a:defRPr>
            </a:lvl3pPr>
            <a:lvl4pPr indent="0" lvl="3" marL="0" algn="ctr">
              <a:spcBef>
                <a:spcPts val="0"/>
              </a:spcBef>
              <a:buNone/>
              <a:defRPr b="1" sz="1400">
                <a:solidFill>
                  <a:schemeClr val="dk2"/>
                </a:solidFill>
                <a:latin typeface="Twentieth Century"/>
                <a:ea typeface="Twentieth Century"/>
                <a:cs typeface="Twentieth Century"/>
                <a:sym typeface="Twentieth Century"/>
              </a:defRPr>
            </a:lvl4pPr>
            <a:lvl5pPr indent="0" lvl="4" marL="0" algn="ctr">
              <a:spcBef>
                <a:spcPts val="0"/>
              </a:spcBef>
              <a:buNone/>
              <a:defRPr b="1" sz="1400">
                <a:solidFill>
                  <a:schemeClr val="dk2"/>
                </a:solidFill>
                <a:latin typeface="Twentieth Century"/>
                <a:ea typeface="Twentieth Century"/>
                <a:cs typeface="Twentieth Century"/>
                <a:sym typeface="Twentieth Century"/>
              </a:defRPr>
            </a:lvl5pPr>
            <a:lvl6pPr indent="0" lvl="5" marL="0" algn="ctr">
              <a:spcBef>
                <a:spcPts val="0"/>
              </a:spcBef>
              <a:buNone/>
              <a:defRPr b="1" sz="1400">
                <a:solidFill>
                  <a:schemeClr val="dk2"/>
                </a:solidFill>
                <a:latin typeface="Twentieth Century"/>
                <a:ea typeface="Twentieth Century"/>
                <a:cs typeface="Twentieth Century"/>
                <a:sym typeface="Twentieth Century"/>
              </a:defRPr>
            </a:lvl6pPr>
            <a:lvl7pPr indent="0" lvl="6" marL="0" algn="ctr">
              <a:spcBef>
                <a:spcPts val="0"/>
              </a:spcBef>
              <a:buNone/>
              <a:defRPr b="1" sz="1400">
                <a:solidFill>
                  <a:schemeClr val="dk2"/>
                </a:solidFill>
                <a:latin typeface="Twentieth Century"/>
                <a:ea typeface="Twentieth Century"/>
                <a:cs typeface="Twentieth Century"/>
                <a:sym typeface="Twentieth Century"/>
              </a:defRPr>
            </a:lvl7pPr>
            <a:lvl8pPr indent="0" lvl="7" marL="0" algn="ctr">
              <a:spcBef>
                <a:spcPts val="0"/>
              </a:spcBef>
              <a:buNone/>
              <a:defRPr b="1" sz="1400">
                <a:solidFill>
                  <a:schemeClr val="dk2"/>
                </a:solidFill>
                <a:latin typeface="Twentieth Century"/>
                <a:ea typeface="Twentieth Century"/>
                <a:cs typeface="Twentieth Century"/>
                <a:sym typeface="Twentieth Century"/>
              </a:defRPr>
            </a:lvl8pPr>
            <a:lvl9pPr indent="0" lvl="8" marL="0" algn="ctr">
              <a:spcBef>
                <a:spcPts val="0"/>
              </a:spcBef>
              <a:buNone/>
              <a:defRPr b="1" sz="1400">
                <a:solidFill>
                  <a:schemeClr val="dk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94"/>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Twentieth Century"/>
              <a:buNone/>
              <a:defRPr b="0"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sz="1400">
                <a:solidFill>
                  <a:srgbClr val="FFFFFF"/>
                </a:solidFill>
                <a:latin typeface="Twentieth Century"/>
                <a:ea typeface="Twentieth Century"/>
                <a:cs typeface="Twentieth Century"/>
                <a:sym typeface="Twentieth Century"/>
              </a:defRPr>
            </a:lvl1pPr>
            <a:lvl2pPr indent="0" lvl="1" marL="0" algn="ctr">
              <a:spcBef>
                <a:spcPts val="0"/>
              </a:spcBef>
              <a:buNone/>
              <a:defRPr b="1" sz="1400">
                <a:solidFill>
                  <a:srgbClr val="FFFFFF"/>
                </a:solidFill>
                <a:latin typeface="Twentieth Century"/>
                <a:ea typeface="Twentieth Century"/>
                <a:cs typeface="Twentieth Century"/>
                <a:sym typeface="Twentieth Century"/>
              </a:defRPr>
            </a:lvl2pPr>
            <a:lvl3pPr indent="0" lvl="2" marL="0" algn="ctr">
              <a:spcBef>
                <a:spcPts val="0"/>
              </a:spcBef>
              <a:buNone/>
              <a:defRPr b="1" sz="1400">
                <a:solidFill>
                  <a:srgbClr val="FFFFFF"/>
                </a:solidFill>
                <a:latin typeface="Twentieth Century"/>
                <a:ea typeface="Twentieth Century"/>
                <a:cs typeface="Twentieth Century"/>
                <a:sym typeface="Twentieth Century"/>
              </a:defRPr>
            </a:lvl3pPr>
            <a:lvl4pPr indent="0" lvl="3" marL="0" algn="ctr">
              <a:spcBef>
                <a:spcPts val="0"/>
              </a:spcBef>
              <a:buNone/>
              <a:defRPr b="1" sz="1400">
                <a:solidFill>
                  <a:srgbClr val="FFFFFF"/>
                </a:solidFill>
                <a:latin typeface="Twentieth Century"/>
                <a:ea typeface="Twentieth Century"/>
                <a:cs typeface="Twentieth Century"/>
                <a:sym typeface="Twentieth Century"/>
              </a:defRPr>
            </a:lvl4pPr>
            <a:lvl5pPr indent="0" lvl="4" marL="0" algn="ctr">
              <a:spcBef>
                <a:spcPts val="0"/>
              </a:spcBef>
              <a:buNone/>
              <a:defRPr b="1" sz="1400">
                <a:solidFill>
                  <a:srgbClr val="FFFFFF"/>
                </a:solidFill>
                <a:latin typeface="Twentieth Century"/>
                <a:ea typeface="Twentieth Century"/>
                <a:cs typeface="Twentieth Century"/>
                <a:sym typeface="Twentieth Century"/>
              </a:defRPr>
            </a:lvl5pPr>
            <a:lvl6pPr indent="0" lvl="5" marL="0" algn="ctr">
              <a:spcBef>
                <a:spcPts val="0"/>
              </a:spcBef>
              <a:buNone/>
              <a:defRPr b="1" sz="1400">
                <a:solidFill>
                  <a:srgbClr val="FFFFFF"/>
                </a:solidFill>
                <a:latin typeface="Twentieth Century"/>
                <a:ea typeface="Twentieth Century"/>
                <a:cs typeface="Twentieth Century"/>
                <a:sym typeface="Twentieth Century"/>
              </a:defRPr>
            </a:lvl6pPr>
            <a:lvl7pPr indent="0" lvl="6" marL="0" algn="ctr">
              <a:spcBef>
                <a:spcPts val="0"/>
              </a:spcBef>
              <a:buNone/>
              <a:defRPr b="1" sz="1400">
                <a:solidFill>
                  <a:srgbClr val="FFFFFF"/>
                </a:solidFill>
                <a:latin typeface="Twentieth Century"/>
                <a:ea typeface="Twentieth Century"/>
                <a:cs typeface="Twentieth Century"/>
                <a:sym typeface="Twentieth Century"/>
              </a:defRPr>
            </a:lvl7pPr>
            <a:lvl8pPr indent="0" lvl="7" marL="0" algn="ctr">
              <a:spcBef>
                <a:spcPts val="0"/>
              </a:spcBef>
              <a:buNone/>
              <a:defRPr b="1" sz="1400">
                <a:solidFill>
                  <a:srgbClr val="FFFFFF"/>
                </a:solidFill>
                <a:latin typeface="Twentieth Century"/>
                <a:ea typeface="Twentieth Century"/>
                <a:cs typeface="Twentieth Century"/>
                <a:sym typeface="Twentieth Century"/>
              </a:defRPr>
            </a:lvl8pPr>
            <a:lvl9pPr indent="0" lvl="8" marL="0" algn="ctr">
              <a:spcBef>
                <a:spcPts val="0"/>
              </a:spcBef>
              <a:buNone/>
              <a:defRPr b="1" sz="1400">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71" name="Google Shape;71;p94"/>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rm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 name="Google Shape;72;p94"/>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blipFill rotWithShape="1">
          <a:blip r:embed="rId2">
            <a:alphaModFix/>
          </a:blip>
          <a:tile algn="tl" flip="none" tx="0" sx="100000" ty="0" sy="100000"/>
        </a:blipFill>
      </p:bgPr>
    </p:bg>
    <p:spTree>
      <p:nvGrpSpPr>
        <p:cNvPr id="73" name="Shape 73"/>
        <p:cNvGrpSpPr/>
        <p:nvPr/>
      </p:nvGrpSpPr>
      <p:grpSpPr>
        <a:xfrm>
          <a:off x="0" y="0"/>
          <a:ext cx="0" cy="0"/>
          <a:chOff x="0" y="0"/>
          <a:chExt cx="0" cy="0"/>
        </a:xfrm>
      </p:grpSpPr>
      <p:sp>
        <p:nvSpPr>
          <p:cNvPr id="74" name="Google Shape;74;p95"/>
          <p:cNvSpPr txBox="1"/>
          <p:nvPr>
            <p:ph idx="1" type="body"/>
          </p:nvPr>
        </p:nvSpPr>
        <p:spPr>
          <a:xfrm>
            <a:off x="1600200" y="5486400"/>
            <a:ext cx="7315200" cy="685800"/>
          </a:xfrm>
          <a:prstGeom prst="rect">
            <a:avLst/>
          </a:prstGeom>
          <a:noFill/>
          <a:ln>
            <a:noFill/>
          </a:ln>
        </p:spPr>
        <p:txBody>
          <a:bodyPr anchorCtr="0" anchor="t" bIns="45700" lIns="91425" spcFirstLastPara="1" rIns="91425" wrap="square" tIns="45700">
            <a:normAutofit/>
          </a:bodyPr>
          <a:lstStyle>
            <a:lvl1pPr indent="-228600" lvl="0" marL="457200" algn="l">
              <a:spcBef>
                <a:spcPts val="700"/>
              </a:spcBef>
              <a:spcAft>
                <a:spcPts val="0"/>
              </a:spcAft>
              <a:buSzPts val="1020"/>
              <a:buFont typeface="Twentieth Century"/>
              <a:buNone/>
              <a:defRPr sz="1700"/>
            </a:lvl1pPr>
            <a:lvl2pPr indent="-228600" lvl="1" marL="914400" algn="l">
              <a:spcBef>
                <a:spcPts val="550"/>
              </a:spcBef>
              <a:spcAft>
                <a:spcPts val="0"/>
              </a:spcAft>
              <a:buSzPts val="840"/>
              <a:buFont typeface="Twentieth Century"/>
              <a:buNone/>
              <a:defRPr sz="1200"/>
            </a:lvl2pPr>
            <a:lvl3pPr indent="-228600" lvl="2" marL="1371600" algn="l">
              <a:spcBef>
                <a:spcPts val="500"/>
              </a:spcBef>
              <a:spcAft>
                <a:spcPts val="0"/>
              </a:spcAft>
              <a:buSzPts val="750"/>
              <a:buFont typeface="Twentieth Century"/>
              <a:buNone/>
              <a:defRPr sz="1000"/>
            </a:lvl3pPr>
            <a:lvl4pPr indent="-228600" lvl="3" marL="1828800" algn="l">
              <a:spcBef>
                <a:spcPts val="400"/>
              </a:spcBef>
              <a:spcAft>
                <a:spcPts val="0"/>
              </a:spcAft>
              <a:buSzPts val="675"/>
              <a:buFont typeface="Twentieth Century"/>
              <a:buNone/>
              <a:defRPr sz="900"/>
            </a:lvl4pPr>
            <a:lvl5pPr indent="-228600" lvl="4" marL="2286000" algn="l">
              <a:spcBef>
                <a:spcPts val="400"/>
              </a:spcBef>
              <a:spcAft>
                <a:spcPts val="0"/>
              </a:spcAft>
              <a:buSzPts val="585"/>
              <a:buFont typeface="Twentieth Century"/>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95"/>
          <p:cNvSpPr/>
          <p:nvPr/>
        </p:nvSpPr>
        <p:spPr>
          <a:xfrm>
            <a:off x="-9144" y="4572000"/>
            <a:ext cx="9144000" cy="88696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6" name="Google Shape;76;p95"/>
          <p:cNvSpPr/>
          <p:nvPr/>
        </p:nvSpPr>
        <p:spPr>
          <a:xfrm>
            <a:off x="-9144" y="4663440"/>
            <a:ext cx="1463040" cy="7132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7" name="Google Shape;77;p95"/>
          <p:cNvSpPr/>
          <p:nvPr/>
        </p:nvSpPr>
        <p:spPr>
          <a:xfrm>
            <a:off x="1545336" y="4654296"/>
            <a:ext cx="7598664" cy="7132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8" name="Google Shape;78;p95"/>
          <p:cNvSpPr txBox="1"/>
          <p:nvPr>
            <p:ph type="title"/>
          </p:nvPr>
        </p:nvSpPr>
        <p:spPr>
          <a:xfrm>
            <a:off x="1600200" y="4648200"/>
            <a:ext cx="7315200" cy="685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FFFF"/>
              </a:buClr>
              <a:buSzPts val="2800"/>
              <a:buFont typeface="Twentieth Century"/>
              <a:buNone/>
              <a:defRPr b="0" sz="28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95"/>
          <p:cNvSpPr/>
          <p:nvPr/>
        </p:nvSpPr>
        <p:spPr>
          <a:xfrm>
            <a:off x="1447800" y="0"/>
            <a:ext cx="100584" cy="686714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80" name="Google Shape;80;p95"/>
          <p:cNvSpPr txBox="1"/>
          <p:nvPr>
            <p:ph idx="12" type="sldNum"/>
          </p:nvPr>
        </p:nvSpPr>
        <p:spPr>
          <a:xfrm>
            <a:off x="0" y="4667249"/>
            <a:ext cx="1447800" cy="663578"/>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b="1" sz="2800">
                <a:solidFill>
                  <a:srgbClr val="FFFFFF"/>
                </a:solidFill>
                <a:latin typeface="Twentieth Century"/>
                <a:ea typeface="Twentieth Century"/>
                <a:cs typeface="Twentieth Century"/>
                <a:sym typeface="Twentieth Century"/>
              </a:defRPr>
            </a:lvl1pPr>
            <a:lvl2pPr indent="0" lvl="1" marL="0" algn="ctr">
              <a:spcBef>
                <a:spcPts val="0"/>
              </a:spcBef>
              <a:buNone/>
              <a:defRPr b="1" sz="2800">
                <a:solidFill>
                  <a:srgbClr val="FFFFFF"/>
                </a:solidFill>
                <a:latin typeface="Twentieth Century"/>
                <a:ea typeface="Twentieth Century"/>
                <a:cs typeface="Twentieth Century"/>
                <a:sym typeface="Twentieth Century"/>
              </a:defRPr>
            </a:lvl2pPr>
            <a:lvl3pPr indent="0" lvl="2" marL="0" algn="ctr">
              <a:spcBef>
                <a:spcPts val="0"/>
              </a:spcBef>
              <a:buNone/>
              <a:defRPr b="1" sz="2800">
                <a:solidFill>
                  <a:srgbClr val="FFFFFF"/>
                </a:solidFill>
                <a:latin typeface="Twentieth Century"/>
                <a:ea typeface="Twentieth Century"/>
                <a:cs typeface="Twentieth Century"/>
                <a:sym typeface="Twentieth Century"/>
              </a:defRPr>
            </a:lvl3pPr>
            <a:lvl4pPr indent="0" lvl="3" marL="0" algn="ctr">
              <a:spcBef>
                <a:spcPts val="0"/>
              </a:spcBef>
              <a:buNone/>
              <a:defRPr b="1" sz="2800">
                <a:solidFill>
                  <a:srgbClr val="FFFFFF"/>
                </a:solidFill>
                <a:latin typeface="Twentieth Century"/>
                <a:ea typeface="Twentieth Century"/>
                <a:cs typeface="Twentieth Century"/>
                <a:sym typeface="Twentieth Century"/>
              </a:defRPr>
            </a:lvl4pPr>
            <a:lvl5pPr indent="0" lvl="4" marL="0" algn="ctr">
              <a:spcBef>
                <a:spcPts val="0"/>
              </a:spcBef>
              <a:buNone/>
              <a:defRPr b="1" sz="2800">
                <a:solidFill>
                  <a:srgbClr val="FFFFFF"/>
                </a:solidFill>
                <a:latin typeface="Twentieth Century"/>
                <a:ea typeface="Twentieth Century"/>
                <a:cs typeface="Twentieth Century"/>
                <a:sym typeface="Twentieth Century"/>
              </a:defRPr>
            </a:lvl5pPr>
            <a:lvl6pPr indent="0" lvl="5" marL="0" algn="ctr">
              <a:spcBef>
                <a:spcPts val="0"/>
              </a:spcBef>
              <a:buNone/>
              <a:defRPr b="1" sz="2800">
                <a:solidFill>
                  <a:srgbClr val="FFFFFF"/>
                </a:solidFill>
                <a:latin typeface="Twentieth Century"/>
                <a:ea typeface="Twentieth Century"/>
                <a:cs typeface="Twentieth Century"/>
                <a:sym typeface="Twentieth Century"/>
              </a:defRPr>
            </a:lvl6pPr>
            <a:lvl7pPr indent="0" lvl="6" marL="0" algn="ctr">
              <a:spcBef>
                <a:spcPts val="0"/>
              </a:spcBef>
              <a:buNone/>
              <a:defRPr b="1" sz="2800">
                <a:solidFill>
                  <a:srgbClr val="FFFFFF"/>
                </a:solidFill>
                <a:latin typeface="Twentieth Century"/>
                <a:ea typeface="Twentieth Century"/>
                <a:cs typeface="Twentieth Century"/>
                <a:sym typeface="Twentieth Century"/>
              </a:defRPr>
            </a:lvl7pPr>
            <a:lvl8pPr indent="0" lvl="7" marL="0" algn="ctr">
              <a:spcBef>
                <a:spcPts val="0"/>
              </a:spcBef>
              <a:buNone/>
              <a:defRPr b="1" sz="2800">
                <a:solidFill>
                  <a:srgbClr val="FFFFFF"/>
                </a:solidFill>
                <a:latin typeface="Twentieth Century"/>
                <a:ea typeface="Twentieth Century"/>
                <a:cs typeface="Twentieth Century"/>
                <a:sym typeface="Twentieth Century"/>
              </a:defRPr>
            </a:lvl8pPr>
            <a:lvl9pPr indent="0" lvl="8" marL="0" algn="ctr">
              <a:spcBef>
                <a:spcPts val="0"/>
              </a:spcBef>
              <a:buNone/>
              <a:defRPr b="1" sz="2800">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81" name="Google Shape;81;p95"/>
          <p:cNvSpPr/>
          <p:nvPr>
            <p:ph idx="2" type="pic"/>
          </p:nvPr>
        </p:nvSpPr>
        <p:spPr>
          <a:xfrm>
            <a:off x="1560576" y="0"/>
            <a:ext cx="7583424" cy="4568952"/>
          </a:xfrm>
          <a:prstGeom prst="rect">
            <a:avLst/>
          </a:prstGeom>
          <a:solidFill>
            <a:srgbClr val="DCE5EE"/>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96"/>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96"/>
          <p:cNvSpPr txBox="1"/>
          <p:nvPr>
            <p:ph idx="1" type="body"/>
          </p:nvPr>
        </p:nvSpPr>
        <p:spPr>
          <a:xfrm rot="5400000">
            <a:off x="2426208" y="-213360"/>
            <a:ext cx="4526280" cy="81534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5" name="Google Shape;85;p96"/>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bg>
      <p:bgPr>
        <a:solidFill>
          <a:schemeClr val="lt1"/>
        </a:solidFill>
      </p:bgPr>
    </p:bg>
    <p:spTree>
      <p:nvGrpSpPr>
        <p:cNvPr id="86" name="Shape 86"/>
        <p:cNvGrpSpPr/>
        <p:nvPr/>
      </p:nvGrpSpPr>
      <p:grpSpPr>
        <a:xfrm>
          <a:off x="0" y="0"/>
          <a:ext cx="0" cy="0"/>
          <a:chOff x="0" y="0"/>
          <a:chExt cx="0" cy="0"/>
        </a:xfrm>
      </p:grpSpPr>
      <p:sp>
        <p:nvSpPr>
          <p:cNvPr id="87" name="Google Shape;87;p97"/>
          <p:cNvSpPr txBox="1"/>
          <p:nvPr>
            <p:ph type="title"/>
          </p:nvPr>
        </p:nvSpPr>
        <p:spPr>
          <a:xfrm rot="5400000">
            <a:off x="4823619" y="2339182"/>
            <a:ext cx="5516563"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97"/>
          <p:cNvSpPr txBox="1"/>
          <p:nvPr>
            <p:ph idx="1" type="body"/>
          </p:nvPr>
        </p:nvSpPr>
        <p:spPr>
          <a:xfrm rot="5400000">
            <a:off x="480218" y="586582"/>
            <a:ext cx="5516564" cy="5562600"/>
          </a:xfrm>
          <a:prstGeom prst="rect">
            <a:avLst/>
          </a:prstGeom>
          <a:noFill/>
          <a:ln>
            <a:noFill/>
          </a:ln>
        </p:spPr>
        <p:txBody>
          <a:bodyPr anchorCtr="0" anchor="t" bIns="45700" lIns="91425" spcFirstLastPara="1" rIns="91425" wrap="square" tIns="45700">
            <a:norm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9" name="Google Shape;89;p97"/>
          <p:cNvSpPr/>
          <p:nvPr/>
        </p:nvSpPr>
        <p:spPr>
          <a:xfrm>
            <a:off x="6096318" y="0"/>
            <a:ext cx="32004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0" name="Google Shape;90;p97"/>
          <p:cNvSpPr/>
          <p:nvPr/>
        </p:nvSpPr>
        <p:spPr>
          <a:xfrm>
            <a:off x="6142038" y="609600"/>
            <a:ext cx="228600" cy="6248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1" name="Google Shape;91;p97"/>
          <p:cNvSpPr/>
          <p:nvPr/>
        </p:nvSpPr>
        <p:spPr>
          <a:xfrm>
            <a:off x="6142038" y="0"/>
            <a:ext cx="228600" cy="533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2" name="Google Shape;92;p97"/>
          <p:cNvSpPr txBox="1"/>
          <p:nvPr>
            <p:ph idx="12" type="sldNum"/>
          </p:nvPr>
        </p:nvSpPr>
        <p:spPr>
          <a:xfrm rot="5400000">
            <a:off x="5989638" y="144462"/>
            <a:ext cx="533400" cy="244476"/>
          </a:xfrm>
          <a:prstGeom prst="rect">
            <a:avLst/>
          </a:prstGeom>
          <a:noFill/>
          <a:ln>
            <a:noFill/>
          </a:ln>
        </p:spPr>
        <p:txBody>
          <a:bodyPr anchorCtr="0" anchor="ctr" bIns="45700" lIns="91425" spcFirstLastPara="1" rIns="91425"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theme" Target="../theme/theme3.xml"/><Relationship Id="rId12" Type="http://schemas.openxmlformats.org/officeDocument/2006/relationships/slideLayout" Target="../slideLayouts/slideLayout13.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84"/>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lt2"/>
              </a:buClr>
              <a:buSzPts val="4400"/>
              <a:buFont typeface="Twentieth Century"/>
              <a:buNone/>
              <a:defRPr b="0" i="0" sz="4400" u="none" cap="none" strike="noStrike">
                <a:solidFill>
                  <a:schemeClr val="lt2"/>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4"/>
          <p:cNvSpPr txBox="1"/>
          <p:nvPr>
            <p:ph idx="1" type="body"/>
          </p:nvPr>
        </p:nvSpPr>
        <p:spPr>
          <a:xfrm>
            <a:off x="612648" y="1600200"/>
            <a:ext cx="8153400" cy="4526280"/>
          </a:xfrm>
          <a:prstGeom prst="rect">
            <a:avLst/>
          </a:prstGeom>
          <a:noFill/>
          <a:ln>
            <a:noFill/>
          </a:ln>
        </p:spPr>
        <p:txBody>
          <a:bodyPr anchorCtr="0" anchor="t" bIns="45700" lIns="91425" spcFirstLastPara="1" rIns="91425" wrap="square" tIns="45700">
            <a:norm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lt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lt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lt1"/>
                </a:solidFill>
                <a:latin typeface="Twentieth Century"/>
                <a:ea typeface="Twentieth Century"/>
                <a:cs typeface="Twentieth Century"/>
                <a:sym typeface="Twentieth Century"/>
              </a:defRPr>
            </a:lvl3pPr>
            <a:lvl4pPr indent="-323850" lvl="3" marL="1828800" marR="0" rtl="0" algn="l">
              <a:spcBef>
                <a:spcPts val="400"/>
              </a:spcBef>
              <a:spcAft>
                <a:spcPts val="0"/>
              </a:spcAft>
              <a:buClr>
                <a:schemeClr val="accent3"/>
              </a:buClr>
              <a:buSzPts val="1500"/>
              <a:buFont typeface="Noto Sans Symbols"/>
              <a:buChar char="■"/>
              <a:defRPr b="0" i="0" sz="2000" u="none" cap="none" strike="noStrike">
                <a:solidFill>
                  <a:schemeClr val="lt1"/>
                </a:solidFill>
                <a:latin typeface="Twentieth Century"/>
                <a:ea typeface="Twentieth Century"/>
                <a:cs typeface="Twentieth Century"/>
                <a:sym typeface="Twentieth Century"/>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9pPr>
          </a:lstStyle>
          <a:p/>
        </p:txBody>
      </p:sp>
      <p:sp>
        <p:nvSpPr>
          <p:cNvPr id="12" name="Google Shape;12;p84"/>
          <p:cNvSpPr/>
          <p:nvPr/>
        </p:nvSpPr>
        <p:spPr>
          <a:xfrm>
            <a:off x="0" y="1234440"/>
            <a:ext cx="9144000" cy="32004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3" name="Google Shape;13;p84"/>
          <p:cNvSpPr/>
          <p:nvPr/>
        </p:nvSpPr>
        <p:spPr>
          <a:xfrm>
            <a:off x="0" y="1280160"/>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4" name="Google Shape;14;p84"/>
          <p:cNvSpPr/>
          <p:nvPr/>
        </p:nvSpPr>
        <p:spPr>
          <a:xfrm>
            <a:off x="590550" y="1280160"/>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5" name="Google Shape;15;p8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1pPr>
            <a:lvl2pPr indent="0" lvl="1"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2pPr>
            <a:lvl3pPr indent="0" lvl="2"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3pPr>
            <a:lvl4pPr indent="0" lvl="3"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4pPr>
            <a:lvl5pPr indent="0" lvl="4"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5pPr>
            <a:lvl6pPr indent="0" lvl="5"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6pPr>
            <a:lvl7pPr indent="0" lvl="6"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7pPr>
            <a:lvl8pPr indent="0" lvl="7"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8pPr>
            <a:lvl9pPr indent="0" lvl="8"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p8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400"/>
              <a:buFont typeface="Twentieth Century"/>
              <a:buNone/>
              <a:defRPr b="0" i="0" sz="4400" u="none" cap="none" strike="noStrike">
                <a:solidFill>
                  <a:schemeClr val="dk2"/>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 name="Google Shape;25;p83"/>
          <p:cNvSpPr txBox="1"/>
          <p:nvPr>
            <p:ph idx="1" type="body"/>
          </p:nvPr>
        </p:nvSpPr>
        <p:spPr>
          <a:xfrm>
            <a:off x="612648" y="1600200"/>
            <a:ext cx="8153400" cy="4526280"/>
          </a:xfrm>
          <a:prstGeom prst="rect">
            <a:avLst/>
          </a:prstGeom>
          <a:noFill/>
          <a:ln>
            <a:noFill/>
          </a:ln>
        </p:spPr>
        <p:txBody>
          <a:bodyPr anchorCtr="0" anchor="t" bIns="45700" lIns="91425" spcFirstLastPara="1" rIns="91425" wrap="square" tIns="45700">
            <a:norm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chemeClr val="accent3"/>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26" name="Google Shape;26;p83"/>
          <p:cNvSpPr/>
          <p:nvPr/>
        </p:nvSpPr>
        <p:spPr>
          <a:xfrm>
            <a:off x="0" y="1234440"/>
            <a:ext cx="9144000" cy="32004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7" name="Google Shape;27;p83"/>
          <p:cNvSpPr/>
          <p:nvPr/>
        </p:nvSpPr>
        <p:spPr>
          <a:xfrm>
            <a:off x="0" y="1280160"/>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8" name="Google Shape;28;p83"/>
          <p:cNvSpPr/>
          <p:nvPr/>
        </p:nvSpPr>
        <p:spPr>
          <a:xfrm>
            <a:off x="590550" y="1280160"/>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9" name="Google Shape;29;p8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a:bodyPr>
          <a:lstStyle>
            <a:lvl1pPr indent="0" lvl="0"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1pPr>
            <a:lvl2pPr indent="0" lvl="1"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2pPr>
            <a:lvl3pPr indent="0" lvl="2"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3pPr>
            <a:lvl4pPr indent="0" lvl="3"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4pPr>
            <a:lvl5pPr indent="0" lvl="4"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5pPr>
            <a:lvl6pPr indent="0" lvl="5"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6pPr>
            <a:lvl7pPr indent="0" lvl="6"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7pPr>
            <a:lvl8pPr indent="0" lvl="7"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8pPr>
            <a:lvl9pPr indent="0" lvl="8" marL="0" marR="0" rtl="0" algn="ctr">
              <a:spcBef>
                <a:spcPts val="0"/>
              </a:spcBef>
              <a:buNone/>
              <a:defRPr b="1" i="0" sz="1400" u="none" cap="none" strike="noStrik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3.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0.png"/><Relationship Id="rId4"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png"/><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3.png"/><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png"/><Relationship Id="rId4"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png"/><Relationship Id="rId4" Type="http://schemas.openxmlformats.org/officeDocument/2006/relationships/image" Target="../media/image2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ctrTitle"/>
          </p:nvPr>
        </p:nvSpPr>
        <p:spPr>
          <a:xfrm>
            <a:off x="2362200" y="4038600"/>
            <a:ext cx="6477000" cy="1828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4400"/>
              <a:buFont typeface="Twentieth Century"/>
              <a:buNone/>
            </a:pPr>
            <a:r>
              <a:rPr lang="en-US"/>
              <a:t>APPLICATION LAYER</a:t>
            </a:r>
            <a:endParaRPr/>
          </a:p>
        </p:txBody>
      </p:sp>
      <p:sp>
        <p:nvSpPr>
          <p:cNvPr id="98" name="Google Shape;98;p1"/>
          <p:cNvSpPr txBox="1"/>
          <p:nvPr>
            <p:ph idx="1" type="subTitle"/>
          </p:nvPr>
        </p:nvSpPr>
        <p:spPr>
          <a:xfrm>
            <a:off x="2362200" y="6050037"/>
            <a:ext cx="6705600" cy="685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560"/>
              <a:buNone/>
            </a:pPr>
            <a:r>
              <a:rPr lang="en-US"/>
              <a:t>Standard Application Layer Protocols</a:t>
            </a:r>
            <a:endParaRPr/>
          </a:p>
        </p:txBody>
      </p:sp>
      <p:sp>
        <p:nvSpPr>
          <p:cNvPr id="99" name="Google Shape;99;p1"/>
          <p:cNvSpPr txBox="1"/>
          <p:nvPr>
            <p:ph idx="4294967295"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idx="1" type="body"/>
          </p:nvPr>
        </p:nvSpPr>
        <p:spPr>
          <a:xfrm>
            <a:off x="1371600" y="2743200"/>
            <a:ext cx="7123113" cy="16732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t/>
            </a:r>
            <a:endParaRPr/>
          </a:p>
        </p:txBody>
      </p:sp>
      <p:sp>
        <p:nvSpPr>
          <p:cNvPr id="105" name="Google Shape;105;p2"/>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FFFF"/>
              </a:buClr>
              <a:buSzPts val="4400"/>
              <a:buFont typeface="Twentieth Century"/>
              <a:buNone/>
            </a:pPr>
            <a:r>
              <a:rPr lang="en-US"/>
              <a:t>DNS</a:t>
            </a:r>
            <a:endParaRPr/>
          </a:p>
        </p:txBody>
      </p:sp>
      <p:sp>
        <p:nvSpPr>
          <p:cNvPr id="106" name="Google Shape;106;p2"/>
          <p:cNvSpPr txBox="1"/>
          <p:nvPr>
            <p:ph idx="12" type="sldNum"/>
          </p:nvPr>
        </p:nvSpPr>
        <p:spPr>
          <a:xfrm>
            <a:off x="0" y="1752600"/>
            <a:ext cx="1295400" cy="70167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DNS</a:t>
            </a:r>
            <a:endParaRPr/>
          </a:p>
        </p:txBody>
      </p:sp>
      <p:sp>
        <p:nvSpPr>
          <p:cNvPr id="112" name="Google Shape;112;p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13" name="Google Shape;113;p3"/>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Stands for </a:t>
            </a:r>
            <a:r>
              <a:rPr lang="en-US">
                <a:solidFill>
                  <a:srgbClr val="FF0000"/>
                </a:solidFill>
              </a:rPr>
              <a:t>Domain Name System</a:t>
            </a:r>
            <a:endParaRPr/>
          </a:p>
          <a:p>
            <a:pPr indent="-320040" lvl="0" marL="320040" rtl="0" algn="l">
              <a:spcBef>
                <a:spcPts val="700"/>
              </a:spcBef>
              <a:spcAft>
                <a:spcPts val="0"/>
              </a:spcAft>
              <a:buSzPts val="1740"/>
              <a:buChar char="◻"/>
            </a:pPr>
            <a:r>
              <a:rPr lang="en-US"/>
              <a:t>Devices on the network has IP addresses</a:t>
            </a:r>
            <a:endParaRPr/>
          </a:p>
          <a:p>
            <a:pPr indent="-320040" lvl="0" marL="320040" rtl="0" algn="l">
              <a:spcBef>
                <a:spcPts val="700"/>
              </a:spcBef>
              <a:spcAft>
                <a:spcPts val="0"/>
              </a:spcAft>
              <a:buSzPts val="1740"/>
              <a:buChar char="◻"/>
            </a:pPr>
            <a:r>
              <a:rPr lang="en-US"/>
              <a:t>But Human always prefers names instead of numeric addresses</a:t>
            </a:r>
            <a:endParaRPr/>
          </a:p>
          <a:p>
            <a:pPr indent="-320040" lvl="0" marL="320040" rtl="0" algn="l">
              <a:spcBef>
                <a:spcPts val="700"/>
              </a:spcBef>
              <a:spcAft>
                <a:spcPts val="0"/>
              </a:spcAft>
              <a:buSzPts val="1740"/>
              <a:buChar char="◻"/>
            </a:pPr>
            <a:r>
              <a:rPr lang="en-US"/>
              <a:t>DNS maps the human readable addresses to corresponding IP addressees</a:t>
            </a:r>
            <a:endParaRPr/>
          </a:p>
          <a:p>
            <a:pPr indent="-320040" lvl="0" marL="320040" rtl="0" algn="l">
              <a:spcBef>
                <a:spcPts val="700"/>
              </a:spcBef>
              <a:spcAft>
                <a:spcPts val="0"/>
              </a:spcAft>
              <a:buSzPts val="1740"/>
              <a:buChar char="◻"/>
            </a:pPr>
            <a:r>
              <a:rPr lang="en-US"/>
              <a:t>DNS uses UDP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2" y="55191"/>
            <a:ext cx="5943598" cy="101006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Arial"/>
              <a:buNone/>
            </a:pPr>
            <a:r>
              <a:rPr lang="en-US">
                <a:latin typeface="Arial"/>
                <a:ea typeface="Arial"/>
                <a:cs typeface="Arial"/>
                <a:sym typeface="Arial"/>
              </a:rPr>
              <a:t>DNS</a:t>
            </a:r>
            <a:endParaRPr>
              <a:latin typeface="Arial"/>
              <a:ea typeface="Arial"/>
              <a:cs typeface="Arial"/>
              <a:sym typeface="Arial"/>
            </a:endParaRPr>
          </a:p>
        </p:txBody>
      </p:sp>
      <p:sp>
        <p:nvSpPr>
          <p:cNvPr id="120" name="Google Shape;120;p4"/>
          <p:cNvSpPr txBox="1"/>
          <p:nvPr>
            <p:ph idx="1" type="body"/>
          </p:nvPr>
        </p:nvSpPr>
        <p:spPr>
          <a:xfrm>
            <a:off x="533400" y="1676400"/>
            <a:ext cx="3698542" cy="5022091"/>
          </a:xfrm>
          <a:prstGeom prst="rect">
            <a:avLst/>
          </a:prstGeom>
          <a:noFill/>
          <a:ln>
            <a:noFill/>
          </a:ln>
        </p:spPr>
        <p:txBody>
          <a:bodyPr anchorCtr="0" anchor="t" bIns="45700" lIns="91425" spcFirstLastPara="1" rIns="91425" wrap="square" tIns="45700">
            <a:noAutofit/>
          </a:bodyPr>
          <a:lstStyle/>
          <a:p>
            <a:pPr indent="-320040" lvl="0" marL="320040" rtl="0" algn="l">
              <a:lnSpc>
                <a:spcPct val="85000"/>
              </a:lnSpc>
              <a:spcBef>
                <a:spcPts val="0"/>
              </a:spcBef>
              <a:spcAft>
                <a:spcPts val="0"/>
              </a:spcAft>
              <a:buSzPts val="1200"/>
              <a:buFont typeface="Arial"/>
              <a:buChar char="•"/>
            </a:pPr>
            <a:r>
              <a:rPr lang="en-US" sz="2000"/>
              <a:t>Domain names were created to convert the numeric IP addresses into a simple, recognizable name.</a:t>
            </a:r>
            <a:endParaRPr/>
          </a:p>
          <a:p>
            <a:pPr indent="-320040" lvl="0" marL="320040" rtl="0" algn="l">
              <a:lnSpc>
                <a:spcPct val="85000"/>
              </a:lnSpc>
              <a:spcBef>
                <a:spcPts val="600"/>
              </a:spcBef>
              <a:spcAft>
                <a:spcPts val="0"/>
              </a:spcAft>
              <a:buSzPts val="1200"/>
              <a:buFont typeface="Arial"/>
              <a:buChar char="•"/>
            </a:pPr>
            <a:r>
              <a:rPr lang="en-US" sz="2000"/>
              <a:t>Fully-qualified domain names (FQDNs), such as http://www.cisco.com, are much easier for people to remember than 198.133.219.25.</a:t>
            </a:r>
            <a:endParaRPr/>
          </a:p>
          <a:p>
            <a:pPr indent="-320040" lvl="0" marL="320040" rtl="0" algn="l">
              <a:lnSpc>
                <a:spcPct val="85000"/>
              </a:lnSpc>
              <a:spcBef>
                <a:spcPts val="600"/>
              </a:spcBef>
              <a:spcAft>
                <a:spcPts val="0"/>
              </a:spcAft>
              <a:buSzPts val="1200"/>
              <a:buFont typeface="Arial"/>
              <a:buChar char="•"/>
            </a:pPr>
            <a:r>
              <a:rPr lang="en-US" sz="2000"/>
              <a:t>The DNS protocol defines an automated service that matches resource names with the required numeric network address. It includes the format for queries, responses, and data.</a:t>
            </a:r>
            <a:endParaRPr/>
          </a:p>
        </p:txBody>
      </p:sp>
      <p:pic>
        <p:nvPicPr>
          <p:cNvPr id="121" name="Google Shape;121;p4"/>
          <p:cNvPicPr preferRelativeResize="0"/>
          <p:nvPr/>
        </p:nvPicPr>
        <p:blipFill rotWithShape="1">
          <a:blip r:embed="rId3">
            <a:alphaModFix/>
          </a:blip>
          <a:srcRect b="0" l="0" r="0" t="0"/>
          <a:stretch/>
        </p:blipFill>
        <p:spPr>
          <a:xfrm>
            <a:off x="4648200" y="256814"/>
            <a:ext cx="4038599" cy="1968459"/>
          </a:xfrm>
          <a:prstGeom prst="rect">
            <a:avLst/>
          </a:prstGeom>
          <a:noFill/>
          <a:ln>
            <a:noFill/>
          </a:ln>
        </p:spPr>
      </p:pic>
      <p:sp>
        <p:nvSpPr>
          <p:cNvPr id="122" name="Google Shape;122;p4"/>
          <p:cNvSpPr/>
          <p:nvPr/>
        </p:nvSpPr>
        <p:spPr>
          <a:xfrm>
            <a:off x="6304562" y="2038651"/>
            <a:ext cx="231819" cy="373245"/>
          </a:xfrm>
          <a:prstGeom prst="downArrow">
            <a:avLst>
              <a:gd fmla="val 50000" name="adj1"/>
              <a:gd fmla="val 50000" name="adj2"/>
            </a:avLst>
          </a:prstGeom>
          <a:solidFill>
            <a:srgbClr val="36A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pic>
        <p:nvPicPr>
          <p:cNvPr id="123" name="Google Shape;123;p4"/>
          <p:cNvPicPr preferRelativeResize="0"/>
          <p:nvPr/>
        </p:nvPicPr>
        <p:blipFill rotWithShape="1">
          <a:blip r:embed="rId4">
            <a:alphaModFix/>
          </a:blip>
          <a:srcRect b="0" l="0" r="0" t="0"/>
          <a:stretch/>
        </p:blipFill>
        <p:spPr>
          <a:xfrm>
            <a:off x="4842456" y="2570166"/>
            <a:ext cx="3691944" cy="1227252"/>
          </a:xfrm>
          <a:prstGeom prst="rect">
            <a:avLst/>
          </a:prstGeom>
          <a:noFill/>
          <a:ln>
            <a:noFill/>
          </a:ln>
        </p:spPr>
      </p:pic>
      <p:sp>
        <p:nvSpPr>
          <p:cNvPr id="124" name="Google Shape;124;p4"/>
          <p:cNvSpPr/>
          <p:nvPr/>
        </p:nvSpPr>
        <p:spPr>
          <a:xfrm>
            <a:off x="6280000" y="3756692"/>
            <a:ext cx="231819" cy="373245"/>
          </a:xfrm>
          <a:prstGeom prst="downArrow">
            <a:avLst>
              <a:gd fmla="val 50000" name="adj1"/>
              <a:gd fmla="val 50000" name="adj2"/>
            </a:avLst>
          </a:prstGeom>
          <a:solidFill>
            <a:srgbClr val="36A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pic>
        <p:nvPicPr>
          <p:cNvPr id="125" name="Google Shape;125;p4"/>
          <p:cNvPicPr preferRelativeResize="0"/>
          <p:nvPr/>
        </p:nvPicPr>
        <p:blipFill rotWithShape="1">
          <a:blip r:embed="rId5">
            <a:alphaModFix/>
          </a:blip>
          <a:srcRect b="0" l="0" r="0" t="0"/>
          <a:stretch/>
        </p:blipFill>
        <p:spPr>
          <a:xfrm>
            <a:off x="4842454" y="4141957"/>
            <a:ext cx="3844345" cy="2491161"/>
          </a:xfrm>
          <a:prstGeom prst="rect">
            <a:avLst/>
          </a:prstGeom>
          <a:noFill/>
          <a:ln>
            <a:noFill/>
          </a:ln>
        </p:spPr>
      </p:pic>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Arial"/>
              <a:buNone/>
            </a:pPr>
            <a:r>
              <a:rPr lang="en-US">
                <a:latin typeface="Arial"/>
                <a:ea typeface="Arial"/>
                <a:cs typeface="Arial"/>
                <a:sym typeface="Arial"/>
              </a:rPr>
              <a:t>The nslookup Command</a:t>
            </a:r>
            <a:endParaRPr/>
          </a:p>
        </p:txBody>
      </p:sp>
      <p:sp>
        <p:nvSpPr>
          <p:cNvPr id="132" name="Google Shape;132;p5"/>
          <p:cNvSpPr txBox="1"/>
          <p:nvPr>
            <p:ph idx="1" type="body"/>
          </p:nvPr>
        </p:nvSpPr>
        <p:spPr>
          <a:xfrm>
            <a:off x="457200" y="1752600"/>
            <a:ext cx="4648200" cy="4724400"/>
          </a:xfrm>
          <a:prstGeom prst="rect">
            <a:avLst/>
          </a:prstGeom>
          <a:noFill/>
          <a:ln>
            <a:noFill/>
          </a:ln>
        </p:spPr>
        <p:txBody>
          <a:bodyPr anchorCtr="0" anchor="t" bIns="45700" lIns="91425" spcFirstLastPara="1" rIns="91425" wrap="square" tIns="45700">
            <a:normAutofit fontScale="77500" lnSpcReduction="20000"/>
          </a:bodyPr>
          <a:lstStyle/>
          <a:p>
            <a:pPr indent="-320059" lvl="0" marL="320040" rtl="0" algn="l">
              <a:lnSpc>
                <a:spcPct val="85000"/>
              </a:lnSpc>
              <a:spcBef>
                <a:spcPts val="0"/>
              </a:spcBef>
              <a:spcAft>
                <a:spcPts val="0"/>
              </a:spcAft>
              <a:buSzPct val="60000"/>
              <a:buFont typeface="Arial"/>
              <a:buChar char="•"/>
            </a:pPr>
            <a:r>
              <a:rPr lang="en-US" sz="3100"/>
              <a:t>Nslookup is a computer operating system utility that allows a user to manually query the DNS servers configured on the device to resolve a given host name. </a:t>
            </a:r>
            <a:endParaRPr/>
          </a:p>
          <a:p>
            <a:pPr indent="-320059" lvl="0" marL="320040" rtl="0" algn="l">
              <a:lnSpc>
                <a:spcPct val="85000"/>
              </a:lnSpc>
              <a:spcBef>
                <a:spcPts val="721"/>
              </a:spcBef>
              <a:spcAft>
                <a:spcPts val="0"/>
              </a:spcAft>
              <a:buSzPct val="60000"/>
              <a:buFont typeface="Arial"/>
              <a:buChar char="•"/>
            </a:pPr>
            <a:r>
              <a:rPr lang="en-US" sz="3100"/>
              <a:t>This utility can also be used to troubleshoot name resolution issues and to verify the current status of the name servers.</a:t>
            </a:r>
            <a:endParaRPr/>
          </a:p>
          <a:p>
            <a:pPr indent="-320059" lvl="0" marL="320040" rtl="0" algn="l">
              <a:lnSpc>
                <a:spcPct val="85000"/>
              </a:lnSpc>
              <a:spcBef>
                <a:spcPts val="721"/>
              </a:spcBef>
              <a:spcAft>
                <a:spcPts val="0"/>
              </a:spcAft>
              <a:buSzPct val="60000"/>
              <a:buFont typeface="Arial"/>
              <a:buChar char="•"/>
            </a:pPr>
            <a:r>
              <a:rPr lang="en-US" sz="3100"/>
              <a:t>When the </a:t>
            </a:r>
            <a:r>
              <a:rPr b="1" lang="en-US" sz="3100"/>
              <a:t>nslookup</a:t>
            </a:r>
            <a:r>
              <a:rPr lang="en-US" sz="3100"/>
              <a:t> command is issued, the default DNS server configured for your host is displayed.  </a:t>
            </a:r>
            <a:endParaRPr/>
          </a:p>
          <a:p>
            <a:pPr indent="-320059" lvl="0" marL="320040" rtl="0" algn="l">
              <a:lnSpc>
                <a:spcPct val="85000"/>
              </a:lnSpc>
              <a:spcBef>
                <a:spcPts val="721"/>
              </a:spcBef>
              <a:spcAft>
                <a:spcPts val="0"/>
              </a:spcAft>
              <a:buSzPct val="60000"/>
              <a:buFont typeface="Arial"/>
              <a:buChar char="•"/>
            </a:pPr>
            <a:r>
              <a:rPr lang="en-US" sz="3100"/>
              <a:t>The name of a host or domain can be entered at the </a:t>
            </a:r>
            <a:r>
              <a:rPr b="1" lang="en-US" sz="3100"/>
              <a:t>nslookup</a:t>
            </a:r>
            <a:r>
              <a:rPr lang="en-US" sz="3100"/>
              <a:t> prompt.</a:t>
            </a:r>
            <a:endParaRPr/>
          </a:p>
          <a:p>
            <a:pPr indent="-281673" lvl="0" marL="320040" rtl="0" algn="l">
              <a:lnSpc>
                <a:spcPct val="85000"/>
              </a:lnSpc>
              <a:spcBef>
                <a:spcPts val="302"/>
              </a:spcBef>
              <a:spcAft>
                <a:spcPts val="0"/>
              </a:spcAft>
              <a:buSzPct val="60000"/>
              <a:buFont typeface="Arial"/>
              <a:buNone/>
            </a:pPr>
            <a:r>
              <a:t/>
            </a:r>
            <a:endParaRPr sz="1300"/>
          </a:p>
        </p:txBody>
      </p:sp>
      <p:pic>
        <p:nvPicPr>
          <p:cNvPr id="133" name="Google Shape;133;p5"/>
          <p:cNvPicPr preferRelativeResize="0"/>
          <p:nvPr/>
        </p:nvPicPr>
        <p:blipFill rotWithShape="1">
          <a:blip r:embed="rId3">
            <a:alphaModFix/>
          </a:blip>
          <a:srcRect b="0" l="0" r="0" t="0"/>
          <a:stretch/>
        </p:blipFill>
        <p:spPr>
          <a:xfrm>
            <a:off x="5257800" y="1493441"/>
            <a:ext cx="3502955" cy="4090235"/>
          </a:xfrm>
          <a:prstGeom prst="rect">
            <a:avLst/>
          </a:prstGeom>
          <a:noFill/>
          <a:ln>
            <a:noFill/>
          </a:ln>
        </p:spPr>
      </p:pic>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DNS Process Overview</a:t>
            </a:r>
            <a:endParaRPr/>
          </a:p>
        </p:txBody>
      </p:sp>
      <p:sp>
        <p:nvSpPr>
          <p:cNvPr id="139" name="Google Shape;139;p6"/>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40" name="Google Shape;140;p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1740"/>
              <a:buFont typeface="Twentieth Century"/>
              <a:buAutoNum type="arabicPeriod"/>
            </a:pPr>
            <a:r>
              <a:rPr lang="en-US"/>
              <a:t>User machine runs client side of the DNS application</a:t>
            </a:r>
            <a:endParaRPr/>
          </a:p>
          <a:p>
            <a:pPr indent="-514350" lvl="0" marL="514350" rtl="0" algn="l">
              <a:spcBef>
                <a:spcPts val="700"/>
              </a:spcBef>
              <a:spcAft>
                <a:spcPts val="0"/>
              </a:spcAft>
              <a:buSzPts val="1740"/>
              <a:buFont typeface="Twentieth Century"/>
              <a:buAutoNum type="arabicPeriod"/>
            </a:pPr>
            <a:r>
              <a:rPr lang="en-US"/>
              <a:t>The browser (or any other program that uses URL) extracts the hostname to the client side of the DNS application</a:t>
            </a:r>
            <a:endParaRPr/>
          </a:p>
          <a:p>
            <a:pPr indent="-514350" lvl="0" marL="514350" rtl="0" algn="l">
              <a:spcBef>
                <a:spcPts val="700"/>
              </a:spcBef>
              <a:spcAft>
                <a:spcPts val="0"/>
              </a:spcAft>
              <a:buSzPts val="1740"/>
              <a:buFont typeface="Twentieth Century"/>
              <a:buAutoNum type="arabicPeriod"/>
            </a:pPr>
            <a:r>
              <a:rPr lang="en-US"/>
              <a:t>The DNS client sends a query containing the hostname to a DNS application</a:t>
            </a:r>
            <a:endParaRPr/>
          </a:p>
          <a:p>
            <a:pPr indent="-514350" lvl="0" marL="514350" rtl="0" algn="l">
              <a:spcBef>
                <a:spcPts val="700"/>
              </a:spcBef>
              <a:spcAft>
                <a:spcPts val="0"/>
              </a:spcAft>
              <a:buSzPts val="1740"/>
              <a:buFont typeface="Twentieth Century"/>
              <a:buAutoNum type="arabicPeriod"/>
            </a:pPr>
            <a:r>
              <a:rPr lang="en-US"/>
              <a:t>The DNS client eventually receives a reply, which includes the ip address of the hostname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Name Space</a:t>
            </a:r>
            <a:endParaRPr/>
          </a:p>
        </p:txBody>
      </p:sp>
      <p:sp>
        <p:nvSpPr>
          <p:cNvPr id="146" name="Google Shape;146;p7"/>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47" name="Google Shape;147;p7"/>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Maps each address to a unique name</a:t>
            </a:r>
            <a:endParaRPr/>
          </a:p>
          <a:p>
            <a:pPr indent="-320040" lvl="0" marL="320040" rtl="0" algn="l">
              <a:spcBef>
                <a:spcPts val="700"/>
              </a:spcBef>
              <a:spcAft>
                <a:spcPts val="0"/>
              </a:spcAft>
              <a:buSzPts val="1740"/>
              <a:buChar char="◻"/>
            </a:pPr>
            <a:r>
              <a:rPr lang="en-US"/>
              <a:t>Organized in two ways</a:t>
            </a:r>
            <a:endParaRPr/>
          </a:p>
          <a:p>
            <a:pPr indent="-274320" lvl="1" marL="640080" rtl="0" algn="l">
              <a:spcBef>
                <a:spcPts val="550"/>
              </a:spcBef>
              <a:spcAft>
                <a:spcPts val="0"/>
              </a:spcAft>
              <a:buSzPts val="1820"/>
              <a:buChar char="🞑"/>
            </a:pPr>
            <a:r>
              <a:rPr lang="en-US"/>
              <a:t>Flat Name Space</a:t>
            </a:r>
            <a:endParaRPr/>
          </a:p>
          <a:p>
            <a:pPr indent="-274320" lvl="1" marL="640080" rtl="0" algn="l">
              <a:spcBef>
                <a:spcPts val="550"/>
              </a:spcBef>
              <a:spcAft>
                <a:spcPts val="0"/>
              </a:spcAft>
              <a:buSzPts val="1820"/>
              <a:buChar char="🞑"/>
            </a:pPr>
            <a:r>
              <a:rPr lang="en-US"/>
              <a:t>Hierarchical Name Space</a:t>
            </a:r>
            <a:endParaRPr/>
          </a:p>
          <a:p>
            <a:pPr indent="-158750" lvl="1" marL="640080" rtl="0" algn="l">
              <a:spcBef>
                <a:spcPts val="550"/>
              </a:spcBef>
              <a:spcAft>
                <a:spcPts val="0"/>
              </a:spcAft>
              <a:buSzPts val="182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Flat Name Space</a:t>
            </a:r>
            <a:endParaRPr/>
          </a:p>
        </p:txBody>
      </p:sp>
      <p:sp>
        <p:nvSpPr>
          <p:cNvPr id="153" name="Google Shape;153;p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54" name="Google Shape;154;p8"/>
          <p:cNvSpPr txBox="1"/>
          <p:nvPr>
            <p:ph idx="1" type="body"/>
          </p:nvPr>
        </p:nvSpPr>
        <p:spPr>
          <a:xfrm>
            <a:off x="612648" y="1600200"/>
            <a:ext cx="8153400" cy="19812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Names are interpreted as a single, whole label</a:t>
            </a:r>
            <a:endParaRPr/>
          </a:p>
          <a:p>
            <a:pPr indent="-320040" lvl="0" marL="320040" rtl="0" algn="l">
              <a:spcBef>
                <a:spcPts val="700"/>
              </a:spcBef>
              <a:spcAft>
                <a:spcPts val="0"/>
              </a:spcAft>
              <a:buSzPts val="1740"/>
              <a:buChar char="◻"/>
            </a:pPr>
            <a:r>
              <a:rPr lang="en-US"/>
              <a:t>No internal structure</a:t>
            </a:r>
            <a:endParaRPr/>
          </a:p>
          <a:p>
            <a:pPr indent="-320040" lvl="0" marL="320040" rtl="0" algn="l">
              <a:spcBef>
                <a:spcPts val="700"/>
              </a:spcBef>
              <a:spcAft>
                <a:spcPts val="0"/>
              </a:spcAft>
              <a:buSzPts val="1740"/>
              <a:buChar char="◻"/>
            </a:pPr>
            <a:r>
              <a:rPr lang="en-US"/>
              <a:t>No clear relationship between any two names</a:t>
            </a:r>
            <a:endParaRPr/>
          </a:p>
          <a:p>
            <a:pPr indent="-209550" lvl="0" marL="320040" rtl="0" algn="l">
              <a:spcBef>
                <a:spcPts val="700"/>
              </a:spcBef>
              <a:spcAft>
                <a:spcPts val="0"/>
              </a:spcAft>
              <a:buSzPts val="1740"/>
              <a:buNone/>
            </a:pPr>
            <a:r>
              <a:t/>
            </a:r>
            <a:endParaRPr/>
          </a:p>
          <a:p>
            <a:pPr indent="-209550" lvl="0" marL="320040" rtl="0" algn="l">
              <a:spcBef>
                <a:spcPts val="700"/>
              </a:spcBef>
              <a:spcAft>
                <a:spcPts val="0"/>
              </a:spcAft>
              <a:buSzPts val="1740"/>
              <a:buNone/>
            </a:pPr>
            <a:r>
              <a:t/>
            </a:r>
            <a:endParaRPr/>
          </a:p>
        </p:txBody>
      </p:sp>
      <p:pic>
        <p:nvPicPr>
          <p:cNvPr descr="C:\Program Files\Microsoft Office\MEDIA\CAGCAT10\j0205582.wmf" id="155" name="Google Shape;155;p8"/>
          <p:cNvPicPr preferRelativeResize="0"/>
          <p:nvPr/>
        </p:nvPicPr>
        <p:blipFill rotWithShape="1">
          <a:blip r:embed="rId3">
            <a:alphaModFix/>
          </a:blip>
          <a:srcRect b="0" l="0" r="0" t="0"/>
          <a:stretch/>
        </p:blipFill>
        <p:spPr>
          <a:xfrm>
            <a:off x="1447800" y="4343400"/>
            <a:ext cx="838200" cy="769177"/>
          </a:xfrm>
          <a:prstGeom prst="rect">
            <a:avLst/>
          </a:prstGeom>
          <a:noFill/>
          <a:ln>
            <a:noFill/>
          </a:ln>
        </p:spPr>
      </p:pic>
      <p:pic>
        <p:nvPicPr>
          <p:cNvPr descr="C:\Program Files\Microsoft Office\MEDIA\CAGCAT10\j0205582.wmf" id="156" name="Google Shape;156;p8"/>
          <p:cNvPicPr preferRelativeResize="0"/>
          <p:nvPr/>
        </p:nvPicPr>
        <p:blipFill rotWithShape="1">
          <a:blip r:embed="rId3">
            <a:alphaModFix/>
          </a:blip>
          <a:srcRect b="0" l="0" r="0" t="0"/>
          <a:stretch/>
        </p:blipFill>
        <p:spPr>
          <a:xfrm>
            <a:off x="2743200" y="4343400"/>
            <a:ext cx="838200" cy="769177"/>
          </a:xfrm>
          <a:prstGeom prst="rect">
            <a:avLst/>
          </a:prstGeom>
          <a:noFill/>
          <a:ln>
            <a:noFill/>
          </a:ln>
        </p:spPr>
      </p:pic>
      <p:pic>
        <p:nvPicPr>
          <p:cNvPr descr="C:\Program Files\Microsoft Office\MEDIA\CAGCAT10\j0205582.wmf" id="157" name="Google Shape;157;p8"/>
          <p:cNvPicPr preferRelativeResize="0"/>
          <p:nvPr/>
        </p:nvPicPr>
        <p:blipFill rotWithShape="1">
          <a:blip r:embed="rId3">
            <a:alphaModFix/>
          </a:blip>
          <a:srcRect b="0" l="0" r="0" t="0"/>
          <a:stretch/>
        </p:blipFill>
        <p:spPr>
          <a:xfrm>
            <a:off x="4038600" y="4343400"/>
            <a:ext cx="838200" cy="769177"/>
          </a:xfrm>
          <a:prstGeom prst="rect">
            <a:avLst/>
          </a:prstGeom>
          <a:noFill/>
          <a:ln>
            <a:noFill/>
          </a:ln>
        </p:spPr>
      </p:pic>
      <p:pic>
        <p:nvPicPr>
          <p:cNvPr descr="C:\Program Files\Microsoft Office\MEDIA\CAGCAT10\j0205582.wmf" id="158" name="Google Shape;158;p8"/>
          <p:cNvPicPr preferRelativeResize="0"/>
          <p:nvPr/>
        </p:nvPicPr>
        <p:blipFill rotWithShape="1">
          <a:blip r:embed="rId3">
            <a:alphaModFix/>
          </a:blip>
          <a:srcRect b="0" l="0" r="0" t="0"/>
          <a:stretch/>
        </p:blipFill>
        <p:spPr>
          <a:xfrm>
            <a:off x="5410200" y="4343400"/>
            <a:ext cx="838200" cy="769177"/>
          </a:xfrm>
          <a:prstGeom prst="rect">
            <a:avLst/>
          </a:prstGeom>
          <a:noFill/>
          <a:ln>
            <a:noFill/>
          </a:ln>
        </p:spPr>
      </p:pic>
      <p:cxnSp>
        <p:nvCxnSpPr>
          <p:cNvPr id="159" name="Google Shape;159;p8"/>
          <p:cNvCxnSpPr/>
          <p:nvPr/>
        </p:nvCxnSpPr>
        <p:spPr>
          <a:xfrm>
            <a:off x="1066800" y="3886200"/>
            <a:ext cx="5486400" cy="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60" name="Google Shape;160;p8"/>
          <p:cNvCxnSpPr>
            <a:stCxn id="155" idx="0"/>
          </p:cNvCxnSpPr>
          <p:nvPr/>
        </p:nvCxnSpPr>
        <p:spPr>
          <a:xfrm rot="10800000">
            <a:off x="1866900" y="3886200"/>
            <a:ext cx="0" cy="4572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61" name="Google Shape;161;p8"/>
          <p:cNvCxnSpPr>
            <a:stCxn id="156" idx="0"/>
          </p:cNvCxnSpPr>
          <p:nvPr/>
        </p:nvCxnSpPr>
        <p:spPr>
          <a:xfrm rot="10800000">
            <a:off x="3162300" y="3886200"/>
            <a:ext cx="0" cy="4572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62" name="Google Shape;162;p8"/>
          <p:cNvCxnSpPr/>
          <p:nvPr/>
        </p:nvCxnSpPr>
        <p:spPr>
          <a:xfrm rot="-5400000">
            <a:off x="4267200" y="4114800"/>
            <a:ext cx="457200" cy="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63" name="Google Shape;163;p8"/>
          <p:cNvCxnSpPr/>
          <p:nvPr/>
        </p:nvCxnSpPr>
        <p:spPr>
          <a:xfrm rot="-5400000">
            <a:off x="5562600" y="4114800"/>
            <a:ext cx="457200" cy="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sp>
        <p:nvSpPr>
          <p:cNvPr id="164" name="Google Shape;164;p8"/>
          <p:cNvSpPr txBox="1"/>
          <p:nvPr/>
        </p:nvSpPr>
        <p:spPr>
          <a:xfrm>
            <a:off x="1524000" y="5334000"/>
            <a:ext cx="9637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wentieth Century"/>
                <a:ea typeface="Twentieth Century"/>
                <a:cs typeface="Twentieth Century"/>
                <a:sym typeface="Twentieth Century"/>
              </a:rPr>
              <a:t>Explorer</a:t>
            </a:r>
            <a:endParaRPr sz="1800">
              <a:solidFill>
                <a:schemeClr val="dk1"/>
              </a:solidFill>
              <a:latin typeface="Twentieth Century"/>
              <a:ea typeface="Twentieth Century"/>
              <a:cs typeface="Twentieth Century"/>
              <a:sym typeface="Twentieth Century"/>
            </a:endParaRPr>
          </a:p>
        </p:txBody>
      </p:sp>
      <p:sp>
        <p:nvSpPr>
          <p:cNvPr id="165" name="Google Shape;165;p8"/>
          <p:cNvSpPr txBox="1"/>
          <p:nvPr/>
        </p:nvSpPr>
        <p:spPr>
          <a:xfrm>
            <a:off x="2819400" y="5334000"/>
            <a:ext cx="8753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Eternity</a:t>
            </a:r>
            <a:endParaRPr sz="1800">
              <a:solidFill>
                <a:schemeClr val="dk1"/>
              </a:solidFill>
              <a:latin typeface="Twentieth Century"/>
              <a:ea typeface="Twentieth Century"/>
              <a:cs typeface="Twentieth Century"/>
              <a:sym typeface="Twentieth Century"/>
            </a:endParaRPr>
          </a:p>
        </p:txBody>
      </p:sp>
      <p:sp>
        <p:nvSpPr>
          <p:cNvPr id="166" name="Google Shape;166;p8"/>
          <p:cNvSpPr txBox="1"/>
          <p:nvPr/>
        </p:nvSpPr>
        <p:spPr>
          <a:xfrm>
            <a:off x="3962400" y="5334000"/>
            <a:ext cx="104708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Standard</a:t>
            </a:r>
            <a:endParaRPr sz="1800">
              <a:solidFill>
                <a:schemeClr val="dk1"/>
              </a:solidFill>
              <a:latin typeface="Twentieth Century"/>
              <a:ea typeface="Twentieth Century"/>
              <a:cs typeface="Twentieth Century"/>
              <a:sym typeface="Twentieth Century"/>
            </a:endParaRPr>
          </a:p>
        </p:txBody>
      </p:sp>
      <p:sp>
        <p:nvSpPr>
          <p:cNvPr id="167" name="Google Shape;167;p8"/>
          <p:cNvSpPr txBox="1"/>
          <p:nvPr/>
        </p:nvSpPr>
        <p:spPr>
          <a:xfrm>
            <a:off x="5530690" y="5334000"/>
            <a:ext cx="8701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Neutral</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Hierarchical Name Space</a:t>
            </a:r>
            <a:endParaRPr/>
          </a:p>
        </p:txBody>
      </p:sp>
      <p:sp>
        <p:nvSpPr>
          <p:cNvPr id="173" name="Google Shape;173;p9"/>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74" name="Google Shape;174;p9"/>
          <p:cNvSpPr txBox="1"/>
          <p:nvPr>
            <p:ph idx="1" type="body"/>
          </p:nvPr>
        </p:nvSpPr>
        <p:spPr>
          <a:xfrm>
            <a:off x="612648" y="1600200"/>
            <a:ext cx="8153400" cy="1447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Logical grouping is possible based on the names</a:t>
            </a:r>
            <a:endParaRPr/>
          </a:p>
          <a:p>
            <a:pPr indent="-320040" lvl="0" marL="320040" rtl="0" algn="l">
              <a:spcBef>
                <a:spcPts val="700"/>
              </a:spcBef>
              <a:spcAft>
                <a:spcPts val="0"/>
              </a:spcAft>
              <a:buSzPts val="1740"/>
              <a:buNone/>
            </a:pPr>
            <a:r>
              <a:rPr lang="en-US"/>
              <a:t> </a:t>
            </a:r>
            <a:endParaRPr/>
          </a:p>
        </p:txBody>
      </p:sp>
      <p:pic>
        <p:nvPicPr>
          <p:cNvPr descr="C:\Program Files\Microsoft Office\MEDIA\CAGCAT10\j0205582.wmf" id="175" name="Google Shape;175;p9"/>
          <p:cNvPicPr preferRelativeResize="0"/>
          <p:nvPr/>
        </p:nvPicPr>
        <p:blipFill rotWithShape="1">
          <a:blip r:embed="rId3">
            <a:alphaModFix/>
          </a:blip>
          <a:srcRect b="0" l="0" r="0" t="0"/>
          <a:stretch/>
        </p:blipFill>
        <p:spPr>
          <a:xfrm>
            <a:off x="2133600" y="4343400"/>
            <a:ext cx="838200" cy="769177"/>
          </a:xfrm>
          <a:prstGeom prst="rect">
            <a:avLst/>
          </a:prstGeom>
          <a:noFill/>
          <a:ln>
            <a:noFill/>
          </a:ln>
        </p:spPr>
      </p:pic>
      <p:pic>
        <p:nvPicPr>
          <p:cNvPr descr="C:\Program Files\Microsoft Office\MEDIA\CAGCAT10\j0205582.wmf" id="176" name="Google Shape;176;p9"/>
          <p:cNvPicPr preferRelativeResize="0"/>
          <p:nvPr/>
        </p:nvPicPr>
        <p:blipFill rotWithShape="1">
          <a:blip r:embed="rId3">
            <a:alphaModFix/>
          </a:blip>
          <a:srcRect b="0" l="0" r="0" t="0"/>
          <a:stretch/>
        </p:blipFill>
        <p:spPr>
          <a:xfrm>
            <a:off x="3429000" y="4343400"/>
            <a:ext cx="838200" cy="769177"/>
          </a:xfrm>
          <a:prstGeom prst="rect">
            <a:avLst/>
          </a:prstGeom>
          <a:noFill/>
          <a:ln>
            <a:noFill/>
          </a:ln>
        </p:spPr>
      </p:pic>
      <p:pic>
        <p:nvPicPr>
          <p:cNvPr descr="C:\Program Files\Microsoft Office\MEDIA\CAGCAT10\j0205582.wmf" id="177" name="Google Shape;177;p9"/>
          <p:cNvPicPr preferRelativeResize="0"/>
          <p:nvPr/>
        </p:nvPicPr>
        <p:blipFill rotWithShape="1">
          <a:blip r:embed="rId3">
            <a:alphaModFix/>
          </a:blip>
          <a:srcRect b="0" l="0" r="0" t="0"/>
          <a:stretch/>
        </p:blipFill>
        <p:spPr>
          <a:xfrm>
            <a:off x="4724400" y="4343400"/>
            <a:ext cx="838200" cy="769177"/>
          </a:xfrm>
          <a:prstGeom prst="rect">
            <a:avLst/>
          </a:prstGeom>
          <a:noFill/>
          <a:ln>
            <a:noFill/>
          </a:ln>
        </p:spPr>
      </p:pic>
      <p:pic>
        <p:nvPicPr>
          <p:cNvPr descr="C:\Program Files\Microsoft Office\MEDIA\CAGCAT10\j0205582.wmf" id="178" name="Google Shape;178;p9"/>
          <p:cNvPicPr preferRelativeResize="0"/>
          <p:nvPr/>
        </p:nvPicPr>
        <p:blipFill rotWithShape="1">
          <a:blip r:embed="rId3">
            <a:alphaModFix/>
          </a:blip>
          <a:srcRect b="0" l="0" r="0" t="0"/>
          <a:stretch/>
        </p:blipFill>
        <p:spPr>
          <a:xfrm>
            <a:off x="6096000" y="4343400"/>
            <a:ext cx="838200" cy="769177"/>
          </a:xfrm>
          <a:prstGeom prst="rect">
            <a:avLst/>
          </a:prstGeom>
          <a:noFill/>
          <a:ln>
            <a:noFill/>
          </a:ln>
        </p:spPr>
      </p:pic>
      <p:cxnSp>
        <p:nvCxnSpPr>
          <p:cNvPr id="179" name="Google Shape;179;p9"/>
          <p:cNvCxnSpPr/>
          <p:nvPr/>
        </p:nvCxnSpPr>
        <p:spPr>
          <a:xfrm>
            <a:off x="1752600" y="2743200"/>
            <a:ext cx="5486400" cy="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80" name="Google Shape;180;p9"/>
          <p:cNvCxnSpPr>
            <a:stCxn id="175" idx="0"/>
          </p:cNvCxnSpPr>
          <p:nvPr/>
        </p:nvCxnSpPr>
        <p:spPr>
          <a:xfrm rot="10800000">
            <a:off x="2552700" y="3886200"/>
            <a:ext cx="0" cy="4572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81" name="Google Shape;181;p9"/>
          <p:cNvCxnSpPr>
            <a:stCxn id="176" idx="0"/>
          </p:cNvCxnSpPr>
          <p:nvPr/>
        </p:nvCxnSpPr>
        <p:spPr>
          <a:xfrm rot="10800000">
            <a:off x="3848100" y="3886200"/>
            <a:ext cx="0" cy="4572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82" name="Google Shape;182;p9"/>
          <p:cNvCxnSpPr/>
          <p:nvPr/>
        </p:nvCxnSpPr>
        <p:spPr>
          <a:xfrm rot="-5400000">
            <a:off x="4953000" y="4114800"/>
            <a:ext cx="457200" cy="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83" name="Google Shape;183;p9"/>
          <p:cNvCxnSpPr/>
          <p:nvPr/>
        </p:nvCxnSpPr>
        <p:spPr>
          <a:xfrm rot="-5400000">
            <a:off x="6248400" y="4114800"/>
            <a:ext cx="457200" cy="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sp>
        <p:nvSpPr>
          <p:cNvPr id="184" name="Google Shape;184;p9"/>
          <p:cNvSpPr txBox="1"/>
          <p:nvPr/>
        </p:nvSpPr>
        <p:spPr>
          <a:xfrm>
            <a:off x="2209800" y="5334000"/>
            <a:ext cx="6296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cse.x</a:t>
            </a:r>
            <a:endParaRPr sz="1800">
              <a:solidFill>
                <a:schemeClr val="dk1"/>
              </a:solidFill>
              <a:latin typeface="Twentieth Century"/>
              <a:ea typeface="Twentieth Century"/>
              <a:cs typeface="Twentieth Century"/>
              <a:sym typeface="Twentieth Century"/>
            </a:endParaRPr>
          </a:p>
        </p:txBody>
      </p:sp>
      <p:sp>
        <p:nvSpPr>
          <p:cNvPr id="185" name="Google Shape;185;p9"/>
          <p:cNvSpPr txBox="1"/>
          <p:nvPr/>
        </p:nvSpPr>
        <p:spPr>
          <a:xfrm>
            <a:off x="3505200" y="5334000"/>
            <a:ext cx="6296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cse.y</a:t>
            </a:r>
            <a:endParaRPr sz="1800">
              <a:solidFill>
                <a:schemeClr val="dk1"/>
              </a:solidFill>
              <a:latin typeface="Twentieth Century"/>
              <a:ea typeface="Twentieth Century"/>
              <a:cs typeface="Twentieth Century"/>
              <a:sym typeface="Twentieth Century"/>
            </a:endParaRPr>
          </a:p>
        </p:txBody>
      </p:sp>
      <p:sp>
        <p:nvSpPr>
          <p:cNvPr id="186" name="Google Shape;186;p9"/>
          <p:cNvSpPr txBox="1"/>
          <p:nvPr/>
        </p:nvSpPr>
        <p:spPr>
          <a:xfrm>
            <a:off x="4867217" y="5334000"/>
            <a:ext cx="6953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eee.x</a:t>
            </a:r>
            <a:endParaRPr sz="1800">
              <a:solidFill>
                <a:schemeClr val="dk1"/>
              </a:solidFill>
              <a:latin typeface="Twentieth Century"/>
              <a:ea typeface="Twentieth Century"/>
              <a:cs typeface="Twentieth Century"/>
              <a:sym typeface="Twentieth Century"/>
            </a:endParaRPr>
          </a:p>
        </p:txBody>
      </p:sp>
      <p:sp>
        <p:nvSpPr>
          <p:cNvPr id="187" name="Google Shape;187;p9"/>
          <p:cNvSpPr txBox="1"/>
          <p:nvPr/>
        </p:nvSpPr>
        <p:spPr>
          <a:xfrm>
            <a:off x="6216490" y="5334000"/>
            <a:ext cx="6953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eee.y</a:t>
            </a:r>
            <a:endParaRPr sz="1800">
              <a:solidFill>
                <a:schemeClr val="dk1"/>
              </a:solidFill>
              <a:latin typeface="Twentieth Century"/>
              <a:ea typeface="Twentieth Century"/>
              <a:cs typeface="Twentieth Century"/>
              <a:sym typeface="Twentieth Century"/>
            </a:endParaRPr>
          </a:p>
        </p:txBody>
      </p:sp>
      <p:cxnSp>
        <p:nvCxnSpPr>
          <p:cNvPr id="188" name="Google Shape;188;p9"/>
          <p:cNvCxnSpPr/>
          <p:nvPr/>
        </p:nvCxnSpPr>
        <p:spPr>
          <a:xfrm>
            <a:off x="2590800" y="3886200"/>
            <a:ext cx="1295400" cy="1588"/>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89" name="Google Shape;189;p9"/>
          <p:cNvCxnSpPr/>
          <p:nvPr/>
        </p:nvCxnSpPr>
        <p:spPr>
          <a:xfrm rot="-5400000">
            <a:off x="2705100" y="3314700"/>
            <a:ext cx="1143000" cy="1588"/>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90" name="Google Shape;190;p9"/>
          <p:cNvCxnSpPr/>
          <p:nvPr/>
        </p:nvCxnSpPr>
        <p:spPr>
          <a:xfrm>
            <a:off x="5181600" y="3886200"/>
            <a:ext cx="1295400" cy="1588"/>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191" name="Google Shape;191;p9"/>
          <p:cNvCxnSpPr/>
          <p:nvPr/>
        </p:nvCxnSpPr>
        <p:spPr>
          <a:xfrm rot="-5400000">
            <a:off x="5218906" y="3314700"/>
            <a:ext cx="1143794" cy="794"/>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0"/>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Domain Name Space</a:t>
            </a:r>
            <a:endParaRPr/>
          </a:p>
        </p:txBody>
      </p:sp>
      <p:sp>
        <p:nvSpPr>
          <p:cNvPr id="197" name="Google Shape;197;p1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98" name="Google Shape;198;p10"/>
          <p:cNvSpPr txBox="1"/>
          <p:nvPr>
            <p:ph idx="1" type="body"/>
          </p:nvPr>
        </p:nvSpPr>
        <p:spPr>
          <a:xfrm>
            <a:off x="612648" y="1600200"/>
            <a:ext cx="8153400" cy="1447800"/>
          </a:xfrm>
          <a:prstGeom prst="rect">
            <a:avLst/>
          </a:prstGeom>
          <a:noFill/>
          <a:ln>
            <a:noFill/>
          </a:ln>
        </p:spPr>
        <p:txBody>
          <a:bodyPr anchorCtr="0" anchor="t" bIns="45700" lIns="91425" spcFirstLastPara="1" rIns="91425" wrap="square" tIns="45700">
            <a:normAutofit lnSpcReduction="10000"/>
          </a:bodyPr>
          <a:lstStyle/>
          <a:p>
            <a:pPr indent="-320040" lvl="0" marL="320040" rtl="0" algn="l">
              <a:spcBef>
                <a:spcPts val="0"/>
              </a:spcBef>
              <a:spcAft>
                <a:spcPts val="0"/>
              </a:spcAft>
              <a:buSzPts val="1740"/>
              <a:buChar char="◻"/>
            </a:pPr>
            <a:r>
              <a:rPr lang="en-US"/>
              <a:t>Names are defined in an inverted-tree structure with the root at the top</a:t>
            </a:r>
            <a:endParaRPr/>
          </a:p>
          <a:p>
            <a:pPr indent="-320040" lvl="0" marL="320040" rtl="0" algn="l">
              <a:spcBef>
                <a:spcPts val="700"/>
              </a:spcBef>
              <a:spcAft>
                <a:spcPts val="0"/>
              </a:spcAft>
              <a:buSzPts val="1740"/>
              <a:buChar char="◻"/>
            </a:pPr>
            <a:r>
              <a:rPr lang="en-US"/>
              <a:t>Tree can have at most 128 levels</a:t>
            </a:r>
            <a:endParaRPr/>
          </a:p>
        </p:txBody>
      </p:sp>
      <p:sp>
        <p:nvSpPr>
          <p:cNvPr id="199" name="Google Shape;199;p10"/>
          <p:cNvSpPr/>
          <p:nvPr/>
        </p:nvSpPr>
        <p:spPr>
          <a:xfrm>
            <a:off x="4191000" y="32766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0" name="Google Shape;200;p10"/>
          <p:cNvSpPr/>
          <p:nvPr/>
        </p:nvSpPr>
        <p:spPr>
          <a:xfrm>
            <a:off x="5105400" y="40386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1" name="Google Shape;201;p10"/>
          <p:cNvSpPr/>
          <p:nvPr/>
        </p:nvSpPr>
        <p:spPr>
          <a:xfrm>
            <a:off x="7924800" y="4114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2" name="Google Shape;202;p10"/>
          <p:cNvSpPr/>
          <p:nvPr/>
        </p:nvSpPr>
        <p:spPr>
          <a:xfrm>
            <a:off x="6248400" y="40386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3" name="Google Shape;203;p10"/>
          <p:cNvSpPr/>
          <p:nvPr/>
        </p:nvSpPr>
        <p:spPr>
          <a:xfrm>
            <a:off x="1295400" y="4114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4" name="Google Shape;204;p10"/>
          <p:cNvSpPr/>
          <p:nvPr/>
        </p:nvSpPr>
        <p:spPr>
          <a:xfrm>
            <a:off x="1981200" y="4191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5" name="Google Shape;205;p10"/>
          <p:cNvSpPr/>
          <p:nvPr/>
        </p:nvSpPr>
        <p:spPr>
          <a:xfrm>
            <a:off x="8382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6" name="Google Shape;206;p10"/>
          <p:cNvSpPr/>
          <p:nvPr/>
        </p:nvSpPr>
        <p:spPr>
          <a:xfrm>
            <a:off x="3810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7" name="Google Shape;207;p10"/>
          <p:cNvSpPr/>
          <p:nvPr/>
        </p:nvSpPr>
        <p:spPr>
          <a:xfrm>
            <a:off x="1676400" y="4953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8" name="Google Shape;208;p10"/>
          <p:cNvSpPr/>
          <p:nvPr/>
        </p:nvSpPr>
        <p:spPr>
          <a:xfrm>
            <a:off x="25908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09" name="Google Shape;209;p10"/>
          <p:cNvSpPr/>
          <p:nvPr/>
        </p:nvSpPr>
        <p:spPr>
          <a:xfrm>
            <a:off x="12954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0" name="Google Shape;210;p10"/>
          <p:cNvSpPr/>
          <p:nvPr/>
        </p:nvSpPr>
        <p:spPr>
          <a:xfrm>
            <a:off x="19812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1" name="Google Shape;211;p10"/>
          <p:cNvSpPr/>
          <p:nvPr/>
        </p:nvSpPr>
        <p:spPr>
          <a:xfrm>
            <a:off x="44196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2" name="Google Shape;212;p10"/>
          <p:cNvSpPr/>
          <p:nvPr/>
        </p:nvSpPr>
        <p:spPr>
          <a:xfrm>
            <a:off x="50292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3" name="Google Shape;213;p10"/>
          <p:cNvSpPr/>
          <p:nvPr/>
        </p:nvSpPr>
        <p:spPr>
          <a:xfrm>
            <a:off x="56388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4" name="Google Shape;214;p10"/>
          <p:cNvSpPr/>
          <p:nvPr/>
        </p:nvSpPr>
        <p:spPr>
          <a:xfrm>
            <a:off x="4800600" y="55626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5" name="Google Shape;215;p10"/>
          <p:cNvSpPr/>
          <p:nvPr/>
        </p:nvSpPr>
        <p:spPr>
          <a:xfrm>
            <a:off x="53340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6" name="Google Shape;216;p10"/>
          <p:cNvSpPr/>
          <p:nvPr/>
        </p:nvSpPr>
        <p:spPr>
          <a:xfrm>
            <a:off x="59436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7" name="Google Shape;217;p10"/>
          <p:cNvSpPr/>
          <p:nvPr/>
        </p:nvSpPr>
        <p:spPr>
          <a:xfrm>
            <a:off x="65532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8" name="Google Shape;218;p10"/>
          <p:cNvSpPr/>
          <p:nvPr/>
        </p:nvSpPr>
        <p:spPr>
          <a:xfrm>
            <a:off x="75438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19" name="Google Shape;219;p10"/>
          <p:cNvSpPr/>
          <p:nvPr/>
        </p:nvSpPr>
        <p:spPr>
          <a:xfrm>
            <a:off x="83058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20" name="Google Shape;220;p10"/>
          <p:cNvSpPr/>
          <p:nvPr/>
        </p:nvSpPr>
        <p:spPr>
          <a:xfrm>
            <a:off x="8153400" y="55626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21" name="Google Shape;221;p10"/>
          <p:cNvSpPr/>
          <p:nvPr/>
        </p:nvSpPr>
        <p:spPr>
          <a:xfrm>
            <a:off x="88392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22" name="Google Shape;222;p10"/>
          <p:cNvCxnSpPr>
            <a:stCxn id="199" idx="3"/>
            <a:endCxn id="203" idx="7"/>
          </p:cNvCxnSpPr>
          <p:nvPr/>
        </p:nvCxnSpPr>
        <p:spPr>
          <a:xfrm flipH="1">
            <a:off x="1490578" y="3536763"/>
            <a:ext cx="27339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23" name="Google Shape;223;p10"/>
          <p:cNvCxnSpPr>
            <a:stCxn id="199" idx="5"/>
            <a:endCxn id="200" idx="0"/>
          </p:cNvCxnSpPr>
          <p:nvPr/>
        </p:nvCxnSpPr>
        <p:spPr>
          <a:xfrm>
            <a:off x="4386122" y="3536763"/>
            <a:ext cx="8337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24" name="Google Shape;224;p10"/>
          <p:cNvCxnSpPr>
            <a:stCxn id="199" idx="3"/>
            <a:endCxn id="204" idx="7"/>
          </p:cNvCxnSpPr>
          <p:nvPr/>
        </p:nvCxnSpPr>
        <p:spPr>
          <a:xfrm flipH="1">
            <a:off x="2176378" y="3536763"/>
            <a:ext cx="2048100" cy="699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25" name="Google Shape;225;p10"/>
          <p:cNvCxnSpPr>
            <a:stCxn id="199" idx="6"/>
            <a:endCxn id="202" idx="1"/>
          </p:cNvCxnSpPr>
          <p:nvPr/>
        </p:nvCxnSpPr>
        <p:spPr>
          <a:xfrm>
            <a:off x="4419600" y="3429000"/>
            <a:ext cx="1862400" cy="6543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26" name="Google Shape;226;p10"/>
          <p:cNvCxnSpPr>
            <a:stCxn id="199" idx="6"/>
            <a:endCxn id="201" idx="7"/>
          </p:cNvCxnSpPr>
          <p:nvPr/>
        </p:nvCxnSpPr>
        <p:spPr>
          <a:xfrm>
            <a:off x="4419600" y="3429000"/>
            <a:ext cx="3700200" cy="7305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27" name="Google Shape;227;p10"/>
          <p:cNvCxnSpPr>
            <a:stCxn id="204" idx="4"/>
            <a:endCxn id="208" idx="1"/>
          </p:cNvCxnSpPr>
          <p:nvPr/>
        </p:nvCxnSpPr>
        <p:spPr>
          <a:xfrm>
            <a:off x="2095500" y="4495800"/>
            <a:ext cx="5289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28" name="Google Shape;228;p10"/>
          <p:cNvCxnSpPr>
            <a:stCxn id="204" idx="4"/>
            <a:endCxn id="207" idx="1"/>
          </p:cNvCxnSpPr>
          <p:nvPr/>
        </p:nvCxnSpPr>
        <p:spPr>
          <a:xfrm flipH="1">
            <a:off x="1710000" y="4495800"/>
            <a:ext cx="385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29" name="Google Shape;229;p10"/>
          <p:cNvCxnSpPr>
            <a:stCxn id="207" idx="3"/>
            <a:endCxn id="209" idx="7"/>
          </p:cNvCxnSpPr>
          <p:nvPr/>
        </p:nvCxnSpPr>
        <p:spPr>
          <a:xfrm flipH="1">
            <a:off x="1490578" y="5213163"/>
            <a:ext cx="219300" cy="470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0" name="Google Shape;230;p10"/>
          <p:cNvCxnSpPr>
            <a:stCxn id="207" idx="6"/>
            <a:endCxn id="210" idx="0"/>
          </p:cNvCxnSpPr>
          <p:nvPr/>
        </p:nvCxnSpPr>
        <p:spPr>
          <a:xfrm>
            <a:off x="1905000" y="5105400"/>
            <a:ext cx="1905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1" name="Google Shape;231;p10"/>
          <p:cNvCxnSpPr>
            <a:stCxn id="200" idx="3"/>
            <a:endCxn id="211" idx="7"/>
          </p:cNvCxnSpPr>
          <p:nvPr/>
        </p:nvCxnSpPr>
        <p:spPr>
          <a:xfrm flipH="1">
            <a:off x="4614778" y="4298763"/>
            <a:ext cx="5241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2" name="Google Shape;232;p10"/>
          <p:cNvCxnSpPr>
            <a:stCxn id="200" idx="4"/>
            <a:endCxn id="212" idx="0"/>
          </p:cNvCxnSpPr>
          <p:nvPr/>
        </p:nvCxnSpPr>
        <p:spPr>
          <a:xfrm flipH="1">
            <a:off x="5143500" y="4343400"/>
            <a:ext cx="762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3" name="Google Shape;233;p10"/>
          <p:cNvCxnSpPr>
            <a:stCxn id="200" idx="5"/>
            <a:endCxn id="213" idx="1"/>
          </p:cNvCxnSpPr>
          <p:nvPr/>
        </p:nvCxnSpPr>
        <p:spPr>
          <a:xfrm>
            <a:off x="5300522" y="4298763"/>
            <a:ext cx="3717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4" name="Google Shape;234;p10"/>
          <p:cNvCxnSpPr>
            <a:stCxn id="212" idx="4"/>
            <a:endCxn id="214" idx="7"/>
          </p:cNvCxnSpPr>
          <p:nvPr/>
        </p:nvCxnSpPr>
        <p:spPr>
          <a:xfrm flipH="1">
            <a:off x="4995600" y="5181600"/>
            <a:ext cx="1479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5" name="Google Shape;235;p10"/>
          <p:cNvCxnSpPr>
            <a:stCxn id="212" idx="5"/>
            <a:endCxn id="215" idx="7"/>
          </p:cNvCxnSpPr>
          <p:nvPr/>
        </p:nvCxnSpPr>
        <p:spPr>
          <a:xfrm>
            <a:off x="5224322" y="5136963"/>
            <a:ext cx="304800" cy="546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6" name="Google Shape;236;p10"/>
          <p:cNvCxnSpPr>
            <a:stCxn id="213" idx="5"/>
            <a:endCxn id="216" idx="0"/>
          </p:cNvCxnSpPr>
          <p:nvPr/>
        </p:nvCxnSpPr>
        <p:spPr>
          <a:xfrm>
            <a:off x="5833922" y="5136963"/>
            <a:ext cx="2241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7" name="Google Shape;237;p10"/>
          <p:cNvCxnSpPr>
            <a:stCxn id="202" idx="5"/>
            <a:endCxn id="217" idx="0"/>
          </p:cNvCxnSpPr>
          <p:nvPr/>
        </p:nvCxnSpPr>
        <p:spPr>
          <a:xfrm>
            <a:off x="6443522" y="4298763"/>
            <a:ext cx="224100" cy="5781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8" name="Google Shape;238;p10"/>
          <p:cNvCxnSpPr>
            <a:stCxn id="201" idx="3"/>
            <a:endCxn id="218" idx="7"/>
          </p:cNvCxnSpPr>
          <p:nvPr/>
        </p:nvCxnSpPr>
        <p:spPr>
          <a:xfrm flipH="1">
            <a:off x="7738978" y="4374963"/>
            <a:ext cx="219300" cy="546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39" name="Google Shape;239;p10"/>
          <p:cNvCxnSpPr>
            <a:stCxn id="201" idx="5"/>
            <a:endCxn id="219" idx="0"/>
          </p:cNvCxnSpPr>
          <p:nvPr/>
        </p:nvCxnSpPr>
        <p:spPr>
          <a:xfrm>
            <a:off x="8119922" y="4374963"/>
            <a:ext cx="3003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40" name="Google Shape;240;p10"/>
          <p:cNvCxnSpPr>
            <a:stCxn id="219" idx="4"/>
            <a:endCxn id="220" idx="7"/>
          </p:cNvCxnSpPr>
          <p:nvPr/>
        </p:nvCxnSpPr>
        <p:spPr>
          <a:xfrm flipH="1">
            <a:off x="8348400" y="5181600"/>
            <a:ext cx="717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41" name="Google Shape;241;p10"/>
          <p:cNvCxnSpPr>
            <a:stCxn id="219" idx="5"/>
            <a:endCxn id="221" idx="7"/>
          </p:cNvCxnSpPr>
          <p:nvPr/>
        </p:nvCxnSpPr>
        <p:spPr>
          <a:xfrm>
            <a:off x="8500922" y="5136963"/>
            <a:ext cx="533400" cy="546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42" name="Google Shape;242;p10"/>
          <p:cNvCxnSpPr>
            <a:stCxn id="203" idx="4"/>
            <a:endCxn id="205" idx="7"/>
          </p:cNvCxnSpPr>
          <p:nvPr/>
        </p:nvCxnSpPr>
        <p:spPr>
          <a:xfrm flipH="1">
            <a:off x="1033200" y="4419600"/>
            <a:ext cx="376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243" name="Google Shape;243;p10"/>
          <p:cNvCxnSpPr>
            <a:stCxn id="205" idx="4"/>
            <a:endCxn id="206" idx="7"/>
          </p:cNvCxnSpPr>
          <p:nvPr/>
        </p:nvCxnSpPr>
        <p:spPr>
          <a:xfrm flipH="1">
            <a:off x="576000" y="5181600"/>
            <a:ext cx="376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244" name="Google Shape;244;p10"/>
          <p:cNvSpPr txBox="1"/>
          <p:nvPr/>
        </p:nvSpPr>
        <p:spPr>
          <a:xfrm>
            <a:off x="685800" y="4126468"/>
            <a:ext cx="6415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arpa</a:t>
            </a:r>
            <a:endParaRPr sz="1800">
              <a:solidFill>
                <a:schemeClr val="dk1"/>
              </a:solidFill>
              <a:latin typeface="Twentieth Century"/>
              <a:ea typeface="Twentieth Century"/>
              <a:cs typeface="Twentieth Century"/>
              <a:sym typeface="Twentieth Century"/>
            </a:endParaRPr>
          </a:p>
        </p:txBody>
      </p:sp>
      <p:sp>
        <p:nvSpPr>
          <p:cNvPr id="245" name="Google Shape;245;p10"/>
          <p:cNvSpPr txBox="1"/>
          <p:nvPr/>
        </p:nvSpPr>
        <p:spPr>
          <a:xfrm>
            <a:off x="1524000" y="4114800"/>
            <a:ext cx="5421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com</a:t>
            </a:r>
            <a:endParaRPr sz="1800">
              <a:solidFill>
                <a:schemeClr val="dk1"/>
              </a:solidFill>
              <a:latin typeface="Twentieth Century"/>
              <a:ea typeface="Twentieth Century"/>
              <a:cs typeface="Twentieth Century"/>
              <a:sym typeface="Twentieth Century"/>
            </a:endParaRPr>
          </a:p>
        </p:txBody>
      </p:sp>
      <p:sp>
        <p:nvSpPr>
          <p:cNvPr id="246" name="Google Shape;246;p10"/>
          <p:cNvSpPr txBox="1"/>
          <p:nvPr/>
        </p:nvSpPr>
        <p:spPr>
          <a:xfrm>
            <a:off x="4563264" y="4038600"/>
            <a:ext cx="5036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org</a:t>
            </a:r>
            <a:endParaRPr sz="1800">
              <a:solidFill>
                <a:schemeClr val="dk1"/>
              </a:solidFill>
              <a:latin typeface="Twentieth Century"/>
              <a:ea typeface="Twentieth Century"/>
              <a:cs typeface="Twentieth Century"/>
              <a:sym typeface="Twentieth Century"/>
            </a:endParaRPr>
          </a:p>
        </p:txBody>
      </p:sp>
      <p:sp>
        <p:nvSpPr>
          <p:cNvPr id="247" name="Google Shape;247;p10"/>
          <p:cNvSpPr txBox="1"/>
          <p:nvPr/>
        </p:nvSpPr>
        <p:spPr>
          <a:xfrm>
            <a:off x="5744736" y="4050268"/>
            <a:ext cx="4379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ad</a:t>
            </a:r>
            <a:endParaRPr sz="1800">
              <a:solidFill>
                <a:schemeClr val="dk1"/>
              </a:solidFill>
              <a:latin typeface="Twentieth Century"/>
              <a:ea typeface="Twentieth Century"/>
              <a:cs typeface="Twentieth Century"/>
              <a:sym typeface="Twentieth Century"/>
            </a:endParaRPr>
          </a:p>
        </p:txBody>
      </p:sp>
      <p:sp>
        <p:nvSpPr>
          <p:cNvPr id="248" name="Google Shape;248;p10"/>
          <p:cNvSpPr txBox="1"/>
          <p:nvPr/>
        </p:nvSpPr>
        <p:spPr>
          <a:xfrm>
            <a:off x="7485256" y="4126468"/>
            <a:ext cx="4395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zw</a:t>
            </a:r>
            <a:endParaRPr sz="1800">
              <a:solidFill>
                <a:schemeClr val="dk1"/>
              </a:solidFill>
              <a:latin typeface="Twentieth Century"/>
              <a:ea typeface="Twentieth Century"/>
              <a:cs typeface="Twentieth Century"/>
              <a:sym typeface="Twentieth Century"/>
            </a:endParaRPr>
          </a:p>
        </p:txBody>
      </p:sp>
      <p:sp>
        <p:nvSpPr>
          <p:cNvPr id="249" name="Google Shape;249;p10"/>
          <p:cNvSpPr/>
          <p:nvPr/>
        </p:nvSpPr>
        <p:spPr>
          <a:xfrm>
            <a:off x="39624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0" name="Google Shape;250;p10"/>
          <p:cNvSpPr/>
          <p:nvPr/>
        </p:nvSpPr>
        <p:spPr>
          <a:xfrm>
            <a:off x="28194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1" name="Google Shape;251;p10"/>
          <p:cNvSpPr/>
          <p:nvPr/>
        </p:nvSpPr>
        <p:spPr>
          <a:xfrm>
            <a:off x="32004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2" name="Google Shape;252;p10"/>
          <p:cNvSpPr/>
          <p:nvPr/>
        </p:nvSpPr>
        <p:spPr>
          <a:xfrm>
            <a:off x="35814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3" name="Google Shape;253;p10"/>
          <p:cNvSpPr/>
          <p:nvPr/>
        </p:nvSpPr>
        <p:spPr>
          <a:xfrm>
            <a:off x="73914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4" name="Google Shape;254;p10"/>
          <p:cNvSpPr/>
          <p:nvPr/>
        </p:nvSpPr>
        <p:spPr>
          <a:xfrm>
            <a:off x="66294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5" name="Google Shape;255;p10"/>
          <p:cNvSpPr/>
          <p:nvPr/>
        </p:nvSpPr>
        <p:spPr>
          <a:xfrm>
            <a:off x="70104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1"/>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Labels &amp; Domain Name</a:t>
            </a:r>
            <a:endParaRPr/>
          </a:p>
        </p:txBody>
      </p:sp>
      <p:sp>
        <p:nvSpPr>
          <p:cNvPr id="261" name="Google Shape;261;p1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262" name="Google Shape;262;p11"/>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lnSpcReduction="10000"/>
          </a:bodyPr>
          <a:lstStyle/>
          <a:p>
            <a:pPr indent="-320040" lvl="0" marL="320040" rtl="0" algn="l">
              <a:spcBef>
                <a:spcPts val="0"/>
              </a:spcBef>
              <a:spcAft>
                <a:spcPts val="0"/>
              </a:spcAft>
              <a:buSzPts val="1740"/>
              <a:buChar char="◻"/>
            </a:pPr>
            <a:r>
              <a:rPr lang="en-US"/>
              <a:t>Label</a:t>
            </a:r>
            <a:endParaRPr/>
          </a:p>
          <a:p>
            <a:pPr indent="-274320" lvl="1" marL="640080" rtl="0" algn="l">
              <a:spcBef>
                <a:spcPts val="550"/>
              </a:spcBef>
              <a:spcAft>
                <a:spcPts val="0"/>
              </a:spcAft>
              <a:buSzPts val="1820"/>
              <a:buChar char="🞑"/>
            </a:pPr>
            <a:r>
              <a:rPr lang="en-US"/>
              <a:t>Each node has a label of maximum 63 characters</a:t>
            </a:r>
            <a:endParaRPr/>
          </a:p>
          <a:p>
            <a:pPr indent="-274320" lvl="1" marL="640080" rtl="0" algn="l">
              <a:spcBef>
                <a:spcPts val="550"/>
              </a:spcBef>
              <a:spcAft>
                <a:spcPts val="0"/>
              </a:spcAft>
              <a:buSzPts val="1820"/>
              <a:buChar char="🞑"/>
            </a:pPr>
            <a:r>
              <a:rPr lang="en-US"/>
              <a:t>Root is labeled with null string</a:t>
            </a:r>
            <a:endParaRPr/>
          </a:p>
          <a:p>
            <a:pPr indent="-274320" lvl="1" marL="640080" rtl="0" algn="l">
              <a:spcBef>
                <a:spcPts val="550"/>
              </a:spcBef>
              <a:spcAft>
                <a:spcPts val="0"/>
              </a:spcAft>
              <a:buSzPts val="1820"/>
              <a:buChar char="🞑"/>
            </a:pPr>
            <a:r>
              <a:rPr lang="en-US"/>
              <a:t>Children of a node must have different labels for uniqueness</a:t>
            </a:r>
            <a:endParaRPr/>
          </a:p>
          <a:p>
            <a:pPr indent="-320040" lvl="0" marL="320040" rtl="0" algn="l">
              <a:spcBef>
                <a:spcPts val="700"/>
              </a:spcBef>
              <a:spcAft>
                <a:spcPts val="0"/>
              </a:spcAft>
              <a:buSzPts val="1740"/>
              <a:buChar char="◻"/>
            </a:pPr>
            <a:r>
              <a:rPr lang="en-US"/>
              <a:t>Domain Name</a:t>
            </a:r>
            <a:endParaRPr/>
          </a:p>
          <a:p>
            <a:pPr indent="-274320" lvl="1" marL="640080" rtl="0" algn="l">
              <a:spcBef>
                <a:spcPts val="550"/>
              </a:spcBef>
              <a:spcAft>
                <a:spcPts val="0"/>
              </a:spcAft>
              <a:buSzPts val="1820"/>
              <a:buChar char="🞑"/>
            </a:pPr>
            <a:r>
              <a:rPr lang="en-US"/>
              <a:t>Each node of a tree has a domain name</a:t>
            </a:r>
            <a:endParaRPr/>
          </a:p>
          <a:p>
            <a:pPr indent="-274320" lvl="1" marL="640080" rtl="0" algn="l">
              <a:spcBef>
                <a:spcPts val="550"/>
              </a:spcBef>
              <a:spcAft>
                <a:spcPts val="0"/>
              </a:spcAft>
              <a:buSzPts val="1820"/>
              <a:buChar char="🞑"/>
            </a:pPr>
            <a:r>
              <a:rPr lang="en-US"/>
              <a:t>A full domain name is a sequence of labels separated by dots(.)</a:t>
            </a:r>
            <a:endParaRPr/>
          </a:p>
          <a:p>
            <a:pPr indent="-274320" lvl="1" marL="640080" rtl="0" algn="l">
              <a:spcBef>
                <a:spcPts val="550"/>
              </a:spcBef>
              <a:spcAft>
                <a:spcPts val="0"/>
              </a:spcAft>
              <a:buSzPts val="1820"/>
              <a:buChar char="🞑"/>
            </a:pPr>
            <a:r>
              <a:rPr lang="en-US"/>
              <a:t>Read from node up to the root.</a:t>
            </a:r>
            <a:endParaRPr/>
          </a:p>
          <a:p>
            <a:pPr indent="-209550" lvl="0" marL="320040" rtl="0" algn="l">
              <a:spcBef>
                <a:spcPts val="700"/>
              </a:spcBef>
              <a:spcAft>
                <a:spcPts val="0"/>
              </a:spcAft>
              <a:buSzPts val="174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Label &amp; Domain Name (Explained)</a:t>
            </a:r>
            <a:endParaRPr/>
          </a:p>
        </p:txBody>
      </p:sp>
      <p:sp>
        <p:nvSpPr>
          <p:cNvPr id="268" name="Google Shape;268;p12"/>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269" name="Google Shape;269;p12"/>
          <p:cNvSpPr/>
          <p:nvPr/>
        </p:nvSpPr>
        <p:spPr>
          <a:xfrm>
            <a:off x="4191000" y="1905000"/>
            <a:ext cx="304800" cy="304800"/>
          </a:xfrm>
          <a:prstGeom prst="ellipse">
            <a:avLst/>
          </a:prstGeom>
          <a:solidFill>
            <a:schemeClr val="accent5"/>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70" name="Google Shape;270;p12"/>
          <p:cNvSpPr/>
          <p:nvPr/>
        </p:nvSpPr>
        <p:spPr>
          <a:xfrm>
            <a:off x="3276600" y="2819400"/>
            <a:ext cx="304800" cy="304800"/>
          </a:xfrm>
          <a:prstGeom prst="ellipse">
            <a:avLst/>
          </a:prstGeom>
          <a:solidFill>
            <a:schemeClr val="accent5"/>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71" name="Google Shape;271;p12"/>
          <p:cNvSpPr/>
          <p:nvPr/>
        </p:nvSpPr>
        <p:spPr>
          <a:xfrm>
            <a:off x="3886200" y="3886200"/>
            <a:ext cx="304800" cy="304800"/>
          </a:xfrm>
          <a:prstGeom prst="ellipse">
            <a:avLst/>
          </a:prstGeom>
          <a:solidFill>
            <a:schemeClr val="accent5"/>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72" name="Google Shape;272;p12"/>
          <p:cNvSpPr/>
          <p:nvPr/>
        </p:nvSpPr>
        <p:spPr>
          <a:xfrm>
            <a:off x="4038600" y="4876800"/>
            <a:ext cx="304800" cy="304800"/>
          </a:xfrm>
          <a:prstGeom prst="ellipse">
            <a:avLst/>
          </a:prstGeom>
          <a:solidFill>
            <a:schemeClr val="accent5"/>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73" name="Google Shape;273;p12"/>
          <p:cNvSpPr/>
          <p:nvPr/>
        </p:nvSpPr>
        <p:spPr>
          <a:xfrm>
            <a:off x="3276600" y="5791200"/>
            <a:ext cx="304800" cy="304800"/>
          </a:xfrm>
          <a:prstGeom prst="ellipse">
            <a:avLst/>
          </a:prstGeom>
          <a:solidFill>
            <a:schemeClr val="accent5"/>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74" name="Google Shape;274;p12"/>
          <p:cNvCxnSpPr>
            <a:stCxn id="269" idx="3"/>
            <a:endCxn id="270" idx="7"/>
          </p:cNvCxnSpPr>
          <p:nvPr/>
        </p:nvCxnSpPr>
        <p:spPr>
          <a:xfrm flipH="1">
            <a:off x="3536637" y="2165163"/>
            <a:ext cx="699000" cy="6990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275" name="Google Shape;275;p12"/>
          <p:cNvCxnSpPr>
            <a:stCxn id="270" idx="5"/>
            <a:endCxn id="271" idx="0"/>
          </p:cNvCxnSpPr>
          <p:nvPr/>
        </p:nvCxnSpPr>
        <p:spPr>
          <a:xfrm>
            <a:off x="3536763" y="3079563"/>
            <a:ext cx="501900" cy="8067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276" name="Google Shape;276;p12"/>
          <p:cNvCxnSpPr>
            <a:stCxn id="271" idx="4"/>
            <a:endCxn id="272" idx="0"/>
          </p:cNvCxnSpPr>
          <p:nvPr/>
        </p:nvCxnSpPr>
        <p:spPr>
          <a:xfrm>
            <a:off x="4038600" y="4191000"/>
            <a:ext cx="152400" cy="6858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277" name="Google Shape;277;p12"/>
          <p:cNvCxnSpPr>
            <a:stCxn id="272" idx="3"/>
            <a:endCxn id="273" idx="7"/>
          </p:cNvCxnSpPr>
          <p:nvPr/>
        </p:nvCxnSpPr>
        <p:spPr>
          <a:xfrm flipH="1">
            <a:off x="3536637" y="5136963"/>
            <a:ext cx="546600" cy="6990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sp>
        <p:nvSpPr>
          <p:cNvPr id="278" name="Google Shape;278;p12"/>
          <p:cNvSpPr txBox="1"/>
          <p:nvPr/>
        </p:nvSpPr>
        <p:spPr>
          <a:xfrm>
            <a:off x="2209800" y="5867400"/>
            <a:ext cx="879984" cy="369332"/>
          </a:xfrm>
          <a:prstGeom prst="rect">
            <a:avLst/>
          </a:prstGeom>
          <a:solidFill>
            <a:schemeClr val="accent2"/>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teacher</a:t>
            </a:r>
            <a:endParaRPr sz="1800">
              <a:solidFill>
                <a:schemeClr val="lt1"/>
              </a:solidFill>
              <a:latin typeface="Twentieth Century"/>
              <a:ea typeface="Twentieth Century"/>
              <a:cs typeface="Twentieth Century"/>
              <a:sym typeface="Twentieth Century"/>
            </a:endParaRPr>
          </a:p>
        </p:txBody>
      </p:sp>
      <p:sp>
        <p:nvSpPr>
          <p:cNvPr id="279" name="Google Shape;279;p12"/>
          <p:cNvSpPr txBox="1"/>
          <p:nvPr/>
        </p:nvSpPr>
        <p:spPr>
          <a:xfrm>
            <a:off x="3372174" y="4800600"/>
            <a:ext cx="590226" cy="369332"/>
          </a:xfrm>
          <a:prstGeom prst="rect">
            <a:avLst/>
          </a:prstGeom>
          <a:solidFill>
            <a:schemeClr val="accent2"/>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buet</a:t>
            </a:r>
            <a:endParaRPr sz="1800">
              <a:solidFill>
                <a:schemeClr val="lt1"/>
              </a:solidFill>
              <a:latin typeface="Twentieth Century"/>
              <a:ea typeface="Twentieth Century"/>
              <a:cs typeface="Twentieth Century"/>
              <a:sym typeface="Twentieth Century"/>
            </a:endParaRPr>
          </a:p>
        </p:txBody>
      </p:sp>
      <p:sp>
        <p:nvSpPr>
          <p:cNvPr id="280" name="Google Shape;280;p12"/>
          <p:cNvSpPr txBox="1"/>
          <p:nvPr/>
        </p:nvSpPr>
        <p:spPr>
          <a:xfrm>
            <a:off x="3276600" y="3886200"/>
            <a:ext cx="399468" cy="369332"/>
          </a:xfrm>
          <a:prstGeom prst="rect">
            <a:avLst/>
          </a:prstGeom>
          <a:solidFill>
            <a:schemeClr val="accent2"/>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ac</a:t>
            </a:r>
            <a:endParaRPr sz="1800">
              <a:solidFill>
                <a:schemeClr val="lt1"/>
              </a:solidFill>
              <a:latin typeface="Twentieth Century"/>
              <a:ea typeface="Twentieth Century"/>
              <a:cs typeface="Twentieth Century"/>
              <a:sym typeface="Twentieth Century"/>
            </a:endParaRPr>
          </a:p>
        </p:txBody>
      </p:sp>
      <p:sp>
        <p:nvSpPr>
          <p:cNvPr id="281" name="Google Shape;281;p12"/>
          <p:cNvSpPr txBox="1"/>
          <p:nvPr/>
        </p:nvSpPr>
        <p:spPr>
          <a:xfrm>
            <a:off x="2800932" y="2819400"/>
            <a:ext cx="437940" cy="369332"/>
          </a:xfrm>
          <a:prstGeom prst="rect">
            <a:avLst/>
          </a:prstGeom>
          <a:solidFill>
            <a:schemeClr val="accent2"/>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bd</a:t>
            </a:r>
            <a:endParaRPr sz="1800">
              <a:solidFill>
                <a:schemeClr val="lt1"/>
              </a:solidFill>
              <a:latin typeface="Twentieth Century"/>
              <a:ea typeface="Twentieth Century"/>
              <a:cs typeface="Twentieth Century"/>
              <a:sym typeface="Twentieth Century"/>
            </a:endParaRPr>
          </a:p>
        </p:txBody>
      </p:sp>
      <p:sp>
        <p:nvSpPr>
          <p:cNvPr id="282" name="Google Shape;282;p12"/>
          <p:cNvSpPr txBox="1"/>
          <p:nvPr/>
        </p:nvSpPr>
        <p:spPr>
          <a:xfrm>
            <a:off x="3581400" y="5879068"/>
            <a:ext cx="1942711" cy="369332"/>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teacher.buet.ac.bd</a:t>
            </a:r>
            <a:endParaRPr sz="1800">
              <a:solidFill>
                <a:schemeClr val="lt1"/>
              </a:solidFill>
              <a:latin typeface="Twentieth Century"/>
              <a:ea typeface="Twentieth Century"/>
              <a:cs typeface="Twentieth Century"/>
              <a:sym typeface="Twentieth Century"/>
            </a:endParaRPr>
          </a:p>
        </p:txBody>
      </p:sp>
      <p:sp>
        <p:nvSpPr>
          <p:cNvPr id="283" name="Google Shape;283;p12"/>
          <p:cNvSpPr txBox="1"/>
          <p:nvPr/>
        </p:nvSpPr>
        <p:spPr>
          <a:xfrm>
            <a:off x="4743774" y="4812268"/>
            <a:ext cx="1160895" cy="369332"/>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buet.ac.bd</a:t>
            </a:r>
            <a:endParaRPr sz="1800">
              <a:solidFill>
                <a:schemeClr val="lt1"/>
              </a:solidFill>
              <a:latin typeface="Twentieth Century"/>
              <a:ea typeface="Twentieth Century"/>
              <a:cs typeface="Twentieth Century"/>
              <a:sym typeface="Twentieth Century"/>
            </a:endParaRPr>
          </a:p>
        </p:txBody>
      </p:sp>
      <p:sp>
        <p:nvSpPr>
          <p:cNvPr id="284" name="Google Shape;284;p12"/>
          <p:cNvSpPr txBox="1"/>
          <p:nvPr/>
        </p:nvSpPr>
        <p:spPr>
          <a:xfrm>
            <a:off x="4648200" y="3897868"/>
            <a:ext cx="704039" cy="369332"/>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ac.bd</a:t>
            </a:r>
            <a:endParaRPr sz="1800">
              <a:solidFill>
                <a:schemeClr val="lt1"/>
              </a:solidFill>
              <a:latin typeface="Twentieth Century"/>
              <a:ea typeface="Twentieth Century"/>
              <a:cs typeface="Twentieth Century"/>
              <a:sym typeface="Twentieth Century"/>
            </a:endParaRPr>
          </a:p>
        </p:txBody>
      </p:sp>
      <p:sp>
        <p:nvSpPr>
          <p:cNvPr id="285" name="Google Shape;285;p12"/>
          <p:cNvSpPr txBox="1"/>
          <p:nvPr/>
        </p:nvSpPr>
        <p:spPr>
          <a:xfrm>
            <a:off x="4172532" y="2831068"/>
            <a:ext cx="437940" cy="369332"/>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bd</a:t>
            </a:r>
            <a:endParaRPr sz="18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3"/>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Fully Qualified Domain Name</a:t>
            </a:r>
            <a:endParaRPr/>
          </a:p>
        </p:txBody>
      </p:sp>
      <p:sp>
        <p:nvSpPr>
          <p:cNvPr id="291" name="Google Shape;291;p1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292" name="Google Shape;292;p13"/>
          <p:cNvSpPr txBox="1"/>
          <p:nvPr>
            <p:ph idx="1" type="body"/>
          </p:nvPr>
        </p:nvSpPr>
        <p:spPr>
          <a:xfrm>
            <a:off x="612648" y="1600200"/>
            <a:ext cx="8153400" cy="28194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An FQDN is a domain name that contains the full name of a host</a:t>
            </a:r>
            <a:endParaRPr/>
          </a:p>
          <a:p>
            <a:pPr indent="-320040" lvl="0" marL="320040" rtl="0" algn="l">
              <a:spcBef>
                <a:spcPts val="700"/>
              </a:spcBef>
              <a:spcAft>
                <a:spcPts val="0"/>
              </a:spcAft>
              <a:buSzPts val="1740"/>
              <a:buChar char="◻"/>
            </a:pPr>
            <a:r>
              <a:rPr lang="en-US"/>
              <a:t>Starts from a node and read up to the root  </a:t>
            </a:r>
            <a:endParaRPr/>
          </a:p>
          <a:p>
            <a:pPr indent="-320040" lvl="0" marL="320040" rtl="0" algn="l">
              <a:spcBef>
                <a:spcPts val="700"/>
              </a:spcBef>
              <a:spcAft>
                <a:spcPts val="0"/>
              </a:spcAft>
              <a:buSzPts val="1740"/>
              <a:buChar char="◻"/>
            </a:pPr>
            <a:r>
              <a:rPr lang="en-US"/>
              <a:t>It uniquely defines the host machine irrespective of the location of client</a:t>
            </a:r>
            <a:endParaRPr/>
          </a:p>
        </p:txBody>
      </p:sp>
      <p:sp>
        <p:nvSpPr>
          <p:cNvPr id="293" name="Google Shape;293;p13"/>
          <p:cNvSpPr txBox="1"/>
          <p:nvPr/>
        </p:nvSpPr>
        <p:spPr>
          <a:xfrm>
            <a:off x="2560086" y="4724400"/>
            <a:ext cx="2926314" cy="523220"/>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wentieth Century"/>
                <a:ea typeface="Twentieth Century"/>
                <a:cs typeface="Twentieth Century"/>
                <a:sym typeface="Twentieth Century"/>
              </a:rPr>
              <a:t>teacher.buet.ac.bd</a:t>
            </a:r>
            <a:endParaRPr sz="28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4"/>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Partially Qualified Domain Name</a:t>
            </a:r>
            <a:endParaRPr/>
          </a:p>
        </p:txBody>
      </p:sp>
      <p:sp>
        <p:nvSpPr>
          <p:cNvPr id="299" name="Google Shape;299;p1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300" name="Google Shape;300;p14"/>
          <p:cNvSpPr txBox="1"/>
          <p:nvPr>
            <p:ph idx="1" type="body"/>
          </p:nvPr>
        </p:nvSpPr>
        <p:spPr>
          <a:xfrm>
            <a:off x="612648" y="1600200"/>
            <a:ext cx="8153400" cy="32004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PQDN starts from a node but does not reach the root</a:t>
            </a:r>
            <a:endParaRPr/>
          </a:p>
          <a:p>
            <a:pPr indent="-320040" lvl="0" marL="320040" rtl="0" algn="l">
              <a:spcBef>
                <a:spcPts val="700"/>
              </a:spcBef>
              <a:spcAft>
                <a:spcPts val="0"/>
              </a:spcAft>
              <a:buSzPts val="1740"/>
              <a:buChar char="◻"/>
            </a:pPr>
            <a:r>
              <a:rPr lang="en-US"/>
              <a:t>Used when the name to be resolved belongs to the same site as the client</a:t>
            </a:r>
            <a:endParaRPr/>
          </a:p>
          <a:p>
            <a:pPr indent="-320040" lvl="0" marL="320040" rtl="0" algn="l">
              <a:spcBef>
                <a:spcPts val="700"/>
              </a:spcBef>
              <a:spcAft>
                <a:spcPts val="0"/>
              </a:spcAft>
              <a:buSzPts val="1740"/>
              <a:buChar char="◻"/>
            </a:pPr>
            <a:r>
              <a:rPr lang="en-US"/>
              <a:t>Resolver can supply the suffix to create an FQDN</a:t>
            </a:r>
            <a:endParaRPr/>
          </a:p>
        </p:txBody>
      </p:sp>
      <p:sp>
        <p:nvSpPr>
          <p:cNvPr id="301" name="Google Shape;301;p14"/>
          <p:cNvSpPr txBox="1"/>
          <p:nvPr/>
        </p:nvSpPr>
        <p:spPr>
          <a:xfrm>
            <a:off x="3454565" y="4963180"/>
            <a:ext cx="1269835" cy="523220"/>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wentieth Century"/>
                <a:ea typeface="Twentieth Century"/>
                <a:cs typeface="Twentieth Century"/>
                <a:sym typeface="Twentieth Century"/>
              </a:rPr>
              <a:t>teacher</a:t>
            </a:r>
            <a:endParaRPr sz="2800">
              <a:solidFill>
                <a:schemeClr val="lt1"/>
              </a:solidFill>
              <a:latin typeface="Twentieth Century"/>
              <a:ea typeface="Twentieth Century"/>
              <a:cs typeface="Twentieth Century"/>
              <a:sym typeface="Twentieth Century"/>
            </a:endParaRPr>
          </a:p>
        </p:txBody>
      </p:sp>
      <p:sp>
        <p:nvSpPr>
          <p:cNvPr id="302" name="Google Shape;302;p14"/>
          <p:cNvSpPr txBox="1"/>
          <p:nvPr/>
        </p:nvSpPr>
        <p:spPr>
          <a:xfrm>
            <a:off x="5943600" y="5181600"/>
            <a:ext cx="2079415" cy="369332"/>
          </a:xfrm>
          <a:prstGeom prst="rect">
            <a:avLst/>
          </a:prstGeom>
          <a:solidFill>
            <a:srgbClr val="D8DACC"/>
          </a:solidFill>
          <a:ln cap="flat" cmpd="sng" w="10000">
            <a:solidFill>
              <a:schemeClr val="accent3"/>
            </a:solidFill>
            <a:prstDash val="solid"/>
            <a:round/>
            <a:headEnd len="sm" w="sm" type="none"/>
            <a:tailEnd len="sm" w="sm" type="none"/>
          </a:ln>
          <a:effectLst>
            <a:outerShdw blurRad="38100" rotWithShape="0" dir="5400000" dist="30000">
              <a:srgbClr val="000000">
                <a:alpha val="4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User is at </a:t>
            </a:r>
            <a:r>
              <a:rPr lang="en-US" sz="1800">
                <a:solidFill>
                  <a:srgbClr val="FF0000"/>
                </a:solidFill>
                <a:latin typeface="Twentieth Century"/>
                <a:ea typeface="Twentieth Century"/>
                <a:cs typeface="Twentieth Century"/>
                <a:sym typeface="Twentieth Century"/>
              </a:rPr>
              <a:t>buet.ac.bd</a:t>
            </a:r>
            <a:endParaRPr sz="1800">
              <a:solidFill>
                <a:srgbClr val="FF0000"/>
              </a:solidFill>
              <a:latin typeface="Twentieth Century"/>
              <a:ea typeface="Twentieth Century"/>
              <a:cs typeface="Twentieth Century"/>
              <a:sym typeface="Twentieth Century"/>
            </a:endParaRPr>
          </a:p>
        </p:txBody>
      </p:sp>
      <p:sp>
        <p:nvSpPr>
          <p:cNvPr id="303" name="Google Shape;303;p14"/>
          <p:cNvSpPr/>
          <p:nvPr/>
        </p:nvSpPr>
        <p:spPr>
          <a:xfrm rot="6006033">
            <a:off x="5118139" y="4681467"/>
            <a:ext cx="384291" cy="1036687"/>
          </a:xfrm>
          <a:prstGeom prst="downArrow">
            <a:avLst>
              <a:gd fmla="val 50000" name="adj1"/>
              <a:gd fmla="val 50000" name="adj2"/>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Domain</a:t>
            </a:r>
            <a:endParaRPr/>
          </a:p>
        </p:txBody>
      </p:sp>
      <p:sp>
        <p:nvSpPr>
          <p:cNvPr id="309" name="Google Shape;309;p15"/>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310" name="Google Shape;310;p15"/>
          <p:cNvSpPr txBox="1"/>
          <p:nvPr>
            <p:ph idx="1" type="body"/>
          </p:nvPr>
        </p:nvSpPr>
        <p:spPr>
          <a:xfrm>
            <a:off x="612648" y="1600200"/>
            <a:ext cx="8153400" cy="1676400"/>
          </a:xfrm>
          <a:prstGeom prst="rect">
            <a:avLst/>
          </a:prstGeom>
          <a:noFill/>
          <a:ln>
            <a:noFill/>
          </a:ln>
        </p:spPr>
        <p:txBody>
          <a:bodyPr anchorCtr="0" anchor="t" bIns="45700" lIns="91425" spcFirstLastPara="1" rIns="91425" wrap="square" tIns="45700">
            <a:normAutofit fontScale="92500" lnSpcReduction="20000"/>
          </a:bodyPr>
          <a:lstStyle/>
          <a:p>
            <a:pPr indent="-320059" lvl="0" marL="320040" rtl="0" algn="l">
              <a:spcBef>
                <a:spcPts val="0"/>
              </a:spcBef>
              <a:spcAft>
                <a:spcPts val="0"/>
              </a:spcAft>
              <a:buSzPct val="59999"/>
              <a:buChar char="◻"/>
            </a:pPr>
            <a:r>
              <a:rPr lang="en-US"/>
              <a:t>Subtree of the DNS</a:t>
            </a:r>
            <a:endParaRPr/>
          </a:p>
          <a:p>
            <a:pPr indent="-320059" lvl="0" marL="320040" rtl="0" algn="l">
              <a:spcBef>
                <a:spcPts val="700"/>
              </a:spcBef>
              <a:spcAft>
                <a:spcPts val="0"/>
              </a:spcAft>
              <a:buSzPct val="59999"/>
              <a:buChar char="◻"/>
            </a:pPr>
            <a:r>
              <a:rPr lang="en-US"/>
              <a:t>The name of the domain is the Domain Name of the node at the top of the subtree</a:t>
            </a:r>
            <a:endParaRPr/>
          </a:p>
          <a:p>
            <a:pPr indent="-320059" lvl="0" marL="320040" rtl="0" algn="l">
              <a:spcBef>
                <a:spcPts val="700"/>
              </a:spcBef>
              <a:spcAft>
                <a:spcPts val="0"/>
              </a:spcAft>
              <a:buSzPct val="59999"/>
              <a:buChar char="◻"/>
            </a:pPr>
            <a:r>
              <a:rPr lang="en-US"/>
              <a:t>Domain is divided in subdomains</a:t>
            </a:r>
            <a:endParaRPr/>
          </a:p>
        </p:txBody>
      </p:sp>
      <p:sp>
        <p:nvSpPr>
          <p:cNvPr id="311" name="Google Shape;311;p15"/>
          <p:cNvSpPr/>
          <p:nvPr/>
        </p:nvSpPr>
        <p:spPr>
          <a:xfrm>
            <a:off x="5181600" y="3352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2" name="Google Shape;312;p15"/>
          <p:cNvSpPr/>
          <p:nvPr/>
        </p:nvSpPr>
        <p:spPr>
          <a:xfrm>
            <a:off x="6096000" y="40386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3" name="Google Shape;313;p15"/>
          <p:cNvSpPr/>
          <p:nvPr/>
        </p:nvSpPr>
        <p:spPr>
          <a:xfrm>
            <a:off x="2286000" y="4114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4" name="Google Shape;314;p15"/>
          <p:cNvSpPr/>
          <p:nvPr/>
        </p:nvSpPr>
        <p:spPr>
          <a:xfrm>
            <a:off x="2971800" y="4191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5" name="Google Shape;315;p15"/>
          <p:cNvSpPr/>
          <p:nvPr/>
        </p:nvSpPr>
        <p:spPr>
          <a:xfrm>
            <a:off x="18288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6" name="Google Shape;316;p15"/>
          <p:cNvSpPr/>
          <p:nvPr/>
        </p:nvSpPr>
        <p:spPr>
          <a:xfrm>
            <a:off x="13716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7" name="Google Shape;317;p15"/>
          <p:cNvSpPr/>
          <p:nvPr/>
        </p:nvSpPr>
        <p:spPr>
          <a:xfrm>
            <a:off x="2667000" y="4953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8" name="Google Shape;318;p15"/>
          <p:cNvSpPr/>
          <p:nvPr/>
        </p:nvSpPr>
        <p:spPr>
          <a:xfrm>
            <a:off x="35814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9" name="Google Shape;319;p15"/>
          <p:cNvSpPr/>
          <p:nvPr/>
        </p:nvSpPr>
        <p:spPr>
          <a:xfrm>
            <a:off x="22860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0" name="Google Shape;320;p15"/>
          <p:cNvSpPr/>
          <p:nvPr/>
        </p:nvSpPr>
        <p:spPr>
          <a:xfrm>
            <a:off x="29718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1" name="Google Shape;321;p15"/>
          <p:cNvSpPr/>
          <p:nvPr/>
        </p:nvSpPr>
        <p:spPr>
          <a:xfrm>
            <a:off x="54102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2" name="Google Shape;322;p15"/>
          <p:cNvSpPr/>
          <p:nvPr/>
        </p:nvSpPr>
        <p:spPr>
          <a:xfrm>
            <a:off x="60198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3" name="Google Shape;323;p15"/>
          <p:cNvSpPr/>
          <p:nvPr/>
        </p:nvSpPr>
        <p:spPr>
          <a:xfrm>
            <a:off x="6629400" y="4876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4" name="Google Shape;324;p15"/>
          <p:cNvSpPr/>
          <p:nvPr/>
        </p:nvSpPr>
        <p:spPr>
          <a:xfrm>
            <a:off x="5791200" y="55626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5" name="Google Shape;325;p15"/>
          <p:cNvSpPr/>
          <p:nvPr/>
        </p:nvSpPr>
        <p:spPr>
          <a:xfrm>
            <a:off x="63246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6" name="Google Shape;326;p15"/>
          <p:cNvSpPr/>
          <p:nvPr/>
        </p:nvSpPr>
        <p:spPr>
          <a:xfrm>
            <a:off x="6934200" y="56388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327" name="Google Shape;327;p15"/>
          <p:cNvCxnSpPr>
            <a:endCxn id="313" idx="7"/>
          </p:cNvCxnSpPr>
          <p:nvPr/>
        </p:nvCxnSpPr>
        <p:spPr>
          <a:xfrm flipH="1">
            <a:off x="2481122" y="3536637"/>
            <a:ext cx="27339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28" name="Google Shape;328;p15"/>
          <p:cNvCxnSpPr>
            <a:endCxn id="312" idx="0"/>
          </p:cNvCxnSpPr>
          <p:nvPr/>
        </p:nvCxnSpPr>
        <p:spPr>
          <a:xfrm>
            <a:off x="5376600" y="3536700"/>
            <a:ext cx="8337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29" name="Google Shape;329;p15"/>
          <p:cNvCxnSpPr>
            <a:endCxn id="314" idx="7"/>
          </p:cNvCxnSpPr>
          <p:nvPr/>
        </p:nvCxnSpPr>
        <p:spPr>
          <a:xfrm flipH="1">
            <a:off x="3166922" y="3536637"/>
            <a:ext cx="2048100" cy="699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0" name="Google Shape;330;p15"/>
          <p:cNvCxnSpPr>
            <a:stCxn id="314" idx="4"/>
            <a:endCxn id="318" idx="1"/>
          </p:cNvCxnSpPr>
          <p:nvPr/>
        </p:nvCxnSpPr>
        <p:spPr>
          <a:xfrm>
            <a:off x="3086100" y="4495800"/>
            <a:ext cx="5289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1" name="Google Shape;331;p15"/>
          <p:cNvCxnSpPr>
            <a:stCxn id="314" idx="4"/>
            <a:endCxn id="317" idx="1"/>
          </p:cNvCxnSpPr>
          <p:nvPr/>
        </p:nvCxnSpPr>
        <p:spPr>
          <a:xfrm flipH="1">
            <a:off x="2700600" y="4495800"/>
            <a:ext cx="385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2" name="Google Shape;332;p15"/>
          <p:cNvCxnSpPr>
            <a:stCxn id="317" idx="3"/>
            <a:endCxn id="319" idx="7"/>
          </p:cNvCxnSpPr>
          <p:nvPr/>
        </p:nvCxnSpPr>
        <p:spPr>
          <a:xfrm flipH="1">
            <a:off x="2481178" y="5213163"/>
            <a:ext cx="219300" cy="470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3" name="Google Shape;333;p15"/>
          <p:cNvCxnSpPr>
            <a:stCxn id="317" idx="6"/>
            <a:endCxn id="320" idx="0"/>
          </p:cNvCxnSpPr>
          <p:nvPr/>
        </p:nvCxnSpPr>
        <p:spPr>
          <a:xfrm>
            <a:off x="2895600" y="5105400"/>
            <a:ext cx="1905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4" name="Google Shape;334;p15"/>
          <p:cNvCxnSpPr>
            <a:stCxn id="312" idx="3"/>
            <a:endCxn id="321" idx="7"/>
          </p:cNvCxnSpPr>
          <p:nvPr/>
        </p:nvCxnSpPr>
        <p:spPr>
          <a:xfrm flipH="1">
            <a:off x="5605378" y="4298763"/>
            <a:ext cx="5241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5" name="Google Shape;335;p15"/>
          <p:cNvCxnSpPr>
            <a:stCxn id="312" idx="4"/>
            <a:endCxn id="322" idx="0"/>
          </p:cNvCxnSpPr>
          <p:nvPr/>
        </p:nvCxnSpPr>
        <p:spPr>
          <a:xfrm flipH="1">
            <a:off x="6134100" y="4343400"/>
            <a:ext cx="762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6" name="Google Shape;336;p15"/>
          <p:cNvCxnSpPr>
            <a:stCxn id="312" idx="5"/>
            <a:endCxn id="323" idx="1"/>
          </p:cNvCxnSpPr>
          <p:nvPr/>
        </p:nvCxnSpPr>
        <p:spPr>
          <a:xfrm>
            <a:off x="6291122" y="4298763"/>
            <a:ext cx="3717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7" name="Google Shape;337;p15"/>
          <p:cNvCxnSpPr>
            <a:stCxn id="322" idx="4"/>
            <a:endCxn id="324" idx="7"/>
          </p:cNvCxnSpPr>
          <p:nvPr/>
        </p:nvCxnSpPr>
        <p:spPr>
          <a:xfrm flipH="1">
            <a:off x="5986200" y="5181600"/>
            <a:ext cx="1479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8" name="Google Shape;338;p15"/>
          <p:cNvCxnSpPr>
            <a:stCxn id="322" idx="5"/>
            <a:endCxn id="325" idx="7"/>
          </p:cNvCxnSpPr>
          <p:nvPr/>
        </p:nvCxnSpPr>
        <p:spPr>
          <a:xfrm>
            <a:off x="6214922" y="5136963"/>
            <a:ext cx="304800" cy="546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39" name="Google Shape;339;p15"/>
          <p:cNvCxnSpPr>
            <a:stCxn id="323" idx="5"/>
            <a:endCxn id="326" idx="0"/>
          </p:cNvCxnSpPr>
          <p:nvPr/>
        </p:nvCxnSpPr>
        <p:spPr>
          <a:xfrm>
            <a:off x="6824522" y="5136963"/>
            <a:ext cx="2241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40" name="Google Shape;340;p15"/>
          <p:cNvCxnSpPr>
            <a:stCxn id="313" idx="4"/>
            <a:endCxn id="315" idx="7"/>
          </p:cNvCxnSpPr>
          <p:nvPr/>
        </p:nvCxnSpPr>
        <p:spPr>
          <a:xfrm flipH="1">
            <a:off x="2023800" y="4419600"/>
            <a:ext cx="376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341" name="Google Shape;341;p15"/>
          <p:cNvCxnSpPr>
            <a:stCxn id="315" idx="4"/>
          </p:cNvCxnSpPr>
          <p:nvPr/>
        </p:nvCxnSpPr>
        <p:spPr>
          <a:xfrm flipH="1">
            <a:off x="1566600" y="5181600"/>
            <a:ext cx="376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342" name="Google Shape;342;p15"/>
          <p:cNvSpPr txBox="1"/>
          <p:nvPr/>
        </p:nvSpPr>
        <p:spPr>
          <a:xfrm>
            <a:off x="1676400" y="4126468"/>
            <a:ext cx="6415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arpa</a:t>
            </a:r>
            <a:endParaRPr sz="1800">
              <a:solidFill>
                <a:schemeClr val="dk1"/>
              </a:solidFill>
              <a:latin typeface="Twentieth Century"/>
              <a:ea typeface="Twentieth Century"/>
              <a:cs typeface="Twentieth Century"/>
              <a:sym typeface="Twentieth Century"/>
            </a:endParaRPr>
          </a:p>
        </p:txBody>
      </p:sp>
      <p:sp>
        <p:nvSpPr>
          <p:cNvPr id="343" name="Google Shape;343;p15"/>
          <p:cNvSpPr txBox="1"/>
          <p:nvPr/>
        </p:nvSpPr>
        <p:spPr>
          <a:xfrm>
            <a:off x="2514600" y="4114800"/>
            <a:ext cx="5421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com</a:t>
            </a:r>
            <a:endParaRPr sz="1800">
              <a:solidFill>
                <a:schemeClr val="dk1"/>
              </a:solidFill>
              <a:latin typeface="Twentieth Century"/>
              <a:ea typeface="Twentieth Century"/>
              <a:cs typeface="Twentieth Century"/>
              <a:sym typeface="Twentieth Century"/>
            </a:endParaRPr>
          </a:p>
        </p:txBody>
      </p:sp>
      <p:sp>
        <p:nvSpPr>
          <p:cNvPr id="344" name="Google Shape;344;p15"/>
          <p:cNvSpPr txBox="1"/>
          <p:nvPr/>
        </p:nvSpPr>
        <p:spPr>
          <a:xfrm>
            <a:off x="5553864" y="4038600"/>
            <a:ext cx="5036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org</a:t>
            </a:r>
            <a:endParaRPr sz="1800">
              <a:solidFill>
                <a:schemeClr val="dk1"/>
              </a:solidFill>
              <a:latin typeface="Twentieth Century"/>
              <a:ea typeface="Twentieth Century"/>
              <a:cs typeface="Twentieth Century"/>
              <a:sym typeface="Twentieth Century"/>
            </a:endParaRPr>
          </a:p>
        </p:txBody>
      </p:sp>
      <p:sp>
        <p:nvSpPr>
          <p:cNvPr id="345" name="Google Shape;345;p15"/>
          <p:cNvSpPr/>
          <p:nvPr/>
        </p:nvSpPr>
        <p:spPr>
          <a:xfrm>
            <a:off x="49530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46" name="Google Shape;346;p15"/>
          <p:cNvSpPr/>
          <p:nvPr/>
        </p:nvSpPr>
        <p:spPr>
          <a:xfrm>
            <a:off x="41910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47" name="Google Shape;347;p15"/>
          <p:cNvSpPr/>
          <p:nvPr/>
        </p:nvSpPr>
        <p:spPr>
          <a:xfrm>
            <a:off x="4572000" y="42672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48" name="Google Shape;348;p15"/>
          <p:cNvSpPr/>
          <p:nvPr/>
        </p:nvSpPr>
        <p:spPr>
          <a:xfrm>
            <a:off x="990600" y="3886200"/>
            <a:ext cx="2971800" cy="2667000"/>
          </a:xfrm>
          <a:prstGeom prst="ellipse">
            <a:avLst/>
          </a:prstGeom>
          <a:solidFill>
            <a:schemeClr val="accent1">
              <a:alpha val="20000"/>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49" name="Google Shape;349;p15"/>
          <p:cNvSpPr/>
          <p:nvPr/>
        </p:nvSpPr>
        <p:spPr>
          <a:xfrm rot="1816782">
            <a:off x="1219184" y="3715785"/>
            <a:ext cx="1192792" cy="2438400"/>
          </a:xfrm>
          <a:prstGeom prst="ellipse">
            <a:avLst/>
          </a:prstGeom>
          <a:solidFill>
            <a:schemeClr val="accent1">
              <a:alpha val="20000"/>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50" name="Google Shape;350;p15"/>
          <p:cNvSpPr/>
          <p:nvPr/>
        </p:nvSpPr>
        <p:spPr>
          <a:xfrm rot="1033036">
            <a:off x="2259600" y="4722364"/>
            <a:ext cx="1110533" cy="1534353"/>
          </a:xfrm>
          <a:prstGeom prst="ellipse">
            <a:avLst/>
          </a:prstGeom>
          <a:solidFill>
            <a:schemeClr val="accent1">
              <a:alpha val="20000"/>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51" name="Google Shape;351;p15"/>
          <p:cNvSpPr/>
          <p:nvPr/>
        </p:nvSpPr>
        <p:spPr>
          <a:xfrm rot="-612953">
            <a:off x="5400274" y="3675126"/>
            <a:ext cx="2153832" cy="2658428"/>
          </a:xfrm>
          <a:prstGeom prst="ellipse">
            <a:avLst/>
          </a:prstGeom>
          <a:solidFill>
            <a:schemeClr val="accent1">
              <a:alpha val="20000"/>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52" name="Google Shape;352;p15"/>
          <p:cNvSpPr/>
          <p:nvPr/>
        </p:nvSpPr>
        <p:spPr>
          <a:xfrm rot="-612953">
            <a:off x="6464548" y="4185467"/>
            <a:ext cx="926932" cy="1923619"/>
          </a:xfrm>
          <a:prstGeom prst="ellipse">
            <a:avLst/>
          </a:prstGeom>
          <a:solidFill>
            <a:schemeClr val="accent1">
              <a:alpha val="20000"/>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DNS Information storing</a:t>
            </a:r>
            <a:endParaRPr/>
          </a:p>
        </p:txBody>
      </p:sp>
      <p:sp>
        <p:nvSpPr>
          <p:cNvPr id="358" name="Google Shape;358;p16"/>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359" name="Google Shape;359;p1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In a single server</a:t>
            </a:r>
            <a:endParaRPr/>
          </a:p>
          <a:p>
            <a:pPr indent="-274320" lvl="1" marL="640080" rtl="0" algn="l">
              <a:spcBef>
                <a:spcPts val="550"/>
              </a:spcBef>
              <a:spcAft>
                <a:spcPts val="0"/>
              </a:spcAft>
              <a:buSzPts val="1820"/>
              <a:buChar char="🞑"/>
            </a:pPr>
            <a:r>
              <a:rPr lang="en-US"/>
              <a:t>Inefficient</a:t>
            </a:r>
            <a:endParaRPr/>
          </a:p>
          <a:p>
            <a:pPr indent="-274320" lvl="1" marL="640080" rtl="0" algn="l">
              <a:spcBef>
                <a:spcPts val="550"/>
              </a:spcBef>
              <a:spcAft>
                <a:spcPts val="0"/>
              </a:spcAft>
              <a:buSzPts val="1820"/>
              <a:buChar char="🞑"/>
            </a:pPr>
            <a:r>
              <a:rPr lang="en-US"/>
              <a:t>Unreliable</a:t>
            </a:r>
            <a:endParaRPr/>
          </a:p>
          <a:p>
            <a:pPr indent="-320040" lvl="0" marL="320040" rtl="0" algn="l">
              <a:spcBef>
                <a:spcPts val="700"/>
              </a:spcBef>
              <a:spcAft>
                <a:spcPts val="0"/>
              </a:spcAft>
              <a:buSzPts val="1740"/>
              <a:buChar char="◻"/>
            </a:pPr>
            <a:r>
              <a:rPr lang="en-US"/>
              <a:t>Multiple and Distributed</a:t>
            </a:r>
            <a:endParaRPr/>
          </a:p>
          <a:p>
            <a:pPr indent="-274320" lvl="1" marL="640080" rtl="0" algn="l">
              <a:spcBef>
                <a:spcPts val="550"/>
              </a:spcBef>
              <a:spcAft>
                <a:spcPts val="0"/>
              </a:spcAft>
              <a:buSzPts val="1820"/>
              <a:buChar char="🞑"/>
            </a:pPr>
            <a:r>
              <a:rPr lang="en-US"/>
              <a:t>Efficient</a:t>
            </a:r>
            <a:endParaRPr/>
          </a:p>
          <a:p>
            <a:pPr indent="-274320" lvl="1" marL="640080" rtl="0" algn="l">
              <a:spcBef>
                <a:spcPts val="550"/>
              </a:spcBef>
              <a:spcAft>
                <a:spcPts val="0"/>
              </a:spcAft>
              <a:buSzPts val="1820"/>
              <a:buChar char="🞑"/>
            </a:pPr>
            <a:r>
              <a:rPr lang="en-US"/>
              <a:t>Reliable</a:t>
            </a:r>
            <a:endParaRPr/>
          </a:p>
          <a:p>
            <a:pPr indent="-274320" lvl="1" marL="640080" rtl="0" algn="l">
              <a:spcBef>
                <a:spcPts val="550"/>
              </a:spcBef>
              <a:spcAft>
                <a:spcPts val="0"/>
              </a:spcAft>
              <a:buSzPts val="1820"/>
              <a:buChar char="🞑"/>
            </a:pPr>
            <a:r>
              <a:rPr lang="en-US"/>
              <a:t>But Processing Requires structure and protocols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7"/>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Inefficiency of Single Server</a:t>
            </a:r>
            <a:endParaRPr/>
          </a:p>
        </p:txBody>
      </p:sp>
      <p:sp>
        <p:nvSpPr>
          <p:cNvPr id="365" name="Google Shape;365;p17"/>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366" name="Google Shape;366;p17"/>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1740"/>
              <a:buFont typeface="Twentieth Century"/>
              <a:buAutoNum type="arabicPeriod"/>
            </a:pPr>
            <a:r>
              <a:rPr lang="en-US"/>
              <a:t>Single point of failure</a:t>
            </a:r>
            <a:endParaRPr/>
          </a:p>
          <a:p>
            <a:pPr indent="-514350" lvl="0" marL="514350" rtl="0" algn="l">
              <a:spcBef>
                <a:spcPts val="700"/>
              </a:spcBef>
              <a:spcAft>
                <a:spcPts val="0"/>
              </a:spcAft>
              <a:buSzPts val="1740"/>
              <a:buFont typeface="Twentieth Century"/>
              <a:buAutoNum type="arabicPeriod"/>
            </a:pPr>
            <a:r>
              <a:rPr lang="en-US"/>
              <a:t>Traffic Volume high. All requests have to be handled by a single DNS server</a:t>
            </a:r>
            <a:endParaRPr/>
          </a:p>
          <a:p>
            <a:pPr indent="-514350" lvl="0" marL="514350" rtl="0" algn="l">
              <a:spcBef>
                <a:spcPts val="700"/>
              </a:spcBef>
              <a:spcAft>
                <a:spcPts val="0"/>
              </a:spcAft>
              <a:buSzPts val="1740"/>
              <a:buFont typeface="Twentieth Century"/>
              <a:buAutoNum type="arabicPeriod"/>
            </a:pPr>
            <a:r>
              <a:rPr lang="en-US"/>
              <a:t>A single DNS server cannot be close to all querying clients</a:t>
            </a:r>
            <a:endParaRPr/>
          </a:p>
          <a:p>
            <a:pPr indent="-514350" lvl="0" marL="514350" rtl="0" algn="l">
              <a:spcBef>
                <a:spcPts val="700"/>
              </a:spcBef>
              <a:spcAft>
                <a:spcPts val="0"/>
              </a:spcAft>
              <a:buSzPts val="1740"/>
              <a:buFont typeface="Twentieth Century"/>
              <a:buAutoNum type="arabicPeriod"/>
            </a:pPr>
            <a:r>
              <a:rPr lang="en-US"/>
              <a:t>It would be updated frequently for every new host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Hierarchy of Name Server</a:t>
            </a:r>
            <a:endParaRPr/>
          </a:p>
        </p:txBody>
      </p:sp>
      <p:sp>
        <p:nvSpPr>
          <p:cNvPr id="372" name="Google Shape;372;p1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373" name="Google Shape;373;p18"/>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Each server known as DNS server</a:t>
            </a:r>
            <a:endParaRPr/>
          </a:p>
          <a:p>
            <a:pPr indent="-320040" lvl="0" marL="320040" rtl="0" algn="l">
              <a:spcBef>
                <a:spcPts val="700"/>
              </a:spcBef>
              <a:spcAft>
                <a:spcPts val="0"/>
              </a:spcAft>
              <a:buSzPts val="1740"/>
              <a:buChar char="◻"/>
            </a:pPr>
            <a:r>
              <a:rPr lang="en-US"/>
              <a:t>Each server is responsible(authoritative) for a domain</a:t>
            </a:r>
            <a:endParaRPr/>
          </a:p>
          <a:p>
            <a:pPr indent="-320040" lvl="0" marL="320040" rtl="0" algn="l">
              <a:spcBef>
                <a:spcPts val="700"/>
              </a:spcBef>
              <a:spcAft>
                <a:spcPts val="0"/>
              </a:spcAft>
              <a:buSzPts val="1740"/>
              <a:buChar char="◻"/>
            </a:pPr>
            <a:r>
              <a:rPr lang="en-US"/>
              <a:t>Three classes of Server</a:t>
            </a:r>
            <a:endParaRPr/>
          </a:p>
          <a:p>
            <a:pPr indent="-274320" lvl="1" marL="640080" rtl="0" algn="l">
              <a:spcBef>
                <a:spcPts val="550"/>
              </a:spcBef>
              <a:spcAft>
                <a:spcPts val="0"/>
              </a:spcAft>
              <a:buSzPts val="1820"/>
              <a:buChar char="🞑"/>
            </a:pPr>
            <a:r>
              <a:rPr lang="en-US"/>
              <a:t>Root DNS Server</a:t>
            </a:r>
            <a:endParaRPr/>
          </a:p>
          <a:p>
            <a:pPr indent="-274320" lvl="1" marL="640080" rtl="0" algn="l">
              <a:spcBef>
                <a:spcPts val="550"/>
              </a:spcBef>
              <a:spcAft>
                <a:spcPts val="0"/>
              </a:spcAft>
              <a:buSzPts val="1820"/>
              <a:buChar char="🞑"/>
            </a:pPr>
            <a:r>
              <a:rPr lang="en-US"/>
              <a:t>Top-level Domain (TLD) Server</a:t>
            </a:r>
            <a:endParaRPr/>
          </a:p>
          <a:p>
            <a:pPr indent="-274320" lvl="1" marL="640080" rtl="0" algn="l">
              <a:spcBef>
                <a:spcPts val="550"/>
              </a:spcBef>
              <a:spcAft>
                <a:spcPts val="0"/>
              </a:spcAft>
              <a:buSzPts val="1820"/>
              <a:buChar char="🞑"/>
            </a:pPr>
            <a:r>
              <a:rPr lang="en-US"/>
              <a:t>Authoritative DNS Server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9"/>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Types of DNS Server</a:t>
            </a:r>
            <a:endParaRPr/>
          </a:p>
        </p:txBody>
      </p:sp>
      <p:sp>
        <p:nvSpPr>
          <p:cNvPr id="379" name="Google Shape;379;p19"/>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380" name="Google Shape;380;p19"/>
          <p:cNvSpPr/>
          <p:nvPr/>
        </p:nvSpPr>
        <p:spPr>
          <a:xfrm>
            <a:off x="4191000" y="2667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1" name="Google Shape;381;p19"/>
          <p:cNvSpPr/>
          <p:nvPr/>
        </p:nvSpPr>
        <p:spPr>
          <a:xfrm>
            <a:off x="5105400" y="3429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2" name="Google Shape;382;p19"/>
          <p:cNvSpPr/>
          <p:nvPr/>
        </p:nvSpPr>
        <p:spPr>
          <a:xfrm>
            <a:off x="7924800" y="3505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3" name="Google Shape;383;p19"/>
          <p:cNvSpPr/>
          <p:nvPr/>
        </p:nvSpPr>
        <p:spPr>
          <a:xfrm>
            <a:off x="6248400" y="3429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4" name="Google Shape;384;p19"/>
          <p:cNvSpPr/>
          <p:nvPr/>
        </p:nvSpPr>
        <p:spPr>
          <a:xfrm>
            <a:off x="1295400" y="3505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5" name="Google Shape;385;p19"/>
          <p:cNvSpPr/>
          <p:nvPr/>
        </p:nvSpPr>
        <p:spPr>
          <a:xfrm>
            <a:off x="1981200" y="35814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6" name="Google Shape;386;p19"/>
          <p:cNvSpPr/>
          <p:nvPr/>
        </p:nvSpPr>
        <p:spPr>
          <a:xfrm>
            <a:off x="8382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7" name="Google Shape;387;p19"/>
          <p:cNvSpPr/>
          <p:nvPr/>
        </p:nvSpPr>
        <p:spPr>
          <a:xfrm>
            <a:off x="457200" y="5029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8" name="Google Shape;388;p19"/>
          <p:cNvSpPr/>
          <p:nvPr/>
        </p:nvSpPr>
        <p:spPr>
          <a:xfrm>
            <a:off x="1676400" y="43434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89" name="Google Shape;389;p19"/>
          <p:cNvSpPr/>
          <p:nvPr/>
        </p:nvSpPr>
        <p:spPr>
          <a:xfrm>
            <a:off x="25908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0" name="Google Shape;390;p19"/>
          <p:cNvSpPr/>
          <p:nvPr/>
        </p:nvSpPr>
        <p:spPr>
          <a:xfrm>
            <a:off x="1295400" y="5029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1" name="Google Shape;391;p19"/>
          <p:cNvSpPr/>
          <p:nvPr/>
        </p:nvSpPr>
        <p:spPr>
          <a:xfrm>
            <a:off x="1981200" y="5029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2" name="Google Shape;392;p19"/>
          <p:cNvSpPr/>
          <p:nvPr/>
        </p:nvSpPr>
        <p:spPr>
          <a:xfrm>
            <a:off x="44196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3" name="Google Shape;393;p19"/>
          <p:cNvSpPr/>
          <p:nvPr/>
        </p:nvSpPr>
        <p:spPr>
          <a:xfrm>
            <a:off x="50292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4" name="Google Shape;394;p19"/>
          <p:cNvSpPr/>
          <p:nvPr/>
        </p:nvSpPr>
        <p:spPr>
          <a:xfrm>
            <a:off x="56388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5" name="Google Shape;395;p19"/>
          <p:cNvSpPr/>
          <p:nvPr/>
        </p:nvSpPr>
        <p:spPr>
          <a:xfrm>
            <a:off x="4800600" y="4953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6" name="Google Shape;396;p19"/>
          <p:cNvSpPr/>
          <p:nvPr/>
        </p:nvSpPr>
        <p:spPr>
          <a:xfrm>
            <a:off x="5334000" y="5029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7" name="Google Shape;397;p19"/>
          <p:cNvSpPr/>
          <p:nvPr/>
        </p:nvSpPr>
        <p:spPr>
          <a:xfrm>
            <a:off x="5943600" y="5029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8" name="Google Shape;398;p19"/>
          <p:cNvSpPr/>
          <p:nvPr/>
        </p:nvSpPr>
        <p:spPr>
          <a:xfrm>
            <a:off x="65532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99" name="Google Shape;399;p19"/>
          <p:cNvSpPr/>
          <p:nvPr/>
        </p:nvSpPr>
        <p:spPr>
          <a:xfrm>
            <a:off x="75438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00" name="Google Shape;400;p19"/>
          <p:cNvSpPr/>
          <p:nvPr/>
        </p:nvSpPr>
        <p:spPr>
          <a:xfrm>
            <a:off x="8305800" y="4267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01" name="Google Shape;401;p19"/>
          <p:cNvSpPr/>
          <p:nvPr/>
        </p:nvSpPr>
        <p:spPr>
          <a:xfrm>
            <a:off x="8153400" y="49530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02" name="Google Shape;402;p19"/>
          <p:cNvSpPr/>
          <p:nvPr/>
        </p:nvSpPr>
        <p:spPr>
          <a:xfrm>
            <a:off x="8839200" y="5029200"/>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403" name="Google Shape;403;p19"/>
          <p:cNvCxnSpPr>
            <a:stCxn id="380" idx="3"/>
            <a:endCxn id="384" idx="7"/>
          </p:cNvCxnSpPr>
          <p:nvPr/>
        </p:nvCxnSpPr>
        <p:spPr>
          <a:xfrm flipH="1">
            <a:off x="1490578" y="2927163"/>
            <a:ext cx="27339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04" name="Google Shape;404;p19"/>
          <p:cNvCxnSpPr>
            <a:stCxn id="380" idx="5"/>
            <a:endCxn id="381" idx="0"/>
          </p:cNvCxnSpPr>
          <p:nvPr/>
        </p:nvCxnSpPr>
        <p:spPr>
          <a:xfrm>
            <a:off x="4386122" y="2927163"/>
            <a:ext cx="8337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05" name="Google Shape;405;p19"/>
          <p:cNvCxnSpPr>
            <a:stCxn id="380" idx="3"/>
            <a:endCxn id="385" idx="7"/>
          </p:cNvCxnSpPr>
          <p:nvPr/>
        </p:nvCxnSpPr>
        <p:spPr>
          <a:xfrm flipH="1">
            <a:off x="2176378" y="2927163"/>
            <a:ext cx="2048100" cy="699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06" name="Google Shape;406;p19"/>
          <p:cNvCxnSpPr>
            <a:stCxn id="380" idx="6"/>
            <a:endCxn id="383" idx="1"/>
          </p:cNvCxnSpPr>
          <p:nvPr/>
        </p:nvCxnSpPr>
        <p:spPr>
          <a:xfrm>
            <a:off x="4419600" y="2819400"/>
            <a:ext cx="1862400" cy="6543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07" name="Google Shape;407;p19"/>
          <p:cNvCxnSpPr>
            <a:stCxn id="380" idx="6"/>
            <a:endCxn id="382" idx="7"/>
          </p:cNvCxnSpPr>
          <p:nvPr/>
        </p:nvCxnSpPr>
        <p:spPr>
          <a:xfrm>
            <a:off x="4419600" y="2819400"/>
            <a:ext cx="3700200" cy="7305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08" name="Google Shape;408;p19"/>
          <p:cNvCxnSpPr>
            <a:stCxn id="385" idx="4"/>
            <a:endCxn id="389" idx="1"/>
          </p:cNvCxnSpPr>
          <p:nvPr/>
        </p:nvCxnSpPr>
        <p:spPr>
          <a:xfrm>
            <a:off x="2095500" y="3886200"/>
            <a:ext cx="5289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09" name="Google Shape;409;p19"/>
          <p:cNvCxnSpPr>
            <a:stCxn id="385" idx="4"/>
            <a:endCxn id="388" idx="1"/>
          </p:cNvCxnSpPr>
          <p:nvPr/>
        </p:nvCxnSpPr>
        <p:spPr>
          <a:xfrm flipH="1">
            <a:off x="1710000" y="3886200"/>
            <a:ext cx="385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0" name="Google Shape;410;p19"/>
          <p:cNvCxnSpPr>
            <a:stCxn id="388" idx="3"/>
            <a:endCxn id="390" idx="7"/>
          </p:cNvCxnSpPr>
          <p:nvPr/>
        </p:nvCxnSpPr>
        <p:spPr>
          <a:xfrm flipH="1">
            <a:off x="1490578" y="4603563"/>
            <a:ext cx="219300" cy="470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1" name="Google Shape;411;p19"/>
          <p:cNvCxnSpPr>
            <a:stCxn id="388" idx="6"/>
            <a:endCxn id="391" idx="0"/>
          </p:cNvCxnSpPr>
          <p:nvPr/>
        </p:nvCxnSpPr>
        <p:spPr>
          <a:xfrm>
            <a:off x="1905000" y="4495800"/>
            <a:ext cx="1905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2" name="Google Shape;412;p19"/>
          <p:cNvCxnSpPr>
            <a:stCxn id="381" idx="3"/>
            <a:endCxn id="392" idx="7"/>
          </p:cNvCxnSpPr>
          <p:nvPr/>
        </p:nvCxnSpPr>
        <p:spPr>
          <a:xfrm flipH="1">
            <a:off x="4614778" y="3689163"/>
            <a:ext cx="5241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3" name="Google Shape;413;p19"/>
          <p:cNvCxnSpPr>
            <a:stCxn id="381" idx="4"/>
            <a:endCxn id="393" idx="0"/>
          </p:cNvCxnSpPr>
          <p:nvPr/>
        </p:nvCxnSpPr>
        <p:spPr>
          <a:xfrm flipH="1">
            <a:off x="5143500" y="3733800"/>
            <a:ext cx="762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4" name="Google Shape;414;p19"/>
          <p:cNvCxnSpPr>
            <a:stCxn id="381" idx="5"/>
            <a:endCxn id="394" idx="1"/>
          </p:cNvCxnSpPr>
          <p:nvPr/>
        </p:nvCxnSpPr>
        <p:spPr>
          <a:xfrm>
            <a:off x="5300522" y="3689163"/>
            <a:ext cx="371700" cy="622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5" name="Google Shape;415;p19"/>
          <p:cNvCxnSpPr>
            <a:stCxn id="393" idx="4"/>
            <a:endCxn id="395" idx="7"/>
          </p:cNvCxnSpPr>
          <p:nvPr/>
        </p:nvCxnSpPr>
        <p:spPr>
          <a:xfrm flipH="1">
            <a:off x="4995600" y="4572000"/>
            <a:ext cx="1479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6" name="Google Shape;416;p19"/>
          <p:cNvCxnSpPr>
            <a:stCxn id="393" idx="5"/>
            <a:endCxn id="396" idx="7"/>
          </p:cNvCxnSpPr>
          <p:nvPr/>
        </p:nvCxnSpPr>
        <p:spPr>
          <a:xfrm>
            <a:off x="5224322" y="4527363"/>
            <a:ext cx="304800" cy="546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7" name="Google Shape;417;p19"/>
          <p:cNvCxnSpPr>
            <a:stCxn id="394" idx="5"/>
            <a:endCxn id="397" idx="0"/>
          </p:cNvCxnSpPr>
          <p:nvPr/>
        </p:nvCxnSpPr>
        <p:spPr>
          <a:xfrm>
            <a:off x="5833922" y="4527363"/>
            <a:ext cx="2241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8" name="Google Shape;418;p19"/>
          <p:cNvCxnSpPr>
            <a:stCxn id="383" idx="5"/>
            <a:endCxn id="398" idx="0"/>
          </p:cNvCxnSpPr>
          <p:nvPr/>
        </p:nvCxnSpPr>
        <p:spPr>
          <a:xfrm>
            <a:off x="6443522" y="3689163"/>
            <a:ext cx="224100" cy="5781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19" name="Google Shape;419;p19"/>
          <p:cNvCxnSpPr>
            <a:stCxn id="382" idx="3"/>
            <a:endCxn id="399" idx="7"/>
          </p:cNvCxnSpPr>
          <p:nvPr/>
        </p:nvCxnSpPr>
        <p:spPr>
          <a:xfrm flipH="1">
            <a:off x="7738978" y="3765363"/>
            <a:ext cx="219300" cy="546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20" name="Google Shape;420;p19"/>
          <p:cNvCxnSpPr>
            <a:stCxn id="382" idx="5"/>
            <a:endCxn id="400" idx="0"/>
          </p:cNvCxnSpPr>
          <p:nvPr/>
        </p:nvCxnSpPr>
        <p:spPr>
          <a:xfrm>
            <a:off x="8119922" y="3765363"/>
            <a:ext cx="3003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21" name="Google Shape;421;p19"/>
          <p:cNvCxnSpPr>
            <a:stCxn id="400" idx="4"/>
            <a:endCxn id="401" idx="7"/>
          </p:cNvCxnSpPr>
          <p:nvPr/>
        </p:nvCxnSpPr>
        <p:spPr>
          <a:xfrm flipH="1">
            <a:off x="8348400" y="4572000"/>
            <a:ext cx="717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22" name="Google Shape;422;p19"/>
          <p:cNvCxnSpPr>
            <a:stCxn id="400" idx="5"/>
            <a:endCxn id="402" idx="7"/>
          </p:cNvCxnSpPr>
          <p:nvPr/>
        </p:nvCxnSpPr>
        <p:spPr>
          <a:xfrm>
            <a:off x="8500922" y="4527363"/>
            <a:ext cx="533400" cy="546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23" name="Google Shape;423;p19"/>
          <p:cNvCxnSpPr>
            <a:stCxn id="384" idx="4"/>
            <a:endCxn id="386" idx="7"/>
          </p:cNvCxnSpPr>
          <p:nvPr/>
        </p:nvCxnSpPr>
        <p:spPr>
          <a:xfrm flipH="1">
            <a:off x="1033200" y="3810000"/>
            <a:ext cx="376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24" name="Google Shape;424;p19"/>
          <p:cNvCxnSpPr>
            <a:stCxn id="386" idx="4"/>
            <a:endCxn id="387" idx="7"/>
          </p:cNvCxnSpPr>
          <p:nvPr/>
        </p:nvCxnSpPr>
        <p:spPr>
          <a:xfrm flipH="1">
            <a:off x="652200" y="4572000"/>
            <a:ext cx="3003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425" name="Google Shape;425;p19"/>
          <p:cNvSpPr txBox="1"/>
          <p:nvPr/>
        </p:nvSpPr>
        <p:spPr>
          <a:xfrm>
            <a:off x="685800" y="3516868"/>
            <a:ext cx="64152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arpa</a:t>
            </a:r>
            <a:endParaRPr sz="1800">
              <a:solidFill>
                <a:schemeClr val="dk1"/>
              </a:solidFill>
              <a:latin typeface="Twentieth Century"/>
              <a:ea typeface="Twentieth Century"/>
              <a:cs typeface="Twentieth Century"/>
              <a:sym typeface="Twentieth Century"/>
            </a:endParaRPr>
          </a:p>
        </p:txBody>
      </p:sp>
      <p:sp>
        <p:nvSpPr>
          <p:cNvPr id="426" name="Google Shape;426;p19"/>
          <p:cNvSpPr txBox="1"/>
          <p:nvPr/>
        </p:nvSpPr>
        <p:spPr>
          <a:xfrm>
            <a:off x="1524000" y="3505200"/>
            <a:ext cx="5421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com</a:t>
            </a:r>
            <a:endParaRPr sz="1800">
              <a:solidFill>
                <a:schemeClr val="dk1"/>
              </a:solidFill>
              <a:latin typeface="Twentieth Century"/>
              <a:ea typeface="Twentieth Century"/>
              <a:cs typeface="Twentieth Century"/>
              <a:sym typeface="Twentieth Century"/>
            </a:endParaRPr>
          </a:p>
        </p:txBody>
      </p:sp>
      <p:sp>
        <p:nvSpPr>
          <p:cNvPr id="427" name="Google Shape;427;p19"/>
          <p:cNvSpPr txBox="1"/>
          <p:nvPr/>
        </p:nvSpPr>
        <p:spPr>
          <a:xfrm>
            <a:off x="4563264" y="3429000"/>
            <a:ext cx="5036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org</a:t>
            </a:r>
            <a:endParaRPr sz="1800">
              <a:solidFill>
                <a:schemeClr val="dk1"/>
              </a:solidFill>
              <a:latin typeface="Twentieth Century"/>
              <a:ea typeface="Twentieth Century"/>
              <a:cs typeface="Twentieth Century"/>
              <a:sym typeface="Twentieth Century"/>
            </a:endParaRPr>
          </a:p>
        </p:txBody>
      </p:sp>
      <p:sp>
        <p:nvSpPr>
          <p:cNvPr id="428" name="Google Shape;428;p19"/>
          <p:cNvSpPr txBox="1"/>
          <p:nvPr/>
        </p:nvSpPr>
        <p:spPr>
          <a:xfrm>
            <a:off x="5744736" y="3440668"/>
            <a:ext cx="4379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ad</a:t>
            </a:r>
            <a:endParaRPr sz="1800">
              <a:solidFill>
                <a:schemeClr val="dk1"/>
              </a:solidFill>
              <a:latin typeface="Twentieth Century"/>
              <a:ea typeface="Twentieth Century"/>
              <a:cs typeface="Twentieth Century"/>
              <a:sym typeface="Twentieth Century"/>
            </a:endParaRPr>
          </a:p>
        </p:txBody>
      </p:sp>
      <p:sp>
        <p:nvSpPr>
          <p:cNvPr id="429" name="Google Shape;429;p19"/>
          <p:cNvSpPr txBox="1"/>
          <p:nvPr/>
        </p:nvSpPr>
        <p:spPr>
          <a:xfrm>
            <a:off x="7485256" y="3516868"/>
            <a:ext cx="4395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zw</a:t>
            </a:r>
            <a:endParaRPr sz="1800">
              <a:solidFill>
                <a:schemeClr val="dk1"/>
              </a:solidFill>
              <a:latin typeface="Twentieth Century"/>
              <a:ea typeface="Twentieth Century"/>
              <a:cs typeface="Twentieth Century"/>
              <a:sym typeface="Twentieth Century"/>
            </a:endParaRPr>
          </a:p>
        </p:txBody>
      </p:sp>
      <p:sp>
        <p:nvSpPr>
          <p:cNvPr id="430" name="Google Shape;430;p19"/>
          <p:cNvSpPr/>
          <p:nvPr/>
        </p:nvSpPr>
        <p:spPr>
          <a:xfrm>
            <a:off x="3962400" y="36576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1" name="Google Shape;431;p19"/>
          <p:cNvSpPr/>
          <p:nvPr/>
        </p:nvSpPr>
        <p:spPr>
          <a:xfrm>
            <a:off x="2819400" y="36576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2" name="Google Shape;432;p19"/>
          <p:cNvSpPr/>
          <p:nvPr/>
        </p:nvSpPr>
        <p:spPr>
          <a:xfrm>
            <a:off x="3200400" y="36576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3" name="Google Shape;433;p19"/>
          <p:cNvSpPr/>
          <p:nvPr/>
        </p:nvSpPr>
        <p:spPr>
          <a:xfrm>
            <a:off x="3581400" y="36576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4" name="Google Shape;434;p19"/>
          <p:cNvSpPr/>
          <p:nvPr/>
        </p:nvSpPr>
        <p:spPr>
          <a:xfrm>
            <a:off x="7391400" y="36576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5" name="Google Shape;435;p19"/>
          <p:cNvSpPr/>
          <p:nvPr/>
        </p:nvSpPr>
        <p:spPr>
          <a:xfrm>
            <a:off x="6629400" y="36576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6" name="Google Shape;436;p19"/>
          <p:cNvSpPr/>
          <p:nvPr/>
        </p:nvSpPr>
        <p:spPr>
          <a:xfrm>
            <a:off x="7010400" y="3657600"/>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37" name="Google Shape;437;p19"/>
          <p:cNvSpPr txBox="1"/>
          <p:nvPr/>
        </p:nvSpPr>
        <p:spPr>
          <a:xfrm>
            <a:off x="4876800" y="2590800"/>
            <a:ext cx="1256434" cy="369332"/>
          </a:xfrm>
          <a:prstGeom prst="rect">
            <a:avLst/>
          </a:prstGeom>
          <a:solidFill>
            <a:schemeClr val="accent2"/>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Root Server</a:t>
            </a:r>
            <a:endParaRPr sz="1800">
              <a:solidFill>
                <a:schemeClr val="lt1"/>
              </a:solidFill>
              <a:latin typeface="Twentieth Century"/>
              <a:ea typeface="Twentieth Century"/>
              <a:cs typeface="Twentieth Century"/>
              <a:sym typeface="Twentieth Century"/>
            </a:endParaRPr>
          </a:p>
        </p:txBody>
      </p:sp>
      <p:sp>
        <p:nvSpPr>
          <p:cNvPr id="438" name="Google Shape;438;p19"/>
          <p:cNvSpPr txBox="1"/>
          <p:nvPr/>
        </p:nvSpPr>
        <p:spPr>
          <a:xfrm>
            <a:off x="8305800" y="3352800"/>
            <a:ext cx="513282" cy="369332"/>
          </a:xfrm>
          <a:prstGeom prst="rect">
            <a:avLst/>
          </a:prstGeom>
          <a:solidFill>
            <a:schemeClr val="accent2"/>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Twentieth Century"/>
                <a:ea typeface="Twentieth Century"/>
                <a:cs typeface="Twentieth Century"/>
                <a:sym typeface="Twentieth Century"/>
              </a:rPr>
              <a:t>TLD</a:t>
            </a:r>
            <a:endParaRPr sz="1800">
              <a:solidFill>
                <a:schemeClr val="lt1"/>
              </a:solidFill>
              <a:latin typeface="Twentieth Century"/>
              <a:ea typeface="Twentieth Century"/>
              <a:cs typeface="Twentieth Century"/>
              <a:sym typeface="Twentieth Century"/>
            </a:endParaRPr>
          </a:p>
        </p:txBody>
      </p:sp>
      <p:sp>
        <p:nvSpPr>
          <p:cNvPr id="439" name="Google Shape;439;p19"/>
          <p:cNvSpPr txBox="1"/>
          <p:nvPr/>
        </p:nvSpPr>
        <p:spPr>
          <a:xfrm>
            <a:off x="228600" y="4050268"/>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wentieth Century"/>
              <a:ea typeface="Twentieth Century"/>
              <a:cs typeface="Twentieth Century"/>
              <a:sym typeface="Twentieth Century"/>
            </a:endParaRPr>
          </a:p>
        </p:txBody>
      </p:sp>
      <p:sp>
        <p:nvSpPr>
          <p:cNvPr id="440" name="Google Shape;440;p19"/>
          <p:cNvSpPr txBox="1"/>
          <p:nvPr/>
        </p:nvSpPr>
        <p:spPr>
          <a:xfrm>
            <a:off x="2895600" y="4267200"/>
            <a:ext cx="10088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cisco.com</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0"/>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Root DNS Server</a:t>
            </a:r>
            <a:endParaRPr/>
          </a:p>
        </p:txBody>
      </p:sp>
      <p:sp>
        <p:nvSpPr>
          <p:cNvPr id="446" name="Google Shape;446;p2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447" name="Google Shape;447;p20"/>
          <p:cNvSpPr txBox="1"/>
          <p:nvPr>
            <p:ph idx="1" type="body"/>
          </p:nvPr>
        </p:nvSpPr>
        <p:spPr>
          <a:xfrm>
            <a:off x="612648" y="1600200"/>
            <a:ext cx="8153400" cy="1752600"/>
          </a:xfrm>
          <a:prstGeom prst="rect">
            <a:avLst/>
          </a:prstGeom>
          <a:noFill/>
          <a:ln>
            <a:noFill/>
          </a:ln>
        </p:spPr>
        <p:txBody>
          <a:bodyPr anchorCtr="0" anchor="t" bIns="45700" lIns="91425" spcFirstLastPara="1" rIns="91425" wrap="square" tIns="45700">
            <a:normAutofit lnSpcReduction="10000"/>
          </a:bodyPr>
          <a:lstStyle/>
          <a:p>
            <a:pPr indent="-320040" lvl="0" marL="320040" rtl="0" algn="l">
              <a:spcBef>
                <a:spcPts val="0"/>
              </a:spcBef>
              <a:spcAft>
                <a:spcPts val="0"/>
              </a:spcAft>
              <a:buSzPts val="1740"/>
              <a:buChar char="◻"/>
            </a:pPr>
            <a:r>
              <a:rPr lang="en-US"/>
              <a:t>Root DNS Server</a:t>
            </a:r>
            <a:endParaRPr/>
          </a:p>
          <a:p>
            <a:pPr indent="-274320" lvl="1" marL="640080" rtl="0" algn="l">
              <a:spcBef>
                <a:spcPts val="550"/>
              </a:spcBef>
              <a:spcAft>
                <a:spcPts val="0"/>
              </a:spcAft>
              <a:buSzPts val="1820"/>
              <a:buChar char="🞑"/>
            </a:pPr>
            <a:r>
              <a:rPr lang="en-US"/>
              <a:t>Number of Root servers distributed throughout the world</a:t>
            </a:r>
            <a:endParaRPr/>
          </a:p>
          <a:p>
            <a:pPr indent="-274320" lvl="1" marL="640080" rtl="0" algn="l">
              <a:spcBef>
                <a:spcPts val="550"/>
              </a:spcBef>
              <a:spcAft>
                <a:spcPts val="0"/>
              </a:spcAft>
              <a:buSzPts val="1820"/>
              <a:buChar char="🞑"/>
            </a:pPr>
            <a:r>
              <a:rPr lang="en-US"/>
              <a:t>Some servers are in fact cluster</a:t>
            </a:r>
            <a:endParaRPr/>
          </a:p>
        </p:txBody>
      </p:sp>
      <p:pic>
        <p:nvPicPr>
          <p:cNvPr id="448" name="Google Shape;448;p20"/>
          <p:cNvPicPr preferRelativeResize="0"/>
          <p:nvPr/>
        </p:nvPicPr>
        <p:blipFill rotWithShape="1">
          <a:blip r:embed="rId3">
            <a:alphaModFix/>
          </a:blip>
          <a:srcRect b="0" l="0" r="0" t="0"/>
          <a:stretch/>
        </p:blipFill>
        <p:spPr>
          <a:xfrm>
            <a:off x="990600" y="3276600"/>
            <a:ext cx="7315200" cy="2667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1"/>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wentieth Century"/>
              <a:buNone/>
            </a:pPr>
            <a:r>
              <a:rPr lang="en-US"/>
              <a:t>TLD Server &amp; Authoritative DNS Server</a:t>
            </a:r>
            <a:endParaRPr/>
          </a:p>
        </p:txBody>
      </p:sp>
      <p:sp>
        <p:nvSpPr>
          <p:cNvPr id="454" name="Google Shape;454;p2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455" name="Google Shape;455;p21"/>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TLD Server</a:t>
            </a:r>
            <a:endParaRPr/>
          </a:p>
          <a:p>
            <a:pPr indent="-274320" lvl="1" marL="640080" rtl="0" algn="l">
              <a:spcBef>
                <a:spcPts val="550"/>
              </a:spcBef>
              <a:spcAft>
                <a:spcPts val="0"/>
              </a:spcAft>
              <a:buSzPts val="1820"/>
              <a:buChar char="🞑"/>
            </a:pPr>
            <a:r>
              <a:rPr lang="en-US"/>
              <a:t>These servers are responsible for </a:t>
            </a:r>
            <a:r>
              <a:rPr lang="en-US">
                <a:solidFill>
                  <a:srgbClr val="FF0000"/>
                </a:solidFill>
              </a:rPr>
              <a:t>Generic Top-level Domains</a:t>
            </a:r>
            <a:r>
              <a:rPr lang="en-US"/>
              <a:t> such as com, org, net, edu and gov and all of the </a:t>
            </a:r>
            <a:r>
              <a:rPr lang="en-US">
                <a:solidFill>
                  <a:srgbClr val="FF0000"/>
                </a:solidFill>
              </a:rPr>
              <a:t>Country Top-level Domains </a:t>
            </a:r>
            <a:r>
              <a:rPr lang="en-US"/>
              <a:t>such as uk, fr, ca, bd</a:t>
            </a:r>
            <a:endParaRPr/>
          </a:p>
          <a:p>
            <a:pPr indent="-320040" lvl="0" marL="320040" rtl="0" algn="l">
              <a:spcBef>
                <a:spcPts val="700"/>
              </a:spcBef>
              <a:spcAft>
                <a:spcPts val="0"/>
              </a:spcAft>
              <a:buSzPts val="1740"/>
              <a:buChar char="◻"/>
            </a:pPr>
            <a:r>
              <a:rPr lang="en-US"/>
              <a:t>Authoritative DNS Server</a:t>
            </a:r>
            <a:endParaRPr/>
          </a:p>
          <a:p>
            <a:pPr indent="-274320" lvl="1" marL="640080" rtl="0" algn="l">
              <a:spcBef>
                <a:spcPts val="550"/>
              </a:spcBef>
              <a:spcAft>
                <a:spcPts val="0"/>
              </a:spcAft>
              <a:buSzPts val="1820"/>
              <a:buChar char="🞑"/>
            </a:pPr>
            <a:r>
              <a:rPr lang="en-US"/>
              <a:t>Every organization with publicly accessible host must provide publicly accessible DNS records that map names of those host to IP Addresses</a:t>
            </a:r>
            <a:endParaRPr/>
          </a:p>
          <a:p>
            <a:pPr indent="-274320" lvl="1" marL="640080" rtl="0" algn="l">
              <a:spcBef>
                <a:spcPts val="550"/>
              </a:spcBef>
              <a:spcAft>
                <a:spcPts val="0"/>
              </a:spcAft>
              <a:buSzPts val="1820"/>
              <a:buChar char="🞑"/>
            </a:pPr>
            <a:r>
              <a:rPr lang="en-US"/>
              <a:t>An organization authoritative DNS houses these DNS records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Local DNS Server</a:t>
            </a:r>
            <a:endParaRPr/>
          </a:p>
        </p:txBody>
      </p:sp>
      <p:sp>
        <p:nvSpPr>
          <p:cNvPr id="461" name="Google Shape;461;p22"/>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462" name="Google Shape;462;p22"/>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Does not strictly belong to the hierarchy of servers</a:t>
            </a:r>
            <a:endParaRPr/>
          </a:p>
          <a:p>
            <a:pPr indent="-320040" lvl="0" marL="320040" rtl="0" algn="l">
              <a:spcBef>
                <a:spcPts val="700"/>
              </a:spcBef>
              <a:spcAft>
                <a:spcPts val="0"/>
              </a:spcAft>
              <a:buSzPts val="1740"/>
              <a:buChar char="◻"/>
            </a:pPr>
            <a:r>
              <a:rPr lang="en-US"/>
              <a:t>Each ISP has a local DNS server</a:t>
            </a:r>
            <a:endParaRPr/>
          </a:p>
          <a:p>
            <a:pPr indent="-320040" lvl="0" marL="320040" rtl="0" algn="l">
              <a:spcBef>
                <a:spcPts val="700"/>
              </a:spcBef>
              <a:spcAft>
                <a:spcPts val="0"/>
              </a:spcAft>
              <a:buSzPts val="1740"/>
              <a:buChar char="◻"/>
            </a:pPr>
            <a:r>
              <a:rPr lang="en-US"/>
              <a:t>When a host connects to the ISP, the ISP provides IP addresses one or more of its local DNS servers</a:t>
            </a:r>
            <a:endParaRPr/>
          </a:p>
          <a:p>
            <a:pPr indent="-320040" lvl="0" marL="320040" rtl="0" algn="l">
              <a:spcBef>
                <a:spcPts val="700"/>
              </a:spcBef>
              <a:spcAft>
                <a:spcPts val="0"/>
              </a:spcAft>
              <a:buSzPts val="1740"/>
              <a:buChar char="◻"/>
            </a:pPr>
            <a:r>
              <a:rPr lang="en-US"/>
              <a:t>When a host makes a DNS query, the query is sent to the local DNS server which acts as a proxy, forwarding the query into the DNS server hierarchy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23"/>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Zone</a:t>
            </a:r>
            <a:endParaRPr/>
          </a:p>
        </p:txBody>
      </p:sp>
      <p:sp>
        <p:nvSpPr>
          <p:cNvPr id="468" name="Google Shape;468;p2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469" name="Google Shape;469;p23"/>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lnSpcReduction="10000"/>
          </a:bodyPr>
          <a:lstStyle/>
          <a:p>
            <a:pPr indent="-320059" lvl="0" marL="320040" rtl="0" algn="l">
              <a:spcBef>
                <a:spcPts val="0"/>
              </a:spcBef>
              <a:spcAft>
                <a:spcPts val="0"/>
              </a:spcAft>
              <a:buSzPct val="59999"/>
              <a:buChar char="◻"/>
            </a:pPr>
            <a:r>
              <a:rPr lang="en-US"/>
              <a:t>Refers to a certain portion or administrative space within the global DNS</a:t>
            </a:r>
            <a:endParaRPr/>
          </a:p>
          <a:p>
            <a:pPr indent="-320059" lvl="0" marL="320040" rtl="0" algn="l">
              <a:spcBef>
                <a:spcPts val="700"/>
              </a:spcBef>
              <a:spcAft>
                <a:spcPts val="0"/>
              </a:spcAft>
              <a:buSzPct val="59999"/>
              <a:buChar char="◻"/>
            </a:pPr>
            <a:r>
              <a:rPr lang="en-US"/>
              <a:t>All DNS zones form the DNS namespace </a:t>
            </a:r>
            <a:endParaRPr/>
          </a:p>
          <a:p>
            <a:pPr indent="-320059" lvl="0" marL="320040" rtl="0" algn="l">
              <a:spcBef>
                <a:spcPts val="700"/>
              </a:spcBef>
              <a:spcAft>
                <a:spcPts val="0"/>
              </a:spcAft>
              <a:buSzPct val="59999"/>
              <a:buChar char="◻"/>
            </a:pPr>
            <a:r>
              <a:rPr lang="en-US"/>
              <a:t>Depending on the administrative rights delegated to a certain entity, DNS zones may consist of only one domain, or of many domains and sub-domains. </a:t>
            </a:r>
            <a:endParaRPr/>
          </a:p>
          <a:p>
            <a:pPr indent="-320059" lvl="0" marL="320040" rtl="0" algn="l">
              <a:spcBef>
                <a:spcPts val="700"/>
              </a:spcBef>
              <a:spcAft>
                <a:spcPts val="0"/>
              </a:spcAft>
              <a:buSzPct val="59999"/>
              <a:buChar char="◻"/>
            </a:pPr>
            <a:r>
              <a:rPr lang="en-US"/>
              <a:t>Further authority over a sub-space could be delegated to other servers, if necessary.</a:t>
            </a:r>
            <a:endParaRPr/>
          </a:p>
          <a:p>
            <a:pPr indent="-320059" lvl="0" marL="320040" rtl="0" algn="l">
              <a:spcBef>
                <a:spcPts val="700"/>
              </a:spcBef>
              <a:spcAft>
                <a:spcPts val="0"/>
              </a:spcAft>
              <a:buSzPct val="59999"/>
              <a:buChar char="◻"/>
            </a:pPr>
            <a:r>
              <a:rPr lang="en-US">
                <a:solidFill>
                  <a:srgbClr val="FF0000"/>
                </a:solidFill>
              </a:rPr>
              <a:t>Zone File </a:t>
            </a:r>
            <a:r>
              <a:rPr lang="en-US"/>
              <a:t>keeps all information for every node under the domain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4"/>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Zone Explained</a:t>
            </a:r>
            <a:endParaRPr/>
          </a:p>
        </p:txBody>
      </p:sp>
      <p:sp>
        <p:nvSpPr>
          <p:cNvPr id="475" name="Google Shape;475;p2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476" name="Google Shape;476;p24"/>
          <p:cNvSpPr/>
          <p:nvPr/>
        </p:nvSpPr>
        <p:spPr>
          <a:xfrm>
            <a:off x="2971800" y="2483038"/>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77" name="Google Shape;477;p24"/>
          <p:cNvSpPr/>
          <p:nvPr/>
        </p:nvSpPr>
        <p:spPr>
          <a:xfrm>
            <a:off x="2667000" y="3245038"/>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78" name="Google Shape;478;p24"/>
          <p:cNvSpPr/>
          <p:nvPr/>
        </p:nvSpPr>
        <p:spPr>
          <a:xfrm>
            <a:off x="3581400" y="3168838"/>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79" name="Google Shape;479;p24"/>
          <p:cNvSpPr/>
          <p:nvPr/>
        </p:nvSpPr>
        <p:spPr>
          <a:xfrm>
            <a:off x="2286000" y="3930838"/>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80" name="Google Shape;480;p24"/>
          <p:cNvSpPr/>
          <p:nvPr/>
        </p:nvSpPr>
        <p:spPr>
          <a:xfrm>
            <a:off x="2971800" y="3930838"/>
            <a:ext cx="228600" cy="304800"/>
          </a:xfrm>
          <a:prstGeom prst="ellipse">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481" name="Google Shape;481;p24"/>
          <p:cNvCxnSpPr/>
          <p:nvPr/>
        </p:nvCxnSpPr>
        <p:spPr>
          <a:xfrm rot="5400000">
            <a:off x="3536763" y="773160"/>
            <a:ext cx="622674" cy="2733956"/>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82" name="Google Shape;482;p24"/>
          <p:cNvCxnSpPr/>
          <p:nvPr/>
        </p:nvCxnSpPr>
        <p:spPr>
          <a:xfrm flipH="1" rot="-5400000">
            <a:off x="5542593" y="1662930"/>
            <a:ext cx="501837" cy="833578"/>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83" name="Google Shape;483;p24"/>
          <p:cNvCxnSpPr>
            <a:endCxn id="476" idx="7"/>
          </p:cNvCxnSpPr>
          <p:nvPr/>
        </p:nvCxnSpPr>
        <p:spPr>
          <a:xfrm flipH="1">
            <a:off x="3166922" y="1828675"/>
            <a:ext cx="2048100" cy="699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84" name="Google Shape;484;p24"/>
          <p:cNvCxnSpPr>
            <a:stCxn id="476" idx="4"/>
            <a:endCxn id="478" idx="1"/>
          </p:cNvCxnSpPr>
          <p:nvPr/>
        </p:nvCxnSpPr>
        <p:spPr>
          <a:xfrm>
            <a:off x="3086100" y="2787838"/>
            <a:ext cx="528900" cy="4257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85" name="Google Shape;485;p24"/>
          <p:cNvCxnSpPr>
            <a:stCxn id="476" idx="4"/>
            <a:endCxn id="477" idx="1"/>
          </p:cNvCxnSpPr>
          <p:nvPr/>
        </p:nvCxnSpPr>
        <p:spPr>
          <a:xfrm flipH="1">
            <a:off x="2700600" y="2787838"/>
            <a:ext cx="385500" cy="5019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86" name="Google Shape;486;p24"/>
          <p:cNvCxnSpPr>
            <a:stCxn id="477" idx="3"/>
            <a:endCxn id="479" idx="7"/>
          </p:cNvCxnSpPr>
          <p:nvPr/>
        </p:nvCxnSpPr>
        <p:spPr>
          <a:xfrm flipH="1">
            <a:off x="2481178" y="3505201"/>
            <a:ext cx="219300" cy="470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487" name="Google Shape;487;p24"/>
          <p:cNvCxnSpPr>
            <a:stCxn id="477" idx="6"/>
            <a:endCxn id="480" idx="0"/>
          </p:cNvCxnSpPr>
          <p:nvPr/>
        </p:nvCxnSpPr>
        <p:spPr>
          <a:xfrm>
            <a:off x="2895600" y="3397438"/>
            <a:ext cx="1905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488" name="Google Shape;488;p24"/>
          <p:cNvSpPr txBox="1"/>
          <p:nvPr/>
        </p:nvSpPr>
        <p:spPr>
          <a:xfrm>
            <a:off x="1447800" y="2406838"/>
            <a:ext cx="11608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buet.ac.bd</a:t>
            </a:r>
            <a:endParaRPr sz="1800">
              <a:solidFill>
                <a:schemeClr val="dk1"/>
              </a:solidFill>
              <a:latin typeface="Twentieth Century"/>
              <a:ea typeface="Twentieth Century"/>
              <a:cs typeface="Twentieth Century"/>
              <a:sym typeface="Twentieth Century"/>
            </a:endParaRPr>
          </a:p>
        </p:txBody>
      </p:sp>
      <p:sp>
        <p:nvSpPr>
          <p:cNvPr id="489" name="Google Shape;489;p24"/>
          <p:cNvSpPr/>
          <p:nvPr/>
        </p:nvSpPr>
        <p:spPr>
          <a:xfrm>
            <a:off x="4953000" y="2559238"/>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90" name="Google Shape;490;p24"/>
          <p:cNvSpPr/>
          <p:nvPr/>
        </p:nvSpPr>
        <p:spPr>
          <a:xfrm>
            <a:off x="4191000" y="2559238"/>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91" name="Google Shape;491;p24"/>
          <p:cNvSpPr/>
          <p:nvPr/>
        </p:nvSpPr>
        <p:spPr>
          <a:xfrm>
            <a:off x="4572000" y="2559238"/>
            <a:ext cx="76200" cy="152400"/>
          </a:xfrm>
          <a:prstGeom prst="ellipse">
            <a:avLst/>
          </a:prstGeom>
          <a:solidFill>
            <a:schemeClr val="dk1"/>
          </a:solidFill>
          <a:ln cap="flat"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92" name="Google Shape;492;p24"/>
          <p:cNvSpPr/>
          <p:nvPr/>
        </p:nvSpPr>
        <p:spPr>
          <a:xfrm>
            <a:off x="2259443" y="3141483"/>
            <a:ext cx="1091307" cy="1534353"/>
          </a:xfrm>
          <a:prstGeom prst="ellipse">
            <a:avLst/>
          </a:prstGeom>
          <a:solidFill>
            <a:schemeClr val="accent1">
              <a:alpha val="20000"/>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93" name="Google Shape;493;p24"/>
          <p:cNvSpPr/>
          <p:nvPr/>
        </p:nvSpPr>
        <p:spPr>
          <a:xfrm rot="-2325006">
            <a:off x="2868737" y="2338304"/>
            <a:ext cx="914400" cy="1447800"/>
          </a:xfrm>
          <a:prstGeom prst="ellipse">
            <a:avLst/>
          </a:prstGeom>
          <a:solidFill>
            <a:schemeClr val="accent1">
              <a:alpha val="20000"/>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494" name="Google Shape;494;p24"/>
          <p:cNvSpPr txBox="1"/>
          <p:nvPr/>
        </p:nvSpPr>
        <p:spPr>
          <a:xfrm>
            <a:off x="762000" y="3200400"/>
            <a:ext cx="149047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cse.buet.ac.bd</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Authoritative DNS Server Types</a:t>
            </a:r>
            <a:endParaRPr/>
          </a:p>
        </p:txBody>
      </p:sp>
      <p:sp>
        <p:nvSpPr>
          <p:cNvPr id="500" name="Google Shape;500;p25"/>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501" name="Google Shape;501;p25"/>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Primary DNS Server</a:t>
            </a:r>
            <a:endParaRPr/>
          </a:p>
          <a:p>
            <a:pPr indent="-274320" lvl="1" marL="640080" rtl="0" algn="l">
              <a:spcBef>
                <a:spcPts val="550"/>
              </a:spcBef>
              <a:spcAft>
                <a:spcPts val="0"/>
              </a:spcAft>
              <a:buSzPts val="1820"/>
              <a:buChar char="🞑"/>
            </a:pPr>
            <a:r>
              <a:rPr lang="en-US"/>
              <a:t>Stores a file about the zone for which it is </a:t>
            </a:r>
            <a:r>
              <a:rPr lang="en-US">
                <a:solidFill>
                  <a:srgbClr val="FF0000"/>
                </a:solidFill>
              </a:rPr>
              <a:t>an authority</a:t>
            </a:r>
            <a:endParaRPr/>
          </a:p>
          <a:p>
            <a:pPr indent="-274320" lvl="1" marL="640080" rtl="0" algn="l">
              <a:spcBef>
                <a:spcPts val="550"/>
              </a:spcBef>
              <a:spcAft>
                <a:spcPts val="0"/>
              </a:spcAft>
              <a:buSzPts val="1820"/>
              <a:buChar char="🞑"/>
            </a:pPr>
            <a:r>
              <a:rPr lang="en-US"/>
              <a:t>Responsible for creating, maintaining and updating Zone file</a:t>
            </a:r>
            <a:endParaRPr/>
          </a:p>
          <a:p>
            <a:pPr indent="-274320" lvl="1" marL="640080" rtl="0" algn="l">
              <a:spcBef>
                <a:spcPts val="550"/>
              </a:spcBef>
              <a:spcAft>
                <a:spcPts val="0"/>
              </a:spcAft>
              <a:buSzPts val="1820"/>
              <a:buChar char="🞑"/>
            </a:pPr>
            <a:r>
              <a:rPr lang="en-US"/>
              <a:t>Stores zone file in a local disk</a:t>
            </a:r>
            <a:endParaRPr/>
          </a:p>
          <a:p>
            <a:pPr indent="-320040" lvl="0" marL="320040" rtl="0" algn="l">
              <a:spcBef>
                <a:spcPts val="700"/>
              </a:spcBef>
              <a:spcAft>
                <a:spcPts val="0"/>
              </a:spcAft>
              <a:buSzPts val="1740"/>
              <a:buChar char="◻"/>
            </a:pPr>
            <a:r>
              <a:rPr lang="en-US"/>
              <a:t>Secondary DNS Server</a:t>
            </a:r>
            <a:endParaRPr/>
          </a:p>
          <a:p>
            <a:pPr indent="-274320" lvl="1" marL="640080" rtl="0" algn="l">
              <a:spcBef>
                <a:spcPts val="550"/>
              </a:spcBef>
              <a:spcAft>
                <a:spcPts val="0"/>
              </a:spcAft>
              <a:buSzPts val="1820"/>
              <a:buChar char="🞑"/>
            </a:pPr>
            <a:r>
              <a:rPr lang="en-US"/>
              <a:t>Transfers the complete information about a zone from another server (primary or secondary) and stores the file in the local disk</a:t>
            </a:r>
            <a:endParaRPr/>
          </a:p>
          <a:p>
            <a:pPr indent="-209550" lvl="0" marL="320040" rtl="0" algn="l">
              <a:spcBef>
                <a:spcPts val="700"/>
              </a:spcBef>
              <a:spcAft>
                <a:spcPts val="0"/>
              </a:spcAft>
              <a:buSzPts val="174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Primary and Secondary Servers</a:t>
            </a:r>
            <a:endParaRPr/>
          </a:p>
        </p:txBody>
      </p:sp>
      <p:sp>
        <p:nvSpPr>
          <p:cNvPr id="507" name="Google Shape;507;p26"/>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508" name="Google Shape;508;p2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Both are </a:t>
            </a:r>
            <a:r>
              <a:rPr lang="en-US">
                <a:solidFill>
                  <a:srgbClr val="FF0000"/>
                </a:solidFill>
              </a:rPr>
              <a:t>authoritative</a:t>
            </a:r>
            <a:r>
              <a:rPr lang="en-US"/>
              <a:t> for the zone that they serve</a:t>
            </a:r>
            <a:endParaRPr/>
          </a:p>
          <a:p>
            <a:pPr indent="-320040" lvl="0" marL="320040" rtl="0" algn="l">
              <a:spcBef>
                <a:spcPts val="700"/>
              </a:spcBef>
              <a:spcAft>
                <a:spcPts val="0"/>
              </a:spcAft>
              <a:buSzPts val="1740"/>
              <a:buChar char="◻"/>
            </a:pPr>
            <a:r>
              <a:rPr lang="en-US"/>
              <a:t>The method of downloading information by secondary from primary is known as Zone Transfer</a:t>
            </a:r>
            <a:endParaRPr/>
          </a:p>
          <a:p>
            <a:pPr indent="-320040" lvl="0" marL="320040" rtl="0" algn="l">
              <a:spcBef>
                <a:spcPts val="700"/>
              </a:spcBef>
              <a:spcAft>
                <a:spcPts val="0"/>
              </a:spcAft>
              <a:buSzPts val="1740"/>
              <a:buChar char="◻"/>
            </a:pPr>
            <a:r>
              <a:rPr lang="en-US"/>
              <a:t>Utility</a:t>
            </a:r>
            <a:endParaRPr/>
          </a:p>
          <a:p>
            <a:pPr indent="-274320" lvl="1" marL="640080" rtl="0" algn="l">
              <a:spcBef>
                <a:spcPts val="550"/>
              </a:spcBef>
              <a:spcAft>
                <a:spcPts val="0"/>
              </a:spcAft>
              <a:buSzPts val="1820"/>
              <a:buChar char="🞑"/>
            </a:pPr>
            <a:r>
              <a:rPr lang="en-US"/>
              <a:t>Create Redundancy to mitigate the failure</a:t>
            </a:r>
            <a:endParaRPr/>
          </a:p>
          <a:p>
            <a:pPr indent="-158750" lvl="1" marL="640080" rtl="0" algn="l">
              <a:spcBef>
                <a:spcPts val="550"/>
              </a:spcBef>
              <a:spcAft>
                <a:spcPts val="0"/>
              </a:spcAft>
              <a:buSzPts val="182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27"/>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Resolver</a:t>
            </a:r>
            <a:endParaRPr/>
          </a:p>
        </p:txBody>
      </p:sp>
      <p:sp>
        <p:nvSpPr>
          <p:cNvPr id="514" name="Google Shape;514;p27"/>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515" name="Google Shape;515;p27"/>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Host that needs to map an address to a name or a name to an address calls a DNS client called a Resolver</a:t>
            </a:r>
            <a:endParaRPr/>
          </a:p>
          <a:p>
            <a:pPr indent="-320040" lvl="0" marL="320040" rtl="0" algn="l">
              <a:spcBef>
                <a:spcPts val="700"/>
              </a:spcBef>
              <a:spcAft>
                <a:spcPts val="0"/>
              </a:spcAft>
              <a:buSzPts val="1740"/>
              <a:buChar char="◻"/>
            </a:pPr>
            <a:r>
              <a:rPr lang="en-US"/>
              <a:t>The resolver accesses the closest DNS server with a mapping request.</a:t>
            </a:r>
            <a:endParaRPr/>
          </a:p>
          <a:p>
            <a:pPr indent="-320040" lvl="0" marL="320040" rtl="0" algn="l">
              <a:spcBef>
                <a:spcPts val="700"/>
              </a:spcBef>
              <a:spcAft>
                <a:spcPts val="0"/>
              </a:spcAft>
              <a:buSzPts val="1740"/>
              <a:buChar char="◻"/>
            </a:pPr>
            <a:r>
              <a:rPr lang="en-US"/>
              <a:t>If the server has the information, it satisfies the resolver, otherwise, it either refers the resolver to other servers or other servers to provide information</a:t>
            </a:r>
            <a:endParaRPr/>
          </a:p>
          <a:p>
            <a:pPr indent="-320040" lvl="0" marL="320040" rtl="0" algn="l">
              <a:spcBef>
                <a:spcPts val="700"/>
              </a:spcBef>
              <a:spcAft>
                <a:spcPts val="0"/>
              </a:spcAft>
              <a:buSzPts val="1740"/>
              <a:buChar char="◻"/>
            </a:pPr>
            <a:r>
              <a:rPr lang="en-US"/>
              <a:t>It also checks the occurrence of any error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Recursive Resolution</a:t>
            </a:r>
            <a:endParaRPr/>
          </a:p>
        </p:txBody>
      </p:sp>
      <p:sp>
        <p:nvSpPr>
          <p:cNvPr id="521" name="Google Shape;521;p2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522" name="Google Shape;522;p28"/>
          <p:cNvSpPr txBox="1"/>
          <p:nvPr>
            <p:ph idx="1" type="body"/>
          </p:nvPr>
        </p:nvSpPr>
        <p:spPr>
          <a:xfrm>
            <a:off x="612648" y="1600200"/>
            <a:ext cx="7921752" cy="4495800"/>
          </a:xfrm>
          <a:prstGeom prst="rect">
            <a:avLst/>
          </a:prstGeom>
          <a:noFill/>
          <a:ln>
            <a:noFill/>
          </a:ln>
        </p:spPr>
        <p:txBody>
          <a:bodyPr anchorCtr="0" anchor="t" bIns="45700" lIns="91425" spcFirstLastPara="1" rIns="91425" wrap="square" tIns="45700">
            <a:normAutofit fontScale="92500" lnSpcReduction="10000"/>
          </a:bodyPr>
          <a:lstStyle/>
          <a:p>
            <a:pPr indent="-320059" lvl="0" marL="320040" rtl="0" algn="l">
              <a:spcBef>
                <a:spcPts val="0"/>
              </a:spcBef>
              <a:spcAft>
                <a:spcPts val="0"/>
              </a:spcAft>
              <a:buSzPct val="59999"/>
              <a:buChar char="◻"/>
            </a:pPr>
            <a:r>
              <a:rPr lang="en-US"/>
              <a:t>Resolver accepts the server to supply the final answer</a:t>
            </a:r>
            <a:endParaRPr/>
          </a:p>
          <a:p>
            <a:pPr indent="-320059" lvl="0" marL="320040" rtl="0" algn="l">
              <a:spcBef>
                <a:spcPts val="700"/>
              </a:spcBef>
              <a:spcAft>
                <a:spcPts val="0"/>
              </a:spcAft>
              <a:buSzPct val="59999"/>
              <a:buChar char="◻"/>
            </a:pPr>
            <a:r>
              <a:rPr lang="en-US"/>
              <a:t>If the server is the authority of the DNS, it supplies the answer</a:t>
            </a:r>
            <a:endParaRPr/>
          </a:p>
          <a:p>
            <a:pPr indent="-320059" lvl="0" marL="320040" rtl="0" algn="l">
              <a:spcBef>
                <a:spcPts val="700"/>
              </a:spcBef>
              <a:spcAft>
                <a:spcPts val="0"/>
              </a:spcAft>
              <a:buSzPct val="59999"/>
              <a:buChar char="◻"/>
            </a:pPr>
            <a:r>
              <a:rPr lang="en-US"/>
              <a:t>If the server is not authority, it send the request to other server (usually parent) and waits for the response.</a:t>
            </a:r>
            <a:endParaRPr/>
          </a:p>
          <a:p>
            <a:pPr indent="-320059" lvl="0" marL="320040" rtl="0" algn="l">
              <a:spcBef>
                <a:spcPts val="700"/>
              </a:spcBef>
              <a:spcAft>
                <a:spcPts val="0"/>
              </a:spcAft>
              <a:buSzPct val="59999"/>
              <a:buChar char="◻"/>
            </a:pPr>
            <a:r>
              <a:rPr lang="en-US"/>
              <a:t>If the parent is authority, it responds, otherwise, it sends request to another one</a:t>
            </a:r>
            <a:endParaRPr/>
          </a:p>
          <a:p>
            <a:pPr indent="-320059" lvl="0" marL="320040" rtl="0" algn="l">
              <a:spcBef>
                <a:spcPts val="700"/>
              </a:spcBef>
              <a:spcAft>
                <a:spcPts val="0"/>
              </a:spcAft>
              <a:buSzPct val="59999"/>
              <a:buChar char="◻"/>
            </a:pPr>
            <a:r>
              <a:rPr lang="en-US"/>
              <a:t>When the query is resolved, then the response travel backs to the client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9"/>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Recursive Resolution Explained</a:t>
            </a:r>
            <a:endParaRPr/>
          </a:p>
        </p:txBody>
      </p:sp>
      <p:sp>
        <p:nvSpPr>
          <p:cNvPr id="528" name="Google Shape;528;p29"/>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pic>
        <p:nvPicPr>
          <p:cNvPr descr="C:\Program Files\Microsoft Office\MEDIA\CAGCAT10\j0205582.wmf" id="529" name="Google Shape;529;p29"/>
          <p:cNvPicPr preferRelativeResize="0"/>
          <p:nvPr/>
        </p:nvPicPr>
        <p:blipFill rotWithShape="1">
          <a:blip r:embed="rId3">
            <a:alphaModFix/>
          </a:blip>
          <a:srcRect b="0" l="0" r="0" t="0"/>
          <a:stretch/>
        </p:blipFill>
        <p:spPr>
          <a:xfrm>
            <a:off x="1371600" y="4876800"/>
            <a:ext cx="1112376" cy="1020775"/>
          </a:xfrm>
          <a:prstGeom prst="rect">
            <a:avLst/>
          </a:prstGeom>
          <a:noFill/>
          <a:ln>
            <a:noFill/>
          </a:ln>
        </p:spPr>
      </p:pic>
      <p:pic>
        <p:nvPicPr>
          <p:cNvPr descr="C:\Program Files\Microsoft Office\MEDIA\CAGCAT10\j0205582.wmf" id="530" name="Google Shape;530;p29"/>
          <p:cNvPicPr preferRelativeResize="0"/>
          <p:nvPr/>
        </p:nvPicPr>
        <p:blipFill rotWithShape="1">
          <a:blip r:embed="rId3">
            <a:alphaModFix/>
          </a:blip>
          <a:srcRect b="0" l="0" r="0" t="0"/>
          <a:stretch/>
        </p:blipFill>
        <p:spPr>
          <a:xfrm>
            <a:off x="1371600" y="2971800"/>
            <a:ext cx="1112376" cy="1020775"/>
          </a:xfrm>
          <a:prstGeom prst="rect">
            <a:avLst/>
          </a:prstGeom>
          <a:noFill/>
          <a:ln>
            <a:noFill/>
          </a:ln>
        </p:spPr>
      </p:pic>
      <p:pic>
        <p:nvPicPr>
          <p:cNvPr descr="C:\Program Files\Microsoft Office\MEDIA\CAGCAT10\j0205582.wmf" id="531" name="Google Shape;531;p29"/>
          <p:cNvPicPr preferRelativeResize="0"/>
          <p:nvPr/>
        </p:nvPicPr>
        <p:blipFill rotWithShape="1">
          <a:blip r:embed="rId3">
            <a:alphaModFix/>
          </a:blip>
          <a:srcRect b="0" l="0" r="0" t="0"/>
          <a:stretch/>
        </p:blipFill>
        <p:spPr>
          <a:xfrm>
            <a:off x="3048000" y="1600200"/>
            <a:ext cx="1112376" cy="1020775"/>
          </a:xfrm>
          <a:prstGeom prst="rect">
            <a:avLst/>
          </a:prstGeom>
          <a:noFill/>
          <a:ln>
            <a:noFill/>
          </a:ln>
        </p:spPr>
      </p:pic>
      <p:pic>
        <p:nvPicPr>
          <p:cNvPr descr="C:\Program Files\Microsoft Office\MEDIA\CAGCAT10\j0205582.wmf" id="532" name="Google Shape;532;p29"/>
          <p:cNvPicPr preferRelativeResize="0"/>
          <p:nvPr/>
        </p:nvPicPr>
        <p:blipFill rotWithShape="1">
          <a:blip r:embed="rId3">
            <a:alphaModFix/>
          </a:blip>
          <a:srcRect b="0" l="0" r="0" t="0"/>
          <a:stretch/>
        </p:blipFill>
        <p:spPr>
          <a:xfrm>
            <a:off x="5029200" y="4800600"/>
            <a:ext cx="1112376" cy="1020775"/>
          </a:xfrm>
          <a:prstGeom prst="rect">
            <a:avLst/>
          </a:prstGeom>
          <a:noFill/>
          <a:ln>
            <a:noFill/>
          </a:ln>
        </p:spPr>
      </p:pic>
      <p:pic>
        <p:nvPicPr>
          <p:cNvPr descr="C:\Program Files\Microsoft Office\MEDIA\CAGCAT10\j0205582.wmf" id="533" name="Google Shape;533;p29"/>
          <p:cNvPicPr preferRelativeResize="0"/>
          <p:nvPr/>
        </p:nvPicPr>
        <p:blipFill rotWithShape="1">
          <a:blip r:embed="rId3">
            <a:alphaModFix/>
          </a:blip>
          <a:srcRect b="0" l="0" r="0" t="0"/>
          <a:stretch/>
        </p:blipFill>
        <p:spPr>
          <a:xfrm>
            <a:off x="5029200" y="2895600"/>
            <a:ext cx="1112376" cy="1020775"/>
          </a:xfrm>
          <a:prstGeom prst="rect">
            <a:avLst/>
          </a:prstGeom>
          <a:noFill/>
          <a:ln>
            <a:noFill/>
          </a:ln>
        </p:spPr>
      </p:pic>
      <p:cxnSp>
        <p:nvCxnSpPr>
          <p:cNvPr id="534" name="Google Shape;534;p29"/>
          <p:cNvCxnSpPr/>
          <p:nvPr/>
        </p:nvCxnSpPr>
        <p:spPr>
          <a:xfrm rot="-5400000">
            <a:off x="1104900" y="4457700"/>
            <a:ext cx="990600" cy="1588"/>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35" name="Google Shape;535;p29"/>
          <p:cNvCxnSpPr/>
          <p:nvPr/>
        </p:nvCxnSpPr>
        <p:spPr>
          <a:xfrm rot="-5400000">
            <a:off x="1866106" y="4456906"/>
            <a:ext cx="990600" cy="1588"/>
          </a:xfrm>
          <a:prstGeom prst="straightConnector1">
            <a:avLst/>
          </a:prstGeom>
          <a:noFill/>
          <a:ln cap="flat" cmpd="sng" w="19050">
            <a:solidFill>
              <a:schemeClr val="dk1"/>
            </a:solidFill>
            <a:prstDash val="solid"/>
            <a:round/>
            <a:headEnd len="med" w="med" type="stealth"/>
            <a:tailEnd len="sm" w="sm" type="none"/>
          </a:ln>
          <a:effectLst>
            <a:outerShdw blurRad="38100" rotWithShape="0" dir="5400000" dist="30000">
              <a:srgbClr val="000000">
                <a:alpha val="44705"/>
              </a:srgbClr>
            </a:outerShdw>
          </a:effectLst>
        </p:spPr>
      </p:cxnSp>
      <p:cxnSp>
        <p:nvCxnSpPr>
          <p:cNvPr id="536" name="Google Shape;536;p29"/>
          <p:cNvCxnSpPr/>
          <p:nvPr/>
        </p:nvCxnSpPr>
        <p:spPr>
          <a:xfrm rot="-5400000">
            <a:off x="4763294" y="4304506"/>
            <a:ext cx="990600" cy="1588"/>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37" name="Google Shape;537;p29"/>
          <p:cNvCxnSpPr/>
          <p:nvPr/>
        </p:nvCxnSpPr>
        <p:spPr>
          <a:xfrm rot="-5400000">
            <a:off x="5524500" y="4303712"/>
            <a:ext cx="990600" cy="1588"/>
          </a:xfrm>
          <a:prstGeom prst="straightConnector1">
            <a:avLst/>
          </a:prstGeom>
          <a:noFill/>
          <a:ln cap="flat" cmpd="sng" w="19050">
            <a:solidFill>
              <a:schemeClr val="dk1"/>
            </a:solidFill>
            <a:prstDash val="solid"/>
            <a:round/>
            <a:headEnd len="med" w="med" type="stealth"/>
            <a:tailEnd len="sm" w="sm" type="none"/>
          </a:ln>
          <a:effectLst>
            <a:outerShdw blurRad="38100" rotWithShape="0" dir="5400000" dist="30000">
              <a:srgbClr val="000000">
                <a:alpha val="44705"/>
              </a:srgbClr>
            </a:outerShdw>
          </a:effectLst>
        </p:spPr>
      </p:cxnSp>
      <p:cxnSp>
        <p:nvCxnSpPr>
          <p:cNvPr id="538" name="Google Shape;538;p29"/>
          <p:cNvCxnSpPr/>
          <p:nvPr/>
        </p:nvCxnSpPr>
        <p:spPr>
          <a:xfrm rot="-5400000">
            <a:off x="2133600" y="2286000"/>
            <a:ext cx="762000" cy="762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39" name="Google Shape;539;p29"/>
          <p:cNvCxnSpPr/>
          <p:nvPr/>
        </p:nvCxnSpPr>
        <p:spPr>
          <a:xfrm rot="5400000">
            <a:off x="2590800" y="2590800"/>
            <a:ext cx="685800" cy="685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40" name="Google Shape;540;p29"/>
          <p:cNvCxnSpPr/>
          <p:nvPr/>
        </p:nvCxnSpPr>
        <p:spPr>
          <a:xfrm>
            <a:off x="4343400" y="2133600"/>
            <a:ext cx="838200" cy="609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41" name="Google Shape;541;p29"/>
          <p:cNvCxnSpPr/>
          <p:nvPr/>
        </p:nvCxnSpPr>
        <p:spPr>
          <a:xfrm>
            <a:off x="4191000" y="2438400"/>
            <a:ext cx="838200" cy="609600"/>
          </a:xfrm>
          <a:prstGeom prst="straightConnector1">
            <a:avLst/>
          </a:prstGeom>
          <a:noFill/>
          <a:ln cap="flat" cmpd="sng" w="19050">
            <a:solidFill>
              <a:schemeClr val="dk1"/>
            </a:solidFill>
            <a:prstDash val="solid"/>
            <a:round/>
            <a:headEnd len="med" w="med" type="stealth"/>
            <a:tailEnd len="sm" w="sm" type="none"/>
          </a:ln>
          <a:effectLst>
            <a:outerShdw blurRad="38100" rotWithShape="0" dir="5400000" dist="30000">
              <a:srgbClr val="000000">
                <a:alpha val="44705"/>
              </a:srgbClr>
            </a:outerShdw>
          </a:effectLst>
        </p:spPr>
      </p:cxnSp>
      <p:sp>
        <p:nvSpPr>
          <p:cNvPr id="542" name="Google Shape;542;p29"/>
          <p:cNvSpPr txBox="1"/>
          <p:nvPr/>
        </p:nvSpPr>
        <p:spPr>
          <a:xfrm>
            <a:off x="1212696" y="43434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1</a:t>
            </a:r>
            <a:endParaRPr sz="1800">
              <a:solidFill>
                <a:schemeClr val="dk1"/>
              </a:solidFill>
              <a:latin typeface="Twentieth Century"/>
              <a:ea typeface="Twentieth Century"/>
              <a:cs typeface="Twentieth Century"/>
              <a:sym typeface="Twentieth Century"/>
            </a:endParaRPr>
          </a:p>
        </p:txBody>
      </p:sp>
      <p:sp>
        <p:nvSpPr>
          <p:cNvPr id="543" name="Google Shape;543;p29"/>
          <p:cNvSpPr txBox="1"/>
          <p:nvPr/>
        </p:nvSpPr>
        <p:spPr>
          <a:xfrm>
            <a:off x="2514600" y="42672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8</a:t>
            </a:r>
            <a:endParaRPr sz="1800">
              <a:solidFill>
                <a:schemeClr val="dk1"/>
              </a:solidFill>
              <a:latin typeface="Twentieth Century"/>
              <a:ea typeface="Twentieth Century"/>
              <a:cs typeface="Twentieth Century"/>
              <a:sym typeface="Twentieth Century"/>
            </a:endParaRPr>
          </a:p>
        </p:txBody>
      </p:sp>
      <p:sp>
        <p:nvSpPr>
          <p:cNvPr id="544" name="Google Shape;544;p29"/>
          <p:cNvSpPr txBox="1"/>
          <p:nvPr/>
        </p:nvSpPr>
        <p:spPr>
          <a:xfrm>
            <a:off x="4870296" y="42672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5</a:t>
            </a:r>
            <a:endParaRPr sz="1800">
              <a:solidFill>
                <a:schemeClr val="dk1"/>
              </a:solidFill>
              <a:latin typeface="Twentieth Century"/>
              <a:ea typeface="Twentieth Century"/>
              <a:cs typeface="Twentieth Century"/>
              <a:sym typeface="Twentieth Century"/>
            </a:endParaRPr>
          </a:p>
        </p:txBody>
      </p:sp>
      <p:sp>
        <p:nvSpPr>
          <p:cNvPr id="545" name="Google Shape;545;p29"/>
          <p:cNvSpPr txBox="1"/>
          <p:nvPr/>
        </p:nvSpPr>
        <p:spPr>
          <a:xfrm>
            <a:off x="6172200" y="41910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4</a:t>
            </a:r>
            <a:endParaRPr sz="1800">
              <a:solidFill>
                <a:schemeClr val="dk1"/>
              </a:solidFill>
              <a:latin typeface="Twentieth Century"/>
              <a:ea typeface="Twentieth Century"/>
              <a:cs typeface="Twentieth Century"/>
              <a:sym typeface="Twentieth Century"/>
            </a:endParaRPr>
          </a:p>
        </p:txBody>
      </p:sp>
      <p:sp>
        <p:nvSpPr>
          <p:cNvPr id="546" name="Google Shape;546;p29"/>
          <p:cNvSpPr txBox="1"/>
          <p:nvPr/>
        </p:nvSpPr>
        <p:spPr>
          <a:xfrm>
            <a:off x="2209800" y="24384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2</a:t>
            </a:r>
            <a:endParaRPr sz="1800">
              <a:solidFill>
                <a:schemeClr val="dk1"/>
              </a:solidFill>
              <a:latin typeface="Twentieth Century"/>
              <a:ea typeface="Twentieth Century"/>
              <a:cs typeface="Twentieth Century"/>
              <a:sym typeface="Twentieth Century"/>
            </a:endParaRPr>
          </a:p>
        </p:txBody>
      </p:sp>
      <p:sp>
        <p:nvSpPr>
          <p:cNvPr id="547" name="Google Shape;547;p29"/>
          <p:cNvSpPr txBox="1"/>
          <p:nvPr/>
        </p:nvSpPr>
        <p:spPr>
          <a:xfrm>
            <a:off x="4953000" y="22860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3</a:t>
            </a:r>
            <a:endParaRPr sz="1800">
              <a:solidFill>
                <a:schemeClr val="dk1"/>
              </a:solidFill>
              <a:latin typeface="Twentieth Century"/>
              <a:ea typeface="Twentieth Century"/>
              <a:cs typeface="Twentieth Century"/>
              <a:sym typeface="Twentieth Century"/>
            </a:endParaRPr>
          </a:p>
        </p:txBody>
      </p:sp>
      <p:sp>
        <p:nvSpPr>
          <p:cNvPr id="548" name="Google Shape;548;p29"/>
          <p:cNvSpPr txBox="1"/>
          <p:nvPr/>
        </p:nvSpPr>
        <p:spPr>
          <a:xfrm>
            <a:off x="4489296" y="29718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6</a:t>
            </a:r>
            <a:endParaRPr sz="1800">
              <a:solidFill>
                <a:schemeClr val="dk1"/>
              </a:solidFill>
              <a:latin typeface="Twentieth Century"/>
              <a:ea typeface="Twentieth Century"/>
              <a:cs typeface="Twentieth Century"/>
              <a:sym typeface="Twentieth Century"/>
            </a:endParaRPr>
          </a:p>
        </p:txBody>
      </p:sp>
      <p:sp>
        <p:nvSpPr>
          <p:cNvPr id="549" name="Google Shape;549;p29"/>
          <p:cNvSpPr txBox="1"/>
          <p:nvPr/>
        </p:nvSpPr>
        <p:spPr>
          <a:xfrm>
            <a:off x="2971800" y="2983468"/>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7</a:t>
            </a:r>
            <a:endParaRPr sz="1800">
              <a:solidFill>
                <a:schemeClr val="dk1"/>
              </a:solidFill>
              <a:latin typeface="Twentieth Century"/>
              <a:ea typeface="Twentieth Century"/>
              <a:cs typeface="Twentieth Century"/>
              <a:sym typeface="Twentieth Century"/>
            </a:endParaRPr>
          </a:p>
        </p:txBody>
      </p:sp>
      <p:sp>
        <p:nvSpPr>
          <p:cNvPr id="550" name="Google Shape;550;p29"/>
          <p:cNvSpPr txBox="1"/>
          <p:nvPr/>
        </p:nvSpPr>
        <p:spPr>
          <a:xfrm>
            <a:off x="1295400" y="5867400"/>
            <a:ext cx="17230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Requesting Host</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cs.yale.edu</a:t>
            </a:r>
            <a:endParaRPr sz="1800">
              <a:solidFill>
                <a:schemeClr val="dk1"/>
              </a:solidFill>
              <a:latin typeface="Twentieth Century"/>
              <a:ea typeface="Twentieth Century"/>
              <a:cs typeface="Twentieth Century"/>
              <a:sym typeface="Twentieth Century"/>
            </a:endParaRPr>
          </a:p>
        </p:txBody>
      </p:sp>
      <p:sp>
        <p:nvSpPr>
          <p:cNvPr id="551" name="Google Shape;551;p29"/>
          <p:cNvSpPr txBox="1"/>
          <p:nvPr/>
        </p:nvSpPr>
        <p:spPr>
          <a:xfrm>
            <a:off x="2514600" y="3505200"/>
            <a:ext cx="181569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Local DNS Server</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dns.yale.edu</a:t>
            </a:r>
            <a:endParaRPr sz="1800">
              <a:solidFill>
                <a:schemeClr val="dk1"/>
              </a:solidFill>
              <a:latin typeface="Twentieth Century"/>
              <a:ea typeface="Twentieth Century"/>
              <a:cs typeface="Twentieth Century"/>
              <a:sym typeface="Twentieth Century"/>
            </a:endParaRPr>
          </a:p>
        </p:txBody>
      </p:sp>
      <p:sp>
        <p:nvSpPr>
          <p:cNvPr id="552" name="Google Shape;552;p29"/>
          <p:cNvSpPr txBox="1"/>
          <p:nvPr/>
        </p:nvSpPr>
        <p:spPr>
          <a:xfrm>
            <a:off x="5029200" y="5791200"/>
            <a:ext cx="25668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Authoritative DNS Server</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dns.google.com</a:t>
            </a:r>
            <a:endParaRPr sz="1800">
              <a:solidFill>
                <a:schemeClr val="dk1"/>
              </a:solidFill>
              <a:latin typeface="Twentieth Century"/>
              <a:ea typeface="Twentieth Century"/>
              <a:cs typeface="Twentieth Century"/>
              <a:sym typeface="Twentieth Century"/>
            </a:endParaRPr>
          </a:p>
        </p:txBody>
      </p:sp>
      <p:sp>
        <p:nvSpPr>
          <p:cNvPr id="553" name="Google Shape;553;p29"/>
          <p:cNvSpPr txBox="1"/>
          <p:nvPr/>
        </p:nvSpPr>
        <p:spPr>
          <a:xfrm>
            <a:off x="6248400" y="3429000"/>
            <a:ext cx="167622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TLD DNS Server</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com</a:t>
            </a:r>
            <a:endParaRPr sz="1800">
              <a:solidFill>
                <a:schemeClr val="dk1"/>
              </a:solidFill>
              <a:latin typeface="Twentieth Century"/>
              <a:ea typeface="Twentieth Century"/>
              <a:cs typeface="Twentieth Century"/>
              <a:sym typeface="Twentieth Century"/>
            </a:endParaRPr>
          </a:p>
        </p:txBody>
      </p:sp>
      <p:sp>
        <p:nvSpPr>
          <p:cNvPr id="554" name="Google Shape;554;p29"/>
          <p:cNvSpPr txBox="1"/>
          <p:nvPr/>
        </p:nvSpPr>
        <p:spPr>
          <a:xfrm>
            <a:off x="3962400" y="1676400"/>
            <a:ext cx="12742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Root Server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0"/>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Iterative Resolution</a:t>
            </a:r>
            <a:endParaRPr/>
          </a:p>
        </p:txBody>
      </p:sp>
      <p:sp>
        <p:nvSpPr>
          <p:cNvPr id="560" name="Google Shape;560;p3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561" name="Google Shape;561;p30"/>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lnSpcReduction="20000"/>
          </a:bodyPr>
          <a:lstStyle/>
          <a:p>
            <a:pPr indent="-320059" lvl="0" marL="320040" rtl="0" algn="l">
              <a:spcBef>
                <a:spcPts val="0"/>
              </a:spcBef>
              <a:spcAft>
                <a:spcPts val="0"/>
              </a:spcAft>
              <a:buSzPct val="59999"/>
              <a:buChar char="◻"/>
            </a:pPr>
            <a:r>
              <a:rPr lang="en-US"/>
              <a:t>The client requests the local DNS. </a:t>
            </a:r>
            <a:endParaRPr/>
          </a:p>
          <a:p>
            <a:pPr indent="-320059" lvl="0" marL="320040" rtl="0" algn="l">
              <a:spcBef>
                <a:spcPts val="700"/>
              </a:spcBef>
              <a:spcAft>
                <a:spcPts val="0"/>
              </a:spcAft>
              <a:buSzPct val="59999"/>
              <a:buChar char="◻"/>
            </a:pPr>
            <a:r>
              <a:rPr lang="en-US"/>
              <a:t>Local DNS then request another DNS Server</a:t>
            </a:r>
            <a:endParaRPr/>
          </a:p>
          <a:p>
            <a:pPr indent="-320059" lvl="0" marL="320040" rtl="0" algn="l">
              <a:spcBef>
                <a:spcPts val="700"/>
              </a:spcBef>
              <a:spcAft>
                <a:spcPts val="0"/>
              </a:spcAft>
              <a:buSzPct val="59999"/>
              <a:buChar char="◻"/>
            </a:pPr>
            <a:r>
              <a:rPr lang="en-US"/>
              <a:t>If the server is an authority for the name, it sends the answer</a:t>
            </a:r>
            <a:endParaRPr/>
          </a:p>
          <a:p>
            <a:pPr indent="-320059" lvl="0" marL="320040" rtl="0" algn="l">
              <a:spcBef>
                <a:spcPts val="700"/>
              </a:spcBef>
              <a:spcAft>
                <a:spcPts val="0"/>
              </a:spcAft>
              <a:buSzPct val="59999"/>
              <a:buChar char="◻"/>
            </a:pPr>
            <a:r>
              <a:rPr lang="en-US"/>
              <a:t>If the server is not an authority, it returns the ip addresses of the server which it thinks can resolve the query.</a:t>
            </a:r>
            <a:endParaRPr/>
          </a:p>
          <a:p>
            <a:pPr indent="-320059" lvl="0" marL="320040" rtl="0" algn="l">
              <a:spcBef>
                <a:spcPts val="700"/>
              </a:spcBef>
              <a:spcAft>
                <a:spcPts val="0"/>
              </a:spcAft>
              <a:buSzPct val="59999"/>
              <a:buChar char="◻"/>
            </a:pPr>
            <a:r>
              <a:rPr lang="en-US"/>
              <a:t>The local DNS then repeats the query to the second server and so on</a:t>
            </a:r>
            <a:endParaRPr/>
          </a:p>
          <a:p>
            <a:pPr indent="-320059" lvl="0" marL="320040" rtl="0" algn="l">
              <a:spcBef>
                <a:spcPts val="700"/>
              </a:spcBef>
              <a:spcAft>
                <a:spcPts val="0"/>
              </a:spcAft>
              <a:buSzPct val="59999"/>
              <a:buChar char="◻"/>
            </a:pPr>
            <a:r>
              <a:rPr lang="en-US"/>
              <a:t>Finally Client receives the resolution from Local DNS server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1"/>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Iterative Resolution Explained</a:t>
            </a:r>
            <a:endParaRPr/>
          </a:p>
        </p:txBody>
      </p:sp>
      <p:sp>
        <p:nvSpPr>
          <p:cNvPr id="567" name="Google Shape;567;p3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pic>
        <p:nvPicPr>
          <p:cNvPr descr="C:\Program Files\Microsoft Office\MEDIA\CAGCAT10\j0205582.wmf" id="568" name="Google Shape;568;p31"/>
          <p:cNvPicPr preferRelativeResize="0"/>
          <p:nvPr/>
        </p:nvPicPr>
        <p:blipFill rotWithShape="1">
          <a:blip r:embed="rId3">
            <a:alphaModFix/>
          </a:blip>
          <a:srcRect b="0" l="0" r="0" t="0"/>
          <a:stretch/>
        </p:blipFill>
        <p:spPr>
          <a:xfrm>
            <a:off x="1371600" y="4876800"/>
            <a:ext cx="1112376" cy="1020775"/>
          </a:xfrm>
          <a:prstGeom prst="rect">
            <a:avLst/>
          </a:prstGeom>
          <a:noFill/>
          <a:ln>
            <a:noFill/>
          </a:ln>
        </p:spPr>
      </p:pic>
      <p:pic>
        <p:nvPicPr>
          <p:cNvPr descr="C:\Program Files\Microsoft Office\MEDIA\CAGCAT10\j0205582.wmf" id="569" name="Google Shape;569;p31"/>
          <p:cNvPicPr preferRelativeResize="0"/>
          <p:nvPr/>
        </p:nvPicPr>
        <p:blipFill rotWithShape="1">
          <a:blip r:embed="rId3">
            <a:alphaModFix/>
          </a:blip>
          <a:srcRect b="0" l="0" r="0" t="0"/>
          <a:stretch/>
        </p:blipFill>
        <p:spPr>
          <a:xfrm>
            <a:off x="1371600" y="2971800"/>
            <a:ext cx="1112376" cy="1020775"/>
          </a:xfrm>
          <a:prstGeom prst="rect">
            <a:avLst/>
          </a:prstGeom>
          <a:noFill/>
          <a:ln>
            <a:noFill/>
          </a:ln>
        </p:spPr>
      </p:pic>
      <p:pic>
        <p:nvPicPr>
          <p:cNvPr descr="C:\Program Files\Microsoft Office\MEDIA\CAGCAT10\j0205582.wmf" id="570" name="Google Shape;570;p31"/>
          <p:cNvPicPr preferRelativeResize="0"/>
          <p:nvPr/>
        </p:nvPicPr>
        <p:blipFill rotWithShape="1">
          <a:blip r:embed="rId3">
            <a:alphaModFix/>
          </a:blip>
          <a:srcRect b="0" l="0" r="0" t="0"/>
          <a:stretch/>
        </p:blipFill>
        <p:spPr>
          <a:xfrm>
            <a:off x="3048000" y="1600200"/>
            <a:ext cx="1112376" cy="1020775"/>
          </a:xfrm>
          <a:prstGeom prst="rect">
            <a:avLst/>
          </a:prstGeom>
          <a:noFill/>
          <a:ln>
            <a:noFill/>
          </a:ln>
        </p:spPr>
      </p:pic>
      <p:pic>
        <p:nvPicPr>
          <p:cNvPr descr="C:\Program Files\Microsoft Office\MEDIA\CAGCAT10\j0205582.wmf" id="571" name="Google Shape;571;p31"/>
          <p:cNvPicPr preferRelativeResize="0"/>
          <p:nvPr/>
        </p:nvPicPr>
        <p:blipFill rotWithShape="1">
          <a:blip r:embed="rId3">
            <a:alphaModFix/>
          </a:blip>
          <a:srcRect b="0" l="0" r="0" t="0"/>
          <a:stretch/>
        </p:blipFill>
        <p:spPr>
          <a:xfrm>
            <a:off x="5029200" y="4800600"/>
            <a:ext cx="1112376" cy="1020775"/>
          </a:xfrm>
          <a:prstGeom prst="rect">
            <a:avLst/>
          </a:prstGeom>
          <a:noFill/>
          <a:ln>
            <a:noFill/>
          </a:ln>
        </p:spPr>
      </p:pic>
      <p:pic>
        <p:nvPicPr>
          <p:cNvPr descr="C:\Program Files\Microsoft Office\MEDIA\CAGCAT10\j0205582.wmf" id="572" name="Google Shape;572;p31"/>
          <p:cNvPicPr preferRelativeResize="0"/>
          <p:nvPr/>
        </p:nvPicPr>
        <p:blipFill rotWithShape="1">
          <a:blip r:embed="rId3">
            <a:alphaModFix/>
          </a:blip>
          <a:srcRect b="0" l="0" r="0" t="0"/>
          <a:stretch/>
        </p:blipFill>
        <p:spPr>
          <a:xfrm>
            <a:off x="5029200" y="2895600"/>
            <a:ext cx="1112376" cy="1020775"/>
          </a:xfrm>
          <a:prstGeom prst="rect">
            <a:avLst/>
          </a:prstGeom>
          <a:noFill/>
          <a:ln>
            <a:noFill/>
          </a:ln>
        </p:spPr>
      </p:pic>
      <p:cxnSp>
        <p:nvCxnSpPr>
          <p:cNvPr id="573" name="Google Shape;573;p31"/>
          <p:cNvCxnSpPr/>
          <p:nvPr/>
        </p:nvCxnSpPr>
        <p:spPr>
          <a:xfrm rot="-5400000">
            <a:off x="1104900" y="4457700"/>
            <a:ext cx="990600" cy="1588"/>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74" name="Google Shape;574;p31"/>
          <p:cNvCxnSpPr/>
          <p:nvPr/>
        </p:nvCxnSpPr>
        <p:spPr>
          <a:xfrm rot="-5400000">
            <a:off x="1866106" y="4456906"/>
            <a:ext cx="990600" cy="1588"/>
          </a:xfrm>
          <a:prstGeom prst="straightConnector1">
            <a:avLst/>
          </a:prstGeom>
          <a:noFill/>
          <a:ln cap="flat" cmpd="sng" w="19050">
            <a:solidFill>
              <a:schemeClr val="dk1"/>
            </a:solidFill>
            <a:prstDash val="solid"/>
            <a:round/>
            <a:headEnd len="med" w="med" type="stealth"/>
            <a:tailEnd len="sm" w="sm" type="none"/>
          </a:ln>
          <a:effectLst>
            <a:outerShdw blurRad="38100" rotWithShape="0" dir="5400000" dist="30000">
              <a:srgbClr val="000000">
                <a:alpha val="44705"/>
              </a:srgbClr>
            </a:outerShdw>
          </a:effectLst>
        </p:spPr>
      </p:cxnSp>
      <p:cxnSp>
        <p:nvCxnSpPr>
          <p:cNvPr id="575" name="Google Shape;575;p31"/>
          <p:cNvCxnSpPr/>
          <p:nvPr/>
        </p:nvCxnSpPr>
        <p:spPr>
          <a:xfrm rot="-5400000">
            <a:off x="2133600" y="2286000"/>
            <a:ext cx="762000" cy="762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76" name="Google Shape;576;p31"/>
          <p:cNvCxnSpPr/>
          <p:nvPr/>
        </p:nvCxnSpPr>
        <p:spPr>
          <a:xfrm rot="5400000">
            <a:off x="2590800" y="2590800"/>
            <a:ext cx="685800" cy="685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577" name="Google Shape;577;p31"/>
          <p:cNvSpPr txBox="1"/>
          <p:nvPr/>
        </p:nvSpPr>
        <p:spPr>
          <a:xfrm>
            <a:off x="1212696" y="43434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1</a:t>
            </a:r>
            <a:endParaRPr sz="1800">
              <a:solidFill>
                <a:schemeClr val="dk1"/>
              </a:solidFill>
              <a:latin typeface="Twentieth Century"/>
              <a:ea typeface="Twentieth Century"/>
              <a:cs typeface="Twentieth Century"/>
              <a:sym typeface="Twentieth Century"/>
            </a:endParaRPr>
          </a:p>
        </p:txBody>
      </p:sp>
      <p:sp>
        <p:nvSpPr>
          <p:cNvPr id="578" name="Google Shape;578;p31"/>
          <p:cNvSpPr txBox="1"/>
          <p:nvPr/>
        </p:nvSpPr>
        <p:spPr>
          <a:xfrm>
            <a:off x="2514600" y="42672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8</a:t>
            </a:r>
            <a:endParaRPr sz="1800">
              <a:solidFill>
                <a:schemeClr val="dk1"/>
              </a:solidFill>
              <a:latin typeface="Twentieth Century"/>
              <a:ea typeface="Twentieth Century"/>
              <a:cs typeface="Twentieth Century"/>
              <a:sym typeface="Twentieth Century"/>
            </a:endParaRPr>
          </a:p>
        </p:txBody>
      </p:sp>
      <p:sp>
        <p:nvSpPr>
          <p:cNvPr id="579" name="Google Shape;579;p31"/>
          <p:cNvSpPr txBox="1"/>
          <p:nvPr/>
        </p:nvSpPr>
        <p:spPr>
          <a:xfrm>
            <a:off x="2209800" y="24384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2</a:t>
            </a:r>
            <a:endParaRPr sz="1800">
              <a:solidFill>
                <a:schemeClr val="dk1"/>
              </a:solidFill>
              <a:latin typeface="Twentieth Century"/>
              <a:ea typeface="Twentieth Century"/>
              <a:cs typeface="Twentieth Century"/>
              <a:sym typeface="Twentieth Century"/>
            </a:endParaRPr>
          </a:p>
        </p:txBody>
      </p:sp>
      <p:sp>
        <p:nvSpPr>
          <p:cNvPr id="580" name="Google Shape;580;p31"/>
          <p:cNvSpPr txBox="1"/>
          <p:nvPr/>
        </p:nvSpPr>
        <p:spPr>
          <a:xfrm>
            <a:off x="2971800" y="2983468"/>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3</a:t>
            </a:r>
            <a:endParaRPr sz="1800">
              <a:solidFill>
                <a:schemeClr val="dk1"/>
              </a:solidFill>
              <a:latin typeface="Twentieth Century"/>
              <a:ea typeface="Twentieth Century"/>
              <a:cs typeface="Twentieth Century"/>
              <a:sym typeface="Twentieth Century"/>
            </a:endParaRPr>
          </a:p>
        </p:txBody>
      </p:sp>
      <p:sp>
        <p:nvSpPr>
          <p:cNvPr id="581" name="Google Shape;581;p31"/>
          <p:cNvSpPr txBox="1"/>
          <p:nvPr/>
        </p:nvSpPr>
        <p:spPr>
          <a:xfrm>
            <a:off x="1295400" y="5867400"/>
            <a:ext cx="17230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Requesting Host</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cs.yale.edu</a:t>
            </a:r>
            <a:endParaRPr sz="1800">
              <a:solidFill>
                <a:schemeClr val="dk1"/>
              </a:solidFill>
              <a:latin typeface="Twentieth Century"/>
              <a:ea typeface="Twentieth Century"/>
              <a:cs typeface="Twentieth Century"/>
              <a:sym typeface="Twentieth Century"/>
            </a:endParaRPr>
          </a:p>
        </p:txBody>
      </p:sp>
      <p:sp>
        <p:nvSpPr>
          <p:cNvPr id="582" name="Google Shape;582;p31"/>
          <p:cNvSpPr txBox="1"/>
          <p:nvPr/>
        </p:nvSpPr>
        <p:spPr>
          <a:xfrm>
            <a:off x="0" y="2438400"/>
            <a:ext cx="181569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Local DNS Server</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dns.yale.edu</a:t>
            </a:r>
            <a:endParaRPr sz="1800">
              <a:solidFill>
                <a:schemeClr val="dk1"/>
              </a:solidFill>
              <a:latin typeface="Twentieth Century"/>
              <a:ea typeface="Twentieth Century"/>
              <a:cs typeface="Twentieth Century"/>
              <a:sym typeface="Twentieth Century"/>
            </a:endParaRPr>
          </a:p>
        </p:txBody>
      </p:sp>
      <p:sp>
        <p:nvSpPr>
          <p:cNvPr id="583" name="Google Shape;583;p31"/>
          <p:cNvSpPr txBox="1"/>
          <p:nvPr/>
        </p:nvSpPr>
        <p:spPr>
          <a:xfrm>
            <a:off x="5029200" y="5791200"/>
            <a:ext cx="256685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Authoritative DNS Server</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dns.google.com</a:t>
            </a:r>
            <a:endParaRPr sz="1800">
              <a:solidFill>
                <a:schemeClr val="dk1"/>
              </a:solidFill>
              <a:latin typeface="Twentieth Century"/>
              <a:ea typeface="Twentieth Century"/>
              <a:cs typeface="Twentieth Century"/>
              <a:sym typeface="Twentieth Century"/>
            </a:endParaRPr>
          </a:p>
        </p:txBody>
      </p:sp>
      <p:sp>
        <p:nvSpPr>
          <p:cNvPr id="584" name="Google Shape;584;p31"/>
          <p:cNvSpPr txBox="1"/>
          <p:nvPr/>
        </p:nvSpPr>
        <p:spPr>
          <a:xfrm>
            <a:off x="6248400" y="3429000"/>
            <a:ext cx="167622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TLD DNS Server</a:t>
            </a:r>
            <a:endParaRPr/>
          </a:p>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com</a:t>
            </a:r>
            <a:endParaRPr sz="1800">
              <a:solidFill>
                <a:schemeClr val="dk1"/>
              </a:solidFill>
              <a:latin typeface="Twentieth Century"/>
              <a:ea typeface="Twentieth Century"/>
              <a:cs typeface="Twentieth Century"/>
              <a:sym typeface="Twentieth Century"/>
            </a:endParaRPr>
          </a:p>
        </p:txBody>
      </p:sp>
      <p:sp>
        <p:nvSpPr>
          <p:cNvPr id="585" name="Google Shape;585;p31"/>
          <p:cNvSpPr txBox="1"/>
          <p:nvPr/>
        </p:nvSpPr>
        <p:spPr>
          <a:xfrm>
            <a:off x="3962400" y="1676400"/>
            <a:ext cx="127426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wentieth Century"/>
                <a:ea typeface="Twentieth Century"/>
                <a:cs typeface="Twentieth Century"/>
                <a:sym typeface="Twentieth Century"/>
              </a:rPr>
              <a:t>Root Server</a:t>
            </a:r>
            <a:endParaRPr/>
          </a:p>
        </p:txBody>
      </p:sp>
      <p:cxnSp>
        <p:nvCxnSpPr>
          <p:cNvPr id="586" name="Google Shape;586;p31"/>
          <p:cNvCxnSpPr>
            <a:endCxn id="572" idx="1"/>
          </p:cNvCxnSpPr>
          <p:nvPr/>
        </p:nvCxnSpPr>
        <p:spPr>
          <a:xfrm>
            <a:off x="2819400" y="3405988"/>
            <a:ext cx="2209800" cy="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87" name="Google Shape;587;p31"/>
          <p:cNvCxnSpPr/>
          <p:nvPr/>
        </p:nvCxnSpPr>
        <p:spPr>
          <a:xfrm>
            <a:off x="2819400" y="3733800"/>
            <a:ext cx="2209800" cy="0"/>
          </a:xfrm>
          <a:prstGeom prst="straightConnector1">
            <a:avLst/>
          </a:prstGeom>
          <a:noFill/>
          <a:ln cap="flat" cmpd="sng" w="19050">
            <a:solidFill>
              <a:schemeClr val="dk1"/>
            </a:solidFill>
            <a:prstDash val="solid"/>
            <a:round/>
            <a:headEnd len="med" w="med" type="stealth"/>
            <a:tailEnd len="sm" w="sm" type="none"/>
          </a:ln>
          <a:effectLst>
            <a:outerShdw blurRad="38100" rotWithShape="0" dir="5400000" dist="30000">
              <a:srgbClr val="000000">
                <a:alpha val="44705"/>
              </a:srgbClr>
            </a:outerShdw>
          </a:effectLst>
        </p:spPr>
      </p:cxnSp>
      <p:sp>
        <p:nvSpPr>
          <p:cNvPr id="588" name="Google Shape;588;p31"/>
          <p:cNvSpPr txBox="1"/>
          <p:nvPr/>
        </p:nvSpPr>
        <p:spPr>
          <a:xfrm>
            <a:off x="4114800" y="3059668"/>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4</a:t>
            </a:r>
            <a:endParaRPr sz="1800">
              <a:solidFill>
                <a:schemeClr val="dk1"/>
              </a:solidFill>
              <a:latin typeface="Twentieth Century"/>
              <a:ea typeface="Twentieth Century"/>
              <a:cs typeface="Twentieth Century"/>
              <a:sym typeface="Twentieth Century"/>
            </a:endParaRPr>
          </a:p>
        </p:txBody>
      </p:sp>
      <p:sp>
        <p:nvSpPr>
          <p:cNvPr id="589" name="Google Shape;589;p31"/>
          <p:cNvSpPr txBox="1"/>
          <p:nvPr/>
        </p:nvSpPr>
        <p:spPr>
          <a:xfrm>
            <a:off x="4121844" y="3685736"/>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5</a:t>
            </a:r>
            <a:endParaRPr sz="1800">
              <a:solidFill>
                <a:schemeClr val="dk1"/>
              </a:solidFill>
              <a:latin typeface="Twentieth Century"/>
              <a:ea typeface="Twentieth Century"/>
              <a:cs typeface="Twentieth Century"/>
              <a:sym typeface="Twentieth Century"/>
            </a:endParaRPr>
          </a:p>
        </p:txBody>
      </p:sp>
      <p:cxnSp>
        <p:nvCxnSpPr>
          <p:cNvPr id="590" name="Google Shape;590;p31"/>
          <p:cNvCxnSpPr/>
          <p:nvPr/>
        </p:nvCxnSpPr>
        <p:spPr>
          <a:xfrm>
            <a:off x="2743200" y="3810000"/>
            <a:ext cx="2438400" cy="990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591" name="Google Shape;591;p31"/>
          <p:cNvCxnSpPr/>
          <p:nvPr/>
        </p:nvCxnSpPr>
        <p:spPr>
          <a:xfrm rot="10800000">
            <a:off x="2667000" y="4114800"/>
            <a:ext cx="2362200" cy="990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592" name="Google Shape;592;p31"/>
          <p:cNvSpPr txBox="1"/>
          <p:nvPr/>
        </p:nvSpPr>
        <p:spPr>
          <a:xfrm>
            <a:off x="4495800" y="41910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6</a:t>
            </a:r>
            <a:endParaRPr sz="1800">
              <a:solidFill>
                <a:schemeClr val="dk1"/>
              </a:solidFill>
              <a:latin typeface="Twentieth Century"/>
              <a:ea typeface="Twentieth Century"/>
              <a:cs typeface="Twentieth Century"/>
              <a:sym typeface="Twentieth Century"/>
            </a:endParaRPr>
          </a:p>
        </p:txBody>
      </p:sp>
      <p:sp>
        <p:nvSpPr>
          <p:cNvPr id="593" name="Google Shape;593;p31"/>
          <p:cNvSpPr txBox="1"/>
          <p:nvPr/>
        </p:nvSpPr>
        <p:spPr>
          <a:xfrm>
            <a:off x="4419600" y="50292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7</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Caching</a:t>
            </a:r>
            <a:endParaRPr/>
          </a:p>
        </p:txBody>
      </p:sp>
      <p:sp>
        <p:nvSpPr>
          <p:cNvPr id="599" name="Google Shape;599;p32"/>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600" name="Google Shape;600;p32"/>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a:bodyPr>
          <a:lstStyle/>
          <a:p>
            <a:pPr indent="-320059" lvl="0" marL="320040" rtl="0" algn="l">
              <a:spcBef>
                <a:spcPts val="0"/>
              </a:spcBef>
              <a:spcAft>
                <a:spcPts val="0"/>
              </a:spcAft>
              <a:buSzPct val="59999"/>
              <a:buChar char="◻"/>
            </a:pPr>
            <a:r>
              <a:rPr lang="en-US"/>
              <a:t>Reduction in DNS lookup can be reduced at a greater scale if the mapping is stored locally</a:t>
            </a:r>
            <a:endParaRPr/>
          </a:p>
          <a:p>
            <a:pPr indent="-320059" lvl="0" marL="320040" rtl="0" algn="l">
              <a:spcBef>
                <a:spcPts val="700"/>
              </a:spcBef>
              <a:spcAft>
                <a:spcPts val="0"/>
              </a:spcAft>
              <a:buSzPct val="59999"/>
              <a:buChar char="◻"/>
            </a:pPr>
            <a:r>
              <a:rPr lang="en-US"/>
              <a:t>When a server asks for a mapping from another server and receives response, it stores the information in its cache memory before sending it to client to satisfy other clients afterwards without further query</a:t>
            </a:r>
            <a:endParaRPr/>
          </a:p>
          <a:p>
            <a:pPr indent="-320059" lvl="0" marL="320040" rtl="0" algn="l">
              <a:spcBef>
                <a:spcPts val="700"/>
              </a:spcBef>
              <a:spcAft>
                <a:spcPts val="0"/>
              </a:spcAft>
              <a:buSzPct val="59999"/>
              <a:buChar char="◻"/>
            </a:pPr>
            <a:r>
              <a:rPr lang="en-US"/>
              <a:t>The response coming from the cache is marked as </a:t>
            </a:r>
            <a:r>
              <a:rPr lang="en-US">
                <a:solidFill>
                  <a:srgbClr val="FF0000"/>
                </a:solidFill>
              </a:rPr>
              <a:t>Unauthoritative</a:t>
            </a:r>
            <a:endParaRPr>
              <a:solidFill>
                <a:srgbClr val="FF0000"/>
              </a:solidFill>
            </a:endParaRPr>
          </a:p>
          <a:p>
            <a:pPr indent="-320059" lvl="0" marL="320040" rtl="0" algn="l">
              <a:spcBef>
                <a:spcPts val="700"/>
              </a:spcBef>
              <a:spcAft>
                <a:spcPts val="0"/>
              </a:spcAft>
              <a:buSzPct val="59999"/>
              <a:buChar char="◻"/>
            </a:pPr>
            <a:r>
              <a:rPr lang="en-US"/>
              <a:t>TTL is used to keep track of older records. The records are purged periodically.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3"/>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DNS Records</a:t>
            </a:r>
            <a:endParaRPr/>
          </a:p>
        </p:txBody>
      </p:sp>
      <p:sp>
        <p:nvSpPr>
          <p:cNvPr id="606" name="Google Shape;606;p3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607" name="Google Shape;607;p33"/>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DNS servers store information in Resource Records </a:t>
            </a:r>
            <a:endParaRPr/>
          </a:p>
          <a:p>
            <a:pPr indent="-320040" lvl="0" marL="320040" rtl="0" algn="l">
              <a:spcBef>
                <a:spcPts val="700"/>
              </a:spcBef>
              <a:spcAft>
                <a:spcPts val="0"/>
              </a:spcAft>
              <a:buSzPts val="1740"/>
              <a:buChar char="◻"/>
            </a:pPr>
            <a:r>
              <a:rPr lang="en-US"/>
              <a:t>Some Resource Records provide hostname-to-ip mapping</a:t>
            </a:r>
            <a:endParaRPr/>
          </a:p>
          <a:p>
            <a:pPr indent="-320040" lvl="0" marL="320040" rtl="0" algn="l">
              <a:spcBef>
                <a:spcPts val="700"/>
              </a:spcBef>
              <a:spcAft>
                <a:spcPts val="0"/>
              </a:spcAft>
              <a:buSzPts val="1740"/>
              <a:buChar char="◻"/>
            </a:pPr>
            <a:r>
              <a:rPr lang="en-US"/>
              <a:t>Resource Record is a four-tuple</a:t>
            </a:r>
            <a:endParaRPr/>
          </a:p>
          <a:p>
            <a:pPr indent="-274320" lvl="1" marL="640080" rtl="0" algn="l">
              <a:spcBef>
                <a:spcPts val="550"/>
              </a:spcBef>
              <a:spcAft>
                <a:spcPts val="0"/>
              </a:spcAft>
              <a:buSzPts val="1820"/>
              <a:buChar char="🞑"/>
            </a:pPr>
            <a:r>
              <a:rPr lang="en-US"/>
              <a:t>(Name, Value, Type, TTL)</a:t>
            </a:r>
            <a:endParaRPr/>
          </a:p>
          <a:p>
            <a:pPr indent="-320040" lvl="0" marL="320040" rtl="0" algn="l">
              <a:spcBef>
                <a:spcPts val="700"/>
              </a:spcBef>
              <a:spcAft>
                <a:spcPts val="0"/>
              </a:spcAft>
              <a:buSzPts val="1740"/>
              <a:buChar char="◻"/>
            </a:pPr>
            <a:r>
              <a:rPr lang="en-US"/>
              <a:t>TTL</a:t>
            </a:r>
            <a:endParaRPr/>
          </a:p>
          <a:p>
            <a:pPr indent="-274320" lvl="1" marL="640080" rtl="0" algn="l">
              <a:spcBef>
                <a:spcPts val="550"/>
              </a:spcBef>
              <a:spcAft>
                <a:spcPts val="0"/>
              </a:spcAft>
              <a:buSzPts val="1820"/>
              <a:buChar char="🞑"/>
            </a:pPr>
            <a:r>
              <a:rPr lang="en-US"/>
              <a:t>Determines when a resource record should be removed from the cache</a:t>
            </a:r>
            <a:endParaRPr/>
          </a:p>
          <a:p>
            <a:pPr indent="-320040" lvl="0" marL="320040" rtl="0" algn="l">
              <a:spcBef>
                <a:spcPts val="700"/>
              </a:spcBef>
              <a:spcAft>
                <a:spcPts val="0"/>
              </a:spcAft>
              <a:buSzPts val="1740"/>
              <a:buChar char="◻"/>
            </a:pPr>
            <a:r>
              <a:rPr lang="en-US"/>
              <a:t>The meaning of Name and Value depend on Type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34"/>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Type Explained</a:t>
            </a:r>
            <a:endParaRPr/>
          </a:p>
        </p:txBody>
      </p:sp>
      <p:sp>
        <p:nvSpPr>
          <p:cNvPr id="613" name="Google Shape;613;p3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614" name="Google Shape;614;p34"/>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lnSpcReduction="10000"/>
          </a:bodyPr>
          <a:lstStyle/>
          <a:p>
            <a:pPr indent="-320059" lvl="0" marL="320040" rtl="0" algn="l">
              <a:spcBef>
                <a:spcPts val="0"/>
              </a:spcBef>
              <a:spcAft>
                <a:spcPts val="0"/>
              </a:spcAft>
              <a:buSzPct val="59999"/>
              <a:buChar char="◻"/>
            </a:pPr>
            <a:r>
              <a:rPr lang="en-US"/>
              <a:t>Type=A	</a:t>
            </a:r>
            <a:endParaRPr/>
          </a:p>
          <a:p>
            <a:pPr indent="-274320" lvl="1" marL="640080" rtl="0" algn="l">
              <a:spcBef>
                <a:spcPts val="550"/>
              </a:spcBef>
              <a:spcAft>
                <a:spcPts val="0"/>
              </a:spcAft>
              <a:buSzPct val="70000"/>
              <a:buChar char="🞑"/>
            </a:pPr>
            <a:r>
              <a:rPr lang="en-US"/>
              <a:t>Name- Hostname</a:t>
            </a:r>
            <a:endParaRPr/>
          </a:p>
          <a:p>
            <a:pPr indent="-274320" lvl="1" marL="640080" rtl="0" algn="l">
              <a:spcBef>
                <a:spcPts val="550"/>
              </a:spcBef>
              <a:spcAft>
                <a:spcPts val="0"/>
              </a:spcAft>
              <a:buSzPct val="70000"/>
              <a:buChar char="🞑"/>
            </a:pPr>
            <a:r>
              <a:rPr lang="en-US"/>
              <a:t>Value – IP Address</a:t>
            </a:r>
            <a:endParaRPr/>
          </a:p>
          <a:p>
            <a:pPr indent="-274320" lvl="1" marL="640080" rtl="0" algn="l">
              <a:spcBef>
                <a:spcPts val="550"/>
              </a:spcBef>
              <a:spcAft>
                <a:spcPts val="0"/>
              </a:spcAft>
              <a:buSzPct val="70000"/>
              <a:buChar char="🞑"/>
            </a:pPr>
            <a:r>
              <a:rPr lang="en-US"/>
              <a:t>Provides standard hostname to IP Address Mapping</a:t>
            </a:r>
            <a:endParaRPr/>
          </a:p>
          <a:p>
            <a:pPr indent="-274320" lvl="1" marL="640080" rtl="0" algn="l">
              <a:spcBef>
                <a:spcPts val="550"/>
              </a:spcBef>
              <a:spcAft>
                <a:spcPts val="0"/>
              </a:spcAft>
              <a:buSzPct val="70000"/>
              <a:buChar char="🞑"/>
            </a:pPr>
            <a:r>
              <a:rPr lang="en-US"/>
              <a:t>(sites.google.com, 142.23.23.1,  A, 200)</a:t>
            </a:r>
            <a:endParaRPr/>
          </a:p>
          <a:p>
            <a:pPr indent="-320059" lvl="0" marL="320040" rtl="0" algn="l">
              <a:spcBef>
                <a:spcPts val="700"/>
              </a:spcBef>
              <a:spcAft>
                <a:spcPts val="0"/>
              </a:spcAft>
              <a:buSzPct val="59999"/>
              <a:buChar char="◻"/>
            </a:pPr>
            <a:r>
              <a:rPr lang="en-US"/>
              <a:t>Type=NS</a:t>
            </a:r>
            <a:endParaRPr/>
          </a:p>
          <a:p>
            <a:pPr indent="-274320" lvl="1" marL="640080" rtl="0" algn="l">
              <a:spcBef>
                <a:spcPts val="550"/>
              </a:spcBef>
              <a:spcAft>
                <a:spcPts val="0"/>
              </a:spcAft>
              <a:buSzPct val="70000"/>
              <a:buChar char="🞑"/>
            </a:pPr>
            <a:r>
              <a:rPr lang="en-US"/>
              <a:t>Name – Domain</a:t>
            </a:r>
            <a:endParaRPr/>
          </a:p>
          <a:p>
            <a:pPr indent="-274320" lvl="1" marL="640080" rtl="0" algn="l">
              <a:spcBef>
                <a:spcPts val="550"/>
              </a:spcBef>
              <a:spcAft>
                <a:spcPts val="0"/>
              </a:spcAft>
              <a:buSzPct val="70000"/>
              <a:buChar char="🞑"/>
            </a:pPr>
            <a:r>
              <a:rPr lang="en-US"/>
              <a:t>Value – Hostname of an authoritative DNS server that may know the information about the domain</a:t>
            </a:r>
            <a:endParaRPr/>
          </a:p>
          <a:p>
            <a:pPr indent="-274320" lvl="1" marL="640080" rtl="0" algn="l">
              <a:spcBef>
                <a:spcPts val="550"/>
              </a:spcBef>
              <a:spcAft>
                <a:spcPts val="0"/>
              </a:spcAft>
              <a:buSzPct val="70000"/>
              <a:buChar char="🞑"/>
            </a:pPr>
            <a:r>
              <a:rPr lang="en-US"/>
              <a:t>Provides routing the DNS query</a:t>
            </a:r>
            <a:endParaRPr/>
          </a:p>
          <a:p>
            <a:pPr indent="-274320" lvl="1" marL="640080" rtl="0" algn="l">
              <a:spcBef>
                <a:spcPts val="550"/>
              </a:spcBef>
              <a:spcAft>
                <a:spcPts val="0"/>
              </a:spcAft>
              <a:buSzPct val="70000"/>
              <a:buChar char="🞑"/>
            </a:pPr>
            <a:r>
              <a:rPr lang="en-US"/>
              <a:t>(sites.google.com,  dns.google.com, NS, 125)</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3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Type Explained</a:t>
            </a:r>
            <a:endParaRPr/>
          </a:p>
        </p:txBody>
      </p:sp>
      <p:sp>
        <p:nvSpPr>
          <p:cNvPr id="620" name="Google Shape;620;p35"/>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621" name="Google Shape;621;p35"/>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Type = CNAME</a:t>
            </a:r>
            <a:endParaRPr/>
          </a:p>
          <a:p>
            <a:pPr indent="-274320" lvl="1" marL="640080" rtl="0" algn="l">
              <a:spcBef>
                <a:spcPts val="550"/>
              </a:spcBef>
              <a:spcAft>
                <a:spcPts val="0"/>
              </a:spcAft>
              <a:buSzPts val="1820"/>
              <a:buChar char="🞑"/>
            </a:pPr>
            <a:r>
              <a:rPr lang="en-US"/>
              <a:t>Name – Alias Domain Name</a:t>
            </a:r>
            <a:endParaRPr/>
          </a:p>
          <a:p>
            <a:pPr indent="-274320" lvl="1" marL="640080" rtl="0" algn="l">
              <a:spcBef>
                <a:spcPts val="550"/>
              </a:spcBef>
              <a:spcAft>
                <a:spcPts val="0"/>
              </a:spcAft>
              <a:buSzPts val="1820"/>
              <a:buChar char="🞑"/>
            </a:pPr>
            <a:r>
              <a:rPr lang="en-US"/>
              <a:t>Value – Main Domain Name</a:t>
            </a:r>
            <a:endParaRPr/>
          </a:p>
          <a:p>
            <a:pPr indent="-274320" lvl="1" marL="640080" rtl="0" algn="l">
              <a:spcBef>
                <a:spcPts val="550"/>
              </a:spcBef>
              <a:spcAft>
                <a:spcPts val="0"/>
              </a:spcAft>
              <a:buSzPts val="1820"/>
              <a:buChar char="🞑"/>
            </a:pPr>
            <a:r>
              <a:rPr lang="en-US"/>
              <a:t>Specifies that the domain name is an alias of another</a:t>
            </a:r>
            <a:endParaRPr/>
          </a:p>
          <a:p>
            <a:pPr indent="-274320" lvl="1" marL="640080" rtl="0" algn="l">
              <a:spcBef>
                <a:spcPts val="550"/>
              </a:spcBef>
              <a:spcAft>
                <a:spcPts val="0"/>
              </a:spcAft>
              <a:buSzPts val="1820"/>
              <a:buChar char="🞑"/>
            </a:pPr>
            <a:r>
              <a:rPr lang="en-US"/>
              <a:t>This helps when running multiple services (like an FTP </a:t>
            </a:r>
            <a:r>
              <a:rPr i="1" lang="en-US"/>
              <a:t>and</a:t>
            </a:r>
            <a:r>
              <a:rPr lang="en-US"/>
              <a:t> a web server; each running on different ports) from a single IP address. Each service can then have its own entry in DNS.</a:t>
            </a:r>
            <a:endParaRPr/>
          </a:p>
          <a:p>
            <a:pPr indent="-274320" lvl="1" marL="640080" rtl="0" algn="l">
              <a:spcBef>
                <a:spcPts val="550"/>
              </a:spcBef>
              <a:spcAft>
                <a:spcPts val="0"/>
              </a:spcAft>
              <a:buSzPts val="1820"/>
              <a:buChar char="🞑"/>
            </a:pPr>
            <a:r>
              <a:rPr lang="en-US"/>
              <a:t>(www.cs.mit.edu, star.cs.mit.edu, CNAME, 120)</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Type Explained</a:t>
            </a:r>
            <a:endParaRPr/>
          </a:p>
        </p:txBody>
      </p:sp>
      <p:sp>
        <p:nvSpPr>
          <p:cNvPr id="627" name="Google Shape;627;p36"/>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628" name="Google Shape;628;p3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Type=MX</a:t>
            </a:r>
            <a:endParaRPr/>
          </a:p>
          <a:p>
            <a:pPr indent="-274320" lvl="1" marL="640080" rtl="0" algn="l">
              <a:spcBef>
                <a:spcPts val="550"/>
              </a:spcBef>
              <a:spcAft>
                <a:spcPts val="0"/>
              </a:spcAft>
              <a:buSzPts val="1820"/>
              <a:buChar char="🞑"/>
            </a:pPr>
            <a:r>
              <a:rPr lang="en-US"/>
              <a:t>Name - Hostname</a:t>
            </a:r>
            <a:endParaRPr/>
          </a:p>
          <a:p>
            <a:pPr indent="-274320" lvl="1" marL="640080" rtl="0" algn="l">
              <a:spcBef>
                <a:spcPts val="550"/>
              </a:spcBef>
              <a:spcAft>
                <a:spcPts val="0"/>
              </a:spcAft>
              <a:buSzPts val="1820"/>
              <a:buChar char="🞑"/>
            </a:pPr>
            <a:r>
              <a:rPr lang="en-US"/>
              <a:t>Value – The address of the Mail Server</a:t>
            </a:r>
            <a:endParaRPr/>
          </a:p>
          <a:p>
            <a:pPr indent="-274320" lvl="1" marL="640080" rtl="0" algn="l">
              <a:spcBef>
                <a:spcPts val="550"/>
              </a:spcBef>
              <a:spcAft>
                <a:spcPts val="0"/>
              </a:spcAft>
              <a:buSzPts val="1820"/>
              <a:buChar char="🞑"/>
            </a:pPr>
            <a:r>
              <a:rPr lang="en-US"/>
              <a:t>A company can use the same aliased name for all its mail server and for one of its other server</a:t>
            </a:r>
            <a:endParaRPr/>
          </a:p>
          <a:p>
            <a:pPr indent="-274320" lvl="1" marL="640080" rtl="0" algn="l">
              <a:spcBef>
                <a:spcPts val="550"/>
              </a:spcBef>
              <a:spcAft>
                <a:spcPts val="0"/>
              </a:spcAft>
              <a:buSzPts val="1820"/>
              <a:buChar char="🞑"/>
            </a:pPr>
            <a:r>
              <a:rPr lang="en-US"/>
              <a:t>(buet.ac.bd, mail.buet.ac.bd, MX, 125)</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7"/>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A and NS Record Explained</a:t>
            </a:r>
            <a:endParaRPr/>
          </a:p>
        </p:txBody>
      </p:sp>
      <p:sp>
        <p:nvSpPr>
          <p:cNvPr id="634" name="Google Shape;634;p37"/>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635" name="Google Shape;635;p37"/>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lnSpcReduction="10000"/>
          </a:bodyPr>
          <a:lstStyle/>
          <a:p>
            <a:pPr indent="-320040" lvl="0" marL="320040" rtl="0" algn="l">
              <a:spcBef>
                <a:spcPts val="0"/>
              </a:spcBef>
              <a:spcAft>
                <a:spcPts val="0"/>
              </a:spcAft>
              <a:buSzPts val="1740"/>
              <a:buChar char="◻"/>
            </a:pPr>
            <a:r>
              <a:rPr lang="en-US"/>
              <a:t>If a DNS server is authoritative for a particular domain, it contains a Type A record</a:t>
            </a:r>
            <a:endParaRPr/>
          </a:p>
          <a:p>
            <a:pPr indent="-320040" lvl="0" marL="320040" rtl="0" algn="l">
              <a:spcBef>
                <a:spcPts val="700"/>
              </a:spcBef>
              <a:spcAft>
                <a:spcPts val="0"/>
              </a:spcAft>
              <a:buSzPts val="1740"/>
              <a:buChar char="◻"/>
            </a:pPr>
            <a:r>
              <a:rPr lang="en-US"/>
              <a:t>If a server is not authoritative for a hostname, then it contains a type NS record for the domain that includes the hostname; it will also contain a Type A record that provides the ip address of the DNS server in the value field of the NS record</a:t>
            </a:r>
            <a:endParaRPr/>
          </a:p>
          <a:p>
            <a:pPr indent="-320040" lvl="0" marL="320040" rtl="0" algn="l">
              <a:spcBef>
                <a:spcPts val="700"/>
              </a:spcBef>
              <a:spcAft>
                <a:spcPts val="0"/>
              </a:spcAft>
              <a:buSzPts val="1740"/>
              <a:buChar char="◻"/>
            </a:pPr>
            <a:r>
              <a:rPr lang="en-US"/>
              <a:t>TLD is not authoritative for cs.mit.edu</a:t>
            </a:r>
            <a:endParaRPr/>
          </a:p>
          <a:p>
            <a:pPr indent="-274320" lvl="1" marL="640080" rtl="0" algn="l">
              <a:spcBef>
                <a:spcPts val="550"/>
              </a:spcBef>
              <a:spcAft>
                <a:spcPts val="0"/>
              </a:spcAft>
              <a:buSzPts val="1820"/>
              <a:buChar char="🞑"/>
            </a:pPr>
            <a:r>
              <a:rPr lang="en-US"/>
              <a:t>(mit.edu, dns.mit.edu, NS, 123)</a:t>
            </a:r>
            <a:endParaRPr/>
          </a:p>
          <a:p>
            <a:pPr indent="-274320" lvl="1" marL="640080" rtl="0" algn="l">
              <a:spcBef>
                <a:spcPts val="550"/>
              </a:spcBef>
              <a:spcAft>
                <a:spcPts val="0"/>
              </a:spcAft>
              <a:buSzPts val="1820"/>
              <a:buChar char="🞑"/>
            </a:pPr>
            <a:r>
              <a:rPr lang="en-US"/>
              <a:t>(dns.mit.edu, 123.22.32.21, A, 134)</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38"/>
          <p:cNvSpPr txBox="1"/>
          <p:nvPr>
            <p:ph idx="1" type="body"/>
          </p:nvPr>
        </p:nvSpPr>
        <p:spPr>
          <a:xfrm>
            <a:off x="1371600" y="2743200"/>
            <a:ext cx="7123113" cy="16732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t/>
            </a:r>
            <a:endParaRPr/>
          </a:p>
        </p:txBody>
      </p:sp>
      <p:sp>
        <p:nvSpPr>
          <p:cNvPr id="641" name="Google Shape;641;p38"/>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FFFF"/>
              </a:buClr>
              <a:buSzPts val="4400"/>
              <a:buFont typeface="Twentieth Century"/>
              <a:buNone/>
            </a:pPr>
            <a:r>
              <a:rPr lang="en-US"/>
              <a:t>DHCP</a:t>
            </a:r>
            <a:endParaRPr/>
          </a:p>
        </p:txBody>
      </p:sp>
      <p:sp>
        <p:nvSpPr>
          <p:cNvPr id="642" name="Google Shape;642;p38"/>
          <p:cNvSpPr txBox="1"/>
          <p:nvPr>
            <p:ph idx="12" type="sldNum"/>
          </p:nvPr>
        </p:nvSpPr>
        <p:spPr>
          <a:xfrm>
            <a:off x="0" y="1752600"/>
            <a:ext cx="1295400" cy="70167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9"/>
          <p:cNvSpPr txBox="1"/>
          <p:nvPr>
            <p:ph type="title"/>
          </p:nvPr>
        </p:nvSpPr>
        <p:spPr>
          <a:xfrm>
            <a:off x="612648" y="228600"/>
            <a:ext cx="8153400" cy="609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Arial"/>
              <a:buNone/>
            </a:pPr>
            <a:br>
              <a:rPr lang="en-US">
                <a:latin typeface="Arial"/>
                <a:ea typeface="Arial"/>
                <a:cs typeface="Arial"/>
                <a:sym typeface="Arial"/>
              </a:rPr>
            </a:br>
            <a:r>
              <a:rPr lang="en-US" sz="4000">
                <a:latin typeface="Arial"/>
                <a:ea typeface="Arial"/>
                <a:cs typeface="Arial"/>
                <a:sym typeface="Arial"/>
              </a:rPr>
              <a:t>Dynamic Host Configuration Protocol</a:t>
            </a:r>
            <a:endParaRPr>
              <a:latin typeface="Arial"/>
              <a:ea typeface="Arial"/>
              <a:cs typeface="Arial"/>
              <a:sym typeface="Arial"/>
            </a:endParaRPr>
          </a:p>
        </p:txBody>
      </p:sp>
      <p:sp>
        <p:nvSpPr>
          <p:cNvPr id="649" name="Google Shape;649;p39"/>
          <p:cNvSpPr txBox="1"/>
          <p:nvPr>
            <p:ph idx="1" type="body"/>
          </p:nvPr>
        </p:nvSpPr>
        <p:spPr>
          <a:xfrm>
            <a:off x="304800" y="1524000"/>
            <a:ext cx="4572000" cy="4861188"/>
          </a:xfrm>
          <a:prstGeom prst="rect">
            <a:avLst/>
          </a:prstGeom>
          <a:noFill/>
          <a:ln>
            <a:noFill/>
          </a:ln>
        </p:spPr>
        <p:txBody>
          <a:bodyPr anchorCtr="0" anchor="t" bIns="45700" lIns="91425" spcFirstLastPara="1" rIns="91425" wrap="square" tIns="45700">
            <a:normAutofit/>
          </a:bodyPr>
          <a:lstStyle/>
          <a:p>
            <a:pPr indent="-320040" lvl="0" marL="320040" rtl="0" algn="l">
              <a:lnSpc>
                <a:spcPct val="85000"/>
              </a:lnSpc>
              <a:spcBef>
                <a:spcPts val="0"/>
              </a:spcBef>
              <a:spcAft>
                <a:spcPts val="0"/>
              </a:spcAft>
              <a:buSzPts val="1740"/>
              <a:buFont typeface="Arial"/>
              <a:buChar char="•"/>
            </a:pPr>
            <a:r>
              <a:rPr lang="en-US"/>
              <a:t>DHCP service automates the assignment of IPv4 addresses, subnet masks, gateways, and other IPv4 networking parameters. </a:t>
            </a:r>
            <a:endParaRPr/>
          </a:p>
          <a:p>
            <a:pPr indent="-320040" lvl="0" marL="320040" rtl="0" algn="l">
              <a:lnSpc>
                <a:spcPct val="85000"/>
              </a:lnSpc>
              <a:spcBef>
                <a:spcPts val="870"/>
              </a:spcBef>
              <a:spcAft>
                <a:spcPts val="0"/>
              </a:spcAft>
              <a:buSzPts val="1740"/>
              <a:buFont typeface="Arial"/>
              <a:buChar char="•"/>
            </a:pPr>
            <a:r>
              <a:rPr lang="en-US"/>
              <a:t>DHCP is considered dynamic addressing compared to static addressing. Static addressing is manually entering IP address information.</a:t>
            </a:r>
            <a:endParaRPr/>
          </a:p>
        </p:txBody>
      </p:sp>
      <p:pic>
        <p:nvPicPr>
          <p:cNvPr id="650" name="Google Shape;650;p39"/>
          <p:cNvPicPr preferRelativeResize="0"/>
          <p:nvPr/>
        </p:nvPicPr>
        <p:blipFill rotWithShape="1">
          <a:blip r:embed="rId3">
            <a:alphaModFix/>
          </a:blip>
          <a:srcRect b="0" l="0" r="0" t="0"/>
          <a:stretch/>
        </p:blipFill>
        <p:spPr>
          <a:xfrm>
            <a:off x="4953000" y="1524000"/>
            <a:ext cx="4090497" cy="3525592"/>
          </a:xfrm>
          <a:prstGeom prst="rect">
            <a:avLst/>
          </a:prstGeom>
          <a:noFill/>
          <a:ln>
            <a:noFill/>
          </a:ln>
        </p:spPr>
      </p:pic>
    </p:spTree>
  </p:cSld>
  <p:clrMapOvr>
    <a:masterClrMapping/>
  </p:clrMapOvr>
  <p:transition spd="slow">
    <p:wipe dir="l"/>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0"/>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DHCP</a:t>
            </a:r>
            <a:endParaRPr/>
          </a:p>
        </p:txBody>
      </p:sp>
      <p:sp>
        <p:nvSpPr>
          <p:cNvPr id="656" name="Google Shape;656;p4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657" name="Google Shape;657;p40"/>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lnSpc>
                <a:spcPct val="85000"/>
              </a:lnSpc>
              <a:spcBef>
                <a:spcPts val="0"/>
              </a:spcBef>
              <a:spcAft>
                <a:spcPts val="0"/>
              </a:spcAft>
              <a:buSzPts val="1740"/>
              <a:buFont typeface="Arial"/>
              <a:buChar char="•"/>
            </a:pPr>
            <a:r>
              <a:rPr lang="en-US"/>
              <a:t>When a host connects to the network, the DHCP server is contacted, and an address is requested. The DHCP server chooses an address from a configured range of addresses called a pool and assigns (leases) it to the host.</a:t>
            </a:r>
            <a:endParaRPr/>
          </a:p>
          <a:p>
            <a:pPr indent="-320040" lvl="0" marL="320040" rtl="0" algn="l">
              <a:lnSpc>
                <a:spcPct val="85000"/>
              </a:lnSpc>
              <a:spcBef>
                <a:spcPts val="870"/>
              </a:spcBef>
              <a:spcAft>
                <a:spcPts val="0"/>
              </a:spcAft>
              <a:buSzPts val="1740"/>
              <a:buFont typeface="Arial"/>
              <a:buChar char="•"/>
            </a:pPr>
            <a:r>
              <a:rPr lang="en-US"/>
              <a:t>Many networks use both DHCP and static addressing. DHCP is used for general purpose hosts, such as end user devices. Static addressing is used for network devices, such as gateway routers, switches, servers, and printers.</a:t>
            </a:r>
            <a:endParaRPr b="1"/>
          </a:p>
          <a:p>
            <a:pPr indent="-209550" lvl="0" marL="320040" rtl="0" algn="l">
              <a:spcBef>
                <a:spcPts val="700"/>
              </a:spcBef>
              <a:spcAft>
                <a:spcPts val="0"/>
              </a:spcAft>
              <a:buSzPts val="174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41"/>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4C69"/>
              </a:buClr>
              <a:buSzPct val="100000"/>
              <a:buFont typeface="Twentieth Century"/>
              <a:buNone/>
            </a:pPr>
            <a:br>
              <a:rPr lang="en-US"/>
            </a:br>
            <a:r>
              <a:rPr lang="en-US" sz="2400"/>
              <a:t>Steps to Obtain a Lease</a:t>
            </a:r>
            <a:endParaRPr/>
          </a:p>
        </p:txBody>
      </p:sp>
      <p:sp>
        <p:nvSpPr>
          <p:cNvPr id="664" name="Google Shape;664;p41"/>
          <p:cNvSpPr txBox="1"/>
          <p:nvPr/>
        </p:nvSpPr>
        <p:spPr>
          <a:xfrm>
            <a:off x="186117" y="2133600"/>
            <a:ext cx="2996774" cy="27392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Twentieth Century"/>
                <a:ea typeface="Twentieth Century"/>
                <a:cs typeface="Twentieth Century"/>
                <a:sym typeface="Twentieth Century"/>
              </a:rPr>
              <a:t>When the client boots (or otherwise wants to join a network), it begins a four-step process to obtain a lease:</a:t>
            </a:r>
            <a:endParaRPr/>
          </a:p>
          <a:p>
            <a:pPr indent="-228600" lvl="0" marL="228600" marR="0" rtl="0" algn="l">
              <a:spcBef>
                <a:spcPts val="0"/>
              </a:spcBef>
              <a:spcAft>
                <a:spcPts val="0"/>
              </a:spcAft>
              <a:buClr>
                <a:srgbClr val="000000"/>
              </a:buClr>
              <a:buSzPts val="1600"/>
              <a:buFont typeface="Twentieth Century"/>
              <a:buAutoNum type="arabicPeriod"/>
            </a:pPr>
            <a:r>
              <a:rPr lang="en-US" sz="1600">
                <a:solidFill>
                  <a:srgbClr val="000000"/>
                </a:solidFill>
                <a:latin typeface="Twentieth Century"/>
                <a:ea typeface="Twentieth Century"/>
                <a:cs typeface="Twentieth Century"/>
                <a:sym typeface="Twentieth Century"/>
              </a:rPr>
              <a:t>DHCP Discover (DHCPDISCOVER)</a:t>
            </a:r>
            <a:endParaRPr/>
          </a:p>
          <a:p>
            <a:pPr indent="-228600" lvl="0" marL="228600" marR="0" rtl="0" algn="l">
              <a:spcBef>
                <a:spcPts val="0"/>
              </a:spcBef>
              <a:spcAft>
                <a:spcPts val="0"/>
              </a:spcAft>
              <a:buClr>
                <a:srgbClr val="000000"/>
              </a:buClr>
              <a:buSzPts val="1600"/>
              <a:buFont typeface="Twentieth Century"/>
              <a:buAutoNum type="arabicPeriod"/>
            </a:pPr>
            <a:r>
              <a:rPr lang="en-US" sz="1600">
                <a:solidFill>
                  <a:srgbClr val="000000"/>
                </a:solidFill>
                <a:latin typeface="Twentieth Century"/>
                <a:ea typeface="Twentieth Century"/>
                <a:cs typeface="Twentieth Century"/>
                <a:sym typeface="Twentieth Century"/>
              </a:rPr>
              <a:t>DHCP Offer (DHCPOFFER)</a:t>
            </a:r>
            <a:endParaRPr/>
          </a:p>
          <a:p>
            <a:pPr indent="-228600" lvl="0" marL="228600" marR="0" rtl="0" algn="l">
              <a:spcBef>
                <a:spcPts val="0"/>
              </a:spcBef>
              <a:spcAft>
                <a:spcPts val="0"/>
              </a:spcAft>
              <a:buClr>
                <a:srgbClr val="000000"/>
              </a:buClr>
              <a:buSzPts val="1600"/>
              <a:buFont typeface="Twentieth Century"/>
              <a:buAutoNum type="arabicPeriod"/>
            </a:pPr>
            <a:r>
              <a:rPr lang="en-US" sz="1600">
                <a:solidFill>
                  <a:srgbClr val="000000"/>
                </a:solidFill>
                <a:latin typeface="Twentieth Century"/>
                <a:ea typeface="Twentieth Century"/>
                <a:cs typeface="Twentieth Century"/>
                <a:sym typeface="Twentieth Century"/>
              </a:rPr>
              <a:t>DHCP Request (DHCPREQUEST)</a:t>
            </a:r>
            <a:endParaRPr/>
          </a:p>
          <a:p>
            <a:pPr indent="-228600" lvl="0" marL="228600" marR="0" rtl="0" algn="l">
              <a:spcBef>
                <a:spcPts val="0"/>
              </a:spcBef>
              <a:spcAft>
                <a:spcPts val="0"/>
              </a:spcAft>
              <a:buClr>
                <a:srgbClr val="000000"/>
              </a:buClr>
              <a:buSzPts val="1600"/>
              <a:buFont typeface="Twentieth Century"/>
              <a:buAutoNum type="arabicPeriod"/>
            </a:pPr>
            <a:r>
              <a:rPr lang="en-US" sz="1600">
                <a:solidFill>
                  <a:srgbClr val="000000"/>
                </a:solidFill>
                <a:latin typeface="Twentieth Century"/>
                <a:ea typeface="Twentieth Century"/>
                <a:cs typeface="Twentieth Century"/>
                <a:sym typeface="Twentieth Century"/>
              </a:rPr>
              <a:t>DHCP Acknowledgment (DHCPACK)</a:t>
            </a:r>
            <a:endParaRPr/>
          </a:p>
          <a:p>
            <a:pPr indent="0" lvl="0" marL="0" marR="0" rtl="0" algn="l">
              <a:spcBef>
                <a:spcPts val="0"/>
              </a:spcBef>
              <a:spcAft>
                <a:spcPts val="0"/>
              </a:spcAft>
              <a:buNone/>
            </a:pPr>
            <a:r>
              <a:t/>
            </a:r>
            <a:endParaRPr sz="1200">
              <a:solidFill>
                <a:srgbClr val="000000"/>
              </a:solidFill>
              <a:latin typeface="Twentieth Century"/>
              <a:ea typeface="Twentieth Century"/>
              <a:cs typeface="Twentieth Century"/>
              <a:sym typeface="Twentieth Century"/>
            </a:endParaRPr>
          </a:p>
        </p:txBody>
      </p:sp>
      <p:pic>
        <p:nvPicPr>
          <p:cNvPr id="665" name="Google Shape;665;p41"/>
          <p:cNvPicPr preferRelativeResize="0"/>
          <p:nvPr>
            <p:ph idx="1" type="body"/>
          </p:nvPr>
        </p:nvPicPr>
        <p:blipFill rotWithShape="1">
          <a:blip r:embed="rId3">
            <a:alphaModFix/>
          </a:blip>
          <a:srcRect b="0" l="0" r="0" t="0"/>
          <a:stretch/>
        </p:blipFill>
        <p:spPr>
          <a:xfrm>
            <a:off x="3304131" y="1094466"/>
            <a:ext cx="5653752" cy="52236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4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Arial"/>
              <a:buNone/>
            </a:pPr>
            <a:r>
              <a:rPr lang="en-US" sz="1600">
                <a:latin typeface="Arial"/>
                <a:ea typeface="Arial"/>
                <a:cs typeface="Arial"/>
                <a:sym typeface="Arial"/>
              </a:rPr>
              <a:t>IP Addressing Services</a:t>
            </a:r>
            <a:br>
              <a:rPr lang="en-US">
                <a:latin typeface="Arial"/>
                <a:ea typeface="Arial"/>
                <a:cs typeface="Arial"/>
                <a:sym typeface="Arial"/>
              </a:rPr>
            </a:br>
            <a:r>
              <a:rPr lang="en-US">
                <a:latin typeface="Arial"/>
                <a:ea typeface="Arial"/>
                <a:cs typeface="Arial"/>
                <a:sym typeface="Arial"/>
              </a:rPr>
              <a:t>DHCP Operation</a:t>
            </a:r>
            <a:endParaRPr/>
          </a:p>
        </p:txBody>
      </p:sp>
      <p:sp>
        <p:nvSpPr>
          <p:cNvPr id="672" name="Google Shape;672;p42"/>
          <p:cNvSpPr txBox="1"/>
          <p:nvPr>
            <p:ph idx="1" type="body"/>
          </p:nvPr>
        </p:nvSpPr>
        <p:spPr>
          <a:xfrm>
            <a:off x="152400" y="1656636"/>
            <a:ext cx="4495800" cy="504791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85000"/>
              </a:lnSpc>
              <a:spcBef>
                <a:spcPts val="0"/>
              </a:spcBef>
              <a:spcAft>
                <a:spcPts val="0"/>
              </a:spcAft>
              <a:buSzPct val="59999"/>
              <a:buNone/>
            </a:pPr>
            <a:r>
              <a:rPr lang="en-US"/>
              <a:t>The DHCP Process: </a:t>
            </a:r>
            <a:endParaRPr/>
          </a:p>
          <a:p>
            <a:pPr indent="-228600" lvl="2" marL="914400" rtl="0" algn="l">
              <a:lnSpc>
                <a:spcPct val="85000"/>
              </a:lnSpc>
              <a:spcBef>
                <a:spcPts val="483"/>
              </a:spcBef>
              <a:spcAft>
                <a:spcPts val="0"/>
              </a:spcAft>
              <a:buSzPct val="75000"/>
              <a:buFont typeface="Arial"/>
              <a:buChar char="•"/>
            </a:pPr>
            <a:r>
              <a:rPr lang="en-US"/>
              <a:t>When an IPv4, DHCP-configured device boots up or connects to the network, the client broadcasts a DHCP discover (DHCPDISCOVER) message to identify any available DHCP servers on the network.</a:t>
            </a:r>
            <a:endParaRPr/>
          </a:p>
          <a:p>
            <a:pPr indent="-228600" lvl="2" marL="914400" rtl="0" algn="l">
              <a:lnSpc>
                <a:spcPct val="85000"/>
              </a:lnSpc>
              <a:spcBef>
                <a:spcPts val="483"/>
              </a:spcBef>
              <a:spcAft>
                <a:spcPts val="0"/>
              </a:spcAft>
              <a:buSzPct val="75000"/>
              <a:buFont typeface="Arial"/>
              <a:buChar char="•"/>
            </a:pPr>
            <a:r>
              <a:rPr lang="en-US"/>
              <a:t>A DHCP server replies with a DHCP offer (DHCPOFFER) message, which offers a lease to the client. (If a client receives more than one offer due to multiple DHCP servers on the network, it must choose one.)</a:t>
            </a:r>
            <a:endParaRPr/>
          </a:p>
          <a:p>
            <a:pPr indent="-228600" lvl="2" marL="914400" rtl="0" algn="l">
              <a:lnSpc>
                <a:spcPct val="85000"/>
              </a:lnSpc>
              <a:spcBef>
                <a:spcPts val="483"/>
              </a:spcBef>
              <a:spcAft>
                <a:spcPts val="0"/>
              </a:spcAft>
              <a:buSzPct val="75000"/>
              <a:buFont typeface="Arial"/>
              <a:buChar char="•"/>
            </a:pPr>
            <a:r>
              <a:rPr lang="en-US"/>
              <a:t>The client sends a DHCP request (DHCPREQUEST) message that identifies the explicit server and lease offer that the client is accepting. </a:t>
            </a:r>
            <a:endParaRPr/>
          </a:p>
          <a:p>
            <a:pPr indent="-228600" lvl="2" marL="914400" rtl="0" algn="l">
              <a:lnSpc>
                <a:spcPct val="85000"/>
              </a:lnSpc>
              <a:spcBef>
                <a:spcPts val="483"/>
              </a:spcBef>
              <a:spcAft>
                <a:spcPts val="0"/>
              </a:spcAft>
              <a:buSzPct val="75000"/>
              <a:buFont typeface="Arial"/>
              <a:buChar char="•"/>
            </a:pPr>
            <a:r>
              <a:rPr lang="en-US"/>
              <a:t>The server then returns a DHCP acknowledgment (DHCPACK) message that acknowledges to the client that the lease has been finalized.</a:t>
            </a:r>
            <a:endParaRPr/>
          </a:p>
          <a:p>
            <a:pPr indent="-228600" lvl="2" marL="914400" rtl="0" algn="l">
              <a:lnSpc>
                <a:spcPct val="85000"/>
              </a:lnSpc>
              <a:spcBef>
                <a:spcPts val="483"/>
              </a:spcBef>
              <a:spcAft>
                <a:spcPts val="0"/>
              </a:spcAft>
              <a:buSzPct val="75000"/>
              <a:buFont typeface="Arial"/>
              <a:buChar char="•"/>
            </a:pPr>
            <a:r>
              <a:rPr lang="en-US"/>
              <a:t> If the offer is no longer valid, then the selected server responds with a DHCP negative acknowledgment (DHCPNAK) message and the process must begin with a new DHCPDISCOVER message. </a:t>
            </a:r>
            <a:endParaRPr/>
          </a:p>
          <a:p>
            <a:pPr indent="-151923" lvl="2" marL="914400" rtl="0" algn="l">
              <a:lnSpc>
                <a:spcPct val="85000"/>
              </a:lnSpc>
              <a:spcBef>
                <a:spcPts val="483"/>
              </a:spcBef>
              <a:spcAft>
                <a:spcPts val="0"/>
              </a:spcAft>
              <a:buSzPct val="75000"/>
              <a:buFont typeface="Arial"/>
              <a:buNone/>
            </a:pPr>
            <a:r>
              <a:t/>
            </a:r>
            <a:endParaRPr/>
          </a:p>
        </p:txBody>
      </p:sp>
      <p:pic>
        <p:nvPicPr>
          <p:cNvPr id="673" name="Google Shape;673;p42"/>
          <p:cNvPicPr preferRelativeResize="0"/>
          <p:nvPr/>
        </p:nvPicPr>
        <p:blipFill rotWithShape="1">
          <a:blip r:embed="rId3">
            <a:alphaModFix/>
          </a:blip>
          <a:srcRect b="0" l="0" r="0" t="0"/>
          <a:stretch/>
        </p:blipFill>
        <p:spPr>
          <a:xfrm>
            <a:off x="4876800" y="2209800"/>
            <a:ext cx="4149309" cy="3616064"/>
          </a:xfrm>
          <a:prstGeom prst="rect">
            <a:avLst/>
          </a:prstGeom>
          <a:noFill/>
          <a:ln>
            <a:noFill/>
          </a:ln>
        </p:spPr>
      </p:pic>
    </p:spTree>
  </p:cSld>
  <p:clrMapOvr>
    <a:masterClrMapping/>
  </p:clrMapOvr>
  <p:transition spd="slow">
    <p:wipe dir="l"/>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3"/>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4C69"/>
              </a:buClr>
              <a:buSzPts val="2400"/>
              <a:buFont typeface="Twentieth Century"/>
              <a:buNone/>
            </a:pPr>
            <a:r>
              <a:rPr lang="en-US" sz="2400"/>
              <a:t>Configuring a Router as DHCPv4 Server</a:t>
            </a:r>
            <a:endParaRPr/>
          </a:p>
        </p:txBody>
      </p:sp>
      <p:sp>
        <p:nvSpPr>
          <p:cNvPr id="680" name="Google Shape;680;p43"/>
          <p:cNvSpPr txBox="1"/>
          <p:nvPr>
            <p:ph idx="1" type="body"/>
          </p:nvPr>
        </p:nvSpPr>
        <p:spPr>
          <a:xfrm>
            <a:off x="457200" y="1524000"/>
            <a:ext cx="8280057" cy="160195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Now you have a basic understanding of how DHCPv4 works and how it can make your job a bit easier. A Cisco router running Cisco IOS software can be configured to act as a DHCPv4 server. The Cisco IOS DHCPv4 server assigns and manages IPv4 addresses from specified address pools within the router to DHCPv4 clients.</a:t>
            </a:r>
            <a:endParaRPr/>
          </a:p>
        </p:txBody>
      </p:sp>
      <p:pic>
        <p:nvPicPr>
          <p:cNvPr id="681" name="Google Shape;681;p43"/>
          <p:cNvPicPr preferRelativeResize="0"/>
          <p:nvPr/>
        </p:nvPicPr>
        <p:blipFill rotWithShape="1">
          <a:blip r:embed="rId3">
            <a:alphaModFix/>
          </a:blip>
          <a:srcRect b="0" l="0" r="0" t="0"/>
          <a:stretch/>
        </p:blipFill>
        <p:spPr>
          <a:xfrm>
            <a:off x="1524000" y="2819400"/>
            <a:ext cx="6117021" cy="36090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4"/>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4C69"/>
              </a:buClr>
              <a:buSzPts val="2400"/>
              <a:buFont typeface="Twentieth Century"/>
              <a:buNone/>
            </a:pPr>
            <a:r>
              <a:rPr lang="en-US" sz="2400"/>
              <a:t>Steps to Configure a Cisco IOS DHCPv4 Server (Cont.)</a:t>
            </a:r>
            <a:endParaRPr/>
          </a:p>
        </p:txBody>
      </p:sp>
      <p:graphicFrame>
        <p:nvGraphicFramePr>
          <p:cNvPr id="688" name="Google Shape;688;p44"/>
          <p:cNvGraphicFramePr/>
          <p:nvPr/>
        </p:nvGraphicFramePr>
        <p:xfrm>
          <a:off x="853442" y="2531293"/>
          <a:ext cx="3000000" cy="3000000"/>
        </p:xfrm>
        <a:graphic>
          <a:graphicData uri="http://schemas.openxmlformats.org/drawingml/2006/table">
            <a:tbl>
              <a:tblPr bandRow="1" firstRow="1">
                <a:noFill/>
                <a:tableStyleId>{D95D5847-5265-4D10-9F46-FB4AFC25BBD2}</a:tableStyleId>
              </a:tblPr>
              <a:tblGrid>
                <a:gridCol w="2999200"/>
                <a:gridCol w="4142775"/>
              </a:tblGrid>
              <a:tr h="519700">
                <a:tc>
                  <a:txBody>
                    <a:bodyPr/>
                    <a:lstStyle/>
                    <a:p>
                      <a:pPr indent="0" lvl="0" marL="0" marR="0" rtl="0" algn="l">
                        <a:spcBef>
                          <a:spcPts val="0"/>
                        </a:spcBef>
                        <a:spcAft>
                          <a:spcPts val="0"/>
                        </a:spcAft>
                        <a:buNone/>
                      </a:pPr>
                      <a:r>
                        <a:rPr b="1" lang="en-US" sz="1300" u="none" cap="none" strike="noStrike"/>
                        <a:t>Task</a:t>
                      </a:r>
                      <a:endParaRPr sz="1300" u="none" cap="none" strike="noStrike"/>
                    </a:p>
                  </a:txBody>
                  <a:tcPr marT="63500" marB="63500" marR="47625" marL="47625" anchor="ctr"/>
                </a:tc>
                <a:tc>
                  <a:txBody>
                    <a:bodyPr/>
                    <a:lstStyle/>
                    <a:p>
                      <a:pPr indent="0" lvl="0" marL="0" marR="0" rtl="0" algn="l">
                        <a:spcBef>
                          <a:spcPts val="0"/>
                        </a:spcBef>
                        <a:spcAft>
                          <a:spcPts val="0"/>
                        </a:spcAft>
                        <a:buNone/>
                      </a:pPr>
                      <a:r>
                        <a:rPr b="1" lang="en-US" sz="1300" u="none" cap="none" strike="noStrike"/>
                        <a:t>IOS Command</a:t>
                      </a:r>
                      <a:endParaRPr sz="1300" u="none" cap="none" strike="noStrike"/>
                    </a:p>
                  </a:txBody>
                  <a:tcPr marT="63500" marB="63500" marR="47625" marL="47625" anchor="ctr"/>
                </a:tc>
              </a:tr>
              <a:tr h="519700">
                <a:tc>
                  <a:txBody>
                    <a:bodyPr/>
                    <a:lstStyle/>
                    <a:p>
                      <a:pPr indent="0" lvl="0" marL="0" marR="0" rtl="0" algn="l">
                        <a:spcBef>
                          <a:spcPts val="0"/>
                        </a:spcBef>
                        <a:spcAft>
                          <a:spcPts val="0"/>
                        </a:spcAft>
                        <a:buNone/>
                      </a:pPr>
                      <a:r>
                        <a:rPr b="0" lang="en-US" sz="1300" u="none" cap="none" strike="noStrike"/>
                        <a:t>Define the address pool.</a:t>
                      </a:r>
                      <a:endParaRPr/>
                    </a:p>
                  </a:txBody>
                  <a:tcPr marT="63500" marB="63500" marR="47625" marL="47625" anchor="ctr"/>
                </a:tc>
                <a:tc>
                  <a:txBody>
                    <a:bodyPr/>
                    <a:lstStyle/>
                    <a:p>
                      <a:pPr indent="0" lvl="0" marL="0" marR="0" rtl="0" algn="l">
                        <a:spcBef>
                          <a:spcPts val="0"/>
                        </a:spcBef>
                        <a:spcAft>
                          <a:spcPts val="0"/>
                        </a:spcAft>
                        <a:buNone/>
                      </a:pPr>
                      <a:r>
                        <a:rPr b="1" lang="en-US" sz="1300" u="none" cap="none" strike="noStrike"/>
                        <a:t>network</a:t>
                      </a:r>
                      <a:r>
                        <a:rPr b="0" lang="en-US" sz="1300" u="none" cap="none" strike="noStrike"/>
                        <a:t> </a:t>
                      </a:r>
                      <a:r>
                        <a:rPr b="0" i="1" lang="en-US" sz="1300" u="none" cap="none" strike="noStrike"/>
                        <a:t>network-number</a:t>
                      </a:r>
                      <a:r>
                        <a:rPr b="0" lang="en-US" sz="1300" u="none" cap="none" strike="noStrike"/>
                        <a:t> [</a:t>
                      </a:r>
                      <a:r>
                        <a:rPr b="0" i="1" lang="en-US" sz="1300" u="none" cap="none" strike="noStrike"/>
                        <a:t>mask</a:t>
                      </a:r>
                      <a:r>
                        <a:rPr b="0" lang="en-US" sz="1300" u="none" cap="none" strike="noStrike"/>
                        <a:t> | / </a:t>
                      </a:r>
                      <a:r>
                        <a:rPr b="0" i="1" lang="en-US" sz="1300" u="none" cap="none" strike="noStrike"/>
                        <a:t>prefix-length</a:t>
                      </a:r>
                      <a:r>
                        <a:rPr b="0" lang="en-US" sz="1300" u="none" cap="none" strike="noStrike"/>
                        <a:t>]</a:t>
                      </a:r>
                      <a:endParaRPr/>
                    </a:p>
                  </a:txBody>
                  <a:tcPr marT="63500" marB="63500" marR="47625" marL="47625" anchor="ctr"/>
                </a:tc>
              </a:tr>
              <a:tr h="519700">
                <a:tc>
                  <a:txBody>
                    <a:bodyPr/>
                    <a:lstStyle/>
                    <a:p>
                      <a:pPr indent="0" lvl="0" marL="0" marR="0" rtl="0" algn="l">
                        <a:spcBef>
                          <a:spcPts val="0"/>
                        </a:spcBef>
                        <a:spcAft>
                          <a:spcPts val="0"/>
                        </a:spcAft>
                        <a:buNone/>
                      </a:pPr>
                      <a:r>
                        <a:rPr b="0" lang="en-US" sz="1300" u="none" cap="none" strike="noStrike"/>
                        <a:t>Define the default router or gateway.</a:t>
                      </a:r>
                      <a:endParaRPr/>
                    </a:p>
                  </a:txBody>
                  <a:tcPr marT="63500" marB="63500" marR="47625" marL="47625" anchor="ctr"/>
                </a:tc>
                <a:tc>
                  <a:txBody>
                    <a:bodyPr/>
                    <a:lstStyle/>
                    <a:p>
                      <a:pPr indent="0" lvl="0" marL="0" marR="0" rtl="0" algn="l">
                        <a:spcBef>
                          <a:spcPts val="0"/>
                        </a:spcBef>
                        <a:spcAft>
                          <a:spcPts val="0"/>
                        </a:spcAft>
                        <a:buNone/>
                      </a:pPr>
                      <a:r>
                        <a:rPr b="1" lang="en-US" sz="1300" u="none" cap="none" strike="noStrike"/>
                        <a:t>default-router</a:t>
                      </a:r>
                      <a:r>
                        <a:rPr b="0" lang="en-US" sz="1300" u="none" cap="none" strike="noStrike"/>
                        <a:t> address [ </a:t>
                      </a:r>
                      <a:r>
                        <a:rPr b="0" i="1" lang="en-US" sz="1300" u="none" cap="none" strike="noStrike"/>
                        <a:t>address2….address8</a:t>
                      </a:r>
                      <a:r>
                        <a:rPr b="0" lang="en-US" sz="1300" u="none" cap="none" strike="noStrike"/>
                        <a:t>]</a:t>
                      </a:r>
                      <a:endParaRPr/>
                    </a:p>
                  </a:txBody>
                  <a:tcPr marT="63500" marB="63500" marR="47625" marL="47625" anchor="ctr"/>
                </a:tc>
              </a:tr>
              <a:tr h="519700">
                <a:tc>
                  <a:txBody>
                    <a:bodyPr/>
                    <a:lstStyle/>
                    <a:p>
                      <a:pPr indent="0" lvl="0" marL="0" marR="0" rtl="0" algn="l">
                        <a:spcBef>
                          <a:spcPts val="0"/>
                        </a:spcBef>
                        <a:spcAft>
                          <a:spcPts val="0"/>
                        </a:spcAft>
                        <a:buNone/>
                      </a:pPr>
                      <a:r>
                        <a:rPr b="0" lang="en-US" sz="1300" u="none" cap="none" strike="noStrike"/>
                        <a:t>Define a DNS server.</a:t>
                      </a:r>
                      <a:endParaRPr/>
                    </a:p>
                  </a:txBody>
                  <a:tcPr marT="63500" marB="63500" marR="47625" marL="47625" anchor="ctr"/>
                </a:tc>
                <a:tc>
                  <a:txBody>
                    <a:bodyPr/>
                    <a:lstStyle/>
                    <a:p>
                      <a:pPr indent="0" lvl="0" marL="0" marR="0" rtl="0" algn="l">
                        <a:spcBef>
                          <a:spcPts val="0"/>
                        </a:spcBef>
                        <a:spcAft>
                          <a:spcPts val="0"/>
                        </a:spcAft>
                        <a:buNone/>
                      </a:pPr>
                      <a:r>
                        <a:rPr b="1" lang="en-US" sz="1300" u="none" cap="none" strike="noStrike"/>
                        <a:t>dns-server</a:t>
                      </a:r>
                      <a:r>
                        <a:rPr b="0" lang="en-US" sz="1300" u="none" cap="none" strike="noStrike"/>
                        <a:t> </a:t>
                      </a:r>
                      <a:r>
                        <a:rPr b="0" i="1" lang="en-US" sz="1300" u="none" cap="none" strike="noStrike"/>
                        <a:t>address</a:t>
                      </a:r>
                      <a:r>
                        <a:rPr b="0" lang="en-US" sz="1300" u="none" cap="none" strike="noStrike"/>
                        <a:t> [ </a:t>
                      </a:r>
                      <a:r>
                        <a:rPr b="0" i="1" lang="en-US" sz="1300" u="none" cap="none" strike="noStrike"/>
                        <a:t>address2…address8</a:t>
                      </a:r>
                      <a:r>
                        <a:rPr b="0" lang="en-US" sz="1300" u="none" cap="none" strike="noStrike"/>
                        <a:t>]</a:t>
                      </a:r>
                      <a:endParaRPr/>
                    </a:p>
                  </a:txBody>
                  <a:tcPr marT="63500" marB="63500" marR="47625" marL="47625" anchor="ctr"/>
                </a:tc>
              </a:tr>
              <a:tr h="519700">
                <a:tc>
                  <a:txBody>
                    <a:bodyPr/>
                    <a:lstStyle/>
                    <a:p>
                      <a:pPr indent="0" lvl="0" marL="0" marR="0" rtl="0" algn="l">
                        <a:spcBef>
                          <a:spcPts val="0"/>
                        </a:spcBef>
                        <a:spcAft>
                          <a:spcPts val="0"/>
                        </a:spcAft>
                        <a:buNone/>
                      </a:pPr>
                      <a:r>
                        <a:rPr b="0" lang="en-US" sz="1300" u="none" cap="none" strike="noStrike"/>
                        <a:t>Define the domain name.</a:t>
                      </a:r>
                      <a:endParaRPr/>
                    </a:p>
                  </a:txBody>
                  <a:tcPr marT="63500" marB="63500" marR="47625" marL="47625" anchor="ctr"/>
                </a:tc>
                <a:tc>
                  <a:txBody>
                    <a:bodyPr/>
                    <a:lstStyle/>
                    <a:p>
                      <a:pPr indent="0" lvl="0" marL="0" marR="0" rtl="0" algn="l">
                        <a:spcBef>
                          <a:spcPts val="0"/>
                        </a:spcBef>
                        <a:spcAft>
                          <a:spcPts val="0"/>
                        </a:spcAft>
                        <a:buNone/>
                      </a:pPr>
                      <a:r>
                        <a:rPr b="1" lang="en-US" sz="1300" u="none" cap="none" strike="noStrike"/>
                        <a:t>domain-name</a:t>
                      </a:r>
                      <a:r>
                        <a:rPr b="0" lang="en-US" sz="1300" u="none" cap="none" strike="noStrike"/>
                        <a:t> </a:t>
                      </a:r>
                      <a:r>
                        <a:rPr b="0" i="1" lang="en-US" sz="1300" u="none" cap="none" strike="noStrike"/>
                        <a:t>domain</a:t>
                      </a:r>
                      <a:endParaRPr b="0" sz="1300" u="none" cap="none" strike="noStrike"/>
                    </a:p>
                  </a:txBody>
                  <a:tcPr marT="63500" marB="63500" marR="47625" marL="47625" anchor="ctr"/>
                </a:tc>
              </a:tr>
              <a:tr h="519700">
                <a:tc>
                  <a:txBody>
                    <a:bodyPr/>
                    <a:lstStyle/>
                    <a:p>
                      <a:pPr indent="0" lvl="0" marL="0" marR="0" rtl="0" algn="l">
                        <a:spcBef>
                          <a:spcPts val="0"/>
                        </a:spcBef>
                        <a:spcAft>
                          <a:spcPts val="0"/>
                        </a:spcAft>
                        <a:buNone/>
                      </a:pPr>
                      <a:r>
                        <a:rPr b="0" lang="en-US" sz="1300" u="none" cap="none" strike="noStrike"/>
                        <a:t>Define the duration of the DHCP lease.</a:t>
                      </a:r>
                      <a:endParaRPr/>
                    </a:p>
                  </a:txBody>
                  <a:tcPr marT="63500" marB="63500" marR="47625" marL="47625" anchor="ctr"/>
                </a:tc>
                <a:tc>
                  <a:txBody>
                    <a:bodyPr/>
                    <a:lstStyle/>
                    <a:p>
                      <a:pPr indent="0" lvl="0" marL="0" marR="0" rtl="0" algn="l">
                        <a:spcBef>
                          <a:spcPts val="0"/>
                        </a:spcBef>
                        <a:spcAft>
                          <a:spcPts val="0"/>
                        </a:spcAft>
                        <a:buNone/>
                      </a:pPr>
                      <a:r>
                        <a:rPr b="1" lang="en-US" sz="1300" u="none" cap="none" strike="noStrike"/>
                        <a:t>lease</a:t>
                      </a:r>
                      <a:r>
                        <a:rPr b="0" lang="en-US" sz="1300" u="none" cap="none" strike="noStrike"/>
                        <a:t> {</a:t>
                      </a:r>
                      <a:r>
                        <a:rPr b="0" i="1" lang="en-US" sz="1300" u="none" cap="none" strike="noStrike"/>
                        <a:t>days</a:t>
                      </a:r>
                      <a:r>
                        <a:rPr b="0" lang="en-US" sz="1300" u="none" cap="none" strike="noStrike"/>
                        <a:t> [</a:t>
                      </a:r>
                      <a:r>
                        <a:rPr b="0" i="1" lang="en-US" sz="1300" u="none" cap="none" strike="noStrike"/>
                        <a:t>hours</a:t>
                      </a:r>
                      <a:r>
                        <a:rPr b="0" lang="en-US" sz="1300" u="none" cap="none" strike="noStrike"/>
                        <a:t> [ </a:t>
                      </a:r>
                      <a:r>
                        <a:rPr b="0" i="1" lang="en-US" sz="1300" u="none" cap="none" strike="noStrike"/>
                        <a:t>minutes</a:t>
                      </a:r>
                      <a:r>
                        <a:rPr b="0" lang="en-US" sz="1300" u="none" cap="none" strike="noStrike"/>
                        <a:t>]] | </a:t>
                      </a:r>
                      <a:r>
                        <a:rPr b="1" lang="en-US" sz="1300" u="none" cap="none" strike="noStrike"/>
                        <a:t>infinite</a:t>
                      </a:r>
                      <a:r>
                        <a:rPr b="0" lang="en-US" sz="1300" u="none" cap="none" strike="noStrike"/>
                        <a:t>}</a:t>
                      </a:r>
                      <a:endParaRPr/>
                    </a:p>
                  </a:txBody>
                  <a:tcPr marT="63500" marB="63500" marR="47625" marL="47625" anchor="ctr"/>
                </a:tc>
              </a:tr>
              <a:tr h="519700">
                <a:tc>
                  <a:txBody>
                    <a:bodyPr/>
                    <a:lstStyle/>
                    <a:p>
                      <a:pPr indent="0" lvl="0" marL="0" marR="0" rtl="0" algn="l">
                        <a:spcBef>
                          <a:spcPts val="0"/>
                        </a:spcBef>
                        <a:spcAft>
                          <a:spcPts val="0"/>
                        </a:spcAft>
                        <a:buNone/>
                      </a:pPr>
                      <a:r>
                        <a:rPr b="0" lang="en-US" sz="1300" u="none" cap="none" strike="noStrike"/>
                        <a:t>Define the NetBIOS WINS server.</a:t>
                      </a:r>
                      <a:endParaRPr/>
                    </a:p>
                  </a:txBody>
                  <a:tcPr marT="63500" marB="63500" marR="47625" marL="47625" anchor="ctr"/>
                </a:tc>
                <a:tc>
                  <a:txBody>
                    <a:bodyPr/>
                    <a:lstStyle/>
                    <a:p>
                      <a:pPr indent="0" lvl="0" marL="0" marR="0" rtl="0" algn="l">
                        <a:spcBef>
                          <a:spcPts val="0"/>
                        </a:spcBef>
                        <a:spcAft>
                          <a:spcPts val="0"/>
                        </a:spcAft>
                        <a:buNone/>
                      </a:pPr>
                      <a:r>
                        <a:rPr b="1" lang="en-US" sz="1300" u="none" cap="none" strike="noStrike"/>
                        <a:t>netbios-name-server</a:t>
                      </a:r>
                      <a:r>
                        <a:rPr b="0" lang="en-US" sz="1300" u="none" cap="none" strike="noStrike"/>
                        <a:t> </a:t>
                      </a:r>
                      <a:r>
                        <a:rPr b="0" i="1" lang="en-US" sz="1300" u="none" cap="none" strike="noStrike"/>
                        <a:t>address</a:t>
                      </a:r>
                      <a:r>
                        <a:rPr b="0" lang="en-US" sz="1300" u="none" cap="none" strike="noStrike"/>
                        <a:t> [ </a:t>
                      </a:r>
                      <a:r>
                        <a:rPr b="0" i="1" lang="en-US" sz="1300" u="none" cap="none" strike="noStrike"/>
                        <a:t>address2…address8</a:t>
                      </a:r>
                      <a:r>
                        <a:rPr b="0" lang="en-US" sz="1300" u="none" cap="none" strike="noStrike"/>
                        <a:t>]</a:t>
                      </a:r>
                      <a:endParaRPr/>
                    </a:p>
                  </a:txBody>
                  <a:tcPr marT="63500" marB="63500"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45"/>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004C69"/>
              </a:buClr>
              <a:buSzPct val="100000"/>
              <a:buFont typeface="Twentieth Century"/>
              <a:buNone/>
            </a:pPr>
            <a:br>
              <a:rPr lang="en-US"/>
            </a:br>
            <a:r>
              <a:rPr lang="en-US" sz="2400"/>
              <a:t>Configuration Example</a:t>
            </a:r>
            <a:endParaRPr/>
          </a:p>
        </p:txBody>
      </p:sp>
      <p:pic>
        <p:nvPicPr>
          <p:cNvPr id="695" name="Google Shape;695;p45"/>
          <p:cNvPicPr preferRelativeResize="0"/>
          <p:nvPr/>
        </p:nvPicPr>
        <p:blipFill rotWithShape="1">
          <a:blip r:embed="rId3">
            <a:alphaModFix/>
          </a:blip>
          <a:srcRect b="0" l="0" r="0" t="0"/>
          <a:stretch/>
        </p:blipFill>
        <p:spPr>
          <a:xfrm>
            <a:off x="3160498" y="1104590"/>
            <a:ext cx="5276193" cy="3112953"/>
          </a:xfrm>
          <a:prstGeom prst="rect">
            <a:avLst/>
          </a:prstGeom>
          <a:noFill/>
          <a:ln>
            <a:noFill/>
          </a:ln>
        </p:spPr>
      </p:pic>
      <p:pic>
        <p:nvPicPr>
          <p:cNvPr id="696" name="Google Shape;696;p45"/>
          <p:cNvPicPr preferRelativeResize="0"/>
          <p:nvPr/>
        </p:nvPicPr>
        <p:blipFill rotWithShape="1">
          <a:blip r:embed="rId4">
            <a:alphaModFix/>
          </a:blip>
          <a:srcRect b="0" l="0" r="0" t="0"/>
          <a:stretch/>
        </p:blipFill>
        <p:spPr>
          <a:xfrm>
            <a:off x="845592" y="3205717"/>
            <a:ext cx="5707607" cy="32489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46"/>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4C69"/>
              </a:buClr>
              <a:buSzPts val="1600"/>
              <a:buFont typeface="Twentieth Century"/>
              <a:buNone/>
            </a:pPr>
            <a:r>
              <a:rPr lang="en-US" sz="1600"/>
              <a:t>Configure a Cisco IOS DHCPv4 Server</a:t>
            </a:r>
            <a:br>
              <a:rPr lang="en-US"/>
            </a:br>
            <a:r>
              <a:rPr lang="en-US" sz="2400"/>
              <a:t>DHCPv4 Verification</a:t>
            </a:r>
            <a:endParaRPr/>
          </a:p>
        </p:txBody>
      </p:sp>
      <p:sp>
        <p:nvSpPr>
          <p:cNvPr id="703" name="Google Shape;703;p46"/>
          <p:cNvSpPr/>
          <p:nvPr/>
        </p:nvSpPr>
        <p:spPr>
          <a:xfrm>
            <a:off x="257629" y="1201239"/>
            <a:ext cx="862511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58585B"/>
                </a:solidFill>
                <a:latin typeface="Twentieth Century"/>
                <a:ea typeface="Twentieth Century"/>
                <a:cs typeface="Twentieth Century"/>
                <a:sym typeface="Twentieth Century"/>
              </a:rPr>
              <a:t>Use the commands in the table to verify that the Cisco IOS DHCPv4 server is operational</a:t>
            </a:r>
            <a:r>
              <a:rPr lang="en-US" sz="1400">
                <a:solidFill>
                  <a:srgbClr val="58585B"/>
                </a:solidFill>
                <a:latin typeface="Twentieth Century"/>
                <a:ea typeface="Twentieth Century"/>
                <a:cs typeface="Twentieth Century"/>
                <a:sym typeface="Twentieth Century"/>
              </a:rPr>
              <a:t>.</a:t>
            </a:r>
            <a:endParaRPr sz="1400">
              <a:solidFill>
                <a:schemeClr val="dk1"/>
              </a:solidFill>
              <a:latin typeface="Twentieth Century"/>
              <a:ea typeface="Twentieth Century"/>
              <a:cs typeface="Twentieth Century"/>
              <a:sym typeface="Twentieth Century"/>
            </a:endParaRPr>
          </a:p>
        </p:txBody>
      </p:sp>
      <p:graphicFrame>
        <p:nvGraphicFramePr>
          <p:cNvPr id="704" name="Google Shape;704;p46"/>
          <p:cNvGraphicFramePr/>
          <p:nvPr/>
        </p:nvGraphicFramePr>
        <p:xfrm>
          <a:off x="257628" y="2229395"/>
          <a:ext cx="3000000" cy="3000000"/>
        </p:xfrm>
        <a:graphic>
          <a:graphicData uri="http://schemas.openxmlformats.org/drawingml/2006/table">
            <a:tbl>
              <a:tblPr bandRow="1" firstRow="1">
                <a:noFill/>
                <a:tableStyleId>{D95D5847-5265-4D10-9F46-FB4AFC25BBD2}</a:tableStyleId>
              </a:tblPr>
              <a:tblGrid>
                <a:gridCol w="3265975"/>
                <a:gridCol w="5188575"/>
              </a:tblGrid>
              <a:tr h="585775">
                <a:tc>
                  <a:txBody>
                    <a:bodyPr/>
                    <a:lstStyle/>
                    <a:p>
                      <a:pPr indent="0" lvl="0" marL="0" marR="0" rtl="0" algn="l">
                        <a:spcBef>
                          <a:spcPts val="0"/>
                        </a:spcBef>
                        <a:spcAft>
                          <a:spcPts val="0"/>
                        </a:spcAft>
                        <a:buNone/>
                      </a:pPr>
                      <a:r>
                        <a:rPr b="1" lang="en-US" sz="1600" u="none" cap="none" strike="noStrike"/>
                        <a:t>Command</a:t>
                      </a:r>
                      <a:endParaRPr sz="1600" u="none" cap="none" strike="noStrike"/>
                    </a:p>
                  </a:txBody>
                  <a:tcPr marT="63500" marB="63500" marR="47625" marL="47625" anchor="ctr"/>
                </a:tc>
                <a:tc>
                  <a:txBody>
                    <a:bodyPr/>
                    <a:lstStyle/>
                    <a:p>
                      <a:pPr indent="0" lvl="0" marL="0" marR="0" rtl="0" algn="l">
                        <a:spcBef>
                          <a:spcPts val="0"/>
                        </a:spcBef>
                        <a:spcAft>
                          <a:spcPts val="0"/>
                        </a:spcAft>
                        <a:buNone/>
                      </a:pPr>
                      <a:r>
                        <a:rPr b="1" lang="en-US" sz="1600" u="none" cap="none" strike="noStrike"/>
                        <a:t>Description</a:t>
                      </a:r>
                      <a:endParaRPr sz="1600" u="none" cap="none" strike="noStrike"/>
                    </a:p>
                  </a:txBody>
                  <a:tcPr marT="63500" marB="63500" marR="47625" marL="47625" anchor="ctr"/>
                </a:tc>
              </a:tr>
              <a:tr h="585775">
                <a:tc>
                  <a:txBody>
                    <a:bodyPr/>
                    <a:lstStyle/>
                    <a:p>
                      <a:pPr indent="0" lvl="0" marL="0" marR="0" rtl="0" algn="l">
                        <a:spcBef>
                          <a:spcPts val="0"/>
                        </a:spcBef>
                        <a:spcAft>
                          <a:spcPts val="0"/>
                        </a:spcAft>
                        <a:buNone/>
                      </a:pPr>
                      <a:r>
                        <a:rPr b="1" lang="en-US" sz="1600" u="none" cap="none" strike="noStrike"/>
                        <a:t>show running-config | section dhcp</a:t>
                      </a:r>
                      <a:endParaRPr b="0" sz="1600" u="none" cap="none" strike="noStrike"/>
                    </a:p>
                  </a:txBody>
                  <a:tcPr marT="63500" marB="63500" marR="47625" marL="47625" anchor="ctr"/>
                </a:tc>
                <a:tc>
                  <a:txBody>
                    <a:bodyPr/>
                    <a:lstStyle/>
                    <a:p>
                      <a:pPr indent="0" lvl="0" marL="0" marR="0" rtl="0" algn="l">
                        <a:spcBef>
                          <a:spcPts val="0"/>
                        </a:spcBef>
                        <a:spcAft>
                          <a:spcPts val="0"/>
                        </a:spcAft>
                        <a:buNone/>
                      </a:pPr>
                      <a:r>
                        <a:rPr b="0" lang="en-US" sz="1600" u="none" cap="none" strike="noStrike"/>
                        <a:t>Displays the DHCPv4 commands configured on the router.</a:t>
                      </a:r>
                      <a:endParaRPr/>
                    </a:p>
                  </a:txBody>
                  <a:tcPr marT="63500" marB="63500" marR="47625" marL="47625" anchor="ctr"/>
                </a:tc>
              </a:tr>
              <a:tr h="728200">
                <a:tc>
                  <a:txBody>
                    <a:bodyPr/>
                    <a:lstStyle/>
                    <a:p>
                      <a:pPr indent="0" lvl="0" marL="0" marR="0" rtl="0" algn="l">
                        <a:spcBef>
                          <a:spcPts val="0"/>
                        </a:spcBef>
                        <a:spcAft>
                          <a:spcPts val="0"/>
                        </a:spcAft>
                        <a:buNone/>
                      </a:pPr>
                      <a:r>
                        <a:rPr b="1" lang="en-US" sz="1600" u="none" cap="none" strike="noStrike"/>
                        <a:t>show ip dhcp binding</a:t>
                      </a:r>
                      <a:endParaRPr b="0" sz="1600" u="none" cap="none" strike="noStrike"/>
                    </a:p>
                  </a:txBody>
                  <a:tcPr marT="63500" marB="63500" marR="47625" marL="47625" anchor="ctr"/>
                </a:tc>
                <a:tc>
                  <a:txBody>
                    <a:bodyPr/>
                    <a:lstStyle/>
                    <a:p>
                      <a:pPr indent="0" lvl="0" marL="0" marR="0" rtl="0" algn="l">
                        <a:spcBef>
                          <a:spcPts val="0"/>
                        </a:spcBef>
                        <a:spcAft>
                          <a:spcPts val="0"/>
                        </a:spcAft>
                        <a:buNone/>
                      </a:pPr>
                      <a:r>
                        <a:rPr b="0" lang="en-US" sz="1600" u="none" cap="none" strike="noStrike"/>
                        <a:t>Displays a list of all IPv4 address to MAC address bindings provided by the DHCPv4 service.</a:t>
                      </a:r>
                      <a:endParaRPr/>
                    </a:p>
                  </a:txBody>
                  <a:tcPr marT="63500" marB="63500" marR="47625" marL="47625" anchor="ctr"/>
                </a:tc>
              </a:tr>
              <a:tr h="728200">
                <a:tc>
                  <a:txBody>
                    <a:bodyPr/>
                    <a:lstStyle/>
                    <a:p>
                      <a:pPr indent="0" lvl="0" marL="0" marR="0" rtl="0" algn="l">
                        <a:spcBef>
                          <a:spcPts val="0"/>
                        </a:spcBef>
                        <a:spcAft>
                          <a:spcPts val="0"/>
                        </a:spcAft>
                        <a:buNone/>
                      </a:pPr>
                      <a:r>
                        <a:rPr b="1" lang="en-US" sz="1600" u="none" cap="none" strike="noStrike"/>
                        <a:t>show ip dhcp server statistics</a:t>
                      </a:r>
                      <a:endParaRPr b="0" sz="1600" u="none" cap="none" strike="noStrike"/>
                    </a:p>
                  </a:txBody>
                  <a:tcPr marT="63500" marB="63500" marR="47625" marL="47625" anchor="ctr"/>
                </a:tc>
                <a:tc>
                  <a:txBody>
                    <a:bodyPr/>
                    <a:lstStyle/>
                    <a:p>
                      <a:pPr indent="0" lvl="0" marL="0" marR="0" rtl="0" algn="l">
                        <a:spcBef>
                          <a:spcPts val="0"/>
                        </a:spcBef>
                        <a:spcAft>
                          <a:spcPts val="0"/>
                        </a:spcAft>
                        <a:buNone/>
                      </a:pPr>
                      <a:r>
                        <a:rPr b="0" lang="en-US" sz="1600" u="none" cap="none" strike="noStrike"/>
                        <a:t>Displays count information regarding the number of DHCPv4 messages that have been sent and received</a:t>
                      </a:r>
                      <a:endParaRPr/>
                    </a:p>
                  </a:txBody>
                  <a:tcPr marT="63500" marB="63500"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47"/>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4C69"/>
              </a:buClr>
              <a:buSzPts val="1600"/>
              <a:buFont typeface="Twentieth Century"/>
              <a:buNone/>
            </a:pPr>
            <a:r>
              <a:rPr lang="en-US" sz="1600"/>
              <a:t>Configure a Cisco IOS DHCPv4 Server</a:t>
            </a:r>
            <a:br>
              <a:rPr lang="en-US"/>
            </a:br>
            <a:r>
              <a:rPr lang="en-US" sz="2400"/>
              <a:t>Verify DHCPv4 is Operational</a:t>
            </a:r>
            <a:endParaRPr/>
          </a:p>
        </p:txBody>
      </p:sp>
      <p:sp>
        <p:nvSpPr>
          <p:cNvPr id="711" name="Google Shape;711;p47"/>
          <p:cNvSpPr txBox="1"/>
          <p:nvPr>
            <p:ph idx="1" type="body"/>
          </p:nvPr>
        </p:nvSpPr>
        <p:spPr>
          <a:xfrm>
            <a:off x="431971" y="1676400"/>
            <a:ext cx="8280057" cy="142778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Verify the DHCPv4 Configuration: </a:t>
            </a:r>
            <a:r>
              <a:rPr lang="en-US">
                <a:solidFill>
                  <a:srgbClr val="000000"/>
                </a:solidFill>
              </a:rPr>
              <a:t>As shown in the example, the </a:t>
            </a:r>
            <a:r>
              <a:rPr b="1" lang="en-US">
                <a:solidFill>
                  <a:srgbClr val="000000"/>
                </a:solidFill>
              </a:rPr>
              <a:t>show running-config | section dhcp</a:t>
            </a:r>
            <a:r>
              <a:rPr lang="en-US">
                <a:solidFill>
                  <a:srgbClr val="000000"/>
                </a:solidFill>
              </a:rPr>
              <a:t> command output displays the DHCPv4 commands configured on R1. The </a:t>
            </a:r>
            <a:r>
              <a:rPr b="1" lang="en-US">
                <a:solidFill>
                  <a:srgbClr val="000000"/>
                </a:solidFill>
              </a:rPr>
              <a:t>| section</a:t>
            </a:r>
            <a:r>
              <a:rPr lang="en-US">
                <a:solidFill>
                  <a:srgbClr val="000000"/>
                </a:solidFill>
              </a:rPr>
              <a:t> parameter displays only the commands associated with DHCPv4 configuration.</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712" name="Google Shape;712;p47"/>
          <p:cNvPicPr preferRelativeResize="0"/>
          <p:nvPr/>
        </p:nvPicPr>
        <p:blipFill rotWithShape="1">
          <a:blip r:embed="rId3">
            <a:alphaModFix/>
          </a:blip>
          <a:srcRect b="0" l="0" r="0" t="0"/>
          <a:stretch/>
        </p:blipFill>
        <p:spPr>
          <a:xfrm>
            <a:off x="2104698" y="3200400"/>
            <a:ext cx="4895695" cy="318534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48"/>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4C69"/>
              </a:buClr>
              <a:buSzPts val="1600"/>
              <a:buFont typeface="Twentieth Century"/>
              <a:buNone/>
            </a:pPr>
            <a:r>
              <a:rPr lang="en-US" sz="1600"/>
              <a:t>Configure a Cisco IOS DHCPv4 Server</a:t>
            </a:r>
            <a:br>
              <a:rPr lang="en-US"/>
            </a:br>
            <a:r>
              <a:rPr lang="en-US" sz="2400"/>
              <a:t>Verify DHCPv4 is Operational (Cont.)</a:t>
            </a:r>
            <a:endParaRPr/>
          </a:p>
        </p:txBody>
      </p:sp>
      <p:sp>
        <p:nvSpPr>
          <p:cNvPr id="719" name="Google Shape;719;p48"/>
          <p:cNvSpPr txBox="1"/>
          <p:nvPr>
            <p:ph idx="1" type="body"/>
          </p:nvPr>
        </p:nvSpPr>
        <p:spPr>
          <a:xfrm>
            <a:off x="433592" y="1981200"/>
            <a:ext cx="8280057" cy="114910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Verify DHCPv4 Bindings: </a:t>
            </a:r>
            <a:r>
              <a:rPr lang="en-US">
                <a:solidFill>
                  <a:srgbClr val="000000"/>
                </a:solidFill>
              </a:rPr>
              <a:t>As shown in the example, the operation of DHCPv4 can be verified using the </a:t>
            </a:r>
            <a:r>
              <a:rPr b="1" lang="en-US">
                <a:solidFill>
                  <a:srgbClr val="000000"/>
                </a:solidFill>
              </a:rPr>
              <a:t>show ip dhcp binding</a:t>
            </a:r>
            <a:r>
              <a:rPr lang="en-US">
                <a:solidFill>
                  <a:srgbClr val="000000"/>
                </a:solidFill>
              </a:rPr>
              <a:t> command. This command displays a list of all IPv4 address to MAC address bindings that have been provided by the DHCPv4 service.</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720" name="Google Shape;720;p48"/>
          <p:cNvPicPr preferRelativeResize="0"/>
          <p:nvPr/>
        </p:nvPicPr>
        <p:blipFill rotWithShape="1">
          <a:blip r:embed="rId3">
            <a:alphaModFix/>
          </a:blip>
          <a:srcRect b="0" l="0" r="0" t="0"/>
          <a:stretch/>
        </p:blipFill>
        <p:spPr>
          <a:xfrm>
            <a:off x="558834" y="3352800"/>
            <a:ext cx="8029575" cy="2298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49"/>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4C69"/>
              </a:buClr>
              <a:buSzPts val="1600"/>
              <a:buFont typeface="Twentieth Century"/>
              <a:buNone/>
            </a:pPr>
            <a:r>
              <a:rPr lang="en-US" sz="1600"/>
              <a:t>Configure a Cisco IOS DHCPv4 Server</a:t>
            </a:r>
            <a:br>
              <a:rPr lang="en-US"/>
            </a:br>
            <a:r>
              <a:rPr lang="en-US" sz="2400"/>
              <a:t>DHCPv4 Relay</a:t>
            </a:r>
            <a:endParaRPr/>
          </a:p>
        </p:txBody>
      </p:sp>
      <p:sp>
        <p:nvSpPr>
          <p:cNvPr id="727" name="Google Shape;727;p49"/>
          <p:cNvSpPr txBox="1"/>
          <p:nvPr>
            <p:ph idx="1" type="body"/>
          </p:nvPr>
        </p:nvSpPr>
        <p:spPr>
          <a:xfrm>
            <a:off x="229475" y="1475803"/>
            <a:ext cx="8685050" cy="1938685"/>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In a complex hierarchical network, enterprise servers are usually located centrally. These servers may provide DHCP, DNS, TFTP, and FTP services for the network. Network clients are not typically on the same subnet as those servers. In order to locate the servers and receive services, clients often use broadcast messages.</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In the figure, PC1 is attempting to acquire an IPv4 address from a DHCPv4 server using a broadcast message. In this scenario, R1 is not configured as a DHCPv4 server and does not forward the broadcast. Because the DHCPv4 server is located on a different network, PC1 cannot receive an IP address using DHCP. R1 must be configured to relay DHCPv4 messages to the DHCPv4 server.</a:t>
            </a:r>
            <a:endParaRPr/>
          </a:p>
          <a:p>
            <a:pPr indent="-266700" lvl="0" marL="342900" rtl="0" algn="l">
              <a:lnSpc>
                <a:spcPct val="100000"/>
              </a:lnSpc>
              <a:spcBef>
                <a:spcPts val="240"/>
              </a:spcBef>
              <a:spcAft>
                <a:spcPts val="0"/>
              </a:spcAft>
              <a:buSzPts val="1200"/>
              <a:buFont typeface="Arial"/>
              <a:buNone/>
            </a:pPr>
            <a:r>
              <a:t/>
            </a:r>
            <a:endParaRPr sz="1200">
              <a:solidFill>
                <a:srgbClr val="000000"/>
              </a:solidFill>
            </a:endParaRPr>
          </a:p>
        </p:txBody>
      </p:sp>
      <p:pic>
        <p:nvPicPr>
          <p:cNvPr id="728" name="Google Shape;728;p49"/>
          <p:cNvPicPr preferRelativeResize="0"/>
          <p:nvPr/>
        </p:nvPicPr>
        <p:blipFill rotWithShape="1">
          <a:blip r:embed="rId3">
            <a:alphaModFix/>
          </a:blip>
          <a:srcRect b="0" l="0" r="0" t="0"/>
          <a:stretch/>
        </p:blipFill>
        <p:spPr>
          <a:xfrm>
            <a:off x="1524000" y="3200400"/>
            <a:ext cx="5914942" cy="33965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50"/>
          <p:cNvSpPr txBox="1"/>
          <p:nvPr>
            <p:ph type="title"/>
          </p:nvPr>
        </p:nvSpPr>
        <p:spPr>
          <a:xfrm>
            <a:off x="0" y="0"/>
            <a:ext cx="8345488" cy="97578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4C69"/>
              </a:buClr>
              <a:buSzPts val="2400"/>
              <a:buFont typeface="Twentieth Century"/>
              <a:buNone/>
            </a:pPr>
            <a:r>
              <a:rPr lang="en-US" sz="2400"/>
              <a:t>DHCPv4 Relay Configuration</a:t>
            </a:r>
            <a:endParaRPr sz="2400"/>
          </a:p>
        </p:txBody>
      </p:sp>
      <p:sp>
        <p:nvSpPr>
          <p:cNvPr id="735" name="Google Shape;735;p50"/>
          <p:cNvSpPr txBox="1"/>
          <p:nvPr>
            <p:ph idx="1" type="body"/>
          </p:nvPr>
        </p:nvSpPr>
        <p:spPr>
          <a:xfrm>
            <a:off x="474663" y="975784"/>
            <a:ext cx="8280057" cy="2809520"/>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Configure R1 with the </a:t>
            </a:r>
            <a:r>
              <a:rPr b="1" lang="en-US" sz="1600">
                <a:solidFill>
                  <a:srgbClr val="000000"/>
                </a:solidFill>
              </a:rPr>
              <a:t>ip helper-address</a:t>
            </a:r>
            <a:r>
              <a:rPr lang="en-US" sz="1600">
                <a:solidFill>
                  <a:srgbClr val="000000"/>
                </a:solidFill>
              </a:rPr>
              <a:t> </a:t>
            </a:r>
            <a:r>
              <a:rPr i="1" lang="en-US" sz="1600">
                <a:solidFill>
                  <a:srgbClr val="000000"/>
                </a:solidFill>
              </a:rPr>
              <a:t>address</a:t>
            </a:r>
            <a:r>
              <a:rPr lang="en-US" sz="1600">
                <a:solidFill>
                  <a:srgbClr val="000000"/>
                </a:solidFill>
              </a:rPr>
              <a:t> interface configuration command. This will cause R1 to relay DHCPv4 broadcasts to the DHCPv4 server. As shown in the example, the interface on R1 receiving the broadcast from PC1 is configured to relay DHCPv4 address to the DHCPv4 server at 192.168.11.6.</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R1 has been configured as a DHCPv4 relay agent, it accepts broadcast requests for the DHCPv4 service and then forwards those requests as a unicast to the IPv4 address 192.168.11.6. The network administrator can use the </a:t>
            </a:r>
            <a:r>
              <a:rPr b="1" lang="en-US" sz="1600">
                <a:solidFill>
                  <a:srgbClr val="000000"/>
                </a:solidFill>
              </a:rPr>
              <a:t>show ip interface</a:t>
            </a:r>
            <a:r>
              <a:rPr lang="en-US" sz="1600">
                <a:solidFill>
                  <a:srgbClr val="000000"/>
                </a:solidFill>
              </a:rPr>
              <a:t> command to verify the configuration.</a:t>
            </a:r>
            <a:endParaRPr/>
          </a:p>
        </p:txBody>
      </p:sp>
      <p:pic>
        <p:nvPicPr>
          <p:cNvPr id="736" name="Google Shape;736;p50"/>
          <p:cNvPicPr preferRelativeResize="0"/>
          <p:nvPr/>
        </p:nvPicPr>
        <p:blipFill rotWithShape="1">
          <a:blip r:embed="rId3">
            <a:alphaModFix/>
          </a:blip>
          <a:srcRect b="0" l="0" r="0" t="0"/>
          <a:stretch/>
        </p:blipFill>
        <p:spPr>
          <a:xfrm>
            <a:off x="709794" y="3866583"/>
            <a:ext cx="3205257" cy="1350748"/>
          </a:xfrm>
          <a:prstGeom prst="rect">
            <a:avLst/>
          </a:prstGeom>
          <a:noFill/>
          <a:ln>
            <a:noFill/>
          </a:ln>
        </p:spPr>
      </p:pic>
      <p:pic>
        <p:nvPicPr>
          <p:cNvPr id="737" name="Google Shape;737;p50"/>
          <p:cNvPicPr preferRelativeResize="0"/>
          <p:nvPr/>
        </p:nvPicPr>
        <p:blipFill rotWithShape="1">
          <a:blip r:embed="rId4">
            <a:alphaModFix/>
          </a:blip>
          <a:srcRect b="0" l="0" r="0" t="0"/>
          <a:stretch/>
        </p:blipFill>
        <p:spPr>
          <a:xfrm>
            <a:off x="4572000" y="3785303"/>
            <a:ext cx="3771900" cy="2501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51"/>
          <p:cNvSpPr txBox="1"/>
          <p:nvPr>
            <p:ph idx="1" type="body"/>
          </p:nvPr>
        </p:nvSpPr>
        <p:spPr>
          <a:xfrm>
            <a:off x="1371600" y="2743200"/>
            <a:ext cx="7123113" cy="16732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t/>
            </a:r>
            <a:endParaRPr/>
          </a:p>
        </p:txBody>
      </p:sp>
      <p:sp>
        <p:nvSpPr>
          <p:cNvPr id="743" name="Google Shape;743;p51"/>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FFFF"/>
              </a:buClr>
              <a:buSzPts val="4400"/>
              <a:buFont typeface="Twentieth Century"/>
              <a:buNone/>
            </a:pPr>
            <a:r>
              <a:rPr lang="en-US"/>
              <a:t>HTTP</a:t>
            </a:r>
            <a:endParaRPr/>
          </a:p>
        </p:txBody>
      </p:sp>
      <p:sp>
        <p:nvSpPr>
          <p:cNvPr id="744" name="Google Shape;744;p51"/>
          <p:cNvSpPr txBox="1"/>
          <p:nvPr>
            <p:ph idx="12" type="sldNum"/>
          </p:nvPr>
        </p:nvSpPr>
        <p:spPr>
          <a:xfrm>
            <a:off x="0" y="1752600"/>
            <a:ext cx="1295400" cy="70167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HTTP</a:t>
            </a:r>
            <a:endParaRPr/>
          </a:p>
        </p:txBody>
      </p:sp>
      <p:sp>
        <p:nvSpPr>
          <p:cNvPr id="750" name="Google Shape;750;p52"/>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751" name="Google Shape;751;p52"/>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Stands for </a:t>
            </a:r>
            <a:r>
              <a:rPr lang="en-US">
                <a:solidFill>
                  <a:srgbClr val="FF0000"/>
                </a:solidFill>
              </a:rPr>
              <a:t>Hyper Text Transfer Protocol</a:t>
            </a:r>
            <a:endParaRPr/>
          </a:p>
          <a:p>
            <a:pPr indent="-320040" lvl="0" marL="320040" rtl="0" algn="l">
              <a:spcBef>
                <a:spcPts val="700"/>
              </a:spcBef>
              <a:spcAft>
                <a:spcPts val="0"/>
              </a:spcAft>
              <a:buSzPts val="1740"/>
              <a:buChar char="◻"/>
            </a:pPr>
            <a:r>
              <a:rPr lang="en-US"/>
              <a:t>Uses the services of TCP on well-known port 80</a:t>
            </a:r>
            <a:endParaRPr/>
          </a:p>
          <a:p>
            <a:pPr indent="-320040" lvl="0" marL="320040" rtl="0" algn="l">
              <a:spcBef>
                <a:spcPts val="700"/>
              </a:spcBef>
              <a:spcAft>
                <a:spcPts val="0"/>
              </a:spcAft>
              <a:buSzPts val="1740"/>
              <a:buChar char="◻"/>
            </a:pPr>
            <a:r>
              <a:rPr lang="en-US"/>
              <a:t>HTTP messages are read and interpreted by the HTTP server and HTTP client(browser)</a:t>
            </a:r>
            <a:endParaRPr/>
          </a:p>
          <a:p>
            <a:pPr indent="-320040" lvl="0" marL="320040" rtl="0" algn="l">
              <a:spcBef>
                <a:spcPts val="700"/>
              </a:spcBef>
              <a:spcAft>
                <a:spcPts val="0"/>
              </a:spcAft>
              <a:buSzPts val="1740"/>
              <a:buChar char="◻"/>
            </a:pPr>
            <a:r>
              <a:rPr lang="en-US"/>
              <a:t>HTTP is a stateless protocol as HTTP server does not store any information for the clients</a:t>
            </a:r>
            <a:endParaRPr/>
          </a:p>
          <a:p>
            <a:pPr indent="-320040" lvl="0" marL="320040" rtl="0" algn="l">
              <a:spcBef>
                <a:spcPts val="700"/>
              </a:spcBef>
              <a:spcAft>
                <a:spcPts val="0"/>
              </a:spcAft>
              <a:buSzPts val="1740"/>
              <a:buChar char="◻"/>
            </a:pPr>
            <a:r>
              <a:rPr lang="en-US"/>
              <a:t>Uses TCP</a:t>
            </a:r>
            <a:endParaRPr/>
          </a:p>
          <a:p>
            <a:pPr indent="-209550" lvl="0" marL="320040" rtl="0" algn="l">
              <a:spcBef>
                <a:spcPts val="700"/>
              </a:spcBef>
              <a:spcAft>
                <a:spcPts val="0"/>
              </a:spcAft>
              <a:buSzPts val="1740"/>
              <a:buNone/>
            </a:pPr>
            <a:r>
              <a:t/>
            </a:r>
            <a:endParaRPr>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3"/>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Abbreviated Form of </a:t>
            </a:r>
            <a:endParaRPr/>
          </a:p>
          <a:p>
            <a:pPr indent="-274320" lvl="1" marL="640080" rtl="0" algn="l">
              <a:spcBef>
                <a:spcPts val="550"/>
              </a:spcBef>
              <a:spcAft>
                <a:spcPts val="0"/>
              </a:spcAft>
              <a:buSzPts val="1820"/>
              <a:buChar char="🞑"/>
            </a:pPr>
            <a:r>
              <a:rPr lang="en-US"/>
              <a:t>Uniform Resource Locator</a:t>
            </a:r>
            <a:endParaRPr/>
          </a:p>
          <a:p>
            <a:pPr indent="-320040" lvl="0" marL="320040" rtl="0" algn="l">
              <a:spcBef>
                <a:spcPts val="700"/>
              </a:spcBef>
              <a:spcAft>
                <a:spcPts val="0"/>
              </a:spcAft>
              <a:buSzPts val="1680"/>
              <a:buChar char="◻"/>
            </a:pPr>
            <a:r>
              <a:rPr lang="en-US" sz="2800"/>
              <a:t>Components</a:t>
            </a:r>
            <a:endParaRPr/>
          </a:p>
          <a:p>
            <a:pPr indent="-274320" lvl="1" marL="640080" rtl="0" algn="l">
              <a:spcBef>
                <a:spcPts val="550"/>
              </a:spcBef>
              <a:spcAft>
                <a:spcPts val="0"/>
              </a:spcAft>
              <a:buSzPts val="1820"/>
              <a:buChar char="🞑"/>
            </a:pPr>
            <a:r>
              <a:rPr lang="en-US"/>
              <a:t>Protocol</a:t>
            </a:r>
            <a:endParaRPr/>
          </a:p>
          <a:p>
            <a:pPr indent="-274320" lvl="1" marL="640080" rtl="0" algn="l">
              <a:spcBef>
                <a:spcPts val="550"/>
              </a:spcBef>
              <a:spcAft>
                <a:spcPts val="0"/>
              </a:spcAft>
              <a:buSzPts val="1820"/>
              <a:buChar char="🞑"/>
            </a:pPr>
            <a:r>
              <a:rPr lang="en-US"/>
              <a:t>Host</a:t>
            </a:r>
            <a:endParaRPr/>
          </a:p>
          <a:p>
            <a:pPr indent="-274320" lvl="1" marL="640080" rtl="0" algn="l">
              <a:spcBef>
                <a:spcPts val="550"/>
              </a:spcBef>
              <a:spcAft>
                <a:spcPts val="0"/>
              </a:spcAft>
              <a:buSzPts val="1820"/>
              <a:buChar char="🞑"/>
            </a:pPr>
            <a:r>
              <a:rPr lang="en-US"/>
              <a:t>Port (</a:t>
            </a:r>
            <a:r>
              <a:rPr lang="en-US">
                <a:solidFill>
                  <a:srgbClr val="FF0000"/>
                </a:solidFill>
              </a:rPr>
              <a:t>Optional</a:t>
            </a:r>
            <a:r>
              <a:rPr lang="en-US"/>
              <a:t>)</a:t>
            </a:r>
            <a:endParaRPr/>
          </a:p>
          <a:p>
            <a:pPr indent="-274320" lvl="1" marL="640080" rtl="0" algn="l">
              <a:spcBef>
                <a:spcPts val="550"/>
              </a:spcBef>
              <a:spcAft>
                <a:spcPts val="0"/>
              </a:spcAft>
              <a:buSzPts val="1820"/>
              <a:buChar char="🞑"/>
            </a:pPr>
            <a:r>
              <a:rPr lang="en-US"/>
              <a:t>Path</a:t>
            </a:r>
            <a:endParaRPr/>
          </a:p>
          <a:p>
            <a:pPr indent="-274320" lvl="1" marL="640080" rtl="0" algn="l">
              <a:spcBef>
                <a:spcPts val="550"/>
              </a:spcBef>
              <a:spcAft>
                <a:spcPts val="0"/>
              </a:spcAft>
              <a:buSzPts val="1820"/>
              <a:buChar char="🞑"/>
            </a:pPr>
            <a:r>
              <a:rPr lang="en-US"/>
              <a:t>File Name</a:t>
            </a:r>
            <a:endParaRPr/>
          </a:p>
          <a:p>
            <a:pPr indent="-158750" lvl="1" marL="640080" rtl="0" algn="l">
              <a:spcBef>
                <a:spcPts val="550"/>
              </a:spcBef>
              <a:spcAft>
                <a:spcPts val="0"/>
              </a:spcAft>
              <a:buSzPts val="1820"/>
              <a:buNone/>
            </a:pPr>
            <a:r>
              <a:t/>
            </a:r>
            <a:endParaRPr/>
          </a:p>
        </p:txBody>
      </p:sp>
      <p:sp>
        <p:nvSpPr>
          <p:cNvPr id="757" name="Google Shape;757;p53"/>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URL</a:t>
            </a:r>
            <a:endParaRPr/>
          </a:p>
        </p:txBody>
      </p:sp>
      <p:sp>
        <p:nvSpPr>
          <p:cNvPr id="758" name="Google Shape;758;p53"/>
          <p:cNvSpPr txBox="1"/>
          <p:nvPr>
            <p:ph idx="4294967295" type="sldNum"/>
          </p:nvPr>
        </p:nvSpPr>
        <p:spPr>
          <a:xfrm>
            <a:off x="8410575" y="6181531"/>
            <a:ext cx="609600" cy="457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54"/>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URL (Explained)</a:t>
            </a:r>
            <a:endParaRPr/>
          </a:p>
        </p:txBody>
      </p:sp>
      <p:sp>
        <p:nvSpPr>
          <p:cNvPr id="764" name="Google Shape;764;p5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765" name="Google Shape;765;p54"/>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a:bodyPr>
          <a:lstStyle/>
          <a:p>
            <a:pPr indent="-320059" lvl="0" marL="320040" rtl="0" algn="l">
              <a:spcBef>
                <a:spcPts val="0"/>
              </a:spcBef>
              <a:spcAft>
                <a:spcPts val="0"/>
              </a:spcAft>
              <a:buSzPct val="59999"/>
              <a:buChar char="◻"/>
            </a:pPr>
            <a:r>
              <a:rPr lang="en-US"/>
              <a:t>Protocol</a:t>
            </a:r>
            <a:endParaRPr/>
          </a:p>
          <a:p>
            <a:pPr indent="-274320" lvl="1" marL="640080" rtl="0" algn="l">
              <a:spcBef>
                <a:spcPts val="550"/>
              </a:spcBef>
              <a:spcAft>
                <a:spcPts val="0"/>
              </a:spcAft>
              <a:buSzPct val="70000"/>
              <a:buChar char="🞑"/>
            </a:pPr>
            <a:r>
              <a:rPr lang="en-US"/>
              <a:t>The client/server program used to retrieve the document</a:t>
            </a:r>
            <a:endParaRPr/>
          </a:p>
          <a:p>
            <a:pPr indent="-320059" lvl="0" marL="320040" rtl="0" algn="l">
              <a:spcBef>
                <a:spcPts val="700"/>
              </a:spcBef>
              <a:spcAft>
                <a:spcPts val="0"/>
              </a:spcAft>
              <a:buSzPct val="59999"/>
              <a:buChar char="◻"/>
            </a:pPr>
            <a:r>
              <a:rPr lang="en-US"/>
              <a:t>Host</a:t>
            </a:r>
            <a:endParaRPr/>
          </a:p>
          <a:p>
            <a:pPr indent="-274320" lvl="1" marL="640080" rtl="0" algn="l">
              <a:spcBef>
                <a:spcPts val="550"/>
              </a:spcBef>
              <a:spcAft>
                <a:spcPts val="0"/>
              </a:spcAft>
              <a:buSzPct val="70000"/>
              <a:buChar char="🞑"/>
            </a:pPr>
            <a:r>
              <a:rPr lang="en-US"/>
              <a:t>The computer on which the information is located</a:t>
            </a:r>
            <a:endParaRPr/>
          </a:p>
          <a:p>
            <a:pPr indent="-320059" lvl="0" marL="320040" rtl="0" algn="l">
              <a:spcBef>
                <a:spcPts val="700"/>
              </a:spcBef>
              <a:spcAft>
                <a:spcPts val="0"/>
              </a:spcAft>
              <a:buSzPct val="59999"/>
              <a:buChar char="◻"/>
            </a:pPr>
            <a:r>
              <a:rPr lang="en-US"/>
              <a:t>Port</a:t>
            </a:r>
            <a:endParaRPr/>
          </a:p>
          <a:p>
            <a:pPr indent="-274320" lvl="1" marL="640080" rtl="0" algn="l">
              <a:spcBef>
                <a:spcPts val="550"/>
              </a:spcBef>
              <a:spcAft>
                <a:spcPts val="0"/>
              </a:spcAft>
              <a:buSzPct val="70000"/>
              <a:buChar char="🞑"/>
            </a:pPr>
            <a:r>
              <a:rPr lang="en-US"/>
              <a:t>Optionally contains the port number of the server</a:t>
            </a:r>
            <a:endParaRPr/>
          </a:p>
          <a:p>
            <a:pPr indent="-320059" lvl="0" marL="320040" rtl="0" algn="l">
              <a:spcBef>
                <a:spcPts val="700"/>
              </a:spcBef>
              <a:spcAft>
                <a:spcPts val="0"/>
              </a:spcAft>
              <a:buSzPct val="59999"/>
              <a:buChar char="◻"/>
            </a:pPr>
            <a:r>
              <a:rPr lang="en-US"/>
              <a:t>Path</a:t>
            </a:r>
            <a:endParaRPr/>
          </a:p>
          <a:p>
            <a:pPr indent="-274320" lvl="1" marL="640080" rtl="0" algn="l">
              <a:spcBef>
                <a:spcPts val="550"/>
              </a:spcBef>
              <a:spcAft>
                <a:spcPts val="0"/>
              </a:spcAft>
              <a:buSzPct val="70000"/>
              <a:buChar char="🞑"/>
            </a:pPr>
            <a:r>
              <a:rPr lang="en-US"/>
              <a:t>The pathname of the file where the information is located</a:t>
            </a:r>
            <a:endParaRPr/>
          </a:p>
          <a:p>
            <a:pPr indent="-274320" lvl="1" marL="640080" rtl="0" algn="l">
              <a:spcBef>
                <a:spcPts val="550"/>
              </a:spcBef>
              <a:spcAft>
                <a:spcPts val="0"/>
              </a:spcAft>
              <a:buSzPct val="70000"/>
              <a:buChar char="🞑"/>
            </a:pPr>
            <a:r>
              <a:rPr lang="en-US"/>
              <a:t>Slashes separates the directories</a:t>
            </a:r>
            <a:endParaRPr/>
          </a:p>
          <a:p>
            <a:pPr indent="-167417" lvl="1" marL="640080" rtl="0" algn="l">
              <a:spcBef>
                <a:spcPts val="550"/>
              </a:spcBef>
              <a:spcAft>
                <a:spcPts val="0"/>
              </a:spcAft>
              <a:buSzPct val="70000"/>
              <a:buNone/>
            </a:pPr>
            <a:r>
              <a:t/>
            </a:r>
            <a:endParaRPr/>
          </a:p>
          <a:p>
            <a:pPr indent="-167417" lvl="1" marL="640080" rtl="0" algn="l">
              <a:spcBef>
                <a:spcPts val="550"/>
              </a:spcBef>
              <a:spcAft>
                <a:spcPts val="0"/>
              </a:spcAft>
              <a:buSzPct val="70000"/>
              <a:buNone/>
            </a:pPr>
            <a:r>
              <a:t/>
            </a:r>
            <a:endParaRPr/>
          </a:p>
          <a:p>
            <a:pPr indent="-167417" lvl="1" marL="640080" rtl="0" algn="l">
              <a:spcBef>
                <a:spcPts val="550"/>
              </a:spcBef>
              <a:spcAft>
                <a:spcPts val="0"/>
              </a:spcAft>
              <a:buSzPct val="700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55"/>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209550" lvl="0" marL="320040" rtl="0" algn="l">
              <a:spcBef>
                <a:spcPts val="0"/>
              </a:spcBef>
              <a:spcAft>
                <a:spcPts val="0"/>
              </a:spcAft>
              <a:buSzPts val="1740"/>
              <a:buNone/>
            </a:pPr>
            <a:r>
              <a:t/>
            </a:r>
            <a:endParaRPr/>
          </a:p>
          <a:p>
            <a:pPr indent="-209550" lvl="0" marL="320040" rtl="0" algn="l">
              <a:spcBef>
                <a:spcPts val="700"/>
              </a:spcBef>
              <a:spcAft>
                <a:spcPts val="0"/>
              </a:spcAft>
              <a:buSzPts val="1740"/>
              <a:buNone/>
            </a:pPr>
            <a:r>
              <a:t/>
            </a:r>
            <a:endParaRPr/>
          </a:p>
          <a:p>
            <a:pPr indent="-320040" lvl="0" marL="320040" rtl="0" algn="l">
              <a:spcBef>
                <a:spcPts val="700"/>
              </a:spcBef>
              <a:spcAft>
                <a:spcPts val="0"/>
              </a:spcAft>
              <a:buSzPts val="1740"/>
              <a:buNone/>
            </a:pPr>
            <a:r>
              <a:rPr lang="en-US"/>
              <a:t>        </a:t>
            </a:r>
            <a:endParaRPr/>
          </a:p>
          <a:p>
            <a:pPr indent="-320040" lvl="0" marL="320040" rtl="0" algn="l">
              <a:spcBef>
                <a:spcPts val="700"/>
              </a:spcBef>
              <a:spcAft>
                <a:spcPts val="0"/>
              </a:spcAft>
              <a:buSzPts val="1740"/>
              <a:buChar char="◻"/>
            </a:pPr>
            <a:r>
              <a:rPr lang="en-US">
                <a:solidFill>
                  <a:srgbClr val="C9DBD7"/>
                </a:solidFill>
              </a:rPr>
              <a:t>http</a:t>
            </a:r>
            <a:r>
              <a:rPr lang="en-US"/>
              <a:t>://www.buet.ac.bd/</a:t>
            </a:r>
            <a:r>
              <a:rPr lang="en-US">
                <a:solidFill>
                  <a:srgbClr val="4B4545"/>
                </a:solidFill>
              </a:rPr>
              <a:t>cse/</a:t>
            </a:r>
            <a:r>
              <a:rPr lang="en-US"/>
              <a:t>index.html</a:t>
            </a:r>
            <a:endParaRPr/>
          </a:p>
          <a:p>
            <a:pPr indent="-209550" lvl="0" marL="320040" rtl="0" algn="l">
              <a:spcBef>
                <a:spcPts val="700"/>
              </a:spcBef>
              <a:spcAft>
                <a:spcPts val="0"/>
              </a:spcAft>
              <a:buSzPts val="1740"/>
              <a:buNone/>
            </a:pPr>
            <a:r>
              <a:t/>
            </a:r>
            <a:endParaRPr/>
          </a:p>
        </p:txBody>
      </p:sp>
      <p:sp>
        <p:nvSpPr>
          <p:cNvPr id="771" name="Google Shape;771;p5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URL (Explained)</a:t>
            </a:r>
            <a:endParaRPr/>
          </a:p>
        </p:txBody>
      </p:sp>
      <p:sp>
        <p:nvSpPr>
          <p:cNvPr id="772" name="Google Shape;772;p55"/>
          <p:cNvSpPr/>
          <p:nvPr/>
        </p:nvSpPr>
        <p:spPr>
          <a:xfrm>
            <a:off x="685800" y="3962400"/>
            <a:ext cx="1600200" cy="762000"/>
          </a:xfrm>
          <a:prstGeom prst="wedgeRoundRectCallout">
            <a:avLst>
              <a:gd fmla="val -22435" name="adj1"/>
              <a:gd fmla="val -82635" name="adj2"/>
              <a:gd fmla="val 16667" name="adj3"/>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Protocol</a:t>
            </a:r>
            <a:endParaRPr sz="1800">
              <a:solidFill>
                <a:schemeClr val="lt1"/>
              </a:solidFill>
              <a:latin typeface="Twentieth Century"/>
              <a:ea typeface="Twentieth Century"/>
              <a:cs typeface="Twentieth Century"/>
              <a:sym typeface="Twentieth Century"/>
            </a:endParaRPr>
          </a:p>
        </p:txBody>
      </p:sp>
      <p:sp>
        <p:nvSpPr>
          <p:cNvPr id="773" name="Google Shape;773;p55"/>
          <p:cNvSpPr/>
          <p:nvPr/>
        </p:nvSpPr>
        <p:spPr>
          <a:xfrm>
            <a:off x="2514600" y="1981200"/>
            <a:ext cx="1600200" cy="762000"/>
          </a:xfrm>
          <a:prstGeom prst="wedgeRoundRectCallout">
            <a:avLst>
              <a:gd fmla="val -20833" name="adj1"/>
              <a:gd fmla="val 74374" name="adj2"/>
              <a:gd fmla="val 16667" name="adj3"/>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Host</a:t>
            </a:r>
            <a:endParaRPr sz="1800">
              <a:solidFill>
                <a:schemeClr val="lt1"/>
              </a:solidFill>
              <a:latin typeface="Twentieth Century"/>
              <a:ea typeface="Twentieth Century"/>
              <a:cs typeface="Twentieth Century"/>
              <a:sym typeface="Twentieth Century"/>
            </a:endParaRPr>
          </a:p>
        </p:txBody>
      </p:sp>
      <p:sp>
        <p:nvSpPr>
          <p:cNvPr id="774" name="Google Shape;774;p55"/>
          <p:cNvSpPr/>
          <p:nvPr/>
        </p:nvSpPr>
        <p:spPr>
          <a:xfrm>
            <a:off x="4191000" y="3810000"/>
            <a:ext cx="1600200" cy="762000"/>
          </a:xfrm>
          <a:prstGeom prst="wedgeRoundRectCallout">
            <a:avLst>
              <a:gd fmla="val -22435" name="adj1"/>
              <a:gd fmla="val -82635" name="adj2"/>
              <a:gd fmla="val 16667" name="adj3"/>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Path</a:t>
            </a:r>
            <a:endParaRPr sz="1800">
              <a:solidFill>
                <a:schemeClr val="lt1"/>
              </a:solidFill>
              <a:latin typeface="Twentieth Century"/>
              <a:ea typeface="Twentieth Century"/>
              <a:cs typeface="Twentieth Century"/>
              <a:sym typeface="Twentieth Century"/>
            </a:endParaRPr>
          </a:p>
        </p:txBody>
      </p:sp>
      <p:sp>
        <p:nvSpPr>
          <p:cNvPr id="775" name="Google Shape;775;p55"/>
          <p:cNvSpPr/>
          <p:nvPr/>
        </p:nvSpPr>
        <p:spPr>
          <a:xfrm>
            <a:off x="5334000" y="1981200"/>
            <a:ext cx="1600200" cy="762000"/>
          </a:xfrm>
          <a:prstGeom prst="wedgeRoundRectCallout">
            <a:avLst>
              <a:gd fmla="val -20833" name="adj1"/>
              <a:gd fmla="val 74374" name="adj2"/>
              <a:gd fmla="val 16667" name="adj3"/>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File Name</a:t>
            </a:r>
            <a:endParaRPr sz="1800">
              <a:solidFill>
                <a:schemeClr val="lt1"/>
              </a:solidFill>
              <a:latin typeface="Twentieth Century"/>
              <a:ea typeface="Twentieth Century"/>
              <a:cs typeface="Twentieth Century"/>
              <a:sym typeface="Twentieth Century"/>
            </a:endParaRPr>
          </a:p>
        </p:txBody>
      </p:sp>
      <p:sp>
        <p:nvSpPr>
          <p:cNvPr id="776" name="Google Shape;776;p55"/>
          <p:cNvSpPr txBox="1"/>
          <p:nvPr>
            <p:ph idx="4294967295" type="sldNum"/>
          </p:nvPr>
        </p:nvSpPr>
        <p:spPr>
          <a:xfrm>
            <a:off x="8410575" y="6181531"/>
            <a:ext cx="609600" cy="457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500"/>
                                        <p:tgtEl>
                                          <p:spTgt spid="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72"/>
                                        </p:tgtEl>
                                      </p:cBhvr>
                                    </p:animEffect>
                                    <p:set>
                                      <p:cBhvr>
                                        <p:cTn dur="1" fill="hold">
                                          <p:stCondLst>
                                            <p:cond delay="500"/>
                                          </p:stCondLst>
                                        </p:cTn>
                                        <p:tgtEl>
                                          <p:spTgt spid="77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500"/>
                                        <p:tgtEl>
                                          <p:spTgt spid="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73"/>
                                        </p:tgtEl>
                                      </p:cBhvr>
                                    </p:animEffect>
                                    <p:set>
                                      <p:cBhvr>
                                        <p:cTn dur="1" fill="hold">
                                          <p:stCondLst>
                                            <p:cond delay="500"/>
                                          </p:stCondLst>
                                        </p:cTn>
                                        <p:tgtEl>
                                          <p:spTgt spid="7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500"/>
                                        <p:tgtEl>
                                          <p:spTgt spid="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74"/>
                                        </p:tgtEl>
                                      </p:cBhvr>
                                    </p:animEffect>
                                    <p:set>
                                      <p:cBhvr>
                                        <p:cTn dur="1" fill="hold">
                                          <p:stCondLst>
                                            <p:cond delay="500"/>
                                          </p:stCondLst>
                                        </p:cTn>
                                        <p:tgtEl>
                                          <p:spTgt spid="7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500"/>
                                        <p:tgtEl>
                                          <p:spTgt spid="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75"/>
                                        </p:tgtEl>
                                      </p:cBhvr>
                                    </p:animEffect>
                                    <p:set>
                                      <p:cBhvr>
                                        <p:cTn dur="1" fill="hold">
                                          <p:stCondLst>
                                            <p:cond delay="500"/>
                                          </p:stCondLst>
                                        </p:cTn>
                                        <p:tgtEl>
                                          <p:spTgt spid="77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Obviously, Hypertext file is a Collection of Text, like Document File.</a:t>
            </a:r>
            <a:endParaRPr/>
          </a:p>
          <a:p>
            <a:pPr indent="-320040" lvl="0" marL="320040" rtl="0" algn="l">
              <a:spcBef>
                <a:spcPts val="700"/>
              </a:spcBef>
              <a:spcAft>
                <a:spcPts val="0"/>
              </a:spcAft>
              <a:buSzPts val="1740"/>
              <a:buChar char="◻"/>
            </a:pPr>
            <a:r>
              <a:rPr lang="en-US"/>
              <a:t>What is Extra?</a:t>
            </a:r>
            <a:endParaRPr/>
          </a:p>
          <a:p>
            <a:pPr indent="-274320" lvl="1" marL="640080" rtl="0" algn="l">
              <a:spcBef>
                <a:spcPts val="550"/>
              </a:spcBef>
              <a:spcAft>
                <a:spcPts val="0"/>
              </a:spcAft>
              <a:buSzPts val="1820"/>
              <a:buChar char="🞑"/>
            </a:pPr>
            <a:r>
              <a:rPr lang="en-US"/>
              <a:t>Certain words within the text are marked as </a:t>
            </a:r>
            <a:r>
              <a:rPr i="1" lang="en-US"/>
              <a:t>links</a:t>
            </a:r>
            <a:r>
              <a:rPr lang="en-US"/>
              <a:t> to other areas of the current document or to other documents</a:t>
            </a:r>
            <a:endParaRPr/>
          </a:p>
          <a:p>
            <a:pPr indent="-158750" lvl="1" marL="640080" rtl="0" algn="l">
              <a:spcBef>
                <a:spcPts val="550"/>
              </a:spcBef>
              <a:spcAft>
                <a:spcPts val="0"/>
              </a:spcAft>
              <a:buSzPts val="1820"/>
              <a:buNone/>
            </a:pPr>
            <a:r>
              <a:t/>
            </a:r>
            <a:endParaRPr/>
          </a:p>
        </p:txBody>
      </p:sp>
      <p:sp>
        <p:nvSpPr>
          <p:cNvPr id="783" name="Google Shape;783;p5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Hypertext</a:t>
            </a:r>
            <a:endParaRPr/>
          </a:p>
        </p:txBody>
      </p:sp>
      <p:sp>
        <p:nvSpPr>
          <p:cNvPr id="784" name="Google Shape;784;p56"/>
          <p:cNvSpPr/>
          <p:nvPr/>
        </p:nvSpPr>
        <p:spPr>
          <a:xfrm>
            <a:off x="2057400" y="4343400"/>
            <a:ext cx="1295400" cy="1295400"/>
          </a:xfrm>
          <a:prstGeom prst="rect">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85" name="Google Shape;785;p56"/>
          <p:cNvSpPr/>
          <p:nvPr/>
        </p:nvSpPr>
        <p:spPr>
          <a:xfrm>
            <a:off x="3886200" y="4114800"/>
            <a:ext cx="1295400" cy="1295400"/>
          </a:xfrm>
          <a:prstGeom prst="rect">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86" name="Google Shape;786;p56"/>
          <p:cNvSpPr/>
          <p:nvPr/>
        </p:nvSpPr>
        <p:spPr>
          <a:xfrm>
            <a:off x="3505200" y="5105400"/>
            <a:ext cx="1295400" cy="1295400"/>
          </a:xfrm>
          <a:prstGeom prst="rect">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87" name="Google Shape;787;p56"/>
          <p:cNvSpPr/>
          <p:nvPr/>
        </p:nvSpPr>
        <p:spPr>
          <a:xfrm>
            <a:off x="5257800" y="4495800"/>
            <a:ext cx="1295400" cy="1295400"/>
          </a:xfrm>
          <a:prstGeom prst="rect">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788" name="Google Shape;788;p56"/>
          <p:cNvSpPr/>
          <p:nvPr/>
        </p:nvSpPr>
        <p:spPr>
          <a:xfrm>
            <a:off x="5105400" y="5257800"/>
            <a:ext cx="1295400" cy="1295400"/>
          </a:xfrm>
          <a:prstGeom prst="rect">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789" name="Google Shape;789;p56"/>
          <p:cNvCxnSpPr>
            <a:stCxn id="784" idx="3"/>
            <a:endCxn id="785" idx="1"/>
          </p:cNvCxnSpPr>
          <p:nvPr/>
        </p:nvCxnSpPr>
        <p:spPr>
          <a:xfrm flipH="1" rot="10800000">
            <a:off x="3352800" y="4762500"/>
            <a:ext cx="533400" cy="228600"/>
          </a:xfrm>
          <a:prstGeom prst="straightConnector1">
            <a:avLst/>
          </a:prstGeom>
          <a:noFill/>
          <a:ln cap="flat" cmpd="dbl" w="47625">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790" name="Google Shape;790;p56"/>
          <p:cNvCxnSpPr>
            <a:endCxn id="786" idx="1"/>
          </p:cNvCxnSpPr>
          <p:nvPr/>
        </p:nvCxnSpPr>
        <p:spPr>
          <a:xfrm>
            <a:off x="3352800" y="5029200"/>
            <a:ext cx="152400" cy="723900"/>
          </a:xfrm>
          <a:prstGeom prst="straightConnector1">
            <a:avLst/>
          </a:prstGeom>
          <a:noFill/>
          <a:ln cap="flat" cmpd="dbl" w="47625">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791" name="Google Shape;791;p56"/>
          <p:cNvCxnSpPr>
            <a:endCxn id="788" idx="1"/>
          </p:cNvCxnSpPr>
          <p:nvPr/>
        </p:nvCxnSpPr>
        <p:spPr>
          <a:xfrm flipH="1" rot="10800000">
            <a:off x="4800600" y="5905500"/>
            <a:ext cx="304800" cy="38100"/>
          </a:xfrm>
          <a:prstGeom prst="straightConnector1">
            <a:avLst/>
          </a:prstGeom>
          <a:noFill/>
          <a:ln cap="flat" cmpd="dbl" w="47625">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792" name="Google Shape;792;p56"/>
          <p:cNvCxnSpPr>
            <a:stCxn id="784" idx="3"/>
            <a:endCxn id="787" idx="1"/>
          </p:cNvCxnSpPr>
          <p:nvPr/>
        </p:nvCxnSpPr>
        <p:spPr>
          <a:xfrm>
            <a:off x="3352800" y="4991100"/>
            <a:ext cx="1905000" cy="152400"/>
          </a:xfrm>
          <a:prstGeom prst="straightConnector1">
            <a:avLst/>
          </a:prstGeom>
          <a:noFill/>
          <a:ln cap="flat" cmpd="dbl" w="47625">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793" name="Google Shape;793;p56"/>
          <p:cNvCxnSpPr/>
          <p:nvPr/>
        </p:nvCxnSpPr>
        <p:spPr>
          <a:xfrm flipH="1" rot="-5400000">
            <a:off x="4800601" y="4648200"/>
            <a:ext cx="1219199" cy="457200"/>
          </a:xfrm>
          <a:prstGeom prst="straightConnector1">
            <a:avLst/>
          </a:prstGeom>
          <a:noFill/>
          <a:ln cap="flat" cmpd="dbl" w="47625">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794" name="Google Shape;794;p56"/>
          <p:cNvSpPr txBox="1"/>
          <p:nvPr>
            <p:ph idx="4294967295" type="sldNum"/>
          </p:nvPr>
        </p:nvSpPr>
        <p:spPr>
          <a:xfrm>
            <a:off x="8410575" y="6181531"/>
            <a:ext cx="609600" cy="457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57"/>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HTTP Communication</a:t>
            </a:r>
            <a:endParaRPr/>
          </a:p>
        </p:txBody>
      </p:sp>
      <p:sp>
        <p:nvSpPr>
          <p:cNvPr id="800" name="Google Shape;800;p57"/>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pic>
        <p:nvPicPr>
          <p:cNvPr descr="C:\Program Files\Microsoft Office\MEDIA\CAGCAT10\j0205582.wmf" id="801" name="Google Shape;801;p57"/>
          <p:cNvPicPr preferRelativeResize="0"/>
          <p:nvPr/>
        </p:nvPicPr>
        <p:blipFill rotWithShape="1">
          <a:blip r:embed="rId3">
            <a:alphaModFix/>
          </a:blip>
          <a:srcRect b="0" l="0" r="0" t="0"/>
          <a:stretch/>
        </p:blipFill>
        <p:spPr>
          <a:xfrm>
            <a:off x="4800600" y="4191000"/>
            <a:ext cx="1447800" cy="1328578"/>
          </a:xfrm>
          <a:prstGeom prst="rect">
            <a:avLst/>
          </a:prstGeom>
          <a:noFill/>
          <a:ln>
            <a:noFill/>
          </a:ln>
        </p:spPr>
      </p:pic>
      <p:pic>
        <p:nvPicPr>
          <p:cNvPr descr="C:\Program Files\Microsoft Office\MEDIA\CAGCAT10\j0292982.wmf" id="802" name="Google Shape;802;p57"/>
          <p:cNvPicPr preferRelativeResize="0"/>
          <p:nvPr/>
        </p:nvPicPr>
        <p:blipFill rotWithShape="1">
          <a:blip r:embed="rId4">
            <a:alphaModFix/>
          </a:blip>
          <a:srcRect b="0" l="0" r="0" t="0"/>
          <a:stretch/>
        </p:blipFill>
        <p:spPr>
          <a:xfrm>
            <a:off x="3657600" y="1676400"/>
            <a:ext cx="1543911" cy="1524000"/>
          </a:xfrm>
          <a:prstGeom prst="rect">
            <a:avLst/>
          </a:prstGeom>
          <a:noFill/>
          <a:ln>
            <a:noFill/>
          </a:ln>
        </p:spPr>
      </p:pic>
      <p:pic>
        <p:nvPicPr>
          <p:cNvPr descr="C:\Program Files\Microsoft Office\MEDIA\CAGCAT10\j0205582.wmf" id="803" name="Google Shape;803;p57"/>
          <p:cNvPicPr preferRelativeResize="0"/>
          <p:nvPr/>
        </p:nvPicPr>
        <p:blipFill rotWithShape="1">
          <a:blip r:embed="rId3">
            <a:alphaModFix/>
          </a:blip>
          <a:srcRect b="0" l="0" r="0" t="0"/>
          <a:stretch/>
        </p:blipFill>
        <p:spPr>
          <a:xfrm>
            <a:off x="1752600" y="4114800"/>
            <a:ext cx="1447800" cy="1328578"/>
          </a:xfrm>
          <a:prstGeom prst="rect">
            <a:avLst/>
          </a:prstGeom>
          <a:noFill/>
          <a:ln>
            <a:noFill/>
          </a:ln>
        </p:spPr>
      </p:pic>
      <p:sp>
        <p:nvSpPr>
          <p:cNvPr id="804" name="Google Shape;804;p57"/>
          <p:cNvSpPr txBox="1"/>
          <p:nvPr/>
        </p:nvSpPr>
        <p:spPr>
          <a:xfrm>
            <a:off x="5257800" y="2362200"/>
            <a:ext cx="13043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Web Server</a:t>
            </a:r>
            <a:endParaRPr sz="1800">
              <a:solidFill>
                <a:schemeClr val="dk1"/>
              </a:solidFill>
              <a:latin typeface="Twentieth Century"/>
              <a:ea typeface="Twentieth Century"/>
              <a:cs typeface="Twentieth Century"/>
              <a:sym typeface="Twentieth Century"/>
            </a:endParaRPr>
          </a:p>
        </p:txBody>
      </p:sp>
      <p:sp>
        <p:nvSpPr>
          <p:cNvPr id="805" name="Google Shape;805;p57"/>
          <p:cNvSpPr txBox="1"/>
          <p:nvPr/>
        </p:nvSpPr>
        <p:spPr>
          <a:xfrm>
            <a:off x="6096000" y="5105400"/>
            <a:ext cx="7056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Client</a:t>
            </a:r>
            <a:endParaRPr sz="1800">
              <a:solidFill>
                <a:schemeClr val="dk1"/>
              </a:solidFill>
              <a:latin typeface="Twentieth Century"/>
              <a:ea typeface="Twentieth Century"/>
              <a:cs typeface="Twentieth Century"/>
              <a:sym typeface="Twentieth Century"/>
            </a:endParaRPr>
          </a:p>
        </p:txBody>
      </p:sp>
      <p:sp>
        <p:nvSpPr>
          <p:cNvPr id="806" name="Google Shape;806;p57"/>
          <p:cNvSpPr txBox="1"/>
          <p:nvPr/>
        </p:nvSpPr>
        <p:spPr>
          <a:xfrm>
            <a:off x="3048000" y="5105400"/>
            <a:ext cx="7056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Client</a:t>
            </a:r>
            <a:endParaRPr sz="1800">
              <a:solidFill>
                <a:schemeClr val="dk1"/>
              </a:solidFill>
              <a:latin typeface="Twentieth Century"/>
              <a:ea typeface="Twentieth Century"/>
              <a:cs typeface="Twentieth Century"/>
              <a:sym typeface="Twentieth Century"/>
            </a:endParaRPr>
          </a:p>
        </p:txBody>
      </p:sp>
      <p:cxnSp>
        <p:nvCxnSpPr>
          <p:cNvPr id="807" name="Google Shape;807;p57"/>
          <p:cNvCxnSpPr/>
          <p:nvPr/>
        </p:nvCxnSpPr>
        <p:spPr>
          <a:xfrm rot="-5400000">
            <a:off x="2552700" y="3086100"/>
            <a:ext cx="1143000" cy="914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808" name="Google Shape;808;p57"/>
          <p:cNvCxnSpPr/>
          <p:nvPr/>
        </p:nvCxnSpPr>
        <p:spPr>
          <a:xfrm flipH="1" rot="-5400000">
            <a:off x="4953000" y="3352800"/>
            <a:ext cx="914400" cy="609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809" name="Google Shape;809;p57"/>
          <p:cNvCxnSpPr/>
          <p:nvPr/>
        </p:nvCxnSpPr>
        <p:spPr>
          <a:xfrm rot="5400000">
            <a:off x="2857500" y="3467100"/>
            <a:ext cx="990600" cy="762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810" name="Google Shape;810;p57"/>
          <p:cNvCxnSpPr/>
          <p:nvPr/>
        </p:nvCxnSpPr>
        <p:spPr>
          <a:xfrm flipH="1" rot="5400000">
            <a:off x="4686300" y="3467100"/>
            <a:ext cx="9144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811" name="Google Shape;811;p57"/>
          <p:cNvSpPr txBox="1"/>
          <p:nvPr/>
        </p:nvSpPr>
        <p:spPr>
          <a:xfrm>
            <a:off x="5410200" y="3288268"/>
            <a:ext cx="10209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Response</a:t>
            </a:r>
            <a:endParaRPr sz="1800">
              <a:solidFill>
                <a:schemeClr val="dk1"/>
              </a:solidFill>
              <a:latin typeface="Twentieth Century"/>
              <a:ea typeface="Twentieth Century"/>
              <a:cs typeface="Twentieth Century"/>
              <a:sym typeface="Twentieth Century"/>
            </a:endParaRPr>
          </a:p>
        </p:txBody>
      </p:sp>
      <p:sp>
        <p:nvSpPr>
          <p:cNvPr id="812" name="Google Shape;812;p57"/>
          <p:cNvSpPr txBox="1"/>
          <p:nvPr/>
        </p:nvSpPr>
        <p:spPr>
          <a:xfrm>
            <a:off x="3429000" y="3733800"/>
            <a:ext cx="10209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Response</a:t>
            </a:r>
            <a:endParaRPr sz="1800">
              <a:solidFill>
                <a:schemeClr val="dk1"/>
              </a:solidFill>
              <a:latin typeface="Twentieth Century"/>
              <a:ea typeface="Twentieth Century"/>
              <a:cs typeface="Twentieth Century"/>
              <a:sym typeface="Twentieth Century"/>
            </a:endParaRPr>
          </a:p>
        </p:txBody>
      </p:sp>
      <p:sp>
        <p:nvSpPr>
          <p:cNvPr id="813" name="Google Shape;813;p57"/>
          <p:cNvSpPr txBox="1"/>
          <p:nvPr/>
        </p:nvSpPr>
        <p:spPr>
          <a:xfrm>
            <a:off x="4191000" y="3429000"/>
            <a:ext cx="8911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Request</a:t>
            </a:r>
            <a:endParaRPr sz="1800">
              <a:solidFill>
                <a:schemeClr val="dk1"/>
              </a:solidFill>
              <a:latin typeface="Twentieth Century"/>
              <a:ea typeface="Twentieth Century"/>
              <a:cs typeface="Twentieth Century"/>
              <a:sym typeface="Twentieth Century"/>
            </a:endParaRPr>
          </a:p>
        </p:txBody>
      </p:sp>
      <p:sp>
        <p:nvSpPr>
          <p:cNvPr id="814" name="Google Shape;814;p57"/>
          <p:cNvSpPr txBox="1"/>
          <p:nvPr/>
        </p:nvSpPr>
        <p:spPr>
          <a:xfrm>
            <a:off x="1981200" y="3352800"/>
            <a:ext cx="8911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Request</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5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Non-persistent Connection</a:t>
            </a:r>
            <a:endParaRPr/>
          </a:p>
        </p:txBody>
      </p:sp>
      <p:sp>
        <p:nvSpPr>
          <p:cNvPr id="820" name="Google Shape;820;p5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821" name="Google Shape;821;p58"/>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lnSpcReduction="20000"/>
          </a:bodyPr>
          <a:lstStyle/>
          <a:p>
            <a:pPr indent="-320059" lvl="0" marL="320040" rtl="0" algn="l">
              <a:spcBef>
                <a:spcPts val="0"/>
              </a:spcBef>
              <a:spcAft>
                <a:spcPts val="0"/>
              </a:spcAft>
              <a:buSzPct val="59999"/>
              <a:buChar char="◻"/>
            </a:pPr>
            <a:r>
              <a:rPr lang="en-US"/>
              <a:t>One TCP connection is made for each request/response</a:t>
            </a:r>
            <a:endParaRPr/>
          </a:p>
          <a:p>
            <a:pPr indent="-320059" lvl="0" marL="320040" rtl="0" algn="l">
              <a:spcBef>
                <a:spcPts val="700"/>
              </a:spcBef>
              <a:spcAft>
                <a:spcPts val="0"/>
              </a:spcAft>
              <a:buSzPct val="59999"/>
              <a:buChar char="◻"/>
            </a:pPr>
            <a:r>
              <a:rPr lang="en-US"/>
              <a:t>Strategy</a:t>
            </a:r>
            <a:endParaRPr/>
          </a:p>
          <a:p>
            <a:pPr indent="-274320" lvl="1" marL="640080" rtl="0" algn="l">
              <a:spcBef>
                <a:spcPts val="550"/>
              </a:spcBef>
              <a:spcAft>
                <a:spcPts val="0"/>
              </a:spcAft>
              <a:buSzPct val="70000"/>
              <a:buChar char="🞑"/>
            </a:pPr>
            <a:r>
              <a:rPr lang="en-US"/>
              <a:t>The client opens a TCP connection and sends a request</a:t>
            </a:r>
            <a:endParaRPr/>
          </a:p>
          <a:p>
            <a:pPr indent="-274320" lvl="1" marL="640080" rtl="0" algn="l">
              <a:spcBef>
                <a:spcPts val="550"/>
              </a:spcBef>
              <a:spcAft>
                <a:spcPts val="0"/>
              </a:spcAft>
              <a:buSzPct val="70000"/>
              <a:buChar char="🞑"/>
            </a:pPr>
            <a:r>
              <a:rPr lang="en-US"/>
              <a:t>The server sends the response and closes the connection</a:t>
            </a:r>
            <a:endParaRPr/>
          </a:p>
          <a:p>
            <a:pPr indent="-274320" lvl="1" marL="640080" rtl="0" algn="l">
              <a:spcBef>
                <a:spcPts val="550"/>
              </a:spcBef>
              <a:spcAft>
                <a:spcPts val="0"/>
              </a:spcAft>
              <a:buSzPct val="70000"/>
              <a:buChar char="🞑"/>
            </a:pPr>
            <a:r>
              <a:rPr lang="en-US"/>
              <a:t>The client reads the data until it encounters and end-of-file marker; it then closes the connection</a:t>
            </a:r>
            <a:endParaRPr/>
          </a:p>
          <a:p>
            <a:pPr indent="-320059" lvl="0" marL="320040" rtl="0" algn="l">
              <a:spcBef>
                <a:spcPts val="700"/>
              </a:spcBef>
              <a:spcAft>
                <a:spcPts val="0"/>
              </a:spcAft>
              <a:buSzPct val="59999"/>
              <a:buChar char="◻"/>
            </a:pPr>
            <a:r>
              <a:rPr lang="en-US"/>
              <a:t>HTTP prior to version 1.1 specified non-persistent connection</a:t>
            </a:r>
            <a:endParaRPr/>
          </a:p>
          <a:p>
            <a:pPr indent="-320059" lvl="0" marL="320040" rtl="0" algn="l">
              <a:spcBef>
                <a:spcPts val="700"/>
              </a:spcBef>
              <a:spcAft>
                <a:spcPts val="0"/>
              </a:spcAft>
              <a:buSzPct val="59999"/>
              <a:buChar char="◻"/>
            </a:pPr>
            <a:r>
              <a:rPr lang="en-US"/>
              <a:t>Disadvantages</a:t>
            </a:r>
            <a:endParaRPr/>
          </a:p>
          <a:p>
            <a:pPr indent="-274320" lvl="1" marL="640080" rtl="0" algn="l">
              <a:spcBef>
                <a:spcPts val="550"/>
              </a:spcBef>
              <a:spcAft>
                <a:spcPts val="0"/>
              </a:spcAft>
              <a:buSzPct val="70000"/>
              <a:buChar char="🞑"/>
            </a:pPr>
            <a:r>
              <a:rPr lang="en-US"/>
              <a:t>High overhead for server to maintain separate connections for all separate requests between a specific host. </a:t>
            </a:r>
            <a:endParaRPr/>
          </a:p>
          <a:p>
            <a:pPr indent="-274320" lvl="1" marL="640080" rtl="0" algn="l">
              <a:spcBef>
                <a:spcPts val="550"/>
              </a:spcBef>
              <a:spcAft>
                <a:spcPts val="0"/>
              </a:spcAft>
              <a:buSzPct val="70000"/>
              <a:buChar char="🞑"/>
            </a:pPr>
            <a:r>
              <a:rPr lang="en-US"/>
              <a:t>Slow start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59"/>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Persistent Connection</a:t>
            </a:r>
            <a:endParaRPr/>
          </a:p>
        </p:txBody>
      </p:sp>
      <p:sp>
        <p:nvSpPr>
          <p:cNvPr id="827" name="Google Shape;827;p59"/>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828" name="Google Shape;828;p59"/>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Server leaves the connection open for more requests after sending a response</a:t>
            </a:r>
            <a:endParaRPr/>
          </a:p>
          <a:p>
            <a:pPr indent="-320040" lvl="0" marL="320040" rtl="0" algn="l">
              <a:spcBef>
                <a:spcPts val="700"/>
              </a:spcBef>
              <a:spcAft>
                <a:spcPts val="0"/>
              </a:spcAft>
              <a:buSzPts val="1740"/>
              <a:buChar char="◻"/>
            </a:pPr>
            <a:r>
              <a:rPr lang="en-US"/>
              <a:t>The server can close the connection at the request of a client or if a time-out has been reached</a:t>
            </a:r>
            <a:endParaRPr/>
          </a:p>
          <a:p>
            <a:pPr indent="-320040" lvl="0" marL="320040" rtl="0" algn="l">
              <a:spcBef>
                <a:spcPts val="700"/>
              </a:spcBef>
              <a:spcAft>
                <a:spcPts val="0"/>
              </a:spcAft>
              <a:buSzPts val="1740"/>
              <a:buChar char="◻"/>
            </a:pPr>
            <a:r>
              <a:rPr lang="en-US"/>
              <a:t>HTTP version 1.1 specifies persistent connection as default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60"/>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HTTP Message Format</a:t>
            </a:r>
            <a:endParaRPr/>
          </a:p>
        </p:txBody>
      </p:sp>
      <p:sp>
        <p:nvSpPr>
          <p:cNvPr id="834" name="Google Shape;834;p6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835" name="Google Shape;835;p60"/>
          <p:cNvSpPr/>
          <p:nvPr/>
        </p:nvSpPr>
        <p:spPr>
          <a:xfrm>
            <a:off x="838200" y="2133600"/>
            <a:ext cx="2514600" cy="381000"/>
          </a:xfrm>
          <a:prstGeom prst="rect">
            <a:avLst/>
          </a:prstGeom>
          <a:solidFill>
            <a:schemeClr val="accent5"/>
          </a:solidFill>
          <a:ln cap="flat" cmpd="sng" w="19050">
            <a:solidFill>
              <a:srgbClr val="59797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Request Line</a:t>
            </a:r>
            <a:endParaRPr sz="1800">
              <a:solidFill>
                <a:schemeClr val="lt1"/>
              </a:solidFill>
              <a:latin typeface="Twentieth Century"/>
              <a:ea typeface="Twentieth Century"/>
              <a:cs typeface="Twentieth Century"/>
              <a:sym typeface="Twentieth Century"/>
            </a:endParaRPr>
          </a:p>
        </p:txBody>
      </p:sp>
      <p:sp>
        <p:nvSpPr>
          <p:cNvPr id="836" name="Google Shape;836;p60"/>
          <p:cNvSpPr/>
          <p:nvPr/>
        </p:nvSpPr>
        <p:spPr>
          <a:xfrm>
            <a:off x="838200" y="2514600"/>
            <a:ext cx="2514600" cy="1066800"/>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Headers</a:t>
            </a:r>
            <a:endParaRPr sz="1800">
              <a:solidFill>
                <a:schemeClr val="lt1"/>
              </a:solidFill>
              <a:latin typeface="Twentieth Century"/>
              <a:ea typeface="Twentieth Century"/>
              <a:cs typeface="Twentieth Century"/>
              <a:sym typeface="Twentieth Century"/>
            </a:endParaRPr>
          </a:p>
        </p:txBody>
      </p:sp>
      <p:sp>
        <p:nvSpPr>
          <p:cNvPr id="837" name="Google Shape;837;p60"/>
          <p:cNvSpPr/>
          <p:nvPr/>
        </p:nvSpPr>
        <p:spPr>
          <a:xfrm>
            <a:off x="838200" y="3581400"/>
            <a:ext cx="2514600" cy="457200"/>
          </a:xfrm>
          <a:prstGeom prst="rect">
            <a:avLst/>
          </a:prstGeom>
          <a:no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A Blank Line</a:t>
            </a:r>
            <a:endParaRPr sz="1800">
              <a:solidFill>
                <a:schemeClr val="dk1"/>
              </a:solidFill>
              <a:latin typeface="Twentieth Century"/>
              <a:ea typeface="Twentieth Century"/>
              <a:cs typeface="Twentieth Century"/>
              <a:sym typeface="Twentieth Century"/>
            </a:endParaRPr>
          </a:p>
        </p:txBody>
      </p:sp>
      <p:sp>
        <p:nvSpPr>
          <p:cNvPr id="838" name="Google Shape;838;p60"/>
          <p:cNvSpPr/>
          <p:nvPr/>
        </p:nvSpPr>
        <p:spPr>
          <a:xfrm>
            <a:off x="838200" y="4038600"/>
            <a:ext cx="2514600" cy="1828800"/>
          </a:xfrm>
          <a:prstGeom prst="rect">
            <a:avLst/>
          </a:prstGeom>
          <a:solidFill>
            <a:schemeClr val="accent2"/>
          </a:solidFill>
          <a:ln cap="flat" cmpd="sng" w="19050">
            <a:solidFill>
              <a:srgbClr val="A15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Body</a:t>
            </a:r>
            <a:endParaRPr/>
          </a:p>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(present only in some messages)</a:t>
            </a:r>
            <a:endParaRPr sz="1800">
              <a:solidFill>
                <a:schemeClr val="lt1"/>
              </a:solidFill>
              <a:latin typeface="Twentieth Century"/>
              <a:ea typeface="Twentieth Century"/>
              <a:cs typeface="Twentieth Century"/>
              <a:sym typeface="Twentieth Century"/>
            </a:endParaRPr>
          </a:p>
        </p:txBody>
      </p:sp>
      <p:sp>
        <p:nvSpPr>
          <p:cNvPr id="839" name="Google Shape;839;p60"/>
          <p:cNvSpPr txBox="1"/>
          <p:nvPr/>
        </p:nvSpPr>
        <p:spPr>
          <a:xfrm>
            <a:off x="1331082" y="1676400"/>
            <a:ext cx="14121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HTTP Request</a:t>
            </a:r>
            <a:endParaRPr sz="1800">
              <a:solidFill>
                <a:schemeClr val="dk1"/>
              </a:solidFill>
              <a:latin typeface="Twentieth Century"/>
              <a:ea typeface="Twentieth Century"/>
              <a:cs typeface="Twentieth Century"/>
              <a:sym typeface="Twentieth Century"/>
            </a:endParaRPr>
          </a:p>
        </p:txBody>
      </p:sp>
      <p:sp>
        <p:nvSpPr>
          <p:cNvPr id="840" name="Google Shape;840;p60"/>
          <p:cNvSpPr/>
          <p:nvPr/>
        </p:nvSpPr>
        <p:spPr>
          <a:xfrm>
            <a:off x="5181600" y="2133600"/>
            <a:ext cx="2514600" cy="381000"/>
          </a:xfrm>
          <a:prstGeom prst="rect">
            <a:avLst/>
          </a:prstGeom>
          <a:solidFill>
            <a:schemeClr val="accent5"/>
          </a:solidFill>
          <a:ln cap="flat" cmpd="sng" w="19050">
            <a:solidFill>
              <a:srgbClr val="59797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Response Line</a:t>
            </a:r>
            <a:endParaRPr sz="1800">
              <a:solidFill>
                <a:schemeClr val="lt1"/>
              </a:solidFill>
              <a:latin typeface="Twentieth Century"/>
              <a:ea typeface="Twentieth Century"/>
              <a:cs typeface="Twentieth Century"/>
              <a:sym typeface="Twentieth Century"/>
            </a:endParaRPr>
          </a:p>
        </p:txBody>
      </p:sp>
      <p:sp>
        <p:nvSpPr>
          <p:cNvPr id="841" name="Google Shape;841;p60"/>
          <p:cNvSpPr/>
          <p:nvPr/>
        </p:nvSpPr>
        <p:spPr>
          <a:xfrm>
            <a:off x="5181600" y="2514600"/>
            <a:ext cx="2514600" cy="1066800"/>
          </a:xfrm>
          <a:prstGeom prst="rect">
            <a:avLst/>
          </a:prstGeom>
          <a:solidFill>
            <a:schemeClr val="accent3"/>
          </a:solidFill>
          <a:ln cap="flat" cmpd="sng" w="19050">
            <a:solidFill>
              <a:srgbClr val="787C5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Headers</a:t>
            </a:r>
            <a:endParaRPr sz="1800">
              <a:solidFill>
                <a:schemeClr val="lt1"/>
              </a:solidFill>
              <a:latin typeface="Twentieth Century"/>
              <a:ea typeface="Twentieth Century"/>
              <a:cs typeface="Twentieth Century"/>
              <a:sym typeface="Twentieth Century"/>
            </a:endParaRPr>
          </a:p>
        </p:txBody>
      </p:sp>
      <p:sp>
        <p:nvSpPr>
          <p:cNvPr id="842" name="Google Shape;842;p60"/>
          <p:cNvSpPr/>
          <p:nvPr/>
        </p:nvSpPr>
        <p:spPr>
          <a:xfrm>
            <a:off x="5181600" y="3581400"/>
            <a:ext cx="2514600" cy="457200"/>
          </a:xfrm>
          <a:prstGeom prst="rect">
            <a:avLst/>
          </a:prstGeom>
          <a:no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wentieth Century"/>
                <a:ea typeface="Twentieth Century"/>
                <a:cs typeface="Twentieth Century"/>
                <a:sym typeface="Twentieth Century"/>
              </a:rPr>
              <a:t>A Blank Line</a:t>
            </a:r>
            <a:endParaRPr sz="1800">
              <a:solidFill>
                <a:schemeClr val="dk1"/>
              </a:solidFill>
              <a:latin typeface="Twentieth Century"/>
              <a:ea typeface="Twentieth Century"/>
              <a:cs typeface="Twentieth Century"/>
              <a:sym typeface="Twentieth Century"/>
            </a:endParaRPr>
          </a:p>
        </p:txBody>
      </p:sp>
      <p:sp>
        <p:nvSpPr>
          <p:cNvPr id="843" name="Google Shape;843;p60"/>
          <p:cNvSpPr/>
          <p:nvPr/>
        </p:nvSpPr>
        <p:spPr>
          <a:xfrm>
            <a:off x="5181600" y="4038600"/>
            <a:ext cx="2514600" cy="1828800"/>
          </a:xfrm>
          <a:prstGeom prst="rect">
            <a:avLst/>
          </a:prstGeom>
          <a:solidFill>
            <a:schemeClr val="accent2"/>
          </a:solidFill>
          <a:ln cap="flat" cmpd="sng" w="19050">
            <a:solidFill>
              <a:srgbClr val="A15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Body</a:t>
            </a:r>
            <a:endParaRPr/>
          </a:p>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(present only in some messages)</a:t>
            </a:r>
            <a:endParaRPr sz="1800">
              <a:solidFill>
                <a:schemeClr val="lt1"/>
              </a:solidFill>
              <a:latin typeface="Twentieth Century"/>
              <a:ea typeface="Twentieth Century"/>
              <a:cs typeface="Twentieth Century"/>
              <a:sym typeface="Twentieth Century"/>
            </a:endParaRPr>
          </a:p>
        </p:txBody>
      </p:sp>
      <p:sp>
        <p:nvSpPr>
          <p:cNvPr id="844" name="Google Shape;844;p60"/>
          <p:cNvSpPr txBox="1"/>
          <p:nvPr/>
        </p:nvSpPr>
        <p:spPr>
          <a:xfrm>
            <a:off x="5674482" y="1676400"/>
            <a:ext cx="15419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HTTP Response</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61"/>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Request Line</a:t>
            </a:r>
            <a:endParaRPr/>
          </a:p>
        </p:txBody>
      </p:sp>
      <p:sp>
        <p:nvSpPr>
          <p:cNvPr id="850" name="Google Shape;850;p6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851" name="Google Shape;851;p61"/>
          <p:cNvSpPr txBox="1"/>
          <p:nvPr>
            <p:ph idx="1" type="body"/>
          </p:nvPr>
        </p:nvSpPr>
        <p:spPr>
          <a:xfrm>
            <a:off x="612648" y="2133600"/>
            <a:ext cx="8153400" cy="11430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Request Type- Identifies the request type</a:t>
            </a:r>
            <a:endParaRPr/>
          </a:p>
          <a:p>
            <a:pPr indent="-320040" lvl="0" marL="320040" rtl="0" algn="l">
              <a:spcBef>
                <a:spcPts val="700"/>
              </a:spcBef>
              <a:spcAft>
                <a:spcPts val="0"/>
              </a:spcAft>
              <a:buSzPts val="1740"/>
              <a:buChar char="◻"/>
            </a:pPr>
            <a:r>
              <a:rPr lang="en-US"/>
              <a:t>URL – The URL of the requested object</a:t>
            </a:r>
            <a:endParaRPr/>
          </a:p>
        </p:txBody>
      </p:sp>
      <p:sp>
        <p:nvSpPr>
          <p:cNvPr id="852" name="Google Shape;852;p61"/>
          <p:cNvSpPr/>
          <p:nvPr/>
        </p:nvSpPr>
        <p:spPr>
          <a:xfrm>
            <a:off x="1447800" y="1600200"/>
            <a:ext cx="1600200" cy="381000"/>
          </a:xfrm>
          <a:prstGeom prst="rect">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Request Type</a:t>
            </a:r>
            <a:endParaRPr sz="1800">
              <a:solidFill>
                <a:schemeClr val="lt1"/>
              </a:solidFill>
              <a:latin typeface="Twentieth Century"/>
              <a:ea typeface="Twentieth Century"/>
              <a:cs typeface="Twentieth Century"/>
              <a:sym typeface="Twentieth Century"/>
            </a:endParaRPr>
          </a:p>
        </p:txBody>
      </p:sp>
      <p:sp>
        <p:nvSpPr>
          <p:cNvPr id="853" name="Google Shape;853;p61"/>
          <p:cNvSpPr/>
          <p:nvPr/>
        </p:nvSpPr>
        <p:spPr>
          <a:xfrm>
            <a:off x="3352800" y="1600200"/>
            <a:ext cx="1600200" cy="381000"/>
          </a:xfrm>
          <a:prstGeom prst="rect">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URL</a:t>
            </a:r>
            <a:endParaRPr sz="1800">
              <a:solidFill>
                <a:schemeClr val="lt1"/>
              </a:solidFill>
              <a:latin typeface="Twentieth Century"/>
              <a:ea typeface="Twentieth Century"/>
              <a:cs typeface="Twentieth Century"/>
              <a:sym typeface="Twentieth Century"/>
            </a:endParaRPr>
          </a:p>
        </p:txBody>
      </p:sp>
      <p:sp>
        <p:nvSpPr>
          <p:cNvPr id="854" name="Google Shape;854;p61"/>
          <p:cNvSpPr/>
          <p:nvPr/>
        </p:nvSpPr>
        <p:spPr>
          <a:xfrm>
            <a:off x="5257800" y="1600200"/>
            <a:ext cx="1600200" cy="381000"/>
          </a:xfrm>
          <a:prstGeom prst="rect">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HTTP Version</a:t>
            </a:r>
            <a:endParaRPr sz="1800">
              <a:solidFill>
                <a:schemeClr val="lt1"/>
              </a:solidFill>
              <a:latin typeface="Twentieth Century"/>
              <a:ea typeface="Twentieth Century"/>
              <a:cs typeface="Twentieth Century"/>
              <a:sym typeface="Twentieth Century"/>
            </a:endParaRPr>
          </a:p>
        </p:txBody>
      </p:sp>
      <p:graphicFrame>
        <p:nvGraphicFramePr>
          <p:cNvPr id="855" name="Google Shape;855;p61"/>
          <p:cNvGraphicFramePr/>
          <p:nvPr/>
        </p:nvGraphicFramePr>
        <p:xfrm>
          <a:off x="533400" y="3276600"/>
          <a:ext cx="3000000" cy="3000000"/>
        </p:xfrm>
        <a:graphic>
          <a:graphicData uri="http://schemas.openxmlformats.org/drawingml/2006/table">
            <a:tbl>
              <a:tblPr bandRow="1" firstRow="1">
                <a:noFill/>
                <a:tableStyleId>{D95D5847-5265-4D10-9F46-FB4AFC25BBD2}</a:tableStyleId>
              </a:tblPr>
              <a:tblGrid>
                <a:gridCol w="1186950"/>
                <a:gridCol w="7042650"/>
              </a:tblGrid>
              <a:tr h="323850">
                <a:tc>
                  <a:txBody>
                    <a:bodyPr/>
                    <a:lstStyle/>
                    <a:p>
                      <a:pPr indent="0" lvl="0" marL="0" marR="0" rtl="0" algn="l">
                        <a:spcBef>
                          <a:spcPts val="0"/>
                        </a:spcBef>
                        <a:spcAft>
                          <a:spcPts val="0"/>
                        </a:spcAft>
                        <a:buNone/>
                      </a:pPr>
                      <a:r>
                        <a:rPr lang="en-US" sz="1800" u="none" cap="none" strike="noStrike"/>
                        <a:t>Method</a:t>
                      </a:r>
                      <a:endParaRPr sz="1800"/>
                    </a:p>
                  </a:txBody>
                  <a:tcPr marT="45725" marB="45725" marR="91450" marL="91450"/>
                </a:tc>
                <a:tc>
                  <a:txBody>
                    <a:bodyPr/>
                    <a:lstStyle/>
                    <a:p>
                      <a:pPr indent="0" lvl="0" marL="0" marR="0" rtl="0" algn="l">
                        <a:spcBef>
                          <a:spcPts val="0"/>
                        </a:spcBef>
                        <a:spcAft>
                          <a:spcPts val="0"/>
                        </a:spcAft>
                        <a:buNone/>
                      </a:pPr>
                      <a:r>
                        <a:rPr lang="en-US" sz="1800"/>
                        <a:t>Action</a:t>
                      </a:r>
                      <a:endParaRPr sz="1800"/>
                    </a:p>
                  </a:txBody>
                  <a:tcPr marT="45725" marB="45725" marR="91450" marL="91450"/>
                </a:tc>
              </a:tr>
              <a:tr h="323850">
                <a:tc>
                  <a:txBody>
                    <a:bodyPr/>
                    <a:lstStyle/>
                    <a:p>
                      <a:pPr indent="0" lvl="0" marL="0" marR="0" rtl="0" algn="l">
                        <a:spcBef>
                          <a:spcPts val="0"/>
                        </a:spcBef>
                        <a:spcAft>
                          <a:spcPts val="0"/>
                        </a:spcAft>
                        <a:buNone/>
                      </a:pPr>
                      <a:r>
                        <a:rPr lang="en-US" sz="1800"/>
                        <a:t>GET</a:t>
                      </a:r>
                      <a:endParaRPr sz="1800"/>
                    </a:p>
                  </a:txBody>
                  <a:tcPr marT="45725" marB="45725" marR="91450" marL="91450"/>
                </a:tc>
                <a:tc>
                  <a:txBody>
                    <a:bodyPr/>
                    <a:lstStyle/>
                    <a:p>
                      <a:pPr indent="0" lvl="0" marL="0" marR="0" rtl="0" algn="l">
                        <a:spcBef>
                          <a:spcPts val="0"/>
                        </a:spcBef>
                        <a:spcAft>
                          <a:spcPts val="0"/>
                        </a:spcAft>
                        <a:buNone/>
                      </a:pPr>
                      <a:r>
                        <a:rPr lang="en-US" sz="1800"/>
                        <a:t>Requests</a:t>
                      </a:r>
                      <a:r>
                        <a:rPr lang="en-US" sz="1800"/>
                        <a:t> a document from the server</a:t>
                      </a:r>
                      <a:endParaRPr sz="1800"/>
                    </a:p>
                  </a:txBody>
                  <a:tcPr marT="45725" marB="45725" marR="91450" marL="91450"/>
                </a:tc>
              </a:tr>
              <a:tr h="323850">
                <a:tc>
                  <a:txBody>
                    <a:bodyPr/>
                    <a:lstStyle/>
                    <a:p>
                      <a:pPr indent="0" lvl="0" marL="0" marR="0" rtl="0" algn="l">
                        <a:spcBef>
                          <a:spcPts val="0"/>
                        </a:spcBef>
                        <a:spcAft>
                          <a:spcPts val="0"/>
                        </a:spcAft>
                        <a:buNone/>
                      </a:pPr>
                      <a:r>
                        <a:rPr lang="en-US" sz="1800"/>
                        <a:t>HEAD</a:t>
                      </a:r>
                      <a:endParaRPr sz="1800"/>
                    </a:p>
                  </a:txBody>
                  <a:tcPr marT="45725" marB="45725" marR="91450" marL="91450"/>
                </a:tc>
                <a:tc>
                  <a:txBody>
                    <a:bodyPr/>
                    <a:lstStyle/>
                    <a:p>
                      <a:pPr indent="0" lvl="0" marL="0" marR="0" rtl="0" algn="l">
                        <a:spcBef>
                          <a:spcPts val="0"/>
                        </a:spcBef>
                        <a:spcAft>
                          <a:spcPts val="0"/>
                        </a:spcAft>
                        <a:buNone/>
                      </a:pPr>
                      <a:r>
                        <a:rPr lang="en-US" sz="1800"/>
                        <a:t>Requests</a:t>
                      </a:r>
                      <a:r>
                        <a:rPr lang="en-US" sz="1800"/>
                        <a:t> information about a document in the server, but not the document</a:t>
                      </a:r>
                      <a:endParaRPr sz="1800"/>
                    </a:p>
                  </a:txBody>
                  <a:tcPr marT="45725" marB="45725" marR="91450" marL="91450"/>
                </a:tc>
              </a:tr>
              <a:tr h="323850">
                <a:tc>
                  <a:txBody>
                    <a:bodyPr/>
                    <a:lstStyle/>
                    <a:p>
                      <a:pPr indent="0" lvl="0" marL="0" marR="0" rtl="0" algn="l">
                        <a:spcBef>
                          <a:spcPts val="0"/>
                        </a:spcBef>
                        <a:spcAft>
                          <a:spcPts val="0"/>
                        </a:spcAft>
                        <a:buNone/>
                      </a:pPr>
                      <a:r>
                        <a:rPr lang="en-US" sz="1800"/>
                        <a:t>POST</a:t>
                      </a:r>
                      <a:endParaRPr sz="1800"/>
                    </a:p>
                  </a:txBody>
                  <a:tcPr marT="45725" marB="45725" marR="91450" marL="91450"/>
                </a:tc>
                <a:tc>
                  <a:txBody>
                    <a:bodyPr/>
                    <a:lstStyle/>
                    <a:p>
                      <a:pPr indent="0" lvl="0" marL="0" marR="0" rtl="0" algn="l">
                        <a:spcBef>
                          <a:spcPts val="0"/>
                        </a:spcBef>
                        <a:spcAft>
                          <a:spcPts val="0"/>
                        </a:spcAft>
                        <a:buNone/>
                      </a:pPr>
                      <a:r>
                        <a:rPr lang="en-US" sz="1800"/>
                        <a:t>Sends</a:t>
                      </a:r>
                      <a:r>
                        <a:rPr lang="en-US" sz="1800"/>
                        <a:t> some information from the client to server</a:t>
                      </a:r>
                      <a:endParaRPr sz="1800"/>
                    </a:p>
                  </a:txBody>
                  <a:tcPr marT="45725" marB="45725" marR="91450" marL="91450"/>
                </a:tc>
              </a:tr>
              <a:tr h="323850">
                <a:tc>
                  <a:txBody>
                    <a:bodyPr/>
                    <a:lstStyle/>
                    <a:p>
                      <a:pPr indent="0" lvl="0" marL="0" marR="0" rtl="0" algn="l">
                        <a:spcBef>
                          <a:spcPts val="0"/>
                        </a:spcBef>
                        <a:spcAft>
                          <a:spcPts val="0"/>
                        </a:spcAft>
                        <a:buNone/>
                      </a:pPr>
                      <a:r>
                        <a:rPr lang="en-US" sz="1800"/>
                        <a:t>PUT</a:t>
                      </a:r>
                      <a:endParaRPr sz="1800"/>
                    </a:p>
                  </a:txBody>
                  <a:tcPr marT="45725" marB="45725" marR="91450" marL="91450"/>
                </a:tc>
                <a:tc>
                  <a:txBody>
                    <a:bodyPr/>
                    <a:lstStyle/>
                    <a:p>
                      <a:pPr indent="0" lvl="0" marL="0" marR="0" rtl="0" algn="l">
                        <a:spcBef>
                          <a:spcPts val="0"/>
                        </a:spcBef>
                        <a:spcAft>
                          <a:spcPts val="0"/>
                        </a:spcAft>
                        <a:buNone/>
                      </a:pPr>
                      <a:r>
                        <a:rPr lang="en-US" sz="1800"/>
                        <a:t>Sends</a:t>
                      </a:r>
                      <a:r>
                        <a:rPr lang="en-US" sz="1800"/>
                        <a:t> a document from the server to client</a:t>
                      </a:r>
                      <a:endParaRPr sz="1800"/>
                    </a:p>
                  </a:txBody>
                  <a:tcPr marT="45725" marB="45725" marR="91450" marL="91450"/>
                </a:tc>
              </a:tr>
              <a:tr h="323850">
                <a:tc>
                  <a:txBody>
                    <a:bodyPr/>
                    <a:lstStyle/>
                    <a:p>
                      <a:pPr indent="0" lvl="0" marL="0" marR="0" rtl="0" algn="l">
                        <a:spcBef>
                          <a:spcPts val="0"/>
                        </a:spcBef>
                        <a:spcAft>
                          <a:spcPts val="0"/>
                        </a:spcAft>
                        <a:buNone/>
                      </a:pPr>
                      <a:r>
                        <a:rPr lang="en-US" sz="1800"/>
                        <a:t>TRACE</a:t>
                      </a:r>
                      <a:endParaRPr sz="1800"/>
                    </a:p>
                  </a:txBody>
                  <a:tcPr marT="45725" marB="45725" marR="91450" marL="91450"/>
                </a:tc>
                <a:tc>
                  <a:txBody>
                    <a:bodyPr/>
                    <a:lstStyle/>
                    <a:p>
                      <a:pPr indent="0" lvl="0" marL="0" marR="0" rtl="0" algn="l">
                        <a:spcBef>
                          <a:spcPts val="0"/>
                        </a:spcBef>
                        <a:spcAft>
                          <a:spcPts val="0"/>
                        </a:spcAft>
                        <a:buNone/>
                      </a:pPr>
                      <a:r>
                        <a:rPr lang="en-US" sz="1800"/>
                        <a:t>Echoes</a:t>
                      </a:r>
                      <a:r>
                        <a:rPr lang="en-US" sz="1800"/>
                        <a:t> the incoming request</a:t>
                      </a:r>
                      <a:endParaRPr sz="1800"/>
                    </a:p>
                  </a:txBody>
                  <a:tcPr marT="45725" marB="45725" marR="91450" marL="91450"/>
                </a:tc>
              </a:tr>
              <a:tr h="323850">
                <a:tc>
                  <a:txBody>
                    <a:bodyPr/>
                    <a:lstStyle/>
                    <a:p>
                      <a:pPr indent="0" lvl="0" marL="0" marR="0" rtl="0" algn="l">
                        <a:spcBef>
                          <a:spcPts val="0"/>
                        </a:spcBef>
                        <a:spcAft>
                          <a:spcPts val="0"/>
                        </a:spcAft>
                        <a:buNone/>
                      </a:pPr>
                      <a:r>
                        <a:rPr lang="en-US" sz="1800"/>
                        <a:t>CONNECT</a:t>
                      </a:r>
                      <a:endParaRPr sz="1800"/>
                    </a:p>
                  </a:txBody>
                  <a:tcPr marT="45725" marB="45725" marR="91450" marL="91450"/>
                </a:tc>
                <a:tc>
                  <a:txBody>
                    <a:bodyPr/>
                    <a:lstStyle/>
                    <a:p>
                      <a:pPr indent="0" lvl="0" marL="0" marR="0" rtl="0" algn="l">
                        <a:spcBef>
                          <a:spcPts val="0"/>
                        </a:spcBef>
                        <a:spcAft>
                          <a:spcPts val="0"/>
                        </a:spcAft>
                        <a:buNone/>
                      </a:pPr>
                      <a:r>
                        <a:rPr lang="en-US" sz="1800"/>
                        <a:t>Reserved</a:t>
                      </a:r>
                      <a:endParaRPr sz="1800"/>
                    </a:p>
                  </a:txBody>
                  <a:tcPr marT="45725" marB="45725" marR="91450" marL="91450"/>
                </a:tc>
              </a:tr>
              <a:tr h="323850">
                <a:tc>
                  <a:txBody>
                    <a:bodyPr/>
                    <a:lstStyle/>
                    <a:p>
                      <a:pPr indent="0" lvl="0" marL="0" marR="0" rtl="0" algn="l">
                        <a:spcBef>
                          <a:spcPts val="0"/>
                        </a:spcBef>
                        <a:spcAft>
                          <a:spcPts val="0"/>
                        </a:spcAft>
                        <a:buNone/>
                      </a:pPr>
                      <a:r>
                        <a:rPr lang="en-US" sz="1800"/>
                        <a:t>OPTION</a:t>
                      </a:r>
                      <a:endParaRPr sz="1800"/>
                    </a:p>
                  </a:txBody>
                  <a:tcPr marT="45725" marB="45725" marR="91450" marL="91450"/>
                </a:tc>
                <a:tc>
                  <a:txBody>
                    <a:bodyPr/>
                    <a:lstStyle/>
                    <a:p>
                      <a:pPr indent="0" lvl="0" marL="0" marR="0" rtl="0" algn="l">
                        <a:spcBef>
                          <a:spcPts val="0"/>
                        </a:spcBef>
                        <a:spcAft>
                          <a:spcPts val="0"/>
                        </a:spcAft>
                        <a:buNone/>
                      </a:pPr>
                      <a:r>
                        <a:rPr lang="en-US" sz="1800"/>
                        <a:t>Inquires</a:t>
                      </a:r>
                      <a:r>
                        <a:rPr lang="en-US" sz="1800"/>
                        <a:t> about the available options</a:t>
                      </a:r>
                      <a:endParaRPr sz="1800"/>
                    </a:p>
                  </a:txBody>
                  <a:tcPr marT="45725" marB="45725" marR="91450" marL="91450"/>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6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Status Line</a:t>
            </a:r>
            <a:endParaRPr/>
          </a:p>
        </p:txBody>
      </p:sp>
      <p:sp>
        <p:nvSpPr>
          <p:cNvPr id="861" name="Google Shape;861;p62"/>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862" name="Google Shape;862;p62"/>
          <p:cNvSpPr/>
          <p:nvPr/>
        </p:nvSpPr>
        <p:spPr>
          <a:xfrm>
            <a:off x="1447800" y="1600200"/>
            <a:ext cx="1600200" cy="381000"/>
          </a:xfrm>
          <a:prstGeom prst="rect">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HTTP Version</a:t>
            </a:r>
            <a:endParaRPr sz="1800">
              <a:solidFill>
                <a:schemeClr val="lt1"/>
              </a:solidFill>
              <a:latin typeface="Twentieth Century"/>
              <a:ea typeface="Twentieth Century"/>
              <a:cs typeface="Twentieth Century"/>
              <a:sym typeface="Twentieth Century"/>
            </a:endParaRPr>
          </a:p>
        </p:txBody>
      </p:sp>
      <p:sp>
        <p:nvSpPr>
          <p:cNvPr id="863" name="Google Shape;863;p62"/>
          <p:cNvSpPr/>
          <p:nvPr/>
        </p:nvSpPr>
        <p:spPr>
          <a:xfrm>
            <a:off x="3352800" y="1600200"/>
            <a:ext cx="1600200" cy="381000"/>
          </a:xfrm>
          <a:prstGeom prst="rect">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Status Code</a:t>
            </a:r>
            <a:endParaRPr sz="1800">
              <a:solidFill>
                <a:schemeClr val="lt1"/>
              </a:solidFill>
              <a:latin typeface="Twentieth Century"/>
              <a:ea typeface="Twentieth Century"/>
              <a:cs typeface="Twentieth Century"/>
              <a:sym typeface="Twentieth Century"/>
            </a:endParaRPr>
          </a:p>
        </p:txBody>
      </p:sp>
      <p:sp>
        <p:nvSpPr>
          <p:cNvPr id="864" name="Google Shape;864;p62"/>
          <p:cNvSpPr/>
          <p:nvPr/>
        </p:nvSpPr>
        <p:spPr>
          <a:xfrm>
            <a:off x="5257800" y="1600200"/>
            <a:ext cx="1600200" cy="381000"/>
          </a:xfrm>
          <a:prstGeom prst="rect">
            <a:avLst/>
          </a:prstGeom>
          <a:solidFill>
            <a:schemeClr val="accent4"/>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Status Phrase</a:t>
            </a:r>
            <a:endParaRPr sz="1800">
              <a:solidFill>
                <a:schemeClr val="lt1"/>
              </a:solidFill>
              <a:latin typeface="Twentieth Century"/>
              <a:ea typeface="Twentieth Century"/>
              <a:cs typeface="Twentieth Century"/>
              <a:sym typeface="Twentieth Century"/>
            </a:endParaRPr>
          </a:p>
        </p:txBody>
      </p:sp>
      <p:graphicFrame>
        <p:nvGraphicFramePr>
          <p:cNvPr id="865" name="Google Shape;865;p62"/>
          <p:cNvGraphicFramePr/>
          <p:nvPr/>
        </p:nvGraphicFramePr>
        <p:xfrm>
          <a:off x="533400" y="2133600"/>
          <a:ext cx="3000000" cy="3000000"/>
        </p:xfrm>
        <a:graphic>
          <a:graphicData uri="http://schemas.openxmlformats.org/drawingml/2006/table">
            <a:tbl>
              <a:tblPr bandRow="1" firstRow="1">
                <a:noFill/>
                <a:tableStyleId>{D95D5847-5265-4D10-9F46-FB4AFC25BBD2}</a:tableStyleId>
              </a:tblPr>
              <a:tblGrid>
                <a:gridCol w="838200"/>
                <a:gridCol w="2133600"/>
                <a:gridCol w="5257800"/>
              </a:tblGrid>
              <a:tr h="323850">
                <a:tc>
                  <a:txBody>
                    <a:bodyPr/>
                    <a:lstStyle/>
                    <a:p>
                      <a:pPr indent="0" lvl="0" marL="0" marR="0" rtl="0" algn="l">
                        <a:spcBef>
                          <a:spcPts val="0"/>
                        </a:spcBef>
                        <a:spcAft>
                          <a:spcPts val="0"/>
                        </a:spcAft>
                        <a:buNone/>
                      </a:pPr>
                      <a:r>
                        <a:rPr lang="en-US" sz="1800"/>
                        <a:t>Code</a:t>
                      </a:r>
                      <a:endParaRPr sz="1800"/>
                    </a:p>
                  </a:txBody>
                  <a:tcPr marT="45725" marB="45725" marR="91450" marL="91450"/>
                </a:tc>
                <a:tc>
                  <a:txBody>
                    <a:bodyPr/>
                    <a:lstStyle/>
                    <a:p>
                      <a:pPr indent="0" lvl="0" marL="0" marR="0" rtl="0" algn="l">
                        <a:spcBef>
                          <a:spcPts val="0"/>
                        </a:spcBef>
                        <a:spcAft>
                          <a:spcPts val="0"/>
                        </a:spcAft>
                        <a:buNone/>
                      </a:pPr>
                      <a:r>
                        <a:rPr lang="en-US" sz="1800"/>
                        <a:t>Phrase</a:t>
                      </a:r>
                      <a:endParaRPr sz="1800"/>
                    </a:p>
                  </a:txBody>
                  <a:tcPr marT="45725" marB="45725" marR="91450" marL="91450"/>
                </a:tc>
                <a:tc>
                  <a:txBody>
                    <a:bodyPr/>
                    <a:lstStyle/>
                    <a:p>
                      <a:pPr indent="0" lvl="0" marL="0" marR="0" rtl="0" algn="l">
                        <a:spcBef>
                          <a:spcPts val="0"/>
                        </a:spcBef>
                        <a:spcAft>
                          <a:spcPts val="0"/>
                        </a:spcAft>
                        <a:buNone/>
                      </a:pPr>
                      <a:r>
                        <a:rPr lang="en-US" sz="1800"/>
                        <a:t>Description</a:t>
                      </a:r>
                      <a:endParaRPr sz="1800"/>
                    </a:p>
                  </a:txBody>
                  <a:tcPr marT="45725" marB="45725" marR="91450" marL="91450"/>
                </a:tc>
              </a:tr>
              <a:tr h="323850">
                <a:tc>
                  <a:txBody>
                    <a:bodyPr/>
                    <a:lstStyle/>
                    <a:p>
                      <a:pPr indent="0" lvl="0" marL="0" marR="0" rtl="0" algn="l">
                        <a:spcBef>
                          <a:spcPts val="0"/>
                        </a:spcBef>
                        <a:spcAft>
                          <a:spcPts val="0"/>
                        </a:spcAft>
                        <a:buNone/>
                      </a:pPr>
                      <a:r>
                        <a:rPr lang="en-US" sz="1800"/>
                        <a:t>100</a:t>
                      </a:r>
                      <a:endParaRPr sz="1800"/>
                    </a:p>
                  </a:txBody>
                  <a:tcPr marT="45725" marB="45725" marR="91450" marL="91450"/>
                </a:tc>
                <a:tc>
                  <a:txBody>
                    <a:bodyPr/>
                    <a:lstStyle/>
                    <a:p>
                      <a:pPr indent="0" lvl="0" marL="0" marR="0" rtl="0" algn="l">
                        <a:spcBef>
                          <a:spcPts val="0"/>
                        </a:spcBef>
                        <a:spcAft>
                          <a:spcPts val="0"/>
                        </a:spcAft>
                        <a:buNone/>
                      </a:pPr>
                      <a:r>
                        <a:rPr lang="en-US" sz="1800"/>
                        <a:t>Continue</a:t>
                      </a:r>
                      <a:endParaRPr sz="1800"/>
                    </a:p>
                  </a:txBody>
                  <a:tcPr marT="45725" marB="45725" marR="91450" marL="91450"/>
                </a:tc>
                <a:tc>
                  <a:txBody>
                    <a:bodyPr/>
                    <a:lstStyle/>
                    <a:p>
                      <a:pPr indent="0" lvl="0" marL="0" marR="0" rtl="0" algn="l">
                        <a:spcBef>
                          <a:spcPts val="0"/>
                        </a:spcBef>
                        <a:spcAft>
                          <a:spcPts val="0"/>
                        </a:spcAft>
                        <a:buNone/>
                      </a:pPr>
                      <a:r>
                        <a:rPr lang="en-US" sz="1800"/>
                        <a:t>The initial part of the request</a:t>
                      </a:r>
                      <a:r>
                        <a:rPr lang="en-US" sz="1800"/>
                        <a:t> is received, and the client may continue its request</a:t>
                      </a:r>
                      <a:endParaRPr sz="1800"/>
                    </a:p>
                  </a:txBody>
                  <a:tcPr marT="45725" marB="45725" marR="91450" marL="91450"/>
                </a:tc>
              </a:tr>
              <a:tr h="323850">
                <a:tc>
                  <a:txBody>
                    <a:bodyPr/>
                    <a:lstStyle/>
                    <a:p>
                      <a:pPr indent="0" lvl="0" marL="0" marR="0" rtl="0" algn="l">
                        <a:spcBef>
                          <a:spcPts val="0"/>
                        </a:spcBef>
                        <a:spcAft>
                          <a:spcPts val="0"/>
                        </a:spcAft>
                        <a:buNone/>
                      </a:pPr>
                      <a:r>
                        <a:rPr lang="en-US" sz="1800"/>
                        <a:t>200</a:t>
                      </a:r>
                      <a:endParaRPr sz="1800"/>
                    </a:p>
                  </a:txBody>
                  <a:tcPr marT="45725" marB="45725" marR="91450" marL="91450"/>
                </a:tc>
                <a:tc>
                  <a:txBody>
                    <a:bodyPr/>
                    <a:lstStyle/>
                    <a:p>
                      <a:pPr indent="0" lvl="0" marL="0" marR="0" rtl="0" algn="l">
                        <a:spcBef>
                          <a:spcPts val="0"/>
                        </a:spcBef>
                        <a:spcAft>
                          <a:spcPts val="0"/>
                        </a:spcAft>
                        <a:buNone/>
                      </a:pPr>
                      <a:r>
                        <a:rPr lang="en-US" sz="1800"/>
                        <a:t>OK</a:t>
                      </a:r>
                      <a:endParaRPr sz="1800"/>
                    </a:p>
                  </a:txBody>
                  <a:tcPr marT="45725" marB="45725" marR="91450" marL="91450"/>
                </a:tc>
                <a:tc>
                  <a:txBody>
                    <a:bodyPr/>
                    <a:lstStyle/>
                    <a:p>
                      <a:pPr indent="0" lvl="0" marL="0" marR="0" rtl="0" algn="l">
                        <a:spcBef>
                          <a:spcPts val="0"/>
                        </a:spcBef>
                        <a:spcAft>
                          <a:spcPts val="0"/>
                        </a:spcAft>
                        <a:buNone/>
                      </a:pPr>
                      <a:r>
                        <a:rPr lang="en-US" sz="1800"/>
                        <a:t>The request is successful</a:t>
                      </a:r>
                      <a:endParaRPr sz="1800"/>
                    </a:p>
                  </a:txBody>
                  <a:tcPr marT="45725" marB="45725" marR="91450" marL="91450"/>
                </a:tc>
              </a:tr>
              <a:tr h="323850">
                <a:tc>
                  <a:txBody>
                    <a:bodyPr/>
                    <a:lstStyle/>
                    <a:p>
                      <a:pPr indent="0" lvl="0" marL="0" marR="0" rtl="0" algn="l">
                        <a:spcBef>
                          <a:spcPts val="0"/>
                        </a:spcBef>
                        <a:spcAft>
                          <a:spcPts val="0"/>
                        </a:spcAft>
                        <a:buNone/>
                      </a:pPr>
                      <a:r>
                        <a:rPr lang="en-US" sz="1800"/>
                        <a:t>202</a:t>
                      </a:r>
                      <a:endParaRPr sz="1800"/>
                    </a:p>
                  </a:txBody>
                  <a:tcPr marT="45725" marB="45725" marR="91450" marL="91450"/>
                </a:tc>
                <a:tc>
                  <a:txBody>
                    <a:bodyPr/>
                    <a:lstStyle/>
                    <a:p>
                      <a:pPr indent="0" lvl="0" marL="0" marR="0" rtl="0" algn="l">
                        <a:spcBef>
                          <a:spcPts val="0"/>
                        </a:spcBef>
                        <a:spcAft>
                          <a:spcPts val="0"/>
                        </a:spcAft>
                        <a:buNone/>
                      </a:pPr>
                      <a:r>
                        <a:rPr lang="en-US" sz="1800"/>
                        <a:t>Accepted</a:t>
                      </a:r>
                      <a:endParaRPr sz="1800"/>
                    </a:p>
                  </a:txBody>
                  <a:tcPr marT="45725" marB="45725" marR="91450" marL="91450"/>
                </a:tc>
                <a:tc>
                  <a:txBody>
                    <a:bodyPr/>
                    <a:lstStyle/>
                    <a:p>
                      <a:pPr indent="0" lvl="0" marL="0" marR="0" rtl="0" algn="l">
                        <a:spcBef>
                          <a:spcPts val="0"/>
                        </a:spcBef>
                        <a:spcAft>
                          <a:spcPts val="0"/>
                        </a:spcAft>
                        <a:buNone/>
                      </a:pPr>
                      <a:r>
                        <a:rPr lang="en-US" sz="1800"/>
                        <a:t>The request is accepted, but it is not immediately acted upon</a:t>
                      </a:r>
                      <a:endParaRPr sz="1800"/>
                    </a:p>
                  </a:txBody>
                  <a:tcPr marT="45725" marB="45725" marR="91450" marL="91450"/>
                </a:tc>
              </a:tr>
              <a:tr h="323850">
                <a:tc>
                  <a:txBody>
                    <a:bodyPr/>
                    <a:lstStyle/>
                    <a:p>
                      <a:pPr indent="0" lvl="0" marL="0" marR="0" rtl="0" algn="l">
                        <a:spcBef>
                          <a:spcPts val="0"/>
                        </a:spcBef>
                        <a:spcAft>
                          <a:spcPts val="0"/>
                        </a:spcAft>
                        <a:buNone/>
                      </a:pPr>
                      <a:r>
                        <a:rPr lang="en-US" sz="1800"/>
                        <a:t>204</a:t>
                      </a:r>
                      <a:endParaRPr sz="1800"/>
                    </a:p>
                  </a:txBody>
                  <a:tcPr marT="45725" marB="45725" marR="91450" marL="91450"/>
                </a:tc>
                <a:tc>
                  <a:txBody>
                    <a:bodyPr/>
                    <a:lstStyle/>
                    <a:p>
                      <a:pPr indent="0" lvl="0" marL="0" marR="0" rtl="0" algn="l">
                        <a:spcBef>
                          <a:spcPts val="0"/>
                        </a:spcBef>
                        <a:spcAft>
                          <a:spcPts val="0"/>
                        </a:spcAft>
                        <a:buNone/>
                      </a:pPr>
                      <a:r>
                        <a:rPr lang="en-US" sz="1800"/>
                        <a:t>No content</a:t>
                      </a:r>
                      <a:endParaRPr sz="1800"/>
                    </a:p>
                  </a:txBody>
                  <a:tcPr marT="45725" marB="45725" marR="91450" marL="91450"/>
                </a:tc>
                <a:tc>
                  <a:txBody>
                    <a:bodyPr/>
                    <a:lstStyle/>
                    <a:p>
                      <a:pPr indent="0" lvl="0" marL="0" marR="0" rtl="0" algn="l">
                        <a:spcBef>
                          <a:spcPts val="0"/>
                        </a:spcBef>
                        <a:spcAft>
                          <a:spcPts val="0"/>
                        </a:spcAft>
                        <a:buNone/>
                      </a:pPr>
                      <a:r>
                        <a:rPr lang="en-US" sz="1800"/>
                        <a:t>There is no content in the body</a:t>
                      </a:r>
                      <a:endParaRPr sz="1800"/>
                    </a:p>
                  </a:txBody>
                  <a:tcPr marT="45725" marB="45725" marR="91450" marL="91450"/>
                </a:tc>
              </a:tr>
              <a:tr h="323850">
                <a:tc>
                  <a:txBody>
                    <a:bodyPr/>
                    <a:lstStyle/>
                    <a:p>
                      <a:pPr indent="0" lvl="0" marL="0" marR="0" rtl="0" algn="l">
                        <a:spcBef>
                          <a:spcPts val="0"/>
                        </a:spcBef>
                        <a:spcAft>
                          <a:spcPts val="0"/>
                        </a:spcAft>
                        <a:buNone/>
                      </a:pPr>
                      <a:r>
                        <a:rPr lang="en-US" sz="1800"/>
                        <a:t>400</a:t>
                      </a:r>
                      <a:endParaRPr sz="1800"/>
                    </a:p>
                  </a:txBody>
                  <a:tcPr marT="45725" marB="45725" marR="91450" marL="91450"/>
                </a:tc>
                <a:tc>
                  <a:txBody>
                    <a:bodyPr/>
                    <a:lstStyle/>
                    <a:p>
                      <a:pPr indent="0" lvl="0" marL="0" marR="0" rtl="0" algn="l">
                        <a:spcBef>
                          <a:spcPts val="0"/>
                        </a:spcBef>
                        <a:spcAft>
                          <a:spcPts val="0"/>
                        </a:spcAft>
                        <a:buNone/>
                      </a:pPr>
                      <a:r>
                        <a:rPr lang="en-US" sz="1800"/>
                        <a:t>Bad Request</a:t>
                      </a:r>
                      <a:endParaRPr sz="1800"/>
                    </a:p>
                  </a:txBody>
                  <a:tcPr marT="45725" marB="45725" marR="91450" marL="91450"/>
                </a:tc>
                <a:tc>
                  <a:txBody>
                    <a:bodyPr/>
                    <a:lstStyle/>
                    <a:p>
                      <a:pPr indent="0" lvl="0" marL="0" marR="0" rtl="0" algn="l">
                        <a:spcBef>
                          <a:spcPts val="0"/>
                        </a:spcBef>
                        <a:spcAft>
                          <a:spcPts val="0"/>
                        </a:spcAft>
                        <a:buNone/>
                      </a:pPr>
                      <a:r>
                        <a:rPr lang="en-US" sz="1800"/>
                        <a:t>There is a syntax error in the request</a:t>
                      </a:r>
                      <a:endParaRPr sz="1800"/>
                    </a:p>
                  </a:txBody>
                  <a:tcPr marT="45725" marB="45725" marR="91450" marL="91450"/>
                </a:tc>
              </a:tr>
              <a:tr h="323850">
                <a:tc>
                  <a:txBody>
                    <a:bodyPr/>
                    <a:lstStyle/>
                    <a:p>
                      <a:pPr indent="0" lvl="0" marL="0" marR="0" rtl="0" algn="l">
                        <a:spcBef>
                          <a:spcPts val="0"/>
                        </a:spcBef>
                        <a:spcAft>
                          <a:spcPts val="0"/>
                        </a:spcAft>
                        <a:buNone/>
                      </a:pPr>
                      <a:r>
                        <a:rPr lang="en-US" sz="1800"/>
                        <a:t>401</a:t>
                      </a:r>
                      <a:endParaRPr sz="1800"/>
                    </a:p>
                  </a:txBody>
                  <a:tcPr marT="45725" marB="45725" marR="91450" marL="91450"/>
                </a:tc>
                <a:tc>
                  <a:txBody>
                    <a:bodyPr/>
                    <a:lstStyle/>
                    <a:p>
                      <a:pPr indent="0" lvl="0" marL="0" marR="0" rtl="0" algn="l">
                        <a:spcBef>
                          <a:spcPts val="0"/>
                        </a:spcBef>
                        <a:spcAft>
                          <a:spcPts val="0"/>
                        </a:spcAft>
                        <a:buNone/>
                      </a:pPr>
                      <a:r>
                        <a:rPr lang="en-US" sz="1800"/>
                        <a:t>Unauthorized</a:t>
                      </a:r>
                      <a:endParaRPr sz="1800"/>
                    </a:p>
                  </a:txBody>
                  <a:tcPr marT="45725" marB="45725" marR="91450" marL="91450"/>
                </a:tc>
                <a:tc>
                  <a:txBody>
                    <a:bodyPr/>
                    <a:lstStyle/>
                    <a:p>
                      <a:pPr indent="0" lvl="0" marL="0" marR="0" rtl="0" algn="l">
                        <a:spcBef>
                          <a:spcPts val="0"/>
                        </a:spcBef>
                        <a:spcAft>
                          <a:spcPts val="0"/>
                        </a:spcAft>
                        <a:buNone/>
                      </a:pPr>
                      <a:r>
                        <a:rPr lang="en-US" sz="1800"/>
                        <a:t>The</a:t>
                      </a:r>
                      <a:r>
                        <a:rPr lang="en-US" sz="1800"/>
                        <a:t> request lacks authorization</a:t>
                      </a:r>
                      <a:endParaRPr sz="1800"/>
                    </a:p>
                  </a:txBody>
                  <a:tcPr marT="45725" marB="45725" marR="91450" marL="91450"/>
                </a:tc>
              </a:tr>
              <a:tr h="323850">
                <a:tc>
                  <a:txBody>
                    <a:bodyPr/>
                    <a:lstStyle/>
                    <a:p>
                      <a:pPr indent="0" lvl="0" marL="0" marR="0" rtl="0" algn="l">
                        <a:spcBef>
                          <a:spcPts val="0"/>
                        </a:spcBef>
                        <a:spcAft>
                          <a:spcPts val="0"/>
                        </a:spcAft>
                        <a:buNone/>
                      </a:pPr>
                      <a:r>
                        <a:rPr lang="en-US" sz="1800"/>
                        <a:t>404</a:t>
                      </a:r>
                      <a:endParaRPr sz="1800"/>
                    </a:p>
                  </a:txBody>
                  <a:tcPr marT="45725" marB="45725" marR="91450" marL="91450"/>
                </a:tc>
                <a:tc>
                  <a:txBody>
                    <a:bodyPr/>
                    <a:lstStyle/>
                    <a:p>
                      <a:pPr indent="0" lvl="0" marL="0" marR="0" rtl="0" algn="l">
                        <a:spcBef>
                          <a:spcPts val="0"/>
                        </a:spcBef>
                        <a:spcAft>
                          <a:spcPts val="0"/>
                        </a:spcAft>
                        <a:buNone/>
                      </a:pPr>
                      <a:r>
                        <a:rPr lang="en-US" sz="1800"/>
                        <a:t>Not found</a:t>
                      </a:r>
                      <a:endParaRPr sz="1800"/>
                    </a:p>
                  </a:txBody>
                  <a:tcPr marT="45725" marB="45725" marR="91450" marL="91450"/>
                </a:tc>
                <a:tc>
                  <a:txBody>
                    <a:bodyPr/>
                    <a:lstStyle/>
                    <a:p>
                      <a:pPr indent="0" lvl="0" marL="0" marR="0" rtl="0" algn="l">
                        <a:spcBef>
                          <a:spcPts val="0"/>
                        </a:spcBef>
                        <a:spcAft>
                          <a:spcPts val="0"/>
                        </a:spcAft>
                        <a:buNone/>
                      </a:pPr>
                      <a:r>
                        <a:rPr lang="en-US" sz="1800"/>
                        <a:t>The document</a:t>
                      </a:r>
                      <a:r>
                        <a:rPr lang="en-US" sz="1800"/>
                        <a:t> is not found</a:t>
                      </a:r>
                      <a:endParaRPr sz="1800"/>
                    </a:p>
                  </a:txBody>
                  <a:tcPr marT="45725" marB="45725" marR="91450" marL="91450"/>
                </a:tc>
              </a:tr>
              <a:tr h="323850">
                <a:tc>
                  <a:txBody>
                    <a:bodyPr/>
                    <a:lstStyle/>
                    <a:p>
                      <a:pPr indent="0" lvl="0" marL="0" marR="0" rtl="0" algn="l">
                        <a:spcBef>
                          <a:spcPts val="0"/>
                        </a:spcBef>
                        <a:spcAft>
                          <a:spcPts val="0"/>
                        </a:spcAft>
                        <a:buNone/>
                      </a:pPr>
                      <a:r>
                        <a:rPr lang="en-US" sz="1800"/>
                        <a:t>500</a:t>
                      </a:r>
                      <a:endParaRPr sz="1800"/>
                    </a:p>
                  </a:txBody>
                  <a:tcPr marT="45725" marB="45725" marR="91450" marL="91450"/>
                </a:tc>
                <a:tc>
                  <a:txBody>
                    <a:bodyPr/>
                    <a:lstStyle/>
                    <a:p>
                      <a:pPr indent="0" lvl="0" marL="0" marR="0" rtl="0" algn="l">
                        <a:spcBef>
                          <a:spcPts val="0"/>
                        </a:spcBef>
                        <a:spcAft>
                          <a:spcPts val="0"/>
                        </a:spcAft>
                        <a:buNone/>
                      </a:pPr>
                      <a:r>
                        <a:rPr lang="en-US" sz="1800"/>
                        <a:t>Internal Server Error</a:t>
                      </a:r>
                      <a:endParaRPr sz="1800"/>
                    </a:p>
                  </a:txBody>
                  <a:tcPr marT="45725" marB="45725" marR="91450" marL="91450"/>
                </a:tc>
                <a:tc>
                  <a:txBody>
                    <a:bodyPr/>
                    <a:lstStyle/>
                    <a:p>
                      <a:pPr indent="0" lvl="0" marL="0" marR="0" rtl="0" algn="l">
                        <a:spcBef>
                          <a:spcPts val="0"/>
                        </a:spcBef>
                        <a:spcAft>
                          <a:spcPts val="0"/>
                        </a:spcAft>
                        <a:buNone/>
                      </a:pPr>
                      <a:r>
                        <a:rPr lang="en-US" sz="1800"/>
                        <a:t>There is error,</a:t>
                      </a:r>
                      <a:r>
                        <a:rPr lang="en-US" sz="1800"/>
                        <a:t> such a crash, at the server side</a:t>
                      </a:r>
                      <a:endParaRPr sz="1800"/>
                    </a:p>
                  </a:txBody>
                  <a:tcPr marT="45725" marB="45725" marR="91450" marL="91450"/>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63"/>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HTTP Headers</a:t>
            </a:r>
            <a:endParaRPr/>
          </a:p>
        </p:txBody>
      </p:sp>
      <p:sp>
        <p:nvSpPr>
          <p:cNvPr id="871" name="Google Shape;871;p63"/>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872" name="Google Shape;872;p63"/>
          <p:cNvSpPr txBox="1"/>
          <p:nvPr>
            <p:ph idx="1" type="body"/>
          </p:nvPr>
        </p:nvSpPr>
        <p:spPr>
          <a:xfrm>
            <a:off x="612648" y="2133600"/>
            <a:ext cx="8153400" cy="3962400"/>
          </a:xfrm>
          <a:prstGeom prst="rect">
            <a:avLst/>
          </a:prstGeom>
          <a:noFill/>
          <a:ln>
            <a:noFill/>
          </a:ln>
        </p:spPr>
        <p:txBody>
          <a:bodyPr anchorCtr="0" anchor="t" bIns="45700" lIns="91425" spcFirstLastPara="1" rIns="91425" wrap="square" tIns="45700">
            <a:normAutofit fontScale="92500" lnSpcReduction="20000"/>
          </a:bodyPr>
          <a:lstStyle/>
          <a:p>
            <a:pPr indent="-320059" lvl="0" marL="320040" rtl="0" algn="l">
              <a:spcBef>
                <a:spcPts val="0"/>
              </a:spcBef>
              <a:spcAft>
                <a:spcPts val="0"/>
              </a:spcAft>
              <a:buSzPct val="59999"/>
              <a:buChar char="◻"/>
            </a:pPr>
            <a:r>
              <a:rPr lang="en-US"/>
              <a:t>Three types of Headers</a:t>
            </a:r>
            <a:endParaRPr/>
          </a:p>
          <a:p>
            <a:pPr indent="-274320" lvl="1" marL="640080" rtl="0" algn="l">
              <a:spcBef>
                <a:spcPts val="550"/>
              </a:spcBef>
              <a:spcAft>
                <a:spcPts val="0"/>
              </a:spcAft>
              <a:buSzPct val="70000"/>
              <a:buChar char="🞑"/>
            </a:pPr>
            <a:r>
              <a:rPr lang="en-US"/>
              <a:t>General Header</a:t>
            </a:r>
            <a:endParaRPr/>
          </a:p>
          <a:p>
            <a:pPr indent="-228623" lvl="2" marL="914400" rtl="0" algn="l">
              <a:spcBef>
                <a:spcPts val="500"/>
              </a:spcBef>
              <a:spcAft>
                <a:spcPts val="0"/>
              </a:spcAft>
              <a:buSzPct val="75000"/>
              <a:buChar char="■"/>
            </a:pPr>
            <a:r>
              <a:rPr lang="en-US"/>
              <a:t>Gives general information about the message</a:t>
            </a:r>
            <a:endParaRPr/>
          </a:p>
          <a:p>
            <a:pPr indent="-228623" lvl="2" marL="914400" rtl="0" algn="l">
              <a:spcBef>
                <a:spcPts val="500"/>
              </a:spcBef>
              <a:spcAft>
                <a:spcPts val="0"/>
              </a:spcAft>
              <a:buSzPct val="75000"/>
              <a:buChar char="■"/>
            </a:pPr>
            <a:r>
              <a:rPr lang="en-US"/>
              <a:t>Can be present in both response and request</a:t>
            </a:r>
            <a:endParaRPr/>
          </a:p>
          <a:p>
            <a:pPr indent="-274320" lvl="1" marL="640080" rtl="0" algn="l">
              <a:spcBef>
                <a:spcPts val="550"/>
              </a:spcBef>
              <a:spcAft>
                <a:spcPts val="0"/>
              </a:spcAft>
              <a:buSzPct val="70000"/>
              <a:buChar char="🞑"/>
            </a:pPr>
            <a:r>
              <a:rPr lang="en-US"/>
              <a:t>Request Header</a:t>
            </a:r>
            <a:endParaRPr/>
          </a:p>
          <a:p>
            <a:pPr indent="-228623" lvl="2" marL="914400" rtl="0" algn="l">
              <a:spcBef>
                <a:spcPts val="500"/>
              </a:spcBef>
              <a:spcAft>
                <a:spcPts val="0"/>
              </a:spcAft>
              <a:buSzPct val="75000"/>
              <a:buChar char="■"/>
            </a:pPr>
            <a:r>
              <a:rPr lang="en-US"/>
              <a:t>Present only in the request message</a:t>
            </a:r>
            <a:endParaRPr/>
          </a:p>
          <a:p>
            <a:pPr indent="-228623" lvl="2" marL="914400" rtl="0" algn="l">
              <a:spcBef>
                <a:spcPts val="500"/>
              </a:spcBef>
              <a:spcAft>
                <a:spcPts val="0"/>
              </a:spcAft>
              <a:buSzPct val="75000"/>
              <a:buChar char="■"/>
            </a:pPr>
            <a:r>
              <a:rPr lang="en-US"/>
              <a:t>Specifies the client configuration and client’s preferred document format</a:t>
            </a:r>
            <a:endParaRPr/>
          </a:p>
          <a:p>
            <a:pPr indent="-274320" lvl="1" marL="640080" rtl="0" algn="l">
              <a:spcBef>
                <a:spcPts val="550"/>
              </a:spcBef>
              <a:spcAft>
                <a:spcPts val="0"/>
              </a:spcAft>
              <a:buSzPct val="70000"/>
              <a:buChar char="🞑"/>
            </a:pPr>
            <a:r>
              <a:rPr lang="en-US"/>
              <a:t>Response Header</a:t>
            </a:r>
            <a:endParaRPr/>
          </a:p>
          <a:p>
            <a:pPr indent="-228623" lvl="2" marL="914400" rtl="0" algn="l">
              <a:spcBef>
                <a:spcPts val="500"/>
              </a:spcBef>
              <a:spcAft>
                <a:spcPts val="0"/>
              </a:spcAft>
              <a:buSzPct val="75000"/>
              <a:buChar char="■"/>
            </a:pPr>
            <a:r>
              <a:rPr lang="en-US"/>
              <a:t>Present only in the response message</a:t>
            </a:r>
            <a:endParaRPr/>
          </a:p>
          <a:p>
            <a:pPr indent="-228623" lvl="2" marL="914400" rtl="0" algn="l">
              <a:spcBef>
                <a:spcPts val="500"/>
              </a:spcBef>
              <a:spcAft>
                <a:spcPts val="0"/>
              </a:spcAft>
              <a:buSzPct val="75000"/>
              <a:buChar char="■"/>
            </a:pPr>
            <a:r>
              <a:rPr lang="en-US"/>
              <a:t>Provides server configuration and special information about the request</a:t>
            </a:r>
            <a:endParaRPr/>
          </a:p>
        </p:txBody>
      </p:sp>
      <p:sp>
        <p:nvSpPr>
          <p:cNvPr id="873" name="Google Shape;873;p63"/>
          <p:cNvSpPr/>
          <p:nvPr/>
        </p:nvSpPr>
        <p:spPr>
          <a:xfrm>
            <a:off x="2362200" y="1676400"/>
            <a:ext cx="1828800" cy="304800"/>
          </a:xfrm>
          <a:prstGeom prst="rect">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Header Name:</a:t>
            </a:r>
            <a:endParaRPr sz="1800">
              <a:solidFill>
                <a:schemeClr val="lt1"/>
              </a:solidFill>
              <a:latin typeface="Twentieth Century"/>
              <a:ea typeface="Twentieth Century"/>
              <a:cs typeface="Twentieth Century"/>
              <a:sym typeface="Twentieth Century"/>
            </a:endParaRPr>
          </a:p>
        </p:txBody>
      </p:sp>
      <p:sp>
        <p:nvSpPr>
          <p:cNvPr id="874" name="Google Shape;874;p63"/>
          <p:cNvSpPr/>
          <p:nvPr/>
        </p:nvSpPr>
        <p:spPr>
          <a:xfrm>
            <a:off x="4343400" y="1676400"/>
            <a:ext cx="1828800" cy="304800"/>
          </a:xfrm>
          <a:prstGeom prst="rect">
            <a:avLst/>
          </a:prstGeom>
          <a:solidFill>
            <a:schemeClr val="accent1"/>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Value</a:t>
            </a:r>
            <a:endParaRPr sz="18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64"/>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Cookies</a:t>
            </a:r>
            <a:endParaRPr/>
          </a:p>
        </p:txBody>
      </p:sp>
      <p:sp>
        <p:nvSpPr>
          <p:cNvPr id="880" name="Google Shape;880;p6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881" name="Google Shape;881;p64"/>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HTTP server is stateless</a:t>
            </a:r>
            <a:endParaRPr/>
          </a:p>
          <a:p>
            <a:pPr indent="-274320" lvl="1" marL="640080" rtl="0" algn="l">
              <a:spcBef>
                <a:spcPts val="550"/>
              </a:spcBef>
              <a:spcAft>
                <a:spcPts val="0"/>
              </a:spcAft>
              <a:buSzPts val="1820"/>
              <a:buChar char="🞑"/>
            </a:pPr>
            <a:r>
              <a:rPr lang="en-US"/>
              <a:t>But identification is useful restricting access, personalized content</a:t>
            </a:r>
            <a:endParaRPr/>
          </a:p>
          <a:p>
            <a:pPr indent="-320040" lvl="0" marL="320040" rtl="0" algn="l">
              <a:spcBef>
                <a:spcPts val="700"/>
              </a:spcBef>
              <a:spcAft>
                <a:spcPts val="0"/>
              </a:spcAft>
              <a:buSzPts val="1740"/>
              <a:buChar char="◻"/>
            </a:pPr>
            <a:r>
              <a:rPr lang="en-US"/>
              <a:t>Components</a:t>
            </a:r>
            <a:endParaRPr/>
          </a:p>
          <a:p>
            <a:pPr indent="-274320" lvl="1" marL="640080" rtl="0" algn="l">
              <a:spcBef>
                <a:spcPts val="550"/>
              </a:spcBef>
              <a:spcAft>
                <a:spcPts val="0"/>
              </a:spcAft>
              <a:buSzPts val="1820"/>
              <a:buChar char="🞑"/>
            </a:pPr>
            <a:r>
              <a:rPr lang="en-US"/>
              <a:t>Cookie header line in HTTP response message</a:t>
            </a:r>
            <a:endParaRPr/>
          </a:p>
          <a:p>
            <a:pPr indent="-274320" lvl="1" marL="640080" rtl="0" algn="l">
              <a:spcBef>
                <a:spcPts val="550"/>
              </a:spcBef>
              <a:spcAft>
                <a:spcPts val="0"/>
              </a:spcAft>
              <a:buSzPts val="1820"/>
              <a:buChar char="🞑"/>
            </a:pPr>
            <a:r>
              <a:rPr lang="en-US"/>
              <a:t>Cookie header line in HTTP request message</a:t>
            </a:r>
            <a:endParaRPr/>
          </a:p>
          <a:p>
            <a:pPr indent="-320040" lvl="0" marL="320040" rtl="0" algn="l">
              <a:spcBef>
                <a:spcPts val="700"/>
              </a:spcBef>
              <a:spcAft>
                <a:spcPts val="0"/>
              </a:spcAft>
              <a:buSzPts val="1740"/>
              <a:buChar char="◻"/>
            </a:pPr>
            <a:r>
              <a:rPr lang="en-US"/>
              <a:t>Cookie file kept on user’s host and managed by user’s browser</a:t>
            </a:r>
            <a:endParaRPr/>
          </a:p>
          <a:p>
            <a:pPr indent="-320040" lvl="0" marL="320040" rtl="0" algn="l">
              <a:spcBef>
                <a:spcPts val="700"/>
              </a:spcBef>
              <a:spcAft>
                <a:spcPts val="0"/>
              </a:spcAft>
              <a:buSzPts val="1740"/>
              <a:buChar char="◻"/>
            </a:pPr>
            <a:r>
              <a:rPr lang="en-US"/>
              <a:t>Back-end database at Web site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Cookies Explained</a:t>
            </a:r>
            <a:endParaRPr/>
          </a:p>
        </p:txBody>
      </p:sp>
      <p:sp>
        <p:nvSpPr>
          <p:cNvPr id="887" name="Google Shape;887;p65"/>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pic>
        <p:nvPicPr>
          <p:cNvPr descr="C:\Program Files\Microsoft Office\MEDIA\CAGCAT10\j0205582.wmf" id="888" name="Google Shape;888;p65"/>
          <p:cNvPicPr preferRelativeResize="0"/>
          <p:nvPr/>
        </p:nvPicPr>
        <p:blipFill rotWithShape="1">
          <a:blip r:embed="rId3">
            <a:alphaModFix/>
          </a:blip>
          <a:srcRect b="0" l="0" r="0" t="0"/>
          <a:stretch/>
        </p:blipFill>
        <p:spPr>
          <a:xfrm>
            <a:off x="443262" y="1676400"/>
            <a:ext cx="1162531" cy="1066800"/>
          </a:xfrm>
          <a:prstGeom prst="rect">
            <a:avLst/>
          </a:prstGeom>
          <a:noFill/>
          <a:ln>
            <a:noFill/>
          </a:ln>
        </p:spPr>
      </p:pic>
      <p:pic>
        <p:nvPicPr>
          <p:cNvPr descr="C:\Program Files\Microsoft Office\MEDIA\CAGCAT10\j0292982.wmf" id="889" name="Google Shape;889;p65"/>
          <p:cNvPicPr preferRelativeResize="0"/>
          <p:nvPr/>
        </p:nvPicPr>
        <p:blipFill rotWithShape="1">
          <a:blip r:embed="rId4">
            <a:alphaModFix/>
          </a:blip>
          <a:srcRect b="0" l="0" r="0" t="0"/>
          <a:stretch/>
        </p:blipFill>
        <p:spPr>
          <a:xfrm>
            <a:off x="6386862" y="1676400"/>
            <a:ext cx="1080738" cy="1066800"/>
          </a:xfrm>
          <a:prstGeom prst="rect">
            <a:avLst/>
          </a:prstGeom>
          <a:noFill/>
          <a:ln>
            <a:noFill/>
          </a:ln>
        </p:spPr>
      </p:pic>
      <p:cxnSp>
        <p:nvCxnSpPr>
          <p:cNvPr id="890" name="Google Shape;890;p65"/>
          <p:cNvCxnSpPr>
            <a:stCxn id="888" idx="2"/>
          </p:cNvCxnSpPr>
          <p:nvPr/>
        </p:nvCxnSpPr>
        <p:spPr>
          <a:xfrm>
            <a:off x="1024528" y="2743200"/>
            <a:ext cx="28200" cy="3352800"/>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891" name="Google Shape;891;p65"/>
          <p:cNvCxnSpPr/>
          <p:nvPr/>
        </p:nvCxnSpPr>
        <p:spPr>
          <a:xfrm flipH="1" rot="-5400000">
            <a:off x="5334229" y="4329233"/>
            <a:ext cx="3352800" cy="28334"/>
          </a:xfrm>
          <a:prstGeom prst="straightConnector1">
            <a:avLst/>
          </a:prstGeom>
          <a:noFill/>
          <a:ln cap="flat" cmpd="sng" w="19050">
            <a:solidFill>
              <a:schemeClr val="dk1"/>
            </a:solidFill>
            <a:prstDash val="solid"/>
            <a:round/>
            <a:headEnd len="sm" w="sm" type="none"/>
            <a:tailEnd len="sm" w="sm" type="none"/>
          </a:ln>
          <a:effectLst>
            <a:outerShdw blurRad="38100" rotWithShape="0" dir="5400000" dist="30000">
              <a:srgbClr val="000000">
                <a:alpha val="44705"/>
              </a:srgbClr>
            </a:outerShdw>
          </a:effectLst>
        </p:spPr>
      </p:cxnSp>
      <p:cxnSp>
        <p:nvCxnSpPr>
          <p:cNvPr id="892" name="Google Shape;892;p65"/>
          <p:cNvCxnSpPr/>
          <p:nvPr/>
        </p:nvCxnSpPr>
        <p:spPr>
          <a:xfrm>
            <a:off x="1052862" y="2895600"/>
            <a:ext cx="5943600" cy="304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893" name="Google Shape;893;p65"/>
          <p:cNvCxnSpPr/>
          <p:nvPr/>
        </p:nvCxnSpPr>
        <p:spPr>
          <a:xfrm flipH="1">
            <a:off x="1052862" y="3200400"/>
            <a:ext cx="5867400" cy="5334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894" name="Google Shape;894;p65"/>
          <p:cNvCxnSpPr/>
          <p:nvPr/>
        </p:nvCxnSpPr>
        <p:spPr>
          <a:xfrm>
            <a:off x="1052862" y="4419600"/>
            <a:ext cx="5943600" cy="4572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895" name="Google Shape;895;p65"/>
          <p:cNvCxnSpPr/>
          <p:nvPr/>
        </p:nvCxnSpPr>
        <p:spPr>
          <a:xfrm flipH="1">
            <a:off x="1052862" y="4953000"/>
            <a:ext cx="5943600" cy="4572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896" name="Google Shape;896;p65"/>
          <p:cNvSpPr txBox="1"/>
          <p:nvPr/>
        </p:nvSpPr>
        <p:spPr>
          <a:xfrm rot="244055">
            <a:off x="3805826" y="2684273"/>
            <a:ext cx="26486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usual http request message</a:t>
            </a:r>
            <a:endParaRPr sz="1800">
              <a:solidFill>
                <a:schemeClr val="dk1"/>
              </a:solidFill>
              <a:latin typeface="Twentieth Century"/>
              <a:ea typeface="Twentieth Century"/>
              <a:cs typeface="Twentieth Century"/>
              <a:sym typeface="Twentieth Century"/>
            </a:endParaRPr>
          </a:p>
        </p:txBody>
      </p:sp>
      <p:sp>
        <p:nvSpPr>
          <p:cNvPr id="897" name="Google Shape;897;p65"/>
          <p:cNvSpPr txBox="1"/>
          <p:nvPr/>
        </p:nvSpPr>
        <p:spPr>
          <a:xfrm rot="244055">
            <a:off x="2586626" y="4069775"/>
            <a:ext cx="264867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usual http request message</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cookie: 1672</a:t>
            </a:r>
            <a:endParaRPr sz="1800">
              <a:solidFill>
                <a:schemeClr val="dk1"/>
              </a:solidFill>
              <a:latin typeface="Twentieth Century"/>
              <a:ea typeface="Twentieth Century"/>
              <a:cs typeface="Twentieth Century"/>
              <a:sym typeface="Twentieth Century"/>
            </a:endParaRPr>
          </a:p>
        </p:txBody>
      </p:sp>
      <p:sp>
        <p:nvSpPr>
          <p:cNvPr id="898" name="Google Shape;898;p65"/>
          <p:cNvSpPr txBox="1"/>
          <p:nvPr/>
        </p:nvSpPr>
        <p:spPr>
          <a:xfrm rot="-304666">
            <a:off x="1239487" y="2963116"/>
            <a:ext cx="19271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usual http response</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set cookie: 1672</a:t>
            </a:r>
            <a:endParaRPr sz="1800">
              <a:solidFill>
                <a:schemeClr val="dk1"/>
              </a:solidFill>
              <a:latin typeface="Twentieth Century"/>
              <a:ea typeface="Twentieth Century"/>
              <a:cs typeface="Twentieth Century"/>
              <a:sym typeface="Twentieth Century"/>
            </a:endParaRPr>
          </a:p>
        </p:txBody>
      </p:sp>
      <p:sp>
        <p:nvSpPr>
          <p:cNvPr id="899" name="Google Shape;899;p65"/>
          <p:cNvSpPr txBox="1"/>
          <p:nvPr/>
        </p:nvSpPr>
        <p:spPr>
          <a:xfrm rot="-304666">
            <a:off x="1230083" y="4956309"/>
            <a:ext cx="19271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usual http response</a:t>
            </a:r>
            <a:endParaRPr/>
          </a:p>
        </p:txBody>
      </p:sp>
      <p:sp>
        <p:nvSpPr>
          <p:cNvPr id="900" name="Google Shape;900;p65"/>
          <p:cNvSpPr txBox="1"/>
          <p:nvPr/>
        </p:nvSpPr>
        <p:spPr>
          <a:xfrm>
            <a:off x="76200" y="3429000"/>
            <a:ext cx="10246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amazon: </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1672</a:t>
            </a:r>
            <a:endParaRPr sz="1800">
              <a:solidFill>
                <a:schemeClr val="dk1"/>
              </a:solidFill>
              <a:latin typeface="Twentieth Century"/>
              <a:ea typeface="Twentieth Century"/>
              <a:cs typeface="Twentieth Century"/>
              <a:sym typeface="Twentieth Century"/>
            </a:endParaRPr>
          </a:p>
        </p:txBody>
      </p:sp>
      <p:sp>
        <p:nvSpPr>
          <p:cNvPr id="901" name="Google Shape;901;p65"/>
          <p:cNvSpPr txBox="1"/>
          <p:nvPr/>
        </p:nvSpPr>
        <p:spPr>
          <a:xfrm>
            <a:off x="0" y="4343400"/>
            <a:ext cx="10246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amazon: </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1672</a:t>
            </a:r>
            <a:endParaRPr sz="1800">
              <a:solidFill>
                <a:schemeClr val="dk1"/>
              </a:solidFill>
              <a:latin typeface="Twentieth Century"/>
              <a:ea typeface="Twentieth Century"/>
              <a:cs typeface="Twentieth Century"/>
              <a:sym typeface="Twentieth Century"/>
            </a:endParaRPr>
          </a:p>
        </p:txBody>
      </p:sp>
      <p:sp>
        <p:nvSpPr>
          <p:cNvPr id="902" name="Google Shape;902;p65"/>
          <p:cNvSpPr txBox="1"/>
          <p:nvPr/>
        </p:nvSpPr>
        <p:spPr>
          <a:xfrm>
            <a:off x="7086600" y="4648200"/>
            <a:ext cx="89800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Cookie </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Specific</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Action</a:t>
            </a:r>
            <a:endParaRPr sz="1800">
              <a:solidFill>
                <a:schemeClr val="dk1"/>
              </a:solidFill>
              <a:latin typeface="Twentieth Century"/>
              <a:ea typeface="Twentieth Century"/>
              <a:cs typeface="Twentieth Century"/>
              <a:sym typeface="Twentieth Century"/>
            </a:endParaRPr>
          </a:p>
        </p:txBody>
      </p:sp>
      <p:sp>
        <p:nvSpPr>
          <p:cNvPr id="903" name="Google Shape;903;p65"/>
          <p:cNvSpPr txBox="1"/>
          <p:nvPr/>
        </p:nvSpPr>
        <p:spPr>
          <a:xfrm>
            <a:off x="7162800" y="2743200"/>
            <a:ext cx="93326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Server</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Creates</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id 1672</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for user</a:t>
            </a:r>
            <a:endParaRPr sz="1800">
              <a:solidFill>
                <a:schemeClr val="dk1"/>
              </a:solidFill>
              <a:latin typeface="Twentieth Century"/>
              <a:ea typeface="Twentieth Century"/>
              <a:cs typeface="Twentieth Century"/>
              <a:sym typeface="Twentieth Century"/>
            </a:endParaRPr>
          </a:p>
        </p:txBody>
      </p:sp>
      <p:sp>
        <p:nvSpPr>
          <p:cNvPr id="904" name="Google Shape;904;p65"/>
          <p:cNvSpPr/>
          <p:nvPr/>
        </p:nvSpPr>
        <p:spPr>
          <a:xfrm>
            <a:off x="8382000" y="4038600"/>
            <a:ext cx="533400" cy="457200"/>
          </a:xfrm>
          <a:prstGeom prst="rect">
            <a:avLst/>
          </a:prstGeom>
          <a:solidFill>
            <a:schemeClr val="accent2"/>
          </a:solidFill>
          <a:ln cap="flat" cmpd="dbl" w="47625">
            <a:solidFill>
              <a:schemeClr val="lt1"/>
            </a:solidFill>
            <a:prstDash val="solid"/>
            <a:round/>
            <a:headEnd len="sm" w="sm" type="none"/>
            <a:tailEnd len="sm" w="sm" type="none"/>
          </a:ln>
          <a:effectLst>
            <a:outerShdw blurRad="38100" rotWithShape="0" dir="5400000" dist="30000">
              <a:srgbClr val="000000">
                <a:alpha val="4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wentieth Century"/>
                <a:ea typeface="Twentieth Century"/>
                <a:cs typeface="Twentieth Century"/>
                <a:sym typeface="Twentieth Century"/>
              </a:rPr>
              <a:t>DB</a:t>
            </a:r>
            <a:endParaRPr sz="1800">
              <a:solidFill>
                <a:schemeClr val="lt1"/>
              </a:solidFill>
              <a:latin typeface="Twentieth Century"/>
              <a:ea typeface="Twentieth Century"/>
              <a:cs typeface="Twentieth Century"/>
              <a:sym typeface="Twentieth Century"/>
            </a:endParaRPr>
          </a:p>
        </p:txBody>
      </p:sp>
      <p:cxnSp>
        <p:nvCxnSpPr>
          <p:cNvPr id="905" name="Google Shape;905;p65"/>
          <p:cNvCxnSpPr>
            <a:stCxn id="903" idx="3"/>
            <a:endCxn id="904" idx="0"/>
          </p:cNvCxnSpPr>
          <p:nvPr/>
        </p:nvCxnSpPr>
        <p:spPr>
          <a:xfrm>
            <a:off x="8096069" y="3343364"/>
            <a:ext cx="552600" cy="6951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906" name="Google Shape;906;p65"/>
          <p:cNvCxnSpPr>
            <a:stCxn id="904" idx="2"/>
            <a:endCxn id="902" idx="3"/>
          </p:cNvCxnSpPr>
          <p:nvPr/>
        </p:nvCxnSpPr>
        <p:spPr>
          <a:xfrm flipH="1">
            <a:off x="7984500" y="4495800"/>
            <a:ext cx="664200" cy="614100"/>
          </a:xfrm>
          <a:prstGeom prst="straightConnector1">
            <a:avLst/>
          </a:prstGeom>
          <a:noFill/>
          <a:ln cap="flat" cmpd="sng" w="19050">
            <a:solidFill>
              <a:schemeClr val="dk1"/>
            </a:solidFill>
            <a:prstDash val="solid"/>
            <a:round/>
            <a:headEnd len="med" w="med" type="stealth"/>
            <a:tailEnd len="med" w="med" type="stealth"/>
          </a:ln>
          <a:effectLst>
            <a:outerShdw blurRad="38100" rotWithShape="0" dir="5400000" dist="30000">
              <a:srgbClr val="000000">
                <a:alpha val="44705"/>
              </a:srgbClr>
            </a:outerShdw>
          </a:effectLst>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6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Advantages &amp; Disadvantages</a:t>
            </a:r>
            <a:endParaRPr/>
          </a:p>
        </p:txBody>
      </p:sp>
      <p:sp>
        <p:nvSpPr>
          <p:cNvPr id="912" name="Google Shape;912;p66"/>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913" name="Google Shape;913;p6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Advantages</a:t>
            </a:r>
            <a:endParaRPr/>
          </a:p>
          <a:p>
            <a:pPr indent="-274320" lvl="1" marL="640080" rtl="0" algn="l">
              <a:spcBef>
                <a:spcPts val="550"/>
              </a:spcBef>
              <a:spcAft>
                <a:spcPts val="0"/>
              </a:spcAft>
              <a:buSzPts val="1820"/>
              <a:buChar char="🞑"/>
            </a:pPr>
            <a:r>
              <a:rPr lang="en-US"/>
              <a:t>Authorization, shopping carts recommendation, user session state</a:t>
            </a:r>
            <a:endParaRPr/>
          </a:p>
          <a:p>
            <a:pPr indent="-320040" lvl="0" marL="320040" rtl="0" algn="l">
              <a:spcBef>
                <a:spcPts val="700"/>
              </a:spcBef>
              <a:spcAft>
                <a:spcPts val="0"/>
              </a:spcAft>
              <a:buSzPts val="1740"/>
              <a:buChar char="◻"/>
            </a:pPr>
            <a:r>
              <a:rPr lang="en-US"/>
              <a:t>Disadvantages</a:t>
            </a:r>
            <a:endParaRPr/>
          </a:p>
          <a:p>
            <a:pPr indent="-274320" lvl="1" marL="640080" rtl="0" algn="l">
              <a:spcBef>
                <a:spcPts val="550"/>
              </a:spcBef>
              <a:spcAft>
                <a:spcPts val="0"/>
              </a:spcAft>
              <a:buSzPts val="1820"/>
              <a:buChar char="🞑"/>
            </a:pPr>
            <a:r>
              <a:rPr lang="en-US"/>
              <a:t>Websites learns a lot about user</a:t>
            </a:r>
            <a:endParaRPr/>
          </a:p>
          <a:p>
            <a:pPr indent="-320040" lvl="0" marL="320040" rtl="0" algn="l">
              <a:spcBef>
                <a:spcPts val="700"/>
              </a:spcBef>
              <a:spcAft>
                <a:spcPts val="0"/>
              </a:spcAft>
              <a:buSzPts val="1740"/>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67"/>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Proxy Server</a:t>
            </a:r>
            <a:endParaRPr/>
          </a:p>
        </p:txBody>
      </p:sp>
      <p:sp>
        <p:nvSpPr>
          <p:cNvPr id="919" name="Google Shape;919;p67"/>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920" name="Google Shape;920;p67"/>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User sets browser: all Web accesses via proxy </a:t>
            </a:r>
            <a:endParaRPr/>
          </a:p>
          <a:p>
            <a:pPr indent="-320040" lvl="0" marL="320040" rtl="0" algn="l">
              <a:spcBef>
                <a:spcPts val="700"/>
              </a:spcBef>
              <a:spcAft>
                <a:spcPts val="0"/>
              </a:spcAft>
              <a:buSzPts val="1740"/>
              <a:buChar char="◻"/>
            </a:pPr>
            <a:r>
              <a:rPr lang="en-US"/>
              <a:t>Browser sends all HTTP requests to proxy</a:t>
            </a:r>
            <a:endParaRPr/>
          </a:p>
          <a:p>
            <a:pPr indent="-320040" lvl="0" marL="320040" rtl="0" algn="l">
              <a:spcBef>
                <a:spcPts val="700"/>
              </a:spcBef>
              <a:spcAft>
                <a:spcPts val="0"/>
              </a:spcAft>
              <a:buSzPts val="1740"/>
              <a:buChar char="◻"/>
            </a:pPr>
            <a:r>
              <a:rPr lang="en-US"/>
              <a:t>If object in proxy, proxy returns the object</a:t>
            </a:r>
            <a:endParaRPr/>
          </a:p>
          <a:p>
            <a:pPr indent="-320040" lvl="0" marL="320040" rtl="0" algn="l">
              <a:spcBef>
                <a:spcPts val="700"/>
              </a:spcBef>
              <a:spcAft>
                <a:spcPts val="0"/>
              </a:spcAft>
              <a:buSzPts val="1740"/>
              <a:buChar char="◻"/>
            </a:pPr>
            <a:r>
              <a:rPr lang="en-US"/>
              <a:t>If the object is not there, proxy requests object from origin server, returns object to client, stores</a:t>
            </a:r>
            <a:endParaRPr/>
          </a:p>
          <a:p>
            <a:pPr indent="-320040" lvl="0" marL="320040" rtl="0" algn="l">
              <a:spcBef>
                <a:spcPts val="700"/>
              </a:spcBef>
              <a:spcAft>
                <a:spcPts val="0"/>
              </a:spcAft>
              <a:buSzPts val="1740"/>
              <a:buChar char="◻"/>
            </a:pPr>
            <a:r>
              <a:rPr lang="en-US"/>
              <a:t>Reduces </a:t>
            </a:r>
            <a:endParaRPr/>
          </a:p>
          <a:p>
            <a:pPr indent="-274320" lvl="1" marL="640080" rtl="0" algn="l">
              <a:spcBef>
                <a:spcPts val="550"/>
              </a:spcBef>
              <a:spcAft>
                <a:spcPts val="0"/>
              </a:spcAft>
              <a:buSzPts val="1820"/>
              <a:buChar char="🞑"/>
            </a:pPr>
            <a:r>
              <a:rPr lang="en-US"/>
              <a:t>Delay</a:t>
            </a:r>
            <a:endParaRPr/>
          </a:p>
          <a:p>
            <a:pPr indent="-274320" lvl="1" marL="640080" rtl="0" algn="l">
              <a:spcBef>
                <a:spcPts val="550"/>
              </a:spcBef>
              <a:spcAft>
                <a:spcPts val="0"/>
              </a:spcAft>
              <a:buSzPts val="1820"/>
              <a:buChar char="🞑"/>
            </a:pPr>
            <a:r>
              <a:rPr lang="en-US"/>
              <a:t>Network Traffic</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6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Proxy Server Explained</a:t>
            </a:r>
            <a:endParaRPr/>
          </a:p>
        </p:txBody>
      </p:sp>
      <p:sp>
        <p:nvSpPr>
          <p:cNvPr id="926" name="Google Shape;926;p6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pic>
        <p:nvPicPr>
          <p:cNvPr descr="C:\Program Files\Microsoft Office\MEDIA\CAGCAT10\j0205582.wmf" id="927" name="Google Shape;927;p68"/>
          <p:cNvPicPr preferRelativeResize="0"/>
          <p:nvPr/>
        </p:nvPicPr>
        <p:blipFill rotWithShape="1">
          <a:blip r:embed="rId3">
            <a:alphaModFix/>
          </a:blip>
          <a:srcRect b="0" l="0" r="0" t="0"/>
          <a:stretch/>
        </p:blipFill>
        <p:spPr>
          <a:xfrm>
            <a:off x="609600" y="1600200"/>
            <a:ext cx="1776679" cy="1630375"/>
          </a:xfrm>
          <a:prstGeom prst="rect">
            <a:avLst/>
          </a:prstGeom>
          <a:noFill/>
          <a:ln>
            <a:noFill/>
          </a:ln>
        </p:spPr>
      </p:pic>
      <p:pic>
        <p:nvPicPr>
          <p:cNvPr descr="C:\Program Files\Microsoft Office\MEDIA\CAGCAT10\j0205582.wmf" id="928" name="Google Shape;928;p68"/>
          <p:cNvPicPr preferRelativeResize="0"/>
          <p:nvPr/>
        </p:nvPicPr>
        <p:blipFill rotWithShape="1">
          <a:blip r:embed="rId3">
            <a:alphaModFix/>
          </a:blip>
          <a:srcRect b="0" l="0" r="0" t="0"/>
          <a:stretch/>
        </p:blipFill>
        <p:spPr>
          <a:xfrm>
            <a:off x="533400" y="4038600"/>
            <a:ext cx="1776679" cy="1630375"/>
          </a:xfrm>
          <a:prstGeom prst="rect">
            <a:avLst/>
          </a:prstGeom>
          <a:noFill/>
          <a:ln>
            <a:noFill/>
          </a:ln>
        </p:spPr>
      </p:pic>
      <p:pic>
        <p:nvPicPr>
          <p:cNvPr descr="C:\Program Files\Microsoft Office\MEDIA\CAGCAT10\j0292982.wmf" id="929" name="Google Shape;929;p68"/>
          <p:cNvPicPr preferRelativeResize="0"/>
          <p:nvPr/>
        </p:nvPicPr>
        <p:blipFill rotWithShape="1">
          <a:blip r:embed="rId4">
            <a:alphaModFix/>
          </a:blip>
          <a:srcRect b="0" l="0" r="0" t="0"/>
          <a:stretch/>
        </p:blipFill>
        <p:spPr>
          <a:xfrm>
            <a:off x="6705600" y="2747430"/>
            <a:ext cx="1462430" cy="1443570"/>
          </a:xfrm>
          <a:prstGeom prst="rect">
            <a:avLst/>
          </a:prstGeom>
          <a:noFill/>
          <a:ln>
            <a:noFill/>
          </a:ln>
        </p:spPr>
      </p:pic>
      <p:pic>
        <p:nvPicPr>
          <p:cNvPr descr="C:\Program Files\Microsoft Office\MEDIA\CAGCAT10\j0292982.wmf" id="930" name="Google Shape;930;p68"/>
          <p:cNvPicPr preferRelativeResize="0"/>
          <p:nvPr/>
        </p:nvPicPr>
        <p:blipFill rotWithShape="1">
          <a:blip r:embed="rId4">
            <a:alphaModFix/>
          </a:blip>
          <a:srcRect b="0" l="0" r="0" t="0"/>
          <a:stretch/>
        </p:blipFill>
        <p:spPr>
          <a:xfrm>
            <a:off x="3886200" y="2819400"/>
            <a:ext cx="1462430" cy="1443570"/>
          </a:xfrm>
          <a:prstGeom prst="rect">
            <a:avLst/>
          </a:prstGeom>
          <a:noFill/>
          <a:ln>
            <a:noFill/>
          </a:ln>
        </p:spPr>
      </p:pic>
      <p:sp>
        <p:nvSpPr>
          <p:cNvPr id="931" name="Google Shape;931;p68"/>
          <p:cNvSpPr txBox="1"/>
          <p:nvPr/>
        </p:nvSpPr>
        <p:spPr>
          <a:xfrm>
            <a:off x="4391191" y="4343400"/>
            <a:ext cx="7904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Proxy</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Server</a:t>
            </a:r>
            <a:endParaRPr sz="1800">
              <a:solidFill>
                <a:schemeClr val="dk1"/>
              </a:solidFill>
              <a:latin typeface="Twentieth Century"/>
              <a:ea typeface="Twentieth Century"/>
              <a:cs typeface="Twentieth Century"/>
              <a:sym typeface="Twentieth Century"/>
            </a:endParaRPr>
          </a:p>
        </p:txBody>
      </p:sp>
      <p:sp>
        <p:nvSpPr>
          <p:cNvPr id="932" name="Google Shape;932;p68"/>
          <p:cNvSpPr txBox="1"/>
          <p:nvPr/>
        </p:nvSpPr>
        <p:spPr>
          <a:xfrm>
            <a:off x="7162800" y="4419600"/>
            <a:ext cx="7904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Origin</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Server</a:t>
            </a:r>
            <a:endParaRPr sz="1800">
              <a:solidFill>
                <a:schemeClr val="dk1"/>
              </a:solidFill>
              <a:latin typeface="Twentieth Century"/>
              <a:ea typeface="Twentieth Century"/>
              <a:cs typeface="Twentieth Century"/>
              <a:sym typeface="Twentieth Century"/>
            </a:endParaRPr>
          </a:p>
        </p:txBody>
      </p:sp>
      <p:sp>
        <p:nvSpPr>
          <p:cNvPr id="933" name="Google Shape;933;p68"/>
          <p:cNvSpPr txBox="1"/>
          <p:nvPr/>
        </p:nvSpPr>
        <p:spPr>
          <a:xfrm>
            <a:off x="1295400" y="3276600"/>
            <a:ext cx="7056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Client</a:t>
            </a:r>
            <a:endParaRPr sz="1800">
              <a:solidFill>
                <a:schemeClr val="dk1"/>
              </a:solidFill>
              <a:latin typeface="Twentieth Century"/>
              <a:ea typeface="Twentieth Century"/>
              <a:cs typeface="Twentieth Century"/>
              <a:sym typeface="Twentieth Century"/>
            </a:endParaRPr>
          </a:p>
        </p:txBody>
      </p:sp>
      <p:sp>
        <p:nvSpPr>
          <p:cNvPr id="934" name="Google Shape;934;p68"/>
          <p:cNvSpPr txBox="1"/>
          <p:nvPr/>
        </p:nvSpPr>
        <p:spPr>
          <a:xfrm>
            <a:off x="1295400" y="5715000"/>
            <a:ext cx="7056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Client</a:t>
            </a:r>
            <a:endParaRPr sz="1800">
              <a:solidFill>
                <a:schemeClr val="dk1"/>
              </a:solidFill>
              <a:latin typeface="Twentieth Century"/>
              <a:ea typeface="Twentieth Century"/>
              <a:cs typeface="Twentieth Century"/>
              <a:sym typeface="Twentieth Century"/>
            </a:endParaRPr>
          </a:p>
        </p:txBody>
      </p:sp>
      <p:cxnSp>
        <p:nvCxnSpPr>
          <p:cNvPr id="935" name="Google Shape;935;p68"/>
          <p:cNvCxnSpPr/>
          <p:nvPr/>
        </p:nvCxnSpPr>
        <p:spPr>
          <a:xfrm>
            <a:off x="2438400" y="2362200"/>
            <a:ext cx="1447800" cy="7620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936" name="Google Shape;936;p68"/>
          <p:cNvCxnSpPr/>
          <p:nvPr/>
        </p:nvCxnSpPr>
        <p:spPr>
          <a:xfrm>
            <a:off x="5334000" y="3200400"/>
            <a:ext cx="1295400" cy="1588"/>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937" name="Google Shape;937;p68"/>
          <p:cNvCxnSpPr/>
          <p:nvPr/>
        </p:nvCxnSpPr>
        <p:spPr>
          <a:xfrm rot="10800000">
            <a:off x="5410200" y="3657600"/>
            <a:ext cx="1143000" cy="1588"/>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938" name="Google Shape;938;p68"/>
          <p:cNvCxnSpPr/>
          <p:nvPr/>
        </p:nvCxnSpPr>
        <p:spPr>
          <a:xfrm flipH="1" rot="10800000">
            <a:off x="2362200" y="3810000"/>
            <a:ext cx="1447800" cy="685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939" name="Google Shape;939;p68"/>
          <p:cNvCxnSpPr/>
          <p:nvPr/>
        </p:nvCxnSpPr>
        <p:spPr>
          <a:xfrm rot="10800000">
            <a:off x="2209800" y="2743200"/>
            <a:ext cx="1371600" cy="6858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cxnSp>
        <p:nvCxnSpPr>
          <p:cNvPr id="940" name="Google Shape;940;p68"/>
          <p:cNvCxnSpPr/>
          <p:nvPr/>
        </p:nvCxnSpPr>
        <p:spPr>
          <a:xfrm flipH="1">
            <a:off x="2514600" y="4191000"/>
            <a:ext cx="1371600" cy="609600"/>
          </a:xfrm>
          <a:prstGeom prst="straightConnector1">
            <a:avLst/>
          </a:prstGeom>
          <a:noFill/>
          <a:ln cap="flat" cmpd="sng" w="19050">
            <a:solidFill>
              <a:schemeClr val="dk1"/>
            </a:solidFill>
            <a:prstDash val="solid"/>
            <a:round/>
            <a:headEnd len="sm" w="sm" type="none"/>
            <a:tailEnd len="med" w="med" type="stealth"/>
          </a:ln>
          <a:effectLst>
            <a:outerShdw blurRad="38100" rotWithShape="0" dir="5400000" dist="30000">
              <a:srgbClr val="000000">
                <a:alpha val="44705"/>
              </a:srgbClr>
            </a:outerShdw>
          </a:effectLst>
        </p:spPr>
      </p:cxnSp>
      <p:sp>
        <p:nvSpPr>
          <p:cNvPr id="941" name="Google Shape;941;p68"/>
          <p:cNvSpPr txBox="1"/>
          <p:nvPr/>
        </p:nvSpPr>
        <p:spPr>
          <a:xfrm>
            <a:off x="3048000" y="2362200"/>
            <a:ext cx="8911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Request</a:t>
            </a:r>
            <a:endParaRPr sz="1800">
              <a:solidFill>
                <a:schemeClr val="dk1"/>
              </a:solidFill>
              <a:latin typeface="Twentieth Century"/>
              <a:ea typeface="Twentieth Century"/>
              <a:cs typeface="Twentieth Century"/>
              <a:sym typeface="Twentieth Century"/>
            </a:endParaRPr>
          </a:p>
        </p:txBody>
      </p:sp>
      <p:sp>
        <p:nvSpPr>
          <p:cNvPr id="942" name="Google Shape;942;p68"/>
          <p:cNvSpPr txBox="1"/>
          <p:nvPr/>
        </p:nvSpPr>
        <p:spPr>
          <a:xfrm>
            <a:off x="2438400" y="3276600"/>
            <a:ext cx="10209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Response</a:t>
            </a:r>
            <a:endParaRPr sz="1800">
              <a:solidFill>
                <a:schemeClr val="dk1"/>
              </a:solidFill>
              <a:latin typeface="Twentieth Century"/>
              <a:ea typeface="Twentieth Century"/>
              <a:cs typeface="Twentieth Century"/>
              <a:sym typeface="Twentieth Century"/>
            </a:endParaRPr>
          </a:p>
        </p:txBody>
      </p:sp>
      <p:sp>
        <p:nvSpPr>
          <p:cNvPr id="943" name="Google Shape;943;p68"/>
          <p:cNvSpPr txBox="1"/>
          <p:nvPr/>
        </p:nvSpPr>
        <p:spPr>
          <a:xfrm>
            <a:off x="5181600" y="2819400"/>
            <a:ext cx="8911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Request</a:t>
            </a:r>
            <a:endParaRPr sz="1800">
              <a:solidFill>
                <a:schemeClr val="dk1"/>
              </a:solidFill>
              <a:latin typeface="Twentieth Century"/>
              <a:ea typeface="Twentieth Century"/>
              <a:cs typeface="Twentieth Century"/>
              <a:sym typeface="Twentieth Century"/>
            </a:endParaRPr>
          </a:p>
        </p:txBody>
      </p:sp>
      <p:sp>
        <p:nvSpPr>
          <p:cNvPr id="944" name="Google Shape;944;p68"/>
          <p:cNvSpPr txBox="1"/>
          <p:nvPr/>
        </p:nvSpPr>
        <p:spPr>
          <a:xfrm>
            <a:off x="5791200" y="3733800"/>
            <a:ext cx="10209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Response</a:t>
            </a:r>
            <a:endParaRPr sz="1800">
              <a:solidFill>
                <a:schemeClr val="dk1"/>
              </a:solidFill>
              <a:latin typeface="Twentieth Century"/>
              <a:ea typeface="Twentieth Century"/>
              <a:cs typeface="Twentieth Century"/>
              <a:sym typeface="Twentieth Century"/>
            </a:endParaRPr>
          </a:p>
        </p:txBody>
      </p:sp>
      <p:sp>
        <p:nvSpPr>
          <p:cNvPr id="945" name="Google Shape;945;p68"/>
          <p:cNvSpPr txBox="1"/>
          <p:nvPr/>
        </p:nvSpPr>
        <p:spPr>
          <a:xfrm>
            <a:off x="3276600" y="4572000"/>
            <a:ext cx="10209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Response</a:t>
            </a:r>
            <a:endParaRPr sz="1800">
              <a:solidFill>
                <a:schemeClr val="dk1"/>
              </a:solidFill>
              <a:latin typeface="Twentieth Century"/>
              <a:ea typeface="Twentieth Century"/>
              <a:cs typeface="Twentieth Century"/>
              <a:sym typeface="Twentieth Century"/>
            </a:endParaRPr>
          </a:p>
        </p:txBody>
      </p:sp>
      <p:sp>
        <p:nvSpPr>
          <p:cNvPr id="946" name="Google Shape;946;p68"/>
          <p:cNvSpPr txBox="1"/>
          <p:nvPr/>
        </p:nvSpPr>
        <p:spPr>
          <a:xfrm>
            <a:off x="1752600" y="3962400"/>
            <a:ext cx="89114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Request</a:t>
            </a:r>
            <a:endParaRPr sz="1800">
              <a:solidFill>
                <a:schemeClr val="dk1"/>
              </a:solidFill>
              <a:latin typeface="Twentieth Century"/>
              <a:ea typeface="Twentieth Century"/>
              <a:cs typeface="Twentieth Century"/>
              <a:sym typeface="Twentieth Century"/>
            </a:endParaRPr>
          </a:p>
        </p:txBody>
      </p:sp>
      <p:sp>
        <p:nvSpPr>
          <p:cNvPr id="947" name="Google Shape;947;p68"/>
          <p:cNvSpPr txBox="1"/>
          <p:nvPr/>
        </p:nvSpPr>
        <p:spPr>
          <a:xfrm>
            <a:off x="2819400" y="26670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1</a:t>
            </a:r>
            <a:endParaRPr sz="1800">
              <a:solidFill>
                <a:schemeClr val="dk1"/>
              </a:solidFill>
              <a:latin typeface="Twentieth Century"/>
              <a:ea typeface="Twentieth Century"/>
              <a:cs typeface="Twentieth Century"/>
              <a:sym typeface="Twentieth Century"/>
            </a:endParaRPr>
          </a:p>
        </p:txBody>
      </p:sp>
      <p:sp>
        <p:nvSpPr>
          <p:cNvPr id="948" name="Google Shape;948;p68"/>
          <p:cNvSpPr txBox="1"/>
          <p:nvPr/>
        </p:nvSpPr>
        <p:spPr>
          <a:xfrm>
            <a:off x="6318096" y="28194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2</a:t>
            </a:r>
            <a:endParaRPr sz="1800">
              <a:solidFill>
                <a:schemeClr val="dk1"/>
              </a:solidFill>
              <a:latin typeface="Twentieth Century"/>
              <a:ea typeface="Twentieth Century"/>
              <a:cs typeface="Twentieth Century"/>
              <a:sym typeface="Twentieth Century"/>
            </a:endParaRPr>
          </a:p>
        </p:txBody>
      </p:sp>
      <p:sp>
        <p:nvSpPr>
          <p:cNvPr id="949" name="Google Shape;949;p68"/>
          <p:cNvSpPr txBox="1"/>
          <p:nvPr/>
        </p:nvSpPr>
        <p:spPr>
          <a:xfrm>
            <a:off x="5410200" y="37338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3</a:t>
            </a:r>
            <a:endParaRPr sz="1800">
              <a:solidFill>
                <a:schemeClr val="dk1"/>
              </a:solidFill>
              <a:latin typeface="Twentieth Century"/>
              <a:ea typeface="Twentieth Century"/>
              <a:cs typeface="Twentieth Century"/>
              <a:sym typeface="Twentieth Century"/>
            </a:endParaRPr>
          </a:p>
        </p:txBody>
      </p:sp>
      <p:sp>
        <p:nvSpPr>
          <p:cNvPr id="950" name="Google Shape;950;p68"/>
          <p:cNvSpPr txBox="1"/>
          <p:nvPr/>
        </p:nvSpPr>
        <p:spPr>
          <a:xfrm>
            <a:off x="2209800" y="28956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4</a:t>
            </a:r>
            <a:endParaRPr sz="1800">
              <a:solidFill>
                <a:schemeClr val="dk1"/>
              </a:solidFill>
              <a:latin typeface="Twentieth Century"/>
              <a:ea typeface="Twentieth Century"/>
              <a:cs typeface="Twentieth Century"/>
              <a:sym typeface="Twentieth Century"/>
            </a:endParaRPr>
          </a:p>
        </p:txBody>
      </p:sp>
      <p:sp>
        <p:nvSpPr>
          <p:cNvPr id="951" name="Google Shape;951;p68"/>
          <p:cNvSpPr txBox="1"/>
          <p:nvPr/>
        </p:nvSpPr>
        <p:spPr>
          <a:xfrm>
            <a:off x="3429000" y="35814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5</a:t>
            </a:r>
            <a:endParaRPr sz="1800">
              <a:solidFill>
                <a:schemeClr val="dk1"/>
              </a:solidFill>
              <a:latin typeface="Twentieth Century"/>
              <a:ea typeface="Twentieth Century"/>
              <a:cs typeface="Twentieth Century"/>
              <a:sym typeface="Twentieth Century"/>
            </a:endParaRPr>
          </a:p>
        </p:txBody>
      </p:sp>
      <p:sp>
        <p:nvSpPr>
          <p:cNvPr id="952" name="Google Shape;952;p68"/>
          <p:cNvSpPr txBox="1"/>
          <p:nvPr/>
        </p:nvSpPr>
        <p:spPr>
          <a:xfrm>
            <a:off x="2667000" y="4800600"/>
            <a:ext cx="3113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6</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69"/>
          <p:cNvSpPr txBox="1"/>
          <p:nvPr>
            <p:ph idx="1" type="body"/>
          </p:nvPr>
        </p:nvSpPr>
        <p:spPr>
          <a:xfrm>
            <a:off x="1371600" y="2743200"/>
            <a:ext cx="7123113" cy="167322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80"/>
              <a:buNone/>
            </a:pPr>
            <a:r>
              <a:t/>
            </a:r>
            <a:endParaRPr/>
          </a:p>
        </p:txBody>
      </p:sp>
      <p:sp>
        <p:nvSpPr>
          <p:cNvPr id="958" name="Google Shape;958;p69"/>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FFFF"/>
              </a:buClr>
              <a:buSzPts val="4400"/>
              <a:buFont typeface="Twentieth Century"/>
              <a:buNone/>
            </a:pPr>
            <a:r>
              <a:rPr lang="en-US"/>
              <a:t>Electronic Mail</a:t>
            </a:r>
            <a:endParaRPr/>
          </a:p>
        </p:txBody>
      </p:sp>
      <p:sp>
        <p:nvSpPr>
          <p:cNvPr id="959" name="Google Shape;959;p69"/>
          <p:cNvSpPr txBox="1"/>
          <p:nvPr>
            <p:ph idx="12" type="sldNum"/>
          </p:nvPr>
        </p:nvSpPr>
        <p:spPr>
          <a:xfrm>
            <a:off x="0" y="1752600"/>
            <a:ext cx="1295400" cy="701676"/>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70"/>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Architecture</a:t>
            </a:r>
            <a:endParaRPr/>
          </a:p>
        </p:txBody>
      </p:sp>
      <p:sp>
        <p:nvSpPr>
          <p:cNvPr id="965" name="Google Shape;965;p70"/>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966" name="Google Shape;966;p70"/>
          <p:cNvSpPr txBox="1"/>
          <p:nvPr>
            <p:ph idx="1" type="body"/>
          </p:nvPr>
        </p:nvSpPr>
        <p:spPr>
          <a:xfrm>
            <a:off x="612648" y="1600200"/>
            <a:ext cx="8153400" cy="1447800"/>
          </a:xfrm>
          <a:prstGeom prst="rect">
            <a:avLst/>
          </a:prstGeom>
          <a:noFill/>
          <a:ln>
            <a:noFill/>
          </a:ln>
        </p:spPr>
        <p:txBody>
          <a:bodyPr anchorCtr="0" anchor="t" bIns="45700" lIns="91425" spcFirstLastPara="1" rIns="91425" wrap="square" tIns="45700">
            <a:normAutofit lnSpcReduction="10000"/>
          </a:bodyPr>
          <a:lstStyle/>
          <a:p>
            <a:pPr indent="-320040" lvl="0" marL="320040" rtl="0" algn="l">
              <a:spcBef>
                <a:spcPts val="0"/>
              </a:spcBef>
              <a:spcAft>
                <a:spcPts val="0"/>
              </a:spcAft>
              <a:buSzPts val="1740"/>
              <a:buChar char="◻"/>
            </a:pPr>
            <a:r>
              <a:rPr lang="en-US"/>
              <a:t>System comprises of</a:t>
            </a:r>
            <a:endParaRPr/>
          </a:p>
          <a:p>
            <a:pPr indent="-274320" lvl="1" marL="640080" rtl="0" algn="l">
              <a:spcBef>
                <a:spcPts val="550"/>
              </a:spcBef>
              <a:spcAft>
                <a:spcPts val="0"/>
              </a:spcAft>
              <a:buSzPts val="1820"/>
              <a:buChar char="🞑"/>
            </a:pPr>
            <a:r>
              <a:rPr lang="en-US"/>
              <a:t>User Agents</a:t>
            </a:r>
            <a:endParaRPr/>
          </a:p>
          <a:p>
            <a:pPr indent="-274320" lvl="1" marL="640080" rtl="0" algn="l">
              <a:spcBef>
                <a:spcPts val="550"/>
              </a:spcBef>
              <a:spcAft>
                <a:spcPts val="0"/>
              </a:spcAft>
              <a:buSzPts val="1820"/>
              <a:buChar char="🞑"/>
            </a:pPr>
            <a:r>
              <a:rPr lang="en-US"/>
              <a:t>Mail Servers</a:t>
            </a:r>
            <a:endParaRPr/>
          </a:p>
        </p:txBody>
      </p:sp>
      <p:pic>
        <p:nvPicPr>
          <p:cNvPr descr="C:\Program Files\Microsoft Office\MEDIA\CAGCAT10\j0205582.wmf" id="967" name="Google Shape;967;p70"/>
          <p:cNvPicPr preferRelativeResize="0"/>
          <p:nvPr/>
        </p:nvPicPr>
        <p:blipFill rotWithShape="1">
          <a:blip r:embed="rId3">
            <a:alphaModFix/>
          </a:blip>
          <a:srcRect b="0" l="0" r="0" t="0"/>
          <a:stretch/>
        </p:blipFill>
        <p:spPr>
          <a:xfrm>
            <a:off x="1371600" y="5029200"/>
            <a:ext cx="887033" cy="813989"/>
          </a:xfrm>
          <a:prstGeom prst="rect">
            <a:avLst/>
          </a:prstGeom>
          <a:noFill/>
          <a:ln>
            <a:noFill/>
          </a:ln>
        </p:spPr>
      </p:pic>
      <p:pic>
        <p:nvPicPr>
          <p:cNvPr descr="C:\Program Files\Microsoft Office\MEDIA\CAGCAT10\j0292982.wmf" id="968" name="Google Shape;968;p70"/>
          <p:cNvPicPr preferRelativeResize="0"/>
          <p:nvPr/>
        </p:nvPicPr>
        <p:blipFill rotWithShape="1">
          <a:blip r:embed="rId4">
            <a:alphaModFix/>
          </a:blip>
          <a:srcRect b="0" l="0" r="0" t="0"/>
          <a:stretch/>
        </p:blipFill>
        <p:spPr>
          <a:xfrm>
            <a:off x="2514600" y="4191000"/>
            <a:ext cx="730140" cy="720724"/>
          </a:xfrm>
          <a:prstGeom prst="rect">
            <a:avLst/>
          </a:prstGeom>
          <a:noFill/>
          <a:ln>
            <a:noFill/>
          </a:ln>
        </p:spPr>
      </p:pic>
      <p:pic>
        <p:nvPicPr>
          <p:cNvPr descr="C:\Program Files\Microsoft Office\MEDIA\CAGCAT10\j0205582.wmf" id="969" name="Google Shape;969;p70"/>
          <p:cNvPicPr preferRelativeResize="0"/>
          <p:nvPr/>
        </p:nvPicPr>
        <p:blipFill rotWithShape="1">
          <a:blip r:embed="rId3">
            <a:alphaModFix/>
          </a:blip>
          <a:srcRect b="0" l="0" r="0" t="0"/>
          <a:stretch/>
        </p:blipFill>
        <p:spPr>
          <a:xfrm>
            <a:off x="1295400" y="3429000"/>
            <a:ext cx="887033" cy="813989"/>
          </a:xfrm>
          <a:prstGeom prst="rect">
            <a:avLst/>
          </a:prstGeom>
          <a:noFill/>
          <a:ln>
            <a:noFill/>
          </a:ln>
        </p:spPr>
      </p:pic>
      <p:pic>
        <p:nvPicPr>
          <p:cNvPr descr="C:\Program Files\Microsoft Office\MEDIA\CAGCAT10\j0292982.wmf" id="970" name="Google Shape;970;p70"/>
          <p:cNvPicPr preferRelativeResize="0"/>
          <p:nvPr/>
        </p:nvPicPr>
        <p:blipFill rotWithShape="1">
          <a:blip r:embed="rId4">
            <a:alphaModFix/>
          </a:blip>
          <a:srcRect b="0" l="0" r="0" t="0"/>
          <a:stretch/>
        </p:blipFill>
        <p:spPr>
          <a:xfrm>
            <a:off x="6172200" y="4191000"/>
            <a:ext cx="730140" cy="720724"/>
          </a:xfrm>
          <a:prstGeom prst="rect">
            <a:avLst/>
          </a:prstGeom>
          <a:noFill/>
          <a:ln>
            <a:noFill/>
          </a:ln>
        </p:spPr>
      </p:pic>
      <p:pic>
        <p:nvPicPr>
          <p:cNvPr descr="C:\Program Files\Microsoft Office\MEDIA\CAGCAT10\j0205582.wmf" id="971" name="Google Shape;971;p70"/>
          <p:cNvPicPr preferRelativeResize="0"/>
          <p:nvPr/>
        </p:nvPicPr>
        <p:blipFill rotWithShape="1">
          <a:blip r:embed="rId3">
            <a:alphaModFix/>
          </a:blip>
          <a:srcRect b="0" l="0" r="0" t="0"/>
          <a:stretch/>
        </p:blipFill>
        <p:spPr>
          <a:xfrm>
            <a:off x="7315200" y="3352800"/>
            <a:ext cx="887033" cy="813989"/>
          </a:xfrm>
          <a:prstGeom prst="rect">
            <a:avLst/>
          </a:prstGeom>
          <a:noFill/>
          <a:ln>
            <a:noFill/>
          </a:ln>
        </p:spPr>
      </p:pic>
      <p:pic>
        <p:nvPicPr>
          <p:cNvPr descr="C:\Program Files\Microsoft Office\MEDIA\CAGCAT10\j0205582.wmf" id="972" name="Google Shape;972;p70"/>
          <p:cNvPicPr preferRelativeResize="0"/>
          <p:nvPr/>
        </p:nvPicPr>
        <p:blipFill rotWithShape="1">
          <a:blip r:embed="rId3">
            <a:alphaModFix/>
          </a:blip>
          <a:srcRect b="0" l="0" r="0" t="0"/>
          <a:stretch/>
        </p:blipFill>
        <p:spPr>
          <a:xfrm>
            <a:off x="7315200" y="4876800"/>
            <a:ext cx="887033" cy="813989"/>
          </a:xfrm>
          <a:prstGeom prst="rect">
            <a:avLst/>
          </a:prstGeom>
          <a:noFill/>
          <a:ln>
            <a:noFill/>
          </a:ln>
        </p:spPr>
      </p:pic>
      <p:sp>
        <p:nvSpPr>
          <p:cNvPr id="973" name="Google Shape;973;p70"/>
          <p:cNvSpPr txBox="1"/>
          <p:nvPr/>
        </p:nvSpPr>
        <p:spPr>
          <a:xfrm>
            <a:off x="6096000" y="5029200"/>
            <a:ext cx="7904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Mail </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Server</a:t>
            </a:r>
            <a:endParaRPr sz="1800">
              <a:solidFill>
                <a:schemeClr val="dk1"/>
              </a:solidFill>
              <a:latin typeface="Twentieth Century"/>
              <a:ea typeface="Twentieth Century"/>
              <a:cs typeface="Twentieth Century"/>
              <a:sym typeface="Twentieth Century"/>
            </a:endParaRPr>
          </a:p>
        </p:txBody>
      </p:sp>
      <p:sp>
        <p:nvSpPr>
          <p:cNvPr id="974" name="Google Shape;974;p70"/>
          <p:cNvSpPr txBox="1"/>
          <p:nvPr/>
        </p:nvSpPr>
        <p:spPr>
          <a:xfrm>
            <a:off x="2590800" y="4953000"/>
            <a:ext cx="7904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Mail </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Server</a:t>
            </a:r>
            <a:endParaRPr sz="1800">
              <a:solidFill>
                <a:schemeClr val="dk1"/>
              </a:solidFill>
              <a:latin typeface="Twentieth Century"/>
              <a:ea typeface="Twentieth Century"/>
              <a:cs typeface="Twentieth Century"/>
              <a:sym typeface="Twentieth Century"/>
            </a:endParaRPr>
          </a:p>
        </p:txBody>
      </p:sp>
      <p:sp>
        <p:nvSpPr>
          <p:cNvPr id="975" name="Google Shape;975;p70"/>
          <p:cNvSpPr txBox="1"/>
          <p:nvPr/>
        </p:nvSpPr>
        <p:spPr>
          <a:xfrm>
            <a:off x="1447800" y="3200400"/>
            <a:ext cx="11979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User Agent</a:t>
            </a:r>
            <a:endParaRPr sz="1800">
              <a:solidFill>
                <a:schemeClr val="dk1"/>
              </a:solidFill>
              <a:latin typeface="Twentieth Century"/>
              <a:ea typeface="Twentieth Century"/>
              <a:cs typeface="Twentieth Century"/>
              <a:sym typeface="Twentieth Century"/>
            </a:endParaRPr>
          </a:p>
        </p:txBody>
      </p:sp>
      <p:sp>
        <p:nvSpPr>
          <p:cNvPr id="976" name="Google Shape;976;p70"/>
          <p:cNvSpPr txBox="1"/>
          <p:nvPr/>
        </p:nvSpPr>
        <p:spPr>
          <a:xfrm>
            <a:off x="1295400" y="5943600"/>
            <a:ext cx="11979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User Agent</a:t>
            </a:r>
            <a:endParaRPr sz="1800">
              <a:solidFill>
                <a:schemeClr val="dk1"/>
              </a:solidFill>
              <a:latin typeface="Twentieth Century"/>
              <a:ea typeface="Twentieth Century"/>
              <a:cs typeface="Twentieth Century"/>
              <a:sym typeface="Twentieth Century"/>
            </a:endParaRPr>
          </a:p>
        </p:txBody>
      </p:sp>
      <p:sp>
        <p:nvSpPr>
          <p:cNvPr id="977" name="Google Shape;977;p70"/>
          <p:cNvSpPr txBox="1"/>
          <p:nvPr/>
        </p:nvSpPr>
        <p:spPr>
          <a:xfrm>
            <a:off x="7315200" y="5791200"/>
            <a:ext cx="11979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User Agent</a:t>
            </a:r>
            <a:endParaRPr sz="1800">
              <a:solidFill>
                <a:schemeClr val="dk1"/>
              </a:solidFill>
              <a:latin typeface="Twentieth Century"/>
              <a:ea typeface="Twentieth Century"/>
              <a:cs typeface="Twentieth Century"/>
              <a:sym typeface="Twentieth Century"/>
            </a:endParaRPr>
          </a:p>
        </p:txBody>
      </p:sp>
      <p:sp>
        <p:nvSpPr>
          <p:cNvPr id="978" name="Google Shape;978;p70"/>
          <p:cNvSpPr txBox="1"/>
          <p:nvPr/>
        </p:nvSpPr>
        <p:spPr>
          <a:xfrm>
            <a:off x="7391400" y="2971800"/>
            <a:ext cx="11979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User Agent</a:t>
            </a:r>
            <a:endParaRPr sz="1800">
              <a:solidFill>
                <a:schemeClr val="dk1"/>
              </a:solidFill>
              <a:latin typeface="Twentieth Century"/>
              <a:ea typeface="Twentieth Century"/>
              <a:cs typeface="Twentieth Century"/>
              <a:sym typeface="Twentieth Century"/>
            </a:endParaRPr>
          </a:p>
        </p:txBody>
      </p:sp>
      <p:cxnSp>
        <p:nvCxnSpPr>
          <p:cNvPr id="979" name="Google Shape;979;p70"/>
          <p:cNvCxnSpPr>
            <a:stCxn id="968" idx="3"/>
            <a:endCxn id="970" idx="1"/>
          </p:cNvCxnSpPr>
          <p:nvPr/>
        </p:nvCxnSpPr>
        <p:spPr>
          <a:xfrm>
            <a:off x="3244740" y="4551362"/>
            <a:ext cx="2927400" cy="0"/>
          </a:xfrm>
          <a:prstGeom prst="straightConnector1">
            <a:avLst/>
          </a:prstGeom>
          <a:noFill/>
          <a:ln cap="flat" cmpd="sng" w="19050">
            <a:solidFill>
              <a:schemeClr val="dk1"/>
            </a:solidFill>
            <a:prstDash val="solid"/>
            <a:round/>
            <a:headEnd len="med" w="med" type="stealth"/>
            <a:tailEnd len="med" w="med" type="stealth"/>
          </a:ln>
          <a:effectLst>
            <a:outerShdw blurRad="38100" rotWithShape="0" dir="5400000" dist="30000">
              <a:srgbClr val="000000">
                <a:alpha val="44705"/>
              </a:srgbClr>
            </a:outerShdw>
          </a:effectLst>
        </p:spPr>
      </p:cxnSp>
      <p:sp>
        <p:nvSpPr>
          <p:cNvPr id="980" name="Google Shape;980;p70"/>
          <p:cNvSpPr/>
          <p:nvPr/>
        </p:nvSpPr>
        <p:spPr>
          <a:xfrm>
            <a:off x="914400" y="3048000"/>
            <a:ext cx="2743200" cy="3048000"/>
          </a:xfrm>
          <a:prstGeom prst="ellipse">
            <a:avLst/>
          </a:prstGeom>
          <a:solidFill>
            <a:schemeClr val="accent1">
              <a:alpha val="15686"/>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81" name="Google Shape;981;p70"/>
          <p:cNvSpPr/>
          <p:nvPr/>
        </p:nvSpPr>
        <p:spPr>
          <a:xfrm>
            <a:off x="5867400" y="3048000"/>
            <a:ext cx="2743200" cy="3048000"/>
          </a:xfrm>
          <a:prstGeom prst="ellipse">
            <a:avLst/>
          </a:prstGeom>
          <a:solidFill>
            <a:schemeClr val="accent1">
              <a:alpha val="15686"/>
            </a:schemeClr>
          </a:solidFill>
          <a:ln cap="flat" cmpd="sng" w="19050">
            <a:solidFill>
              <a:srgbClr val="6C84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982" name="Google Shape;982;p70"/>
          <p:cNvSpPr txBox="1"/>
          <p:nvPr/>
        </p:nvSpPr>
        <p:spPr>
          <a:xfrm>
            <a:off x="4038600" y="4724400"/>
            <a:ext cx="13940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Mail Transfer</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1"/>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User Agent</a:t>
            </a:r>
            <a:endParaRPr/>
          </a:p>
        </p:txBody>
      </p:sp>
      <p:sp>
        <p:nvSpPr>
          <p:cNvPr id="988" name="Google Shape;988;p7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989" name="Google Shape;989;p71"/>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User Agent</a:t>
            </a:r>
            <a:endParaRPr/>
          </a:p>
          <a:p>
            <a:pPr indent="-274320" lvl="1" marL="640080" rtl="0" algn="l">
              <a:spcBef>
                <a:spcPts val="550"/>
              </a:spcBef>
              <a:spcAft>
                <a:spcPts val="0"/>
              </a:spcAft>
              <a:buSzPts val="1820"/>
              <a:buChar char="🞑"/>
            </a:pPr>
            <a:r>
              <a:rPr lang="en-US"/>
              <a:t>Mail Client</a:t>
            </a:r>
            <a:endParaRPr/>
          </a:p>
          <a:p>
            <a:pPr indent="-274320" lvl="1" marL="640080" rtl="0" algn="l">
              <a:spcBef>
                <a:spcPts val="550"/>
              </a:spcBef>
              <a:spcAft>
                <a:spcPts val="0"/>
              </a:spcAft>
              <a:buSzPts val="1820"/>
              <a:buChar char="🞑"/>
            </a:pPr>
            <a:r>
              <a:rPr lang="en-US"/>
              <a:t>Purpose - Composing, editing, reading mail messages</a:t>
            </a:r>
            <a:endParaRPr/>
          </a:p>
          <a:p>
            <a:pPr indent="-274320" lvl="1" marL="640080" rtl="0" algn="l">
              <a:spcBef>
                <a:spcPts val="550"/>
              </a:spcBef>
              <a:spcAft>
                <a:spcPts val="0"/>
              </a:spcAft>
              <a:buSzPts val="1820"/>
              <a:buChar char="🞑"/>
            </a:pPr>
            <a:r>
              <a:rPr lang="en-US"/>
              <a:t>Eudora, Outlook</a:t>
            </a:r>
            <a:endParaRPr/>
          </a:p>
          <a:p>
            <a:pPr indent="-320040" lvl="0" marL="320040" rtl="0" algn="l">
              <a:spcBef>
                <a:spcPts val="700"/>
              </a:spcBef>
              <a:spcAft>
                <a:spcPts val="0"/>
              </a:spcAft>
              <a:buSzPts val="1740"/>
              <a:buChar char="◻"/>
            </a:pPr>
            <a:r>
              <a:rPr lang="en-US"/>
              <a:t>Mail Server</a:t>
            </a:r>
            <a:endParaRPr/>
          </a:p>
          <a:p>
            <a:pPr indent="-274320" lvl="1" marL="640080" rtl="0" algn="l">
              <a:spcBef>
                <a:spcPts val="550"/>
              </a:spcBef>
              <a:spcAft>
                <a:spcPts val="0"/>
              </a:spcAft>
              <a:buSzPts val="1820"/>
              <a:buChar char="🞑"/>
            </a:pPr>
            <a:r>
              <a:rPr lang="en-US"/>
              <a:t>Mailbox contains incoming messages for user</a:t>
            </a:r>
            <a:endParaRPr/>
          </a:p>
          <a:p>
            <a:pPr indent="-274320" lvl="1" marL="640080" rtl="0" algn="l">
              <a:spcBef>
                <a:spcPts val="550"/>
              </a:spcBef>
              <a:spcAft>
                <a:spcPts val="0"/>
              </a:spcAft>
              <a:buSzPts val="1820"/>
              <a:buChar char="🞑"/>
            </a:pPr>
            <a:r>
              <a:rPr lang="en-US"/>
              <a:t>Message queue of outgoing mail messages</a:t>
            </a:r>
            <a:endParaRPr/>
          </a:p>
          <a:p>
            <a:pPr indent="-274320" lvl="1" marL="640080" rtl="0" algn="l">
              <a:spcBef>
                <a:spcPts val="550"/>
              </a:spcBef>
              <a:spcAft>
                <a:spcPts val="0"/>
              </a:spcAft>
              <a:buSzPts val="1820"/>
              <a:buChar char="🞑"/>
            </a:pPr>
            <a:r>
              <a:rPr lang="en-US"/>
              <a:t>SMTP protocol between mail servers to send email messages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Email Protocols</a:t>
            </a:r>
            <a:endParaRPr/>
          </a:p>
        </p:txBody>
      </p:sp>
      <p:sp>
        <p:nvSpPr>
          <p:cNvPr id="996" name="Google Shape;996;p72"/>
          <p:cNvSpPr txBox="1"/>
          <p:nvPr>
            <p:ph idx="1" type="body"/>
          </p:nvPr>
        </p:nvSpPr>
        <p:spPr>
          <a:xfrm>
            <a:off x="304800" y="1752600"/>
            <a:ext cx="4177480" cy="479144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00"/>
              <a:buNone/>
            </a:pPr>
            <a:r>
              <a:rPr lang="en-US" sz="2000"/>
              <a:t>Email is a store-and-forward method of sending, storing, and retrieving electronic messages across a network. Email messages are stored in databases on mail servers. Email clients communicate with mail servers to send and receive email.</a:t>
            </a:r>
            <a:endParaRPr/>
          </a:p>
          <a:p>
            <a:pPr indent="0" lvl="0" marL="0" rtl="0" algn="l">
              <a:spcBef>
                <a:spcPts val="700"/>
              </a:spcBef>
              <a:spcAft>
                <a:spcPts val="0"/>
              </a:spcAft>
              <a:buSzPts val="1200"/>
              <a:buNone/>
            </a:pPr>
            <a:r>
              <a:rPr lang="en-US" sz="2000"/>
              <a:t>The email protocols used for operation are: </a:t>
            </a:r>
            <a:endParaRPr/>
          </a:p>
          <a:p>
            <a:pPr indent="-228600" lvl="2" marL="914400" rtl="0" algn="l">
              <a:spcBef>
                <a:spcPts val="500"/>
              </a:spcBef>
              <a:spcAft>
                <a:spcPts val="0"/>
              </a:spcAft>
              <a:buSzPts val="1500"/>
              <a:buFont typeface="Arial"/>
              <a:buChar char="•"/>
            </a:pPr>
            <a:r>
              <a:rPr lang="en-US" sz="2000"/>
              <a:t>Simple Mail Transfer Protocol (SMTP) – used to send mail.</a:t>
            </a:r>
            <a:endParaRPr/>
          </a:p>
          <a:p>
            <a:pPr indent="-228600" lvl="2" marL="914400" rtl="0" algn="l">
              <a:spcBef>
                <a:spcPts val="500"/>
              </a:spcBef>
              <a:spcAft>
                <a:spcPts val="0"/>
              </a:spcAft>
              <a:buSzPts val="1500"/>
              <a:buFont typeface="Arial"/>
              <a:buChar char="•"/>
            </a:pPr>
            <a:r>
              <a:rPr lang="en-US" sz="2000"/>
              <a:t>Post Office Protocol (POP) &amp; IMAP – used for clients to receive mail.</a:t>
            </a:r>
            <a:endParaRPr/>
          </a:p>
        </p:txBody>
      </p:sp>
      <p:pic>
        <p:nvPicPr>
          <p:cNvPr id="997" name="Google Shape;997;p72"/>
          <p:cNvPicPr preferRelativeResize="0"/>
          <p:nvPr/>
        </p:nvPicPr>
        <p:blipFill rotWithShape="1">
          <a:blip r:embed="rId3">
            <a:alphaModFix/>
          </a:blip>
          <a:srcRect b="0" l="0" r="0" t="0"/>
          <a:stretch/>
        </p:blipFill>
        <p:spPr>
          <a:xfrm>
            <a:off x="4495800" y="1905000"/>
            <a:ext cx="4706743" cy="4433888"/>
          </a:xfrm>
          <a:prstGeom prst="rect">
            <a:avLst/>
          </a:prstGeom>
          <a:noFill/>
          <a:ln>
            <a:noFill/>
          </a:ln>
        </p:spPr>
      </p:pic>
    </p:spTree>
  </p:cSld>
  <p:clrMapOvr>
    <a:masterClrMapping/>
  </p:clrMapOvr>
  <p:transition spd="slow">
    <p:wipe dir="l"/>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73"/>
          <p:cNvSpPr txBox="1"/>
          <p:nvPr>
            <p:ph type="title"/>
          </p:nvPr>
        </p:nvSpPr>
        <p:spPr>
          <a:xfrm>
            <a:off x="609600" y="228600"/>
            <a:ext cx="8001000" cy="101006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SMTP</a:t>
            </a:r>
            <a:endParaRPr/>
          </a:p>
        </p:txBody>
      </p:sp>
      <p:sp>
        <p:nvSpPr>
          <p:cNvPr id="1004" name="Google Shape;1004;p73"/>
          <p:cNvSpPr txBox="1"/>
          <p:nvPr>
            <p:ph idx="1" type="body"/>
          </p:nvPr>
        </p:nvSpPr>
        <p:spPr>
          <a:xfrm>
            <a:off x="159392" y="1600200"/>
            <a:ext cx="4010823" cy="4953000"/>
          </a:xfrm>
          <a:prstGeom prst="rect">
            <a:avLst/>
          </a:prstGeom>
          <a:noFill/>
          <a:ln>
            <a:noFill/>
          </a:ln>
        </p:spPr>
        <p:txBody>
          <a:bodyPr anchorCtr="0" anchor="t" bIns="45700" lIns="91425" spcFirstLastPara="1" rIns="91425" wrap="square" tIns="45700">
            <a:normAutofit fontScale="70000" lnSpcReduction="20000"/>
          </a:bodyPr>
          <a:lstStyle/>
          <a:p>
            <a:pPr indent="-171450" lvl="0" marL="171450" rtl="0" algn="l">
              <a:spcBef>
                <a:spcPts val="0"/>
              </a:spcBef>
              <a:spcAft>
                <a:spcPts val="0"/>
              </a:spcAft>
              <a:buSzPct val="59999"/>
              <a:buFont typeface="Arial"/>
              <a:buChar char="•"/>
            </a:pPr>
            <a:r>
              <a:rPr lang="en-US"/>
              <a:t>When a client sends email, the client </a:t>
            </a:r>
            <a:r>
              <a:rPr lang="en-US">
                <a:solidFill>
                  <a:srgbClr val="FF0000"/>
                </a:solidFill>
              </a:rPr>
              <a:t>SMTP process connects with a server SMTP process </a:t>
            </a:r>
            <a:r>
              <a:rPr lang="en-US"/>
              <a:t>on well-known port 25. </a:t>
            </a:r>
            <a:endParaRPr/>
          </a:p>
          <a:p>
            <a:pPr indent="-171450" lvl="0" marL="171450" rtl="0" algn="l">
              <a:spcBef>
                <a:spcPts val="700"/>
              </a:spcBef>
              <a:spcAft>
                <a:spcPts val="0"/>
              </a:spcAft>
              <a:buSzPct val="59999"/>
              <a:buFont typeface="Arial"/>
              <a:buChar char="•"/>
            </a:pPr>
            <a:r>
              <a:rPr lang="en-US"/>
              <a:t>After the connection is made, the client attempts to send the email to the server across the connection. </a:t>
            </a:r>
            <a:endParaRPr/>
          </a:p>
          <a:p>
            <a:pPr indent="-171450" lvl="0" marL="171450" rtl="0" algn="l">
              <a:spcBef>
                <a:spcPts val="700"/>
              </a:spcBef>
              <a:spcAft>
                <a:spcPts val="0"/>
              </a:spcAft>
              <a:buSzPct val="59999"/>
              <a:buFont typeface="Arial"/>
              <a:buChar char="•"/>
            </a:pPr>
            <a:r>
              <a:rPr lang="en-US"/>
              <a:t>When the server receives the message, it either places the message in a local account, if the recipient is local, or forwards the message to another mail server for delivery.</a:t>
            </a:r>
            <a:endParaRPr/>
          </a:p>
          <a:p>
            <a:pPr indent="-171450" lvl="0" marL="171450" rtl="0" algn="l">
              <a:spcBef>
                <a:spcPts val="700"/>
              </a:spcBef>
              <a:spcAft>
                <a:spcPts val="0"/>
              </a:spcAft>
              <a:buSzPct val="59999"/>
              <a:buFont typeface="Arial"/>
              <a:buChar char="•"/>
            </a:pPr>
            <a:r>
              <a:rPr lang="en-US"/>
              <a:t>The destination email server may not be online or may be busy. If so, SMTP spools messages to be sent at a later time. </a:t>
            </a:r>
            <a:endParaRPr/>
          </a:p>
          <a:p>
            <a:pPr indent="0" lvl="0" marL="0" rtl="0" algn="l">
              <a:spcBef>
                <a:spcPts val="700"/>
              </a:spcBef>
              <a:spcAft>
                <a:spcPts val="0"/>
              </a:spcAft>
              <a:buSzPct val="59999"/>
              <a:buNone/>
            </a:pPr>
            <a:r>
              <a:t/>
            </a:r>
            <a:endParaRPr sz="1400"/>
          </a:p>
        </p:txBody>
      </p:sp>
      <p:sp>
        <p:nvSpPr>
          <p:cNvPr id="1005" name="Google Shape;1005;p73"/>
          <p:cNvSpPr txBox="1"/>
          <p:nvPr/>
        </p:nvSpPr>
        <p:spPr>
          <a:xfrm>
            <a:off x="4419600" y="5486400"/>
            <a:ext cx="460451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Twentieth Century"/>
                <a:ea typeface="Twentieth Century"/>
                <a:cs typeface="Twentieth Century"/>
                <a:sym typeface="Twentieth Century"/>
              </a:rPr>
              <a:t>Note</a:t>
            </a:r>
            <a:r>
              <a:rPr lang="en-US" sz="1400">
                <a:solidFill>
                  <a:schemeClr val="dk1"/>
                </a:solidFill>
                <a:latin typeface="Twentieth Century"/>
                <a:ea typeface="Twentieth Century"/>
                <a:cs typeface="Twentieth Century"/>
                <a:sym typeface="Twentieth Century"/>
              </a:rPr>
              <a:t>: SMTP message formats require a message header (recipient email address &amp; sender email address) and a message body.</a:t>
            </a:r>
            <a:endParaRPr/>
          </a:p>
        </p:txBody>
      </p:sp>
      <p:pic>
        <p:nvPicPr>
          <p:cNvPr id="1006" name="Google Shape;1006;p73"/>
          <p:cNvPicPr preferRelativeResize="0"/>
          <p:nvPr/>
        </p:nvPicPr>
        <p:blipFill rotWithShape="1">
          <a:blip r:embed="rId3">
            <a:alphaModFix/>
          </a:blip>
          <a:srcRect b="0" l="0" r="0" t="0"/>
          <a:stretch/>
        </p:blipFill>
        <p:spPr>
          <a:xfrm>
            <a:off x="4325591" y="1524000"/>
            <a:ext cx="4698519" cy="3749139"/>
          </a:xfrm>
          <a:prstGeom prst="rect">
            <a:avLst/>
          </a:prstGeom>
          <a:noFill/>
          <a:ln>
            <a:noFill/>
          </a:ln>
        </p:spPr>
      </p:pic>
    </p:spTree>
  </p:cSld>
  <p:clrMapOvr>
    <a:masterClrMapping/>
  </p:clrMapOvr>
  <p:transition spd="slow">
    <p:wipe dir="l"/>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74"/>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Mail Routing</a:t>
            </a:r>
            <a:endParaRPr/>
          </a:p>
        </p:txBody>
      </p:sp>
      <p:sp>
        <p:nvSpPr>
          <p:cNvPr id="1012" name="Google Shape;1012;p74"/>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013" name="Google Shape;1013;p74"/>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92500" lnSpcReduction="10000"/>
          </a:bodyPr>
          <a:lstStyle/>
          <a:p>
            <a:pPr indent="-320059" lvl="0" marL="320040" rtl="0" algn="l">
              <a:spcBef>
                <a:spcPts val="0"/>
              </a:spcBef>
              <a:spcAft>
                <a:spcPts val="0"/>
              </a:spcAft>
              <a:buSzPct val="59999"/>
              <a:buChar char="◻"/>
            </a:pPr>
            <a:r>
              <a:rPr lang="en-US"/>
              <a:t>Sender uses UA to compose message and send</a:t>
            </a:r>
            <a:endParaRPr/>
          </a:p>
          <a:p>
            <a:pPr indent="-320059" lvl="0" marL="320040" rtl="0" algn="l">
              <a:spcBef>
                <a:spcPts val="700"/>
              </a:spcBef>
              <a:spcAft>
                <a:spcPts val="0"/>
              </a:spcAft>
              <a:buSzPct val="59999"/>
              <a:buChar char="◻"/>
            </a:pPr>
            <a:r>
              <a:rPr lang="en-US"/>
              <a:t>Sender’s UA sends message to her mail server; message placed in message queue</a:t>
            </a:r>
            <a:endParaRPr/>
          </a:p>
          <a:p>
            <a:pPr indent="-320059" lvl="0" marL="320040" rtl="0" algn="l">
              <a:spcBef>
                <a:spcPts val="700"/>
              </a:spcBef>
              <a:spcAft>
                <a:spcPts val="0"/>
              </a:spcAft>
              <a:buSzPct val="59999"/>
              <a:buChar char="◻"/>
            </a:pPr>
            <a:r>
              <a:rPr lang="en-US"/>
              <a:t>Client side of SMTP opens TCP connection with receiver’s mail server</a:t>
            </a:r>
            <a:endParaRPr/>
          </a:p>
          <a:p>
            <a:pPr indent="-320059" lvl="0" marL="320040" rtl="0" algn="l">
              <a:spcBef>
                <a:spcPts val="700"/>
              </a:spcBef>
              <a:spcAft>
                <a:spcPts val="0"/>
              </a:spcAft>
              <a:buSzPct val="59999"/>
              <a:buChar char="◻"/>
            </a:pPr>
            <a:r>
              <a:rPr lang="en-US"/>
              <a:t>SMTP client sends sender’s message over the TCP connection </a:t>
            </a:r>
            <a:endParaRPr/>
          </a:p>
          <a:p>
            <a:pPr indent="-320059" lvl="0" marL="320040" rtl="0" algn="l">
              <a:spcBef>
                <a:spcPts val="700"/>
              </a:spcBef>
              <a:spcAft>
                <a:spcPts val="0"/>
              </a:spcAft>
              <a:buSzPct val="59999"/>
              <a:buChar char="◻"/>
            </a:pPr>
            <a:r>
              <a:rPr lang="en-US"/>
              <a:t>Receiver’s mail server places the message in receiver’s mailbox </a:t>
            </a:r>
            <a:endParaRPr/>
          </a:p>
          <a:p>
            <a:pPr indent="-320059" lvl="0" marL="320040" rtl="0" algn="l">
              <a:spcBef>
                <a:spcPts val="700"/>
              </a:spcBef>
              <a:spcAft>
                <a:spcPts val="0"/>
              </a:spcAft>
              <a:buSzPct val="59999"/>
              <a:buChar char="◻"/>
            </a:pPr>
            <a:r>
              <a:rPr lang="en-US"/>
              <a:t>Receiver invokes his user agent to read message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7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SMTP</a:t>
            </a:r>
            <a:endParaRPr/>
          </a:p>
        </p:txBody>
      </p:sp>
      <p:sp>
        <p:nvSpPr>
          <p:cNvPr id="1019" name="Google Shape;1019;p75"/>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020" name="Google Shape;1020;p75"/>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lnSpcReduction="10000"/>
          </a:bodyPr>
          <a:lstStyle/>
          <a:p>
            <a:pPr indent="-320040" lvl="0" marL="320040" rtl="0" algn="l">
              <a:spcBef>
                <a:spcPts val="0"/>
              </a:spcBef>
              <a:spcAft>
                <a:spcPts val="0"/>
              </a:spcAft>
              <a:buSzPts val="1740"/>
              <a:buChar char="◻"/>
            </a:pPr>
            <a:r>
              <a:rPr lang="en-US"/>
              <a:t>Simple Mail Transfer Protocol</a:t>
            </a:r>
            <a:endParaRPr/>
          </a:p>
          <a:p>
            <a:pPr indent="-320040" lvl="0" marL="320040" rtl="0" algn="l">
              <a:spcBef>
                <a:spcPts val="700"/>
              </a:spcBef>
              <a:spcAft>
                <a:spcPts val="0"/>
              </a:spcAft>
              <a:buSzPts val="1740"/>
              <a:buChar char="◻"/>
            </a:pPr>
            <a:r>
              <a:rPr lang="en-US"/>
              <a:t>A simple ASCHII protocol</a:t>
            </a:r>
            <a:endParaRPr/>
          </a:p>
          <a:p>
            <a:pPr indent="-320040" lvl="0" marL="320040" rtl="0" algn="l">
              <a:spcBef>
                <a:spcPts val="700"/>
              </a:spcBef>
              <a:spcAft>
                <a:spcPts val="0"/>
              </a:spcAft>
              <a:buSzPts val="1740"/>
              <a:buChar char="◻"/>
            </a:pPr>
            <a:r>
              <a:rPr lang="en-US"/>
              <a:t>After establishing a TCP connection to port 25, the sending machine(client) waits for the receiving machine(server)</a:t>
            </a:r>
            <a:endParaRPr/>
          </a:p>
          <a:p>
            <a:pPr indent="-320040" lvl="0" marL="320040" rtl="0" algn="l">
              <a:spcBef>
                <a:spcPts val="700"/>
              </a:spcBef>
              <a:spcAft>
                <a:spcPts val="0"/>
              </a:spcAft>
              <a:buSzPts val="1740"/>
              <a:buChar char="◻"/>
            </a:pPr>
            <a:r>
              <a:rPr lang="en-US"/>
              <a:t>The server starts by sending a line of text giving its identity and telling whether it is prepared to receive mail</a:t>
            </a:r>
            <a:endParaRPr/>
          </a:p>
          <a:p>
            <a:pPr indent="-320040" lvl="0" marL="320040" rtl="0" algn="l">
              <a:spcBef>
                <a:spcPts val="700"/>
              </a:spcBef>
              <a:spcAft>
                <a:spcPts val="0"/>
              </a:spcAft>
              <a:buSzPts val="1740"/>
              <a:buChar char="◻"/>
            </a:pPr>
            <a:r>
              <a:rPr lang="en-US"/>
              <a:t>If the server is not ready, the client releases the connection and tries again</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7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SMTP</a:t>
            </a:r>
            <a:endParaRPr/>
          </a:p>
        </p:txBody>
      </p:sp>
      <p:sp>
        <p:nvSpPr>
          <p:cNvPr id="1026" name="Google Shape;1026;p76"/>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027" name="Google Shape;1027;p7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If the server is willing to accept e-mail, the client announces whom the e-mail is coming from and whom it is going to.</a:t>
            </a:r>
            <a:endParaRPr/>
          </a:p>
          <a:p>
            <a:pPr indent="-320040" lvl="0" marL="320040" rtl="0" algn="l">
              <a:spcBef>
                <a:spcPts val="700"/>
              </a:spcBef>
              <a:spcAft>
                <a:spcPts val="0"/>
              </a:spcAft>
              <a:buSzPts val="1740"/>
              <a:buChar char="◻"/>
            </a:pPr>
            <a:r>
              <a:rPr lang="en-US"/>
              <a:t>If such recipients exists at the destination, the server gives the client to go-ahead to send the message</a:t>
            </a:r>
            <a:endParaRPr/>
          </a:p>
          <a:p>
            <a:pPr indent="-320040" lvl="0" marL="320040" rtl="0" algn="l">
              <a:spcBef>
                <a:spcPts val="700"/>
              </a:spcBef>
              <a:spcAft>
                <a:spcPts val="0"/>
              </a:spcAft>
              <a:buSzPts val="1740"/>
              <a:buChar char="◻"/>
            </a:pPr>
            <a:r>
              <a:rPr lang="en-US"/>
              <a:t>Then the client sends the message and server acknowledges it.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77"/>
          <p:cNvSpPr txBox="1"/>
          <p:nvPr>
            <p:ph type="title"/>
          </p:nvPr>
        </p:nvSpPr>
        <p:spPr>
          <a:xfrm>
            <a:off x="609600" y="55191"/>
            <a:ext cx="8534400" cy="101006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POP</a:t>
            </a:r>
            <a:endParaRPr/>
          </a:p>
        </p:txBody>
      </p:sp>
      <p:sp>
        <p:nvSpPr>
          <p:cNvPr id="1034" name="Google Shape;1034;p77"/>
          <p:cNvSpPr txBox="1"/>
          <p:nvPr>
            <p:ph idx="1" type="body"/>
          </p:nvPr>
        </p:nvSpPr>
        <p:spPr>
          <a:xfrm>
            <a:off x="258159" y="1600200"/>
            <a:ext cx="8288844" cy="8617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960"/>
              <a:buNone/>
            </a:pPr>
            <a:r>
              <a:rPr lang="en-US" sz="1600"/>
              <a:t>POP is used by an application to retrieve mail from a mail server. When mail is downloaded from the server to the client using POP the messages are then deleted on the server. </a:t>
            </a:r>
            <a:endParaRPr/>
          </a:p>
        </p:txBody>
      </p:sp>
      <p:sp>
        <p:nvSpPr>
          <p:cNvPr id="1035" name="Google Shape;1035;p77"/>
          <p:cNvSpPr txBox="1"/>
          <p:nvPr/>
        </p:nvSpPr>
        <p:spPr>
          <a:xfrm>
            <a:off x="181088" y="2590800"/>
            <a:ext cx="4121239" cy="4001095"/>
          </a:xfrm>
          <a:prstGeom prst="rect">
            <a:avLst/>
          </a:prstGeom>
          <a:noFill/>
          <a:ln>
            <a:noFill/>
          </a:ln>
        </p:spPr>
        <p:txBody>
          <a:bodyPr anchorCtr="0" anchor="t" bIns="45700" lIns="91425" spcFirstLastPara="1" rIns="91425" wrap="square" tIns="45700">
            <a:spAutoFit/>
          </a:bodyPr>
          <a:lstStyle/>
          <a:p>
            <a:pPr indent="-171449" lvl="1" marL="360362" marR="0" rtl="0" algn="l">
              <a:spcBef>
                <a:spcPts val="0"/>
              </a:spcBef>
              <a:spcAft>
                <a:spcPts val="0"/>
              </a:spcAft>
              <a:buClr>
                <a:schemeClr val="dk1"/>
              </a:buClr>
              <a:buSzPts val="1800"/>
              <a:buFont typeface="Arial"/>
              <a:buChar char="•"/>
            </a:pPr>
            <a:r>
              <a:rPr b="0" i="0" lang="en-US" sz="1800" u="none" cap="none" strike="noStrike">
                <a:solidFill>
                  <a:schemeClr val="dk1"/>
                </a:solidFill>
                <a:latin typeface="Twentieth Century"/>
                <a:ea typeface="Twentieth Century"/>
                <a:cs typeface="Twentieth Century"/>
                <a:sym typeface="Twentieth Century"/>
              </a:rPr>
              <a:t>The server starts the POP service by passively listening on TCP port 110 for client connection requests. </a:t>
            </a:r>
            <a:endParaRPr/>
          </a:p>
          <a:p>
            <a:pPr indent="-171449" lvl="1" marL="360362" marR="0" rtl="0" algn="l">
              <a:spcBef>
                <a:spcPts val="600"/>
              </a:spcBef>
              <a:spcAft>
                <a:spcPts val="0"/>
              </a:spcAft>
              <a:buClr>
                <a:schemeClr val="dk1"/>
              </a:buClr>
              <a:buSzPts val="1800"/>
              <a:buFont typeface="Arial"/>
              <a:buChar char="•"/>
            </a:pPr>
            <a:r>
              <a:rPr b="0" i="0" lang="en-US" sz="1800" u="none" cap="none" strike="noStrike">
                <a:solidFill>
                  <a:schemeClr val="dk1"/>
                </a:solidFill>
                <a:latin typeface="Twentieth Century"/>
                <a:ea typeface="Twentieth Century"/>
                <a:cs typeface="Twentieth Century"/>
                <a:sym typeface="Twentieth Century"/>
              </a:rPr>
              <a:t>When a client wants to make use of the service, it sends a request to establish a TCP connection with the server.</a:t>
            </a:r>
            <a:endParaRPr/>
          </a:p>
          <a:p>
            <a:pPr indent="-171449" lvl="1" marL="360362" marR="0" rtl="0" algn="l">
              <a:spcBef>
                <a:spcPts val="600"/>
              </a:spcBef>
              <a:spcAft>
                <a:spcPts val="0"/>
              </a:spcAft>
              <a:buClr>
                <a:schemeClr val="dk1"/>
              </a:buClr>
              <a:buSzPts val="1800"/>
              <a:buFont typeface="Arial"/>
              <a:buChar char="•"/>
            </a:pPr>
            <a:r>
              <a:rPr b="0" i="0" lang="en-US" sz="1800" u="none" cap="none" strike="noStrike">
                <a:solidFill>
                  <a:schemeClr val="dk1"/>
                </a:solidFill>
                <a:latin typeface="Twentieth Century"/>
                <a:ea typeface="Twentieth Century"/>
                <a:cs typeface="Twentieth Century"/>
                <a:sym typeface="Twentieth Century"/>
              </a:rPr>
              <a:t>When the connection is established, the POP server sends a greeting. </a:t>
            </a:r>
            <a:endParaRPr/>
          </a:p>
          <a:p>
            <a:pPr indent="-171449" lvl="1" marL="360362" marR="0" rtl="0" algn="l">
              <a:spcBef>
                <a:spcPts val="600"/>
              </a:spcBef>
              <a:spcAft>
                <a:spcPts val="0"/>
              </a:spcAft>
              <a:buClr>
                <a:schemeClr val="dk1"/>
              </a:buClr>
              <a:buSzPts val="1800"/>
              <a:buFont typeface="Arial"/>
              <a:buChar char="•"/>
            </a:pPr>
            <a:r>
              <a:rPr b="0" i="0" lang="en-US" sz="1800" u="none" cap="none" strike="noStrike">
                <a:solidFill>
                  <a:schemeClr val="dk1"/>
                </a:solidFill>
                <a:latin typeface="Twentieth Century"/>
                <a:ea typeface="Twentieth Century"/>
                <a:cs typeface="Twentieth Century"/>
                <a:sym typeface="Twentieth Century"/>
              </a:rPr>
              <a:t>The client and POP server then exchange commands and responses until the connection is closed or aborted.</a:t>
            </a:r>
            <a:endParaRPr/>
          </a:p>
          <a:p>
            <a:pPr indent="0" lvl="0" marL="0" marR="0" rtl="0" algn="l">
              <a:spcBef>
                <a:spcPts val="600"/>
              </a:spcBef>
              <a:spcAft>
                <a:spcPts val="0"/>
              </a:spcAft>
              <a:buNone/>
            </a:pPr>
            <a:r>
              <a:t/>
            </a:r>
            <a:endParaRPr sz="1800">
              <a:solidFill>
                <a:schemeClr val="dk1"/>
              </a:solidFill>
              <a:latin typeface="Twentieth Century"/>
              <a:ea typeface="Twentieth Century"/>
              <a:cs typeface="Twentieth Century"/>
              <a:sym typeface="Twentieth Century"/>
            </a:endParaRPr>
          </a:p>
        </p:txBody>
      </p:sp>
      <p:sp>
        <p:nvSpPr>
          <p:cNvPr id="1036" name="Google Shape;1036;p77"/>
          <p:cNvSpPr txBox="1"/>
          <p:nvPr/>
        </p:nvSpPr>
        <p:spPr>
          <a:xfrm>
            <a:off x="4375019" y="5943600"/>
            <a:ext cx="460451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wentieth Century"/>
                <a:ea typeface="Twentieth Century"/>
                <a:cs typeface="Twentieth Century"/>
                <a:sym typeface="Twentieth Century"/>
              </a:rPr>
              <a:t>Note: Since POP </a:t>
            </a:r>
            <a:r>
              <a:rPr lang="en-US" sz="1600">
                <a:solidFill>
                  <a:srgbClr val="FF0000"/>
                </a:solidFill>
                <a:latin typeface="Twentieth Century"/>
                <a:ea typeface="Twentieth Century"/>
                <a:cs typeface="Twentieth Century"/>
                <a:sym typeface="Twentieth Century"/>
              </a:rPr>
              <a:t>does not store messages</a:t>
            </a:r>
            <a:r>
              <a:rPr lang="en-US" sz="1600">
                <a:solidFill>
                  <a:schemeClr val="dk1"/>
                </a:solidFill>
                <a:latin typeface="Twentieth Century"/>
                <a:ea typeface="Twentieth Century"/>
                <a:cs typeface="Twentieth Century"/>
                <a:sym typeface="Twentieth Century"/>
              </a:rPr>
              <a:t>, it is </a:t>
            </a:r>
            <a:r>
              <a:rPr lang="en-US" sz="1600">
                <a:solidFill>
                  <a:srgbClr val="FF0000"/>
                </a:solidFill>
                <a:latin typeface="Twentieth Century"/>
                <a:ea typeface="Twentieth Century"/>
                <a:cs typeface="Twentieth Century"/>
                <a:sym typeface="Twentieth Century"/>
              </a:rPr>
              <a:t>not recommended </a:t>
            </a:r>
            <a:r>
              <a:rPr lang="en-US" sz="1600">
                <a:solidFill>
                  <a:schemeClr val="dk1"/>
                </a:solidFill>
                <a:latin typeface="Twentieth Century"/>
                <a:ea typeface="Twentieth Century"/>
                <a:cs typeface="Twentieth Century"/>
                <a:sym typeface="Twentieth Century"/>
              </a:rPr>
              <a:t>for small businesses that need a centralized backup solution.</a:t>
            </a:r>
            <a:endParaRPr/>
          </a:p>
        </p:txBody>
      </p:sp>
      <p:pic>
        <p:nvPicPr>
          <p:cNvPr id="1037" name="Google Shape;1037;p77"/>
          <p:cNvPicPr preferRelativeResize="0"/>
          <p:nvPr/>
        </p:nvPicPr>
        <p:blipFill rotWithShape="1">
          <a:blip r:embed="rId3">
            <a:alphaModFix/>
          </a:blip>
          <a:srcRect b="0" l="0" r="0" t="0"/>
          <a:stretch/>
        </p:blipFill>
        <p:spPr>
          <a:xfrm>
            <a:off x="4698796" y="2133600"/>
            <a:ext cx="4334236" cy="3703593"/>
          </a:xfrm>
          <a:prstGeom prst="rect">
            <a:avLst/>
          </a:prstGeom>
          <a:noFill/>
          <a:ln>
            <a:noFill/>
          </a:ln>
        </p:spPr>
      </p:pic>
    </p:spTree>
  </p:cSld>
  <p:clrMapOvr>
    <a:masterClrMapping/>
  </p:clrMapOvr>
  <p:transition spd="slow">
    <p:wipe dir="l"/>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7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POP3</a:t>
            </a:r>
            <a:endParaRPr/>
          </a:p>
        </p:txBody>
      </p:sp>
      <p:sp>
        <p:nvSpPr>
          <p:cNvPr id="1043" name="Google Shape;1043;p78"/>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044" name="Google Shape;1044;p78"/>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fontScale="85000" lnSpcReduction="20000"/>
          </a:bodyPr>
          <a:lstStyle/>
          <a:p>
            <a:pPr indent="-320040" lvl="0" marL="320040" rtl="0" algn="l">
              <a:spcBef>
                <a:spcPts val="0"/>
              </a:spcBef>
              <a:spcAft>
                <a:spcPts val="0"/>
              </a:spcAft>
              <a:buSzPct val="59999"/>
              <a:buChar char="◻"/>
            </a:pPr>
            <a:r>
              <a:rPr lang="en-US"/>
              <a:t>Post Office 3 Protocol</a:t>
            </a:r>
            <a:endParaRPr/>
          </a:p>
          <a:p>
            <a:pPr indent="-320040" lvl="0" marL="320040" rtl="0" algn="l">
              <a:spcBef>
                <a:spcPts val="700"/>
              </a:spcBef>
              <a:spcAft>
                <a:spcPts val="0"/>
              </a:spcAft>
              <a:buSzPct val="59999"/>
              <a:buChar char="◻"/>
            </a:pPr>
            <a:r>
              <a:rPr lang="en-US"/>
              <a:t>Begins when the UA start their mail reader</a:t>
            </a:r>
            <a:endParaRPr/>
          </a:p>
          <a:p>
            <a:pPr indent="-320040" lvl="0" marL="320040" rtl="0" algn="l">
              <a:spcBef>
                <a:spcPts val="700"/>
              </a:spcBef>
              <a:spcAft>
                <a:spcPts val="0"/>
              </a:spcAft>
              <a:buSzPct val="59999"/>
              <a:buChar char="◻"/>
            </a:pPr>
            <a:r>
              <a:rPr lang="en-US"/>
              <a:t>The mail reader calls up the mail server and establishes a TCP connection with the mail transfer agent at port 110</a:t>
            </a:r>
            <a:endParaRPr/>
          </a:p>
          <a:p>
            <a:pPr indent="-320040" lvl="0" marL="320040" rtl="0" algn="l">
              <a:spcBef>
                <a:spcPts val="700"/>
              </a:spcBef>
              <a:spcAft>
                <a:spcPts val="0"/>
              </a:spcAft>
              <a:buSzPct val="59999"/>
              <a:buChar char="◻"/>
            </a:pPr>
            <a:r>
              <a:rPr lang="en-US"/>
              <a:t>Once the connection is established, POP3 goes through 3 states</a:t>
            </a:r>
            <a:endParaRPr/>
          </a:p>
          <a:p>
            <a:pPr indent="-274320" lvl="1" marL="640080" rtl="0" algn="l">
              <a:spcBef>
                <a:spcPts val="550"/>
              </a:spcBef>
              <a:spcAft>
                <a:spcPts val="0"/>
              </a:spcAft>
              <a:buSzPct val="70000"/>
              <a:buChar char="🞑"/>
            </a:pPr>
            <a:r>
              <a:rPr lang="en-US"/>
              <a:t>Authorization</a:t>
            </a:r>
            <a:br>
              <a:rPr lang="en-US"/>
            </a:br>
            <a:r>
              <a:rPr lang="en-US"/>
              <a:t>	Authorize the user</a:t>
            </a:r>
            <a:endParaRPr/>
          </a:p>
          <a:p>
            <a:pPr indent="-274320" lvl="1" marL="640080" rtl="0" algn="l">
              <a:spcBef>
                <a:spcPts val="550"/>
              </a:spcBef>
              <a:spcAft>
                <a:spcPts val="0"/>
              </a:spcAft>
              <a:buSzPct val="70000"/>
              <a:buChar char="🞑"/>
            </a:pPr>
            <a:r>
              <a:rPr lang="en-US"/>
              <a:t>Transactions</a:t>
            </a:r>
            <a:endParaRPr/>
          </a:p>
          <a:p>
            <a:pPr indent="-228600" lvl="2" marL="914400" rtl="0" algn="l">
              <a:spcBef>
                <a:spcPts val="500"/>
              </a:spcBef>
              <a:spcAft>
                <a:spcPts val="0"/>
              </a:spcAft>
              <a:buSzPct val="75000"/>
              <a:buChar char="■"/>
            </a:pPr>
            <a:r>
              <a:rPr lang="en-US">
                <a:solidFill>
                  <a:srgbClr val="FF0000"/>
                </a:solidFill>
              </a:rPr>
              <a:t>Collect mail and mark them for deletion</a:t>
            </a:r>
            <a:endParaRPr/>
          </a:p>
          <a:p>
            <a:pPr indent="-274320" lvl="1" marL="640080" rtl="0" algn="l">
              <a:spcBef>
                <a:spcPts val="550"/>
              </a:spcBef>
              <a:spcAft>
                <a:spcPts val="0"/>
              </a:spcAft>
              <a:buSzPct val="70000"/>
              <a:buChar char="🞑"/>
            </a:pPr>
            <a:r>
              <a:rPr lang="en-US"/>
              <a:t>Update</a:t>
            </a:r>
            <a:endParaRPr/>
          </a:p>
          <a:p>
            <a:pPr indent="-228600" lvl="2" marL="914400" rtl="0" algn="l">
              <a:spcBef>
                <a:spcPts val="500"/>
              </a:spcBef>
              <a:spcAft>
                <a:spcPts val="0"/>
              </a:spcAft>
              <a:buSzPct val="75000"/>
              <a:buChar char="■"/>
            </a:pPr>
            <a:r>
              <a:rPr lang="en-US"/>
              <a:t>Causes mails to be </a:t>
            </a:r>
            <a:r>
              <a:rPr lang="en-US">
                <a:solidFill>
                  <a:srgbClr val="FF0000"/>
                </a:solidFill>
              </a:rPr>
              <a:t>deleted</a:t>
            </a:r>
            <a:endParaRPr/>
          </a:p>
          <a:p>
            <a:pPr indent="-176085" lvl="1" marL="640080" rtl="0" algn="l">
              <a:spcBef>
                <a:spcPts val="550"/>
              </a:spcBef>
              <a:spcAft>
                <a:spcPts val="0"/>
              </a:spcAft>
              <a:buSzPct val="70000"/>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79"/>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IMAP</a:t>
            </a:r>
            <a:endParaRPr/>
          </a:p>
        </p:txBody>
      </p:sp>
      <p:sp>
        <p:nvSpPr>
          <p:cNvPr id="1050" name="Google Shape;1050;p79"/>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051" name="Google Shape;1051;p79"/>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Internet Message Access Protocol</a:t>
            </a:r>
            <a:endParaRPr/>
          </a:p>
          <a:p>
            <a:pPr indent="-320040" lvl="0" marL="320040" rtl="0" algn="l">
              <a:spcBef>
                <a:spcPts val="700"/>
              </a:spcBef>
              <a:spcAft>
                <a:spcPts val="0"/>
              </a:spcAft>
              <a:buSzPts val="1740"/>
              <a:buChar char="◻"/>
            </a:pPr>
            <a:r>
              <a:rPr lang="en-US"/>
              <a:t>Assumes all </a:t>
            </a:r>
            <a:r>
              <a:rPr lang="en-US">
                <a:solidFill>
                  <a:srgbClr val="FF0000"/>
                </a:solidFill>
              </a:rPr>
              <a:t>e-mail will remain on the server </a:t>
            </a:r>
            <a:r>
              <a:rPr lang="en-US"/>
              <a:t>indefinitely In multipart mailboxes</a:t>
            </a:r>
            <a:endParaRPr/>
          </a:p>
          <a:p>
            <a:pPr indent="-320040" lvl="0" marL="320040" rtl="0" algn="l">
              <a:spcBef>
                <a:spcPts val="700"/>
              </a:spcBef>
              <a:spcAft>
                <a:spcPts val="0"/>
              </a:spcAft>
              <a:buSzPts val="1740"/>
              <a:buChar char="◻"/>
            </a:pPr>
            <a:r>
              <a:rPr lang="en-US"/>
              <a:t>Provides mechanism for reading messages or even part of messages</a:t>
            </a:r>
            <a:endParaRPr/>
          </a:p>
          <a:p>
            <a:pPr indent="-320040" lvl="0" marL="320040" rtl="0" algn="l">
              <a:spcBef>
                <a:spcPts val="700"/>
              </a:spcBef>
              <a:spcAft>
                <a:spcPts val="0"/>
              </a:spcAft>
              <a:buSzPts val="1740"/>
              <a:buChar char="◻"/>
            </a:pPr>
            <a:r>
              <a:rPr lang="en-US"/>
              <a:t>Provides mechanism of creating, destroying and manipulating multiple mailboxes on the server</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0"/>
          <p:cNvSpPr txBox="1"/>
          <p:nvPr>
            <p:ph type="title"/>
          </p:nvPr>
        </p:nvSpPr>
        <p:spPr>
          <a:xfrm>
            <a:off x="614544" y="304799"/>
            <a:ext cx="8453256" cy="760459"/>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wentieth Century"/>
              <a:buNone/>
            </a:pPr>
            <a:r>
              <a:rPr lang="en-US"/>
              <a:t>IMAP</a:t>
            </a:r>
            <a:endParaRPr/>
          </a:p>
        </p:txBody>
      </p:sp>
      <p:sp>
        <p:nvSpPr>
          <p:cNvPr id="1058" name="Google Shape;1058;p80"/>
          <p:cNvSpPr txBox="1"/>
          <p:nvPr>
            <p:ph idx="1" type="body"/>
          </p:nvPr>
        </p:nvSpPr>
        <p:spPr>
          <a:xfrm>
            <a:off x="365760" y="1828800"/>
            <a:ext cx="3804455" cy="43187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00"/>
              <a:buNone/>
            </a:pPr>
            <a:r>
              <a:rPr lang="en-US" sz="2000"/>
              <a:t>IMAP is another protocol that describes a method to retrieve email messages.</a:t>
            </a:r>
            <a:endParaRPr/>
          </a:p>
          <a:p>
            <a:pPr indent="-171450" lvl="0" marL="171450" rtl="0" algn="l">
              <a:spcBef>
                <a:spcPts val="700"/>
              </a:spcBef>
              <a:spcAft>
                <a:spcPts val="0"/>
              </a:spcAft>
              <a:buSzPts val="1200"/>
              <a:buFont typeface="Arial"/>
              <a:buChar char="•"/>
            </a:pPr>
            <a:r>
              <a:rPr lang="en-US" sz="2000"/>
              <a:t>Unlike POP, when a user connects to an IMAP server, copies of the messages are downloaded to the client application. The original messages are kept on the server until manually deleted. </a:t>
            </a:r>
            <a:endParaRPr/>
          </a:p>
          <a:p>
            <a:pPr indent="-171450" lvl="0" marL="171450" rtl="0" algn="l">
              <a:spcBef>
                <a:spcPts val="700"/>
              </a:spcBef>
              <a:spcAft>
                <a:spcPts val="0"/>
              </a:spcAft>
              <a:buSzPts val="1200"/>
              <a:buFont typeface="Arial"/>
              <a:buChar char="•"/>
            </a:pPr>
            <a:r>
              <a:rPr lang="en-US" sz="2000"/>
              <a:t> When a user decides to delete a message, the server synchronizes that action and deletes the message from the server.</a:t>
            </a:r>
            <a:endParaRPr/>
          </a:p>
          <a:p>
            <a:pPr indent="-118110" lvl="0" marL="171450" rtl="0" algn="l">
              <a:spcBef>
                <a:spcPts val="700"/>
              </a:spcBef>
              <a:spcAft>
                <a:spcPts val="0"/>
              </a:spcAft>
              <a:buSzPts val="840"/>
              <a:buFont typeface="Arial"/>
              <a:buNone/>
            </a:pPr>
            <a:r>
              <a:t/>
            </a:r>
            <a:endParaRPr sz="1400"/>
          </a:p>
        </p:txBody>
      </p:sp>
      <p:pic>
        <p:nvPicPr>
          <p:cNvPr id="1059" name="Google Shape;1059;p80"/>
          <p:cNvPicPr preferRelativeResize="0"/>
          <p:nvPr/>
        </p:nvPicPr>
        <p:blipFill rotWithShape="1">
          <a:blip r:embed="rId3">
            <a:alphaModFix/>
          </a:blip>
          <a:srcRect b="0" l="0" r="0" t="0"/>
          <a:stretch/>
        </p:blipFill>
        <p:spPr>
          <a:xfrm>
            <a:off x="4343400" y="1828800"/>
            <a:ext cx="4414656" cy="4051717"/>
          </a:xfrm>
          <a:prstGeom prst="rect">
            <a:avLst/>
          </a:prstGeom>
          <a:noFill/>
          <a:ln>
            <a:noFill/>
          </a:ln>
        </p:spPr>
      </p:pic>
    </p:spTree>
  </p:cSld>
  <p:clrMapOvr>
    <a:masterClrMapping/>
  </p:clrMapOvr>
  <p:transition spd="slow">
    <p:wipe dir="l"/>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81"/>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rPr lang="en-US"/>
              <a:t>MIME</a:t>
            </a:r>
            <a:endParaRPr/>
          </a:p>
        </p:txBody>
      </p:sp>
      <p:sp>
        <p:nvSpPr>
          <p:cNvPr id="1065" name="Google Shape;1065;p81"/>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sp>
        <p:nvSpPr>
          <p:cNvPr id="1066" name="Google Shape;1066;p81"/>
          <p:cNvSpPr txBox="1"/>
          <p:nvPr>
            <p:ph idx="1" type="body"/>
          </p:nvPr>
        </p:nvSpPr>
        <p:spPr>
          <a:xfrm>
            <a:off x="612648" y="1600200"/>
            <a:ext cx="8153400" cy="2438400"/>
          </a:xfrm>
          <a:prstGeom prst="rect">
            <a:avLst/>
          </a:prstGeom>
          <a:noFill/>
          <a:ln>
            <a:noFill/>
          </a:ln>
        </p:spPr>
        <p:txBody>
          <a:bodyPr anchorCtr="0" anchor="t" bIns="45700" lIns="91425" spcFirstLastPara="1" rIns="91425" wrap="square" tIns="45700">
            <a:normAutofit/>
          </a:bodyPr>
          <a:lstStyle/>
          <a:p>
            <a:pPr indent="-320040" lvl="0" marL="320040" rtl="0" algn="l">
              <a:spcBef>
                <a:spcPts val="0"/>
              </a:spcBef>
              <a:spcAft>
                <a:spcPts val="0"/>
              </a:spcAft>
              <a:buSzPts val="1740"/>
              <a:buChar char="◻"/>
            </a:pPr>
            <a:r>
              <a:rPr lang="en-US"/>
              <a:t>Multipurpose Internet Mail Extensions</a:t>
            </a:r>
            <a:endParaRPr/>
          </a:p>
          <a:p>
            <a:pPr indent="-320040" lvl="0" marL="320040" rtl="0" algn="l">
              <a:spcBef>
                <a:spcPts val="700"/>
              </a:spcBef>
              <a:spcAft>
                <a:spcPts val="0"/>
              </a:spcAft>
              <a:buSzPts val="1740"/>
              <a:buChar char="◻"/>
            </a:pPr>
            <a:r>
              <a:rPr lang="en-US"/>
              <a:t>Supplementary protocol to allow non-ASCII data to be sent through e-mail</a:t>
            </a:r>
            <a:endParaRPr/>
          </a:p>
          <a:p>
            <a:pPr indent="-320040" lvl="0" marL="320040" rtl="0" algn="l">
              <a:spcBef>
                <a:spcPts val="700"/>
              </a:spcBef>
              <a:spcAft>
                <a:spcPts val="0"/>
              </a:spcAft>
              <a:buSzPts val="1740"/>
              <a:buChar char="◻"/>
            </a:pPr>
            <a:r>
              <a:rPr lang="en-US"/>
              <a:t>Different types of contents are supported by MIME</a:t>
            </a:r>
            <a:endParaRPr/>
          </a:p>
          <a:p>
            <a:pPr indent="-209550" lvl="0" marL="320040" rtl="0" algn="l">
              <a:spcBef>
                <a:spcPts val="700"/>
              </a:spcBef>
              <a:spcAft>
                <a:spcPts val="0"/>
              </a:spcAft>
              <a:buSzPts val="1740"/>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82"/>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2"/>
              </a:buClr>
              <a:buSzPts val="4400"/>
              <a:buFont typeface="Twentieth Century"/>
              <a:buNone/>
            </a:pPr>
            <a:r>
              <a:t/>
            </a:r>
            <a:endParaRPr/>
          </a:p>
        </p:txBody>
      </p:sp>
      <p:sp>
        <p:nvSpPr>
          <p:cNvPr id="1072" name="Google Shape;1072;p82"/>
          <p:cNvSpPr txBox="1"/>
          <p:nvPr>
            <p:ph idx="12" type="sldNum"/>
          </p:nvPr>
        </p:nvSpPr>
        <p:spPr>
          <a:xfrm>
            <a:off x="0" y="1272222"/>
            <a:ext cx="533400" cy="244476"/>
          </a:xfrm>
          <a:prstGeom prst="rect">
            <a:avLst/>
          </a:prstGeom>
          <a:noFill/>
          <a:ln>
            <a:noFill/>
          </a:ln>
        </p:spPr>
        <p:txBody>
          <a:bodyPr anchorCtr="0" anchor="ctr" bIns="45700" lIns="91425" spcFirstLastPara="1" rIns="91425" wrap="square" tIns="45700">
            <a:normAutofit fontScale="85000" lnSpcReduction="20000"/>
          </a:bodyPr>
          <a:lstStyle/>
          <a:p>
            <a:pPr indent="0" lvl="0" marL="0" rtl="0" algn="ctr">
              <a:spcBef>
                <a:spcPts val="0"/>
              </a:spcBef>
              <a:spcAft>
                <a:spcPts val="0"/>
              </a:spcAft>
              <a:buNone/>
            </a:pPr>
            <a:fld id="{00000000-1234-1234-1234-123412341234}" type="slidenum">
              <a:rPr lang="en-US"/>
              <a:t>‹#›</a:t>
            </a:fld>
            <a:endParaRPr/>
          </a:p>
        </p:txBody>
      </p:sp>
      <p:graphicFrame>
        <p:nvGraphicFramePr>
          <p:cNvPr id="1073" name="Google Shape;1073;p82"/>
          <p:cNvGraphicFramePr/>
          <p:nvPr/>
        </p:nvGraphicFramePr>
        <p:xfrm>
          <a:off x="914400" y="1828800"/>
          <a:ext cx="3000000" cy="3000000"/>
        </p:xfrm>
        <a:graphic>
          <a:graphicData uri="http://schemas.openxmlformats.org/drawingml/2006/table">
            <a:tbl>
              <a:tblPr bandRow="1" firstRow="1">
                <a:noFill/>
                <a:tableStyleId>{D95D5847-5265-4D10-9F46-FB4AFC25BBD2}</a:tableStyleId>
              </a:tblPr>
              <a:tblGrid>
                <a:gridCol w="1219200"/>
                <a:gridCol w="1371600"/>
                <a:gridCol w="4572000"/>
              </a:tblGrid>
              <a:tr h="370850">
                <a:tc>
                  <a:txBody>
                    <a:bodyPr/>
                    <a:lstStyle/>
                    <a:p>
                      <a:pPr indent="0" lvl="0" marL="0" marR="0" rtl="0" algn="l">
                        <a:spcBef>
                          <a:spcPts val="0"/>
                        </a:spcBef>
                        <a:spcAft>
                          <a:spcPts val="0"/>
                        </a:spcAft>
                        <a:buNone/>
                      </a:pPr>
                      <a:r>
                        <a:rPr lang="en-US" sz="1800"/>
                        <a:t>Type</a:t>
                      </a:r>
                      <a:endParaRPr sz="1800"/>
                    </a:p>
                  </a:txBody>
                  <a:tcPr marT="45725" marB="45725" marR="91450" marL="91450"/>
                </a:tc>
                <a:tc>
                  <a:txBody>
                    <a:bodyPr/>
                    <a:lstStyle/>
                    <a:p>
                      <a:pPr indent="0" lvl="0" marL="0" marR="0" rtl="0" algn="l">
                        <a:spcBef>
                          <a:spcPts val="0"/>
                        </a:spcBef>
                        <a:spcAft>
                          <a:spcPts val="0"/>
                        </a:spcAft>
                        <a:buNone/>
                      </a:pPr>
                      <a:r>
                        <a:rPr lang="en-US" sz="1800"/>
                        <a:t>Subtype</a:t>
                      </a:r>
                      <a:endParaRPr sz="1800"/>
                    </a:p>
                  </a:txBody>
                  <a:tcPr marT="45725" marB="45725" marR="91450" marL="91450"/>
                </a:tc>
                <a:tc>
                  <a:txBody>
                    <a:bodyPr/>
                    <a:lstStyle/>
                    <a:p>
                      <a:pPr indent="0" lvl="0" marL="0" marR="0" rtl="0" algn="l">
                        <a:spcBef>
                          <a:spcPts val="0"/>
                        </a:spcBef>
                        <a:spcAft>
                          <a:spcPts val="0"/>
                        </a:spcAft>
                        <a:buNone/>
                      </a:pPr>
                      <a:r>
                        <a:rPr lang="en-US" sz="1800"/>
                        <a:t>Description</a:t>
                      </a:r>
                      <a:endParaRPr sz="1800"/>
                    </a:p>
                  </a:txBody>
                  <a:tcPr marT="45725" marB="45725" marR="91450" marL="91450"/>
                </a:tc>
              </a:tr>
              <a:tr h="370850">
                <a:tc>
                  <a:txBody>
                    <a:bodyPr/>
                    <a:lstStyle/>
                    <a:p>
                      <a:pPr indent="0" lvl="0" marL="0" marR="0" rtl="0" algn="l">
                        <a:spcBef>
                          <a:spcPts val="0"/>
                        </a:spcBef>
                        <a:spcAft>
                          <a:spcPts val="0"/>
                        </a:spcAft>
                        <a:buNone/>
                      </a:pPr>
                      <a:r>
                        <a:rPr lang="en-US" sz="1800"/>
                        <a:t>Text</a:t>
                      </a:r>
                      <a:endParaRPr sz="1800"/>
                    </a:p>
                  </a:txBody>
                  <a:tcPr marT="45725" marB="45725" marR="91450" marL="91450"/>
                </a:tc>
                <a:tc>
                  <a:txBody>
                    <a:bodyPr/>
                    <a:lstStyle/>
                    <a:p>
                      <a:pPr indent="0" lvl="0" marL="0" marR="0" rtl="0" algn="l">
                        <a:spcBef>
                          <a:spcPts val="0"/>
                        </a:spcBef>
                        <a:spcAft>
                          <a:spcPts val="0"/>
                        </a:spcAft>
                        <a:buNone/>
                      </a:pPr>
                      <a:r>
                        <a:rPr lang="en-US" sz="1800"/>
                        <a:t>Plain</a:t>
                      </a:r>
                      <a:endParaRPr sz="1800"/>
                    </a:p>
                  </a:txBody>
                  <a:tcPr marT="45725" marB="45725" marR="91450" marL="91450"/>
                </a:tc>
                <a:tc>
                  <a:txBody>
                    <a:bodyPr/>
                    <a:lstStyle/>
                    <a:p>
                      <a:pPr indent="0" lvl="0" marL="0" marR="0" rtl="0" algn="l">
                        <a:spcBef>
                          <a:spcPts val="0"/>
                        </a:spcBef>
                        <a:spcAft>
                          <a:spcPts val="0"/>
                        </a:spcAft>
                        <a:buNone/>
                      </a:pPr>
                      <a:r>
                        <a:rPr lang="en-US" sz="1800"/>
                        <a:t>Unformatted</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HTML</a:t>
                      </a:r>
                      <a:endParaRPr sz="1800"/>
                    </a:p>
                  </a:txBody>
                  <a:tcPr marT="45725" marB="45725" marR="91450" marL="91450"/>
                </a:tc>
                <a:tc>
                  <a:txBody>
                    <a:bodyPr/>
                    <a:lstStyle/>
                    <a:p>
                      <a:pPr indent="0" lvl="0" marL="0" marR="0" rtl="0" algn="l">
                        <a:spcBef>
                          <a:spcPts val="0"/>
                        </a:spcBef>
                        <a:spcAft>
                          <a:spcPts val="0"/>
                        </a:spcAft>
                        <a:buNone/>
                      </a:pPr>
                      <a:r>
                        <a:rPr lang="en-US" sz="1800"/>
                        <a:t>HTML format</a:t>
                      </a:r>
                      <a:endParaRPr sz="1800"/>
                    </a:p>
                  </a:txBody>
                  <a:tcPr marT="45725" marB="45725" marR="91450" marL="91450"/>
                </a:tc>
              </a:tr>
              <a:tr h="370850">
                <a:tc>
                  <a:txBody>
                    <a:bodyPr/>
                    <a:lstStyle/>
                    <a:p>
                      <a:pPr indent="0" lvl="0" marL="0" marR="0" rtl="0" algn="l">
                        <a:spcBef>
                          <a:spcPts val="0"/>
                        </a:spcBef>
                        <a:spcAft>
                          <a:spcPts val="0"/>
                        </a:spcAft>
                        <a:buNone/>
                      </a:pPr>
                      <a:r>
                        <a:rPr lang="en-US" sz="1800"/>
                        <a:t>Multipart</a:t>
                      </a:r>
                      <a:endParaRPr sz="1800"/>
                    </a:p>
                  </a:txBody>
                  <a:tcPr marT="45725" marB="45725" marR="91450" marL="91450"/>
                </a:tc>
                <a:tc>
                  <a:txBody>
                    <a:bodyPr/>
                    <a:lstStyle/>
                    <a:p>
                      <a:pPr indent="0" lvl="0" marL="0" marR="0" rtl="0" algn="l">
                        <a:spcBef>
                          <a:spcPts val="0"/>
                        </a:spcBef>
                        <a:spcAft>
                          <a:spcPts val="0"/>
                        </a:spcAft>
                        <a:buNone/>
                      </a:pPr>
                      <a:r>
                        <a:rPr lang="en-US" sz="1800"/>
                        <a:t>Mixed</a:t>
                      </a:r>
                      <a:endParaRPr sz="1800"/>
                    </a:p>
                  </a:txBody>
                  <a:tcPr marT="45725" marB="45725" marR="91450" marL="91450"/>
                </a:tc>
                <a:tc>
                  <a:txBody>
                    <a:bodyPr/>
                    <a:lstStyle/>
                    <a:p>
                      <a:pPr indent="0" lvl="0" marL="0" marR="0" rtl="0" algn="l">
                        <a:spcBef>
                          <a:spcPts val="0"/>
                        </a:spcBef>
                        <a:spcAft>
                          <a:spcPts val="0"/>
                        </a:spcAft>
                        <a:buNone/>
                      </a:pPr>
                      <a:r>
                        <a:rPr lang="en-US" sz="1800"/>
                        <a:t>Body contains ordered parts of different data types</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Parallel</a:t>
                      </a:r>
                      <a:endParaRPr sz="1800"/>
                    </a:p>
                  </a:txBody>
                  <a:tcPr marT="45725" marB="45725" marR="91450" marL="91450"/>
                </a:tc>
                <a:tc>
                  <a:txBody>
                    <a:bodyPr/>
                    <a:lstStyle/>
                    <a:p>
                      <a:pPr indent="0" lvl="0" marL="0" marR="0" rtl="0" algn="l">
                        <a:spcBef>
                          <a:spcPts val="0"/>
                        </a:spcBef>
                        <a:spcAft>
                          <a:spcPts val="0"/>
                        </a:spcAft>
                        <a:buNone/>
                      </a:pPr>
                      <a:r>
                        <a:rPr lang="en-US" sz="1800"/>
                        <a:t>Same as above</a:t>
                      </a:r>
                      <a:r>
                        <a:rPr lang="en-US" sz="1800"/>
                        <a:t>, but not ordered</a:t>
                      </a:r>
                      <a:endParaRPr sz="1800"/>
                    </a:p>
                  </a:txBody>
                  <a:tcPr marT="45725" marB="45725" marR="91450" marL="91450"/>
                </a:tc>
              </a:tr>
              <a:tr h="370850">
                <a:tc>
                  <a:txBody>
                    <a:bodyPr/>
                    <a:lstStyle/>
                    <a:p>
                      <a:pPr indent="0" lvl="0" marL="0" marR="0" rtl="0" algn="l">
                        <a:spcBef>
                          <a:spcPts val="0"/>
                        </a:spcBef>
                        <a:spcAft>
                          <a:spcPts val="0"/>
                        </a:spcAft>
                        <a:buNone/>
                      </a:pPr>
                      <a:r>
                        <a:rPr lang="en-US" sz="1800"/>
                        <a:t>Image</a:t>
                      </a:r>
                      <a:endParaRPr sz="1800"/>
                    </a:p>
                  </a:txBody>
                  <a:tcPr marT="45725" marB="45725" marR="91450" marL="91450"/>
                </a:tc>
                <a:tc>
                  <a:txBody>
                    <a:bodyPr/>
                    <a:lstStyle/>
                    <a:p>
                      <a:pPr indent="0" lvl="0" marL="0" marR="0" rtl="0" algn="l">
                        <a:spcBef>
                          <a:spcPts val="0"/>
                        </a:spcBef>
                        <a:spcAft>
                          <a:spcPts val="0"/>
                        </a:spcAft>
                        <a:buNone/>
                      </a:pPr>
                      <a:r>
                        <a:rPr lang="en-US" sz="1800"/>
                        <a:t>JPEG</a:t>
                      </a:r>
                      <a:endParaRPr sz="1800"/>
                    </a:p>
                  </a:txBody>
                  <a:tcPr marT="45725" marB="45725" marR="91450" marL="91450"/>
                </a:tc>
                <a:tc>
                  <a:txBody>
                    <a:bodyPr/>
                    <a:lstStyle/>
                    <a:p>
                      <a:pPr indent="0" lvl="0" marL="0" marR="0" rtl="0" algn="l">
                        <a:spcBef>
                          <a:spcPts val="0"/>
                        </a:spcBef>
                        <a:spcAft>
                          <a:spcPts val="0"/>
                        </a:spcAft>
                        <a:buNone/>
                      </a:pPr>
                      <a:r>
                        <a:rPr lang="en-US" sz="1800"/>
                        <a:t>Image in JPEG</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GIF</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a:t>Image in GIF</a:t>
                      </a:r>
                      <a:endParaRPr/>
                    </a:p>
                  </a:txBody>
                  <a:tcPr marT="45725" marB="45725" marR="91450" marL="91450"/>
                </a:tc>
              </a:tr>
              <a:tr h="370850">
                <a:tc>
                  <a:txBody>
                    <a:bodyPr/>
                    <a:lstStyle/>
                    <a:p>
                      <a:pPr indent="0" lvl="0" marL="0" marR="0" rtl="0" algn="l">
                        <a:spcBef>
                          <a:spcPts val="0"/>
                        </a:spcBef>
                        <a:spcAft>
                          <a:spcPts val="0"/>
                        </a:spcAft>
                        <a:buNone/>
                      </a:pPr>
                      <a:r>
                        <a:rPr lang="en-US" sz="1800"/>
                        <a:t>Video</a:t>
                      </a:r>
                      <a:endParaRPr sz="1800"/>
                    </a:p>
                  </a:txBody>
                  <a:tcPr marT="45725" marB="45725" marR="91450" marL="91450"/>
                </a:tc>
                <a:tc>
                  <a:txBody>
                    <a:bodyPr/>
                    <a:lstStyle/>
                    <a:p>
                      <a:pPr indent="0" lvl="0" marL="0" marR="0" rtl="0" algn="l">
                        <a:spcBef>
                          <a:spcPts val="0"/>
                        </a:spcBef>
                        <a:spcAft>
                          <a:spcPts val="0"/>
                        </a:spcAft>
                        <a:buNone/>
                      </a:pPr>
                      <a:r>
                        <a:rPr lang="en-US" sz="1800"/>
                        <a:t>MPEG</a:t>
                      </a:r>
                      <a:endParaRPr sz="1800"/>
                    </a:p>
                  </a:txBody>
                  <a:tcPr marT="45725" marB="45725" marR="91450" marL="91450"/>
                </a:tc>
                <a:tc>
                  <a:txBody>
                    <a:bodyPr/>
                    <a:lstStyle/>
                    <a:p>
                      <a:pPr indent="0" lvl="0" marL="0" marR="0" rtl="0" algn="l">
                        <a:spcBef>
                          <a:spcPts val="0"/>
                        </a:spcBef>
                        <a:spcAft>
                          <a:spcPts val="0"/>
                        </a:spcAft>
                        <a:buNone/>
                      </a:pPr>
                      <a:r>
                        <a:rPr lang="en-US" sz="1800"/>
                        <a:t>Video in MPEG</a:t>
                      </a:r>
                      <a:endParaRPr sz="1800"/>
                    </a:p>
                  </a:txBody>
                  <a:tcPr marT="45725" marB="45725" marR="91450" marL="91450"/>
                </a:tc>
              </a:tr>
              <a:tr h="370850">
                <a:tc>
                  <a:txBody>
                    <a:bodyPr/>
                    <a:lstStyle/>
                    <a:p>
                      <a:pPr indent="0" lvl="0" marL="0" marR="0" rtl="0" algn="l">
                        <a:spcBef>
                          <a:spcPts val="0"/>
                        </a:spcBef>
                        <a:spcAft>
                          <a:spcPts val="0"/>
                        </a:spcAft>
                        <a:buNone/>
                      </a:pPr>
                      <a:r>
                        <a:rPr lang="en-US" sz="1800"/>
                        <a:t>Audio</a:t>
                      </a:r>
                      <a:endParaRPr sz="1800"/>
                    </a:p>
                  </a:txBody>
                  <a:tcPr marT="45725" marB="45725" marR="91450" marL="91450"/>
                </a:tc>
                <a:tc>
                  <a:txBody>
                    <a:bodyPr/>
                    <a:lstStyle/>
                    <a:p>
                      <a:pPr indent="0" lvl="0" marL="0" marR="0" rtl="0" algn="l">
                        <a:spcBef>
                          <a:spcPts val="0"/>
                        </a:spcBef>
                        <a:spcAft>
                          <a:spcPts val="0"/>
                        </a:spcAft>
                        <a:buNone/>
                      </a:pPr>
                      <a:r>
                        <a:rPr lang="en-US" sz="1800"/>
                        <a:t>Basic</a:t>
                      </a:r>
                      <a:endParaRPr sz="1800"/>
                    </a:p>
                  </a:txBody>
                  <a:tcPr marT="45725" marB="45725" marR="91450" marL="91450"/>
                </a:tc>
                <a:tc>
                  <a:txBody>
                    <a:bodyPr/>
                    <a:lstStyle/>
                    <a:p>
                      <a:pPr indent="0" lvl="0" marL="0" marR="0" rtl="0" algn="l">
                        <a:spcBef>
                          <a:spcPts val="0"/>
                        </a:spcBef>
                        <a:spcAft>
                          <a:spcPts val="0"/>
                        </a:spcAft>
                        <a:buNone/>
                      </a:pPr>
                      <a:r>
                        <a:rPr lang="en-US" sz="1800"/>
                        <a:t>Single-channel</a:t>
                      </a:r>
                      <a:r>
                        <a:rPr lang="en-US" sz="1800"/>
                        <a:t> encoding of voice at 8kHz</a:t>
                      </a:r>
                      <a:endParaRPr sz="1800"/>
                    </a:p>
                  </a:txBody>
                  <a:tcPr marT="45725" marB="45725" marR="91450" marL="91450"/>
                </a:tc>
              </a:tr>
              <a:tr h="370850">
                <a:tc>
                  <a:txBody>
                    <a:bodyPr/>
                    <a:lstStyle/>
                    <a:p>
                      <a:pPr indent="0" lvl="0" marL="0" marR="0" rtl="0" algn="l">
                        <a:spcBef>
                          <a:spcPts val="0"/>
                        </a:spcBef>
                        <a:spcAft>
                          <a:spcPts val="0"/>
                        </a:spcAft>
                        <a:buNone/>
                      </a:pPr>
                      <a:r>
                        <a:rPr lang="en-US" sz="1800"/>
                        <a:t>Application</a:t>
                      </a:r>
                      <a:endParaRPr sz="1800"/>
                    </a:p>
                  </a:txBody>
                  <a:tcPr marT="45725" marB="45725" marR="91450" marL="91450"/>
                </a:tc>
                <a:tc>
                  <a:txBody>
                    <a:bodyPr/>
                    <a:lstStyle/>
                    <a:p>
                      <a:pPr indent="0" lvl="0" marL="0" marR="0" rtl="0" algn="l">
                        <a:spcBef>
                          <a:spcPts val="0"/>
                        </a:spcBef>
                        <a:spcAft>
                          <a:spcPts val="0"/>
                        </a:spcAft>
                        <a:buNone/>
                      </a:pPr>
                      <a:r>
                        <a:rPr lang="en-US" sz="1800"/>
                        <a:t>Postscript</a:t>
                      </a:r>
                      <a:endParaRPr sz="1800"/>
                    </a:p>
                  </a:txBody>
                  <a:tcPr marT="45725" marB="45725" marR="91450" marL="91450"/>
                </a:tc>
                <a:tc>
                  <a:txBody>
                    <a:bodyPr/>
                    <a:lstStyle/>
                    <a:p>
                      <a:pPr indent="0" lvl="0" marL="0" marR="0" rtl="0" algn="l">
                        <a:spcBef>
                          <a:spcPts val="0"/>
                        </a:spcBef>
                        <a:spcAft>
                          <a:spcPts val="0"/>
                        </a:spcAft>
                        <a:buNone/>
                      </a:pPr>
                      <a:r>
                        <a:rPr lang="en-US" sz="1800"/>
                        <a:t>Adobe</a:t>
                      </a:r>
                      <a:r>
                        <a:rPr lang="en-US" sz="1800"/>
                        <a:t> Postscript</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Octet-stream</a:t>
                      </a:r>
                      <a:endParaRPr sz="1800"/>
                    </a:p>
                  </a:txBody>
                  <a:tcPr marT="45725" marB="45725" marR="91450" marL="91450"/>
                </a:tc>
                <a:tc>
                  <a:txBody>
                    <a:bodyPr/>
                    <a:lstStyle/>
                    <a:p>
                      <a:pPr indent="0" lvl="0" marL="0" marR="0" rtl="0" algn="l">
                        <a:spcBef>
                          <a:spcPts val="0"/>
                        </a:spcBef>
                        <a:spcAft>
                          <a:spcPts val="0"/>
                        </a:spcAft>
                        <a:buNone/>
                      </a:pPr>
                      <a:r>
                        <a:rPr lang="en-US" sz="1800"/>
                        <a:t>General binary data (8-bit</a:t>
                      </a:r>
                      <a:r>
                        <a:rPr lang="en-US" sz="1800"/>
                        <a:t> bytes)</a:t>
                      </a:r>
                      <a:endParaRPr sz="1800"/>
                    </a:p>
                  </a:txBody>
                  <a:tcPr marT="45725" marB="45725" marR="91450" marL="9145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2010-08-03T16:59:45Z</dcterms:created>
  <dc:creator>Arup</dc:creator>
</cp:coreProperties>
</file>