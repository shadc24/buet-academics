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78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01-Mar-26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Ethics: A Historical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Introduction to the historical development of ethics</a:t>
            </a:r>
          </a:p>
          <a:p>
            <a:pPr marL="0" indent="0">
              <a:buNone/>
            </a:pPr>
            <a:r>
              <a:rPr dirty="0"/>
              <a:t>• Key thinkers and ideas</a:t>
            </a:r>
          </a:p>
          <a:p>
            <a:pPr marL="0" indent="0">
              <a:buNone/>
            </a:pPr>
            <a:r>
              <a:rPr dirty="0"/>
              <a:t>• Relevance of ethical theories today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Studying Ethical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Understand foundations of ethical thought</a:t>
            </a:r>
          </a:p>
          <a:p>
            <a:pPr marL="0" indent="0">
              <a:buNone/>
            </a:pPr>
            <a:r>
              <a:rPr dirty="0"/>
              <a:t>• Appreciate systematic moral reasoning</a:t>
            </a:r>
          </a:p>
          <a:p>
            <a:pPr marL="0" indent="0">
              <a:buNone/>
            </a:pPr>
            <a:r>
              <a:rPr dirty="0"/>
              <a:t>• Apply classical ideas to modern dilemmas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Periods in Western Ethical Thought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Classical Period (500 BC – AD 500)</a:t>
            </a:r>
          </a:p>
          <a:p>
            <a:pPr marL="0" indent="0">
              <a:buNone/>
            </a:pPr>
            <a:r>
              <a:rPr dirty="0"/>
              <a:t>• Medieval Period (500 – 1500)</a:t>
            </a:r>
          </a:p>
          <a:p>
            <a:pPr marL="0" indent="0">
              <a:buNone/>
            </a:pPr>
            <a:r>
              <a:rPr dirty="0"/>
              <a:t>• Modern Period (1500 – present)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Classical Period: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lang="en-US" dirty="0" smtClean="0"/>
              <a:t>Transition: </a:t>
            </a:r>
            <a:r>
              <a:rPr dirty="0" smtClean="0"/>
              <a:t>Rise </a:t>
            </a:r>
            <a:r>
              <a:rPr dirty="0"/>
              <a:t>of Greek city-states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C</a:t>
            </a:r>
            <a:r>
              <a:rPr lang="en-US" dirty="0" smtClean="0"/>
              <a:t>hange of old values: </a:t>
            </a:r>
            <a:r>
              <a:rPr dirty="0" smtClean="0"/>
              <a:t>Shift </a:t>
            </a:r>
            <a:r>
              <a:rPr dirty="0"/>
              <a:t>from tradition to reason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 smtClean="0"/>
              <a:t>Spiritual counter part of medicine: </a:t>
            </a:r>
            <a:r>
              <a:rPr dirty="0" smtClean="0"/>
              <a:t>Ethics </a:t>
            </a:r>
            <a:r>
              <a:rPr dirty="0"/>
              <a:t>as care of the </a:t>
            </a:r>
            <a:r>
              <a:rPr dirty="0" smtClean="0"/>
              <a:t>soul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Sophists and Moral Relativism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Morality as convention or </a:t>
            </a:r>
            <a:r>
              <a:rPr lang="en-US" dirty="0" smtClean="0"/>
              <a:t>social </a:t>
            </a:r>
            <a:r>
              <a:rPr dirty="0" smtClean="0"/>
              <a:t>agreement</a:t>
            </a:r>
            <a:endParaRPr dirty="0"/>
          </a:p>
          <a:p>
            <a:pPr marL="0" indent="0">
              <a:buNone/>
            </a:pPr>
            <a:r>
              <a:rPr dirty="0"/>
              <a:t>• Good and evil as social constructs</a:t>
            </a:r>
          </a:p>
          <a:p>
            <a:pPr marL="0" indent="0">
              <a:buNone/>
            </a:pPr>
            <a:r>
              <a:rPr dirty="0"/>
              <a:t>• Emphasis on convenience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Socrates (469–399 BC)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Father of Western philosophy</a:t>
            </a:r>
          </a:p>
          <a:p>
            <a:pPr marL="0" indent="0">
              <a:buNone/>
            </a:pPr>
            <a:r>
              <a:rPr dirty="0"/>
              <a:t>• Morality grounded in </a:t>
            </a:r>
            <a:r>
              <a:rPr dirty="0" smtClean="0"/>
              <a:t>reason</a:t>
            </a:r>
            <a:r>
              <a:rPr lang="en-US" dirty="0" smtClean="0"/>
              <a:t>: Reject the idea of tradition </a:t>
            </a:r>
            <a:endParaRPr dirty="0"/>
          </a:p>
          <a:p>
            <a:pPr marL="0" indent="0">
              <a:buNone/>
            </a:pPr>
            <a:r>
              <a:rPr dirty="0"/>
              <a:t>• 'The unexamined life is not worth living'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Socratic </a:t>
            </a:r>
            <a:r>
              <a:rPr lang="en-US" dirty="0" smtClean="0"/>
              <a:t>Teaching </a:t>
            </a:r>
            <a:r>
              <a:rPr dirty="0" smtClean="0"/>
              <a:t>Method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lang="en-US" dirty="0" smtClean="0"/>
              <a:t>Know thyself: </a:t>
            </a:r>
            <a:r>
              <a:rPr dirty="0" smtClean="0"/>
              <a:t>Question-and-answer dialogue</a:t>
            </a:r>
            <a:r>
              <a:rPr lang="en-US" dirty="0" smtClean="0"/>
              <a:t>; and further inquiry</a:t>
            </a:r>
            <a:endParaRPr dirty="0"/>
          </a:p>
          <a:p>
            <a:pPr marL="0" indent="0">
              <a:buNone/>
            </a:pPr>
            <a:r>
              <a:rPr dirty="0"/>
              <a:t>• Clarifying concepts like justice and virtue</a:t>
            </a:r>
          </a:p>
          <a:p>
            <a:pPr marL="0" indent="0">
              <a:buNone/>
            </a:pPr>
            <a:r>
              <a:rPr dirty="0"/>
              <a:t>• Linking facts and </a:t>
            </a:r>
            <a:r>
              <a:rPr dirty="0" smtClean="0"/>
              <a:t>values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i="1" dirty="0" smtClean="0"/>
              <a:t>I to die, and  you to live which of these two is  better only God knows</a:t>
            </a:r>
            <a:r>
              <a:rPr lang="en-US" dirty="0" smtClean="0"/>
              <a:t>.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Plato (427–347 BC)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Student of Socrates</a:t>
            </a:r>
          </a:p>
          <a:p>
            <a:pPr marL="0" indent="0">
              <a:buNone/>
            </a:pPr>
            <a:r>
              <a:rPr dirty="0"/>
              <a:t>• The </a:t>
            </a:r>
            <a:r>
              <a:rPr dirty="0" smtClean="0"/>
              <a:t>Republic</a:t>
            </a:r>
            <a:r>
              <a:rPr lang="en-US" dirty="0" smtClean="0"/>
              <a:t>: Intellectual pursuits is more desirable than personal pleasures</a:t>
            </a:r>
          </a:p>
          <a:p>
            <a:pPr marL="0" indent="0">
              <a:buNone/>
            </a:pPr>
            <a:r>
              <a:rPr lang="en-US" dirty="0" smtClean="0"/>
              <a:t>Contrast to the idea of Socrates-Argued for the rule of  moderation </a:t>
            </a:r>
            <a:endParaRPr dirty="0"/>
          </a:p>
          <a:p>
            <a:pPr marL="0" indent="0">
              <a:buNone/>
            </a:pPr>
            <a:r>
              <a:rPr dirty="0"/>
              <a:t>• Reality of Ideas or </a:t>
            </a:r>
            <a:r>
              <a:rPr dirty="0" smtClean="0"/>
              <a:t>Forms</a:t>
            </a:r>
            <a:r>
              <a:rPr lang="en-US" dirty="0" smtClean="0"/>
              <a:t>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Plato’s Ethical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The Good as </a:t>
            </a:r>
            <a:r>
              <a:rPr lang="en-US" dirty="0" smtClean="0"/>
              <a:t>the </a:t>
            </a:r>
            <a:r>
              <a:rPr dirty="0" smtClean="0"/>
              <a:t>highest </a:t>
            </a:r>
            <a:r>
              <a:rPr dirty="0"/>
              <a:t>reality</a:t>
            </a:r>
          </a:p>
          <a:p>
            <a:pPr marL="0" indent="0">
              <a:buNone/>
            </a:pPr>
            <a:r>
              <a:rPr dirty="0"/>
              <a:t>• Reason over bodily pleasure</a:t>
            </a:r>
          </a:p>
          <a:p>
            <a:pPr marL="0" indent="0">
              <a:buNone/>
            </a:pPr>
            <a:r>
              <a:rPr dirty="0"/>
              <a:t>• Ethical goal: vision of the Good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Aristotle (384–322 BC)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Student of Plato</a:t>
            </a:r>
          </a:p>
          <a:p>
            <a:pPr marL="0" indent="0">
              <a:buNone/>
            </a:pPr>
            <a:r>
              <a:rPr dirty="0" smtClean="0"/>
              <a:t>•</a:t>
            </a:r>
            <a:r>
              <a:rPr lang="en-US" dirty="0" smtClean="0"/>
              <a:t> Reject the theory of forms or ideas</a:t>
            </a:r>
            <a:endParaRPr dirty="0"/>
          </a:p>
          <a:p>
            <a:pPr marL="0" indent="0">
              <a:buNone/>
            </a:pPr>
            <a:r>
              <a:rPr dirty="0"/>
              <a:t>• First systematic ethical theory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Aristotle’s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Happiness through reason</a:t>
            </a:r>
          </a:p>
          <a:p>
            <a:pPr marL="0" indent="0">
              <a:buNone/>
            </a:pPr>
            <a:r>
              <a:rPr dirty="0"/>
              <a:t>• Virtue as the mean</a:t>
            </a:r>
          </a:p>
          <a:p>
            <a:pPr marL="0" indent="0">
              <a:buNone/>
            </a:pPr>
            <a:r>
              <a:rPr dirty="0"/>
              <a:t>• Ethics rooted in daily life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Classical Schools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Hedonism: </a:t>
            </a:r>
            <a:r>
              <a:rPr dirty="0" err="1"/>
              <a:t>Cyrenaics</a:t>
            </a:r>
            <a:r>
              <a:rPr dirty="0"/>
              <a:t> &amp; Epicureans</a:t>
            </a:r>
          </a:p>
          <a:p>
            <a:pPr marL="0" indent="0">
              <a:buNone/>
            </a:pPr>
            <a:r>
              <a:rPr dirty="0"/>
              <a:t>• Duty and reason: Cynics &amp; Stoics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Medieval Period: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Dominance of Christianity</a:t>
            </a:r>
          </a:p>
          <a:p>
            <a:pPr marL="0" indent="0">
              <a:buNone/>
            </a:pPr>
            <a:r>
              <a:rPr dirty="0"/>
              <a:t>• Ethics centered on God</a:t>
            </a:r>
          </a:p>
          <a:p>
            <a:pPr marL="0" indent="0">
              <a:buNone/>
            </a:pPr>
            <a:r>
              <a:rPr dirty="0"/>
              <a:t>• Reason combined with faith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St. Augustine (354–430)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Christian-Platonic ethics</a:t>
            </a:r>
          </a:p>
          <a:p>
            <a:pPr marL="0" indent="0">
              <a:buNone/>
            </a:pPr>
            <a:r>
              <a:rPr dirty="0"/>
              <a:t>• Earthly </a:t>
            </a:r>
            <a:r>
              <a:rPr dirty="0" err="1"/>
              <a:t>vs</a:t>
            </a:r>
            <a:r>
              <a:rPr dirty="0"/>
              <a:t> eternal good</a:t>
            </a:r>
          </a:p>
          <a:p>
            <a:pPr marL="0" indent="0">
              <a:buNone/>
            </a:pPr>
            <a:r>
              <a:rPr dirty="0"/>
              <a:t>• Faith essential for virtue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St. Thomas Aquinas (1225–1274)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Christianized Aristotle</a:t>
            </a:r>
          </a:p>
          <a:p>
            <a:pPr marL="0" indent="0">
              <a:buNone/>
            </a:pPr>
            <a:r>
              <a:rPr dirty="0"/>
              <a:t>• Natural and theological ethics</a:t>
            </a:r>
          </a:p>
          <a:p>
            <a:pPr marL="0" indent="0">
              <a:buNone/>
            </a:pPr>
            <a:r>
              <a:rPr dirty="0"/>
              <a:t>• Natural Law theory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Significance of Aquinas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Harmony of reason and faith</a:t>
            </a:r>
          </a:p>
          <a:p>
            <a:pPr marL="0" indent="0">
              <a:buNone/>
            </a:pPr>
            <a:r>
              <a:rPr dirty="0"/>
              <a:t>• Ethics accessible through reason</a:t>
            </a:r>
          </a:p>
          <a:p>
            <a:pPr marL="0" indent="0">
              <a:buNone/>
            </a:pPr>
            <a:r>
              <a:rPr dirty="0"/>
              <a:t>• Path toward scientific ethics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Modern Period: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Reformation and scientific revolution</a:t>
            </a:r>
          </a:p>
          <a:p>
            <a:pPr marL="0" indent="0">
              <a:buNone/>
            </a:pPr>
            <a:r>
              <a:rPr dirty="0"/>
              <a:t>• Individual reasoning</a:t>
            </a:r>
          </a:p>
          <a:p>
            <a:pPr marL="0" indent="0">
              <a:buNone/>
            </a:pPr>
            <a:r>
              <a:rPr dirty="0"/>
              <a:t>• Shift from theology to science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Thomas Hobbes (1588–1679)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Ethics based on self-interest</a:t>
            </a:r>
          </a:p>
          <a:p>
            <a:pPr marL="0" indent="0">
              <a:buNone/>
            </a:pPr>
            <a:r>
              <a:rPr dirty="0"/>
              <a:t>• Morality arises from social contract</a:t>
            </a:r>
          </a:p>
          <a:p>
            <a:pPr marL="0" indent="0">
              <a:buNone/>
            </a:pPr>
            <a:r>
              <a:rPr dirty="0"/>
              <a:t>• Authority ensures order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Reaction to Hobbes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Humans possess moral faculty</a:t>
            </a:r>
          </a:p>
          <a:p>
            <a:pPr marL="0" indent="0">
              <a:buNone/>
            </a:pPr>
            <a:r>
              <a:rPr dirty="0"/>
              <a:t>• Concepts of intuition and conscience</a:t>
            </a:r>
          </a:p>
          <a:p>
            <a:pPr marL="0" indent="0">
              <a:buNone/>
            </a:pPr>
            <a:r>
              <a:rPr dirty="0"/>
              <a:t>• Morality beyond self-interest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David Hume (1711–1766)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Moral judgment involves feeling</a:t>
            </a:r>
          </a:p>
          <a:p>
            <a:pPr marL="0" indent="0">
              <a:buNone/>
            </a:pPr>
            <a:r>
              <a:rPr dirty="0"/>
              <a:t>• Utility and pleasure</a:t>
            </a:r>
          </a:p>
          <a:p>
            <a:pPr marL="0" indent="0">
              <a:buNone/>
            </a:pPr>
            <a:r>
              <a:rPr dirty="0"/>
              <a:t>• Moral sentiment over pure reason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Immanuel Kant (1724–1804)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652"/>
            <a:ext cx="8229600" cy="49115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Ethics of duty (Deontology)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 smtClean="0"/>
              <a:t>Basis of modern discussion of ethics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dirty="0" smtClean="0"/>
              <a:t>Morality </a:t>
            </a:r>
            <a:r>
              <a:rPr dirty="0"/>
              <a:t>grounded in </a:t>
            </a:r>
            <a:r>
              <a:rPr lang="en-US" dirty="0" smtClean="0"/>
              <a:t>(pure) </a:t>
            </a:r>
            <a:r>
              <a:rPr dirty="0" smtClean="0"/>
              <a:t>reason</a:t>
            </a:r>
            <a:r>
              <a:rPr lang="en-US" dirty="0" smtClean="0"/>
              <a:t> not in emotion 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 smtClean="0"/>
              <a:t>'</a:t>
            </a:r>
            <a:r>
              <a:rPr dirty="0" smtClean="0"/>
              <a:t>Good will</a:t>
            </a:r>
            <a:r>
              <a:rPr lang="en-US" dirty="0" smtClean="0"/>
              <a:t>'</a:t>
            </a:r>
            <a:r>
              <a:rPr dirty="0" smtClean="0"/>
              <a:t> </a:t>
            </a:r>
            <a:r>
              <a:rPr dirty="0"/>
              <a:t>as </a:t>
            </a:r>
            <a:r>
              <a:rPr lang="en-US" dirty="0" smtClean="0"/>
              <a:t>imperative of </a:t>
            </a:r>
            <a:r>
              <a:rPr dirty="0" smtClean="0"/>
              <a:t>moral foundation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• Happiness will be achieved through reason. </a:t>
            </a:r>
          </a:p>
          <a:p>
            <a:pPr marL="0" indent="0">
              <a:buNone/>
            </a:pPr>
            <a:r>
              <a:rPr lang="en-US" dirty="0" smtClean="0"/>
              <a:t>• in a civilized society human beings considered as rational being</a:t>
            </a:r>
          </a:p>
          <a:p>
            <a:pPr marL="0" indent="0">
              <a:buNone/>
            </a:pPr>
            <a:r>
              <a:rPr lang="en-US" dirty="0" smtClean="0"/>
              <a:t>• Natural law as categorical imperativeness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Kant’s Categorical Imperative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Act according to universal law</a:t>
            </a:r>
          </a:p>
          <a:p>
            <a:pPr marL="0" indent="0">
              <a:buNone/>
            </a:pPr>
            <a:r>
              <a:rPr dirty="0"/>
              <a:t>• Treat humans as ends, not means</a:t>
            </a:r>
          </a:p>
          <a:p>
            <a:pPr marL="0" indent="0">
              <a:buNone/>
            </a:pPr>
            <a:r>
              <a:rPr dirty="0"/>
              <a:t>• Duty gives moral worth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John Stuart Mill (1806-1873)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ethics of consequences (Teleology)</a:t>
            </a:r>
            <a:endParaRPr lang="en-US" dirty="0"/>
          </a:p>
          <a:p>
            <a:r>
              <a:rPr lang="en-US" dirty="0" smtClean="0"/>
              <a:t>Inspiration from James Mill and Jeremy </a:t>
            </a:r>
            <a:r>
              <a:rPr lang="en-US" dirty="0" err="1" smtClean="0"/>
              <a:t>Benthem</a:t>
            </a:r>
            <a:endParaRPr lang="en-US" dirty="0" smtClean="0"/>
          </a:p>
          <a:p>
            <a:r>
              <a:rPr lang="en-US" dirty="0" smtClean="0"/>
              <a:t>The system of Utilitarianism: Rightness or badness of action determined by their consequences</a:t>
            </a:r>
          </a:p>
          <a:p>
            <a:r>
              <a:rPr lang="en-US" dirty="0" smtClean="0"/>
              <a:t>It’s a Hedonist ethics</a:t>
            </a:r>
          </a:p>
          <a:p>
            <a:r>
              <a:rPr lang="en-US" dirty="0" smtClean="0"/>
              <a:t>Pleasure or happiness is the standard of Moral Judgment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089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External motivation: friends </a:t>
            </a:r>
            <a:r>
              <a:rPr lang="en-US" dirty="0" err="1" smtClean="0"/>
              <a:t>favour</a:t>
            </a:r>
            <a:r>
              <a:rPr lang="en-US" dirty="0" smtClean="0"/>
              <a:t>, or Gods wrath. </a:t>
            </a:r>
          </a:p>
          <a:p>
            <a:r>
              <a:rPr lang="en-US" dirty="0" smtClean="0"/>
              <a:t>Internal motivation: inner feeling of humanity</a:t>
            </a:r>
          </a:p>
          <a:p>
            <a:r>
              <a:rPr lang="en-US" dirty="0" smtClean="0"/>
              <a:t>From society we learn this </a:t>
            </a:r>
            <a:r>
              <a:rPr lang="en-US" smtClean="0"/>
              <a:t>inner motivation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17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Ethical debates continue across eras</a:t>
            </a:r>
          </a:p>
          <a:p>
            <a:pPr marL="0" indent="0">
              <a:buNone/>
            </a:pPr>
            <a:r>
              <a:rPr dirty="0"/>
              <a:t>• Reason, duty, pleasure, and faith persist</a:t>
            </a:r>
          </a:p>
          <a:p>
            <a:pPr marL="0" indent="0">
              <a:buNone/>
            </a:pPr>
            <a:r>
              <a:rPr dirty="0"/>
              <a:t>• Historical ethics informs modern moral thinking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22BF62525A1A4F97844FCE84F34EFE" ma:contentTypeVersion="3" ma:contentTypeDescription="Create a new document." ma:contentTypeScope="" ma:versionID="04562df79efb3d9c79f67e8c7464ef85">
  <xsd:schema xmlns:xsd="http://www.w3.org/2001/XMLSchema" xmlns:xs="http://www.w3.org/2001/XMLSchema" xmlns:p="http://schemas.microsoft.com/office/2006/metadata/properties" xmlns:ns2="1c66dcb4-74ec-4896-bbf2-3cc5d4217c42" targetNamespace="http://schemas.microsoft.com/office/2006/metadata/properties" ma:root="true" ma:fieldsID="a56b591b6a05308387ea17c26947bc64" ns2:_="">
    <xsd:import namespace="1c66dcb4-74ec-4896-bbf2-3cc5d4217c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66dcb4-74ec-4896-bbf2-3cc5d4217c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E85EE08-B29C-4C6B-B0BC-AA46F6B61049}"/>
</file>

<file path=customXml/itemProps2.xml><?xml version="1.0" encoding="utf-8"?>
<ds:datastoreItem xmlns:ds="http://schemas.openxmlformats.org/officeDocument/2006/customXml" ds:itemID="{F147989E-84C6-49BF-98F4-9935968F62CA}"/>
</file>

<file path=customXml/itemProps3.xml><?xml version="1.0" encoding="utf-8"?>
<ds:datastoreItem xmlns:ds="http://schemas.openxmlformats.org/officeDocument/2006/customXml" ds:itemID="{BCD2CD27-9957-45E4-BC08-DE1086BD944C}"/>
</file>

<file path=docProps/app.xml><?xml version="1.0" encoding="utf-8"?>
<Properties xmlns="http://schemas.openxmlformats.org/officeDocument/2006/extended-properties" xmlns:vt="http://schemas.openxmlformats.org/officeDocument/2006/docPropsVTypes">
  <TotalTime>8854</TotalTime>
  <Words>661</Words>
  <Application>Microsoft Office PowerPoint</Application>
  <PresentationFormat>On-screen Show (4:3)</PresentationFormat>
  <Paragraphs>107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Ethics: A Historical Perspective</vt:lpstr>
      <vt:lpstr>Purpose of Studying Ethical History</vt:lpstr>
      <vt:lpstr>Periods in Western Ethical Thought</vt:lpstr>
      <vt:lpstr>The Classical Period: Context</vt:lpstr>
      <vt:lpstr>Sophists and Moral Relativism</vt:lpstr>
      <vt:lpstr>Socrates (469–399 BC)</vt:lpstr>
      <vt:lpstr>Socratic Teaching Method</vt:lpstr>
      <vt:lpstr>Plato (427–347 BC)</vt:lpstr>
      <vt:lpstr>Plato’s Ethical Vision</vt:lpstr>
      <vt:lpstr>Aristotle (384–322 BC)</vt:lpstr>
      <vt:lpstr>Aristotle’s Ethics</vt:lpstr>
      <vt:lpstr>Other Classical Schools</vt:lpstr>
      <vt:lpstr>The Medieval Period: Context</vt:lpstr>
      <vt:lpstr>St. Augustine (354–430)</vt:lpstr>
      <vt:lpstr>St. Thomas Aquinas (1225–1274)</vt:lpstr>
      <vt:lpstr>Significance of Aquinas</vt:lpstr>
      <vt:lpstr>The Modern Period: Context</vt:lpstr>
      <vt:lpstr>Thomas Hobbes (1588–1679)</vt:lpstr>
      <vt:lpstr>Reaction to Hobbes</vt:lpstr>
      <vt:lpstr>David Hume (1711–1766)</vt:lpstr>
      <vt:lpstr>Immanuel Kant (1724–1804)</vt:lpstr>
      <vt:lpstr>Kant’s Categorical Imperative</vt:lpstr>
      <vt:lpstr>John Stuart Mill (1806-1873)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Ethics: A Historical Perspective</dc:title>
  <dc:subject/>
  <dc:creator>Rafi</dc:creator>
  <cp:keywords/>
  <dc:description>generated using python-pptx</dc:description>
  <cp:lastModifiedBy>Rafi</cp:lastModifiedBy>
  <cp:revision>14</cp:revision>
  <dcterms:created xsi:type="dcterms:W3CDTF">2013-01-27T09:14:16Z</dcterms:created>
  <dcterms:modified xsi:type="dcterms:W3CDTF">2026-02-28T18:09:37Z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0x0101001622BF62525A1A4F97844FCE84F34EFE</vt:lpwstr>
  </property>
</Properties>
</file>