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89" d="100"/>
          <a:sy n="89" d="100"/>
        </p:scale>
        <p:origin x="-58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63D0D-43FC-4EE4-AFBA-82927448E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1755B-7827-4BC3-B00D-795A1D2F1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67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33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14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181B4EF-116B-E26D-44C2-C376459C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98312E1-1566-5F49-305A-878235878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33E287D-EDF4-DAA0-234B-992EDA1BB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150073D-C5C5-D268-04E9-EA9436DAB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52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8DC04B-046A-BC82-998E-18D591F14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331C2AC-B07D-B884-90C7-1D6A0BCF6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75195E4-E16D-ECDC-9C5A-968FCB405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BAA3825-6E0F-CA5E-E8E0-9ABF630E8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022891-BF1E-E22F-CC2E-BE30E0720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F6C3A6A-7921-05DB-F1F5-5D012DDA8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ACD9DA6-8DFB-BE44-6AB5-47BEF7E92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26A30D4-31FA-3F87-548E-6B7C0F194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2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B478FC-85AC-1E27-C6D3-C394CC9D5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9747D72-4643-9863-40CC-A38DC0E6D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051EBE6-4A2A-6826-61F6-B4E4A1FFC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DBAFC5B-FF3C-D0E8-A95F-F8150E8F1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9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912DF6-28CB-683F-0282-FBCBF4A2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814D2D6-3FD0-8716-2C3E-762366074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33CBA1E-D418-E5D9-BA28-1270F4C07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075CF4-1AB4-A09B-7FAD-30D0AC79A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4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8C13A68-0A41-EE58-076A-A64F20530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5FA09FE-FEDD-2517-8342-BF61D1D8A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B2F25DF-589D-D2C5-8425-C18494AE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D0A7256-440E-C93F-E3B2-9A75DDE49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77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87E2F0-C641-C366-6E63-4EDC247C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17263FD-45C6-F35A-CF39-A12259C19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A52F17F-B122-CED1-DBC8-526B19839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9A1139E-9D87-3662-13D9-9E382EC60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05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827182-004E-67F5-AB87-5B3AE51F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E896C7E-A449-1E28-7FC7-F84DBAB22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A41A7AA-A831-EB14-7616-B7E9A0242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08256E-2750-1849-B8E4-2DABE6A3C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35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C48682C-2D6D-366C-B985-299FD89C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BEB32A3-FBC5-8891-3ECB-F80E13BD9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B8EA284-2A91-B69A-376C-67DCB8711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828AA1-CEA3-4CD5-1010-6C0B0C508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12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3EE481-9FB8-9710-3F79-50178B5C9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CCEFEA6-D107-DECA-8111-BB1993FBF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E1BEEF5-F47F-AB82-DF72-E85FC2F98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4028087-54F9-9E9B-A056-2C3889785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88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ACD2F7B-43AE-037E-0FA0-ACBFDBB65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C60296A-082E-B9E7-A0C7-74DE39255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1C11E56-DD51-0519-7DF6-CA2C73C53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FEB0F91-34DC-07DD-BB16-CE1DF8321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32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84D017-82B6-A354-7AA2-EDEC9E9F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9BE05F1-73F5-8980-94E3-20E78F011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1636062-A80B-2057-EC92-26E390F50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0C92F6A-5F50-BC84-D051-AC40C6AC7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90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455295-D4D6-843F-40FD-B7388D679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396D5F2-E050-7530-56C1-BE8CB9449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D4E1942-9157-99C2-7D32-CA2948AF0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FF16023-B3A4-A127-C131-865EBAF49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758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D23829-27E3-FC9A-61DB-CF638D9F4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6E2774A-4EA9-36A8-BDFA-F357A50A2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79B9C92-2669-4B9D-162F-120BAA7EA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BA33155-9CD7-F35A-D5DA-337014C2C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624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E5F9449-E963-E0F1-28C8-AF06AF917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4B3AD2F-AFBA-217C-BA13-B5DAA59F0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034C6D2-52D3-2DB8-FCB1-F4571B762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37BDA9A-8F19-054F-4266-C3273D297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1755B-7827-4BC3-B00D-795A1D2F1B9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79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CBA0BC-D55B-3376-7863-D60B46764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9309648-233A-B71B-C8B3-DEBE742FC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528A89-41A4-3FCE-3255-9655BB0C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817AA2-AAF0-21D1-5117-FEE2CF1A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28C06D5-8A57-0841-673A-6FF35145F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4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51D53A-67C0-A041-445C-E09C9821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E2CE0D-4641-85FD-45C1-FEEAA04A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BB9C212-0BF4-ABEE-CCA9-A0C002F6C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99AF0D-21D9-EC4E-4E0E-8CFB23940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FBB8EF-67D5-BDCC-9236-5FBA05A2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23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4E6C9F-C14E-23B8-1DF2-2786AB6A1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09DFF6-0E36-F063-10AC-B970D9BA4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AD6797-14E2-3C1A-0BC7-65461324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309F19-F58A-DFB1-8D52-7EE8D9473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842303D-38A9-3514-00BC-0E1EF449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40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6750E7-310C-7760-84D4-F1774C39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D9C5E3-4221-8D70-5CFE-DB1D5E48A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00D6FF-6CB8-2194-C567-5369CA227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522F5F6-22D8-2031-15F6-A42C113C2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D74677A-EE36-621F-3790-942243E9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12090B2-3484-86C9-87CA-BCCD26FD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3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E338D7-EFFA-F0A5-F103-E1DA3D170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F5F8FE6-5032-03FA-BAA4-78630D63D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99D1EA5-F2AF-AC61-97E6-8613F35D7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AEC7DB2-B040-F52D-9126-1C2EDCCCF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6E15207-03E3-0190-D83D-1D29FBBE1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A189963-7C9B-1586-5396-FC21B3F5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401B02E-B758-9338-A30E-473C874E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EAC930-FCE2-ADB0-AAC9-B89129BE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51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97F0C7-8F18-1EB1-EABB-014D5C03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724AC55-0295-441E-85A3-859B6A3A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C988BF1-1BF5-CF1C-4CA6-7E65C911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334C0E7-F509-5D93-621A-79F5DA41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6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E023459-9333-8C1E-9000-33AC62CC3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BC9B595-C75B-9EDA-5C08-27161BC7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96609C-542A-531A-8BF7-84E6BD39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2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7AEFD6-12B8-42D2-EAFD-1047A489B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0EAC67-0D50-0D0F-BE1E-67327ED25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CF94471-8AC3-F4A8-C41D-F5B1B3915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3E3D7A-78A8-CBB1-43CE-02085536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EC2EFEC-D678-9C81-B8CA-0549932C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DC167A-01BB-73C4-C451-2725DC54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2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FBCEFB-DE35-0096-2EA3-89BF468B0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E410C55-C796-B3EF-AD3D-9A4715364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71A971E-7D96-B36D-C3A9-E4702A1B4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BD43A86-6959-1A1D-991F-56B54998E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968CB5A-D59C-6A62-6F02-E8734FFD8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FCD9FA8-E911-E742-C7BC-6001C34D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8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F9CA0F-E2BE-5BA5-4303-B3CEA456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34C05F2-E8F3-3A6D-49EC-3608E5E6F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FBD416-4020-DF81-9B45-EF1CD8FB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E97B8F3-CF00-BE6D-3EB5-7DA6BC3B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260A6B9-ECA4-A078-0C81-85596AD58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0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D04BEA5-690E-A89A-77ED-F49601C17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7E481C7-C092-D82D-1929-EB0E98D55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AD9F7D4-0600-C529-12E9-CDB7D1825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D47967-7A80-F91F-EC2D-3D05D5C0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F7F1DC-F988-F073-A653-42A5BBB9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8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1218AA1-2284-A3DB-ACE7-096EE3A1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9A4AC01-662A-BD72-20F3-635F15A05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0E1A31B-4EE7-0F57-3B70-345C9F4D8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FA116-07F3-47D5-AE21-F22E7A23BE4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EC1A92-0772-FAFC-8ED3-88E9FB5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EDDE30-16CB-A84C-254D-DA29D5745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CF5A5-6074-459A-8412-E7C5888F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2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hastie.su.domains/TALKS/boos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0DC616-1EAD-3A72-A889-9DF1006690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Ensemble Learning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6CFFBA5-B19A-1667-B278-FA9357392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Bagging, Boosting, Gradient Boosting, </a:t>
            </a:r>
            <a:r>
              <a:rPr lang="en-US" dirty="0" err="1"/>
              <a:t>XGBoost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21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2268FA-B289-1ABE-5F83-BE3CA2FC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92DDA0-053B-9A24-A808-700861CAA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train only one predictor when we can train many?</a:t>
            </a:r>
          </a:p>
          <a:p>
            <a:pPr lvl="1"/>
            <a:r>
              <a:rPr lang="en-US" dirty="0" smtClean="0"/>
              <a:t>Training many predictor is computationally </a:t>
            </a:r>
            <a:r>
              <a:rPr lang="en-US" dirty="0"/>
              <a:t>expensive</a:t>
            </a:r>
          </a:p>
          <a:p>
            <a:endParaRPr lang="en-US" dirty="0"/>
          </a:p>
          <a:p>
            <a:r>
              <a:rPr lang="en-US" dirty="0"/>
              <a:t>But what if we combine many predictors?</a:t>
            </a:r>
          </a:p>
          <a:p>
            <a:endParaRPr lang="en-US" dirty="0"/>
          </a:p>
          <a:p>
            <a:r>
              <a:rPr lang="en-US" dirty="0"/>
              <a:t>Ensemble of many predictors</a:t>
            </a:r>
          </a:p>
          <a:p>
            <a:pPr lvl="1"/>
            <a:r>
              <a:rPr lang="en-US" dirty="0"/>
              <a:t>Combination of many predictors</a:t>
            </a:r>
          </a:p>
          <a:p>
            <a:pPr lvl="2"/>
            <a:r>
              <a:rPr lang="en-US" dirty="0"/>
              <a:t>Weighted, Unweighted, Majority Voting, etc.</a:t>
            </a:r>
          </a:p>
          <a:p>
            <a:pPr lvl="1"/>
            <a:r>
              <a:rPr lang="en-US" dirty="0"/>
              <a:t>Same or different predictors</a:t>
            </a:r>
          </a:p>
        </p:txBody>
      </p:sp>
    </p:spTree>
    <p:extLst>
      <p:ext uri="{BB962C8B-B14F-4D97-AF65-F5344CB8AC3E}">
        <p14:creationId xmlns:p14="http://schemas.microsoft.com/office/powerpoint/2010/main" val="17883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7FC040-01B0-FFC5-C569-B017D3B8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F28D0C-CA61-73FA-14FA-912E6FD86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Ensemble Methods</a:t>
            </a:r>
          </a:p>
          <a:p>
            <a:pPr lvl="1"/>
            <a:r>
              <a:rPr lang="en-US" dirty="0"/>
              <a:t>Bagging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Sequential Ensemble Methods</a:t>
            </a:r>
          </a:p>
          <a:p>
            <a:pPr lvl="1"/>
            <a:r>
              <a:rPr lang="en-US" dirty="0"/>
              <a:t>Boosting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85F372C-6410-0669-4CA2-45EAB00AF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174" y="1500411"/>
            <a:ext cx="5373974" cy="2325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22C85D5-B522-53A9-CF06-8F38C1379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607" y="4961162"/>
            <a:ext cx="6693108" cy="111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6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EB93D6-96CF-6C9F-6B78-795E665B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(Bootstrap Aggregating)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E488579D-D983-CAB5-ABA9-0F340A644D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Bootstrap</a:t>
                </a:r>
              </a:p>
              <a:p>
                <a:pPr lvl="1"/>
                <a:r>
                  <a:rPr lang="en-US" dirty="0"/>
                  <a:t>Randomly draw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samples from S samples with replacements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Aggregate</a:t>
                </a:r>
              </a:p>
              <a:p>
                <a:pPr lvl="1"/>
                <a:r>
                  <a:rPr lang="en-US" dirty="0"/>
                  <a:t>Bootstrap T times</a:t>
                </a:r>
              </a:p>
              <a:p>
                <a:pPr lvl="1"/>
                <a:r>
                  <a:rPr lang="en-US" dirty="0"/>
                  <a:t>Train a predictor on each bootstrap</a:t>
                </a:r>
              </a:p>
              <a:p>
                <a:pPr lvl="1"/>
                <a:r>
                  <a:rPr lang="en-US" dirty="0"/>
                  <a:t>Inference</a:t>
                </a:r>
              </a:p>
              <a:p>
                <a:pPr lvl="2"/>
                <a:r>
                  <a:rPr lang="en-US" dirty="0"/>
                  <a:t>Combine the prediction of each predictor</a:t>
                </a:r>
              </a:p>
              <a:p>
                <a:pPr lvl="3"/>
                <a:r>
                  <a:rPr lang="en-US" dirty="0"/>
                  <a:t>Regression: Average</a:t>
                </a:r>
              </a:p>
              <a:p>
                <a:pPr lvl="3"/>
                <a:r>
                  <a:rPr lang="en-US" dirty="0"/>
                  <a:t>Classification: Majority Voting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E488579D-D983-CAB5-ABA9-0F340A644D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79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974CC1-CA55-1E2F-4F14-51A95BE2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94DDAD-09DB-3EF9-44A4-2DB19D461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(Bootstrap Aggregating)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99FED7-408D-647E-AA78-4187D7808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C8123A5-6764-387A-432E-5BD18CEBB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38333"/>
            <a:ext cx="7102412" cy="452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26FA90E-5DE5-B319-890E-60B5502FB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E254ED-6692-50DC-DA94-D9F99610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(Bootstrap Aggregating)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1C5FBE-1338-D9AB-1899-1341EF86A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sample with replacement?</a:t>
            </a:r>
          </a:p>
          <a:p>
            <a:endParaRPr lang="en-US" dirty="0"/>
          </a:p>
          <a:p>
            <a:r>
              <a:rPr lang="en-US" dirty="0"/>
              <a:t>Several intuitions</a:t>
            </a:r>
          </a:p>
          <a:p>
            <a:pPr lvl="1"/>
            <a:r>
              <a:rPr lang="en-US" dirty="0"/>
              <a:t>Duplicate entries get more importance in the model</a:t>
            </a:r>
          </a:p>
          <a:p>
            <a:pPr lvl="1"/>
            <a:r>
              <a:rPr lang="en-US" dirty="0"/>
              <a:t>Each predictor focuses on different regions</a:t>
            </a:r>
          </a:p>
          <a:p>
            <a:pPr lvl="1"/>
            <a:r>
              <a:rPr lang="en-US" dirty="0"/>
              <a:t>Increased diversity among the predictors</a:t>
            </a:r>
          </a:p>
          <a:p>
            <a:pPr lvl="1"/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29632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0ADDF8-50B3-27A3-F117-771829EA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5E67E5-507E-4681-8666-073468D2F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(Bootstrap Aggregating)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86864AB3-DD10-39F7-110F-8365A5F93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But how to be sure that we have enough diversity in the dataset?</a:t>
                </a:r>
              </a:p>
              <a:p>
                <a:pPr lvl="1"/>
                <a:r>
                  <a:rPr lang="en-US" dirty="0"/>
                  <a:t>For example, all the sampled data point </a:t>
                </a:r>
                <a:r>
                  <a:rPr lang="en-US" dirty="0" smtClean="0"/>
                  <a:t>may be the same</a:t>
                </a:r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If bootstrap size is same as the size of the dataset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= </m:t>
                    </m:r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Bootstraps covers 63% unique samples on average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The probability that a point is never selecting in a bootstrap,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 –</m:t>
                              </m:r>
                              <m:f>
                                <m:fPr>
                                  <m:ctrlPr>
                                    <a:rPr lang="en-US" i="1" dirty="0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0.368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probability of a sample being selected is approximately 0.63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6864AB3-DD10-39F7-110F-8365A5F93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68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8B6D3C3-482E-79FF-2088-DD2E3595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903E31-D243-96F8-195C-FAB10A427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(Bootstrap Aggregating)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F10646C4-B72E-ED50-98C9-2F5B9CEB4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Why </a:t>
                </a:r>
                <a:r>
                  <a:rPr lang="en-US" dirty="0"/>
                  <a:t>does </a:t>
                </a:r>
                <a:r>
                  <a:rPr lang="en-US" dirty="0" smtClean="0"/>
                  <a:t>bagging improve </a:t>
                </a:r>
                <a:r>
                  <a:rPr lang="en-US" dirty="0"/>
                  <a:t>performance?</a:t>
                </a:r>
              </a:p>
              <a:p>
                <a:endParaRPr lang="en-US" dirty="0"/>
              </a:p>
              <a:p>
                <a:r>
                  <a:rPr lang="en-US" dirty="0"/>
                  <a:t>Recall bias-variance tradeoff for linear regression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Instead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we now have,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10646C4-B72E-ED50-98C9-2F5B9CEB4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267661E-4EE5-8101-A4D1-5B5A5864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725" y="3429000"/>
            <a:ext cx="6658550" cy="724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C74653D-B4DF-1D09-8924-C73063B0D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97" y="5421489"/>
            <a:ext cx="2609005" cy="882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9BE52F4-BA95-6111-193A-37E3C067A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899" y="4668989"/>
            <a:ext cx="3275351" cy="41072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2B5ECB0C-601E-C17C-C10A-06F0D3C0E4B0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8461948" y="4153019"/>
            <a:ext cx="1712627" cy="515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6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463A8B-D8C4-1906-8F84-263C1827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2A34DF-B93F-BA38-2288-E3DB3ABF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(Bootstrap Aggregating)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33A31C24-AD55-9995-D791-158B7C1374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first focus only on the last term,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 the predictors are weakly correlated,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31C24-AD55-9995-D791-158B7C1374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58A601E-5FFE-65A3-C1BC-7672F56B8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526" y="2435902"/>
            <a:ext cx="9398947" cy="5012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E5D05561-12E5-04B6-DB30-4305D6CAD159}"/>
              </a:ext>
            </a:extLst>
          </p:cNvPr>
          <p:cNvGrpSpPr/>
          <p:nvPr/>
        </p:nvGrpSpPr>
        <p:grpSpPr>
          <a:xfrm>
            <a:off x="3240990" y="3011024"/>
            <a:ext cx="5710020" cy="1689851"/>
            <a:chOff x="1396525" y="3109215"/>
            <a:chExt cx="6573703" cy="189000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xmlns="" id="{ACF1F852-0F0C-5069-4948-50FC801E9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6525" y="3109215"/>
              <a:ext cx="5971203" cy="112550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D8C07E-5510-4A54-EC57-826A92059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8667" y="4057776"/>
              <a:ext cx="3481561" cy="941443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3D1F989-2135-F986-CED1-B5CADB5A36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9859" y="5702408"/>
            <a:ext cx="3854025" cy="7769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F354F2D1-4FB8-B8C5-FE88-9EB92DAE4EA7}"/>
                  </a:ext>
                </a:extLst>
              </p:cNvPr>
              <p:cNvSpPr txBox="1"/>
              <p:nvPr/>
            </p:nvSpPr>
            <p:spPr>
              <a:xfrm>
                <a:off x="7853884" y="5531867"/>
                <a:ext cx="1571456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→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54F2D1-4FB8-B8C5-FE88-9EB92DAE4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884" y="5531867"/>
                <a:ext cx="1571456" cy="1117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2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9C50DE-3C7C-A082-FE1E-23C95538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9D15C8-8EBB-8BBB-62A2-9F842B86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(Bootstrap Aggregating)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A1183A6-BEB8-D66A-9D4B-D68951B142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Bagging reduces variance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about bias?</a:t>
                </a:r>
              </a:p>
              <a:p>
                <a:pPr lvl="1"/>
                <a:r>
                  <a:rPr lang="en-US" dirty="0"/>
                  <a:t>Since the class of predictors is </a:t>
                </a:r>
                <a:r>
                  <a:rPr lang="en-US" dirty="0" smtClean="0"/>
                  <a:t>same </a:t>
                </a:r>
                <a:r>
                  <a:rPr lang="en-US" dirty="0"/>
                  <a:t>as the single predictor, assuming each bootstraps have the same empirical distribution as the training </a:t>
                </a:r>
                <a:r>
                  <a:rPr lang="en-US" dirty="0" smtClean="0"/>
                  <a:t>data </a:t>
                </a:r>
                <a:r>
                  <a:rPr lang="en-US" dirty="0"/>
                  <a:t>we can show that,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𝑎𝑣𝑔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Bias remains same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A1183A6-BEB8-D66A-9D4B-D68951B14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043" t="-238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683B4B1-27CF-587C-93B0-CD71C9D93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526" y="2435902"/>
            <a:ext cx="9398947" cy="50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7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47089C5-EE37-CC3C-FDE3-02450794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456CEB-8891-2FA7-E863-B613E36C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D3CE1B90-DE2A-0781-3218-D1DF306659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When lots of data, we typically get the same predictor</a:t>
                </a:r>
              </a:p>
              <a:p>
                <a:r>
                  <a:rPr lang="en-US" dirty="0"/>
                  <a:t>Averaging doesn’t help a lot</a:t>
                </a:r>
              </a:p>
              <a:p>
                <a:pPr lvl="1"/>
                <a:r>
                  <a:rPr lang="en-US" dirty="0"/>
                  <a:t>High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Introduce extra variation in learner</a:t>
                </a:r>
              </a:p>
              <a:p>
                <a:pPr lvl="1"/>
                <a:r>
                  <a:rPr lang="en-US" dirty="0"/>
                  <a:t>At each step of training, only allow a subset of features</a:t>
                </a:r>
              </a:p>
              <a:p>
                <a:pPr lvl="1"/>
                <a:r>
                  <a:rPr lang="en-US" dirty="0"/>
                  <a:t>Enforces diversity (“best” feature not available)</a:t>
                </a:r>
              </a:p>
              <a:p>
                <a:pPr lvl="1"/>
                <a:r>
                  <a:rPr lang="en-US" dirty="0"/>
                  <a:t>Average over these learners (majority vote)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CE1B90-DE2A-0781-3218-D1DF306659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26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AF8F0-FE74-DBC7-576D-9B55279DE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8526DC-4E29-13C0-70E6-28F1F128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(Bootstrap Aggregating)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C10BDF-1266-562C-EADD-D62383567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Visualization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2AA1D8A-7E89-278C-39E3-A12C762DE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539" y="1448638"/>
            <a:ext cx="2503281" cy="2115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4CC91EE-C9AE-8BA1-414B-0CE4256DE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384" y="3563937"/>
            <a:ext cx="9391338" cy="278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5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167EE2-DE08-0E69-36F6-39DEC6DA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B5E5A0-C5D2-87A6-C3BE-D04AEC46A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A3DC28E-2678-442E-4432-84ED56DA7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6683" y="1353083"/>
            <a:ext cx="4207419" cy="546530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xmlns="" id="{75EAD7D3-5C3D-3904-5ADC-C99702D6C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14" t="-779" r="1214" b="65403"/>
          <a:stretch>
            <a:fillRect/>
          </a:stretch>
        </p:blipFill>
        <p:spPr>
          <a:xfrm>
            <a:off x="5421117" y="1690688"/>
            <a:ext cx="6667437" cy="3063875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xmlns="" id="{3675E36A-9EF3-61A2-95FA-0AAA225E6C9E}"/>
              </a:ext>
            </a:extLst>
          </p:cNvPr>
          <p:cNvSpPr/>
          <p:nvPr/>
        </p:nvSpPr>
        <p:spPr>
          <a:xfrm>
            <a:off x="5129145" y="1391535"/>
            <a:ext cx="291972" cy="1824207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31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6803D5-CDAB-3547-A42A-9B82D777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49911B-63FA-BA92-FA4A-7F329B2C3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72B836E-F82E-D5D6-4BB6-8B8843243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6683" y="1353083"/>
            <a:ext cx="4207419" cy="5465308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xmlns="" id="{3DB4703A-C143-A41A-676C-99E49B369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805"/>
          <a:stretch>
            <a:fillRect/>
          </a:stretch>
        </p:blipFill>
        <p:spPr>
          <a:xfrm>
            <a:off x="5446979" y="801610"/>
            <a:ext cx="6346176" cy="5374337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xmlns="" id="{0E1E13D6-63CF-60C1-C676-76122FB20894}"/>
              </a:ext>
            </a:extLst>
          </p:cNvPr>
          <p:cNvSpPr/>
          <p:nvPr/>
        </p:nvSpPr>
        <p:spPr>
          <a:xfrm>
            <a:off x="5155007" y="3332344"/>
            <a:ext cx="291972" cy="336302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5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6E1BA1-5956-7859-9233-F1BBEE0E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B3D9D2-D561-E8EE-3E11-811A6B33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F66700D2-536A-EC18-1A8D-0742016BE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new experts on examples that others get wrong</a:t>
            </a:r>
          </a:p>
          <a:p>
            <a:pPr lvl="1"/>
            <a:r>
              <a:rPr lang="en-US" dirty="0"/>
              <a:t>Train experts sequentially</a:t>
            </a:r>
          </a:p>
          <a:p>
            <a:pPr lvl="1"/>
            <a:r>
              <a:rPr lang="en-US" dirty="0"/>
              <a:t>Errors of early experts indicate the “hard” examples</a:t>
            </a:r>
          </a:p>
          <a:p>
            <a:pPr lvl="1"/>
            <a:r>
              <a:rPr lang="en-US" dirty="0"/>
              <a:t>Focus later classifiers on getting these examples right</a:t>
            </a:r>
          </a:p>
          <a:p>
            <a:pPr lvl="1"/>
            <a:r>
              <a:rPr lang="en-US" dirty="0"/>
              <a:t>Combine the whole set in the end</a:t>
            </a:r>
          </a:p>
          <a:p>
            <a:pPr lvl="1"/>
            <a:r>
              <a:rPr lang="en-US" dirty="0"/>
              <a:t>Convert many “weak” learners into a complex classifier</a:t>
            </a:r>
          </a:p>
        </p:txBody>
      </p:sp>
    </p:spTree>
    <p:extLst>
      <p:ext uri="{BB962C8B-B14F-4D97-AF65-F5344CB8AC3E}">
        <p14:creationId xmlns:p14="http://schemas.microsoft.com/office/powerpoint/2010/main" val="165714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FFC244-E57A-0332-6927-60EC17C5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19B452-0140-3618-DD73-25BC28CB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E7E4B161-AC78-D7E8-F1CC-86A1D4DBE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4C423D1-9FEF-E559-A16D-616D1D295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979" y="0"/>
            <a:ext cx="6704259" cy="68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9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33006AA-C0EB-57F8-D429-ABFAEE5A5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3E06A4-66B2-EA27-D1C5-A8DA8F2A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962B4D4B-6044-077D-81B2-48106E776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Training exponential loss with </a:t>
            </a:r>
            <a:r>
              <a:rPr lang="en-US" b="1" dirty="0" err="1"/>
              <a:t>Adaboost</a:t>
            </a:r>
            <a:r>
              <a:rPr lang="en-US" b="1" dirty="0"/>
              <a:t> strictly decreases at every iteration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Proof:</a:t>
            </a:r>
          </a:p>
          <a:p>
            <a:pPr lvl="1"/>
            <a:r>
              <a:rPr lang="en-US" dirty="0"/>
              <a:t>Ensemble at time t,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Exponential Loss,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Update Rule,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E4CAC99-1B1D-CE0E-0470-47B2B2F7C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399" y="3429000"/>
            <a:ext cx="2967729" cy="1060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9A8DC188-16F9-5851-E64A-C70E5EADA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244" y="4624900"/>
            <a:ext cx="2762502" cy="8730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4955B25A-2CB4-F495-C744-BCDF654A5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6968" y="5632892"/>
            <a:ext cx="3518063" cy="45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8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BD3A925-D7E8-E03A-83C4-E62D2E92E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395BAC-82DA-ED73-FB38-7ECF484E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B3A844D9-CC30-59E8-ECBD-DC1226D76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Training exponential loss with </a:t>
            </a:r>
            <a:r>
              <a:rPr lang="en-US" b="1" dirty="0" err="1"/>
              <a:t>Adaboost</a:t>
            </a:r>
            <a:r>
              <a:rPr lang="en-US" b="1" dirty="0"/>
              <a:t> strictly decreases at every iteration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Proof:</a:t>
            </a:r>
          </a:p>
          <a:p>
            <a:pPr lvl="1"/>
            <a:r>
              <a:rPr lang="en-US" dirty="0"/>
              <a:t>Loss after step t+1,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0A1DCD0-1904-678E-83F5-70777AACA6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4030" y="3650271"/>
            <a:ext cx="4664054" cy="7020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8DFCA72-3C08-A4C0-CC45-7A530660C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722" y="4487254"/>
            <a:ext cx="4416282" cy="7020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F92497A3-73B0-1233-65BE-BBA06607A4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161"/>
          <a:stretch>
            <a:fillRect/>
          </a:stretch>
        </p:blipFill>
        <p:spPr>
          <a:xfrm>
            <a:off x="5007722" y="5253818"/>
            <a:ext cx="3231552" cy="7604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26E7690-E43C-ED9C-E04F-1E51B71FA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737" y="509008"/>
            <a:ext cx="5847263" cy="79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1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0754924-B35A-4C8D-CDD7-6D87ADB7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6F8361-528A-900F-C7E9-5409B670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40662387-6D8B-AB4E-17BF-98F83269C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Training exponential loss with </a:t>
            </a:r>
            <a:r>
              <a:rPr lang="en-US" b="1" dirty="0" err="1"/>
              <a:t>Adaboost</a:t>
            </a:r>
            <a:r>
              <a:rPr lang="en-US" b="1" dirty="0"/>
              <a:t> strictly decreases at every iteration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Proof:</a:t>
            </a:r>
          </a:p>
          <a:p>
            <a:pPr lvl="1"/>
            <a:r>
              <a:rPr lang="en-US" dirty="0"/>
              <a:t>Split loss into two parts,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Let,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757FBA6-933A-7981-3652-8B1D2B0A4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48" y="3635209"/>
            <a:ext cx="4245919" cy="807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A86ADF7-C68E-C772-2906-48360BB78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055" y="4443125"/>
            <a:ext cx="3491903" cy="7834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0357AEA-1CDE-04AC-0AE5-C8191E24C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055" y="5441708"/>
            <a:ext cx="3522719" cy="5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CD7915-715B-19B5-E8B0-438F5D65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61638A-F01E-714D-29C5-BA1CAD6D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xmlns="" id="{96DBCDC3-F530-B00C-C98B-AC0611C83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Training exponential loss with </a:t>
                </a:r>
                <a:r>
                  <a:rPr lang="en-US" b="1" dirty="0" err="1"/>
                  <a:t>Adaboost</a:t>
                </a:r>
                <a:r>
                  <a:rPr lang="en-US" b="1" dirty="0"/>
                  <a:t> strictly decreases at every iteration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Proof:</a:t>
                </a:r>
              </a:p>
              <a:p>
                <a:pPr lvl="1"/>
                <a:r>
                  <a:rPr lang="en-US" dirty="0"/>
                  <a:t>Minimize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6DBCDC3-F530-B00C-C98B-AC0611C83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82F9C9D-3563-83B9-0F45-B8E40E628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007" y="3626915"/>
            <a:ext cx="2394249" cy="276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0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8637901-F54A-9DF8-DB1C-0AD6A81A0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4FDA2B-CC2F-54E8-75DC-F0A3BD13A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xmlns="" id="{5260AD17-6620-33A4-DEBD-A0559F34C3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Training exponential loss with </a:t>
                </a:r>
                <a:r>
                  <a:rPr lang="en-US" b="1" dirty="0" err="1"/>
                  <a:t>Adaboost</a:t>
                </a:r>
                <a:r>
                  <a:rPr lang="en-US" b="1" dirty="0"/>
                  <a:t> strictly decreases at every iteration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Proof:</a:t>
                </a:r>
              </a:p>
              <a:p>
                <a:pPr lvl="1"/>
                <a:r>
                  <a:rPr lang="en-US" dirty="0"/>
                  <a:t>Plug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:r>
                  <a:rPr lang="en-US" dirty="0"/>
                  <a:t>Since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If the weak learner is better than random guess,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260AD17-6620-33A4-DEBD-A0559F34C3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0C20F7E-AEA9-7C67-E085-CC6415F8B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866" y="3676096"/>
            <a:ext cx="2804804" cy="433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FC2A6C1-3869-FFD9-3A62-A2CA439DC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866" y="4189922"/>
            <a:ext cx="1189829" cy="390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8B3773AC-BCDE-3BAB-53D3-5139F0AF4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790" y="3697395"/>
            <a:ext cx="2667932" cy="8240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3DA41617-56DB-1D85-65E0-6B66B1A44B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0474" y="5369171"/>
            <a:ext cx="1911052" cy="4449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BD0B016B-5BB7-B3EB-A2C9-2E587D5448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7845" y="5839173"/>
            <a:ext cx="1247945" cy="33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3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3305FCF-412A-AFD5-149E-385F1AF77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FBD218-BAE0-F61B-7759-0C9BB39EB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50C0600-F609-01C9-7098-6326DC27E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Adaboost</a:t>
            </a:r>
            <a:r>
              <a:rPr lang="en-US" dirty="0">
                <a:solidFill>
                  <a:srgbClr val="FF0000"/>
                </a:solidFill>
              </a:rPr>
              <a:t> reduces bias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But slightly increases variance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63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CFA2443-B326-8544-BE7E-409E5200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923A94-2942-54B2-FE8B-A83E48EA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xmlns="" id="{64EBE0FE-C6EC-53A6-0B79-A2A3321853C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4108152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Function optimization using gradient descent, where the function is represented as a sum of weak learners (usually trees).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And we build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200" dirty="0"/>
                  <a:t>like this: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+…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2000" dirty="0"/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4EBE0FE-C6EC-53A6-0B79-A2A332185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4108152" cy="4351338"/>
              </a:xfrm>
              <a:blipFill>
                <a:blip r:embed="rId3"/>
                <a:stretch>
                  <a:fillRect l="-1783" t="-1541" r="-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447107A-1840-23A1-1850-8ED0F3C7F9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B0381DC-F27A-F197-1440-3FB5C937B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581" y="0"/>
            <a:ext cx="6670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2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EF91C3-6EF4-EEF1-4F4D-95F3A589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279C67-1679-060B-19ED-66ED2641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84791F43-9726-0994-1F24-23446646D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The </a:t>
            </a:r>
            <a:r>
              <a:rPr lang="en-US" sz="2200" dirty="0" err="1"/>
              <a:t>XGBoost</a:t>
            </a:r>
            <a:r>
              <a:rPr lang="en-US" sz="2200" dirty="0"/>
              <a:t> algorithm is a decision tree-based ensemble that employs the gradient boosting framework</a:t>
            </a:r>
          </a:p>
          <a:p>
            <a:endParaRPr lang="en-US" sz="2200" dirty="0"/>
          </a:p>
          <a:p>
            <a:r>
              <a:rPr lang="en-US" sz="2200" dirty="0"/>
              <a:t>But adds a regularization term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The regularization term reduces overfitting</a:t>
            </a:r>
            <a:endParaRPr lang="ar-AE" sz="2000" dirty="0"/>
          </a:p>
          <a:p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BACF020-7A6A-EBAC-1EB9-FF23111C4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354" y="3429000"/>
            <a:ext cx="4271291" cy="807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18CD2B3-BCAE-B6E9-2BB3-7F7764D77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358" y="4226634"/>
            <a:ext cx="2733281" cy="66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1CFF5B-EEE6-7418-AA7A-50BCD231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8ABBC8-8B47-B35F-2719-81D849BFE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https://ieeexplore.ieee.org/stamp/stamp.jsp?tp=&amp;arnumber=9893798</a:t>
            </a:r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https://hastie.su.domains/TALKS/boost.pdf</a:t>
            </a:r>
            <a:endParaRPr lang="en-US" dirty="0"/>
          </a:p>
          <a:p>
            <a:endParaRPr lang="en-US" dirty="0"/>
          </a:p>
          <a:p>
            <a:r>
              <a:rPr lang="en-US" dirty="0"/>
              <a:t>Optional Reading:</a:t>
            </a:r>
          </a:p>
          <a:p>
            <a:pPr lvl="1"/>
            <a:r>
              <a:rPr lang="en-US" dirty="0"/>
              <a:t>The Elements of Statistical Learning, Chapter 9, 10, 15</a:t>
            </a:r>
          </a:p>
        </p:txBody>
      </p:sp>
    </p:spTree>
    <p:extLst>
      <p:ext uri="{BB962C8B-B14F-4D97-AF65-F5344CB8AC3E}">
        <p14:creationId xmlns:p14="http://schemas.microsoft.com/office/powerpoint/2010/main" val="205454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760</Words>
  <Application>Microsoft Office PowerPoint</Application>
  <PresentationFormat>Custom</PresentationFormat>
  <Paragraphs>177</Paragraphs>
  <Slides>25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Ensemble Learning</vt:lpstr>
      <vt:lpstr>Ensemble Method</vt:lpstr>
      <vt:lpstr>Ensemble Method</vt:lpstr>
      <vt:lpstr>Bagging (Bootstrap Aggregating)</vt:lpstr>
      <vt:lpstr>Bagging (Bootstrap Aggregating)</vt:lpstr>
      <vt:lpstr>Bagging (Bootstrap Aggregating)</vt:lpstr>
      <vt:lpstr>Bagging (Bootstrap Aggregating)</vt:lpstr>
      <vt:lpstr>Bagging (Bootstrap Aggregating)</vt:lpstr>
      <vt:lpstr>Bagging (Bootstrap Aggregating)</vt:lpstr>
      <vt:lpstr>Bagging (Bootstrap Aggregating)</vt:lpstr>
      <vt:lpstr>Random Forest</vt:lpstr>
      <vt:lpstr>Bagging (Bootstrap Aggregating)</vt:lpstr>
      <vt:lpstr>Random Forest</vt:lpstr>
      <vt:lpstr>Random Forest</vt:lpstr>
      <vt:lpstr>Boosting</vt:lpstr>
      <vt:lpstr>Adaboost</vt:lpstr>
      <vt:lpstr>Adaboost</vt:lpstr>
      <vt:lpstr>Adaboost</vt:lpstr>
      <vt:lpstr>Adaboost</vt:lpstr>
      <vt:lpstr>Adaboost</vt:lpstr>
      <vt:lpstr>Adaboost</vt:lpstr>
      <vt:lpstr>Adaboost</vt:lpstr>
      <vt:lpstr>Gradient Boost</vt:lpstr>
      <vt:lpstr>XGBoost</vt:lpstr>
      <vt:lpstr>Reference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Learning</dc:title>
  <dc:creator>Ch. Md. Rakin Haider</dc:creator>
  <cp:lastModifiedBy>ismail - [2010]</cp:lastModifiedBy>
  <cp:revision>3</cp:revision>
  <dcterms:created xsi:type="dcterms:W3CDTF">2026-01-31T18:25:19Z</dcterms:created>
  <dcterms:modified xsi:type="dcterms:W3CDTF">2026-02-01T03:56:53Z</dcterms:modified>
</cp:coreProperties>
</file>