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6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35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6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29.png" ContentType="image/png"/>
  <Override PartName="/ppt/media/image28.png" ContentType="image/png"/>
  <Override PartName="/ppt/media/image27.png" ContentType="image/png"/>
  <Override PartName="/ppt/media/image26.bmp" ContentType="image/bmp"/>
  <Override PartName="/ppt/media/image12.png" ContentType="image/png"/>
  <Override PartName="/ppt/media/image3.png" ContentType="image/png"/>
  <Override PartName="/ppt/media/image18.png" ContentType="image/png"/>
  <Override PartName="/ppt/media/image9.png" ContentType="image/png"/>
  <Override PartName="/ppt/media/image11.gif" ContentType="image/gif"/>
  <Override PartName="/ppt/media/image14.png" ContentType="image/png"/>
  <Override PartName="/ppt/media/image5.png" ContentType="image/png"/>
  <Override PartName="/ppt/media/image13.png" ContentType="image/png"/>
  <Override PartName="/ppt/media/image4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10.gif" ContentType="image/gif"/>
  <Override PartName="/ppt/media/image8.png" ContentType="image/png"/>
  <Override PartName="/ppt/media/image17.png" ContentType="image/png"/>
  <Override PartName="/ppt/media/image7.png" ContentType="image/png"/>
  <Override PartName="/ppt/media/image16.png" ContentType="image/png"/>
  <Override PartName="/ppt/media/image6.png" ContentType="image/png"/>
  <Override PartName="/ppt/media/image15.png" ContentType="image/png"/>
  <Override PartName="/ppt/media/image2.png" ContentType="image/png"/>
  <Override PartName="/ppt/media/image33.png" ContentType="image/png"/>
  <Override PartName="/ppt/media/image1.png" ContentType="image/png"/>
  <Override PartName="/ppt/media/image19.png" ContentType="image/png"/>
  <Override PartName="/ppt/media/image20.png" ContentType="image/png"/>
  <Override PartName="/ppt/media/image23.bmp" ContentType="image/bmp"/>
  <Override PartName="/ppt/media/image21.png" ContentType="image/png"/>
  <Override PartName="/ppt/media/image24.bmp" ContentType="image/bmp"/>
  <Override PartName="/ppt/media/image22.png" ContentType="image/png"/>
  <Override PartName="/ppt/media/image25.bmp" ContentType="image/bmp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8C38C4-74BC-4A61-98D8-82E8372E75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25699CB-99B8-4F74-BC8D-701B30F968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2243174-75B1-4745-A519-501099E984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29689D8-AD59-4353-A1FB-993101DF31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EA23193-34AE-49D3-A2D1-1DDEFF2B17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F5538A27-4294-4327-8E1B-1D6E16E31F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4836B96-FB42-4915-967F-A760667113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1221216-929E-44B6-B1B9-9AF92B8018B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1A1C0797-6CDB-4BA2-B7F3-5BA9D03803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6DF735BD-2B4D-486A-AB7E-37D0F3E6BF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F4FBDFB7-7E5B-4C2B-9CBD-E98105AFD5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8084D7A-2B7E-4D5A-81A3-7D3BDAC882D4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497EF01-28D9-46C3-B0DE-9FF8A43FE4FF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C48DFE5-9166-4CE5-A20E-8E78C65B50CA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F10C1F4-785D-4B06-B445-9BA0AA54EA0F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1B70EEF-B84C-4B8D-8726-2619F0540333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8DAA553-8923-45AC-AA65-445079924756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7F81AD1-A258-4857-8F21-C9596712EBA1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458137-A215-49F2-B4DD-C580922C6AF8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8AE596-1EED-41E5-93DE-387565EA6BE3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225D7AF-EA9E-45C9-B889-727DDF9A4CE2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EE7E17-7130-416E-B0B8-B1FE5D088298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gif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gif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6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6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6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6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3.bmp"/><Relationship Id="rId3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4.bmp"/><Relationship Id="rId3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5.bmp"/><Relationship Id="rId3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6.bmp"/><Relationship Id="rId3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6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4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Deep Learning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Convolutional Neural Networks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Neural Network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2" name="Group 7"/>
          <p:cNvGrpSpPr/>
          <p:nvPr/>
        </p:nvGrpSpPr>
        <p:grpSpPr>
          <a:xfrm>
            <a:off x="3300840" y="2052360"/>
            <a:ext cx="5589720" cy="3710880"/>
            <a:chOff x="3300840" y="2052360"/>
            <a:chExt cx="5589720" cy="3710880"/>
          </a:xfrm>
        </p:grpSpPr>
        <p:pic>
          <p:nvPicPr>
            <p:cNvPr id="53" name="Content Placeholder 5" descr="A black and white image of a traffic light&#10;&#10;AI-generated content may be incorrect."/>
            <p:cNvPicPr/>
            <p:nvPr/>
          </p:nvPicPr>
          <p:blipFill>
            <a:blip r:embed="rId1"/>
            <a:stretch/>
          </p:blipFill>
          <p:spPr>
            <a:xfrm>
              <a:off x="3336120" y="2052360"/>
              <a:ext cx="5180760" cy="33458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4" name="TextBox 4"/>
            <p:cNvSpPr/>
            <p:nvPr/>
          </p:nvSpPr>
          <p:spPr>
            <a:xfrm>
              <a:off x="3300840" y="4752720"/>
              <a:ext cx="82116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0000"/>
                  </a:solidFill>
                  <a:latin typeface="Aptos"/>
                </a:rPr>
                <a:t>Input 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0000"/>
                  </a:solidFill>
                  <a:latin typeface="Aptos"/>
                </a:rPr>
                <a:t>Layer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" name="TextBox 5"/>
            <p:cNvSpPr/>
            <p:nvPr/>
          </p:nvSpPr>
          <p:spPr>
            <a:xfrm>
              <a:off x="7885080" y="4752720"/>
              <a:ext cx="10054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0000"/>
                  </a:solidFill>
                  <a:latin typeface="Aptos"/>
                </a:rPr>
                <a:t>Output 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0000"/>
                  </a:solidFill>
                  <a:latin typeface="Aptos"/>
                </a:rPr>
                <a:t>Layer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" name="TextBox 6"/>
            <p:cNvSpPr/>
            <p:nvPr/>
          </p:nvSpPr>
          <p:spPr>
            <a:xfrm>
              <a:off x="4800960" y="5399280"/>
              <a:ext cx="22147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0000"/>
                  </a:solidFill>
                  <a:latin typeface="Aptos"/>
                </a:rPr>
                <a:t>Hidden Layers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Inductive Bias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Set of (explicit or implicit) assumptions made by a learning algorithm in order to perform prediction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For example,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Linearity assumption in Linear Regression and Logistic Regression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Fully-connected structure of the neural network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Hierarchical Representation Bias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0000"/>
                </a:solidFill>
                <a:latin typeface="Aptos"/>
              </a:rPr>
              <a:t>Others ….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Image Classification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Core task in Computer Vision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Given an image and a set of labels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Cat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Dog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Plane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Truck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Picture 6" descr=""/>
          <p:cNvPicPr/>
          <p:nvPr/>
        </p:nvPicPr>
        <p:blipFill>
          <a:blip r:embed="rId1"/>
          <a:stretch/>
        </p:blipFill>
        <p:spPr>
          <a:xfrm>
            <a:off x="2134080" y="2687040"/>
            <a:ext cx="2257200" cy="3161880"/>
          </a:xfrm>
          <a:prstGeom prst="rect">
            <a:avLst/>
          </a:prstGeom>
          <a:ln w="0">
            <a:noFill/>
          </a:ln>
        </p:spPr>
      </p:pic>
      <p:cxnSp>
        <p:nvCxnSpPr>
          <p:cNvPr id="63" name="Straight Arrow Connector 8"/>
          <p:cNvCxnSpPr>
            <a:stCxn id="62" idx="3"/>
          </p:cNvCxnSpPr>
          <p:nvPr/>
        </p:nvCxnSpPr>
        <p:spPr>
          <a:xfrm flipV="1">
            <a:off x="4391280" y="3912120"/>
            <a:ext cx="2205000" cy="356040"/>
          </a:xfrm>
          <a:prstGeom prst="straightConnector1">
            <a:avLst/>
          </a:prstGeom>
          <a:ln w="38100">
            <a:solidFill>
              <a:srgbClr val="ff0000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" dur="indefinite" restart="never" nodeType="tmRoot">
          <p:childTnLst>
            <p:seq>
              <p:cTn id="20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Image Classification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Core task in Computer 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Vision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Given an image and a set of 10 labels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" name="Picture 6" descr=""/>
          <p:cNvPicPr/>
          <p:nvPr/>
        </p:nvPicPr>
        <p:blipFill>
          <a:blip r:embed="rId1"/>
          <a:stretch/>
        </p:blipFill>
        <p:spPr>
          <a:xfrm>
            <a:off x="979920" y="2627280"/>
            <a:ext cx="2257200" cy="3161880"/>
          </a:xfrm>
          <a:prstGeom prst="rect">
            <a:avLst/>
          </a:prstGeom>
          <a:ln w="0">
            <a:noFill/>
          </a:ln>
        </p:spPr>
      </p:pic>
      <p:pic>
        <p:nvPicPr>
          <p:cNvPr id="68" name="Picture 5" descr=""/>
          <p:cNvPicPr/>
          <p:nvPr/>
        </p:nvPicPr>
        <p:blipFill>
          <a:blip r:embed="rId2"/>
          <a:stretch/>
        </p:blipFill>
        <p:spPr>
          <a:xfrm>
            <a:off x="3994200" y="3232080"/>
            <a:ext cx="4333680" cy="1952280"/>
          </a:xfrm>
          <a:prstGeom prst="rect">
            <a:avLst/>
          </a:prstGeom>
          <a:ln w="0">
            <a:noFill/>
          </a:ln>
        </p:spPr>
      </p:pic>
      <p:cxnSp>
        <p:nvCxnSpPr>
          <p:cNvPr id="69" name="Straight Arrow Connector 9"/>
          <p:cNvCxnSpPr>
            <a:stCxn id="67" idx="3"/>
            <a:endCxn id="68" idx="1"/>
          </p:cNvCxnSpPr>
          <p:nvPr/>
        </p:nvCxnSpPr>
        <p:spPr>
          <a:xfrm>
            <a:off x="3237120" y="4208040"/>
            <a:ext cx="757440" cy="360"/>
          </a:xfrm>
          <a:prstGeom prst="straightConnector1">
            <a:avLst/>
          </a:prstGeom>
          <a:ln w="38100">
            <a:solidFill>
              <a:srgbClr val="ff0000"/>
            </a:solidFill>
            <a:round/>
            <a:tailEnd len="med" type="triangle" w="med"/>
          </a:ln>
        </p:spPr>
      </p:cxnSp>
      <p:sp>
        <p:nvSpPr>
          <p:cNvPr id="70" name="TextBox 11"/>
          <p:cNvSpPr/>
          <p:nvPr/>
        </p:nvSpPr>
        <p:spPr>
          <a:xfrm>
            <a:off x="7170840" y="5168160"/>
            <a:ext cx="14533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10 neurons on the output 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1" name="Straight Arrow Connector 13"/>
          <p:cNvCxnSpPr/>
          <p:nvPr/>
        </p:nvCxnSpPr>
        <p:spPr>
          <a:xfrm flipV="1">
            <a:off x="7854840" y="4511880"/>
            <a:ext cx="720" cy="673560"/>
          </a:xfrm>
          <a:prstGeom prst="straightConnector1">
            <a:avLst/>
          </a:prstGeom>
          <a:ln w="38100">
            <a:solidFill>
              <a:srgbClr val="ff0000"/>
            </a:solidFill>
            <a:round/>
            <a:tailEnd len="med" type="triangle" w="med"/>
          </a:ln>
        </p:spPr>
      </p:cxnSp>
      <p:cxnSp>
        <p:nvCxnSpPr>
          <p:cNvPr id="72" name="Straight Arrow Connector 15"/>
          <p:cNvCxnSpPr>
            <a:stCxn id="68" idx="3"/>
          </p:cNvCxnSpPr>
          <p:nvPr/>
        </p:nvCxnSpPr>
        <p:spPr>
          <a:xfrm>
            <a:off x="8327880" y="4208040"/>
            <a:ext cx="1281240" cy="1080"/>
          </a:xfrm>
          <a:prstGeom prst="straightConnector1">
            <a:avLst/>
          </a:prstGeom>
          <a:ln w="38100">
            <a:solidFill>
              <a:srgbClr val="ff0000"/>
            </a:solidFill>
            <a:round/>
            <a:tailEnd len="med" type="triangle" w="med"/>
          </a:ln>
        </p:spPr>
      </p:cxnSp>
      <p:sp>
        <p:nvSpPr>
          <p:cNvPr id="73" name="TextBox 16"/>
          <p:cNvSpPr/>
          <p:nvPr/>
        </p:nvSpPr>
        <p:spPr>
          <a:xfrm>
            <a:off x="9962640" y="2996280"/>
            <a:ext cx="747720" cy="27090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17"/>
          <p:cNvSpPr/>
          <p:nvPr/>
        </p:nvSpPr>
        <p:spPr>
          <a:xfrm>
            <a:off x="10919520" y="2996280"/>
            <a:ext cx="810360" cy="323100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" dur="indefinite" restart="never" nodeType="tmRoot">
          <p:childTnLst>
            <p:seq>
              <p:cTn id="26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Image Classification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Core task in Computer 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Vision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Given a set of 10 labels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Picture 6" descr=""/>
          <p:cNvPicPr/>
          <p:nvPr/>
        </p:nvPicPr>
        <p:blipFill>
          <a:blip r:embed="rId1"/>
          <a:stretch/>
        </p:blipFill>
        <p:spPr>
          <a:xfrm>
            <a:off x="979920" y="2627280"/>
            <a:ext cx="2257200" cy="3161880"/>
          </a:xfrm>
          <a:prstGeom prst="rect">
            <a:avLst/>
          </a:prstGeom>
          <a:ln w="0">
            <a:noFill/>
          </a:ln>
        </p:spPr>
      </p:pic>
      <p:pic>
        <p:nvPicPr>
          <p:cNvPr id="79" name="Picture 5" descr=""/>
          <p:cNvPicPr/>
          <p:nvPr/>
        </p:nvPicPr>
        <p:blipFill>
          <a:blip r:embed="rId2"/>
          <a:stretch/>
        </p:blipFill>
        <p:spPr>
          <a:xfrm>
            <a:off x="3994200" y="3232080"/>
            <a:ext cx="4333680" cy="1952280"/>
          </a:xfrm>
          <a:prstGeom prst="rect">
            <a:avLst/>
          </a:prstGeom>
          <a:ln w="0">
            <a:noFill/>
          </a:ln>
        </p:spPr>
      </p:pic>
      <p:cxnSp>
        <p:nvCxnSpPr>
          <p:cNvPr id="80" name="Straight Arrow Connector 9"/>
          <p:cNvCxnSpPr>
            <a:stCxn id="78" idx="3"/>
            <a:endCxn id="79" idx="1"/>
          </p:cNvCxnSpPr>
          <p:nvPr/>
        </p:nvCxnSpPr>
        <p:spPr>
          <a:xfrm>
            <a:off x="3237120" y="4208040"/>
            <a:ext cx="757440" cy="360"/>
          </a:xfrm>
          <a:prstGeom prst="straightConnector1">
            <a:avLst/>
          </a:prstGeom>
          <a:ln w="38100">
            <a:solidFill>
              <a:srgbClr val="ff0000"/>
            </a:solidFill>
            <a:round/>
            <a:tailEnd len="med" type="triangle" w="med"/>
          </a:ln>
        </p:spPr>
      </p:cxnSp>
      <p:sp>
        <p:nvSpPr>
          <p:cNvPr id="81" name="TextBox 11"/>
          <p:cNvSpPr/>
          <p:nvPr/>
        </p:nvSpPr>
        <p:spPr>
          <a:xfrm>
            <a:off x="7170840" y="5168160"/>
            <a:ext cx="14533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10 neurons on the output 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2" name="Straight Arrow Connector 13"/>
          <p:cNvCxnSpPr/>
          <p:nvPr/>
        </p:nvCxnSpPr>
        <p:spPr>
          <a:xfrm flipV="1">
            <a:off x="7854840" y="4511880"/>
            <a:ext cx="720" cy="673560"/>
          </a:xfrm>
          <a:prstGeom prst="straightConnector1">
            <a:avLst/>
          </a:prstGeom>
          <a:ln w="38100">
            <a:solidFill>
              <a:srgbClr val="ff0000"/>
            </a:solidFill>
            <a:round/>
            <a:tailEnd len="med" type="triangle" w="med"/>
          </a:ln>
        </p:spPr>
      </p:cxnSp>
      <p:cxnSp>
        <p:nvCxnSpPr>
          <p:cNvPr id="83" name="Straight Arrow Connector 15"/>
          <p:cNvCxnSpPr>
            <a:stCxn id="79" idx="3"/>
          </p:cNvCxnSpPr>
          <p:nvPr/>
        </p:nvCxnSpPr>
        <p:spPr>
          <a:xfrm>
            <a:off x="8327880" y="4208040"/>
            <a:ext cx="1281240" cy="1080"/>
          </a:xfrm>
          <a:prstGeom prst="straightConnector1">
            <a:avLst/>
          </a:prstGeom>
          <a:ln w="38100">
            <a:solidFill>
              <a:srgbClr val="ff0000"/>
            </a:solidFill>
            <a:round/>
            <a:tailEnd len="med" type="triangle" w="med"/>
          </a:ln>
        </p:spPr>
      </p:cxnSp>
      <p:sp>
        <p:nvSpPr>
          <p:cNvPr id="84" name="TextBox 16"/>
          <p:cNvSpPr/>
          <p:nvPr/>
        </p:nvSpPr>
        <p:spPr>
          <a:xfrm>
            <a:off x="9962640" y="2996280"/>
            <a:ext cx="747720" cy="27090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17"/>
          <p:cNvSpPr/>
          <p:nvPr/>
        </p:nvSpPr>
        <p:spPr>
          <a:xfrm>
            <a:off x="10919520" y="2996280"/>
            <a:ext cx="810360" cy="323100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3162960" y="4292640"/>
            <a:ext cx="1004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pc="-1" strike="noStrike">
                <a:solidFill>
                  <a:srgbClr val="ff0000"/>
                </a:solidFill>
                <a:latin typeface="Aptos"/>
              </a:rPr>
              <a:t>Flatten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7"/>
          <p:cNvSpPr/>
          <p:nvPr/>
        </p:nvSpPr>
        <p:spPr>
          <a:xfrm>
            <a:off x="415800" y="5961600"/>
            <a:ext cx="6498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rgbClr val="ff0000"/>
                </a:solidFill>
                <a:latin typeface="Aptos"/>
              </a:rPr>
              <a:t>The spatial structure of images is destroyed!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Feature Extraction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Picture 5" descr=""/>
          <p:cNvPicPr/>
          <p:nvPr/>
        </p:nvPicPr>
        <p:blipFill>
          <a:blip r:embed="rId1"/>
          <a:stretch/>
        </p:blipFill>
        <p:spPr>
          <a:xfrm>
            <a:off x="838080" y="1963080"/>
            <a:ext cx="10514880" cy="359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Feature Extraction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Color histogram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HOG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Random Patches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Feature engineering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Picture 5" descr=""/>
          <p:cNvPicPr/>
          <p:nvPr/>
        </p:nvPicPr>
        <p:blipFill>
          <a:blip r:embed="rId1"/>
          <a:srcRect l="0" t="13813" r="0" b="0"/>
          <a:stretch/>
        </p:blipFill>
        <p:spPr>
          <a:xfrm>
            <a:off x="762120" y="3429000"/>
            <a:ext cx="10514880" cy="309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Convolutional Neural Networks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Picture 5" descr=""/>
          <p:cNvPicPr/>
          <p:nvPr/>
        </p:nvPicPr>
        <p:blipFill>
          <a:blip r:embed="rId1"/>
          <a:stretch/>
        </p:blipFill>
        <p:spPr>
          <a:xfrm>
            <a:off x="342000" y="2995560"/>
            <a:ext cx="11507040" cy="3209760"/>
          </a:xfrm>
          <a:prstGeom prst="rect">
            <a:avLst/>
          </a:prstGeom>
          <a:ln w="0">
            <a:noFill/>
          </a:ln>
        </p:spPr>
      </p:pic>
      <p:sp>
        <p:nvSpPr>
          <p:cNvPr id="98" name="Right Brace 7"/>
          <p:cNvSpPr/>
          <p:nvPr/>
        </p:nvSpPr>
        <p:spPr>
          <a:xfrm rot="16200000">
            <a:off x="4279680" y="952560"/>
            <a:ext cx="599040" cy="4001760"/>
          </a:xfrm>
          <a:prstGeom prst="rightBrace">
            <a:avLst>
              <a:gd name="adj1" fmla="val 8333"/>
              <a:gd name="adj2" fmla="val 5000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9" name="Right Brace 8"/>
          <p:cNvSpPr/>
          <p:nvPr/>
        </p:nvSpPr>
        <p:spPr>
          <a:xfrm rot="16200000">
            <a:off x="8667360" y="952560"/>
            <a:ext cx="599040" cy="4001760"/>
          </a:xfrm>
          <a:prstGeom prst="rightBrace">
            <a:avLst>
              <a:gd name="adj1" fmla="val 8333"/>
              <a:gd name="adj2" fmla="val 5000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0" name="TextBox 9"/>
          <p:cNvSpPr/>
          <p:nvPr/>
        </p:nvSpPr>
        <p:spPr>
          <a:xfrm>
            <a:off x="3609000" y="2270520"/>
            <a:ext cx="2136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Feature Extraction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10"/>
          <p:cNvSpPr/>
          <p:nvPr/>
        </p:nvSpPr>
        <p:spPr>
          <a:xfrm>
            <a:off x="7143120" y="2285640"/>
            <a:ext cx="3648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Fully Connected Neural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" dur="indefinite" restart="never" nodeType="tmRoot">
          <p:childTnLst>
            <p:seq>
              <p:cTn id="54" dur="indefinite" nodeType="mainSeq">
                <p:childTnLst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Convolutional Neural Networks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Convolution Layer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Picture 12" descr=""/>
          <p:cNvPicPr/>
          <p:nvPr/>
        </p:nvPicPr>
        <p:blipFill>
          <a:blip r:embed="rId1"/>
          <a:stretch/>
        </p:blipFill>
        <p:spPr>
          <a:xfrm>
            <a:off x="2355480" y="2373120"/>
            <a:ext cx="7480800" cy="3803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Convolutional Neural Networks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Convolution Layer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7" name="Picture 12" descr=""/>
          <p:cNvPicPr/>
          <p:nvPr/>
        </p:nvPicPr>
        <p:blipFill>
          <a:blip r:embed="rId1"/>
          <a:stretch/>
        </p:blipFill>
        <p:spPr>
          <a:xfrm>
            <a:off x="838080" y="2833200"/>
            <a:ext cx="4998960" cy="2541240"/>
          </a:xfrm>
          <a:prstGeom prst="rect">
            <a:avLst/>
          </a:prstGeom>
          <a:ln w="0">
            <a:noFill/>
          </a:ln>
        </p:spPr>
      </p:pic>
      <p:pic>
        <p:nvPicPr>
          <p:cNvPr id="108" name="Picture 7" descr=""/>
          <p:cNvPicPr/>
          <p:nvPr/>
        </p:nvPicPr>
        <p:blipFill>
          <a:blip r:embed="rId2"/>
          <a:stretch/>
        </p:blipFill>
        <p:spPr>
          <a:xfrm>
            <a:off x="6104880" y="2891520"/>
            <a:ext cx="5248440" cy="2219040"/>
          </a:xfrm>
          <a:prstGeom prst="rect">
            <a:avLst/>
          </a:prstGeom>
          <a:ln w="0">
            <a:noFill/>
          </a:ln>
        </p:spPr>
      </p:pic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A convolution operation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Convolutional Neural Networks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Convolution Layer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Content Placeholder 4" descr="A diagram of a map and output&#10;&#10;AI-generated content may be incorrect."/>
          <p:cNvPicPr/>
          <p:nvPr/>
        </p:nvPicPr>
        <p:blipFill>
          <a:blip r:embed="rId1"/>
          <a:stretch/>
        </p:blipFill>
        <p:spPr>
          <a:xfrm>
            <a:off x="6172200" y="2874960"/>
            <a:ext cx="5180760" cy="2251800"/>
          </a:xfrm>
          <a:prstGeom prst="rect">
            <a:avLst/>
          </a:prstGeom>
          <a:ln w="0">
            <a:noFill/>
          </a:ln>
        </p:spPr>
      </p:pic>
      <p:pic>
        <p:nvPicPr>
          <p:cNvPr id="113" name="Picture 12" descr=""/>
          <p:cNvPicPr/>
          <p:nvPr/>
        </p:nvPicPr>
        <p:blipFill>
          <a:blip r:embed="rId2"/>
          <a:stretch/>
        </p:blipFill>
        <p:spPr>
          <a:xfrm>
            <a:off x="838080" y="2833200"/>
            <a:ext cx="4998960" cy="2541240"/>
          </a:xfrm>
          <a:prstGeom prst="rect">
            <a:avLst/>
          </a:prstGeom>
          <a:ln w="0">
            <a:noFill/>
          </a:ln>
        </p:spPr>
      </p:pic>
      <p:sp>
        <p:nvSpPr>
          <p:cNvPr id="114" name="Content Placeholder 9"/>
          <p:cNvSpPr/>
          <p:nvPr/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Stride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Here stride is1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Convolutional Neural Networks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Convolution Layer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Content Placeholder 9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5970600" y="1499760"/>
            <a:ext cx="6243840" cy="5166720"/>
          </a:xfrm>
          <a:prstGeom prst="rect">
            <a:avLst/>
          </a:prstGeom>
          <a:ln w="0">
            <a:noFill/>
          </a:ln>
        </p:spPr>
      </p:pic>
      <p:pic>
        <p:nvPicPr>
          <p:cNvPr id="118" name="Picture 12" descr=""/>
          <p:cNvPicPr/>
          <p:nvPr/>
        </p:nvPicPr>
        <p:blipFill>
          <a:blip r:embed="rId2"/>
          <a:stretch/>
        </p:blipFill>
        <p:spPr>
          <a:xfrm>
            <a:off x="838080" y="2833200"/>
            <a:ext cx="4998960" cy="254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Convolutional Neural Networks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Convolution Layer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Picture 12" descr=""/>
          <p:cNvPicPr/>
          <p:nvPr/>
        </p:nvPicPr>
        <p:blipFill>
          <a:blip r:embed="rId1"/>
          <a:stretch/>
        </p:blipFill>
        <p:spPr>
          <a:xfrm>
            <a:off x="838080" y="2833200"/>
            <a:ext cx="4998960" cy="2541240"/>
          </a:xfrm>
          <a:prstGeom prst="rect">
            <a:avLst/>
          </a:prstGeom>
          <a:ln w="0">
            <a:noFill/>
          </a:ln>
        </p:spPr>
      </p:pic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Padding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Avoid down-sampling with zero-padding.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Picture 6" descr=""/>
          <p:cNvPicPr/>
          <p:nvPr/>
        </p:nvPicPr>
        <p:blipFill>
          <a:blip r:embed="rId2"/>
          <a:stretch/>
        </p:blipFill>
        <p:spPr>
          <a:xfrm>
            <a:off x="7100640" y="3063600"/>
            <a:ext cx="3323880" cy="3247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Convolutional Neural Networks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Convolution Layer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Picture 12" descr=""/>
          <p:cNvPicPr/>
          <p:nvPr/>
        </p:nvPicPr>
        <p:blipFill>
          <a:blip r:embed="rId1"/>
          <a:stretch/>
        </p:blipFill>
        <p:spPr>
          <a:xfrm>
            <a:off x="838080" y="2833200"/>
            <a:ext cx="4998960" cy="2541240"/>
          </a:xfrm>
          <a:prstGeom prst="rect">
            <a:avLst/>
          </a:prstGeom>
          <a:ln w="0">
            <a:noFill/>
          </a:ln>
        </p:spPr>
      </p:pic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Padding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Avoid down-sampling with </a:t>
            </a: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zero-padding.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Input size W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Filter size K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Padding size P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Output size W – K + 1 + 2P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Convolutional Neural Networks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Pooling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A way to downsample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No learnable parameters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Max Pooling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Average Pooling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Picture 5" descr=""/>
          <p:cNvPicPr/>
          <p:nvPr/>
        </p:nvPicPr>
        <p:blipFill>
          <a:blip r:embed="rId1"/>
          <a:stretch/>
        </p:blipFill>
        <p:spPr>
          <a:xfrm>
            <a:off x="838080" y="2871720"/>
            <a:ext cx="5333400" cy="2601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1" dur="indefinite" restart="never" nodeType="tmRoot">
          <p:childTnLst>
            <p:seq>
              <p:cTn id="72" dur="indefinite" nodeType="mainSeq">
                <p:childTnLst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Convolution and Pooling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Picture 5" descr=""/>
          <p:cNvPicPr/>
          <p:nvPr/>
        </p:nvPicPr>
        <p:blipFill>
          <a:blip r:embed="rId1"/>
          <a:stretch/>
        </p:blipFill>
        <p:spPr>
          <a:xfrm>
            <a:off x="1745280" y="1719720"/>
            <a:ext cx="8620560" cy="4562280"/>
          </a:xfrm>
          <a:prstGeom prst="rect">
            <a:avLst/>
          </a:prstGeom>
          <a:ln w="0">
            <a:noFill/>
          </a:ln>
        </p:spPr>
      </p:pic>
      <p:sp>
        <p:nvSpPr>
          <p:cNvPr id="135" name="TextBox 6"/>
          <p:cNvSpPr/>
          <p:nvPr/>
        </p:nvSpPr>
        <p:spPr>
          <a:xfrm>
            <a:off x="7411680" y="1012680"/>
            <a:ext cx="3680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rgbClr val="ff0000"/>
                </a:solidFill>
                <a:latin typeface="Aptos"/>
              </a:rPr>
              <a:t>Translation Equivariance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7" dur="indefinite" restart="never" nodeType="tmRoot">
          <p:childTnLst>
            <p:seq>
              <p:cTn id="78" dur="indefinite" nodeType="mainSeq">
                <p:childTnLst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Dropout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In each forward pass, randomly set some neurons to zero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Probability of dropping is a hyperparameter; 0.5 is common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Picture 5" descr=""/>
          <p:cNvPicPr/>
          <p:nvPr/>
        </p:nvPicPr>
        <p:blipFill>
          <a:blip r:embed="rId1"/>
          <a:srcRect l="0" t="0" r="59121" b="0"/>
          <a:stretch/>
        </p:blipFill>
        <p:spPr>
          <a:xfrm>
            <a:off x="7191000" y="144360"/>
            <a:ext cx="3402720" cy="3362040"/>
          </a:xfrm>
          <a:prstGeom prst="rect">
            <a:avLst/>
          </a:prstGeom>
          <a:ln w="0">
            <a:noFill/>
          </a:ln>
        </p:spPr>
      </p:pic>
      <p:pic>
        <p:nvPicPr>
          <p:cNvPr id="139" name="Picture 6" descr=""/>
          <p:cNvPicPr/>
          <p:nvPr/>
        </p:nvPicPr>
        <p:blipFill>
          <a:blip r:embed="rId2"/>
          <a:srcRect l="55792" t="0" r="0" b="0"/>
          <a:stretch/>
        </p:blipFill>
        <p:spPr>
          <a:xfrm>
            <a:off x="7191000" y="3429000"/>
            <a:ext cx="3680280" cy="3362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3" dur="indefinite" restart="never" nodeType="tmRoot">
          <p:childTnLst>
            <p:seq>
              <p:cTn id="84" dur="indefinite" nodeType="mainSeq">
                <p:childTnLst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Dropout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Why dropout is necessary?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As if training a large ensemble of models but sharing parameters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Each binary mask is one model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Dropout is used only at training time, no dropout at test time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3" name="Picture 5" descr=""/>
          <p:cNvPicPr/>
          <p:nvPr/>
        </p:nvPicPr>
        <p:blipFill>
          <a:blip r:embed="rId1"/>
          <a:srcRect l="0" t="0" r="59121" b="0"/>
          <a:stretch/>
        </p:blipFill>
        <p:spPr>
          <a:xfrm>
            <a:off x="7191000" y="144360"/>
            <a:ext cx="3402720" cy="3362040"/>
          </a:xfrm>
          <a:prstGeom prst="rect">
            <a:avLst/>
          </a:prstGeom>
          <a:ln w="0">
            <a:noFill/>
          </a:ln>
        </p:spPr>
      </p:pic>
      <p:pic>
        <p:nvPicPr>
          <p:cNvPr id="144" name="Picture 6" descr=""/>
          <p:cNvPicPr/>
          <p:nvPr/>
        </p:nvPicPr>
        <p:blipFill>
          <a:blip r:embed="rId2"/>
          <a:srcRect l="55792" t="0" r="0" b="0"/>
          <a:stretch/>
        </p:blipFill>
        <p:spPr>
          <a:xfrm>
            <a:off x="7191000" y="3429000"/>
            <a:ext cx="3680280" cy="3362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3" dur="indefinite" restart="never" nodeType="tmRoot">
          <p:childTnLst>
            <p:seq>
              <p:cTn id="94" dur="indefinite" nodeType="mainSeq">
                <p:childTnLst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Batch Normalization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blipFill rotWithShape="0">
            <a:blip r:embed="rId1"/>
            <a:stretch>
              <a:fillRect l="-2119" t="-2383" r="-2119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" name="Picture 2" descr=""/>
          <p:cNvPicPr/>
          <p:nvPr/>
        </p:nvPicPr>
        <p:blipFill>
          <a:blip r:embed="rId2"/>
          <a:stretch/>
        </p:blipFill>
        <p:spPr>
          <a:xfrm>
            <a:off x="6743880" y="3391560"/>
            <a:ext cx="4037760" cy="121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CNN Architectures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Picture 9" descr=""/>
          <p:cNvPicPr/>
          <p:nvPr/>
        </p:nvPicPr>
        <p:blipFill>
          <a:blip r:embed="rId1"/>
          <a:stretch/>
        </p:blipFill>
        <p:spPr>
          <a:xfrm>
            <a:off x="1189080" y="1589400"/>
            <a:ext cx="9965520" cy="482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Lenet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Picture 2" descr=""/>
          <p:cNvPicPr/>
          <p:nvPr/>
        </p:nvPicPr>
        <p:blipFill>
          <a:blip r:embed="rId1"/>
          <a:stretch/>
        </p:blipFill>
        <p:spPr>
          <a:xfrm>
            <a:off x="838080" y="2338200"/>
            <a:ext cx="10248840" cy="2476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Alexnet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Picture 4" descr=""/>
          <p:cNvPicPr/>
          <p:nvPr/>
        </p:nvPicPr>
        <p:blipFill>
          <a:blip r:embed="rId1"/>
          <a:stretch/>
        </p:blipFill>
        <p:spPr>
          <a:xfrm>
            <a:off x="2306880" y="2106000"/>
            <a:ext cx="7577640" cy="2645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VGG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Only uses 3*3 convolution layers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Why?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8" name="Picture 2" descr=""/>
          <p:cNvPicPr/>
          <p:nvPr/>
        </p:nvPicPr>
        <p:blipFill>
          <a:blip r:embed="rId1"/>
          <a:stretch/>
        </p:blipFill>
        <p:spPr>
          <a:xfrm>
            <a:off x="6395400" y="1110600"/>
            <a:ext cx="5105520" cy="538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VGG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Only uses 3*3 convolution layers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Why?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1" name="Picture 2" descr=""/>
          <p:cNvPicPr/>
          <p:nvPr/>
        </p:nvPicPr>
        <p:blipFill>
          <a:blip r:embed="rId1"/>
          <a:srcRect l="34316" t="0" r="0" b="0"/>
          <a:stretch/>
        </p:blipFill>
        <p:spPr>
          <a:xfrm>
            <a:off x="8147880" y="1110600"/>
            <a:ext cx="3353040" cy="5381640"/>
          </a:xfrm>
          <a:prstGeom prst="rect">
            <a:avLst/>
          </a:prstGeom>
          <a:ln w="0">
            <a:noFill/>
          </a:ln>
        </p:spPr>
      </p:pic>
      <p:pic>
        <p:nvPicPr>
          <p:cNvPr id="162" name="Picture 3" descr=""/>
          <p:cNvPicPr/>
          <p:nvPr/>
        </p:nvPicPr>
        <p:blipFill>
          <a:blip r:embed="rId2"/>
          <a:stretch/>
        </p:blipFill>
        <p:spPr>
          <a:xfrm>
            <a:off x="824760" y="2923920"/>
            <a:ext cx="7067880" cy="2838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VGG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Only uses 3*3 convolution layers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Why?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5" name="Picture 2" descr=""/>
          <p:cNvPicPr/>
          <p:nvPr/>
        </p:nvPicPr>
        <p:blipFill>
          <a:blip r:embed="rId1"/>
          <a:srcRect l="34316" t="0" r="0" b="0"/>
          <a:stretch/>
        </p:blipFill>
        <p:spPr>
          <a:xfrm>
            <a:off x="8147880" y="1110600"/>
            <a:ext cx="3353040" cy="5381640"/>
          </a:xfrm>
          <a:prstGeom prst="rect">
            <a:avLst/>
          </a:prstGeom>
          <a:ln w="0">
            <a:noFill/>
          </a:ln>
        </p:spPr>
      </p:pic>
      <p:pic>
        <p:nvPicPr>
          <p:cNvPr id="166" name="Picture 3" descr=""/>
          <p:cNvPicPr/>
          <p:nvPr/>
        </p:nvPicPr>
        <p:blipFill>
          <a:blip r:embed="rId2"/>
          <a:stretch/>
        </p:blipFill>
        <p:spPr>
          <a:xfrm>
            <a:off x="971640" y="2923920"/>
            <a:ext cx="6774480" cy="2838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VGG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Only uses 3*3 convolution layers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Why?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9" name="Picture 2" descr=""/>
          <p:cNvPicPr/>
          <p:nvPr/>
        </p:nvPicPr>
        <p:blipFill>
          <a:blip r:embed="rId1"/>
          <a:srcRect l="34316" t="0" r="0" b="0"/>
          <a:stretch/>
        </p:blipFill>
        <p:spPr>
          <a:xfrm>
            <a:off x="8147880" y="1110600"/>
            <a:ext cx="3353040" cy="5381640"/>
          </a:xfrm>
          <a:prstGeom prst="rect">
            <a:avLst/>
          </a:prstGeom>
          <a:ln w="0">
            <a:noFill/>
          </a:ln>
        </p:spPr>
      </p:pic>
      <p:pic>
        <p:nvPicPr>
          <p:cNvPr id="170" name="Picture 3" descr=""/>
          <p:cNvPicPr/>
          <p:nvPr/>
        </p:nvPicPr>
        <p:blipFill>
          <a:blip r:embed="rId2"/>
          <a:stretch/>
        </p:blipFill>
        <p:spPr>
          <a:xfrm>
            <a:off x="971640" y="2989440"/>
            <a:ext cx="6774480" cy="2707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VGG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Only uses 3*3 convolution layers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Why?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" name="Picture 2" descr=""/>
          <p:cNvPicPr/>
          <p:nvPr/>
        </p:nvPicPr>
        <p:blipFill>
          <a:blip r:embed="rId1"/>
          <a:srcRect l="34316" t="0" r="0" b="0"/>
          <a:stretch/>
        </p:blipFill>
        <p:spPr>
          <a:xfrm>
            <a:off x="8147880" y="1110600"/>
            <a:ext cx="3353040" cy="5381640"/>
          </a:xfrm>
          <a:prstGeom prst="rect">
            <a:avLst/>
          </a:prstGeom>
          <a:ln w="0">
            <a:noFill/>
          </a:ln>
        </p:spPr>
      </p:pic>
      <p:pic>
        <p:nvPicPr>
          <p:cNvPr id="174" name="Picture 3" descr=""/>
          <p:cNvPicPr/>
          <p:nvPr/>
        </p:nvPicPr>
        <p:blipFill>
          <a:blip r:embed="rId2"/>
          <a:stretch/>
        </p:blipFill>
        <p:spPr>
          <a:xfrm>
            <a:off x="1129320" y="2989440"/>
            <a:ext cx="6458760" cy="2707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VGG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333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Only uses 3*3 convolution layers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Why?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Effective receptive field as one 7*7 conv layer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7" name="Picture 2" descr=""/>
          <p:cNvPicPr/>
          <p:nvPr/>
        </p:nvPicPr>
        <p:blipFill>
          <a:blip r:embed="rId1"/>
          <a:srcRect l="34316" t="0" r="0" b="0"/>
          <a:stretch/>
        </p:blipFill>
        <p:spPr>
          <a:xfrm>
            <a:off x="8147880" y="1110600"/>
            <a:ext cx="3353040" cy="5381640"/>
          </a:xfrm>
          <a:prstGeom prst="rect">
            <a:avLst/>
          </a:prstGeom>
          <a:ln w="0">
            <a:noFill/>
          </a:ln>
        </p:spPr>
      </p:pic>
      <p:pic>
        <p:nvPicPr>
          <p:cNvPr id="178" name="Picture 3" descr=""/>
          <p:cNvPicPr/>
          <p:nvPr/>
        </p:nvPicPr>
        <p:blipFill>
          <a:blip r:embed="rId2"/>
          <a:stretch/>
        </p:blipFill>
        <p:spPr>
          <a:xfrm>
            <a:off x="1129320" y="3045240"/>
            <a:ext cx="6458760" cy="2595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GoogLenet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Investigated which kernel size is the best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Employ a combination of various size kernels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Basic building block is called inception block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" name="Picture 2" descr=""/>
          <p:cNvPicPr/>
          <p:nvPr/>
        </p:nvPicPr>
        <p:blipFill>
          <a:blip r:embed="rId1"/>
          <a:stretch/>
        </p:blipFill>
        <p:spPr>
          <a:xfrm>
            <a:off x="2347920" y="3669840"/>
            <a:ext cx="7495560" cy="223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GoogLenet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Investigated which kernel 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size is the best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Employ a combination of </a:t>
            </a: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various size kernels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Basic building block is called 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inception block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Picture 2" descr=""/>
          <p:cNvPicPr/>
          <p:nvPr/>
        </p:nvPicPr>
        <p:blipFill>
          <a:blip r:embed="rId1"/>
          <a:stretch/>
        </p:blipFill>
        <p:spPr>
          <a:xfrm>
            <a:off x="1038240" y="3191760"/>
            <a:ext cx="9879120" cy="3162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Resnet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Continue stacking layer to train deeper networks.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56-layer model performs worse on both test and training error.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7" name="Picture 4" descr=""/>
          <p:cNvPicPr/>
          <p:nvPr/>
        </p:nvPicPr>
        <p:blipFill>
          <a:blip r:embed="rId1"/>
          <a:stretch/>
        </p:blipFill>
        <p:spPr>
          <a:xfrm>
            <a:off x="1250640" y="2521800"/>
            <a:ext cx="9689760" cy="2958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Resnet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The deeper model should learn to be at least as good as the shallower model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Proof by Construction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Copying the learned layers from the shallower model and set additional layers to identity mapping.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1" name="Picture 4" descr=""/>
          <p:cNvPicPr/>
          <p:nvPr/>
        </p:nvPicPr>
        <p:blipFill>
          <a:blip r:embed="rId1"/>
          <a:stretch/>
        </p:blipFill>
        <p:spPr>
          <a:xfrm>
            <a:off x="6776640" y="2534400"/>
            <a:ext cx="3971880" cy="2933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Resnet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Deep models have more representation power (more parameters) than shallower models.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0000"/>
                </a:solidFill>
                <a:latin typeface="Aptos"/>
              </a:rPr>
              <a:t>Hypothesis: the problem is an optimization problem, deeper models are harder to optimize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Resnet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Use network layers to fit a residual mapping instead of directly trying to fit a desired underlying mapping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6" name="Picture 4" descr=""/>
          <p:cNvPicPr/>
          <p:nvPr/>
        </p:nvPicPr>
        <p:blipFill>
          <a:blip r:embed="rId1"/>
          <a:stretch/>
        </p:blipFill>
        <p:spPr>
          <a:xfrm>
            <a:off x="2495160" y="3033360"/>
            <a:ext cx="1504440" cy="3142800"/>
          </a:xfrm>
          <a:prstGeom prst="rect">
            <a:avLst/>
          </a:prstGeom>
          <a:ln w="0">
            <a:noFill/>
          </a:ln>
        </p:spPr>
      </p:pic>
      <p:pic>
        <p:nvPicPr>
          <p:cNvPr id="197" name="Picture 6" descr=""/>
          <p:cNvPicPr/>
          <p:nvPr/>
        </p:nvPicPr>
        <p:blipFill>
          <a:blip r:embed="rId2"/>
          <a:stretch/>
        </p:blipFill>
        <p:spPr>
          <a:xfrm>
            <a:off x="5562360" y="2758680"/>
            <a:ext cx="4228920" cy="3552480"/>
          </a:xfrm>
          <a:prstGeom prst="rect">
            <a:avLst/>
          </a:prstGeom>
          <a:ln w="0">
            <a:noFill/>
          </a:ln>
        </p:spPr>
      </p:pic>
      <p:sp>
        <p:nvSpPr>
          <p:cNvPr id="198" name="TextBox 7"/>
          <p:cNvSpPr/>
          <p:nvPr/>
        </p:nvSpPr>
        <p:spPr>
          <a:xfrm>
            <a:off x="8754840" y="2454120"/>
            <a:ext cx="26881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rgbClr val="ff0000"/>
                </a:solidFill>
                <a:latin typeface="Aptos"/>
              </a:rPr>
              <a:t>Identity Function,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rgbClr val="ff0000"/>
                </a:solidFill>
                <a:latin typeface="Aptos"/>
              </a:rPr>
              <a:t>H(x) = x if F(x) = 0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Resnet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49323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Full ResNet architecture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Stack residual blocks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Every residual block has two 3x3 conv layers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Periodically, double # of filters and downsample spatially using stride 2 (/2 in each dimension)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Additional conv layer at the beginning (stem)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ff0000"/>
                </a:solidFill>
                <a:latin typeface="Aptos"/>
              </a:rPr>
              <a:t>As much as 152 layers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2" name="Picture 10" descr=""/>
          <p:cNvPicPr/>
          <p:nvPr/>
        </p:nvPicPr>
        <p:blipFill>
          <a:blip r:embed="rId1"/>
          <a:stretch/>
        </p:blipFill>
        <p:spPr>
          <a:xfrm>
            <a:off x="5662080" y="585360"/>
            <a:ext cx="6441120" cy="5906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7" dur="indefinite" restart="never" nodeType="tmRoot">
          <p:childTnLst>
            <p:seq>
              <p:cTn id="108" dur="indefinite" nodeType="mainSeq">
                <p:childTnLst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Acknowledgement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cs231n.stanford.edu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642</TotalTime>
  <Application>LibreOffice/24.2.7.2$Linux_X86_64 LibreOffice_project/420$Build-2</Application>
  <AppVersion>15.0000</AppVersion>
  <Words>632</Words>
  <Paragraphs>184</Paragraphs>
  <Company>HP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2025-07-08T00:04:37Z</dcterms:created>
  <dc:creator>Chowdhury Mohammad Rakin Haider</dc:creator>
  <dc:description/>
  <dc:language>en-US</dc:language>
  <cp:lastModifiedBy/>
  <dcterms:modified xsi:type="dcterms:W3CDTF">2026-01-18T08:21:39Z</dcterms:modified>
  <cp:revision>12</cp:revision>
  <dc:subject/>
  <dc:title>Deep Learning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37</vt:i4>
  </property>
</Properties>
</file>