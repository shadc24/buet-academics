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54.png" ContentType="image/png"/>
  <Override PartName="/ppt/media/image32.jpeg" ContentType="image/jpeg"/>
  <Override PartName="/ppt/media/image35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94.png" ContentType="image/png"/>
  <Override PartName="/ppt/media/image29.png" ContentType="image/png"/>
  <Override PartName="/ppt/media/image71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70.png" ContentType="image/png"/>
  <Override PartName="/ppt/media/image93.png" ContentType="image/png"/>
  <Override PartName="/ppt/media/image28.png" ContentType="image/png"/>
  <Override PartName="/ppt/media/image69.png" ContentType="image/png"/>
  <Override PartName="/ppt/media/image72.png" ContentType="image/png"/>
  <Override PartName="/ppt/media/image60.png" ContentType="image/png"/>
  <Override PartName="/ppt/media/image95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6.png" ContentType="image/png"/>
  <Override PartName="/ppt/media/image87.png" ContentType="image/png"/>
  <Override PartName="/ppt/media/image75.png" ContentType="image/png"/>
  <Override PartName="/ppt/media/image86.png" ContentType="image/png"/>
  <Override PartName="/ppt/media/image74.png" ContentType="image/png"/>
  <Override PartName="/ppt/media/image85.png" ContentType="image/png"/>
  <Override PartName="/ppt/media/image73.png" ContentType="image/png"/>
  <Override PartName="/ppt/media/image79.png" ContentType="image/png"/>
  <Override PartName="/ppt/media/image78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84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80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81.png" ContentType="image/png"/>
  <Override PartName="/ppt/media/image7.png" ContentType="image/png"/>
  <Override PartName="/ppt/media/image39.png" ContentType="image/png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16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4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8.xml.rels" ContentType="application/vnd.openxmlformats-package.relationships+xml"/>
  <Override PartName="/ppt/slides/_rels/slide5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7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46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52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048A70D-3E84-4CC8-98DE-084EC021DA4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FFB535-1CB0-4BD2-971B-AC92E5BEBF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CAAC81-D4B0-4572-BF66-F1874323FBE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056976-5D87-47E9-BAC3-D93A8EB895F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7CF0AA-26D4-4C6F-9076-62AFA462500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AE9554-0662-4C67-86AA-9EFB4C600B1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1C3805-59B7-40EC-9340-6263601532F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97FB45-0E49-45A0-AD19-92C7FB4F78D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A186118-545B-4EF7-BEF7-198AB5A23AD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073EB4-2BC8-44C3-99C0-CD2E1CAAA52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E0CBFB-EE2E-4F8F-96EB-1FBB275EED4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666A7B-36BB-4AA4-84DA-6AC9347B9BE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302297-C364-4770-A4C1-1ADBAE1BFE8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DCCFEA-F34F-4AFB-BBAB-64849A1A055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25FC1B-93DB-4310-B720-CBCB25AE86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5290CA-8489-4C60-AAEC-6FC3563A2E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5D70E0-8EF0-4FD0-B44A-088008A7E1C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6F2FD-BDC3-4239-88AB-31193F39BC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C91C5-4F4C-4427-8157-7810ADC644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4935C2C-9204-4FF1-B4F1-A34946B97D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BC3B5E-7F02-4C0B-9122-309028C569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076EFC5-A78D-4C45-A482-8924012258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2EE9E2C-313B-4779-9915-6AA316DC17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F21F618-D37D-408D-9C78-45715A2FCF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E8A27F1-151C-4940-9268-A8DE836E3F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AA0321D-E548-4956-9814-C48D50963D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D28E76B-9C24-41D1-9E95-7607A99262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84DE5EA-DEE5-4A36-9E8E-FFB5819675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B4C02B-5CC2-48AE-9034-2FEAC47791E9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k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x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y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n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d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v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d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u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r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5BE4D9-365A-4AF0-90B6-3C3F093AA89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18440-2F62-413B-A49B-11A5409BBDBE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7A904-014C-4500-B529-C0D3002082F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4F1A36-503D-40E2-88F2-22C7DABEA47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A18B08-A890-445E-9F3B-801DC633A15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DB4A0-66E9-400E-846F-F87A0267B10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51C3A7-BFF6-4133-B17F-77492DC2D86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45348B-8E43-49EA-9915-A4F44BC63CE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7BCD50-057D-4861-B3A2-EA43C5970F1D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D25993-7663-4919-85E4-28F8D6F2F56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jpe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slideLayout" Target="../slideLayouts/slideLayout6.xml"/><Relationship Id="rId17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slideLayout" Target="../slideLayouts/slideLayout6.xml"/><Relationship Id="rId17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slideLayout" Target="../slideLayouts/slideLayout6.xml"/><Relationship Id="rId17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44.pn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46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47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46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49.png"/><Relationship Id="rId18" Type="http://schemas.openxmlformats.org/officeDocument/2006/relationships/slideLayout" Target="../slideLayouts/slideLayout6.xml"/><Relationship Id="rId19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6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6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6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slideLayout" Target="../slideLayouts/slideLayout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6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slideLayout" Target="../slideLayouts/slideLayout6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6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slideLayout" Target="../slideLayouts/slideLayout6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slideLayout" Target="../slideLayouts/slideLayout6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image" Target="../media/image79.png"/><Relationship Id="rId4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slideLayout" Target="../slideLayouts/slideLayout6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slideLayout" Target="../slideLayouts/slideLayout6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3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slideLayout" Target="../slideLayouts/slideLayout6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3.png"/><Relationship Id="rId3" Type="http://schemas.openxmlformats.org/officeDocument/2006/relationships/slideLayout" Target="../slideLayouts/slideLayout6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slideLayout" Target="../slideLayouts/slideLayout6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slideLayout" Target="../slideLayouts/slideLayout6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slideLayout" Target="../slideLayouts/slideLayout6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slideLayout" Target="../slideLayouts/slideLayout6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slideLayout" Target="../slideLayouts/slideLayout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slideLayout" Target="../slideLayouts/slideLayout6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image" Target="../media/image94.png"/><Relationship Id="rId3" Type="http://schemas.openxmlformats.org/officeDocument/2006/relationships/slideLayout" Target="../slideLayouts/slideLayout6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slideLayout" Target="../slideLayouts/slideLayout4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Deep Learning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Feedforward Networks and Backpropagation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Supervised Learning (Recap)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5" name="Picture 6" descr=""/>
          <p:cNvPicPr/>
          <p:nvPr/>
        </p:nvPicPr>
        <p:blipFill>
          <a:blip r:embed="rId1"/>
          <a:stretch/>
        </p:blipFill>
        <p:spPr>
          <a:xfrm>
            <a:off x="3359520" y="1690560"/>
            <a:ext cx="4962960" cy="4686480"/>
          </a:xfrm>
          <a:prstGeom prst="rect">
            <a:avLst/>
          </a:prstGeom>
          <a:ln w="0">
            <a:noFill/>
          </a:ln>
        </p:spPr>
      </p:pic>
      <p:sp>
        <p:nvSpPr>
          <p:cNvPr id="76" name="TextBox 7"/>
          <p:cNvSpPr/>
          <p:nvPr/>
        </p:nvSpPr>
        <p:spPr>
          <a:xfrm>
            <a:off x="3585960" y="6146640"/>
            <a:ext cx="14086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Features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6630480" y="6146640"/>
            <a:ext cx="122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Target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7055280" y="4440600"/>
            <a:ext cx="2048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Hypothesis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9" name="Straight Arrow Connector 11"/>
          <p:cNvCxnSpPr>
            <a:stCxn id="78" idx="1"/>
          </p:cNvCxnSpPr>
          <p:nvPr/>
        </p:nvCxnSpPr>
        <p:spPr>
          <a:xfrm flipH="1">
            <a:off x="5950800" y="4668120"/>
            <a:ext cx="1104840" cy="63936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Recap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If the relation between x and y are linear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Linear Regression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If the samples of the classes are linearly separable, 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Logistic Regression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Predict Rich Or Not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5" name="Content Placeholder 4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2664720" y="1825560"/>
            <a:ext cx="686196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Predict Rich Or Not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7" name="Content Placeholder 6" descr="A screenshot of a black board&#10;&#10;AI-generated content may be incorrect."/>
          <p:cNvPicPr/>
          <p:nvPr/>
        </p:nvPicPr>
        <p:blipFill>
          <a:blip r:embed="rId1"/>
          <a:srcRect l="0" t="0" r="0" b="6225"/>
          <a:stretch/>
        </p:blipFill>
        <p:spPr>
          <a:xfrm>
            <a:off x="2800440" y="1825560"/>
            <a:ext cx="6590520" cy="408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Predict Rich Or Not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9" name="Content Placeholder 5" descr="A screenshot of a computer&#10;&#10;AI-generated content may be incorrect."/>
          <p:cNvPicPr/>
          <p:nvPr/>
        </p:nvPicPr>
        <p:blipFill>
          <a:blip r:embed="rId1"/>
          <a:srcRect l="0" t="0" r="0" b="4848"/>
          <a:stretch/>
        </p:blipFill>
        <p:spPr>
          <a:xfrm>
            <a:off x="2800800" y="1825560"/>
            <a:ext cx="6589800" cy="41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3086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For example, the rich prediction can be modeled as,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Oval 4"/>
          <p:cNvSpPr/>
          <p:nvPr/>
        </p:nvSpPr>
        <p:spPr>
          <a:xfrm>
            <a:off x="8004600" y="3297960"/>
            <a:ext cx="704160" cy="7340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Oval 5"/>
          <p:cNvSpPr/>
          <p:nvPr/>
        </p:nvSpPr>
        <p:spPr>
          <a:xfrm>
            <a:off x="8004600" y="4770000"/>
            <a:ext cx="704160" cy="7340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7" name="Oval 6"/>
          <p:cNvSpPr/>
          <p:nvPr/>
        </p:nvSpPr>
        <p:spPr>
          <a:xfrm>
            <a:off x="10189440" y="4035600"/>
            <a:ext cx="704160" cy="7340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cxnSp>
        <p:nvCxnSpPr>
          <p:cNvPr id="98" name="Straight Arrow Connector 8"/>
          <p:cNvCxnSpPr>
            <a:stCxn id="95" idx="6"/>
            <a:endCxn id="97" idx="2"/>
          </p:cNvCxnSpPr>
          <p:nvPr/>
        </p:nvCxnSpPr>
        <p:spPr>
          <a:xfrm>
            <a:off x="8708760" y="3665160"/>
            <a:ext cx="1481040" cy="7380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99" name="Straight Arrow Connector 9"/>
          <p:cNvCxnSpPr>
            <a:stCxn id="96" idx="6"/>
            <a:endCxn id="97" idx="2"/>
          </p:cNvCxnSpPr>
          <p:nvPr/>
        </p:nvCxnSpPr>
        <p:spPr>
          <a:xfrm flipV="1">
            <a:off x="8708760" y="4402800"/>
            <a:ext cx="1481040" cy="7347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00" name="Straight Arrow Connector 12"/>
          <p:cNvCxnSpPr/>
          <p:nvPr/>
        </p:nvCxnSpPr>
        <p:spPr>
          <a:xfrm>
            <a:off x="10893960" y="4402440"/>
            <a:ext cx="460080" cy="36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01" name="Straight Arrow Connector 15"/>
          <p:cNvCxnSpPr>
            <a:endCxn id="95" idx="2"/>
          </p:cNvCxnSpPr>
          <p:nvPr/>
        </p:nvCxnSpPr>
        <p:spPr>
          <a:xfrm>
            <a:off x="7544880" y="3429000"/>
            <a:ext cx="460080" cy="2365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02" name="Straight Arrow Connector 18"/>
          <p:cNvCxnSpPr/>
          <p:nvPr/>
        </p:nvCxnSpPr>
        <p:spPr>
          <a:xfrm flipV="1">
            <a:off x="7544880" y="3664800"/>
            <a:ext cx="460080" cy="3366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03" name="Straight Arrow Connector 21"/>
          <p:cNvCxnSpPr/>
          <p:nvPr/>
        </p:nvCxnSpPr>
        <p:spPr>
          <a:xfrm>
            <a:off x="7544880" y="4932000"/>
            <a:ext cx="460080" cy="23652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cxnSp>
        <p:nvCxnSpPr>
          <p:cNvPr id="104" name="Straight Arrow Connector 22"/>
          <p:cNvCxnSpPr/>
          <p:nvPr/>
        </p:nvCxnSpPr>
        <p:spPr>
          <a:xfrm flipV="1">
            <a:off x="7544880" y="5168160"/>
            <a:ext cx="460080" cy="336600"/>
          </a:xfrm>
          <a:prstGeom prst="straightConnector1">
            <a:avLst/>
          </a:prstGeom>
          <a:ln w="38100">
            <a:solidFill>
              <a:srgbClr val="000000"/>
            </a:solidFill>
            <a:tailEnd len="med" type="triangle" w="med"/>
          </a:ln>
        </p:spPr>
      </p:cxnSp>
      <p:sp>
        <p:nvSpPr>
          <p:cNvPr id="105" name="TextBox 23"/>
          <p:cNvSpPr/>
          <p:nvPr/>
        </p:nvSpPr>
        <p:spPr>
          <a:xfrm>
            <a:off x="6252840" y="323568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Is Tanned?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4"/>
          <p:cNvSpPr/>
          <p:nvPr/>
        </p:nvSpPr>
        <p:spPr>
          <a:xfrm>
            <a:off x="6254640" y="3740040"/>
            <a:ext cx="132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Employs a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Captain?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5"/>
          <p:cNvSpPr/>
          <p:nvPr/>
        </p:nvSpPr>
        <p:spPr>
          <a:xfrm>
            <a:off x="5947200" y="4690080"/>
            <a:ext cx="1661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Pays Property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Tax?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6"/>
          <p:cNvSpPr/>
          <p:nvPr/>
        </p:nvSpPr>
        <p:spPr>
          <a:xfrm>
            <a:off x="6019920" y="5347080"/>
            <a:ext cx="1996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Employs a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cook?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7"/>
          <p:cNvSpPr/>
          <p:nvPr/>
        </p:nvSpPr>
        <p:spPr>
          <a:xfrm>
            <a:off x="11457720" y="4201560"/>
            <a:ext cx="916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Is Rich?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Another example, if more features are available the housing price prediction can be modeled as,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2" name="Picture 13" descr=""/>
          <p:cNvPicPr/>
          <p:nvPr/>
        </p:nvPicPr>
        <p:blipFill>
          <a:blip r:embed="rId1"/>
          <a:stretch/>
        </p:blipFill>
        <p:spPr>
          <a:xfrm>
            <a:off x="1877040" y="2853360"/>
            <a:ext cx="8058960" cy="320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Prior knowledge about the features may not be available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Output from a neuron is input to every neuron in the next layer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Also called Multilayer Perceptron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7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118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23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124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Vectorization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29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130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33" descr=""/>
          <p:cNvPicPr/>
          <p:nvPr/>
        </p:nvPicPr>
        <p:blipFill>
          <a:blip r:embed="rId14"/>
          <a:stretch/>
        </p:blipFill>
        <p:spPr>
          <a:xfrm>
            <a:off x="703440" y="2644200"/>
            <a:ext cx="5401080" cy="183816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35" descr=""/>
          <p:cNvPicPr/>
          <p:nvPr/>
        </p:nvPicPr>
        <p:blipFill>
          <a:blip r:embed="rId15"/>
          <a:stretch/>
        </p:blipFill>
        <p:spPr>
          <a:xfrm>
            <a:off x="1690200" y="4836240"/>
            <a:ext cx="3124440" cy="83808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" name="Straight Arrow Connector 40"/>
          <p:cNvCxnSpPr>
            <a:stCxn id="147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150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Multilayer Fully-connected Networks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53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154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1" name="Straight Arrow Connector 40"/>
          <p:cNvCxnSpPr>
            <a:stCxn id="169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172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173" name="Picture 20" descr=""/>
          <p:cNvPicPr/>
          <p:nvPr/>
        </p:nvPicPr>
        <p:blipFill>
          <a:blip r:embed="rId16"/>
          <a:stretch/>
        </p:blipFill>
        <p:spPr>
          <a:xfrm>
            <a:off x="1103040" y="2980080"/>
            <a:ext cx="4767480" cy="239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Activation Functions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9748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Introduces Non-linearity in the Network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Sigmoid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ReLU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Leaky ReLU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Tanh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76" name="Content Placeholder 22" descr="A graph with a blue line&#10;&#10;AI-generated content may be incorrect."/>
          <p:cNvPicPr/>
          <p:nvPr/>
        </p:nvPicPr>
        <p:blipFill>
          <a:blip r:embed="rId1">
            <a:grayscl/>
          </a:blip>
          <a:stretch/>
        </p:blipFill>
        <p:spPr>
          <a:xfrm>
            <a:off x="5233680" y="2193840"/>
            <a:ext cx="2466000" cy="1644120"/>
          </a:xfrm>
          <a:prstGeom prst="rect">
            <a:avLst/>
          </a:prstGeom>
          <a:ln w="0">
            <a:noFill/>
          </a:ln>
        </p:spPr>
      </p:pic>
      <p:pic>
        <p:nvPicPr>
          <p:cNvPr id="177" name="Picture 24" descr="A graph of a function&#10;&#10;AI-generated content may be incorrect."/>
          <p:cNvPicPr/>
          <p:nvPr/>
        </p:nvPicPr>
        <p:blipFill>
          <a:blip r:embed="rId2">
            <a:grayscl/>
          </a:blip>
          <a:stretch/>
        </p:blipFill>
        <p:spPr>
          <a:xfrm>
            <a:off x="8305920" y="1895400"/>
            <a:ext cx="2500560" cy="194256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26" descr="A graph of a function&#10;&#10;AI-generated content may be incorrect."/>
          <p:cNvPicPr/>
          <p:nvPr/>
        </p:nvPicPr>
        <p:blipFill>
          <a:blip r:embed="rId3">
            <a:grayscl/>
          </a:blip>
          <a:stretch/>
        </p:blipFill>
        <p:spPr>
          <a:xfrm>
            <a:off x="5368680" y="4089600"/>
            <a:ext cx="2196360" cy="183528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28" descr=""/>
          <p:cNvPicPr/>
          <p:nvPr/>
        </p:nvPicPr>
        <p:blipFill>
          <a:blip r:embed="rId4"/>
          <a:stretch/>
        </p:blipFill>
        <p:spPr>
          <a:xfrm>
            <a:off x="8305920" y="4130280"/>
            <a:ext cx="2500560" cy="175428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2" descr=""/>
          <p:cNvPicPr/>
          <p:nvPr/>
        </p:nvPicPr>
        <p:blipFill>
          <a:blip r:embed="rId5"/>
          <a:stretch/>
        </p:blipFill>
        <p:spPr>
          <a:xfrm>
            <a:off x="5813280" y="1737360"/>
            <a:ext cx="1307160" cy="49464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3" descr=""/>
          <p:cNvPicPr/>
          <p:nvPr/>
        </p:nvPicPr>
        <p:blipFill>
          <a:blip r:embed="rId6"/>
          <a:stretch/>
        </p:blipFill>
        <p:spPr>
          <a:xfrm>
            <a:off x="8682840" y="5925600"/>
            <a:ext cx="1862640" cy="39888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4" descr=""/>
          <p:cNvPicPr/>
          <p:nvPr/>
        </p:nvPicPr>
        <p:blipFill>
          <a:blip r:embed="rId7"/>
          <a:stretch/>
        </p:blipFill>
        <p:spPr>
          <a:xfrm>
            <a:off x="8613000" y="1743480"/>
            <a:ext cx="1885680" cy="241200"/>
          </a:xfrm>
          <a:prstGeom prst="rect">
            <a:avLst/>
          </a:prstGeom>
          <a:ln w="0">
            <a:noFill/>
          </a:ln>
        </p:spPr>
      </p:pic>
      <p:pic>
        <p:nvPicPr>
          <p:cNvPr id="183" name="Picture 5" descr=""/>
          <p:cNvPicPr/>
          <p:nvPr/>
        </p:nvPicPr>
        <p:blipFill>
          <a:blip r:embed="rId8"/>
          <a:stretch/>
        </p:blipFill>
        <p:spPr>
          <a:xfrm>
            <a:off x="5652720" y="5958720"/>
            <a:ext cx="1467360" cy="4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Why use non-linear activations?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4" b="-4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 a two-layer neural network,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87" name="Picture 7" descr=""/>
          <p:cNvPicPr/>
          <p:nvPr/>
        </p:nvPicPr>
        <p:blipFill>
          <a:blip r:embed="rId2"/>
          <a:stretch/>
        </p:blipFill>
        <p:spPr>
          <a:xfrm>
            <a:off x="6814800" y="2293200"/>
            <a:ext cx="3895920" cy="371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90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191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8" name="Straight Arrow Connector 40"/>
          <p:cNvCxnSpPr>
            <a:stCxn id="206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209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210" name="Picture 20" descr=""/>
          <p:cNvPicPr/>
          <p:nvPr/>
        </p:nvPicPr>
        <p:blipFill>
          <a:blip r:embed="rId17"/>
          <a:stretch/>
        </p:blipFill>
        <p:spPr>
          <a:xfrm>
            <a:off x="1103040" y="2859480"/>
            <a:ext cx="4767480" cy="239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How to do classification?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The output layer (discussed so far),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How to perform classification task?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Binary Classification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Multi-class Classification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13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214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1" name="Straight Arrow Connector 40"/>
          <p:cNvCxnSpPr>
            <a:stCxn id="229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232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233" name="Picture 20" descr=""/>
          <p:cNvPicPr/>
          <p:nvPr/>
        </p:nvPicPr>
        <p:blipFill>
          <a:blip r:embed="rId16"/>
          <a:srcRect l="0" t="77487" r="0" b="0"/>
          <a:stretch/>
        </p:blipFill>
        <p:spPr>
          <a:xfrm>
            <a:off x="1339200" y="3188160"/>
            <a:ext cx="4767480" cy="5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1" dur="indefinite" restart="never" nodeType="tmRoot">
          <p:childTnLst>
            <p:seq>
              <p:cTn id="212" dur="indefinite" nodeType="mainSeq">
                <p:childTnLst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Binary Classification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We can use a single output node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Apply sigmoid function on the last layer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We can also use two output nodes each returning the probability of being in the corresponding class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36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237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4" name="Straight Arrow Connector 40"/>
          <p:cNvCxnSpPr>
            <a:stCxn id="252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255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Multi-class Classification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What to do?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58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259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6" name="Straight Arrow Connector 40"/>
          <p:cNvCxnSpPr>
            <a:stCxn id="274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277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Multi-class Classification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Example,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Predict whether the image is of a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cat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,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chicken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or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dog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?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We can represent them as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where the integers represents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respectively. 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80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281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8" name="Straight Arrow Connector 40"/>
          <p:cNvCxnSpPr>
            <a:stCxn id="296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299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300" name="Picture 2" descr=""/>
          <p:cNvPicPr/>
          <p:nvPr/>
        </p:nvPicPr>
        <p:blipFill>
          <a:blip r:embed="rId16"/>
          <a:stretch/>
        </p:blipFill>
        <p:spPr>
          <a:xfrm>
            <a:off x="3106080" y="3436200"/>
            <a:ext cx="1473120" cy="303120"/>
          </a:xfrm>
          <a:prstGeom prst="rect">
            <a:avLst/>
          </a:prstGeom>
          <a:ln w="0">
            <a:noFill/>
          </a:ln>
        </p:spPr>
      </p:pic>
      <p:pic>
        <p:nvPicPr>
          <p:cNvPr id="301" name="Picture 3" descr=""/>
          <p:cNvPicPr/>
          <p:nvPr/>
        </p:nvPicPr>
        <p:blipFill>
          <a:blip r:embed="rId17"/>
          <a:stretch/>
        </p:blipFill>
        <p:spPr>
          <a:xfrm>
            <a:off x="2753280" y="4171680"/>
            <a:ext cx="2179080" cy="35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Multi-class Classification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Example,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Predict whether the image is of a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cat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,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chicken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or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dog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?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Instead use one-hot encoding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Equivalent to three binary classifications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04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305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2" name="Straight Arrow Connector 40"/>
          <p:cNvCxnSpPr>
            <a:stCxn id="320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323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324" name="Picture 3" descr=""/>
          <p:cNvPicPr/>
          <p:nvPr/>
        </p:nvPicPr>
        <p:blipFill>
          <a:blip r:embed="rId16"/>
          <a:stretch/>
        </p:blipFill>
        <p:spPr>
          <a:xfrm>
            <a:off x="2753280" y="3836520"/>
            <a:ext cx="2179080" cy="356040"/>
          </a:xfrm>
          <a:prstGeom prst="rect">
            <a:avLst/>
          </a:prstGeom>
          <a:ln w="0">
            <a:noFill/>
          </a:ln>
        </p:spPr>
      </p:pic>
      <p:pic>
        <p:nvPicPr>
          <p:cNvPr id="325" name="Picture 2" descr=""/>
          <p:cNvPicPr/>
          <p:nvPr/>
        </p:nvPicPr>
        <p:blipFill>
          <a:blip r:embed="rId17"/>
          <a:stretch/>
        </p:blipFill>
        <p:spPr>
          <a:xfrm>
            <a:off x="2051640" y="3441960"/>
            <a:ext cx="3582000" cy="31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5" dur="indefinite" restart="never" nodeType="tmRoot">
          <p:childTnLst>
            <p:seq>
              <p:cTn id="236" dur="indefinite" nodeType="mainSeq">
                <p:childTnLst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Multi-class Classification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Encode classes using one-hot encoding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Output layer units, 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One unit corresponding to each class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Sigmoid on each unit returning probabilities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The summation of output probabilities may be below or above 1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28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329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6" name="Straight Arrow Connector 40"/>
          <p:cNvCxnSpPr>
            <a:stCxn id="344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347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Multi-class Classification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Encode classes using one-hot encoding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Output layer units, 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One unit corresponding to each class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Perform </a:t>
            </a:r>
            <a:r>
              <a:rPr b="0" i="1" lang="en-US" sz="2400" spc="-1" strike="noStrike">
                <a:solidFill>
                  <a:schemeClr val="dk1"/>
                </a:solidFill>
                <a:latin typeface="Aptos"/>
              </a:rPr>
              <a:t>softmax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over the outputs/logits 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50" name="Content Placeholder 5" descr="A black and white image of a traffic light&#10;&#10;AI-generated content may be incorrect."/>
          <p:cNvPicPr/>
          <p:nvPr/>
        </p:nvPicPr>
        <p:blipFill>
          <a:blip r:embed="rId1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351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8" name="Straight Arrow Connector 40"/>
          <p:cNvCxnSpPr>
            <a:stCxn id="366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369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370" name="Picture 2" descr=""/>
          <p:cNvPicPr/>
          <p:nvPr/>
        </p:nvPicPr>
        <p:blipFill>
          <a:blip r:embed="rId16"/>
          <a:stretch/>
        </p:blipFill>
        <p:spPr>
          <a:xfrm>
            <a:off x="1263240" y="4935240"/>
            <a:ext cx="453528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3" dur="indefinite" restart="never" nodeType="tmRoot">
          <p:childTnLst>
            <p:seq>
              <p:cTn id="274" dur="indefinite" nodeType="mainSeq">
                <p:childTnLst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73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374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1" name="Straight Arrow Connector 40"/>
          <p:cNvCxnSpPr>
            <a:stCxn id="389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392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393" name="Picture 2" descr=""/>
          <p:cNvPicPr/>
          <p:nvPr/>
        </p:nvPicPr>
        <p:blipFill>
          <a:blip r:embed="rId17"/>
          <a:stretch/>
        </p:blipFill>
        <p:spPr>
          <a:xfrm>
            <a:off x="956520" y="3481920"/>
            <a:ext cx="4994280" cy="267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396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397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4" name="Straight Arrow Connector 40"/>
          <p:cNvCxnSpPr>
            <a:stCxn id="412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415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416" name="Picture 2" descr=""/>
          <p:cNvPicPr/>
          <p:nvPr/>
        </p:nvPicPr>
        <p:blipFill>
          <a:blip r:embed="rId17"/>
          <a:stretch/>
        </p:blipFill>
        <p:spPr>
          <a:xfrm>
            <a:off x="1275480" y="3363120"/>
            <a:ext cx="3819240" cy="10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19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420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7" name="Straight Arrow Connector 40"/>
          <p:cNvCxnSpPr>
            <a:stCxn id="435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438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439" name="Picture 2" descr=""/>
          <p:cNvPicPr/>
          <p:nvPr/>
        </p:nvPicPr>
        <p:blipFill>
          <a:blip r:embed="rId17"/>
          <a:stretch/>
        </p:blipFill>
        <p:spPr>
          <a:xfrm>
            <a:off x="956520" y="3481920"/>
            <a:ext cx="4994280" cy="267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42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443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0" name="Straight Arrow Connector 40"/>
          <p:cNvCxnSpPr>
            <a:stCxn id="458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461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pic>
        <p:nvPicPr>
          <p:cNvPr id="462" name="Picture 2" descr=""/>
          <p:cNvPicPr/>
          <p:nvPr/>
        </p:nvPicPr>
        <p:blipFill>
          <a:blip r:embed="rId17"/>
          <a:stretch/>
        </p:blipFill>
        <p:spPr>
          <a:xfrm>
            <a:off x="1200600" y="3834000"/>
            <a:ext cx="4567680" cy="63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7" dur="indefinite" restart="never" nodeType="tmRoot">
          <p:childTnLst>
            <p:seq>
              <p:cTn id="308" dur="indefinite" nodeType="mainSeq">
                <p:childTnLst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Fully-connected Neural Network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65" name="Content Placeholder 5" descr="A black and white image of a traffic light&#10;&#10;AI-generated content may be incorrect."/>
          <p:cNvPicPr/>
          <p:nvPr/>
        </p:nvPicPr>
        <p:blipFill>
          <a:blip r:embed="rId2"/>
          <a:stretch/>
        </p:blipFill>
        <p:spPr>
          <a:xfrm>
            <a:off x="6172200" y="2328120"/>
            <a:ext cx="5181120" cy="3346200"/>
          </a:xfrm>
          <a:prstGeom prst="rect">
            <a:avLst/>
          </a:prstGeom>
          <a:ln w="0">
            <a:noFill/>
          </a:ln>
        </p:spPr>
      </p:pic>
      <p:sp>
        <p:nvSpPr>
          <p:cNvPr id="466" name="TextBox 6"/>
          <p:cNvSpPr/>
          <p:nvPr/>
        </p:nvSpPr>
        <p:spPr>
          <a:xfrm>
            <a:off x="6136920" y="5028480"/>
            <a:ext cx="82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Input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7"/>
          <p:cNvSpPr/>
          <p:nvPr/>
        </p:nvSpPr>
        <p:spPr>
          <a:xfrm>
            <a:off x="10721160" y="5028480"/>
            <a:ext cx="1005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Output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8"/>
          <p:cNvSpPr/>
          <p:nvPr/>
        </p:nvSpPr>
        <p:spPr>
          <a:xfrm>
            <a:off x="7637040" y="5674680"/>
            <a:ext cx="2215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Hidden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3"/>
          <p:cNvSpPr/>
          <p:nvPr/>
        </p:nvSpPr>
        <p:spPr>
          <a:xfrm>
            <a:off x="6296400" y="3308760"/>
            <a:ext cx="47448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4"/>
          <p:cNvSpPr/>
          <p:nvPr/>
        </p:nvSpPr>
        <p:spPr>
          <a:xfrm>
            <a:off x="6274440" y="4278600"/>
            <a:ext cx="47448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9"/>
          <p:cNvSpPr/>
          <p:nvPr/>
        </p:nvSpPr>
        <p:spPr>
          <a:xfrm>
            <a:off x="7808040" y="2450520"/>
            <a:ext cx="522360" cy="386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10"/>
          <p:cNvSpPr/>
          <p:nvPr/>
        </p:nvSpPr>
        <p:spPr>
          <a:xfrm>
            <a:off x="7741080" y="2975760"/>
            <a:ext cx="522360" cy="386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11"/>
          <p:cNvSpPr/>
          <p:nvPr/>
        </p:nvSpPr>
        <p:spPr>
          <a:xfrm>
            <a:off x="7772040" y="3545280"/>
            <a:ext cx="522360" cy="3880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12"/>
          <p:cNvSpPr/>
          <p:nvPr/>
        </p:nvSpPr>
        <p:spPr>
          <a:xfrm>
            <a:off x="7756200" y="4082760"/>
            <a:ext cx="522360" cy="38592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13"/>
          <p:cNvSpPr/>
          <p:nvPr/>
        </p:nvSpPr>
        <p:spPr>
          <a:xfrm>
            <a:off x="7715880" y="5125680"/>
            <a:ext cx="621000" cy="3751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14"/>
          <p:cNvSpPr/>
          <p:nvPr/>
        </p:nvSpPr>
        <p:spPr>
          <a:xfrm>
            <a:off x="9280080" y="2450520"/>
            <a:ext cx="522360" cy="38664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15"/>
          <p:cNvSpPr/>
          <p:nvPr/>
        </p:nvSpPr>
        <p:spPr>
          <a:xfrm>
            <a:off x="9213120" y="2975760"/>
            <a:ext cx="522360" cy="3866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16"/>
          <p:cNvSpPr/>
          <p:nvPr/>
        </p:nvSpPr>
        <p:spPr>
          <a:xfrm>
            <a:off x="9244080" y="3545280"/>
            <a:ext cx="522360" cy="3880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17"/>
          <p:cNvSpPr/>
          <p:nvPr/>
        </p:nvSpPr>
        <p:spPr>
          <a:xfrm>
            <a:off x="9227880" y="4082760"/>
            <a:ext cx="522360" cy="3859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18"/>
          <p:cNvSpPr/>
          <p:nvPr/>
        </p:nvSpPr>
        <p:spPr>
          <a:xfrm>
            <a:off x="9187920" y="5125680"/>
            <a:ext cx="621000" cy="40536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37"/>
          <p:cNvSpPr/>
          <p:nvPr/>
        </p:nvSpPr>
        <p:spPr>
          <a:xfrm>
            <a:off x="8073720" y="1784160"/>
            <a:ext cx="514440" cy="40428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38"/>
          <p:cNvSpPr/>
          <p:nvPr/>
        </p:nvSpPr>
        <p:spPr>
          <a:xfrm>
            <a:off x="8588520" y="1806840"/>
            <a:ext cx="514440" cy="4042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83" name="Straight Arrow Connector 40"/>
          <p:cNvCxnSpPr>
            <a:stCxn id="481" idx="2"/>
          </p:cNvCxnSpPr>
          <p:nvPr/>
        </p:nvCxnSpPr>
        <p:spPr>
          <a:xfrm flipH="1">
            <a:off x="8249760" y="2188440"/>
            <a:ext cx="81360" cy="36864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  <p:cxnSp>
        <p:nvCxnSpPr>
          <p:cNvPr id="484" name="Straight Arrow Connector 43"/>
          <p:cNvCxnSpPr/>
          <p:nvPr/>
        </p:nvCxnSpPr>
        <p:spPr>
          <a:xfrm flipH="1">
            <a:off x="8263800" y="2327760"/>
            <a:ext cx="499320" cy="84168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87" name="Picture 5" descr=""/>
          <p:cNvPicPr/>
          <p:nvPr/>
        </p:nvPicPr>
        <p:blipFill>
          <a:blip r:embed="rId2"/>
          <a:stretch/>
        </p:blipFill>
        <p:spPr>
          <a:xfrm>
            <a:off x="1964880" y="3102480"/>
            <a:ext cx="2582640" cy="90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9" dur="indefinite" restart="never" nodeType="tmRoot">
          <p:childTnLst>
            <p:seq>
              <p:cTn id="330" dur="indefinite" nodeType="mainSeq">
                <p:childTnLst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For example, univariate logistic least square model.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Let’s compute the loss derivative.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91" name="Picture 7" descr=""/>
          <p:cNvPicPr/>
          <p:nvPr/>
        </p:nvPicPr>
        <p:blipFill>
          <a:blip r:embed="rId1"/>
          <a:stretch/>
        </p:blipFill>
        <p:spPr>
          <a:xfrm>
            <a:off x="2104920" y="2754000"/>
            <a:ext cx="2647800" cy="209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94" name="Content Placeholder 8" descr=""/>
          <p:cNvPicPr/>
          <p:nvPr/>
        </p:nvPicPr>
        <p:blipFill>
          <a:blip r:embed="rId1"/>
          <a:stretch/>
        </p:blipFill>
        <p:spPr>
          <a:xfrm>
            <a:off x="6291720" y="1929240"/>
            <a:ext cx="5181120" cy="3638880"/>
          </a:xfrm>
          <a:prstGeom prst="rect">
            <a:avLst/>
          </a:prstGeom>
          <a:ln w="0">
            <a:noFill/>
          </a:ln>
        </p:spPr>
      </p:pic>
      <p:pic>
        <p:nvPicPr>
          <p:cNvPr id="495" name="Picture 5" descr=""/>
          <p:cNvPicPr/>
          <p:nvPr/>
        </p:nvPicPr>
        <p:blipFill>
          <a:blip r:embed="rId2"/>
          <a:stretch/>
        </p:blipFill>
        <p:spPr>
          <a:xfrm>
            <a:off x="718560" y="1825560"/>
            <a:ext cx="5420520" cy="384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7" dur="indefinite" restart="never" nodeType="tmRoot">
          <p:childTnLst>
            <p:seq>
              <p:cTn id="338" dur="indefinite" nodeType="mainSeq">
                <p:childTnLst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 more structured way to do it,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99" name="Picture 5" descr=""/>
          <p:cNvPicPr/>
          <p:nvPr/>
        </p:nvPicPr>
        <p:blipFill>
          <a:blip r:embed="rId1"/>
          <a:stretch/>
        </p:blipFill>
        <p:spPr>
          <a:xfrm>
            <a:off x="2128680" y="2683440"/>
            <a:ext cx="2600280" cy="3591000"/>
          </a:xfrm>
          <a:prstGeom prst="rect">
            <a:avLst/>
          </a:prstGeom>
          <a:ln w="0">
            <a:noFill/>
          </a:ln>
        </p:spPr>
      </p:pic>
      <p:pic>
        <p:nvPicPr>
          <p:cNvPr id="500" name="Picture 8" descr=""/>
          <p:cNvPicPr/>
          <p:nvPr/>
        </p:nvPicPr>
        <p:blipFill>
          <a:blip r:embed="rId2"/>
          <a:stretch/>
        </p:blipFill>
        <p:spPr>
          <a:xfrm>
            <a:off x="6657120" y="1945080"/>
            <a:ext cx="4211640" cy="3744360"/>
          </a:xfrm>
          <a:prstGeom prst="rect">
            <a:avLst/>
          </a:prstGeom>
          <a:ln w="0">
            <a:noFill/>
          </a:ln>
        </p:spPr>
      </p:pic>
      <p:pic>
        <p:nvPicPr>
          <p:cNvPr id="501" name="Picture 6" descr=""/>
          <p:cNvPicPr/>
          <p:nvPr/>
        </p:nvPicPr>
        <p:blipFill>
          <a:blip r:embed="rId3"/>
          <a:stretch/>
        </p:blipFill>
        <p:spPr>
          <a:xfrm>
            <a:off x="9591480" y="287280"/>
            <a:ext cx="1723680" cy="136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7" dur="indefinite" restart="never" nodeType="tmRoot">
          <p:childTnLst>
            <p:seq>
              <p:cTn id="348" dur="indefinite" nodeType="mainSeq">
                <p:childTnLst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What about multivariate chain rule?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04" name="Picture 6" descr=""/>
          <p:cNvPicPr/>
          <p:nvPr/>
        </p:nvPicPr>
        <p:blipFill>
          <a:blip r:embed="rId1"/>
          <a:stretch/>
        </p:blipFill>
        <p:spPr>
          <a:xfrm>
            <a:off x="1652400" y="2676960"/>
            <a:ext cx="3656160" cy="4071600"/>
          </a:xfrm>
          <a:prstGeom prst="rect">
            <a:avLst/>
          </a:prstGeom>
          <a:ln w="0">
            <a:noFill/>
          </a:ln>
        </p:spPr>
      </p:pic>
      <p:pic>
        <p:nvPicPr>
          <p:cNvPr id="505" name="Picture 9" descr=""/>
          <p:cNvPicPr/>
          <p:nvPr/>
        </p:nvPicPr>
        <p:blipFill>
          <a:blip r:embed="rId2"/>
          <a:stretch/>
        </p:blipFill>
        <p:spPr>
          <a:xfrm>
            <a:off x="6834240" y="1825560"/>
            <a:ext cx="4019760" cy="489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Multivariate chain rule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If f(x, y) is a function of x(t) and y(t), then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08" name="Picture 4" descr=""/>
          <p:cNvPicPr/>
          <p:nvPr/>
        </p:nvPicPr>
        <p:blipFill>
          <a:blip r:embed="rId1"/>
          <a:stretch/>
        </p:blipFill>
        <p:spPr>
          <a:xfrm>
            <a:off x="1299240" y="3166920"/>
            <a:ext cx="4259520" cy="858960"/>
          </a:xfrm>
          <a:prstGeom prst="rect">
            <a:avLst/>
          </a:prstGeom>
          <a:ln w="0">
            <a:noFill/>
          </a:ln>
        </p:spPr>
      </p:pic>
      <p:pic>
        <p:nvPicPr>
          <p:cNvPr id="509" name="Picture 7" descr=""/>
          <p:cNvPicPr/>
          <p:nvPr/>
        </p:nvPicPr>
        <p:blipFill>
          <a:blip r:embed="rId2"/>
          <a:stretch/>
        </p:blipFill>
        <p:spPr>
          <a:xfrm>
            <a:off x="7009920" y="2586600"/>
            <a:ext cx="2647800" cy="201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7" dur="indefinite" restart="never" nodeType="tmRoot">
          <p:childTnLst>
            <p:seq>
              <p:cTn id="368" dur="indefinite" nodeType="mainSeq">
                <p:childTnLst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Multivariate chain rule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If f(x, y) is a function of x(t) and y(t), then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In the context of backpropagation,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13" name="Picture 4" descr=""/>
          <p:cNvPicPr/>
          <p:nvPr/>
        </p:nvPicPr>
        <p:blipFill>
          <a:blip r:embed="rId1">
            <a:grayscl/>
          </a:blip>
          <a:stretch/>
        </p:blipFill>
        <p:spPr>
          <a:xfrm>
            <a:off x="1299240" y="3166920"/>
            <a:ext cx="4259520" cy="858960"/>
          </a:xfrm>
          <a:prstGeom prst="rect">
            <a:avLst/>
          </a:prstGeom>
          <a:ln w="0">
            <a:noFill/>
          </a:ln>
        </p:spPr>
      </p:pic>
      <p:pic>
        <p:nvPicPr>
          <p:cNvPr id="514" name="Picture 6" descr=""/>
          <p:cNvPicPr/>
          <p:nvPr/>
        </p:nvPicPr>
        <p:blipFill>
          <a:blip r:embed="rId2">
            <a:grayscl/>
          </a:blip>
          <a:stretch/>
        </p:blipFill>
        <p:spPr>
          <a:xfrm>
            <a:off x="6095880" y="2679480"/>
            <a:ext cx="4848480" cy="401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16" name="Picture 4" descr=""/>
          <p:cNvPicPr/>
          <p:nvPr/>
        </p:nvPicPr>
        <p:blipFill>
          <a:blip r:embed="rId1">
            <a:grayscl/>
          </a:blip>
          <a:stretch/>
        </p:blipFill>
        <p:spPr>
          <a:xfrm>
            <a:off x="1299240" y="3166920"/>
            <a:ext cx="4259520" cy="858960"/>
          </a:xfrm>
          <a:prstGeom prst="rect">
            <a:avLst/>
          </a:prstGeom>
          <a:ln w="0">
            <a:noFill/>
          </a:ln>
        </p:spPr>
      </p:pic>
      <p:pic>
        <p:nvPicPr>
          <p:cNvPr id="517" name="Picture 6" descr=""/>
          <p:cNvPicPr/>
          <p:nvPr/>
        </p:nvPicPr>
        <p:blipFill>
          <a:blip r:embed="rId2">
            <a:grayscl/>
          </a:blip>
          <a:stretch/>
        </p:blipFill>
        <p:spPr>
          <a:xfrm>
            <a:off x="6095880" y="2679480"/>
            <a:ext cx="4848480" cy="4010400"/>
          </a:xfrm>
          <a:prstGeom prst="rect">
            <a:avLst/>
          </a:prstGeom>
          <a:ln w="0">
            <a:noFill/>
          </a:ln>
        </p:spPr>
      </p:pic>
      <p:sp>
        <p:nvSpPr>
          <p:cNvPr id="5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20" name="Picture 11" descr=""/>
          <p:cNvPicPr/>
          <p:nvPr/>
        </p:nvPicPr>
        <p:blipFill>
          <a:blip r:embed="rId3"/>
          <a:stretch/>
        </p:blipFill>
        <p:spPr>
          <a:xfrm>
            <a:off x="1590120" y="1690560"/>
            <a:ext cx="8935200" cy="491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22" name="Picture 3" descr=""/>
          <p:cNvPicPr/>
          <p:nvPr/>
        </p:nvPicPr>
        <p:blipFill>
          <a:blip r:embed="rId1">
            <a:grayscl/>
          </a:blip>
          <a:stretch/>
        </p:blipFill>
        <p:spPr>
          <a:xfrm>
            <a:off x="1566360" y="1351800"/>
            <a:ext cx="9059040" cy="550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Backpropagation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24" name="Picture 3" descr=""/>
          <p:cNvPicPr/>
          <p:nvPr/>
        </p:nvPicPr>
        <p:blipFill>
          <a:blip r:embed="rId1"/>
          <a:stretch/>
        </p:blipFill>
        <p:spPr>
          <a:xfrm>
            <a:off x="1566360" y="1432800"/>
            <a:ext cx="9059040" cy="534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>
              <a:fillRect l="-2119" t="-224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blipFill rotWithShape="0">
            <a:blip r:embed="rId2"/>
            <a:stretch>
              <a:fillRect l="-2119" t="-224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28" name="Picture 3" descr=""/>
          <p:cNvPicPr/>
          <p:nvPr/>
        </p:nvPicPr>
        <p:blipFill>
          <a:blip r:embed="rId3"/>
          <a:stretch/>
        </p:blipFill>
        <p:spPr>
          <a:xfrm>
            <a:off x="1192320" y="3729240"/>
            <a:ext cx="4562280" cy="647280"/>
          </a:xfrm>
          <a:prstGeom prst="rect">
            <a:avLst/>
          </a:prstGeom>
          <a:ln w="0">
            <a:noFill/>
          </a:ln>
        </p:spPr>
      </p:pic>
      <p:pic>
        <p:nvPicPr>
          <p:cNvPr id="529" name="Picture 4" descr=""/>
          <p:cNvPicPr/>
          <p:nvPr/>
        </p:nvPicPr>
        <p:blipFill>
          <a:blip r:embed="rId4"/>
          <a:stretch/>
        </p:blipFill>
        <p:spPr>
          <a:xfrm>
            <a:off x="6802560" y="3615120"/>
            <a:ext cx="4314600" cy="437760"/>
          </a:xfrm>
          <a:prstGeom prst="rect">
            <a:avLst/>
          </a:prstGeom>
          <a:ln w="0">
            <a:noFill/>
          </a:ln>
        </p:spPr>
      </p:pic>
      <p:sp>
        <p:nvSpPr>
          <p:cNvPr id="530" name="TextBox 4"/>
          <p:cNvSpPr/>
          <p:nvPr/>
        </p:nvSpPr>
        <p:spPr>
          <a:xfrm>
            <a:off x="4977360" y="5883120"/>
            <a:ext cx="2858040" cy="3690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1" name="Picture 5" descr=""/>
          <p:cNvPicPr/>
          <p:nvPr/>
        </p:nvPicPr>
        <p:blipFill>
          <a:blip r:embed="rId6"/>
          <a:stretch/>
        </p:blipFill>
        <p:spPr>
          <a:xfrm>
            <a:off x="2677680" y="4958280"/>
            <a:ext cx="7457760" cy="102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7" dur="indefinite" restart="never" nodeType="tmRoot">
          <p:childTnLst>
            <p:seq>
              <p:cTn id="378" dur="indefinite" nodeType="mainSeq">
                <p:childTnLst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>
              <a:fillRect l="-2379" t="-13" b="-13"/>
            </a:stretch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Aptos Display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Empirical Risk Minimization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Often cannot optimize the true loss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0-1 loss; No useful derivatives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Use of surrogate loss such as negative log likelihood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Early stopping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0-1 loss on validation set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3" dur="indefinite" restart="never" nodeType="tmRoot">
          <p:childTnLst>
            <p:seq>
              <p:cTn id="424" dur="indefinite" nodeType="mainSeq">
                <p:childTnLst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Optimization Challenges in Deep Learning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Local Minima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Saddle Points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Vanishing Gradients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37" name="Picture 2" descr=""/>
          <p:cNvPicPr/>
          <p:nvPr/>
        </p:nvPicPr>
        <p:blipFill>
          <a:blip r:embed="rId1"/>
          <a:stretch/>
        </p:blipFill>
        <p:spPr>
          <a:xfrm>
            <a:off x="5480280" y="1493640"/>
            <a:ext cx="2698560" cy="1918440"/>
          </a:xfrm>
          <a:prstGeom prst="rect">
            <a:avLst/>
          </a:prstGeom>
          <a:ln w="0">
            <a:noFill/>
          </a:ln>
        </p:spPr>
      </p:pic>
      <p:pic>
        <p:nvPicPr>
          <p:cNvPr id="538" name="Picture 3" descr=""/>
          <p:cNvPicPr/>
          <p:nvPr/>
        </p:nvPicPr>
        <p:blipFill>
          <a:blip r:embed="rId2"/>
          <a:stretch/>
        </p:blipFill>
        <p:spPr>
          <a:xfrm>
            <a:off x="8511120" y="1493640"/>
            <a:ext cx="2468160" cy="1826280"/>
          </a:xfrm>
          <a:prstGeom prst="rect">
            <a:avLst/>
          </a:prstGeom>
          <a:ln w="0">
            <a:noFill/>
          </a:ln>
        </p:spPr>
      </p:pic>
      <p:pic>
        <p:nvPicPr>
          <p:cNvPr id="539" name="Picture 4" descr=""/>
          <p:cNvPicPr/>
          <p:nvPr/>
        </p:nvPicPr>
        <p:blipFill>
          <a:blip r:embed="rId3"/>
          <a:stretch/>
        </p:blipFill>
        <p:spPr>
          <a:xfrm>
            <a:off x="7147440" y="3412440"/>
            <a:ext cx="2966760" cy="212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7" dur="indefinite" restart="never" nodeType="tmRoot">
          <p:childTnLst>
            <p:seq>
              <p:cTn id="448" dur="indefinite" nodeType="mainSeq">
                <p:childTnLst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Convexity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42" name="Picture 2" descr=""/>
          <p:cNvPicPr/>
          <p:nvPr/>
        </p:nvPicPr>
        <p:blipFill>
          <a:blip r:embed="rId2"/>
          <a:stretch/>
        </p:blipFill>
        <p:spPr>
          <a:xfrm>
            <a:off x="1965960" y="2749680"/>
            <a:ext cx="7840440" cy="619200"/>
          </a:xfrm>
          <a:prstGeom prst="rect">
            <a:avLst/>
          </a:prstGeom>
          <a:ln w="0">
            <a:noFill/>
          </a:ln>
        </p:spPr>
      </p:pic>
      <p:pic>
        <p:nvPicPr>
          <p:cNvPr id="543" name="Picture 3" descr=""/>
          <p:cNvPicPr/>
          <p:nvPr/>
        </p:nvPicPr>
        <p:blipFill>
          <a:blip r:embed="rId3"/>
          <a:stretch/>
        </p:blipFill>
        <p:spPr>
          <a:xfrm>
            <a:off x="2053440" y="3591360"/>
            <a:ext cx="7665480" cy="276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Convexity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46" name="Picture 2" descr=""/>
          <p:cNvPicPr/>
          <p:nvPr/>
        </p:nvPicPr>
        <p:blipFill>
          <a:blip r:embed="rId2"/>
          <a:stretch/>
        </p:blipFill>
        <p:spPr>
          <a:xfrm>
            <a:off x="1965960" y="2749680"/>
            <a:ext cx="7840440" cy="619200"/>
          </a:xfrm>
          <a:prstGeom prst="rect">
            <a:avLst/>
          </a:prstGeom>
          <a:ln w="0">
            <a:noFill/>
          </a:ln>
        </p:spPr>
      </p:pic>
      <p:pic>
        <p:nvPicPr>
          <p:cNvPr id="547" name="Picture 3" descr=""/>
          <p:cNvPicPr/>
          <p:nvPr/>
        </p:nvPicPr>
        <p:blipFill>
          <a:blip r:embed="rId3"/>
          <a:stretch/>
        </p:blipFill>
        <p:spPr>
          <a:xfrm>
            <a:off x="3554640" y="3655080"/>
            <a:ext cx="4663080" cy="25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Gradient Descent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Batch-gradient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Mini-batch 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Why use mini-batch?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Gradient computation is very expensive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Redundancy in training set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Can also run in parallel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3" dur="indefinite" restart="never" nodeType="tmRoot">
          <p:childTnLst>
            <p:seq>
              <p:cTn id="474" dur="indefinite" nodeType="mainSeq">
                <p:childTnLst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Mini-Batch Stochastic Gradient Descent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89913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8908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At each epoch,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Go over the entire training data once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Make a vector of training data indices (1,…,N)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Shuffle the vector, 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epoch_idx=shuffle(1,…,N)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Divide 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epoch_idx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 into equal-size mini-batches.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Say, mini-batch has size k, then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The first mini-batch uses examples 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ourier New"/>
              </a:rPr>
              <a:t>D1={(xj,yj):j=epoch_idx[0:k]}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The second mini-batch uses examples </a:t>
            </a:r>
            <a:r>
              <a:rPr b="0" lang="en-US" sz="2000" spc="-1" strike="noStrike">
                <a:solidFill>
                  <a:schemeClr val="dk1"/>
                </a:solidFill>
                <a:latin typeface="Courier New"/>
              </a:rPr>
              <a:t>D2={(xj,yj):j=epoch_idx[k:2k]}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And so on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Once all mini-batches are exhausted, we start a new epoch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3" name="TextBox 4"/>
          <p:cNvSpPr/>
          <p:nvPr/>
        </p:nvSpPr>
        <p:spPr>
          <a:xfrm>
            <a:off x="7416360" y="4798080"/>
            <a:ext cx="4903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If N is not a multiple of k, we ignore the last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ptos"/>
              </a:rPr>
              <a:t>mini-batch (whose size is smaller than k).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4" name="Straight Arrow Connector 6"/>
          <p:cNvCxnSpPr>
            <a:stCxn id="553" idx="1"/>
          </p:cNvCxnSpPr>
          <p:nvPr/>
        </p:nvCxnSpPr>
        <p:spPr>
          <a:xfrm flipH="1">
            <a:off x="3165840" y="5254200"/>
            <a:ext cx="4250880" cy="146160"/>
          </a:xfrm>
          <a:prstGeom prst="straightConnector1">
            <a:avLst/>
          </a:prstGeom>
          <a:ln>
            <a:solidFill>
              <a:srgbClr val="e97132"/>
            </a:solidFill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7" dur="indefinite" restart="never" nodeType="tmRoot">
          <p:childTnLst>
            <p:seq>
              <p:cTn id="508" dur="indefinite" nodeType="mainSeq">
                <p:childTnLst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Mini-Batch Stochastic Gradient Descent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True Empirical Loss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True gradient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58" name="Picture 2" descr=""/>
          <p:cNvPicPr/>
          <p:nvPr/>
        </p:nvPicPr>
        <p:blipFill>
          <a:blip r:embed="rId2"/>
          <a:srcRect l="0" t="0" r="12406" b="0"/>
          <a:stretch/>
        </p:blipFill>
        <p:spPr>
          <a:xfrm>
            <a:off x="7614360" y="2217960"/>
            <a:ext cx="2719800" cy="799920"/>
          </a:xfrm>
          <a:prstGeom prst="rect">
            <a:avLst/>
          </a:prstGeom>
          <a:ln w="0">
            <a:noFill/>
          </a:ln>
        </p:spPr>
      </p:pic>
      <p:pic>
        <p:nvPicPr>
          <p:cNvPr id="559" name="Picture 3" descr=""/>
          <p:cNvPicPr/>
          <p:nvPr/>
        </p:nvPicPr>
        <p:blipFill>
          <a:blip r:embed="rId3"/>
          <a:stretch/>
        </p:blipFill>
        <p:spPr>
          <a:xfrm>
            <a:off x="7333560" y="3962520"/>
            <a:ext cx="3114360" cy="847440"/>
          </a:xfrm>
          <a:prstGeom prst="rect">
            <a:avLst/>
          </a:prstGeom>
          <a:ln w="0">
            <a:noFill/>
          </a:ln>
        </p:spPr>
      </p:pic>
      <p:pic>
        <p:nvPicPr>
          <p:cNvPr id="560" name="Picture 4" descr=""/>
          <p:cNvPicPr/>
          <p:nvPr/>
        </p:nvPicPr>
        <p:blipFill>
          <a:blip r:embed="rId4"/>
          <a:stretch/>
        </p:blipFill>
        <p:spPr>
          <a:xfrm>
            <a:off x="1679400" y="4084560"/>
            <a:ext cx="3381120" cy="109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9" dur="indefinite" restart="never" nodeType="tmRoot">
          <p:childTnLst>
            <p:seq>
              <p:cTn id="560" dur="indefinite" nodeType="mainSeq">
                <p:childTnLst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Mini-Batch Stochastic Gradient Descent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Un-biasedness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If batches are sampled uniformly at random,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By definition,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64" name="Picture 4" descr=""/>
          <p:cNvPicPr/>
          <p:nvPr/>
        </p:nvPicPr>
        <p:blipFill>
          <a:blip r:embed="rId2"/>
          <a:stretch/>
        </p:blipFill>
        <p:spPr>
          <a:xfrm>
            <a:off x="1679400" y="4031280"/>
            <a:ext cx="3381120" cy="1095120"/>
          </a:xfrm>
          <a:prstGeom prst="rect">
            <a:avLst/>
          </a:prstGeom>
          <a:ln w="0">
            <a:noFill/>
          </a:ln>
        </p:spPr>
      </p:pic>
      <p:pic>
        <p:nvPicPr>
          <p:cNvPr id="565" name="Picture 2" descr=""/>
          <p:cNvPicPr/>
          <p:nvPr/>
        </p:nvPicPr>
        <p:blipFill>
          <a:blip r:embed="rId3"/>
          <a:srcRect l="0" t="0" r="0" b="14838"/>
          <a:stretch/>
        </p:blipFill>
        <p:spPr>
          <a:xfrm>
            <a:off x="6822000" y="2997720"/>
            <a:ext cx="3809520" cy="1086480"/>
          </a:xfrm>
          <a:prstGeom prst="rect">
            <a:avLst/>
          </a:prstGeom>
          <a:ln w="0">
            <a:noFill/>
          </a:ln>
        </p:spPr>
      </p:pic>
      <p:pic>
        <p:nvPicPr>
          <p:cNvPr id="566" name="Picture 3" descr=""/>
          <p:cNvPicPr/>
          <p:nvPr/>
        </p:nvPicPr>
        <p:blipFill>
          <a:blip r:embed="rId4"/>
          <a:stretch/>
        </p:blipFill>
        <p:spPr>
          <a:xfrm>
            <a:off x="6496200" y="4840560"/>
            <a:ext cx="468612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3" dur="indefinite" restart="never" nodeType="tmRoot">
          <p:childTnLst>
            <p:seq>
              <p:cTn id="594" dur="indefinite" nodeType="mainSeq">
                <p:childTnLst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Mini-Batch Stochastic Gradient Descent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Since the mini-batch is uniformly sampled,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But a smaller variance is  estimated compared to SGD,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70" name="Picture 4" descr=""/>
          <p:cNvPicPr/>
          <p:nvPr/>
        </p:nvPicPr>
        <p:blipFill>
          <a:blip r:embed="rId2"/>
          <a:stretch/>
        </p:blipFill>
        <p:spPr>
          <a:xfrm>
            <a:off x="1679400" y="4084560"/>
            <a:ext cx="3381120" cy="1095120"/>
          </a:xfrm>
          <a:prstGeom prst="rect">
            <a:avLst/>
          </a:prstGeom>
          <a:ln w="0">
            <a:noFill/>
          </a:ln>
        </p:spPr>
      </p:pic>
      <p:pic>
        <p:nvPicPr>
          <p:cNvPr id="571" name="Picture 2" descr=""/>
          <p:cNvPicPr/>
          <p:nvPr/>
        </p:nvPicPr>
        <p:blipFill>
          <a:blip r:embed="rId3"/>
          <a:stretch/>
        </p:blipFill>
        <p:spPr>
          <a:xfrm>
            <a:off x="6260040" y="2881440"/>
            <a:ext cx="5857560" cy="1095120"/>
          </a:xfrm>
          <a:prstGeom prst="rect">
            <a:avLst/>
          </a:prstGeom>
          <a:ln w="0">
            <a:noFill/>
          </a:ln>
        </p:spPr>
      </p:pic>
      <p:pic>
        <p:nvPicPr>
          <p:cNvPr id="572" name="Picture 5" descr=""/>
          <p:cNvPicPr/>
          <p:nvPr/>
        </p:nvPicPr>
        <p:blipFill>
          <a:blip r:embed="rId4"/>
          <a:stretch/>
        </p:blipFill>
        <p:spPr>
          <a:xfrm>
            <a:off x="6260040" y="5180040"/>
            <a:ext cx="5438520" cy="75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3" dur="indefinite" restart="never" nodeType="tmRoot">
          <p:childTnLst>
            <p:seq>
              <p:cTn id="614" dur="indefinite" nodeType="mainSeq">
                <p:childTnLst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Mini-Batch Stochastic Gradient Descent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Variance decreases as </a:t>
            </a: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mini-batch size m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increases.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With full batch (m=N), variance becomes zero.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Small m → more noise → unstable updates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This motivates </a:t>
            </a: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learning rate schedules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or </a:t>
            </a: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batch size growth</a:t>
            </a: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 in training.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76" name="Picture 4" descr=""/>
          <p:cNvPicPr/>
          <p:nvPr/>
        </p:nvPicPr>
        <p:blipFill>
          <a:blip r:embed="rId2"/>
          <a:stretch/>
        </p:blipFill>
        <p:spPr>
          <a:xfrm>
            <a:off x="1679400" y="4084560"/>
            <a:ext cx="3381120" cy="109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Gradient Descent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Batch-gradient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Mini-batch 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Gradient Descent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Batch-gradient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Mini-batch 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Stochastic gradient descent with momentum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83" name="Picture 2" descr=""/>
          <p:cNvPicPr/>
          <p:nvPr/>
        </p:nvPicPr>
        <p:blipFill>
          <a:blip r:embed="rId1"/>
          <a:stretch/>
        </p:blipFill>
        <p:spPr>
          <a:xfrm>
            <a:off x="6155280" y="3355560"/>
            <a:ext cx="5924160" cy="168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Gradient Descent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Batch-gradient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Mini-batch 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 with momentum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Stochastic gradient descent with nesterov momentum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87" name="Picture 2" descr=""/>
          <p:cNvPicPr/>
          <p:nvPr/>
        </p:nvPicPr>
        <p:blipFill>
          <a:blip r:embed="rId1"/>
          <a:stretch/>
        </p:blipFill>
        <p:spPr>
          <a:xfrm>
            <a:off x="5977440" y="3507840"/>
            <a:ext cx="6214320" cy="148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Gradient Descent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Batch-gradient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Mini-batch stochastic gradient descent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Stochastic gradient descent with momentum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0000"/>
                </a:solidFill>
                <a:latin typeface="Aptos"/>
              </a:rPr>
              <a:t>Stochastic gradient descent with nesterov momentum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90" name="Picture 2" descr=""/>
          <p:cNvPicPr/>
          <p:nvPr/>
        </p:nvPicPr>
        <p:blipFill>
          <a:blip r:embed="rId1"/>
          <a:stretch/>
        </p:blipFill>
        <p:spPr>
          <a:xfrm>
            <a:off x="5977440" y="3507840"/>
            <a:ext cx="6214320" cy="148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 with Adaptive Learning Rate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94" name="Picture 2" descr=""/>
          <p:cNvPicPr/>
          <p:nvPr/>
        </p:nvPicPr>
        <p:blipFill>
          <a:blip r:embed="rId1"/>
          <a:stretch/>
        </p:blipFill>
        <p:spPr>
          <a:xfrm>
            <a:off x="852480" y="1379520"/>
            <a:ext cx="10301400" cy="5297040"/>
          </a:xfrm>
          <a:prstGeom prst="rect">
            <a:avLst/>
          </a:prstGeom>
          <a:ln w="0">
            <a:noFill/>
          </a:ln>
        </p:spPr>
      </p:pic>
      <p:sp>
        <p:nvSpPr>
          <p:cNvPr id="595" name="Rectangle 4"/>
          <p:cNvSpPr/>
          <p:nvPr/>
        </p:nvSpPr>
        <p:spPr>
          <a:xfrm>
            <a:off x="1432080" y="4718520"/>
            <a:ext cx="9963000" cy="1164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 with Adaptive Learning Rate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599" name="Picture 2" descr=""/>
          <p:cNvPicPr/>
          <p:nvPr/>
        </p:nvPicPr>
        <p:blipFill>
          <a:blip r:embed="rId1"/>
          <a:stretch/>
        </p:blipFill>
        <p:spPr>
          <a:xfrm>
            <a:off x="882360" y="1501560"/>
            <a:ext cx="9572400" cy="5142240"/>
          </a:xfrm>
          <a:prstGeom prst="rect">
            <a:avLst/>
          </a:prstGeom>
          <a:ln w="0">
            <a:noFill/>
          </a:ln>
        </p:spPr>
      </p:pic>
      <p:sp>
        <p:nvSpPr>
          <p:cNvPr id="600" name="Rectangle 6"/>
          <p:cNvSpPr/>
          <p:nvPr/>
        </p:nvSpPr>
        <p:spPr>
          <a:xfrm>
            <a:off x="1432080" y="4546080"/>
            <a:ext cx="9023040" cy="1164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Picture 2" descr=""/>
          <p:cNvPicPr/>
          <p:nvPr/>
        </p:nvPicPr>
        <p:blipFill>
          <a:blip r:embed="rId1"/>
          <a:stretch/>
        </p:blipFill>
        <p:spPr>
          <a:xfrm>
            <a:off x="744120" y="1387080"/>
            <a:ext cx="6493320" cy="5011920"/>
          </a:xfrm>
          <a:prstGeom prst="rect">
            <a:avLst/>
          </a:prstGeom>
          <a:ln w="0">
            <a:noFill/>
          </a:ln>
        </p:spPr>
      </p:pic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Optimizers with Adaptive Learning Rate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3" name="Rectangle 6"/>
          <p:cNvSpPr/>
          <p:nvPr/>
        </p:nvSpPr>
        <p:spPr>
          <a:xfrm>
            <a:off x="1112760" y="4399560"/>
            <a:ext cx="5546520" cy="1440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604" name="Picture 3" descr=""/>
          <p:cNvPicPr/>
          <p:nvPr/>
        </p:nvPicPr>
        <p:blipFill>
          <a:blip r:embed="rId2"/>
          <a:stretch/>
        </p:blipFill>
        <p:spPr>
          <a:xfrm>
            <a:off x="3382920" y="3673080"/>
            <a:ext cx="8886600" cy="23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1" dur="indefinite" restart="never" nodeType="tmRoot">
          <p:childTnLst>
            <p:seq>
              <p:cTn id="632" dur="indefinite" nodeType="mainSeq">
                <p:childTnLst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mph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indefinite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37" dur="indefinite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fill="hold">
                      <p:stCondLst>
                        <p:cond delay="indefinite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Hyper Parameter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Number of epochs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Learning Rate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Weight Decay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Batch Size, etc.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MLP as a Function Approximator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24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0" name="TextBox 4"/>
          <p:cNvSpPr/>
          <p:nvPr/>
        </p:nvSpPr>
        <p:spPr>
          <a:xfrm>
            <a:off x="40680" y="6162840"/>
            <a:ext cx="11498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Leshno, Moshe, Vladimir Ya Lin, Allan Pinkus, and Shimon Schocken. "Multilayer feedforward networks with a nonpolynomial activation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function can approximate any function." </a:t>
            </a:r>
            <a:r>
              <a:rPr b="0" i="1" lang="en-US" sz="1400" spc="-1" strike="noStrike">
                <a:solidFill>
                  <a:schemeClr val="dk1"/>
                </a:solidFill>
                <a:latin typeface="Aptos"/>
              </a:rPr>
              <a:t>Neural networks</a:t>
            </a: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 6, no. 6 (1993): 861-867.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Reference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D2l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Deep Learning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</TotalTime>
  <Application>LibreOffice/24.2.7.2$Linux_X86_64 LibreOffice_project/420$Build-2</Application>
  <AppVersion>15.0000</AppVersion>
  <Words>2774</Words>
  <Paragraphs>665</Paragraphs>
  <Company>HP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2025-06-23T17:00:14Z</dcterms:created>
  <dc:creator>Chowdhury Mohammad Rakin Haider</dc:creator>
  <dc:description/>
  <dc:language>en-US</dc:language>
  <cp:lastModifiedBy/>
  <dcterms:modified xsi:type="dcterms:W3CDTF">2026-01-17T21:58:56Z</dcterms:modified>
  <cp:revision>28</cp:revision>
  <dc:subject/>
  <dc:title>Deep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Custom</vt:lpwstr>
  </property>
  <property fmtid="{D5CDD505-2E9C-101B-9397-08002B2CF9AE}" pid="4" name="Slides">
    <vt:i4>61</vt:i4>
  </property>
</Properties>
</file>